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490" r:id="rId2"/>
    <p:sldId id="609" r:id="rId3"/>
    <p:sldId id="611" r:id="rId4"/>
    <p:sldId id="612" r:id="rId5"/>
    <p:sldId id="617" r:id="rId6"/>
    <p:sldId id="613" r:id="rId7"/>
    <p:sldId id="614" r:id="rId8"/>
    <p:sldId id="618" r:id="rId9"/>
    <p:sldId id="619" r:id="rId10"/>
    <p:sldId id="29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  <a:srgbClr val="FFCCCC"/>
    <a:srgbClr val="000000"/>
    <a:srgbClr val="FBE3D6"/>
    <a:srgbClr val="DCEAF7"/>
    <a:srgbClr val="595959"/>
    <a:srgbClr val="C00000"/>
    <a:srgbClr val="BFBFBF"/>
    <a:srgbClr val="F2F2F2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5510" autoAdjust="0"/>
  </p:normalViewPr>
  <p:slideViewPr>
    <p:cSldViewPr snapToGrid="0">
      <p:cViewPr varScale="1">
        <p:scale>
          <a:sx n="144" d="100"/>
          <a:sy n="144" d="100"/>
        </p:scale>
        <p:origin x="169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F31EC-EE7A-9145-A64F-79FFA1E11469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115F6-681B-864C-A49C-C1EF69C65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81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ADA06-94F4-8528-2598-3CBF51B88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575A47-6519-32F0-BBC1-2F1EDB521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E7E95-2568-7FE7-3600-1FD6116D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E0B23-B8DC-C908-8AEC-64070B306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BCBD6-CAB3-E5B0-D5AB-C6406B10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510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9EE02-0415-E6A4-F573-33575F96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4AD659-5234-34A7-6210-A593F868A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04220-89C0-7720-8EA5-1A174712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C3866-F99F-2333-3BB0-E9F9924B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FE4C0-9A15-E6F6-AFF8-5A933434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690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0739F2-A377-198B-3BA9-6C884718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7ACFF-A3D6-1953-ADFC-389791D0C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5A104C-2370-0808-B1B8-EBF8936F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E8544A-214B-27F1-6928-0986067A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3BB7D-02C8-ECB0-3311-4FFFCB6B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287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0683C-67A7-EBEC-FE49-ACC979C1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E2623-584A-2DBE-FFBE-648CEDF1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22B069-57BE-00F0-7696-10218B5B4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711D98-EC6A-EEFA-9F5D-DBFEA87A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598CCB-979D-1928-0382-7387B0DD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78B039-4C85-5F8D-8AA3-6D6A6C9E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187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64E15-DD77-7F1F-E0DF-8A79DF8D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0E897D-4AC2-E309-DC80-9FC0324FD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689CC9-16BB-09F7-7107-B3A461DB8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03C486-86C5-D9C6-160E-831CC17F6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1C78B1-01A0-C80D-8D95-AEF8D5345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2248DF-0F01-B2E2-BCF7-335257060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E19DAC-D532-4249-020D-54D56B25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1ADEC4-BDAD-0BCA-CB17-8E39FEF1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6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F54D4-42E0-DC3E-155D-DDF4DF2A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ECFD4D-047B-107A-63E2-4E9A3156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07C40E-B632-0B6A-93C4-F98EA156F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A156C5-C75B-3D14-7F85-6FCB9913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310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C365F4-F171-3F28-7C74-317E1961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304B2D-17FF-265D-0333-A367E0EF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355010-11FF-8A30-9542-5ABA5044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905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C5FA1-606E-02D7-F17D-2CE587F6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5D825-E0CF-E58A-B5CA-0E5F3F618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1C8030-B6DD-14F4-DB1A-105045AFE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4D35FF-4EFD-699C-2A0B-B6C6340B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EC4C5-C033-85B9-F59B-6097828C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2B38B2-206E-3564-17A6-1DC361A9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317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646D5-8A0C-7437-7F1D-0F2A91DD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E15370-F1EF-58BA-C4BD-946E65824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C9C5A0-256A-8ED6-BA79-67B6FE9C1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AFA039-9910-B43D-5FB1-2ADF955F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1295DA-831B-A36A-9102-D9137E5A2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D797F1-29A3-E72C-7824-58542B43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956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ECF08-7F65-7187-C6DD-B0D927D8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7350AB-5F7E-02E5-5730-9D79CD325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37F166-78BD-7358-D64D-6AD8CC40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A4E61-927F-0D30-5F8D-81319D7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8B502-D49F-A3A3-C7ED-98B752EE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2337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FCA579-51EA-7FBC-DD38-652D09608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7920AC-DA3A-96E0-0B4A-8ACBF557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82D07F-68C3-AB75-152D-B389FE51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6102F-7489-45B7-144C-1CA22175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56F0C-7441-FD23-EDBA-79DE3E23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4146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G마켓 산스 TTF Light" panose="02000000000000000000" pitchFamily="2" charset="-127"/>
                <a:ea typeface="G마켓 산스 TTF Light" panose="02000000000000000000" pitchFamily="2" charset="-127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6" t="69587"/>
          <a:stretch/>
        </p:blipFill>
        <p:spPr>
          <a:xfrm>
            <a:off x="0" y="6642340"/>
            <a:ext cx="1802918" cy="19548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20"/>
          <a:stretch/>
        </p:blipFill>
        <p:spPr>
          <a:xfrm>
            <a:off x="10880202" y="6584950"/>
            <a:ext cx="1311798" cy="27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27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  <a:lvl2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2pPr>
            <a:lvl3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3pPr>
            <a:lvl4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4pPr>
            <a:lvl5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7741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54A3FA-9626-F1E9-93E9-8D9DC5208628}"/>
              </a:ext>
            </a:extLst>
          </p:cNvPr>
          <p:cNvSpPr/>
          <p:nvPr userDrawn="1"/>
        </p:nvSpPr>
        <p:spPr>
          <a:xfrm>
            <a:off x="2783197" y="2082113"/>
            <a:ext cx="6625606" cy="2693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감사합니다</a:t>
            </a:r>
            <a:r>
              <a:rPr kumimoji="1" lang="en-US" altLang="ko-KR" sz="4000" b="1" dirty="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.</a:t>
            </a:r>
            <a:endParaRPr kumimoji="1" lang="ko-KR" altLang="en-US" sz="4000" b="1" dirty="0">
              <a:solidFill>
                <a:schemeClr val="tx1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5587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25361D-BF7D-A406-84A8-D5F98AC2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E98C96-41E7-36DB-5B22-BE8E95FC5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2B9C7C-7BC7-D29C-E907-E7D73EB53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E2436-1BD2-A84A-82C9-CAB576CC4165}" type="datetimeFigureOut">
              <a:rPr kumimoji="1" lang="ko-KR" altLang="en-US" smtClean="0"/>
              <a:t>2026-02-08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6EFAD-16B5-BE60-54DA-36E6F7EB2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EEBFF-FBBE-782B-2E44-94BAF3C59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48BA2-7C01-2B4D-8E76-A46DBFF655A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37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9D05F-A05F-2997-51A1-420C19FA8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solidFill>
                  <a:srgbClr val="0070C0"/>
                </a:solidFill>
                <a:latin typeface="Noto Sans Armenian" panose="020B0502040504020204" pitchFamily="34" charset="0"/>
              </a:rPr>
              <a:t>Quantum ISD (updated</a:t>
            </a:r>
            <a:r>
              <a:rPr lang="ko-KR" altLang="en-US" sz="4000" b="1" dirty="0">
                <a:solidFill>
                  <a:srgbClr val="0070C0"/>
                </a:solidFill>
                <a:latin typeface="Noto Sans Armenian" panose="020B0502040504020204" pitchFamily="34" charset="0"/>
              </a:rPr>
              <a:t> </a:t>
            </a:r>
            <a:r>
              <a:rPr lang="en-US" altLang="ko-KR" sz="4000" b="1" dirty="0">
                <a:solidFill>
                  <a:srgbClr val="0070C0"/>
                </a:solidFill>
                <a:latin typeface="Noto Sans Armenian" panose="020B0502040504020204" pitchFamily="34" charset="0"/>
              </a:rPr>
              <a:t>ver.)</a:t>
            </a:r>
            <a:endParaRPr lang="ko-KR" altLang="en-US" sz="4000" b="1" dirty="0">
              <a:solidFill>
                <a:srgbClr val="FF0000"/>
              </a:solidFill>
              <a:latin typeface="Noto Sans Armenia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9B6E4E-853A-50AA-D287-984EF7464B7C}"/>
              </a:ext>
            </a:extLst>
          </p:cNvPr>
          <p:cNvSpPr txBox="1"/>
          <p:nvPr/>
        </p:nvSpPr>
        <p:spPr>
          <a:xfrm>
            <a:off x="4540834" y="4203909"/>
            <a:ext cx="386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https://youtu.be/AC6wR9mCrEw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71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2166-AD7B-CF94-62BD-3A278419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Quantum Information Set Decoding (QISD)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3A7A8-FD6A-74B6-7548-E9C615A486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368161" cy="5057775"/>
          </a:xfrm>
        </p:spPr>
        <p:txBody>
          <a:bodyPr>
            <a:noAutofit/>
          </a:bodyPr>
          <a:lstStyle/>
          <a:p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코드 기반 암호에 대한 공격 기법인 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ISD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Grover search 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적용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이전 과제에서 해왔던 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Prange ISD 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사용하고 내부 모듈 약간 변경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lnSpc>
                <a:spcPct val="150000"/>
              </a:lnSpc>
            </a:pP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Information set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대한 역행렬을 구하는 연산을 신드롬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에도 적용하여 나오는 결과 벡터의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해밍웨이트가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조건을 만족한다면 공격에 성공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ISD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오라클은 다음과 같이 크게 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가지 단계로 구성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lnSpc>
                <a:spcPct val="150000"/>
              </a:lnSpc>
            </a:pP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Information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set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구축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lnSpc>
                <a:spcPct val="150000"/>
              </a:lnSpc>
            </a:pP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Information set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대한 </a:t>
            </a:r>
            <a:r>
              <a:rPr kumimoji="1"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역행렬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계산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가우스 소거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가장 </a:t>
            </a:r>
            <a:r>
              <a:rPr kumimoji="1"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연산량이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많음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lnSpc>
                <a:spcPct val="150000"/>
              </a:lnSpc>
            </a:pPr>
            <a:r>
              <a:rPr kumimoji="1"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해밍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웨이트 계산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1238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4F99-1C6B-A224-8CE2-08EBDD2A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6499A950-E26A-29A0-30E8-231901B90758}"/>
              </a:ext>
            </a:extLst>
          </p:cNvPr>
          <p:cNvGrpSpPr/>
          <p:nvPr/>
        </p:nvGrpSpPr>
        <p:grpSpPr>
          <a:xfrm>
            <a:off x="7373732" y="2080890"/>
            <a:ext cx="4406348" cy="3624585"/>
            <a:chOff x="7520609" y="1668291"/>
            <a:chExt cx="4406348" cy="3624585"/>
          </a:xfrm>
        </p:grpSpPr>
        <p:pic>
          <p:nvPicPr>
            <p:cNvPr id="9" name="그림 8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8556E88-2B1D-A4E3-14BA-42A8D36AC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571" r="3574"/>
            <a:stretch>
              <a:fillRect/>
            </a:stretch>
          </p:blipFill>
          <p:spPr>
            <a:xfrm>
              <a:off x="7520609" y="2214629"/>
              <a:ext cx="4406348" cy="307824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EE73E9-D48A-74E4-DFA9-5DBDBE00886D}"/>
                </a:ext>
              </a:extLst>
            </p:cNvPr>
            <p:cNvSpPr txBox="1"/>
            <p:nvPr/>
          </p:nvSpPr>
          <p:spPr>
            <a:xfrm>
              <a:off x="8093020" y="1668291"/>
              <a:ext cx="31647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1</a:t>
              </a:r>
              <a:r>
                <a:rPr lang="ko-KR" altLang="en-US" sz="1400" dirty="0"/>
                <a:t>로 </a:t>
              </a:r>
              <a:r>
                <a:rPr lang="ko-KR" altLang="en-US" sz="1400" dirty="0" err="1"/>
                <a:t>세팅된</a:t>
              </a:r>
              <a:r>
                <a:rPr lang="ko-KR" altLang="en-US" sz="1400" dirty="0"/>
                <a:t> 열이 선택된 열을 의미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여기서는 </a:t>
              </a:r>
              <a:r>
                <a:rPr lang="en-US" altLang="ko-KR" sz="1400" dirty="0"/>
                <a:t>7</a:t>
              </a:r>
              <a:r>
                <a:rPr lang="ko-KR" altLang="en-US" sz="1400" dirty="0"/>
                <a:t>번째</a:t>
              </a:r>
              <a:r>
                <a:rPr lang="en-US" altLang="ko-KR" sz="1400" dirty="0"/>
                <a:t>~14</a:t>
              </a:r>
              <a:r>
                <a:rPr lang="ko-KR" altLang="en-US" sz="1400" dirty="0"/>
                <a:t>번째 열이 선택</a:t>
              </a: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DFFD9652-DCD4-A285-8254-66527D6A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Information set </a:t>
            </a:r>
            <a:r>
              <a:rPr kumimoji="1" lang="ko-KR" altLang="en-US" dirty="0"/>
              <a:t>구축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064D43F-39F2-166D-8BE3-6D616CA8B8E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919" y="1152525"/>
                <a:ext cx="11680007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패리티체크 행렬 </a:t>
                </a:r>
                <a14:m>
                  <m:oMath xmlns:m="http://schemas.openxmlformats.org/officeDocument/2006/math">
                    <m:r>
                      <a:rPr kumimoji="1" lang="en-US" altLang="ko-KR" sz="2000" b="1" i="1" dirty="0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𝑯</m:t>
                    </m:r>
                  </m:oMath>
                </a14:m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대한 부분 집합인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𝑯</m:t>
                        </m:r>
                      </m:e>
                      <m: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𝒏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−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𝒌</m:t>
                        </m:r>
                      </m:sub>
                    </m:sSub>
                  </m:oMath>
                </a14:m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생성</a:t>
                </a: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/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실제 파라미터에서 대규모 행렬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(e.g., n=17669,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k=128 (HQC-1))</a:t>
                </a:r>
              </a:p>
              <a:p>
                <a:pPr lvl="1"/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여기서는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toy example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로 실험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(n=16, k=8)</a:t>
                </a:r>
              </a:p>
              <a:p>
                <a:pPr lvl="1"/>
                <a:endParaRPr kumimoji="1" lang="en-US" altLang="ko-KR" sz="16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전체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열 중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부분집합으로 </a:t>
                </a:r>
                <a:r>
                  <a:rPr kumimoji="1" lang="en-US" altLang="ko-KR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</a:t>
                </a:r>
                <a:r>
                  <a:rPr kumimoji="1" lang="ko-KR" altLang="en-US" sz="20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개의 열을 선택</a:t>
                </a:r>
                <a:endParaRPr kumimoji="1" lang="en-US" altLang="ko-KR" sz="2000" b="1" dirty="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전체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에 대한 공격이 아님 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</a:t>
                </a:r>
                <a:r>
                  <a:rPr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수학적으로 그래도 된다고 함</a:t>
                </a:r>
                <a:r>
                  <a:rPr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가능한 경우의 </a:t>
                </a: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information set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을 만들기 위해</a:t>
                </a:r>
                <a:b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</a:b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n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개 중 </a:t>
                </a: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개의 열이 뽑힐 경우를 중첩</a:t>
                </a: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상태로 둠 </a:t>
                </a:r>
                <a:b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</a:b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1600" b="1" dirty="0" err="1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dicke</a:t>
                </a:r>
                <a:r>
                  <a:rPr lang="en-US" altLang="ko-KR" sz="1600" b="1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 state </a:t>
                </a:r>
                <a:r>
                  <a:rPr lang="ko-KR" altLang="en-US" sz="1600" b="1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사용 </a:t>
                </a:r>
                <a:endParaRPr lang="en-US" altLang="ko-KR" sz="1600" b="1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endParaRPr>
              </a:p>
              <a:p>
                <a:pPr lvl="1"/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선택된 열들은 따로 추출되어 이후 </a:t>
                </a:r>
                <a:r>
                  <a:rPr kumimoji="1" lang="ko-KR" altLang="en-US" sz="1600" dirty="0" err="1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역행렬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 계산에 사용 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(</a:t>
                </a:r>
                <a:r>
                  <a:rPr kumimoji="1" lang="ko-KR" altLang="en-US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가우스 소거</a:t>
                </a:r>
                <a:r>
                  <a:rPr kumimoji="1" lang="en-US" altLang="ko-KR" sz="16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)</a:t>
                </a:r>
              </a:p>
              <a:p>
                <a:pPr marL="0" indent="0">
                  <a:buNone/>
                </a:pPr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endParaRPr>
              </a:p>
              <a:p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선택된 인덱스에 따라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</m:ctrlPr>
                      </m:sSubPr>
                      <m:e>
                        <m:r>
                          <a:rPr kumimoji="1" lang="en-US" altLang="ko-KR" sz="2000" b="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𝐻</m:t>
                        </m:r>
                      </m:e>
                      <m:sub>
                        <m:r>
                          <a:rPr kumimoji="1" lang="en-US" altLang="ko-KR" sz="2000" b="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𝑛</m:t>
                        </m:r>
                        <m:r>
                          <a:rPr kumimoji="1" lang="en-US" altLang="ko-KR" sz="2000" b="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−</m:t>
                        </m:r>
                        <m:r>
                          <a:rPr kumimoji="1" lang="en-US" altLang="ko-KR" sz="2000" b="0" i="1">
                            <a:latin typeface="Cambria Math" panose="02040503050406030204" pitchFamily="18" charset="0"/>
                            <a:ea typeface="Noto Sans KR" panose="020B0200000000000000" pitchFamily="50" charset="-127"/>
                          </a:rPr>
                          <m:t>𝑘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 </m:t>
                    </m:r>
                    <m:r>
                      <a:rPr kumimoji="1" lang="ko-KR" altLang="en-US" sz="2000" b="0" i="1">
                        <a:latin typeface="Cambria Math" panose="02040503050406030204" pitchFamily="18" charset="0"/>
                        <a:ea typeface="Noto Sans KR" panose="020B0200000000000000" pitchFamily="50" charset="-127"/>
                      </a:rPr>
                      <m:t>추</m:t>
                    </m:r>
                  </m:oMath>
                </a14:m>
                <a:r>
                  <a:rPr kumimoji="1" lang="ko-KR" altLang="en-US" sz="2000" dirty="0">
                    <a:latin typeface="Noto Sans KR" panose="020B0200000000000000" pitchFamily="50" charset="-127"/>
                    <a:ea typeface="Noto Sans KR" panose="020B0200000000000000" pitchFamily="50" charset="-127"/>
                    <a:sym typeface="Wingdings" panose="05000000000000000000" pitchFamily="2" charset="2"/>
                  </a:rPr>
                  <a:t>출</a:t>
                </a:r>
                <a:endParaRPr kumimoji="1" lang="en-US" altLang="ko-KR" sz="2000" dirty="0">
                  <a:latin typeface="Noto Sans KR" panose="020B0200000000000000" pitchFamily="50" charset="-127"/>
                  <a:ea typeface="Noto Sans KR" panose="020B0200000000000000" pitchFamily="50" charset="-127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5064D43F-39F2-166D-8BE3-6D616CA8B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919" y="1152525"/>
                <a:ext cx="11680007" cy="5057775"/>
              </a:xfrm>
              <a:blipFill>
                <a:blip r:embed="rId3"/>
                <a:stretch>
                  <a:fillRect l="-574" t="-1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8370EFD-988F-E823-EE6B-DF5E2E6CA095}"/>
              </a:ext>
            </a:extLst>
          </p:cNvPr>
          <p:cNvSpPr txBox="1"/>
          <p:nvPr/>
        </p:nvSpPr>
        <p:spPr>
          <a:xfrm>
            <a:off x="3098979" y="2488728"/>
            <a:ext cx="2160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오른쪽 그림에서 </a:t>
            </a:r>
            <a:r>
              <a:rPr lang="en-US" altLang="ko-KR" sz="1200" dirty="0"/>
              <a:t>n-k</a:t>
            </a:r>
            <a:r>
              <a:rPr lang="ko-KR" altLang="en-US" sz="1200" dirty="0"/>
              <a:t>개 의미</a:t>
            </a:r>
          </a:p>
        </p:txBody>
      </p:sp>
    </p:spTree>
    <p:extLst>
      <p:ext uri="{BB962C8B-B14F-4D97-AF65-F5344CB8AC3E}">
        <p14:creationId xmlns:p14="http://schemas.microsoft.com/office/powerpoint/2010/main" val="2641966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641A-A690-997E-3E13-3981FC9E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7B2CD-E957-81AD-11A3-1B62DFAC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Information set </a:t>
            </a:r>
            <a:r>
              <a:rPr kumimoji="1" lang="ko-KR" altLang="en-US" dirty="0"/>
              <a:t>구축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F8DAB1-C0C2-8766-14D6-5259127D61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52525"/>
            <a:ext cx="12191999" cy="5057775"/>
          </a:xfrm>
        </p:spPr>
        <p:txBody>
          <a:bodyPr>
            <a:noAutofit/>
          </a:bodyPr>
          <a:lstStyle/>
          <a:p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구현상 이 단계에서 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개의 모듈이 필요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 식별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(H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에서 어떤 열이 선택된 것인지 알기 위함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2"/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0000001111111100 </a:t>
            </a:r>
            <a:r>
              <a:rPr kumimoji="1"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으로 두면 선택된 열에 대한 정보를 알기 어려움</a:t>
            </a:r>
            <a:endParaRPr kumimoji="1"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열 추출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(information set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구성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/>
            <a:endParaRPr kumimoji="1"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endParaRPr kumimoji="1"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 식별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우측 그림과 같이 선택된 열을 표현하는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큐빗을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열의 형태로 변경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행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선택된 개수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n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열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선택 정보 표시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행에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미선택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(0) /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선택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 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</a:t>
            </a:r>
            <a:endParaRPr kumimoji="1"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1~7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행은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one-hot 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인코딩 형태로 출력하기 위해 할당해둔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클린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모두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0)</a:t>
            </a:r>
          </a:p>
          <a:p>
            <a:pPr lvl="2"/>
            <a:r>
              <a:rPr kumimoji="1"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따라서</a:t>
            </a:r>
            <a:r>
              <a:rPr kumimoji="1"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하나의 열에 </a:t>
            </a:r>
            <a:r>
              <a:rPr kumimoji="1"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kumimoji="1"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최대 한 개만 존재  </a:t>
            </a:r>
            <a:r>
              <a:rPr kumimoji="1"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(0</a:t>
            </a:r>
            <a:r>
              <a:rPr kumimoji="1"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행에만 정보가 있음</a:t>
            </a:r>
            <a:r>
              <a:rPr kumimoji="1"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/>
            <a:endParaRPr kumimoji="1"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인덱스를 식별하려면 한 행에 하나의 선택 정보만 있어야 함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행의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들을 아래 행으로 끌고 </a:t>
            </a:r>
            <a:r>
              <a:rPr kumimoji="1"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내려와야하며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인접 행간의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swap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수행 </a:t>
            </a:r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열에 대한 컨트롤 </a:t>
            </a:r>
            <a:r>
              <a:rPr kumimoji="1"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큐빗에</a:t>
            </a:r>
            <a:r>
              <a:rPr kumimoji="1"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따라 우측 열을 </a:t>
            </a:r>
            <a:r>
              <a:rPr kumimoji="1"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swap</a:t>
            </a:r>
          </a:p>
          <a:p>
            <a:pPr lvl="1"/>
            <a:endParaRPr kumimoji="1"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이전 방식은 하나의 열에서 모든 행을 다 컨트롤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삼아서 우측을 인접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swap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동작은 맞지만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swap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연산이 중복되는 부분이 생김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endParaRPr kumimoji="1"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따라서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swap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연산 전에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하나의 열에 대해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있는지를 체크하여 저장하고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결과에 따라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swap</a:t>
            </a:r>
          </a:p>
          <a:p>
            <a:pPr lvl="2"/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 </a:t>
            </a:r>
            <a:r>
              <a:rPr kumimoji="1"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존재 여부는 단순 </a:t>
            </a:r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XOR</a:t>
            </a:r>
            <a:r>
              <a:rPr kumimoji="1"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하위 행들이 모두 </a:t>
            </a:r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kumimoji="1"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이므로 가능</a:t>
            </a:r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), </a:t>
            </a:r>
            <a:r>
              <a:rPr kumimoji="1"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병렬 가능</a:t>
            </a:r>
            <a:r>
              <a:rPr kumimoji="1"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pPr lvl="2"/>
            <a:r>
              <a:rPr kumimoji="1"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하나의 열에 대한 모든 행을 컨트롤로 사용하며 연산하지 않아도 됨 </a:t>
            </a:r>
            <a:r>
              <a:rPr kumimoji="1"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중복된 </a:t>
            </a:r>
            <a:r>
              <a:rPr kumimoji="1" lang="ko-KR" altLang="en-US" sz="1200" b="1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스왑</a:t>
            </a:r>
            <a:r>
              <a:rPr kumimoji="1" lang="ko-KR" altLang="en-US" sz="12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제거</a:t>
            </a:r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AFC2ED1-B85F-5353-F3EB-24CF509A029B}"/>
              </a:ext>
            </a:extLst>
          </p:cNvPr>
          <p:cNvGrpSpPr/>
          <p:nvPr/>
        </p:nvGrpSpPr>
        <p:grpSpPr>
          <a:xfrm>
            <a:off x="7328166" y="272526"/>
            <a:ext cx="4964145" cy="3408886"/>
            <a:chOff x="6299235" y="1549688"/>
            <a:chExt cx="5896822" cy="4049357"/>
          </a:xfrm>
          <a:solidFill>
            <a:schemeClr val="bg1"/>
          </a:solidFill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4032F9A-D642-AFA6-07E9-5949821DB2D3}"/>
                </a:ext>
              </a:extLst>
            </p:cNvPr>
            <p:cNvGrpSpPr/>
            <p:nvPr/>
          </p:nvGrpSpPr>
          <p:grpSpPr>
            <a:xfrm>
              <a:off x="9482866" y="1549688"/>
              <a:ext cx="2713191" cy="4049357"/>
              <a:chOff x="8648050" y="628539"/>
              <a:chExt cx="3073549" cy="4387408"/>
            </a:xfrm>
            <a:grpFill/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EE81609-0BFE-08AA-ED02-6647B0BE3BD2}"/>
                  </a:ext>
                </a:extLst>
              </p:cNvPr>
              <p:cNvGrpSpPr/>
              <p:nvPr/>
            </p:nvGrpSpPr>
            <p:grpSpPr>
              <a:xfrm>
                <a:off x="8648050" y="1490080"/>
                <a:ext cx="2840483" cy="3525867"/>
                <a:chOff x="8939597" y="1079263"/>
                <a:chExt cx="2840483" cy="3525867"/>
              </a:xfrm>
              <a:grpFill/>
            </p:grpSpPr>
            <p:pic>
              <p:nvPicPr>
                <p:cNvPr id="12" name="그림 11" descr="스크린샷, 텍스트, 폰트, 디자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37818B79-0F13-8E9B-49EB-40550629BD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9268089" y="1079263"/>
                  <a:ext cx="2511991" cy="3525867"/>
                </a:xfrm>
                <a:prstGeom prst="rect">
                  <a:avLst/>
                </a:prstGeom>
                <a:grpFill/>
              </p:spPr>
            </p:pic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EEE9ED9D-9544-F7FB-6C19-D1B402103287}"/>
                    </a:ext>
                  </a:extLst>
                </p:cNvPr>
                <p:cNvSpPr/>
                <p:nvPr/>
              </p:nvSpPr>
              <p:spPr>
                <a:xfrm>
                  <a:off x="8939597" y="1189194"/>
                  <a:ext cx="178903" cy="185531"/>
                </a:xfrm>
                <a:prstGeom prst="rightArrow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2D02676E-7AA3-6249-A778-88BB20584836}"/>
                  </a:ext>
                </a:extLst>
              </p:cNvPr>
              <p:cNvGrpSpPr/>
              <p:nvPr/>
            </p:nvGrpSpPr>
            <p:grpSpPr>
              <a:xfrm>
                <a:off x="8705175" y="628539"/>
                <a:ext cx="3016424" cy="1273148"/>
                <a:chOff x="8705175" y="628539"/>
                <a:chExt cx="3016424" cy="1273148"/>
              </a:xfrm>
              <a:grpFill/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63075B9-E2B4-4159-CAE2-069581D4388D}"/>
                    </a:ext>
                  </a:extLst>
                </p:cNvPr>
                <p:cNvSpPr txBox="1"/>
                <p:nvPr/>
              </p:nvSpPr>
              <p:spPr>
                <a:xfrm>
                  <a:off x="8705175" y="628539"/>
                  <a:ext cx="3016424" cy="83186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b="1" dirty="0">
                      <a:solidFill>
                        <a:schemeClr val="accent2"/>
                      </a:solidFill>
                    </a:rPr>
                    <a:t>Information set</a:t>
                  </a:r>
                  <a:r>
                    <a:rPr lang="ko-KR" altLang="en-US" sz="1200" b="1" dirty="0">
                      <a:solidFill>
                        <a:schemeClr val="accent2"/>
                      </a:solidFill>
                    </a:rPr>
                    <a:t>에 </a:t>
                  </a:r>
                  <a:endParaRPr lang="en-US" altLang="ko-KR" sz="12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ko-KR" altLang="en-US" sz="1200" b="1" dirty="0">
                      <a:solidFill>
                        <a:schemeClr val="accent2"/>
                      </a:solidFill>
                    </a:rPr>
                    <a:t>첫번째로 선택된 열은</a:t>
                  </a:r>
                  <a:endParaRPr lang="en-US" altLang="ko-KR" sz="12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altLang="ko-KR" sz="1200" b="1" dirty="0">
                      <a:solidFill>
                        <a:schemeClr val="accent2"/>
                      </a:solidFill>
                    </a:rPr>
                    <a:t>H</a:t>
                  </a:r>
                  <a:r>
                    <a:rPr lang="ko-KR" altLang="en-US" sz="1200" b="1" dirty="0">
                      <a:solidFill>
                        <a:schemeClr val="accent2"/>
                      </a:solidFill>
                    </a:rPr>
                    <a:t>의 </a:t>
                  </a:r>
                  <a:r>
                    <a:rPr lang="en-US" altLang="ko-KR" sz="1200" b="1" dirty="0">
                      <a:solidFill>
                        <a:schemeClr val="accent2"/>
                      </a:solidFill>
                    </a:rPr>
                    <a:t>7</a:t>
                  </a:r>
                  <a:r>
                    <a:rPr lang="ko-KR" altLang="en-US" sz="1200" b="1" dirty="0">
                      <a:solidFill>
                        <a:schemeClr val="accent2"/>
                      </a:solidFill>
                    </a:rPr>
                    <a:t>번째 열임을 의미</a:t>
                  </a:r>
                </a:p>
              </p:txBody>
            </p: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8C7765BA-CC4C-740D-74E8-DAA3AEAF4A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56408" y="1901687"/>
                  <a:ext cx="2313958" cy="0"/>
                </a:xfrm>
                <a:prstGeom prst="line">
                  <a:avLst/>
                </a:prstGeom>
                <a:grpFill/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4" name="그림 23" descr="텍스트, 스크린샷, 폰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973D176-CF7E-5E15-C461-771D403C8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9958" y="2344847"/>
              <a:ext cx="2924005" cy="2987848"/>
            </a:xfrm>
            <a:prstGeom prst="rect">
              <a:avLst/>
            </a:prstGeom>
            <a:grpFill/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F2B9D5-76E7-14DF-0F72-B3ADF2407967}"/>
                </a:ext>
              </a:extLst>
            </p:cNvPr>
            <p:cNvSpPr txBox="1"/>
            <p:nvPr/>
          </p:nvSpPr>
          <p:spPr>
            <a:xfrm>
              <a:off x="6299235" y="1719706"/>
              <a:ext cx="2924005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DAA600"/>
                  </a:solidFill>
                </a:rPr>
                <a:t>K</a:t>
              </a:r>
              <a:r>
                <a:rPr lang="ko-KR" altLang="en-US" sz="1200" b="1" dirty="0">
                  <a:solidFill>
                    <a:srgbClr val="DAA600"/>
                  </a:solidFill>
                </a:rPr>
                <a:t>행이 있긴 하지만 그 중</a:t>
              </a:r>
              <a:endParaRPr lang="en-US" altLang="ko-KR" sz="1200" b="1" dirty="0">
                <a:solidFill>
                  <a:srgbClr val="DAA600"/>
                </a:solidFill>
              </a:endParaRPr>
            </a:p>
            <a:p>
              <a:pPr algn="ctr"/>
              <a:r>
                <a:rPr lang="ko-KR" altLang="en-US" sz="1200" b="1" dirty="0">
                  <a:solidFill>
                    <a:srgbClr val="DAA600"/>
                  </a:solidFill>
                </a:rPr>
                <a:t>첫번째 행에 선택된 열 정보 존재</a:t>
              </a: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B32541F-94BA-C65B-85C8-A0CC199A6795}"/>
              </a:ext>
            </a:extLst>
          </p:cNvPr>
          <p:cNvCxnSpPr>
            <a:cxnSpLocks/>
          </p:cNvCxnSpPr>
          <p:nvPr/>
        </p:nvCxnSpPr>
        <p:spPr>
          <a:xfrm>
            <a:off x="7396121" y="1261724"/>
            <a:ext cx="168824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E9C5BFF-8ABC-F96A-8905-BA538E8E1AB6}"/>
              </a:ext>
            </a:extLst>
          </p:cNvPr>
          <p:cNvSpPr txBox="1"/>
          <p:nvPr/>
        </p:nvSpPr>
        <p:spPr>
          <a:xfrm>
            <a:off x="6732105" y="6499570"/>
            <a:ext cx="5420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+ </a:t>
            </a:r>
            <a:r>
              <a:rPr lang="ko-KR" altLang="en-US" sz="1100" dirty="0"/>
              <a:t>컨트롤 </a:t>
            </a:r>
            <a:r>
              <a:rPr lang="ko-KR" altLang="en-US" sz="1100" dirty="0" err="1"/>
              <a:t>큐빗</a:t>
            </a:r>
            <a:r>
              <a:rPr lang="ko-KR" altLang="en-US" sz="1100" dirty="0"/>
              <a:t> 복사를 통해 열 단위 병렬화 적용 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안실라는</a:t>
            </a:r>
            <a:r>
              <a:rPr lang="ko-KR" altLang="en-US" sz="1100" dirty="0"/>
              <a:t> 다음 단계에서 </a:t>
            </a:r>
            <a:r>
              <a:rPr lang="ko-KR" altLang="en-US" sz="1100" dirty="0" err="1"/>
              <a:t>빌려옴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2596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2971-67F7-C6A3-0B8E-7C807BF7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B0FEB-ED09-7768-89E3-3C3B12F1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Information set </a:t>
            </a:r>
            <a:r>
              <a:rPr kumimoji="1" lang="ko-KR" altLang="en-US" dirty="0"/>
              <a:t>구축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A8E92-A656-D7DC-3FCC-CE7E57779E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680007" cy="5057775"/>
          </a:xfrm>
        </p:spPr>
        <p:txBody>
          <a:bodyPr>
            <a:noAutofit/>
          </a:bodyPr>
          <a:lstStyle/>
          <a:p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 x k 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크기의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information set 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인덱스에 따라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에서 선택된 열들을 </a:t>
            </a:r>
            <a:r>
              <a:rPr kumimoji="1"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복사해야함</a:t>
            </a:r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따라서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 및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행렬에 대한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AND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연산이 필요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결과가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information set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 행렬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kumimoji="1" lang="en-US" altLang="ko-KR" sz="16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][</a:t>
            </a:r>
            <a:r>
              <a:rPr kumimoji="1" lang="en-US" altLang="ko-KR" sz="1600" dirty="0" err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&amp; H[</a:t>
            </a:r>
            <a:r>
              <a:rPr kumimoji="1" lang="en-US" altLang="ko-KR" sz="1600" dirty="0">
                <a:solidFill>
                  <a:schemeClr val="accent6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][</a:t>
            </a:r>
            <a:r>
              <a:rPr kumimoji="1" lang="en-US" altLang="ko-KR" sz="1600" dirty="0" err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Hk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[</a:t>
            </a:r>
            <a:r>
              <a:rPr kumimoji="1" lang="en-US" altLang="ko-KR" sz="1600" dirty="0">
                <a:solidFill>
                  <a:schemeClr val="accent6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j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][</a:t>
            </a:r>
            <a:r>
              <a:rPr kumimoji="1" lang="en-US" altLang="ko-KR" sz="1600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p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]</a:t>
            </a:r>
          </a:p>
          <a:p>
            <a:pPr lvl="2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2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예를 들어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 행렬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[2]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다음과 같다면 세번째로 선택됐던 열이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번째 열이라는 의미이고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번째 열에 대한 모든 행을 </a:t>
            </a:r>
            <a:r>
              <a:rPr kumimoji="1"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Hk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세번째 열의 모든 행에 복사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전체 구조는 그대로 두고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인덱스만 변경하여 최대한 겹치지 않는 </a:t>
            </a:r>
            <a:r>
              <a:rPr kumimoji="1" lang="ko-KR" altLang="en-US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큐빗들에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한번에 많이 접근하도록 해서 </a:t>
            </a:r>
            <a:r>
              <a:rPr kumimoji="1" lang="ko-KR" altLang="en-US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병렬성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높임</a:t>
            </a:r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기존 구현에서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 반복문으로 간단히 구현되어 있음</a:t>
            </a:r>
            <a:b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Hk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가 사용하지 않는 </a:t>
            </a:r>
            <a:r>
              <a:rPr kumimoji="1"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i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에 대한 반복이 가장 내부 반복이어서 같은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큐빗에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계속 접근하는 형태일 수도 있을 것 같았음</a:t>
            </a:r>
            <a:b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컴파일러가 어느정도 병렬화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시켜주기는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하겠지만 약간 변경함</a:t>
            </a:r>
            <a:b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동일 </a:t>
            </a:r>
            <a:r>
              <a:rPr kumimoji="1" lang="en-US" altLang="ko-KR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i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 대해서 최대한 겹치지 않는 </a:t>
            </a:r>
            <a:r>
              <a:rPr kumimoji="1" lang="ko-KR" altLang="en-US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큐빗을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동시에 사용하도록 해야함</a:t>
            </a: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두 컨트롤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인덱스 행렬과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H)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겹치지 않는 </a:t>
            </a:r>
            <a:r>
              <a:rPr kumimoji="1"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j,p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선택하도록 함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개의 그룹으로 나눌 수 있음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예시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index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j,p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=&gt; (0,0), (1,1),(2,2),(3,3)   //  (0,1), (1,2),(2,3),(3,4) // (0,2)(1,3)(2,0)(3,1) // (0,3)(1,0)(2,1)(3,2) 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38D21-A281-6643-7803-FABE28658A41}"/>
              </a:ext>
            </a:extLst>
          </p:cNvPr>
          <p:cNvSpPr txBox="1"/>
          <p:nvPr/>
        </p:nvSpPr>
        <p:spPr>
          <a:xfrm>
            <a:off x="1530626" y="2316154"/>
            <a:ext cx="159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70C0"/>
                </a:solidFill>
              </a:rPr>
              <a:t>몇 번째 선택</a:t>
            </a:r>
            <a:r>
              <a:rPr lang="en-US" altLang="ko-KR" sz="1400" dirty="0">
                <a:solidFill>
                  <a:srgbClr val="0070C0"/>
                </a:solidFill>
              </a:rPr>
              <a:t>?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C30524-6F88-8154-5676-BCD2181CF5B9}"/>
              </a:ext>
            </a:extLst>
          </p:cNvPr>
          <p:cNvSpPr txBox="1"/>
          <p:nvPr/>
        </p:nvSpPr>
        <p:spPr>
          <a:xfrm>
            <a:off x="2438742" y="2692078"/>
            <a:ext cx="2007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</a:rPr>
              <a:t>n</a:t>
            </a:r>
            <a:r>
              <a:rPr lang="ko-KR" altLang="en-US" sz="1400" dirty="0">
                <a:solidFill>
                  <a:srgbClr val="C00000"/>
                </a:solidFill>
              </a:rPr>
              <a:t>개 중 몇 번째 열</a:t>
            </a:r>
            <a:r>
              <a:rPr lang="en-US" altLang="ko-KR" sz="1400" dirty="0">
                <a:solidFill>
                  <a:srgbClr val="C00000"/>
                </a:solidFill>
              </a:rPr>
              <a:t>?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A5F1E-76C4-872A-CCE8-2BAD3C8194B4}"/>
              </a:ext>
            </a:extLst>
          </p:cNvPr>
          <p:cNvSpPr txBox="1"/>
          <p:nvPr/>
        </p:nvSpPr>
        <p:spPr>
          <a:xfrm>
            <a:off x="3525079" y="2316154"/>
            <a:ext cx="1596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ko-KR" altLang="en-US" sz="1400" dirty="0">
                <a:solidFill>
                  <a:schemeClr val="accent6">
                    <a:lumMod val="75000"/>
                  </a:schemeClr>
                </a:solidFill>
              </a:rPr>
              <a:t>의 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C162C-4CB3-3DA0-2B49-F95B7F6840C7}"/>
              </a:ext>
            </a:extLst>
          </p:cNvPr>
          <p:cNvSpPr txBox="1"/>
          <p:nvPr/>
        </p:nvSpPr>
        <p:spPr>
          <a:xfrm>
            <a:off x="4568860" y="2316154"/>
            <a:ext cx="2683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solidFill>
                  <a:srgbClr val="0070C0"/>
                </a:solidFill>
              </a:rPr>
              <a:t>선택됐던 순서대로 복사되므로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p:pic>
        <p:nvPicPr>
          <p:cNvPr id="10" name="그림 9" descr="스크린샷, 텍스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1B9133-9D71-694C-3B9E-31DF19A2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30" b="87074"/>
          <a:stretch>
            <a:fillRect/>
          </a:stretch>
        </p:blipFill>
        <p:spPr>
          <a:xfrm>
            <a:off x="1246644" y="3767488"/>
            <a:ext cx="2384195" cy="30777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80928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D85C-58A0-5970-7DBF-0471622D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6C0A1-EEB0-EB39-4FFD-3F06315D1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Gauss-Jordan Elimination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0F2CC-F5FA-64D7-A852-06FF4A071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680007" cy="5057775"/>
          </a:xfrm>
        </p:spPr>
        <p:txBody>
          <a:bodyPr>
            <a:noAutofit/>
          </a:bodyPr>
          <a:lstStyle/>
          <a:p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부분은 이미 병렬화가 잘 되어 있어서 변경하지 않음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62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4786B-FFD3-7A02-4435-D0436F0D0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554A7-8198-A00F-AFBD-C5C33325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err="1"/>
              <a:t>해밍</a:t>
            </a:r>
            <a:r>
              <a:rPr kumimoji="1" lang="ko-KR" altLang="en-US" dirty="0"/>
              <a:t> 웨이트 확인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468498-3A51-71C0-92A1-F25A0479DA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680007" cy="5057775"/>
          </a:xfrm>
        </p:spPr>
        <p:txBody>
          <a:bodyPr>
            <a:noAutofit/>
          </a:bodyPr>
          <a:lstStyle/>
          <a:p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앞에서 얻은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Information set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역행렬을 구하는 연산을 신드롬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에도 적용한 결과 벡터에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대한 </a:t>
            </a:r>
            <a:r>
              <a:rPr kumimoji="1"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해밍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웨이트 체크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기존 구현은 트리방식으로 덧셈하여 모든 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카운트함</a:t>
            </a: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/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비트에 대한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해밍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웨이트 계산을 예로 들면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4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비트씩 나누어 덧셈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 4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비트 내부에서는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2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비트로 나누어 계산하는 트리 방식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1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해당 방식은 </a:t>
            </a:r>
            <a:r>
              <a:rPr kumimoji="1"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k</a:t>
            </a:r>
            <a:r>
              <a:rPr kumimoji="1"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가 커질수록 덧셈 호출 횟수도 증가함</a:t>
            </a:r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endParaRPr kumimoji="1"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따라서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, QCSA (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멀티 오퍼랜드 덧셈</a:t>
            </a:r>
            <a:r>
              <a:rPr kumimoji="1" lang="en-US" altLang="ko-KR" sz="18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)</a:t>
            </a:r>
            <a:r>
              <a:rPr kumimoji="1" lang="ko-KR" altLang="en-US" sz="18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을 적용하여 한 번에 모든 비트를 더함</a:t>
            </a:r>
            <a:endParaRPr kumimoji="1" lang="en-US" altLang="ko-KR" sz="1800" b="1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1"/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비트에 대한 </a:t>
            </a:r>
            <a:r>
              <a:rPr kumimoji="1"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해밍웨이트는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k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개의 각 비트를 다 더하면 됨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2"/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0 0 1 1 0 0 0 0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은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0+0+1+1+0+0+0+0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이 되는 것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1"/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따라서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1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비트 </a:t>
            </a:r>
            <a:r>
              <a:rPr kumimoji="1"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k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개를 한 번에 더하면 </a:t>
            </a:r>
            <a:r>
              <a:rPr kumimoji="1"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해밍웨이트를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구할 수 있음</a:t>
            </a:r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1"/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1"/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필요한 </a:t>
            </a:r>
            <a:r>
              <a:rPr kumimoji="1"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안실라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큐빗들은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이전 단계인 가우스 소거에서 사용한 충분히 많은 수의 </a:t>
            </a:r>
            <a:r>
              <a:rPr kumimoji="1" lang="ko-KR" altLang="en-US" sz="1600" b="1" dirty="0" err="1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안실라를</a:t>
            </a:r>
            <a:r>
              <a:rPr kumimoji="1" lang="ko-KR" altLang="en-US" sz="16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빌려올 수 있음 </a:t>
            </a:r>
            <a:endParaRPr kumimoji="1" lang="en-US" altLang="ko-KR" sz="1600" b="1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lvl="1"/>
            <a:endParaRPr kumimoji="1"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kumimoji="1"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832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02AB-A8A7-9117-6545-3113A137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B38BE-011B-6CE6-34E9-0058C660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A72E1-3F63-F113-E756-F4089A499F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680007" cy="5057775"/>
          </a:xfrm>
        </p:spPr>
        <p:txBody>
          <a:bodyPr>
            <a:noAutofit/>
          </a:bodyPr>
          <a:lstStyle/>
          <a:p>
            <a:r>
              <a:rPr kumimoji="1"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큐빗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수 동일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게이트 수 약간 감소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Full depth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약 </a:t>
            </a:r>
            <a:r>
              <a:rPr kumimoji="1"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r>
            <a:r>
              <a:rPr kumimoji="1"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퍼 감소</a:t>
            </a:r>
            <a:endParaRPr kumimoji="1"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85BFAFC-704A-6DFE-33F3-A2DDE78AD27F}"/>
              </a:ext>
            </a:extLst>
          </p:cNvPr>
          <p:cNvGrpSpPr/>
          <p:nvPr/>
        </p:nvGrpSpPr>
        <p:grpSpPr>
          <a:xfrm>
            <a:off x="1210394" y="1911091"/>
            <a:ext cx="3014843" cy="4481824"/>
            <a:chOff x="1120416" y="1628551"/>
            <a:chExt cx="3581900" cy="5324803"/>
          </a:xfrm>
        </p:grpSpPr>
        <p:pic>
          <p:nvPicPr>
            <p:cNvPr id="5" name="그림 4" descr="텍스트, 스크린샷, 폰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8A5FC8F-BACA-A10C-28D7-AACC81482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416" y="2216478"/>
              <a:ext cx="3581900" cy="4077269"/>
            </a:xfrm>
            <a:prstGeom prst="rect">
              <a:avLst/>
            </a:prstGeom>
          </p:spPr>
        </p:pic>
        <p:pic>
          <p:nvPicPr>
            <p:cNvPr id="7" name="그림 6" descr="폰트, 텍스트, 스크린샷, 타이포그래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A4F20A3-D028-2EDF-A633-F73A33D95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0416" y="1628551"/>
              <a:ext cx="1543265" cy="543001"/>
            </a:xfrm>
            <a:prstGeom prst="rect">
              <a:avLst/>
            </a:prstGeom>
          </p:spPr>
        </p:pic>
        <p:pic>
          <p:nvPicPr>
            <p:cNvPr id="9" name="그림 8" descr="폰트, 텍스트, 스크린샷, 타이포그래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CA2EAB2-FF1C-62CC-2AFE-9EC80D733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0416" y="6343669"/>
              <a:ext cx="2438740" cy="609685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EFDAAFC-E4E6-08B2-B044-7A7C2676A80D}"/>
              </a:ext>
            </a:extLst>
          </p:cNvPr>
          <p:cNvGrpSpPr/>
          <p:nvPr/>
        </p:nvGrpSpPr>
        <p:grpSpPr>
          <a:xfrm>
            <a:off x="7810430" y="1913635"/>
            <a:ext cx="3087691" cy="4479280"/>
            <a:chOff x="8183828" y="1648335"/>
            <a:chExt cx="3668450" cy="5321781"/>
          </a:xfrm>
        </p:grpSpPr>
        <p:pic>
          <p:nvPicPr>
            <p:cNvPr id="11" name="그림 10" descr="텍스트, 스크린샷, 폰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57EC4EE-121F-A8DB-9042-411D35123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4641" y="2336702"/>
              <a:ext cx="3667637" cy="3915321"/>
            </a:xfrm>
            <a:prstGeom prst="rect">
              <a:avLst/>
            </a:prstGeom>
          </p:spPr>
        </p:pic>
        <p:pic>
          <p:nvPicPr>
            <p:cNvPr id="13" name="그림 12" descr="텍스트, 폰트, 스크린샷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0668343-A1AB-4B76-B7E2-E8378992C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83828" y="6293747"/>
              <a:ext cx="2562583" cy="676369"/>
            </a:xfrm>
            <a:prstGeom prst="rect">
              <a:avLst/>
            </a:prstGeom>
          </p:spPr>
        </p:pic>
        <p:pic>
          <p:nvPicPr>
            <p:cNvPr id="15" name="그림 14" descr="텍스트, 폰트, 그래픽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79F1C44-085B-E99F-6151-69AB01AA9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83828" y="1648335"/>
              <a:ext cx="1543265" cy="600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920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8B0B-C66A-B752-97A3-9B8B8339F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CBED2-3F20-38CB-25BD-64029C40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계획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EB063C-C3EC-FD41-CFDB-E90F04C7CE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19" y="1152525"/>
            <a:ext cx="11680007" cy="5057775"/>
          </a:xfrm>
        </p:spPr>
        <p:txBody>
          <a:bodyPr>
            <a:noAutofit/>
          </a:bodyPr>
          <a:lstStyle/>
          <a:p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일단 토이 예제에서는 약간의 성능 향상 있음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더 큰 파라미터에서의 개선은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어느정도인지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확인할 예정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사실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QISD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이론에 대해 아주 잘 아는 것은 아니어서 놓친 부분이 있는지 확인해볼 예정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571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7F8B13-3D24-7EC2-8EC8-20289F72D407}"/>
              </a:ext>
            </a:extLst>
          </p:cNvPr>
          <p:cNvSpPr/>
          <p:nvPr/>
        </p:nvSpPr>
        <p:spPr>
          <a:xfrm>
            <a:off x="4327379" y="3042244"/>
            <a:ext cx="3220720" cy="7735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4225C-81B9-8718-EC0B-C9B3DB700608}"/>
              </a:ext>
            </a:extLst>
          </p:cNvPr>
          <p:cNvSpPr txBox="1"/>
          <p:nvPr/>
        </p:nvSpPr>
        <p:spPr>
          <a:xfrm>
            <a:off x="4551155" y="2659989"/>
            <a:ext cx="2768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Thank</a:t>
            </a:r>
            <a:r>
              <a:rPr kumimoji="1" lang="ko-KR" altLang="en-US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 </a:t>
            </a:r>
            <a:r>
              <a:rPr kumimoji="1" lang="en-US" altLang="ko-Kore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you</a:t>
            </a:r>
            <a:r>
              <a:rPr kumimoji="1" lang="en-US" altLang="ko-KR" sz="45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.</a:t>
            </a:r>
            <a:endParaRPr kumimoji="1" lang="ko-Kore-KR" altLang="en-US" sz="4500" dirty="0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A5FAE-03AC-60B4-A2F3-60EE48393B65}"/>
              </a:ext>
            </a:extLst>
          </p:cNvPr>
          <p:cNvSpPr txBox="1"/>
          <p:nvPr/>
        </p:nvSpPr>
        <p:spPr>
          <a:xfrm>
            <a:off x="4551155" y="3668666"/>
            <a:ext cx="2861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0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감사합니다</a:t>
            </a:r>
            <a:r>
              <a:rPr kumimoji="1" lang="en-US" altLang="ko-KR" sz="4000" dirty="0">
                <a:latin typeface="Noto Sans Armenian" panose="020B0502040504020204" pitchFamily="34" charset="0"/>
                <a:ea typeface="Malgun Gothic" panose="020B0503020000020004" pitchFamily="34" charset="-127"/>
              </a:rPr>
              <a:t>.</a:t>
            </a:r>
            <a:endParaRPr kumimoji="1" lang="ko-Kore-KR" altLang="en-US" sz="4000" dirty="0">
              <a:latin typeface="Noto Sans Armenian" panose="020B0502040504020204" pitchFamily="34" charset="0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963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28994</TotalTime>
  <Words>907</Words>
  <Application>Microsoft Office PowerPoint</Application>
  <PresentationFormat>와이드스크린</PresentationFormat>
  <Paragraphs>100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G마켓 산스 TTF Light</vt:lpstr>
      <vt:lpstr>G마켓 산스 TTF Medium</vt:lpstr>
      <vt:lpstr>Noto Sans Armenian</vt:lpstr>
      <vt:lpstr>Noto Sans KR</vt:lpstr>
      <vt:lpstr>맑은 고딕</vt:lpstr>
      <vt:lpstr>Arial</vt:lpstr>
      <vt:lpstr>Cambria Math</vt:lpstr>
      <vt:lpstr>Office 테마</vt:lpstr>
      <vt:lpstr>Quantum ISD (updated ver.)</vt:lpstr>
      <vt:lpstr>Quantum Information Set Decoding (QISD)</vt:lpstr>
      <vt:lpstr>Information set 구축</vt:lpstr>
      <vt:lpstr>Information set 구축</vt:lpstr>
      <vt:lpstr>Information set 구축</vt:lpstr>
      <vt:lpstr>Gauss-Jordan Elimination</vt:lpstr>
      <vt:lpstr>해밍 웨이트 확인</vt:lpstr>
      <vt:lpstr>결과</vt:lpstr>
      <vt:lpstr>계획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 on Elliptic Curves (non-binary)</dc:title>
  <dc:creator>장경배</dc:creator>
  <cp:lastModifiedBy>현지 김</cp:lastModifiedBy>
  <cp:revision>2483</cp:revision>
  <dcterms:created xsi:type="dcterms:W3CDTF">2025-04-15T05:09:22Z</dcterms:created>
  <dcterms:modified xsi:type="dcterms:W3CDTF">2026-02-08T15:55:49Z</dcterms:modified>
</cp:coreProperties>
</file>