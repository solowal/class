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  <p:sldMasterId id="2147483673" r:id="rId2"/>
    <p:sldMasterId id="2147483689" r:id="rId3"/>
  </p:sldMasterIdLst>
  <p:notesMasterIdLst>
    <p:notesMasterId r:id="rId18"/>
  </p:notesMasterIdLst>
  <p:handoutMasterIdLst>
    <p:handoutMasterId r:id="rId19"/>
  </p:handoutMasterIdLst>
  <p:sldIdLst>
    <p:sldId id="266" r:id="rId4"/>
    <p:sldId id="267" r:id="rId5"/>
    <p:sldId id="268" r:id="rId6"/>
    <p:sldId id="274" r:id="rId7"/>
    <p:sldId id="275" r:id="rId8"/>
    <p:sldId id="271" r:id="rId9"/>
    <p:sldId id="272" r:id="rId10"/>
    <p:sldId id="276" r:id="rId11"/>
    <p:sldId id="277" r:id="rId12"/>
    <p:sldId id="278" r:id="rId13"/>
    <p:sldId id="273" r:id="rId14"/>
    <p:sldId id="269" r:id="rId15"/>
    <p:sldId id="279" r:id="rId16"/>
    <p:sldId id="28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D9"/>
    <a:srgbClr val="0089CB"/>
    <a:srgbClr val="2057A6"/>
    <a:srgbClr val="02439A"/>
    <a:srgbClr val="0698D9"/>
    <a:srgbClr val="014099"/>
    <a:srgbClr val="010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 autoAdjust="0"/>
    <p:restoredTop sz="94729"/>
  </p:normalViewPr>
  <p:slideViewPr>
    <p:cSldViewPr snapToGrid="0">
      <p:cViewPr varScale="1">
        <p:scale>
          <a:sx n="150" d="100"/>
          <a:sy n="150" d="100"/>
        </p:scale>
        <p:origin x="9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제출 건수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F1E3D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Threshold Schnorr/EdDSA</c:v>
                </c:pt>
                <c:pt idx="1">
                  <c:v>Threshold ECDSA</c:v>
                </c:pt>
                <c:pt idx="2">
                  <c:v>PQ Threshold Signing</c:v>
                </c:pt>
                <c:pt idx="3">
                  <c:v>Symmetric/MPC/VSS/ZKP</c:v>
                </c:pt>
                <c:pt idx="4">
                  <c:v>Threshold FHE/KEM</c:v>
                </c:pt>
                <c:pt idx="5">
                  <c:v>Threshold ML-DSA</c:v>
                </c:pt>
                <c:pt idx="6">
                  <c:v>Threshold Stateful HBS</c:v>
                </c:pt>
                <c:pt idx="7">
                  <c:v>Threshold BLS</c:v>
                </c:pt>
                <c:pt idx="8">
                  <c:v>Multi-primitive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7F-4C81-BAA8-2B685DF627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D41062-EA43-95AE-AB69-DDD240C18F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577C81-D543-2073-2945-F3741AAF4A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89BC2-8B6F-4329-84C0-38ADCF062B7E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1A6DFB-E8BC-D901-4451-E8490C6A70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5105FA-9199-7D05-7622-7916DB5443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9E715-E965-457B-9EFF-9B2CB5AE84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033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73354-27DB-47A1-9CF5-0ADFB2C61589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D0A05-DC5D-445C-BF35-E1559A52F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6509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alphaModFix amt="58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9EC1AE-0CF3-C014-5001-35BB9A406A33}"/>
              </a:ext>
            </a:extLst>
          </p:cNvPr>
          <p:cNvSpPr/>
          <p:nvPr userDrawn="1"/>
        </p:nvSpPr>
        <p:spPr>
          <a:xfrm>
            <a:off x="0" y="0"/>
            <a:ext cx="12192000" cy="399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E50B43-50C2-3141-C999-2D25888336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73338"/>
            <a:ext cx="1583170" cy="629243"/>
          </a:xfrm>
          <a:prstGeom prst="rect">
            <a:avLst/>
          </a:prstGeom>
        </p:spPr>
      </p:pic>
      <p:pic>
        <p:nvPicPr>
          <p:cNvPr id="16" name="그림 15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257517-ACA1-8637-88FB-7058C27C9E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07956" y="6492240"/>
            <a:ext cx="2103124" cy="2579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5">
            <a:extLst>
              <a:ext uri="{FF2B5EF4-FFF2-40B4-BE49-F238E27FC236}">
                <a16:creationId xmlns:a16="http://schemas.microsoft.com/office/drawing/2014/main" id="{5BF06899-00BD-28B2-66B5-4DB3214DC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372465"/>
            <a:ext cx="11201400" cy="1618407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42C2F-B1B4-80EC-DD8A-24A30223B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3303846"/>
            <a:ext cx="11201400" cy="10205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18121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FB841235-2B37-B2DF-969C-BE066A9B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EF22DA-A276-F072-2FF4-D5D3B5F42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C60637-A0DE-EF1A-58BE-08B5D45A1148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4100"/>
            <a:ext cx="11803380" cy="5255174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5" name="그림 4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AA793B-0BA5-F2FB-0428-747669A8B1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743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2498"/>
            <a:ext cx="5817870" cy="5256776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8AA5431C-D950-548D-7061-D522619584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9822" y="1052498"/>
            <a:ext cx="5783578" cy="5256775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C381D2-D4F6-1FA9-C21B-C00BBDE32E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1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2900" y="1052498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09C54C-55C2-3B47-2B5A-C262D48F8E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4310" y="1052498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31326AF-D9F9-BA9E-5012-A0C234CC27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11490" y="1052498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9D7E47FE-1D9D-8918-87C3-91DFB40955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52900" y="2349500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D5B5F32-EFD9-4E36-4857-A583AA392A5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4310" y="2349500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A31BA71-EDE9-2CC9-44E1-0EA0F4303DE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111490" y="2349500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6" name="그림 5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FAF277-60F6-EC6D-FFBE-F107B6B533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731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09C54C-55C2-3B47-2B5A-C262D48F8E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4310" y="5088472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D5B5F32-EFD9-4E36-4857-A583AA392A5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4310" y="1052498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5EC15F0-54F9-9DAD-0150-F619B4C3891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11490" y="5088472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36D6673-DEF3-54BE-9FB0-9B03F8FE836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11490" y="1052498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641477A6-10E8-FF59-43CE-C5F416452D85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152900" y="5088472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7B8615ED-A729-EEB8-AE8F-63AE95330AB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152900" y="1052498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6DC82-BC95-90FB-C3AA-DC6F6D5786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300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2899" y="1052498"/>
            <a:ext cx="7810501" cy="5256776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09C54C-55C2-3B47-2B5A-C262D48F8E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4310" y="1052498"/>
            <a:ext cx="3886200" cy="5256776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6" name="그림 5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F28F2-620D-C485-CBE9-A3480270E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971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9EC1AE-0CF3-C014-5001-35BB9A406A33}"/>
              </a:ext>
            </a:extLst>
          </p:cNvPr>
          <p:cNvSpPr/>
          <p:nvPr userDrawn="1"/>
        </p:nvSpPr>
        <p:spPr>
          <a:xfrm>
            <a:off x="0" y="0"/>
            <a:ext cx="12192000" cy="399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6385110-BBA2-3D86-8E10-2FEECF06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372465"/>
            <a:ext cx="11201400" cy="1618407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437E5B85-1BAA-2D41-2477-DC458AEFF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3303846"/>
            <a:ext cx="11201400" cy="10205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5" name="그림 4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E50B43-50C2-3141-C999-2D25888336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73338"/>
            <a:ext cx="1583170" cy="629243"/>
          </a:xfrm>
          <a:prstGeom prst="rect">
            <a:avLst/>
          </a:prstGeom>
        </p:spPr>
      </p:pic>
      <p:pic>
        <p:nvPicPr>
          <p:cNvPr id="16" name="그림 15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257517-ACA1-8637-88FB-7058C27C9E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07956" y="6492240"/>
            <a:ext cx="2103124" cy="2579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7213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3">
            <a:extLst>
              <a:ext uri="{FF2B5EF4-FFF2-40B4-BE49-F238E27FC236}">
                <a16:creationId xmlns:a16="http://schemas.microsoft.com/office/drawing/2014/main" id="{5D59EDC2-E66D-F0D7-C8FD-23DFA56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53F90-EA30-C27B-C4DE-C61DFA633DC7}"/>
              </a:ext>
            </a:extLst>
          </p:cNvPr>
          <p:cNvSpPr/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19E37D6-90CA-810A-9DBC-1D9A25633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4100"/>
            <a:ext cx="11803380" cy="5041900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BD0CC-1590-CCC6-68FD-1A9201E7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BD66F-36D0-CA76-F2DD-8543FEAD8434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34C0DF-1A75-972E-F932-43765540D4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130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46442-1E6A-5866-06D4-6E4675CFC9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13">
            <a:extLst>
              <a:ext uri="{FF2B5EF4-FFF2-40B4-BE49-F238E27FC236}">
                <a16:creationId xmlns:a16="http://schemas.microsoft.com/office/drawing/2014/main" id="{5D59EDC2-E66D-F0D7-C8FD-23DFA56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53F90-EA30-C27B-C4DE-C61DFA633DC7}"/>
              </a:ext>
            </a:extLst>
          </p:cNvPr>
          <p:cNvSpPr/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BD0CC-1590-CCC6-68FD-1A9201E7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BD66F-36D0-CA76-F2DD-8543FEAD8434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144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F4CCBA3-3AA7-0978-25EE-971C1CF691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그림 10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46442-1E6A-5866-06D4-6E4675CFC9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13">
            <a:extLst>
              <a:ext uri="{FF2B5EF4-FFF2-40B4-BE49-F238E27FC236}">
                <a16:creationId xmlns:a16="http://schemas.microsoft.com/office/drawing/2014/main" id="{51382A1D-BD5C-3C4B-B1CB-3432C016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EA213745-F545-75FE-7461-207CEFE3D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2498"/>
            <a:ext cx="5817870" cy="50435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그림 개체 틀 6">
            <a:extLst>
              <a:ext uri="{FF2B5EF4-FFF2-40B4-BE49-F238E27FC236}">
                <a16:creationId xmlns:a16="http://schemas.microsoft.com/office/drawing/2014/main" id="{8B064BD2-135E-A979-EF31-6AA0CAA37D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9822" y="1052498"/>
            <a:ext cx="5783578" cy="5043501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7571026-B769-6E0F-815B-F0F6601F7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4B9AD2-0978-C5C3-0DC2-C6A77108AD75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28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46442-1E6A-5866-06D4-6E4675CFC9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13">
            <a:extLst>
              <a:ext uri="{FF2B5EF4-FFF2-40B4-BE49-F238E27FC236}">
                <a16:creationId xmlns:a16="http://schemas.microsoft.com/office/drawing/2014/main" id="{5D59EDC2-E66D-F0D7-C8FD-23DFA56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53F90-EA30-C27B-C4DE-C61DFA633DC7}"/>
              </a:ext>
            </a:extLst>
          </p:cNvPr>
          <p:cNvSpPr/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BD0CC-1590-CCC6-68FD-1A9201E7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BD66F-36D0-CA76-F2DD-8543FEAD8434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839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012DB67-9CE8-5FD2-87C3-7E188A1F4928}"/>
              </a:ext>
            </a:extLst>
          </p:cNvPr>
          <p:cNvSpPr/>
          <p:nvPr userDrawn="1"/>
        </p:nvSpPr>
        <p:spPr>
          <a:xfrm>
            <a:off x="0" y="0"/>
            <a:ext cx="12192000" cy="5886450"/>
          </a:xfrm>
          <a:custGeom>
            <a:avLst/>
            <a:gdLst>
              <a:gd name="csX0" fmla="*/ 0 w 12192000"/>
              <a:gd name="csY0" fmla="*/ 0 h 5516925"/>
              <a:gd name="csX1" fmla="*/ 12192000 w 12192000"/>
              <a:gd name="csY1" fmla="*/ 0 h 5516925"/>
              <a:gd name="csX2" fmla="*/ 12192000 w 12192000"/>
              <a:gd name="csY2" fmla="*/ 4948990 h 5516925"/>
              <a:gd name="csX3" fmla="*/ 11970634 w 12192000"/>
              <a:gd name="csY3" fmla="*/ 4992296 h 5516925"/>
              <a:gd name="csX4" fmla="*/ 5880939 w 12192000"/>
              <a:gd name="csY4" fmla="*/ 5516925 h 5516925"/>
              <a:gd name="csX5" fmla="*/ 342109 w 12192000"/>
              <a:gd name="csY5" fmla="*/ 5088289 h 5516925"/>
              <a:gd name="csX6" fmla="*/ 0 w 12192000"/>
              <a:gd name="csY6" fmla="*/ 5028674 h 5516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192000" h="5516925">
                <a:moveTo>
                  <a:pt x="0" y="0"/>
                </a:moveTo>
                <a:lnTo>
                  <a:pt x="12192000" y="0"/>
                </a:lnTo>
                <a:lnTo>
                  <a:pt x="12192000" y="4948990"/>
                </a:lnTo>
                <a:lnTo>
                  <a:pt x="11970634" y="4992296"/>
                </a:lnTo>
                <a:cubicBezTo>
                  <a:pt x="10160392" y="5326876"/>
                  <a:pt x="8085898" y="5516925"/>
                  <a:pt x="5880939" y="5516925"/>
                </a:cubicBezTo>
                <a:cubicBezTo>
                  <a:pt x="3896475" y="5516925"/>
                  <a:pt x="2017688" y="5362985"/>
                  <a:pt x="342109" y="5088289"/>
                </a:cubicBezTo>
                <a:lnTo>
                  <a:pt x="0" y="5028674"/>
                </a:lnTo>
                <a:close/>
              </a:path>
            </a:pathLst>
          </a:custGeom>
          <a:gradFill flip="none" rotWithShape="1">
            <a:gsLst>
              <a:gs pos="28000">
                <a:srgbClr val="2057A6"/>
              </a:gs>
              <a:gs pos="73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717E72-C6AA-82CB-B70B-E753F7E23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496" y="2349597"/>
            <a:ext cx="11077007" cy="14032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E2D808-3655-52A2-C50C-0D2EC38BC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57687"/>
            <a:ext cx="9144000" cy="9239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</a:t>
            </a:r>
            <a:endParaRPr lang="en-US" altLang="ko-KR" dirty="0"/>
          </a:p>
          <a:p>
            <a:r>
              <a:rPr lang="ko-KR" altLang="en-US" dirty="0"/>
              <a:t>스타일 편집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D15CBA63-48D8-E330-CE56-5EA3DC6B6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7496" y="416628"/>
            <a:ext cx="4996422" cy="376774"/>
          </a:xfrm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37" name="그림 36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DD964E-977D-69BE-6C37-7F495C451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055" y="6196373"/>
            <a:ext cx="1313889" cy="489998"/>
          </a:xfrm>
          <a:prstGeom prst="rect">
            <a:avLst/>
          </a:prstGeom>
        </p:spPr>
      </p:pic>
      <p:pic>
        <p:nvPicPr>
          <p:cNvPr id="39" name="그림 38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FFC963-F4F5-928A-6C9F-17A35ACA21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9858399" y="476050"/>
            <a:ext cx="2103124" cy="2579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8459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32B523-68FF-C5CE-E77E-C28F284FCBB9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50000">
                <a:srgbClr val="2057A6"/>
              </a:gs>
              <a:gs pos="78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C563B-9651-E414-9340-9023A5B2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96" y="61912"/>
            <a:ext cx="9949086" cy="638175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4" name="그림 3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96EA2B-C8B6-A2C9-F39D-87FE954B10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18981" y="252034"/>
            <a:ext cx="2103124" cy="2579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FFD56F5-9148-D27D-2C2B-7357FB6A7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" y="898525"/>
            <a:ext cx="12052300" cy="588962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7B7C23B-493A-BBDB-3985-0556F5CE2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8905" y="6430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56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E188C05-5121-7975-1160-633878230B14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50000">
                <a:srgbClr val="2057A6"/>
              </a:gs>
              <a:gs pos="78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C563B-9651-E414-9340-9023A5B2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61912"/>
            <a:ext cx="11687175" cy="638175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A09CA6-7BE8-8CA6-3F06-FA887C2E9019}"/>
              </a:ext>
            </a:extLst>
          </p:cNvPr>
          <p:cNvSpPr/>
          <p:nvPr userDrawn="1"/>
        </p:nvSpPr>
        <p:spPr>
          <a:xfrm>
            <a:off x="185737" y="0"/>
            <a:ext cx="176213" cy="501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78814B-FD35-CA08-FE54-53E5549307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18981" y="252034"/>
            <a:ext cx="2103124" cy="2579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765CE8-EECF-B6C1-DF61-51A0E6355E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793" y="890209"/>
            <a:ext cx="11936413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D4F3D-DA6D-3410-CC21-7AF5BD9D2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1006" y="63766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215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155575A-59FD-D78F-E0B1-901341F0DE69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50000">
                <a:srgbClr val="2057A6"/>
              </a:gs>
              <a:gs pos="78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C563B-9651-E414-9340-9023A5B2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61912"/>
            <a:ext cx="11687175" cy="638175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A09CA6-7BE8-8CA6-3F06-FA887C2E9019}"/>
              </a:ext>
            </a:extLst>
          </p:cNvPr>
          <p:cNvSpPr/>
          <p:nvPr userDrawn="1"/>
        </p:nvSpPr>
        <p:spPr>
          <a:xfrm>
            <a:off x="185737" y="0"/>
            <a:ext cx="176213" cy="501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4341F0-00E2-7FF1-90AA-00D7DCD68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60021" y="239484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17A95C7-1687-4BFF-5C9A-29615C0672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793" y="890209"/>
            <a:ext cx="11936413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E44FAC85-97DE-65A3-3AD8-353F9729A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1006" y="63766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75B8E8-3DDA-5EDB-B29D-8036C04F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012E74-FC6A-49F7-D558-2CC79692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16551B-2724-C7C4-17BC-2E89F6D46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31C36E91-CEC5-4CD3-A0F4-6EDCBB41E6BC}" type="datetime1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CE58F-0A14-A03D-E0FE-A5946112B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65634-FCDB-8DE3-1656-E8C37B12B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CE92B13-0DEE-4AFB-A91D-B5513A4C88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27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8" r:id="rId4"/>
    <p:sldLayoutId id="2147483671" r:id="rId5"/>
    <p:sldLayoutId id="2147483669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228600" indent="-324000" algn="l" defTabSz="914400" rtl="0" eaLnBrk="1" latinLnBrk="1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75B8E8-3DDA-5EDB-B29D-8036C04F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012E74-FC6A-49F7-D558-2CC79692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16551B-2724-C7C4-17BC-2E89F6D46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84D2421C-BAF4-4076-9D02-F5E86F7ABA33}" type="datetime1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CE58F-0A14-A03D-E0FE-A5946112B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65634-FCDB-8DE3-1656-E8C37B12B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CE92B13-0DEE-4AFB-A91D-B5513A4C88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37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0" r:id="rId2"/>
    <p:sldLayoutId id="2147483681" r:id="rId3"/>
    <p:sldLayoutId id="2147483682" r:id="rId4"/>
    <p:sldLayoutId id="214748368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228600" indent="-324000" algn="l" defTabSz="914400" rtl="0" eaLnBrk="1" latinLnBrk="1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8DC113-67E6-2853-DE95-C2C1D2A4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0A638D-A1B2-59BB-011F-30BC9711C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C2AA15-E098-DD36-59C2-AA706821D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B7AD4B7D-95B2-4DEC-B91A-944DC3E8A719}" type="datetime1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8BA91-D2FF-B8B5-7E82-96B1E80FE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9C9C5-5533-9A19-F1BC-90E79A8A8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0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6C020-B3B9-517B-FE6A-173BA2756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115000"/>
              </a:lnSpc>
            </a:pP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 Threshold Call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br>
              <a:rPr lang="en-US" altLang="ko-KR" dirty="0"/>
            </a:b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다자간</a:t>
            </a: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</a:t>
            </a: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</a:t>
            </a: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</a:t>
            </a:r>
            <a:r>
              <a:rPr lang="en-US" altLang="ko-KR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D4F4D3-AB95-6686-D2C2-E074E9303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https://youtu.be/UoaJjYkCei8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ABB2B2-30CD-518B-A0B1-23CDE65CC4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2026</a:t>
            </a:r>
            <a:r>
              <a:rPr kumimoji="1" lang="ko-KR" altLang="en-US" dirty="0"/>
              <a:t>년 한국정보보호학회 하계학술대회 </a:t>
            </a:r>
            <a:r>
              <a:rPr kumimoji="1" lang="en-US" altLang="ko-KR" dirty="0"/>
              <a:t>CISC-S’26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877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A0E9-4743-B2DB-1BA9-94C69DF2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발표 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3524-5CC0-F9BC-FD28-FA4C5E716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78E33CB-AB9A-51E3-04FC-67ADD9351565}"/>
              </a:ext>
            </a:extLst>
          </p:cNvPr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7EA8271-2E2B-B041-656D-E568B984AAD9}"/>
              </a:ext>
            </a:extLst>
          </p:cNvPr>
          <p:cNvSpPr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D5FF68A-E7C0-E0E0-D8A9-AD91760F33D8}"/>
              </a:ext>
            </a:extLst>
          </p:cNvPr>
          <p:cNvSpPr/>
          <p:nvPr/>
        </p:nvSpPr>
        <p:spPr>
          <a:xfrm>
            <a:off x="1783080" y="16733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임계 암호의 개념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BD0FCEA7-2151-117D-A620-11946CDEA647}"/>
              </a:ext>
            </a:extLst>
          </p:cNvPr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F1B9F2A-96BF-E30B-39CA-DFC23B70A8C9}"/>
              </a:ext>
            </a:extLst>
          </p:cNvPr>
          <p:cNvSpPr/>
          <p:nvPr/>
        </p:nvSpPr>
        <p:spPr>
          <a:xfrm>
            <a:off x="9144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B054FB20-DA2F-24AC-B917-BB0C690CA0DD}"/>
              </a:ext>
            </a:extLst>
          </p:cNvPr>
          <p:cNvSpPr/>
          <p:nvPr/>
        </p:nvSpPr>
        <p:spPr>
          <a:xfrm>
            <a:off x="1783080" y="2542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NIST Threshold Call 구조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E8BE43FC-C276-E9BF-89D6-B03D87DC6B91}"/>
              </a:ext>
            </a:extLst>
          </p:cNvPr>
          <p:cNvSpPr/>
          <p:nvPr/>
        </p:nvSpPr>
        <p:spPr>
          <a:xfrm>
            <a:off x="914400" y="342900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339BB5D9-717E-B2F8-EB78-AF0B0A51C804}"/>
              </a:ext>
            </a:extLst>
          </p:cNvPr>
          <p:cNvSpPr/>
          <p:nvPr/>
        </p:nvSpPr>
        <p:spPr>
          <a:xfrm>
            <a:off x="9144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4503F6D9-3A1F-2ED7-D18F-1915BEF9DD40}"/>
              </a:ext>
            </a:extLst>
          </p:cNvPr>
          <p:cNvSpPr/>
          <p:nvPr/>
        </p:nvSpPr>
        <p:spPr>
          <a:xfrm>
            <a:off x="1783080" y="34107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1차 Preview 라운드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1B46B1F7-9FCA-1F71-BE1D-D2EF6692719A}"/>
              </a:ext>
            </a:extLst>
          </p:cNvPr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80F89A4E-7152-DE26-CB54-369301B99BED}"/>
              </a:ext>
            </a:extLst>
          </p:cNvPr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F0528695-0633-9E98-A7C9-7053FAC234FA}"/>
              </a:ext>
            </a:extLst>
          </p:cNvPr>
          <p:cNvSpPr/>
          <p:nvPr/>
        </p:nvSpPr>
        <p:spPr>
          <a:xfrm>
            <a:off x="1783080" y="42793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가지 핵심 동향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10C57611-192E-1FF3-799D-0A61791C3267}"/>
              </a:ext>
            </a:extLst>
          </p:cNvPr>
          <p:cNvSpPr/>
          <p:nvPr/>
        </p:nvSpPr>
        <p:spPr>
          <a:xfrm>
            <a:off x="914400" y="516636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6273E3AC-44C8-F25F-8455-2FE7679E20DD}"/>
              </a:ext>
            </a:extLst>
          </p:cNvPr>
          <p:cNvSpPr/>
          <p:nvPr/>
        </p:nvSpPr>
        <p:spPr>
          <a:xfrm>
            <a:off x="9144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FCE74D3E-96D3-48F6-1A9F-88A311B732EF}"/>
              </a:ext>
            </a:extLst>
          </p:cNvPr>
          <p:cNvSpPr/>
          <p:nvPr/>
        </p:nvSpPr>
        <p:spPr>
          <a:xfrm>
            <a:off x="1783080" y="526694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 및 시사점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BA6395AE-0942-EFC4-4C9A-EDBD53AABB5D}"/>
              </a:ext>
            </a:extLst>
          </p:cNvPr>
          <p:cNvSpPr/>
          <p:nvPr/>
        </p:nvSpPr>
        <p:spPr>
          <a:xfrm>
            <a:off x="1783080" y="202082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왜 필요한가, 어떻게 동작하는가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2D459DCC-5AF7-38C8-B232-58991BCF06F3}"/>
              </a:ext>
            </a:extLst>
          </p:cNvPr>
          <p:cNvSpPr/>
          <p:nvPr/>
        </p:nvSpPr>
        <p:spPr>
          <a:xfrm>
            <a:off x="1783080" y="288950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 N과 Class S 분류 체계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E9393AB9-BEF1-8AD6-5574-15FC77AF99BF}"/>
              </a:ext>
            </a:extLst>
          </p:cNvPr>
          <p:cNvSpPr/>
          <p:nvPr/>
        </p:nvSpPr>
        <p:spPr>
          <a:xfrm>
            <a:off x="1783080" y="3758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26건 제출물 전수 분석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2071BDCD-6611-384E-33F4-C11BE3B918BA}"/>
              </a:ext>
            </a:extLst>
          </p:cNvPr>
          <p:cNvSpPr/>
          <p:nvPr/>
        </p:nvSpPr>
        <p:spPr>
          <a:xfrm>
            <a:off x="1783080" y="46268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PQ 다양화 · 분산 인프라 · 호환성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7D69EFF-5CAE-3B0F-1F12-7CB42462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2477486"/>
            <a:ext cx="6164230" cy="254181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23680B9-313C-9143-50CD-E11364A0DE88}"/>
              </a:ext>
            </a:extLst>
          </p:cNvPr>
          <p:cNvSpPr txBox="1"/>
          <p:nvPr/>
        </p:nvSpPr>
        <p:spPr>
          <a:xfrm>
            <a:off x="6880860" y="5027860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출처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https://csrc.nist.gov/Projects/threshold-cryptography/tcall-1</a:t>
            </a:r>
          </a:p>
        </p:txBody>
      </p:sp>
    </p:spTree>
    <p:extLst>
      <p:ext uri="{BB962C8B-B14F-4D97-AF65-F5344CB8AC3E}">
        <p14:creationId xmlns:p14="http://schemas.microsoft.com/office/powerpoint/2010/main" val="207968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08CC-94F4-57BB-7B21-50ECDAA0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DDFE8F-CFE3-8F1B-72D2-AC24C1CEC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임계 암호 </a:t>
            </a:r>
            <a:r>
              <a:rPr kumimoji="1" lang="en-US" altLang="ko-KR" dirty="0"/>
              <a:t>(Threshold Cryptography)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r>
              <a:rPr kumimoji="1" lang="ko-KR" altLang="en-US" dirty="0"/>
              <a:t>기존 방식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단일 키 보관 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흔히 사용하는 공개키 암호 시스템에서는</a:t>
            </a:r>
            <a:r>
              <a:rPr kumimoji="1" lang="en-US" altLang="ko-KR" dirty="0"/>
              <a:t>, </a:t>
            </a:r>
            <a:r>
              <a:rPr kumimoji="1" lang="ko-KR" altLang="en-US" dirty="0"/>
              <a:t>개인키 하나가 한 장치 또는 한 관리자에게 집중되어 있는 경우가 많음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이러한 단일 키 보관 방식은 외부 공격으로 키가 탈취되거나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내부자의 악의적인 접근으로 시스템이 노출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이러한 문제를 단일 </a:t>
            </a:r>
            <a:r>
              <a:rPr kumimoji="1" lang="ko-KR" altLang="en-US" dirty="0" err="1"/>
              <a:t>장애점</a:t>
            </a:r>
            <a:r>
              <a:rPr kumimoji="1" lang="en-US" altLang="ko-KR" dirty="0"/>
              <a:t>(Single point of </a:t>
            </a:r>
            <a:r>
              <a:rPr kumimoji="1" lang="en-US" altLang="ko-KR" dirty="0" err="1"/>
              <a:t>Failudre</a:t>
            </a:r>
            <a:r>
              <a:rPr kumimoji="1" lang="en-US" altLang="ko-KR" dirty="0"/>
              <a:t>)</a:t>
            </a:r>
          </a:p>
          <a:p>
            <a:pPr lvl="1"/>
            <a:endParaRPr kumimoji="1" lang="en-US" altLang="ko-KR" dirty="0"/>
          </a:p>
          <a:p>
            <a:r>
              <a:rPr kumimoji="1" lang="ko-KR" altLang="en-US" dirty="0"/>
              <a:t>임계 암호 방식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단일 장애점을 제거하기 위한 기술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비밀키를 하나의 장치에 두는 대신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여러 참여자에게 나누어 분산시키고 일정 수 이상이 협력해야 서명이나 복호화가 가능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일부 참여자가 탈취되더라도 </a:t>
            </a:r>
            <a:r>
              <a:rPr kumimoji="1" lang="ko-KR" altLang="en-US" dirty="0" err="1"/>
              <a:t>임계값</a:t>
            </a:r>
            <a:r>
              <a:rPr kumimoji="1" lang="ko-KR" altLang="en-US" dirty="0"/>
              <a:t> 미만이라면 시스템은 여전히 안전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암호화폐나 클라우드 </a:t>
            </a:r>
            <a:r>
              <a:rPr kumimoji="1" lang="en-US" altLang="ko-KR" dirty="0"/>
              <a:t>KMS</a:t>
            </a:r>
            <a:r>
              <a:rPr kumimoji="1" lang="ko-KR" altLang="en-US" dirty="0"/>
              <a:t>에서는 이미 적용되어 사용되고 있음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434872-218D-F4AA-2C3A-83F06BB1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</a:t>
            </a:r>
            <a:r>
              <a:rPr kumimoji="1" lang="ko-KR" altLang="en-US" dirty="0"/>
              <a:t>임계 암호의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32848E-DE26-AC77-17DE-AE5C0D025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3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41097C1-CCE9-3D47-332F-BDECBCC62546}"/>
              </a:ext>
            </a:extLst>
          </p:cNvPr>
          <p:cNvGrpSpPr/>
          <p:nvPr/>
        </p:nvGrpSpPr>
        <p:grpSpPr>
          <a:xfrm>
            <a:off x="9391650" y="3817620"/>
            <a:ext cx="822960" cy="822961"/>
            <a:chOff x="2423160" y="2606039"/>
            <a:chExt cx="1074420" cy="1074421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44BD6C31-5CD6-5E6D-5663-D976EA4B1017}"/>
                </a:ext>
              </a:extLst>
            </p:cNvPr>
            <p:cNvSpPr/>
            <p:nvPr/>
          </p:nvSpPr>
          <p:spPr>
            <a:xfrm>
              <a:off x="2423160" y="2606040"/>
              <a:ext cx="1074420" cy="1074420"/>
            </a:xfrm>
            <a:prstGeom prst="roundRect">
              <a:avLst>
                <a:gd name="adj" fmla="val 8824"/>
              </a:avLst>
            </a:prstGeom>
            <a:solidFill>
              <a:srgbClr val="0F1E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31C8A8EE-AEBD-1698-3AED-2F7AA4ADF1A4}"/>
                </a:ext>
              </a:extLst>
            </p:cNvPr>
            <p:cNvSpPr/>
            <p:nvPr/>
          </p:nvSpPr>
          <p:spPr>
            <a:xfrm>
              <a:off x="2423160" y="2606039"/>
              <a:ext cx="1074420" cy="1074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400" dirty="0">
                  <a:solidFill>
                    <a:srgbClr val="F59E0B"/>
                  </a:solidFill>
                </a:rPr>
                <a:t>🔑</a:t>
              </a:r>
              <a:endParaRPr lang="en-US" sz="6000" dirty="0"/>
            </a:p>
          </p:txBody>
        </p:sp>
      </p:grpSp>
      <p:sp>
        <p:nvSpPr>
          <p:cNvPr id="13" name="Shape 20">
            <a:extLst>
              <a:ext uri="{FF2B5EF4-FFF2-40B4-BE49-F238E27FC236}">
                <a16:creationId xmlns:a16="http://schemas.microsoft.com/office/drawing/2014/main" id="{BF33A162-1C66-2BF4-901B-1B876FF2E0A2}"/>
              </a:ext>
            </a:extLst>
          </p:cNvPr>
          <p:cNvSpPr/>
          <p:nvPr/>
        </p:nvSpPr>
        <p:spPr>
          <a:xfrm>
            <a:off x="8130540" y="5797867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B293ABB5-066D-2145-88A4-4950330183D0}"/>
              </a:ext>
            </a:extLst>
          </p:cNvPr>
          <p:cNvSpPr/>
          <p:nvPr/>
        </p:nvSpPr>
        <p:spPr>
          <a:xfrm>
            <a:off x="8130540" y="5797867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6868164D-F7B8-83A4-0FD2-9FDF2279B9EE}"/>
              </a:ext>
            </a:extLst>
          </p:cNvPr>
          <p:cNvSpPr/>
          <p:nvPr/>
        </p:nvSpPr>
        <p:spPr>
          <a:xfrm>
            <a:off x="9414510" y="5797867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F0F3BE75-AC0D-C95F-A955-212C9A592F11}"/>
              </a:ext>
            </a:extLst>
          </p:cNvPr>
          <p:cNvSpPr/>
          <p:nvPr/>
        </p:nvSpPr>
        <p:spPr>
          <a:xfrm>
            <a:off x="9414510" y="5797867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B63E2BA1-44B9-7AC4-8B1C-9E330C457F42}"/>
              </a:ext>
            </a:extLst>
          </p:cNvPr>
          <p:cNvSpPr/>
          <p:nvPr/>
        </p:nvSpPr>
        <p:spPr>
          <a:xfrm>
            <a:off x="10698480" y="5797867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A3F902DE-8C1B-DE8D-63C7-EF10296FD3C9}"/>
              </a:ext>
            </a:extLst>
          </p:cNvPr>
          <p:cNvSpPr/>
          <p:nvPr/>
        </p:nvSpPr>
        <p:spPr>
          <a:xfrm>
            <a:off x="10698480" y="5797867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23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3BD6-9150-B385-4A89-0B582CA7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92AAE-1FC8-B296-AF74-42F322E0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</a:t>
            </a:r>
            <a:r>
              <a:rPr kumimoji="1" lang="ko-KR" altLang="en-US" dirty="0"/>
              <a:t>임계 암호의 개념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61AF846-D0C7-6BB0-2C01-3B3DF4CBE84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kumimoji="1" lang="en-US" altLang="ko-KR" b="1" dirty="0"/>
                  <a:t>(t, n) – </a:t>
                </a:r>
                <a:r>
                  <a:rPr kumimoji="1" lang="ko-KR" altLang="en-US" b="1" dirty="0"/>
                  <a:t>임계 체계</a:t>
                </a:r>
                <a:endParaRPr kumimoji="1" lang="en-US" altLang="ko-KR" b="1" dirty="0"/>
              </a:p>
              <a:p>
                <a:pPr lvl="1"/>
                <a:r>
                  <a:rPr kumimoji="1" lang="en-US" altLang="ko-KR" dirty="0"/>
                  <a:t>t </a:t>
                </a:r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1" lang="en-US" altLang="ko-KR" dirty="0"/>
                  <a:t> n : n</a:t>
                </a:r>
                <a:r>
                  <a:rPr kumimoji="1" lang="ko-KR" altLang="en-US" dirty="0"/>
                  <a:t>은 전체 참여자 수 </a:t>
                </a:r>
                <a:r>
                  <a:rPr kumimoji="1" lang="en-US" altLang="ko-KR" dirty="0"/>
                  <a:t>/ t</a:t>
                </a:r>
                <a:r>
                  <a:rPr kumimoji="1" lang="ko-KR" altLang="en-US" dirty="0"/>
                  <a:t>는 </a:t>
                </a:r>
                <a:r>
                  <a:rPr kumimoji="1" lang="ko-KR" altLang="en-US" dirty="0" err="1"/>
                  <a:t>임계값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t-1</a:t>
                </a:r>
                <a:r>
                  <a:rPr kumimoji="1" lang="ko-KR" altLang="en-US" dirty="0"/>
                  <a:t>명 이하가 공모해도 비밀키 정보가 노출되지 않음</a:t>
                </a:r>
                <a:endParaRPr kumimoji="1" lang="en-US" altLang="ko-KR" dirty="0"/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61AF846-D0C7-6BB0-2C01-3B3DF4CBE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15" t="-1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AC3DEE-862E-BC2D-4090-27C5DC0EA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" name="Shape 16">
            <a:extLst>
              <a:ext uri="{FF2B5EF4-FFF2-40B4-BE49-F238E27FC236}">
                <a16:creationId xmlns:a16="http://schemas.microsoft.com/office/drawing/2014/main" id="{983D366A-FAC7-4869-CB7B-7EFFA038E318}"/>
              </a:ext>
            </a:extLst>
          </p:cNvPr>
          <p:cNvSpPr/>
          <p:nvPr/>
        </p:nvSpPr>
        <p:spPr>
          <a:xfrm>
            <a:off x="3646170" y="4011931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B0D7C7C-9DAC-E42B-FC4E-9BB6C12FF635}"/>
              </a:ext>
            </a:extLst>
          </p:cNvPr>
          <p:cNvSpPr/>
          <p:nvPr/>
        </p:nvSpPr>
        <p:spPr>
          <a:xfrm>
            <a:off x="3646170" y="4011931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P1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5E0BFFC4-0022-B321-2E7A-8CF73048A382}"/>
              </a:ext>
            </a:extLst>
          </p:cNvPr>
          <p:cNvSpPr/>
          <p:nvPr/>
        </p:nvSpPr>
        <p:spPr>
          <a:xfrm>
            <a:off x="4743450" y="4011931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A8D875A9-BEC6-078C-D9D4-B528B77298D9}"/>
              </a:ext>
            </a:extLst>
          </p:cNvPr>
          <p:cNvSpPr/>
          <p:nvPr/>
        </p:nvSpPr>
        <p:spPr>
          <a:xfrm>
            <a:off x="4743450" y="4011931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P2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78057FEF-92A8-B470-5ED6-D85E37FA5BEB}"/>
              </a:ext>
            </a:extLst>
          </p:cNvPr>
          <p:cNvSpPr/>
          <p:nvPr/>
        </p:nvSpPr>
        <p:spPr>
          <a:xfrm>
            <a:off x="5840730" y="4011931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0DBD51DE-C31B-CA9C-491C-B5E86794E6D7}"/>
              </a:ext>
            </a:extLst>
          </p:cNvPr>
          <p:cNvSpPr/>
          <p:nvPr/>
        </p:nvSpPr>
        <p:spPr>
          <a:xfrm>
            <a:off x="5840730" y="4011931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P3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22">
            <a:extLst>
              <a:ext uri="{FF2B5EF4-FFF2-40B4-BE49-F238E27FC236}">
                <a16:creationId xmlns:a16="http://schemas.microsoft.com/office/drawing/2014/main" id="{B61501DD-F35A-F83A-F179-506647528655}"/>
              </a:ext>
            </a:extLst>
          </p:cNvPr>
          <p:cNvSpPr/>
          <p:nvPr/>
        </p:nvSpPr>
        <p:spPr>
          <a:xfrm>
            <a:off x="6938010" y="4011931"/>
            <a:ext cx="777240" cy="7772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A641D0EA-CBB8-CC83-9EFA-9BCADC417413}"/>
              </a:ext>
            </a:extLst>
          </p:cNvPr>
          <p:cNvSpPr/>
          <p:nvPr/>
        </p:nvSpPr>
        <p:spPr>
          <a:xfrm>
            <a:off x="6938010" y="4011931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P4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24">
            <a:extLst>
              <a:ext uri="{FF2B5EF4-FFF2-40B4-BE49-F238E27FC236}">
                <a16:creationId xmlns:a16="http://schemas.microsoft.com/office/drawing/2014/main" id="{501FE858-0AA4-3817-EB0A-BBE658D8A1C6}"/>
              </a:ext>
            </a:extLst>
          </p:cNvPr>
          <p:cNvSpPr/>
          <p:nvPr/>
        </p:nvSpPr>
        <p:spPr>
          <a:xfrm>
            <a:off x="8035290" y="4011931"/>
            <a:ext cx="777240" cy="7772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7BC15255-9CFB-DB6D-BF8A-1B4EAA6312E0}"/>
              </a:ext>
            </a:extLst>
          </p:cNvPr>
          <p:cNvSpPr/>
          <p:nvPr/>
        </p:nvSpPr>
        <p:spPr>
          <a:xfrm>
            <a:off x="8035290" y="4011931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P5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493FC73F-AF0F-6AE7-87C6-07C893A6C05E}"/>
              </a:ext>
            </a:extLst>
          </p:cNvPr>
          <p:cNvSpPr/>
          <p:nvPr/>
        </p:nvSpPr>
        <p:spPr>
          <a:xfrm>
            <a:off x="3509010" y="4842133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협력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27">
            <a:extLst>
              <a:ext uri="{FF2B5EF4-FFF2-40B4-BE49-F238E27FC236}">
                <a16:creationId xmlns:a16="http://schemas.microsoft.com/office/drawing/2014/main" id="{4A58C580-BBD0-7541-13A7-2317A60E3774}"/>
              </a:ext>
            </a:extLst>
          </p:cNvPr>
          <p:cNvSpPr/>
          <p:nvPr/>
        </p:nvSpPr>
        <p:spPr>
          <a:xfrm>
            <a:off x="6938010" y="4842133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미참여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EFA7C9C-9035-1E59-FB0B-704D9D8B63B1}"/>
              </a:ext>
            </a:extLst>
          </p:cNvPr>
          <p:cNvSpPr/>
          <p:nvPr/>
        </p:nvSpPr>
        <p:spPr>
          <a:xfrm>
            <a:off x="674370" y="28123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예시: (3, 5) 임계 체계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0E988BF-8A81-4BE1-EBE2-4822043F4088}"/>
              </a:ext>
            </a:extLst>
          </p:cNvPr>
          <p:cNvSpPr/>
          <p:nvPr/>
        </p:nvSpPr>
        <p:spPr>
          <a:xfrm>
            <a:off x="674370" y="3273169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5명에게 키를 나눠주고, 3명 이상 모이면 동작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9764F2F2-0433-3F3F-0470-6D2FC4146B24}"/>
              </a:ext>
            </a:extLst>
          </p:cNvPr>
          <p:cNvSpPr/>
          <p:nvPr/>
        </p:nvSpPr>
        <p:spPr>
          <a:xfrm>
            <a:off x="3760470" y="5449033"/>
            <a:ext cx="4937760" cy="120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 이상이 참여하였기 때문에</a:t>
            </a:r>
            <a:endParaRPr 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유효한</a:t>
            </a:r>
            <a:r>
              <a:rPr 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서명·복호화·키 </a:t>
            </a:r>
            <a:r>
              <a:rPr 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r>
              <a:rPr 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</a:t>
            </a:r>
            <a:endParaRPr 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24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4CD1-EA3A-D2AC-9E4B-187332E3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0BF36-D610-9A44-2486-875F3099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</a:t>
            </a:r>
            <a:r>
              <a:rPr kumimoji="1" lang="ko-KR" altLang="en-US" dirty="0"/>
              <a:t>임계 암호의 개념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비밀 분산 </a:t>
            </a:r>
            <a:r>
              <a:rPr kumimoji="1" lang="en-US" altLang="ko-KR" dirty="0"/>
              <a:t>(Secret Sharing)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7FE9C7F-98BA-40C0-D795-A3F7334ED1C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b="1" dirty="0" err="1"/>
                  <a:t>shamir</a:t>
                </a:r>
                <a:r>
                  <a:rPr kumimoji="1" lang="ko-KR" altLang="en-US" b="1" dirty="0"/>
                  <a:t>의 다항식 기반 방식</a:t>
                </a:r>
                <a:endParaRPr kumimoji="1" lang="en-US" altLang="ko-KR" b="1" dirty="0"/>
              </a:p>
              <a:p>
                <a:pPr lvl="1"/>
                <a:r>
                  <a:rPr kumimoji="1" lang="en-US" altLang="ko-KR" b="1" i="1" dirty="0"/>
                  <a:t>t</a:t>
                </a:r>
                <a:r>
                  <a:rPr kumimoji="1" lang="ko-KR" altLang="en-US" b="1" i="1" dirty="0"/>
                  <a:t>개의 점이 </a:t>
                </a:r>
                <a:r>
                  <a:rPr kumimoji="1" lang="en-US" altLang="ko-KR" b="1" i="1" dirty="0"/>
                  <a:t>(t-1)</a:t>
                </a:r>
                <a:r>
                  <a:rPr kumimoji="1" lang="ko-KR" altLang="en-US" b="1" i="1" dirty="0"/>
                  <a:t>차 다항식을 결정</a:t>
                </a:r>
                <a:endParaRPr kumimoji="1" lang="en-US" altLang="ko-KR" b="1" i="1" dirty="0"/>
              </a:p>
              <a:p>
                <a:pPr lvl="1"/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kumimoji="1" lang="ko-KR" altLang="en-US" dirty="0" err="1"/>
                  <a:t>비밀값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s</a:t>
                </a:r>
                <a:r>
                  <a:rPr kumimoji="1" lang="ko-KR" altLang="en-US" dirty="0"/>
                  <a:t>를 상수항으로 갖는 </a:t>
                </a:r>
                <a:r>
                  <a:rPr kumimoji="1" lang="en-US" altLang="ko-KR" dirty="0"/>
                  <a:t>(t-1)</a:t>
                </a:r>
                <a:r>
                  <a:rPr kumimoji="1" lang="ko-KR" altLang="en-US" dirty="0"/>
                  <a:t>차 다항식 </a:t>
                </a:r>
                <a:r>
                  <a:rPr kumimoji="1" lang="en-US" altLang="ko-KR" dirty="0"/>
                  <a:t>f(x)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kumimoji="1" lang="ko-KR" altLang="en-US" dirty="0"/>
                  <a:t>각 참여자 </a:t>
                </a:r>
                <a:r>
                  <a:rPr kumimoji="1" lang="en-US" altLang="ko-KR" dirty="0" err="1"/>
                  <a:t>i</a:t>
                </a:r>
                <a:r>
                  <a:rPr kumimoji="1" lang="ko-KR" altLang="en-US" dirty="0"/>
                  <a:t>에게 </a:t>
                </a:r>
                <a:r>
                  <a:rPr kumimoji="1" lang="en-US" altLang="ko-KR" dirty="0"/>
                  <a:t>Share f(</a:t>
                </a:r>
                <a:r>
                  <a:rPr kumimoji="1" lang="en-US" altLang="ko-KR" dirty="0" err="1"/>
                  <a:t>i</a:t>
                </a:r>
                <a:r>
                  <a:rPr kumimoji="1" lang="en-US" altLang="ko-KR" dirty="0"/>
                  <a:t>)</a:t>
                </a:r>
                <a:r>
                  <a:rPr kumimoji="1" lang="ko-KR" altLang="en-US" dirty="0"/>
                  <a:t>를 배분</a:t>
                </a:r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kumimoji="1" lang="en-US" altLang="ko-KR" dirty="0"/>
                  <a:t>t</a:t>
                </a:r>
                <a:r>
                  <a:rPr kumimoji="1" lang="ko-KR" altLang="en-US" dirty="0"/>
                  <a:t>개 이상의 </a:t>
                </a:r>
                <a:r>
                  <a:rPr kumimoji="1" lang="en-US" altLang="ko-KR" dirty="0"/>
                  <a:t>Share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f(</a:t>
                </a:r>
                <a:r>
                  <a:rPr kumimoji="1" lang="en-US" altLang="ko-KR" dirty="0" err="1"/>
                  <a:t>i</a:t>
                </a:r>
                <a:r>
                  <a:rPr kumimoji="1" lang="en-US" altLang="ko-KR" dirty="0"/>
                  <a:t>)</a:t>
                </a:r>
                <a:r>
                  <a:rPr kumimoji="1" lang="ko-KR" altLang="en-US" dirty="0"/>
                  <a:t>가 모이면 </a:t>
                </a:r>
                <a:r>
                  <a:rPr kumimoji="1" lang="ko-KR" altLang="en-US" dirty="0" err="1"/>
                  <a:t>라그랑주</a:t>
                </a:r>
                <a:r>
                  <a:rPr kumimoji="1" lang="ko-KR" altLang="en-US" dirty="0"/>
                  <a:t> </a:t>
                </a:r>
                <a:r>
                  <a:rPr kumimoji="1" lang="ko-KR" altLang="en-US" dirty="0" err="1"/>
                  <a:t>보간법으로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s</a:t>
                </a:r>
                <a:r>
                  <a:rPr kumimoji="1" lang="ko-KR" altLang="en-US" dirty="0"/>
                  <a:t>를 복원</a:t>
                </a:r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endParaRPr kumimoji="1" lang="en-US" altLang="ko-KR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kumimoji="1" lang="en-US" altLang="ko-KR" dirty="0"/>
                  <a:t>t-1</a:t>
                </a:r>
                <a:r>
                  <a:rPr kumimoji="1" lang="ko-KR" altLang="en-US" dirty="0"/>
                  <a:t>개 이하로는 </a:t>
                </a:r>
                <a:r>
                  <a:rPr kumimoji="1" lang="en-US" altLang="ko-KR" dirty="0"/>
                  <a:t>s </a:t>
                </a:r>
                <a:r>
                  <a:rPr kumimoji="1" lang="ko-KR" altLang="en-US" dirty="0"/>
                  <a:t>추론 불가</a:t>
                </a:r>
                <a:endParaRPr kumimoji="1" lang="en-US" altLang="ko-KR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7FE9C7F-98BA-40C0-D795-A3F7334ED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33A85E-B214-D4B5-68AE-627B8BD6F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1026" name="Picture 2" descr="Threshold Cryptography I: Distributed Key Generation  - CertiK">
            <a:extLst>
              <a:ext uri="{FF2B5EF4-FFF2-40B4-BE49-F238E27FC236}">
                <a16:creationId xmlns:a16="http://schemas.microsoft.com/office/drawing/2014/main" id="{F54296C0-15DF-51AE-26DA-6E725E210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626" y="2297686"/>
            <a:ext cx="3389659" cy="303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6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EE42-7B96-6AD9-C4A8-BF9DBA98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47A71-2540-E07F-CB09-25F0036B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</a:t>
            </a:r>
            <a:r>
              <a:rPr kumimoji="1" lang="ko-KR" altLang="en-US" dirty="0"/>
              <a:t>임계 암호의 개념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분산 키 생성과 호환성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1BEE7C-9C94-8247-81BC-87677DD660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DKG (Distributed</a:t>
            </a:r>
            <a:r>
              <a:rPr kumimoji="1" lang="ko-KR" altLang="en-US" dirty="0"/>
              <a:t>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 </a:t>
            </a:r>
            <a:r>
              <a:rPr kumimoji="1" lang="en-US" altLang="ko-KR" dirty="0"/>
              <a:t>Generation)</a:t>
            </a:r>
          </a:p>
          <a:p>
            <a:pPr lvl="1"/>
            <a:r>
              <a:rPr kumimoji="1" lang="ko-KR" altLang="en-US" dirty="0"/>
              <a:t>신뢰할 수 있는 딜러 없이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참여자들의 상호작용만으로 공개키와 비밀키 </a:t>
            </a:r>
            <a:r>
              <a:rPr kumimoji="1" lang="ko-KR" altLang="en-US" dirty="0" err="1"/>
              <a:t>쉐어를</a:t>
            </a:r>
            <a:r>
              <a:rPr kumimoji="1" lang="ko-KR" altLang="en-US" dirty="0"/>
              <a:t> 생성하는 프로토콜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DKG</a:t>
            </a:r>
            <a:r>
              <a:rPr kumimoji="1" lang="ko-KR" altLang="en-US" dirty="0"/>
              <a:t>의 안정성과 효율성이 임계 체계전체의 실용성을 좌우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390C94-F32E-B457-B502-DEBA77281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9E9817E-287D-990E-F26F-7EBF86B5F5F3}"/>
              </a:ext>
            </a:extLst>
          </p:cNvPr>
          <p:cNvSpPr/>
          <p:nvPr/>
        </p:nvSpPr>
        <p:spPr>
          <a:xfrm>
            <a:off x="61722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27025B5-DA71-6D8D-47E9-A14E22801ABD}"/>
              </a:ext>
            </a:extLst>
          </p:cNvPr>
          <p:cNvSpPr/>
          <p:nvPr/>
        </p:nvSpPr>
        <p:spPr>
          <a:xfrm>
            <a:off x="61722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참여자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Secret Share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69DE24B-955C-1AD0-97E6-958862758C8B}"/>
              </a:ext>
            </a:extLst>
          </p:cNvPr>
          <p:cNvSpPr/>
          <p:nvPr/>
        </p:nvSpPr>
        <p:spPr>
          <a:xfrm>
            <a:off x="3223260" y="3931920"/>
            <a:ext cx="18288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A192CCB-F144-083A-DA55-0993F34A4FE8}"/>
              </a:ext>
            </a:extLst>
          </p:cNvPr>
          <p:cNvSpPr/>
          <p:nvPr/>
        </p:nvSpPr>
        <p:spPr>
          <a:xfrm>
            <a:off x="340614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61DEFB9-082E-0B94-41A1-1C82F143DC88}"/>
              </a:ext>
            </a:extLst>
          </p:cNvPr>
          <p:cNvSpPr/>
          <p:nvPr/>
        </p:nvSpPr>
        <p:spPr>
          <a:xfrm>
            <a:off x="340614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부분 서명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C582F3F-D688-FCFF-038E-6DC140B8ACCD}"/>
              </a:ext>
            </a:extLst>
          </p:cNvPr>
          <p:cNvSpPr/>
          <p:nvPr/>
        </p:nvSpPr>
        <p:spPr>
          <a:xfrm>
            <a:off x="6012180" y="3931920"/>
            <a:ext cx="18288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D796E22-048B-67F6-5294-7C7CF4079282}"/>
              </a:ext>
            </a:extLst>
          </p:cNvPr>
          <p:cNvSpPr/>
          <p:nvPr/>
        </p:nvSpPr>
        <p:spPr>
          <a:xfrm>
            <a:off x="619506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2782E18-7AAE-C247-1B40-559F36E1FB2A}"/>
              </a:ext>
            </a:extLst>
          </p:cNvPr>
          <p:cNvSpPr/>
          <p:nvPr/>
        </p:nvSpPr>
        <p:spPr>
          <a:xfrm>
            <a:off x="619506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부분 서명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결합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9FF9C8D-B9A3-FB37-6F1E-CFF8C5900E38}"/>
              </a:ext>
            </a:extLst>
          </p:cNvPr>
          <p:cNvSpPr/>
          <p:nvPr/>
        </p:nvSpPr>
        <p:spPr>
          <a:xfrm>
            <a:off x="8801100" y="3931920"/>
            <a:ext cx="18288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BDFF92F-557E-EEC7-032C-9AE0FC6B4FE5}"/>
              </a:ext>
            </a:extLst>
          </p:cNvPr>
          <p:cNvSpPr/>
          <p:nvPr/>
        </p:nvSpPr>
        <p:spPr>
          <a:xfrm>
            <a:off x="898398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D5F886F0-15C3-F54D-305C-DA78FAE0913D}"/>
              </a:ext>
            </a:extLst>
          </p:cNvPr>
          <p:cNvSpPr/>
          <p:nvPr/>
        </p:nvSpPr>
        <p:spPr>
          <a:xfrm>
            <a:off x="898398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서명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46E7513-8A82-CDDB-948A-C20C4668768C}"/>
              </a:ext>
            </a:extLst>
          </p:cNvPr>
          <p:cNvSpPr/>
          <p:nvPr/>
        </p:nvSpPr>
        <p:spPr>
          <a:xfrm>
            <a:off x="548640" y="5029200"/>
            <a:ext cx="11064240" cy="1157285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1D6541C-B567-2AA4-C1AA-0D5ECED1B854}"/>
              </a:ext>
            </a:extLst>
          </p:cNvPr>
          <p:cNvSpPr/>
          <p:nvPr/>
        </p:nvSpPr>
        <p:spPr>
          <a:xfrm>
            <a:off x="548640" y="5029200"/>
            <a:ext cx="91440" cy="115728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340BDA1-6317-6ED7-D71F-49A9CA0CD536}"/>
              </a:ext>
            </a:extLst>
          </p:cNvPr>
          <p:cNvSpPr/>
          <p:nvPr/>
        </p:nvSpPr>
        <p:spPr>
          <a:xfrm>
            <a:off x="86868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호환성  ·  Interchangeability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B9E573C-6548-99ED-CF9B-13FCAAA7B7D3}"/>
              </a:ext>
            </a:extLst>
          </p:cNvPr>
          <p:cNvSpPr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임계 방식으로 만든 서명도 "기존 표준 검증기"로 그대로 검증 가능해야 한다  →  NIST </a:t>
            </a:r>
            <a:r>
              <a:rPr lang="en-US" sz="1300" i="1" dirty="0" err="1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공모의</a:t>
            </a:r>
            <a:r>
              <a:rPr lang="en-US" sz="1300" i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i="1" dirty="0" err="1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</a:t>
            </a:r>
            <a:r>
              <a:rPr lang="en-US" sz="1300" i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원칙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835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E041-83D0-6459-B63F-A9515712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62EBE-794B-C735-2050-B5179869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NIST Threshold Call </a:t>
            </a:r>
            <a:r>
              <a:rPr kumimoji="1"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4210-2716-5A94-3995-E3AA42B80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0299F9E-EF77-2072-F209-288C7771196B}"/>
              </a:ext>
            </a:extLst>
          </p:cNvPr>
          <p:cNvSpPr/>
          <p:nvPr/>
        </p:nvSpPr>
        <p:spPr>
          <a:xfrm>
            <a:off x="999966" y="3566160"/>
            <a:ext cx="10332720" cy="0"/>
          </a:xfrm>
          <a:prstGeom prst="line">
            <a:avLst/>
          </a:prstGeom>
          <a:noFill/>
          <a:ln w="508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B9BE9C9-A4EF-B1EB-3A53-78F3701CEA30}"/>
              </a:ext>
            </a:extLst>
          </p:cNvPr>
          <p:cNvSpPr/>
          <p:nvPr/>
        </p:nvSpPr>
        <p:spPr>
          <a:xfrm>
            <a:off x="853662" y="3419856"/>
            <a:ext cx="292608" cy="292608"/>
          </a:xfrm>
          <a:prstGeom prst="ellipse">
            <a:avLst/>
          </a:prstGeom>
          <a:solidFill>
            <a:srgbClr val="0F1E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15377B5-0880-EA53-3941-148EF6C0FC44}"/>
              </a:ext>
            </a:extLst>
          </p:cNvPr>
          <p:cNvSpPr/>
          <p:nvPr/>
        </p:nvSpPr>
        <p:spPr>
          <a:xfrm>
            <a:off x="999966" y="356616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9686C3A-AE35-7BC7-CE23-BB0B1FD0D1C6}"/>
              </a:ext>
            </a:extLst>
          </p:cNvPr>
          <p:cNvSpPr/>
          <p:nvPr/>
        </p:nvSpPr>
        <p:spPr>
          <a:xfrm>
            <a:off x="85566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2019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AEBC60F-2ECB-AB8B-6D40-92D97C32FE4B}"/>
              </a:ext>
            </a:extLst>
          </p:cNvPr>
          <p:cNvSpPr/>
          <p:nvPr/>
        </p:nvSpPr>
        <p:spPr>
          <a:xfrm>
            <a:off x="-5874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NTCW 워크숍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1BCFD38-F17B-34DB-43C0-7D76BB57FCD5}"/>
              </a:ext>
            </a:extLst>
          </p:cNvPr>
          <p:cNvSpPr/>
          <p:nvPr/>
        </p:nvSpPr>
        <p:spPr>
          <a:xfrm>
            <a:off x="-5874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시작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A757AE8-6692-D82C-E53C-5C323305E183}"/>
              </a:ext>
            </a:extLst>
          </p:cNvPr>
          <p:cNvSpPr/>
          <p:nvPr/>
        </p:nvSpPr>
        <p:spPr>
          <a:xfrm>
            <a:off x="2911062" y="3419856"/>
            <a:ext cx="292608" cy="292608"/>
          </a:xfrm>
          <a:prstGeom prst="ellipse">
            <a:avLst/>
          </a:prstGeom>
          <a:solidFill>
            <a:srgbClr val="0F1E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3D86EF7-2716-0C37-406C-CFB17C94A2FA}"/>
              </a:ext>
            </a:extLst>
          </p:cNvPr>
          <p:cNvSpPr/>
          <p:nvPr/>
        </p:nvSpPr>
        <p:spPr>
          <a:xfrm>
            <a:off x="3057366" y="3566160"/>
            <a:ext cx="0" cy="1005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1CE0E91E-3415-BA47-B2FF-E2B9072972AE}"/>
              </a:ext>
            </a:extLst>
          </p:cNvPr>
          <p:cNvSpPr/>
          <p:nvPr/>
        </p:nvSpPr>
        <p:spPr>
          <a:xfrm>
            <a:off x="2142966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2020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3E85C94-E369-2429-471E-9A4AA476E08F}"/>
              </a:ext>
            </a:extLst>
          </p:cNvPr>
          <p:cNvSpPr/>
          <p:nvPr/>
        </p:nvSpPr>
        <p:spPr>
          <a:xfrm>
            <a:off x="2051526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NIST IR 8214A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92CA4C9-5077-69D3-C627-1C859C487DF5}"/>
              </a:ext>
            </a:extLst>
          </p:cNvPr>
          <p:cNvSpPr/>
          <p:nvPr/>
        </p:nvSpPr>
        <p:spPr>
          <a:xfrm>
            <a:off x="2051526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표준화 타당성 검토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A8544AB-4596-B0D1-4BF4-3FFE78CBE8DD}"/>
              </a:ext>
            </a:extLst>
          </p:cNvPr>
          <p:cNvSpPr/>
          <p:nvPr/>
        </p:nvSpPr>
        <p:spPr>
          <a:xfrm>
            <a:off x="4968462" y="3419856"/>
            <a:ext cx="292608" cy="292608"/>
          </a:xfrm>
          <a:prstGeom prst="ellipse">
            <a:avLst/>
          </a:prstGeom>
          <a:solidFill>
            <a:srgbClr val="0F1E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F40C3CC-249B-0A4A-B6FE-39B892FC5705}"/>
              </a:ext>
            </a:extLst>
          </p:cNvPr>
          <p:cNvSpPr/>
          <p:nvPr/>
        </p:nvSpPr>
        <p:spPr>
          <a:xfrm>
            <a:off x="5114766" y="356616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C3B6B7F-7C98-81FF-CC45-5FFD03A8DB86}"/>
              </a:ext>
            </a:extLst>
          </p:cNvPr>
          <p:cNvSpPr/>
          <p:nvPr/>
        </p:nvSpPr>
        <p:spPr>
          <a:xfrm>
            <a:off x="4200366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EA4702A5-C250-3A30-5938-3F18D417A9BB}"/>
              </a:ext>
            </a:extLst>
          </p:cNvPr>
          <p:cNvSpPr/>
          <p:nvPr/>
        </p:nvSpPr>
        <p:spPr>
          <a:xfrm>
            <a:off x="4108926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NIST IR 8214B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3215300F-C55B-E984-D7B5-0A0DFECC2932}"/>
              </a:ext>
            </a:extLst>
          </p:cNvPr>
          <p:cNvSpPr/>
          <p:nvPr/>
        </p:nvSpPr>
        <p:spPr>
          <a:xfrm>
            <a:off x="4108926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EdDSA/Schnorr 논의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270AF68-37AC-9264-67F6-EE18FAD3A687}"/>
              </a:ext>
            </a:extLst>
          </p:cNvPr>
          <p:cNvSpPr/>
          <p:nvPr/>
        </p:nvSpPr>
        <p:spPr>
          <a:xfrm>
            <a:off x="7025862" y="3419856"/>
            <a:ext cx="292608" cy="292608"/>
          </a:xfrm>
          <a:prstGeom prst="ellipse">
            <a:avLst/>
          </a:prstGeom>
          <a:solidFill>
            <a:srgbClr val="0F1E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72E2B4F-4ABD-0D30-51B9-41C1D1C4FAB5}"/>
              </a:ext>
            </a:extLst>
          </p:cNvPr>
          <p:cNvSpPr/>
          <p:nvPr/>
        </p:nvSpPr>
        <p:spPr>
          <a:xfrm>
            <a:off x="7172166" y="3566160"/>
            <a:ext cx="0" cy="1005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436D3B1A-48FB-0BC3-B289-EFCD72534178}"/>
              </a:ext>
            </a:extLst>
          </p:cNvPr>
          <p:cNvSpPr/>
          <p:nvPr/>
        </p:nvSpPr>
        <p:spPr>
          <a:xfrm>
            <a:off x="6257766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8E641F1-A689-913B-A792-611A1D2D4AF5}"/>
              </a:ext>
            </a:extLst>
          </p:cNvPr>
          <p:cNvSpPr/>
          <p:nvPr/>
        </p:nvSpPr>
        <p:spPr>
          <a:xfrm>
            <a:off x="6166326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공모전 초안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61C4BD1E-9198-C944-5073-6FA4708C546A}"/>
              </a:ext>
            </a:extLst>
          </p:cNvPr>
          <p:cNvSpPr/>
          <p:nvPr/>
        </p:nvSpPr>
        <p:spPr>
          <a:xfrm>
            <a:off x="6166326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1차 Draft 발표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15596B54-4510-39D0-51A1-2B458F560EA1}"/>
              </a:ext>
            </a:extLst>
          </p:cNvPr>
          <p:cNvSpPr/>
          <p:nvPr/>
        </p:nvSpPr>
        <p:spPr>
          <a:xfrm>
            <a:off x="9083262" y="3419856"/>
            <a:ext cx="292608" cy="292608"/>
          </a:xfrm>
          <a:prstGeom prst="ellipse">
            <a:avLst/>
          </a:prstGeom>
          <a:solidFill>
            <a:srgbClr val="0F1E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D0591256-F1C8-BE52-F702-939F7ACF5608}"/>
              </a:ext>
            </a:extLst>
          </p:cNvPr>
          <p:cNvSpPr/>
          <p:nvPr/>
        </p:nvSpPr>
        <p:spPr>
          <a:xfrm>
            <a:off x="9229566" y="356616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EE1C5499-B1D9-997B-F775-7F2F9B115B7F}"/>
              </a:ext>
            </a:extLst>
          </p:cNvPr>
          <p:cNvSpPr/>
          <p:nvPr/>
        </p:nvSpPr>
        <p:spPr>
          <a:xfrm>
            <a:off x="8315166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2025.3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20FC6685-3C5D-A658-5A97-A2E3144860BB}"/>
              </a:ext>
            </a:extLst>
          </p:cNvPr>
          <p:cNvSpPr/>
          <p:nvPr/>
        </p:nvSpPr>
        <p:spPr>
          <a:xfrm>
            <a:off x="8223726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8214C 2pd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81F0ED43-289A-53B0-E667-351958154D31}"/>
              </a:ext>
            </a:extLst>
          </p:cNvPr>
          <p:cNvSpPr/>
          <p:nvPr/>
        </p:nvSpPr>
        <p:spPr>
          <a:xfrm>
            <a:off x="8223726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2차 공개 초안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F2810356-FB9F-58F1-C4FA-C69E57437802}"/>
              </a:ext>
            </a:extLst>
          </p:cNvPr>
          <p:cNvSpPr/>
          <p:nvPr/>
        </p:nvSpPr>
        <p:spPr>
          <a:xfrm>
            <a:off x="10852626" y="3360420"/>
            <a:ext cx="411480" cy="41148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5EAF8E41-CD3D-6D9D-A20A-B29E1FBCB61F}"/>
              </a:ext>
            </a:extLst>
          </p:cNvPr>
          <p:cNvSpPr/>
          <p:nvPr/>
        </p:nvSpPr>
        <p:spPr>
          <a:xfrm>
            <a:off x="11058366" y="3566160"/>
            <a:ext cx="0" cy="1005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8B611B03-3D93-71E8-76D0-7049C9C2B133}"/>
              </a:ext>
            </a:extLst>
          </p:cNvPr>
          <p:cNvSpPr/>
          <p:nvPr/>
        </p:nvSpPr>
        <p:spPr>
          <a:xfrm>
            <a:off x="10143966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2026.1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8EE101EE-B6B3-6F75-748A-FCF807E0764B}"/>
              </a:ext>
            </a:extLst>
          </p:cNvPr>
          <p:cNvSpPr/>
          <p:nvPr/>
        </p:nvSpPr>
        <p:spPr>
          <a:xfrm>
            <a:off x="10052526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공식 개시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30EE18E0-6220-1802-9CC2-A6A5D99E8CFE}"/>
              </a:ext>
            </a:extLst>
          </p:cNvPr>
          <p:cNvSpPr/>
          <p:nvPr/>
        </p:nvSpPr>
        <p:spPr>
          <a:xfrm>
            <a:off x="10052526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IR 8214C 최종 발표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BAF6891B-2167-7816-B823-5D856C3CEF5A}"/>
              </a:ext>
            </a:extLst>
          </p:cNvPr>
          <p:cNvSpPr/>
          <p:nvPr/>
        </p:nvSpPr>
        <p:spPr>
          <a:xfrm>
            <a:off x="634206" y="571500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78B79954-832B-C73D-B7AC-D5235AA020D4}"/>
              </a:ext>
            </a:extLst>
          </p:cNvPr>
          <p:cNvSpPr/>
          <p:nvPr/>
        </p:nvSpPr>
        <p:spPr>
          <a:xfrm>
            <a:off x="634206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「NIST IR 8214C: First Call for Multi-Party Threshold Schemes」  ·  특정 알고리즘 우승이 아닌, 공개 참조 자료 수집이 목적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46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2C000-C56D-36CA-25FF-C628BFD7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C4A6D-8900-CA9C-2192-4A309D19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NIST Threshold Call </a:t>
            </a:r>
            <a:r>
              <a:rPr kumimoji="1" lang="ko-KR" altLang="en-US" dirty="0"/>
              <a:t>구조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공모 범위 </a:t>
            </a:r>
            <a:r>
              <a:rPr kumimoji="1" lang="en-US" altLang="ko-KR" dirty="0"/>
              <a:t>Class 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Class 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E1F1E-3767-F1AE-1C63-526DF84C2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855B4F4-A9B3-3029-E9F9-A1A9043C699B}"/>
              </a:ext>
            </a:extLst>
          </p:cNvPr>
          <p:cNvSpPr/>
          <p:nvPr/>
        </p:nvSpPr>
        <p:spPr>
          <a:xfrm>
            <a:off x="548640" y="2133795"/>
            <a:ext cx="544068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86273FD-8D68-D6EB-ED9F-03DA5ACB6F6B}"/>
              </a:ext>
            </a:extLst>
          </p:cNvPr>
          <p:cNvSpPr/>
          <p:nvPr/>
        </p:nvSpPr>
        <p:spPr>
          <a:xfrm>
            <a:off x="548640" y="2133795"/>
            <a:ext cx="5440680" cy="59436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85274380-0AF0-5B5A-C115-A6C77738111B}"/>
              </a:ext>
            </a:extLst>
          </p:cNvPr>
          <p:cNvSpPr/>
          <p:nvPr/>
        </p:nvSpPr>
        <p:spPr>
          <a:xfrm>
            <a:off x="777240" y="2161227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 N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DC65D46-D701-24B7-F901-4A5DEEA823D5}"/>
              </a:ext>
            </a:extLst>
          </p:cNvPr>
          <p:cNvSpPr/>
          <p:nvPr/>
        </p:nvSpPr>
        <p:spPr>
          <a:xfrm>
            <a:off x="777240" y="286531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NIST 표준 프리미티브의 임계 변환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1023D20-75FE-B83A-6CCE-B2E7AB2A80DE}"/>
              </a:ext>
            </a:extLst>
          </p:cNvPr>
          <p:cNvSpPr/>
          <p:nvPr/>
        </p:nvSpPr>
        <p:spPr>
          <a:xfrm>
            <a:off x="777240" y="3368235"/>
            <a:ext cx="640080" cy="64008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0004AF9-6E57-34A7-4A87-336451417F7F}"/>
              </a:ext>
            </a:extLst>
          </p:cNvPr>
          <p:cNvSpPr/>
          <p:nvPr/>
        </p:nvSpPr>
        <p:spPr>
          <a:xfrm>
            <a:off x="777240" y="336823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N1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10304D3-DE6C-444D-12B5-2A87E333C192}"/>
              </a:ext>
            </a:extLst>
          </p:cNvPr>
          <p:cNvSpPr/>
          <p:nvPr/>
        </p:nvSpPr>
        <p:spPr>
          <a:xfrm>
            <a:off x="1554480" y="336823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전자서명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8198710-F430-0B8B-1AF4-F908F56E73BC}"/>
              </a:ext>
            </a:extLst>
          </p:cNvPr>
          <p:cNvSpPr/>
          <p:nvPr/>
        </p:nvSpPr>
        <p:spPr>
          <a:xfrm>
            <a:off x="1554480" y="3688275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ECDSA, EdDSA, ML-DSA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4B20B8E-5BD6-D06D-B183-ABA62E6DE1B6}"/>
              </a:ext>
            </a:extLst>
          </p:cNvPr>
          <p:cNvSpPr/>
          <p:nvPr/>
        </p:nvSpPr>
        <p:spPr>
          <a:xfrm>
            <a:off x="777240" y="4145475"/>
            <a:ext cx="640080" cy="64008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E241EDAF-785B-4498-48BF-DF4A7FDB85FE}"/>
              </a:ext>
            </a:extLst>
          </p:cNvPr>
          <p:cNvSpPr/>
          <p:nvPr/>
        </p:nvSpPr>
        <p:spPr>
          <a:xfrm>
            <a:off x="777240" y="41454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N2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4D4235A4-F3AA-B919-3385-071869FB57A4}"/>
              </a:ext>
            </a:extLst>
          </p:cNvPr>
          <p:cNvSpPr/>
          <p:nvPr/>
        </p:nvSpPr>
        <p:spPr>
          <a:xfrm>
            <a:off x="1554480" y="414547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공개키 암호화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C351627-5D76-616C-4CD1-E9360FE6A8C9}"/>
              </a:ext>
            </a:extLst>
          </p:cNvPr>
          <p:cNvSpPr/>
          <p:nvPr/>
        </p:nvSpPr>
        <p:spPr>
          <a:xfrm>
            <a:off x="1554480" y="4465515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RSA, ML-KEM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F46A3C5-C575-B9F8-EF8E-6711470B14DE}"/>
              </a:ext>
            </a:extLst>
          </p:cNvPr>
          <p:cNvSpPr/>
          <p:nvPr/>
        </p:nvSpPr>
        <p:spPr>
          <a:xfrm>
            <a:off x="777240" y="4922715"/>
            <a:ext cx="640080" cy="64008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B730EB9A-197F-A5EE-5AAC-796A22BB28C8}"/>
              </a:ext>
            </a:extLst>
          </p:cNvPr>
          <p:cNvSpPr/>
          <p:nvPr/>
        </p:nvSpPr>
        <p:spPr>
          <a:xfrm>
            <a:off x="777240" y="49227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N3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290EB04-3A9E-38DE-EE1A-3B1FF58A5C23}"/>
              </a:ext>
            </a:extLst>
          </p:cNvPr>
          <p:cNvSpPr/>
          <p:nvPr/>
        </p:nvSpPr>
        <p:spPr>
          <a:xfrm>
            <a:off x="1554480" y="492271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대칭키/해시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EBACFA2-9586-5AFA-A090-8574BEC70B86}"/>
              </a:ext>
            </a:extLst>
          </p:cNvPr>
          <p:cNvSpPr/>
          <p:nvPr/>
        </p:nvSpPr>
        <p:spPr>
          <a:xfrm>
            <a:off x="1554480" y="5242755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AES, SHA, HMAC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FC64AD4-DADD-8700-D23F-69136758EA68}"/>
              </a:ext>
            </a:extLst>
          </p:cNvPr>
          <p:cNvSpPr/>
          <p:nvPr/>
        </p:nvSpPr>
        <p:spPr>
          <a:xfrm>
            <a:off x="777240" y="5699955"/>
            <a:ext cx="640080" cy="64008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36EBEAA8-0685-1A2B-3495-7D74484B8105}"/>
              </a:ext>
            </a:extLst>
          </p:cNvPr>
          <p:cNvSpPr/>
          <p:nvPr/>
        </p:nvSpPr>
        <p:spPr>
          <a:xfrm>
            <a:off x="777240" y="569995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N4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47DC5968-17A0-0D1C-6ACE-8C952685A466}"/>
              </a:ext>
            </a:extLst>
          </p:cNvPr>
          <p:cNvSpPr/>
          <p:nvPr/>
        </p:nvSpPr>
        <p:spPr>
          <a:xfrm>
            <a:off x="1554480" y="569995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 생성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85AA1C49-DA31-A617-EECA-81D889611A79}"/>
              </a:ext>
            </a:extLst>
          </p:cNvPr>
          <p:cNvSpPr/>
          <p:nvPr/>
        </p:nvSpPr>
        <p:spPr>
          <a:xfrm>
            <a:off x="1554480" y="6019995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DKG primitives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D24ABBCD-85AA-7890-CE60-A139D5FD0F10}"/>
              </a:ext>
            </a:extLst>
          </p:cNvPr>
          <p:cNvSpPr/>
          <p:nvPr/>
        </p:nvSpPr>
        <p:spPr>
          <a:xfrm>
            <a:off x="6172200" y="2133795"/>
            <a:ext cx="544068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2C4A3891-6AFB-72E6-D8EE-EE8DF8218ECC}"/>
              </a:ext>
            </a:extLst>
          </p:cNvPr>
          <p:cNvSpPr/>
          <p:nvPr/>
        </p:nvSpPr>
        <p:spPr>
          <a:xfrm>
            <a:off x="6172200" y="2133795"/>
            <a:ext cx="544068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DE663541-1D75-6869-72B5-50E9DF93F95E}"/>
              </a:ext>
            </a:extLst>
          </p:cNvPr>
          <p:cNvSpPr/>
          <p:nvPr/>
        </p:nvSpPr>
        <p:spPr>
          <a:xfrm>
            <a:off x="6400800" y="2161227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 S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290F0E10-9E18-CF92-DBE8-DB03DF040017}"/>
              </a:ext>
            </a:extLst>
          </p:cNvPr>
          <p:cNvSpPr/>
          <p:nvPr/>
        </p:nvSpPr>
        <p:spPr>
          <a:xfrm>
            <a:off x="6400800" y="2865315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표준화되지 않았으나 임계 친화적인 특수 프리미티브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D1C2EE01-4113-38FD-2F6C-BD059683C324}"/>
              </a:ext>
            </a:extLst>
          </p:cNvPr>
          <p:cNvSpPr/>
          <p:nvPr/>
        </p:nvSpPr>
        <p:spPr>
          <a:xfrm>
            <a:off x="6400800" y="3368235"/>
            <a:ext cx="96012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864350AE-B061-EDE5-0A79-EAAC86BAD044}"/>
              </a:ext>
            </a:extLst>
          </p:cNvPr>
          <p:cNvSpPr/>
          <p:nvPr/>
        </p:nvSpPr>
        <p:spPr>
          <a:xfrm>
            <a:off x="6400800" y="3368235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S1~S4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CAA9BD3E-A978-F266-72A8-AC1C78F18C68}"/>
              </a:ext>
            </a:extLst>
          </p:cNvPr>
          <p:cNvSpPr/>
          <p:nvPr/>
        </p:nvSpPr>
        <p:spPr>
          <a:xfrm>
            <a:off x="7498080" y="3368235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특수 서명·PKE·대칭키·키 생성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85627AC3-EF5F-9278-F616-95B345A7AF7F}"/>
              </a:ext>
            </a:extLst>
          </p:cNvPr>
          <p:cNvSpPr/>
          <p:nvPr/>
        </p:nvSpPr>
        <p:spPr>
          <a:xfrm>
            <a:off x="6400800" y="4145475"/>
            <a:ext cx="9601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BB01EC5E-61DB-DAD4-1C38-1C45613CBC7F}"/>
              </a:ext>
            </a:extLst>
          </p:cNvPr>
          <p:cNvSpPr/>
          <p:nvPr/>
        </p:nvSpPr>
        <p:spPr>
          <a:xfrm>
            <a:off x="6400800" y="4145475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S5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3ED5F42A-2D96-0BF4-130A-0132A3FE8627}"/>
              </a:ext>
            </a:extLst>
          </p:cNvPr>
          <p:cNvSpPr/>
          <p:nvPr/>
        </p:nvSpPr>
        <p:spPr>
          <a:xfrm>
            <a:off x="7498080" y="4145475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완전동형암호 (FHE)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07B4C96A-825D-14FA-14D0-70DBED6133E3}"/>
              </a:ext>
            </a:extLst>
          </p:cNvPr>
          <p:cNvSpPr/>
          <p:nvPr/>
        </p:nvSpPr>
        <p:spPr>
          <a:xfrm>
            <a:off x="6400800" y="4922715"/>
            <a:ext cx="9601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ECE55496-B81C-6BA6-CFC7-E2BBBE037B13}"/>
              </a:ext>
            </a:extLst>
          </p:cNvPr>
          <p:cNvSpPr/>
          <p:nvPr/>
        </p:nvSpPr>
        <p:spPr>
          <a:xfrm>
            <a:off x="6400800" y="4922715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S6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C953EEAB-F727-C3EB-9595-8566099811D6}"/>
              </a:ext>
            </a:extLst>
          </p:cNvPr>
          <p:cNvSpPr/>
          <p:nvPr/>
        </p:nvSpPr>
        <p:spPr>
          <a:xfrm>
            <a:off x="7498080" y="4922715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영지식 증명 (ZKP)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07BCA1ED-7399-5700-5DC1-1357A8122FFE}"/>
              </a:ext>
            </a:extLst>
          </p:cNvPr>
          <p:cNvSpPr/>
          <p:nvPr/>
        </p:nvSpPr>
        <p:spPr>
          <a:xfrm>
            <a:off x="6400800" y="5699955"/>
            <a:ext cx="9601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EBE61B93-2B25-A8D4-75DE-A4A82B87CB31}"/>
              </a:ext>
            </a:extLst>
          </p:cNvPr>
          <p:cNvSpPr/>
          <p:nvPr/>
        </p:nvSpPr>
        <p:spPr>
          <a:xfrm>
            <a:off x="6400800" y="5699955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S7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C4C14BAA-C431-10BA-0EAB-39343A3BF8C2}"/>
              </a:ext>
            </a:extLst>
          </p:cNvPr>
          <p:cNvSpPr/>
          <p:nvPr/>
        </p:nvSpPr>
        <p:spPr>
          <a:xfrm>
            <a:off x="7498080" y="5699955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Auxiliary Gadgets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B2042A8-6353-EDC8-01A6-266FDEB1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35" y="944852"/>
            <a:ext cx="8745170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6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DD1C-08B8-5500-433E-21517EA5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0DD33-550E-7345-D2C7-F8780FC7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3. 1</a:t>
            </a:r>
            <a:r>
              <a:rPr kumimoji="1" lang="ko-KR" altLang="en-US" dirty="0"/>
              <a:t>차 </a:t>
            </a:r>
            <a:r>
              <a:rPr kumimoji="1" lang="en-US" altLang="ko-KR" dirty="0"/>
              <a:t>Preview</a:t>
            </a:r>
            <a:r>
              <a:rPr kumimoji="1" lang="ko-KR" altLang="en-US" dirty="0"/>
              <a:t> 라운드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67282-714F-D564-FB3A-41268FD4C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9</a:t>
            </a:fld>
            <a:endParaRPr lang="ko-KR" altLang="en-US"/>
          </a:p>
        </p:txBody>
      </p:sp>
      <p:graphicFrame>
        <p:nvGraphicFramePr>
          <p:cNvPr id="16" name="Chart 0">
            <a:extLst>
              <a:ext uri="{FF2B5EF4-FFF2-40B4-BE49-F238E27FC236}">
                <a16:creationId xmlns:a16="http://schemas.microsoft.com/office/drawing/2014/main" id="{A130F824-5627-35FE-59D7-3165F7EF0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346080"/>
              </p:ext>
            </p:extLst>
          </p:nvPr>
        </p:nvGraphicFramePr>
        <p:xfrm>
          <a:off x="365760" y="2317628"/>
          <a:ext cx="57607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Shape 7">
            <a:extLst>
              <a:ext uri="{FF2B5EF4-FFF2-40B4-BE49-F238E27FC236}">
                <a16:creationId xmlns:a16="http://schemas.microsoft.com/office/drawing/2014/main" id="{C4C99C3A-8C89-A234-03FF-F48B41FD7A4A}"/>
              </a:ext>
            </a:extLst>
          </p:cNvPr>
          <p:cNvSpPr/>
          <p:nvPr/>
        </p:nvSpPr>
        <p:spPr>
          <a:xfrm>
            <a:off x="6263640" y="2363348"/>
            <a:ext cx="5349240" cy="36576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9D193F3B-D826-906C-353E-3DE8018D3933}"/>
              </a:ext>
            </a:extLst>
          </p:cNvPr>
          <p:cNvSpPr/>
          <p:nvPr/>
        </p:nvSpPr>
        <p:spPr>
          <a:xfrm>
            <a:off x="6400800" y="23633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 N  ·  기존 NIST 표준의 임계화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50075B40-271B-31A3-C545-8142494041F9}"/>
              </a:ext>
            </a:extLst>
          </p:cNvPr>
          <p:cNvSpPr/>
          <p:nvPr/>
        </p:nvSpPr>
        <p:spPr>
          <a:xfrm>
            <a:off x="6355080" y="2820548"/>
            <a:ext cx="12801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F0C9886-CD6D-D86F-FEA5-DA08262398F7}"/>
              </a:ext>
            </a:extLst>
          </p:cNvPr>
          <p:cNvSpPr/>
          <p:nvPr/>
        </p:nvSpPr>
        <p:spPr>
          <a:xfrm>
            <a:off x="6355080" y="28937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N1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50AE40C7-8820-154A-7191-46B76B7EC240}"/>
              </a:ext>
            </a:extLst>
          </p:cNvPr>
          <p:cNvSpPr/>
          <p:nvPr/>
        </p:nvSpPr>
        <p:spPr>
          <a:xfrm>
            <a:off x="6355080" y="31863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5583A63-ED9B-9F26-ABAD-1A952BC9116F}"/>
              </a:ext>
            </a:extLst>
          </p:cNvPr>
          <p:cNvSpPr/>
          <p:nvPr/>
        </p:nvSpPr>
        <p:spPr>
          <a:xfrm>
            <a:off x="6355080" y="38263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Sign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A91DA3E0-C9EC-0A25-5360-A4006B05D3F6}"/>
              </a:ext>
            </a:extLst>
          </p:cNvPr>
          <p:cNvSpPr/>
          <p:nvPr/>
        </p:nvSpPr>
        <p:spPr>
          <a:xfrm>
            <a:off x="7699248" y="2820548"/>
            <a:ext cx="1280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FD1DD84E-D27F-08E7-2B01-3789BC58A500}"/>
              </a:ext>
            </a:extLst>
          </p:cNvPr>
          <p:cNvSpPr/>
          <p:nvPr/>
        </p:nvSpPr>
        <p:spPr>
          <a:xfrm>
            <a:off x="7699248" y="28937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N2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4CBF14B5-CB8F-AD2E-357A-2581A9F86B1B}"/>
              </a:ext>
            </a:extLst>
          </p:cNvPr>
          <p:cNvSpPr/>
          <p:nvPr/>
        </p:nvSpPr>
        <p:spPr>
          <a:xfrm>
            <a:off x="7699248" y="31863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DE56802-BD79-6E8E-5430-F4B7649A5EF3}"/>
              </a:ext>
            </a:extLst>
          </p:cNvPr>
          <p:cNvSpPr/>
          <p:nvPr/>
        </p:nvSpPr>
        <p:spPr>
          <a:xfrm>
            <a:off x="7699248" y="38263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PKE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F7737D09-773A-1CCD-16FB-C78AE1D05BAE}"/>
              </a:ext>
            </a:extLst>
          </p:cNvPr>
          <p:cNvSpPr/>
          <p:nvPr/>
        </p:nvSpPr>
        <p:spPr>
          <a:xfrm>
            <a:off x="9043416" y="2820548"/>
            <a:ext cx="12801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81A55AE-57AD-822A-944D-D440D02AE2EA}"/>
              </a:ext>
            </a:extLst>
          </p:cNvPr>
          <p:cNvSpPr/>
          <p:nvPr/>
        </p:nvSpPr>
        <p:spPr>
          <a:xfrm>
            <a:off x="9043416" y="28937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N3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FAA82FCC-50E2-A0C1-1CB6-626D939232E6}"/>
              </a:ext>
            </a:extLst>
          </p:cNvPr>
          <p:cNvSpPr/>
          <p:nvPr/>
        </p:nvSpPr>
        <p:spPr>
          <a:xfrm>
            <a:off x="9043416" y="31863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3E781343-CF65-1E13-CBAA-FEA4580D3023}"/>
              </a:ext>
            </a:extLst>
          </p:cNvPr>
          <p:cNvSpPr/>
          <p:nvPr/>
        </p:nvSpPr>
        <p:spPr>
          <a:xfrm>
            <a:off x="9043416" y="38263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Symm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8C62BD16-DFF1-CF3B-21D0-50043C9A0E49}"/>
              </a:ext>
            </a:extLst>
          </p:cNvPr>
          <p:cNvSpPr/>
          <p:nvPr/>
        </p:nvSpPr>
        <p:spPr>
          <a:xfrm>
            <a:off x="10387584" y="2820548"/>
            <a:ext cx="12801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7F9C7A31-E9A5-0FAE-9890-CCEC7B382DB8}"/>
              </a:ext>
            </a:extLst>
          </p:cNvPr>
          <p:cNvSpPr/>
          <p:nvPr/>
        </p:nvSpPr>
        <p:spPr>
          <a:xfrm>
            <a:off x="10387584" y="28937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D0C84481-500D-D355-91CD-326ECD6973B5}"/>
              </a:ext>
            </a:extLst>
          </p:cNvPr>
          <p:cNvSpPr/>
          <p:nvPr/>
        </p:nvSpPr>
        <p:spPr>
          <a:xfrm>
            <a:off x="10387584" y="31863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AADA9E52-900E-58DD-1886-42EAD6350982}"/>
              </a:ext>
            </a:extLst>
          </p:cNvPr>
          <p:cNvSpPr/>
          <p:nvPr/>
        </p:nvSpPr>
        <p:spPr>
          <a:xfrm>
            <a:off x="10387584" y="38263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KeyGen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40168869-B973-C7FC-57D8-95E5D54C7CCB}"/>
              </a:ext>
            </a:extLst>
          </p:cNvPr>
          <p:cNvSpPr/>
          <p:nvPr/>
        </p:nvSpPr>
        <p:spPr>
          <a:xfrm>
            <a:off x="6263640" y="4329308"/>
            <a:ext cx="534924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2FCFDAC5-8AF2-7476-5155-68AF57350C95}"/>
              </a:ext>
            </a:extLst>
          </p:cNvPr>
          <p:cNvSpPr/>
          <p:nvPr/>
        </p:nvSpPr>
        <p:spPr>
          <a:xfrm>
            <a:off x="6400800" y="43293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 S  ·  특수 / 임계 친화 프리미티브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2BFA3B65-4EEA-1F36-86E7-5154F2417392}"/>
              </a:ext>
            </a:extLst>
          </p:cNvPr>
          <p:cNvSpPr/>
          <p:nvPr/>
        </p:nvSpPr>
        <p:spPr>
          <a:xfrm>
            <a:off x="6355080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BECD4720-7DAA-86A5-3B07-7642F45DF821}"/>
              </a:ext>
            </a:extLst>
          </p:cNvPr>
          <p:cNvSpPr/>
          <p:nvPr/>
        </p:nvSpPr>
        <p:spPr>
          <a:xfrm>
            <a:off x="6355080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S1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533E35E8-DC44-6ED7-3FD6-05E03F3891F7}"/>
              </a:ext>
            </a:extLst>
          </p:cNvPr>
          <p:cNvSpPr/>
          <p:nvPr/>
        </p:nvSpPr>
        <p:spPr>
          <a:xfrm>
            <a:off x="6355080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731F760E-7A37-8CC4-231C-30CDD32A6055}"/>
              </a:ext>
            </a:extLst>
          </p:cNvPr>
          <p:cNvSpPr/>
          <p:nvPr/>
        </p:nvSpPr>
        <p:spPr>
          <a:xfrm>
            <a:off x="6355080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Sign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3134011C-FB0B-9C6F-59E1-888460DF459C}"/>
              </a:ext>
            </a:extLst>
          </p:cNvPr>
          <p:cNvSpPr/>
          <p:nvPr/>
        </p:nvSpPr>
        <p:spPr>
          <a:xfrm>
            <a:off x="7104888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1FDF7954-E757-0D1E-10F4-E645EA97D735}"/>
              </a:ext>
            </a:extLst>
          </p:cNvPr>
          <p:cNvSpPr/>
          <p:nvPr/>
        </p:nvSpPr>
        <p:spPr>
          <a:xfrm>
            <a:off x="7104888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S2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E7B2BFF4-EC59-3784-F265-8D5FE05E07B6}"/>
              </a:ext>
            </a:extLst>
          </p:cNvPr>
          <p:cNvSpPr/>
          <p:nvPr/>
        </p:nvSpPr>
        <p:spPr>
          <a:xfrm>
            <a:off x="7104888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57894CF-BA11-8245-A164-76A048E70FA3}"/>
              </a:ext>
            </a:extLst>
          </p:cNvPr>
          <p:cNvSpPr/>
          <p:nvPr/>
        </p:nvSpPr>
        <p:spPr>
          <a:xfrm>
            <a:off x="7104888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PKE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F50CE8BE-8DB5-335B-023D-1E85561154A6}"/>
              </a:ext>
            </a:extLst>
          </p:cNvPr>
          <p:cNvSpPr/>
          <p:nvPr/>
        </p:nvSpPr>
        <p:spPr>
          <a:xfrm>
            <a:off x="7854696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CB4C7645-5B5D-A831-1302-3AEFBC613B80}"/>
              </a:ext>
            </a:extLst>
          </p:cNvPr>
          <p:cNvSpPr/>
          <p:nvPr/>
        </p:nvSpPr>
        <p:spPr>
          <a:xfrm>
            <a:off x="7854696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S3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C449909C-CE18-F6E0-D72B-AD396E8140BC}"/>
              </a:ext>
            </a:extLst>
          </p:cNvPr>
          <p:cNvSpPr/>
          <p:nvPr/>
        </p:nvSpPr>
        <p:spPr>
          <a:xfrm>
            <a:off x="7854696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38">
            <a:extLst>
              <a:ext uri="{FF2B5EF4-FFF2-40B4-BE49-F238E27FC236}">
                <a16:creationId xmlns:a16="http://schemas.microsoft.com/office/drawing/2014/main" id="{51675109-B041-E315-720A-A1012B862CC1}"/>
              </a:ext>
            </a:extLst>
          </p:cNvPr>
          <p:cNvSpPr/>
          <p:nvPr/>
        </p:nvSpPr>
        <p:spPr>
          <a:xfrm>
            <a:off x="7854696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Symm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Shape 39">
            <a:extLst>
              <a:ext uri="{FF2B5EF4-FFF2-40B4-BE49-F238E27FC236}">
                <a16:creationId xmlns:a16="http://schemas.microsoft.com/office/drawing/2014/main" id="{CC0AE70D-5818-14C2-6DAE-BB5E066CCDE3}"/>
              </a:ext>
            </a:extLst>
          </p:cNvPr>
          <p:cNvSpPr/>
          <p:nvPr/>
        </p:nvSpPr>
        <p:spPr>
          <a:xfrm>
            <a:off x="8604504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53A6F9B9-2881-811C-19EF-CE6E02F2DDB4}"/>
              </a:ext>
            </a:extLst>
          </p:cNvPr>
          <p:cNvSpPr/>
          <p:nvPr/>
        </p:nvSpPr>
        <p:spPr>
          <a:xfrm>
            <a:off x="8604504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S4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470DEFCA-0BEA-3F0E-EC67-E6DE747CDE61}"/>
              </a:ext>
            </a:extLst>
          </p:cNvPr>
          <p:cNvSpPr/>
          <p:nvPr/>
        </p:nvSpPr>
        <p:spPr>
          <a:xfrm>
            <a:off x="8604504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FABC2930-7C6B-9743-E549-F3FE2B7280C3}"/>
              </a:ext>
            </a:extLst>
          </p:cNvPr>
          <p:cNvSpPr/>
          <p:nvPr/>
        </p:nvSpPr>
        <p:spPr>
          <a:xfrm>
            <a:off x="8604504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KeyGen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0BCD6C8C-55F4-C5B3-1C37-52DF4D426CD6}"/>
              </a:ext>
            </a:extLst>
          </p:cNvPr>
          <p:cNvSpPr/>
          <p:nvPr/>
        </p:nvSpPr>
        <p:spPr>
          <a:xfrm>
            <a:off x="9354312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F6336A04-CE67-0AEE-1902-2E664C1FD45F}"/>
              </a:ext>
            </a:extLst>
          </p:cNvPr>
          <p:cNvSpPr/>
          <p:nvPr/>
        </p:nvSpPr>
        <p:spPr>
          <a:xfrm>
            <a:off x="9354312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S5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1E825992-FEC7-9007-D94D-3983DF0FB5D3}"/>
              </a:ext>
            </a:extLst>
          </p:cNvPr>
          <p:cNvSpPr/>
          <p:nvPr/>
        </p:nvSpPr>
        <p:spPr>
          <a:xfrm>
            <a:off x="9354312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33B51173-062C-EB78-9EB9-A00EF82D54B1}"/>
              </a:ext>
            </a:extLst>
          </p:cNvPr>
          <p:cNvSpPr/>
          <p:nvPr/>
        </p:nvSpPr>
        <p:spPr>
          <a:xfrm>
            <a:off x="9354312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FHE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Shape 47">
            <a:extLst>
              <a:ext uri="{FF2B5EF4-FFF2-40B4-BE49-F238E27FC236}">
                <a16:creationId xmlns:a16="http://schemas.microsoft.com/office/drawing/2014/main" id="{DA946157-4A18-58C0-10A5-4C3A0E41B0F2}"/>
              </a:ext>
            </a:extLst>
          </p:cNvPr>
          <p:cNvSpPr/>
          <p:nvPr/>
        </p:nvSpPr>
        <p:spPr>
          <a:xfrm>
            <a:off x="10104120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48">
            <a:extLst>
              <a:ext uri="{FF2B5EF4-FFF2-40B4-BE49-F238E27FC236}">
                <a16:creationId xmlns:a16="http://schemas.microsoft.com/office/drawing/2014/main" id="{0EC005AC-26DD-337A-C92C-E6E010FA8A73}"/>
              </a:ext>
            </a:extLst>
          </p:cNvPr>
          <p:cNvSpPr/>
          <p:nvPr/>
        </p:nvSpPr>
        <p:spPr>
          <a:xfrm>
            <a:off x="10104120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S6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49">
            <a:extLst>
              <a:ext uri="{FF2B5EF4-FFF2-40B4-BE49-F238E27FC236}">
                <a16:creationId xmlns:a16="http://schemas.microsoft.com/office/drawing/2014/main" id="{6EC39C5E-1C67-1BFD-81F0-FC8DAB130524}"/>
              </a:ext>
            </a:extLst>
          </p:cNvPr>
          <p:cNvSpPr/>
          <p:nvPr/>
        </p:nvSpPr>
        <p:spPr>
          <a:xfrm>
            <a:off x="10104120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318AD27E-F289-E77F-66FD-D6E9660CEA24}"/>
              </a:ext>
            </a:extLst>
          </p:cNvPr>
          <p:cNvSpPr/>
          <p:nvPr/>
        </p:nvSpPr>
        <p:spPr>
          <a:xfrm>
            <a:off x="10104120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ZKPoK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Shape 51">
            <a:extLst>
              <a:ext uri="{FF2B5EF4-FFF2-40B4-BE49-F238E27FC236}">
                <a16:creationId xmlns:a16="http://schemas.microsoft.com/office/drawing/2014/main" id="{909CAB40-AABF-3169-CFA4-252019DF46AD}"/>
              </a:ext>
            </a:extLst>
          </p:cNvPr>
          <p:cNvSpPr/>
          <p:nvPr/>
        </p:nvSpPr>
        <p:spPr>
          <a:xfrm>
            <a:off x="10853928" y="4786508"/>
            <a:ext cx="7132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 52">
            <a:extLst>
              <a:ext uri="{FF2B5EF4-FFF2-40B4-BE49-F238E27FC236}">
                <a16:creationId xmlns:a16="http://schemas.microsoft.com/office/drawing/2014/main" id="{BE406FEC-7E5A-0904-F32F-15684AF07119}"/>
              </a:ext>
            </a:extLst>
          </p:cNvPr>
          <p:cNvSpPr/>
          <p:nvPr/>
        </p:nvSpPr>
        <p:spPr>
          <a:xfrm>
            <a:off x="10853928" y="48596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S7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53">
            <a:extLst>
              <a:ext uri="{FF2B5EF4-FFF2-40B4-BE49-F238E27FC236}">
                <a16:creationId xmlns:a16="http://schemas.microsoft.com/office/drawing/2014/main" id="{556AEE1B-5CF8-DE8E-0B5F-042AC7DB766C}"/>
              </a:ext>
            </a:extLst>
          </p:cNvPr>
          <p:cNvSpPr/>
          <p:nvPr/>
        </p:nvSpPr>
        <p:spPr>
          <a:xfrm>
            <a:off x="10853928" y="513398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609C1796-6616-89AE-7DC4-15880E798EEE}"/>
              </a:ext>
            </a:extLst>
          </p:cNvPr>
          <p:cNvSpPr/>
          <p:nvPr/>
        </p:nvSpPr>
        <p:spPr>
          <a:xfrm>
            <a:off x="10853928" y="57466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Gadgets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412364E3-4170-B000-5062-AB12548C43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793" y="890209"/>
            <a:ext cx="11936413" cy="5851525"/>
          </a:xfrm>
        </p:spPr>
        <p:txBody>
          <a:bodyPr/>
          <a:lstStyle/>
          <a:p>
            <a:r>
              <a:rPr lang="en-US" altLang="ko-KR" dirty="0"/>
              <a:t>한 </a:t>
            </a:r>
            <a:r>
              <a:rPr lang="en-US" altLang="ko-KR" dirty="0" err="1"/>
              <a:t>제출물이</a:t>
            </a:r>
            <a:r>
              <a:rPr lang="en-US" altLang="ko-KR" dirty="0"/>
              <a:t> </a:t>
            </a:r>
            <a:r>
              <a:rPr lang="en-US" altLang="ko-KR" dirty="0" err="1"/>
              <a:t>여러</a:t>
            </a:r>
            <a:r>
              <a:rPr lang="en-US" altLang="ko-KR" dirty="0"/>
              <a:t> </a:t>
            </a:r>
            <a:r>
              <a:rPr lang="en-US" altLang="ko-KR" dirty="0" err="1"/>
              <a:t>카테고리에</a:t>
            </a:r>
            <a:r>
              <a:rPr lang="en-US" altLang="ko-KR" dirty="0"/>
              <a:t> </a:t>
            </a:r>
            <a:r>
              <a:rPr lang="en-US" altLang="ko-KR" dirty="0" err="1"/>
              <a:t>동시</a:t>
            </a:r>
            <a:r>
              <a:rPr lang="en-US" altLang="ko-KR" dirty="0"/>
              <a:t> </a:t>
            </a:r>
            <a:r>
              <a:rPr lang="en-US" altLang="ko-KR" dirty="0" err="1"/>
              <a:t>매핑됨</a:t>
            </a:r>
            <a:endParaRPr lang="en-US" altLang="ko-KR" dirty="0"/>
          </a:p>
          <a:p>
            <a:r>
              <a:rPr lang="en-US" altLang="ko-KR" dirty="0" err="1"/>
              <a:t>서명</a:t>
            </a:r>
            <a:r>
              <a:rPr lang="en-US" altLang="ko-KR" dirty="0"/>
              <a:t> </a:t>
            </a:r>
            <a:r>
              <a:rPr lang="en-US" altLang="ko-KR" dirty="0" err="1"/>
              <a:t>계열</a:t>
            </a:r>
            <a:r>
              <a:rPr lang="en-US" altLang="ko-KR" dirty="0"/>
              <a:t>(N1+S1) 18건이 </a:t>
            </a:r>
            <a:r>
              <a:rPr lang="en-US" altLang="ko-KR" dirty="0" err="1"/>
              <a:t>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831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8603-A51C-22D0-8908-D120C682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8C715-EA2B-C1B1-02C0-C640FB9FB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</a:t>
            </a:r>
            <a:r>
              <a:rPr kumimoji="1" lang="ko-KR" altLang="en-US" dirty="0"/>
              <a:t>세 가지 핵심 동향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536D4-9D18-7F91-230A-2EBBF0AC8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1D9AB3A-2685-0134-BF87-F39B453BC2D5}"/>
              </a:ext>
            </a:extLst>
          </p:cNvPr>
          <p:cNvSpPr/>
          <p:nvPr/>
        </p:nvSpPr>
        <p:spPr>
          <a:xfrm>
            <a:off x="2011680" y="2354580"/>
            <a:ext cx="4069080" cy="1737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726DE16-9B66-E261-1CCC-AF76CDAA5560}"/>
              </a:ext>
            </a:extLst>
          </p:cNvPr>
          <p:cNvSpPr/>
          <p:nvPr/>
        </p:nvSpPr>
        <p:spPr>
          <a:xfrm>
            <a:off x="6080760" y="2354580"/>
            <a:ext cx="0" cy="1737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5A24297-946C-FD64-900A-90597919971E}"/>
              </a:ext>
            </a:extLst>
          </p:cNvPr>
          <p:cNvSpPr/>
          <p:nvPr/>
        </p:nvSpPr>
        <p:spPr>
          <a:xfrm flipH="1">
            <a:off x="6080760" y="2354580"/>
            <a:ext cx="4069080" cy="1737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453D61B-EFFE-5128-A67F-4F55EBC00DF5}"/>
              </a:ext>
            </a:extLst>
          </p:cNvPr>
          <p:cNvSpPr/>
          <p:nvPr/>
        </p:nvSpPr>
        <p:spPr>
          <a:xfrm flipV="1">
            <a:off x="2011680" y="4091940"/>
            <a:ext cx="4069080" cy="15087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11D6E36-8137-16D0-3EB0-F179A5E7C3C6}"/>
              </a:ext>
            </a:extLst>
          </p:cNvPr>
          <p:cNvSpPr/>
          <p:nvPr/>
        </p:nvSpPr>
        <p:spPr>
          <a:xfrm flipV="1">
            <a:off x="6080760" y="4091940"/>
            <a:ext cx="0" cy="15087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EBA3986-6388-9DFA-6243-A7B0751DC00C}"/>
              </a:ext>
            </a:extLst>
          </p:cNvPr>
          <p:cNvSpPr/>
          <p:nvPr/>
        </p:nvSpPr>
        <p:spPr>
          <a:xfrm flipH="1" flipV="1">
            <a:off x="6080760" y="4091940"/>
            <a:ext cx="4069080" cy="15087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EEE6F89-6CB3-DA78-8F9B-760A2C649F6D}"/>
              </a:ext>
            </a:extLst>
          </p:cNvPr>
          <p:cNvSpPr/>
          <p:nvPr/>
        </p:nvSpPr>
        <p:spPr>
          <a:xfrm>
            <a:off x="640080" y="18516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B66CC53-CD32-39F8-AF3E-587A48AADAAD}"/>
              </a:ext>
            </a:extLst>
          </p:cNvPr>
          <p:cNvSpPr/>
          <p:nvPr/>
        </p:nvSpPr>
        <p:spPr>
          <a:xfrm>
            <a:off x="777240" y="19248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Module Lattice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1936F1D-C0CD-0B1E-0BB9-4E41CE01B0B6}"/>
              </a:ext>
            </a:extLst>
          </p:cNvPr>
          <p:cNvSpPr/>
          <p:nvPr/>
        </p:nvSpPr>
        <p:spPr>
          <a:xfrm>
            <a:off x="777240" y="21991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Mithril, Quorus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65E76F7D-B07D-5A6F-E218-32489177D002}"/>
              </a:ext>
            </a:extLst>
          </p:cNvPr>
          <p:cNvSpPr/>
          <p:nvPr/>
        </p:nvSpPr>
        <p:spPr>
          <a:xfrm>
            <a:off x="777240" y="24917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표준 ML-DSA 직접 임계화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3D3C80A-A8CE-A377-1AFB-A1B2845C29FF}"/>
              </a:ext>
            </a:extLst>
          </p:cNvPr>
          <p:cNvSpPr/>
          <p:nvPr/>
        </p:nvSpPr>
        <p:spPr>
          <a:xfrm>
            <a:off x="4709160" y="18516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DA5FCEF-D82C-3B40-13E5-A744B202A2CA}"/>
              </a:ext>
            </a:extLst>
          </p:cNvPr>
          <p:cNvSpPr/>
          <p:nvPr/>
        </p:nvSpPr>
        <p:spPr>
          <a:xfrm>
            <a:off x="4846320" y="19248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Stateful Hash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149DDEDD-EE67-FEA8-1250-74A298B2C309}"/>
              </a:ext>
            </a:extLst>
          </p:cNvPr>
          <p:cNvSpPr/>
          <p:nvPr/>
        </p:nvSpPr>
        <p:spPr>
          <a:xfrm>
            <a:off x="4846320" y="21991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Haystack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F908532-E12D-2540-D4A4-920A16F751B9}"/>
              </a:ext>
            </a:extLst>
          </p:cNvPr>
          <p:cNvSpPr/>
          <p:nvPr/>
        </p:nvSpPr>
        <p:spPr>
          <a:xfrm>
            <a:off x="4846320" y="24917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LMS / XMSS 계열 분산화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25A06DB-9CFC-4622-F292-62AE0412DA31}"/>
              </a:ext>
            </a:extLst>
          </p:cNvPr>
          <p:cNvSpPr/>
          <p:nvPr/>
        </p:nvSpPr>
        <p:spPr>
          <a:xfrm>
            <a:off x="8778240" y="18516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9C9B1710-0D78-068E-E1A4-ABCF14F8276B}"/>
              </a:ext>
            </a:extLst>
          </p:cNvPr>
          <p:cNvSpPr/>
          <p:nvPr/>
        </p:nvSpPr>
        <p:spPr>
          <a:xfrm>
            <a:off x="8915400" y="19248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Raccoon-style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8C21A751-5834-441A-C6EE-3579C960ACFB}"/>
              </a:ext>
            </a:extLst>
          </p:cNvPr>
          <p:cNvSpPr/>
          <p:nvPr/>
        </p:nvSpPr>
        <p:spPr>
          <a:xfrm>
            <a:off x="8915400" y="21991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Hermine, Tanuki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A2286D6F-17CC-0324-3CD9-D07AA8B47F1A}"/>
              </a:ext>
            </a:extLst>
          </p:cNvPr>
          <p:cNvSpPr/>
          <p:nvPr/>
        </p:nvSpPr>
        <p:spPr>
          <a:xfrm>
            <a:off x="8915400" y="24917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AOMLwE 기반 격자 서명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1316BD8-BCCA-5124-A2D8-1985FC05899B}"/>
              </a:ext>
            </a:extLst>
          </p:cNvPr>
          <p:cNvSpPr/>
          <p:nvPr/>
        </p:nvSpPr>
        <p:spPr>
          <a:xfrm>
            <a:off x="640080" y="50977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484A3FD3-5F6B-5244-29C5-485F42AA1A06}"/>
              </a:ext>
            </a:extLst>
          </p:cNvPr>
          <p:cNvSpPr/>
          <p:nvPr/>
        </p:nvSpPr>
        <p:spPr>
          <a:xfrm>
            <a:off x="777240" y="51709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Code-based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1D7C2B62-59C5-4A45-2D37-8A4AC9E9E44B}"/>
              </a:ext>
            </a:extLst>
          </p:cNvPr>
          <p:cNvSpPr/>
          <p:nvPr/>
        </p:nvSpPr>
        <p:spPr>
          <a:xfrm>
            <a:off x="777240" y="54452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LEAST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B0AFAAF1-4CDF-C5A3-6C6A-BBBC1EB55D73}"/>
              </a:ext>
            </a:extLst>
          </p:cNvPr>
          <p:cNvSpPr/>
          <p:nvPr/>
        </p:nvSpPr>
        <p:spPr>
          <a:xfrm>
            <a:off x="777240" y="57378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 기반 그룹 액션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6DB5931-6C3C-1A75-0C8A-880C2CE4A58A}"/>
              </a:ext>
            </a:extLst>
          </p:cNvPr>
          <p:cNvSpPr/>
          <p:nvPr/>
        </p:nvSpPr>
        <p:spPr>
          <a:xfrm>
            <a:off x="4709160" y="50977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C611F304-F25C-F4D0-816D-2E5665646E47}"/>
              </a:ext>
            </a:extLst>
          </p:cNvPr>
          <p:cNvSpPr/>
          <p:nvPr/>
        </p:nvSpPr>
        <p:spPr>
          <a:xfrm>
            <a:off x="4846320" y="51709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Isogeny-based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F0BC1A4E-7A42-FB2A-CE1C-A828298F3BC3}"/>
              </a:ext>
            </a:extLst>
          </p:cNvPr>
          <p:cNvSpPr/>
          <p:nvPr/>
        </p:nvSpPr>
        <p:spPr>
          <a:xfrm>
            <a:off x="4846320" y="54452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PQarrots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8804BE8-3CFB-2270-16B2-30590280D656}"/>
              </a:ext>
            </a:extLst>
          </p:cNvPr>
          <p:cNvSpPr/>
          <p:nvPr/>
        </p:nvSpPr>
        <p:spPr>
          <a:xfrm>
            <a:off x="4846320" y="57378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아이소제니 그룹 액션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58CA9943-5FC0-61C0-03B0-94C50A6240D3}"/>
              </a:ext>
            </a:extLst>
          </p:cNvPr>
          <p:cNvSpPr/>
          <p:nvPr/>
        </p:nvSpPr>
        <p:spPr>
          <a:xfrm>
            <a:off x="8778240" y="50977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22FA7F23-7C26-6AC7-51EA-9027933ED829}"/>
              </a:ext>
            </a:extLst>
          </p:cNvPr>
          <p:cNvSpPr/>
          <p:nvPr/>
        </p:nvSpPr>
        <p:spPr>
          <a:xfrm>
            <a:off x="8915400" y="51709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Multivariate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1163FE0F-E44C-CA99-BEE9-8077F4981CC5}"/>
              </a:ext>
            </a:extLst>
          </p:cNvPr>
          <p:cNvSpPr/>
          <p:nvPr/>
        </p:nvSpPr>
        <p:spPr>
          <a:xfrm>
            <a:off x="8915400" y="54452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Vinaigrette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230471D5-D501-C3A0-716A-742192E4FA76}"/>
              </a:ext>
            </a:extLst>
          </p:cNvPr>
          <p:cNvSpPr/>
          <p:nvPr/>
        </p:nvSpPr>
        <p:spPr>
          <a:xfrm>
            <a:off x="8915400" y="57378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다변수 다항식 기반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C67008CC-DFA4-8754-441C-6F3E82534A42}"/>
              </a:ext>
            </a:extLst>
          </p:cNvPr>
          <p:cNvSpPr/>
          <p:nvPr/>
        </p:nvSpPr>
        <p:spPr>
          <a:xfrm>
            <a:off x="5074920" y="3406140"/>
            <a:ext cx="2011680" cy="1371600"/>
          </a:xfrm>
          <a:prstGeom prst="ellipse">
            <a:avLst/>
          </a:prstGeom>
          <a:solidFill>
            <a:srgbClr val="0F1E3D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5E7C0FBC-D5C4-C77F-1CDD-AB8BC6A7B259}"/>
              </a:ext>
            </a:extLst>
          </p:cNvPr>
          <p:cNvSpPr/>
          <p:nvPr/>
        </p:nvSpPr>
        <p:spPr>
          <a:xfrm>
            <a:off x="5074920" y="34061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PQ Threshold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Signatures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3A51286F-3048-009D-8701-0C902077E1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793" y="890209"/>
            <a:ext cx="11936413" cy="5851525"/>
          </a:xfrm>
        </p:spPr>
        <p:txBody>
          <a:bodyPr/>
          <a:lstStyle/>
          <a:p>
            <a:r>
              <a:rPr kumimoji="1" lang="en-US" altLang="ko-KR" dirty="0"/>
              <a:t>PQ </a:t>
            </a:r>
            <a:r>
              <a:rPr kumimoji="1" lang="ko-KR" altLang="en-US" dirty="0"/>
              <a:t>임계 서명의 다양화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2647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E74B-A84F-7A58-01A1-179E0072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619F8-0482-7B90-D97D-4550FA11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</a:t>
            </a:r>
            <a:r>
              <a:rPr kumimoji="1" lang="ko-KR" altLang="en-US" dirty="0"/>
              <a:t>세 가지 핵심 동향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2300F8-761B-35C0-00EF-DD72D0A01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ko-KR" altLang="en-US" dirty="0" err="1"/>
              <a:t>서명뿐만</a:t>
            </a:r>
            <a:r>
              <a:rPr kumimoji="1" lang="ko-KR" altLang="en-US" dirty="0"/>
              <a:t> 아니라 다른 암호 기술에도 임계 암호를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31346-50C2-C956-B3F1-E5191D161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212D32E-07B3-B0C7-B244-174A68642814}"/>
              </a:ext>
            </a:extLst>
          </p:cNvPr>
          <p:cNvSpPr/>
          <p:nvPr/>
        </p:nvSpPr>
        <p:spPr>
          <a:xfrm>
            <a:off x="548640" y="2003106"/>
            <a:ext cx="5440680" cy="1677353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B46F162-85FE-C18D-F8B7-BF7853D946E6}"/>
              </a:ext>
            </a:extLst>
          </p:cNvPr>
          <p:cNvSpPr/>
          <p:nvPr/>
        </p:nvSpPr>
        <p:spPr>
          <a:xfrm>
            <a:off x="822960" y="20999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Threshold FHE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DC9249C-B39C-A637-47F6-DAE5A88F6B26}"/>
              </a:ext>
            </a:extLst>
          </p:cNvPr>
          <p:cNvSpPr/>
          <p:nvPr/>
        </p:nvSpPr>
        <p:spPr>
          <a:xfrm>
            <a:off x="3337560" y="29032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PANTHERIA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9B1A228-F5B5-68C0-8044-738801A0A8DD}"/>
              </a:ext>
            </a:extLst>
          </p:cNvPr>
          <p:cNvSpPr/>
          <p:nvPr/>
        </p:nvSpPr>
        <p:spPr>
          <a:xfrm>
            <a:off x="3337560" y="31958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RLWE 기반 Threshold FHE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059CE2A-C4E7-AB5D-18B1-36121696B048}"/>
              </a:ext>
            </a:extLst>
          </p:cNvPr>
          <p:cNvSpPr/>
          <p:nvPr/>
        </p:nvSpPr>
        <p:spPr>
          <a:xfrm>
            <a:off x="822960" y="29032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Zama Suite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7F75CDC-D0D1-75B0-5B7C-35374A2AF59D}"/>
              </a:ext>
            </a:extLst>
          </p:cNvPr>
          <p:cNvSpPr/>
          <p:nvPr/>
        </p:nvSpPr>
        <p:spPr>
          <a:xfrm>
            <a:off x="822960" y="31958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TFHE + Nexus + ZHEnith 통합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AC5F93B-26C6-99D7-D5F2-71A7DDCEB3DC}"/>
              </a:ext>
            </a:extLst>
          </p:cNvPr>
          <p:cNvSpPr/>
          <p:nvPr/>
        </p:nvSpPr>
        <p:spPr>
          <a:xfrm>
            <a:off x="6172200" y="2003106"/>
            <a:ext cx="5440680" cy="16773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3699DEA-0A88-988C-C347-30E466B22049}"/>
              </a:ext>
            </a:extLst>
          </p:cNvPr>
          <p:cNvSpPr/>
          <p:nvPr/>
        </p:nvSpPr>
        <p:spPr>
          <a:xfrm>
            <a:off x="6446520" y="20999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Threshold KEM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113CC6FC-8427-9101-646D-3B30463B3BC8}"/>
              </a:ext>
            </a:extLst>
          </p:cNvPr>
          <p:cNvSpPr/>
          <p:nvPr/>
        </p:nvSpPr>
        <p:spPr>
          <a:xfrm>
            <a:off x="6446520" y="2898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Amber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D8C3D883-B8F2-6FE3-FC0E-F72AE7649140}"/>
              </a:ext>
            </a:extLst>
          </p:cNvPr>
          <p:cNvSpPr/>
          <p:nvPr/>
        </p:nvSpPr>
        <p:spPr>
          <a:xfrm>
            <a:off x="6446520" y="31912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격자 기반 Threshold KEM</a:t>
            </a: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8CA7B7ED-D752-F1B1-4A79-EC26B13B4842}"/>
              </a:ext>
            </a:extLst>
          </p:cNvPr>
          <p:cNvSpPr/>
          <p:nvPr/>
        </p:nvSpPr>
        <p:spPr>
          <a:xfrm>
            <a:off x="6446520" y="29032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8BDCC43-F0F6-4C29-A9A4-E36E5EF29E30}"/>
              </a:ext>
            </a:extLst>
          </p:cNvPr>
          <p:cNvSpPr/>
          <p:nvPr/>
        </p:nvSpPr>
        <p:spPr>
          <a:xfrm>
            <a:off x="548640" y="3907344"/>
            <a:ext cx="5440680" cy="16773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FF6E63DE-4D21-1975-8002-4DA77F785FD2}"/>
              </a:ext>
            </a:extLst>
          </p:cNvPr>
          <p:cNvSpPr/>
          <p:nvPr/>
        </p:nvSpPr>
        <p:spPr>
          <a:xfrm>
            <a:off x="822960" y="4002215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Zero-Knowledge Proof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C233B715-F522-7852-9846-3E892E0F7B79}"/>
              </a:ext>
            </a:extLst>
          </p:cNvPr>
          <p:cNvSpPr/>
          <p:nvPr/>
        </p:nvSpPr>
        <p:spPr>
          <a:xfrm>
            <a:off x="3337560" y="47777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Schmivitz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CE1D856E-5EFC-C22E-E264-6EA283E4DA8E}"/>
              </a:ext>
            </a:extLst>
          </p:cNvPr>
          <p:cNvSpPr/>
          <p:nvPr/>
        </p:nvSpPr>
        <p:spPr>
          <a:xfrm>
            <a:off x="3337560" y="50703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VOLE-in-the-Head 방식</a:t>
            </a: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D4BA3386-F491-51FD-CB1C-C413F698F1B6}"/>
              </a:ext>
            </a:extLst>
          </p:cNvPr>
          <p:cNvSpPr/>
          <p:nvPr/>
        </p:nvSpPr>
        <p:spPr>
          <a:xfrm>
            <a:off x="822960" y="47777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SmallWood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8ECDC587-567E-6327-370A-0D4FC78F7411}"/>
              </a:ext>
            </a:extLst>
          </p:cNvPr>
          <p:cNvSpPr/>
          <p:nvPr/>
        </p:nvSpPr>
        <p:spPr>
          <a:xfrm>
            <a:off x="822960" y="50703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해시 기반 ZKPoK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C61EA0FE-02C2-EF26-E0C9-D8C4C264197E}"/>
              </a:ext>
            </a:extLst>
          </p:cNvPr>
          <p:cNvSpPr/>
          <p:nvPr/>
        </p:nvSpPr>
        <p:spPr>
          <a:xfrm>
            <a:off x="6172200" y="3877626"/>
            <a:ext cx="5440680" cy="16773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F998627E-03E1-AB8A-B4B6-F647052199E0}"/>
              </a:ext>
            </a:extLst>
          </p:cNvPr>
          <p:cNvSpPr/>
          <p:nvPr/>
        </p:nvSpPr>
        <p:spPr>
          <a:xfrm>
            <a:off x="6446520" y="4002215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VSS · MPC Gadgets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C22B6FBA-8A29-C4A2-1D96-1707E06AB915}"/>
              </a:ext>
            </a:extLst>
          </p:cNvPr>
          <p:cNvSpPr/>
          <p:nvPr/>
        </p:nvSpPr>
        <p:spPr>
          <a:xfrm>
            <a:off x="8961120" y="47777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PiVer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A46A536B-4BFE-CD71-9E9F-33B3E076ADB7}"/>
              </a:ext>
            </a:extLst>
          </p:cNvPr>
          <p:cNvSpPr/>
          <p:nvPr/>
        </p:nvSpPr>
        <p:spPr>
          <a:xfrm>
            <a:off x="8961120" y="50703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 가능 비밀 분산 (VSS)</a:t>
            </a: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6117E07B-2A60-3977-B059-68051BEF0743}"/>
              </a:ext>
            </a:extLst>
          </p:cNvPr>
          <p:cNvSpPr/>
          <p:nvPr/>
        </p:nvSpPr>
        <p:spPr>
          <a:xfrm>
            <a:off x="6446520" y="47777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MiniMPC, Symphony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892441CA-1592-F7AC-E195-42F87317F7C8}"/>
              </a:ext>
            </a:extLst>
          </p:cNvPr>
          <p:cNvSpPr/>
          <p:nvPr/>
        </p:nvSpPr>
        <p:spPr>
          <a:xfrm>
            <a:off x="6446520" y="50703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OT/Garbling 기반 MPC</a:t>
            </a: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67AE564B-A6C6-18B1-6B5F-300E8A3A5CC6}"/>
              </a:ext>
            </a:extLst>
          </p:cNvPr>
          <p:cNvSpPr/>
          <p:nvPr/>
        </p:nvSpPr>
        <p:spPr>
          <a:xfrm>
            <a:off x="822960" y="197281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DDF0047A-2E1A-D68E-5720-9C8690144A0A}"/>
              </a:ext>
            </a:extLst>
          </p:cNvPr>
          <p:cNvSpPr/>
          <p:nvPr/>
        </p:nvSpPr>
        <p:spPr>
          <a:xfrm>
            <a:off x="822960" y="25068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데이터를 암호화된 상태 그대로 연산할 수 있게 해주는 동형암호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F2945C58-4F5C-C9AB-20A6-55CC493B4392}"/>
              </a:ext>
            </a:extLst>
          </p:cNvPr>
          <p:cNvSpPr/>
          <p:nvPr/>
        </p:nvSpPr>
        <p:spPr>
          <a:xfrm>
            <a:off x="6446520" y="25068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안전한 통신 세션을 만들 때 필요한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KEM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C170EFFC-75DF-F5D3-BB21-FA654BDFE0F8}"/>
              </a:ext>
            </a:extLst>
          </p:cNvPr>
          <p:cNvSpPr/>
          <p:nvPr/>
        </p:nvSpPr>
        <p:spPr>
          <a:xfrm>
            <a:off x="822960" y="4409123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비밀을 노출하지 않고 사실만 증명하는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영지식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증명 기술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C03E3BBA-D5C7-1C17-85F6-AD8A45E121DB}"/>
              </a:ext>
            </a:extLst>
          </p:cNvPr>
          <p:cNvSpPr/>
          <p:nvPr/>
        </p:nvSpPr>
        <p:spPr>
          <a:xfrm>
            <a:off x="6446520" y="4409123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임계 암호 시스템을 만들 때 보조적인 역할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4789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7BDA7-56A5-B8AC-1760-711D6E65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3EB14-6A63-094B-1212-E0C334CA1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</a:t>
            </a:r>
            <a:r>
              <a:rPr kumimoji="1" lang="ko-KR" altLang="en-US" dirty="0"/>
              <a:t>세 가지 핵심 동향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070D30-9569-B048-80C5-9138E663FC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기존 검증기와의 호환성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기존 </a:t>
            </a:r>
            <a:r>
              <a:rPr kumimoji="1" lang="en-US" altLang="ko-KR" dirty="0"/>
              <a:t>PKI </a:t>
            </a:r>
            <a:r>
              <a:rPr kumimoji="1" lang="ko-KR" altLang="en-US" dirty="0"/>
              <a:t>인프라나 블록체인 네트워크를 교체하지 않고도 임계 암호를 도입할 수 있음을 의미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대표적으로  </a:t>
            </a:r>
            <a:r>
              <a:rPr kumimoji="1" lang="en-US" altLang="ko-KR" dirty="0"/>
              <a:t>FROST/</a:t>
            </a:r>
            <a:r>
              <a:rPr kumimoji="1" lang="en-US" altLang="ko-KR" dirty="0" err="1"/>
              <a:t>Gargos</a:t>
            </a:r>
            <a:r>
              <a:rPr kumimoji="1" lang="ko-KR" altLang="en-US" dirty="0"/>
              <a:t>가 </a:t>
            </a:r>
            <a:r>
              <a:rPr kumimoji="1" lang="en-US" altLang="ko-KR" dirty="0" err="1"/>
              <a:t>EdDSA</a:t>
            </a:r>
            <a:r>
              <a:rPr kumimoji="1" lang="en-US" altLang="ko-KR" dirty="0"/>
              <a:t> Verify</a:t>
            </a:r>
            <a:r>
              <a:rPr kumimoji="1" lang="ko-KR" altLang="en-US" dirty="0"/>
              <a:t>가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B089B9-C348-7CE4-5C61-06927338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A642AD6-E738-6E3E-4B36-8C4E89BF5FDD}"/>
              </a:ext>
            </a:extLst>
          </p:cNvPr>
          <p:cNvSpPr/>
          <p:nvPr/>
        </p:nvSpPr>
        <p:spPr>
          <a:xfrm>
            <a:off x="640080" y="2623948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376CB53-DEAF-37DA-3B18-1F805833BB12}"/>
              </a:ext>
            </a:extLst>
          </p:cNvPr>
          <p:cNvSpPr/>
          <p:nvPr/>
        </p:nvSpPr>
        <p:spPr>
          <a:xfrm>
            <a:off x="640080" y="26239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임계 방식으로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생성한 서명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97AD28F-014F-CB8B-85A3-D3F0F50DFD60}"/>
              </a:ext>
            </a:extLst>
          </p:cNvPr>
          <p:cNvSpPr/>
          <p:nvPr/>
        </p:nvSpPr>
        <p:spPr>
          <a:xfrm>
            <a:off x="3931920" y="3081148"/>
            <a:ext cx="457200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DB2153C-123A-AEEA-EB45-B92981456210}"/>
              </a:ext>
            </a:extLst>
          </p:cNvPr>
          <p:cNvSpPr/>
          <p:nvPr/>
        </p:nvSpPr>
        <p:spPr>
          <a:xfrm>
            <a:off x="4480560" y="2623948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6366373-C54B-61A8-A950-BE1A5EE15907}"/>
              </a:ext>
            </a:extLst>
          </p:cNvPr>
          <p:cNvSpPr/>
          <p:nvPr/>
        </p:nvSpPr>
        <p:spPr>
          <a:xfrm>
            <a:off x="4480560" y="26239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표준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검증·복호화 알고리즘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7AE14BB-B03A-7700-1A3E-A87608F0CCFE}"/>
              </a:ext>
            </a:extLst>
          </p:cNvPr>
          <p:cNvSpPr/>
          <p:nvPr/>
        </p:nvSpPr>
        <p:spPr>
          <a:xfrm>
            <a:off x="7772400" y="3081148"/>
            <a:ext cx="457200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A12EA00-ADAE-9429-ED29-62524DA9A65D}"/>
              </a:ext>
            </a:extLst>
          </p:cNvPr>
          <p:cNvSpPr/>
          <p:nvPr/>
        </p:nvSpPr>
        <p:spPr>
          <a:xfrm>
            <a:off x="8321040" y="2623948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26A6D4B-AC2D-BDB9-DA3F-B72DEC4A4D4C}"/>
              </a:ext>
            </a:extLst>
          </p:cNvPr>
          <p:cNvSpPr/>
          <p:nvPr/>
        </p:nvSpPr>
        <p:spPr>
          <a:xfrm>
            <a:off x="8321040" y="26239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 가능</a:t>
            </a:r>
            <a:r>
              <a:rPr lang="en-US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✓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234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245A-F811-6407-B511-BBAE688B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8F400-3BE4-67B2-50F5-A61C1C7EC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5. </a:t>
            </a:r>
            <a:r>
              <a:rPr kumimoji="1" lang="ko-KR" altLang="en-US" dirty="0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DB299-9933-122B-708D-85C661E0D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en-US" altLang="ko-KR" dirty="0"/>
              <a:t>26</a:t>
            </a:r>
            <a:r>
              <a:rPr kumimoji="1" lang="ko-KR" altLang="en-US" dirty="0"/>
              <a:t>건 중 </a:t>
            </a:r>
            <a:r>
              <a:rPr kumimoji="1" lang="en-US" altLang="ko-KR" dirty="0"/>
              <a:t>18</a:t>
            </a:r>
            <a:r>
              <a:rPr kumimoji="1" lang="ko-KR" altLang="en-US" dirty="0"/>
              <a:t>건이 서명 계열이며 그 중 절반 이상이 </a:t>
            </a:r>
            <a:r>
              <a:rPr kumimoji="1" lang="en-US" altLang="ko-KR" dirty="0"/>
              <a:t>PQ </a:t>
            </a:r>
            <a:r>
              <a:rPr kumimoji="1" lang="ko-KR" altLang="en-US" dirty="0"/>
              <a:t>기반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임계 암호 연구에서도 </a:t>
            </a:r>
            <a:r>
              <a:rPr kumimoji="1" lang="ko-KR" altLang="en-US" dirty="0" err="1"/>
              <a:t>양자내성</a:t>
            </a:r>
            <a:r>
              <a:rPr kumimoji="1" lang="ko-KR" altLang="en-US" dirty="0"/>
              <a:t> 환경에 중점을 두고 있음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r>
              <a:rPr kumimoji="1" lang="ko-KR" altLang="en-US" dirty="0"/>
              <a:t>분산 암호 인프라 축적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FHE, KEM, ZKP, VSS, MPC </a:t>
            </a:r>
            <a:r>
              <a:rPr kumimoji="1" lang="en-US" altLang="ko-KR" dirty="0" err="1"/>
              <a:t>gdgets</a:t>
            </a:r>
            <a:r>
              <a:rPr kumimoji="1" lang="ko-KR" altLang="en-US" dirty="0"/>
              <a:t>까지 폭넓은 참조 자료의 공개 축적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r>
              <a:rPr kumimoji="1" lang="ko-KR" altLang="en-US" dirty="0"/>
              <a:t>호환성 중심 설계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기존 검증기를 그대로 사용할 수 있음은 인프라 교체 없이 임계 암호의 도입 가능을 의미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실용성과 표준화 가능성을 동시에 만족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r>
              <a:rPr kumimoji="1" lang="en-US" altLang="ko-KR" dirty="0"/>
              <a:t>3</a:t>
            </a:r>
            <a:r>
              <a:rPr kumimoji="1" lang="ko-KR" altLang="en-US" dirty="0"/>
              <a:t>차 </a:t>
            </a:r>
            <a:r>
              <a:rPr kumimoji="1" lang="en-US" altLang="ko-KR" dirty="0"/>
              <a:t>Preview</a:t>
            </a:r>
            <a:r>
              <a:rPr kumimoji="1" lang="ko-KR" altLang="en-US" dirty="0"/>
              <a:t>까지 진행하며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많은 참조 자료의 공모와 커뮤니케이션을 통한 임계 암호의 발전이 </a:t>
            </a:r>
            <a:br>
              <a:rPr kumimoji="1" lang="en-US" altLang="ko-KR" dirty="0"/>
            </a:br>
            <a:r>
              <a:rPr kumimoji="1" lang="ko-KR" altLang="en-US" dirty="0"/>
              <a:t>기대됨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9B9AF-C39E-C25B-1484-92550C113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571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27E4-64A5-A6F8-D58D-519B4B5E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24C7CCF-B804-FD41-3F51-87A788AFE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496" y="2819497"/>
            <a:ext cx="11077007" cy="1403253"/>
          </a:xfrm>
        </p:spPr>
        <p:txBody>
          <a:bodyPr/>
          <a:lstStyle/>
          <a:p>
            <a:r>
              <a:rPr lang="ko-KR" altLang="en-US" dirty="0"/>
              <a:t>감 사 합 </a:t>
            </a:r>
            <a:r>
              <a:rPr lang="ko-KR" altLang="en-US" dirty="0" err="1"/>
              <a:t>니</a:t>
            </a:r>
            <a:r>
              <a:rPr lang="ko-KR" altLang="en-US" dirty="0"/>
              <a:t> 다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CEDFA20E-B409-6B36-169B-4BB00AEFA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7496" y="416628"/>
            <a:ext cx="4996422" cy="376774"/>
          </a:xfrm>
        </p:spPr>
        <p:txBody>
          <a:bodyPr/>
          <a:lstStyle/>
          <a:p>
            <a:r>
              <a:rPr kumimoji="1" lang="en-US" altLang="ko-KR" dirty="0"/>
              <a:t>2026</a:t>
            </a:r>
            <a:r>
              <a:rPr kumimoji="1" lang="ko-KR" altLang="en-US" dirty="0"/>
              <a:t>년 한국정보보호학회 하계학술대회 </a:t>
            </a:r>
            <a:r>
              <a:rPr kumimoji="1" lang="en-US" altLang="ko-KR" dirty="0"/>
              <a:t>CISC-S’26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61208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</TotalTime>
  <Words>946</Words>
  <Application>Microsoft Office PowerPoint</Application>
  <PresentationFormat>와이드스크린</PresentationFormat>
  <Paragraphs>255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Pretendard</vt:lpstr>
      <vt:lpstr>맑은 고딕</vt:lpstr>
      <vt:lpstr>맑은 고딕</vt:lpstr>
      <vt:lpstr>Arial</vt:lpstr>
      <vt:lpstr>Cambria Math</vt:lpstr>
      <vt:lpstr>Wingdings</vt:lpstr>
      <vt:lpstr>디자인 사용자 지정</vt:lpstr>
      <vt:lpstr>1_디자인 사용자 지정</vt:lpstr>
      <vt:lpstr>3_디자인 사용자 지정</vt:lpstr>
      <vt:lpstr>NIST Threshold Call 기반 다자간 임계 암호 동향 분석</vt:lpstr>
      <vt:lpstr>발표 개요</vt:lpstr>
      <vt:lpstr>1. 임계 암호의 개념</vt:lpstr>
      <vt:lpstr>1. 임계 암호의 개념</vt:lpstr>
      <vt:lpstr>1. 임계 암호의 개념 – 비밀 분산 (Secret Sharing)</vt:lpstr>
      <vt:lpstr>1. 임계 암호의 개념 – 분산 키 생성과 호환성</vt:lpstr>
      <vt:lpstr>2. NIST Threshold Call 구조</vt:lpstr>
      <vt:lpstr>2. NIST Threshold Call 구조 – 공모 범위 Class N과 Class S</vt:lpstr>
      <vt:lpstr>3. 1차 Preview 라운드</vt:lpstr>
      <vt:lpstr>4. 세 가지 핵심 동향</vt:lpstr>
      <vt:lpstr>4. 세 가지 핵심 동향</vt:lpstr>
      <vt:lpstr>4. 세 가지 핵심 동향</vt:lpstr>
      <vt:lpstr>5. 결론</vt:lpstr>
      <vt:lpstr>감 사 합 니 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엄시우</dc:creator>
  <cp:lastModifiedBy>SiWoo Eum</cp:lastModifiedBy>
  <cp:revision>44</cp:revision>
  <dcterms:created xsi:type="dcterms:W3CDTF">2025-12-25T07:35:51Z</dcterms:created>
  <dcterms:modified xsi:type="dcterms:W3CDTF">2026-05-03T17:39:43Z</dcterms:modified>
</cp:coreProperties>
</file>