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4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9" r:id="rId4"/>
    <p:sldId id="260" r:id="rId5"/>
    <p:sldId id="265" r:id="rId6"/>
    <p:sldId id="264" r:id="rId7"/>
    <p:sldId id="266" r:id="rId8"/>
    <p:sldId id="268" r:id="rId9"/>
    <p:sldId id="267" r:id="rId10"/>
    <p:sldId id="269" r:id="rId11"/>
    <p:sldId id="275" r:id="rId12"/>
    <p:sldId id="279" r:id="rId13"/>
    <p:sldId id="280" r:id="rId14"/>
    <p:sldId id="274" r:id="rId15"/>
    <p:sldId id="276" r:id="rId16"/>
    <p:sldId id="263" r:id="rId17"/>
    <p:sldId id="282" r:id="rId18"/>
    <p:sldId id="284" r:id="rId19"/>
    <p:sldId id="287" r:id="rId20"/>
    <p:sldId id="285" r:id="rId21"/>
    <p:sldId id="288" r:id="rId22"/>
    <p:sldId id="283" r:id="rId23"/>
    <p:sldId id="281" r:id="rId24"/>
    <p:sldId id="258" r:id="rId25"/>
  </p:sldIdLst>
  <p:sldSz cx="12192000" cy="6858000"/>
  <p:notesSz cx="6858000" cy="9144000"/>
  <p:embeddedFontLst>
    <p:embeddedFont>
      <p:font typeface="맑은 고딕" panose="020B0503020000020004" pitchFamily="34" charset="-127"/>
      <p:regular r:id="rId28"/>
      <p:bold r:id="rId29"/>
    </p:embeddedFont>
    <p:embeddedFont>
      <p:font typeface="Cambria Math" panose="02040503050406030204" pitchFamily="18" charset="0"/>
      <p:regular r:id="rId30"/>
    </p:embeddedFont>
    <p:embeddedFont>
      <p:font typeface="G마켓 산스 Medium" panose="02000000000000000000" pitchFamily="2" charset="-128"/>
      <p:regular r:id="rId31"/>
    </p:embeddedFont>
    <p:embeddedFont>
      <p:font typeface="Gmarket Sans Medium" panose="02000000000000000000" pitchFamily="2" charset="-128"/>
      <p:regular r:id="rId32"/>
    </p:embeddedFont>
    <p:embeddedFont>
      <p:font typeface="Pretendard JP" panose="02000503000000020004" pitchFamily="2" charset="-128"/>
      <p:regular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7" autoAdjust="0"/>
    <p:restoredTop sz="88915" autoAdjust="0"/>
  </p:normalViewPr>
  <p:slideViewPr>
    <p:cSldViewPr snapToGrid="0">
      <p:cViewPr varScale="1">
        <p:scale>
          <a:sx n="98" d="100"/>
          <a:sy n="98" d="100"/>
        </p:scale>
        <p:origin x="122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6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64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13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820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918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896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541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159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3F31-9717-DBED-63E0-49825615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110A92-E3C6-1D98-71BA-744EAE68B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A5B6AC-706A-163C-EE7A-CF6DD6BE1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9CDF2-3F3F-FFF7-F8BA-C87720FA1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756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982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" panose="02000503000000020004" pitchFamily="2" charset="-128"/>
              <a:ea typeface="Pretendard JP" panose="02000503000000020004" pitchFamily="2" charset="-128"/>
              <a:cs typeface="Pretendard JP" panose="02000503000000020004" pitchFamily="2" charset="-128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411163" y="1152525"/>
            <a:ext cx="11369675" cy="505777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>
              <a:lnSpc>
                <a:spcPct val="100000"/>
              </a:lnSpc>
              <a:defRPr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>
              <a:lnSpc>
                <a:spcPct val="100000"/>
              </a:lnSpc>
              <a:defRPr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  <a:lvl4pPr>
              <a:lnSpc>
                <a:spcPct val="100000"/>
              </a:lnSpc>
              <a:defRPr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4pPr>
            <a:lvl5pPr>
              <a:lnSpc>
                <a:spcPct val="100000"/>
              </a:lnSpc>
              <a:defRPr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" panose="02000503000000020004" pitchFamily="2" charset="-128"/>
              <a:ea typeface="Pretendard JP" panose="02000503000000020004" pitchFamily="2" charset="-128"/>
              <a:cs typeface="Pretendard JP" panose="02000503000000020004" pitchFamily="2" charset="-128"/>
            </a:endParaRPr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" panose="02000503000000020004" pitchFamily="2" charset="-128"/>
              <a:ea typeface="Pretendard JP" panose="02000503000000020004" pitchFamily="2" charset="-128"/>
              <a:cs typeface="Pretendard JP" panose="02000503000000020004" pitchFamily="2" charset="-128"/>
            </a:endParaRPr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" panose="02000503000000020004" pitchFamily="2" charset="-128"/>
              <a:ea typeface="Pretendard JP" panose="02000503000000020004" pitchFamily="2" charset="-128"/>
              <a:cs typeface="Pretendard JP" panose="02000503000000020004" pitchFamily="2" charset="-128"/>
            </a:endParaRPr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" panose="02000503000000020004" pitchFamily="2" charset="-128"/>
              <a:ea typeface="Pretendard JP" panose="02000503000000020004" pitchFamily="2" charset="-128"/>
              <a:cs typeface="Pretendard JP" panose="020005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8000" dirty="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rPr>
              <a:t>감 사 합 </a:t>
            </a:r>
            <a:r>
              <a:rPr lang="ko-KR" altLang="en-US" sz="8000" dirty="0" err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rPr>
              <a:t>니</a:t>
            </a:r>
            <a:r>
              <a:rPr lang="ko-KR" altLang="en-US" sz="8000" dirty="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rPr>
              <a:t> 다</a:t>
            </a: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0" r:id="rId2"/>
    <p:sldLayoutId id="2147483666" r:id="rId3"/>
    <p:sldLayoutId id="2147483669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JP" panose="02000503000000020004" pitchFamily="2" charset="-128"/>
          <a:ea typeface="Pretendard JP" panose="02000503000000020004" pitchFamily="2" charset="-128"/>
          <a:cs typeface="Pretendard JP" panose="02000503000000020004" pitchFamily="2" charset="-128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JP" panose="02000503000000020004" pitchFamily="2" charset="-128"/>
          <a:ea typeface="Pretendard JP" panose="02000503000000020004" pitchFamily="2" charset="-128"/>
          <a:cs typeface="Pretendard JP" panose="02000503000000020004" pitchFamily="2" charset="-128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JP" panose="02000503000000020004" pitchFamily="2" charset="-128"/>
          <a:ea typeface="Pretendard JP" panose="02000503000000020004" pitchFamily="2" charset="-128"/>
          <a:cs typeface="Pretendard JP" panose="02000503000000020004" pitchFamily="2" charset="-128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JP" panose="02000503000000020004" pitchFamily="2" charset="-128"/>
          <a:ea typeface="Pretendard JP" panose="02000503000000020004" pitchFamily="2" charset="-128"/>
          <a:cs typeface="Pretendard JP" panose="02000503000000020004" pitchFamily="2" charset="-128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JP" panose="02000503000000020004" pitchFamily="2" charset="-128"/>
          <a:ea typeface="Pretendard JP" panose="02000503000000020004" pitchFamily="2" charset="-128"/>
          <a:cs typeface="Pretendard JP" panose="02000503000000020004" pitchFamily="2" charset="-128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JP" panose="02000503000000020004" pitchFamily="2" charset="-128"/>
          <a:ea typeface="Pretendard JP" panose="02000503000000020004" pitchFamily="2" charset="-128"/>
          <a:cs typeface="Pretendard JP" panose="02000503000000020004" pitchFamily="2" charset="-128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vuhjjYitJ4" TargetMode="External"/><Relationship Id="rId2" Type="http://schemas.openxmlformats.org/officeDocument/2006/relationships/hyperlink" Target="https://youtu.be/-Z5PA5ZdjJ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print.iacr.org/2017/259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alb/dg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lb/dgs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2.png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openfheorg/openfhe-developmen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C9A07-722F-CF9D-7879-858345F7C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Polynomial Ring </a:t>
            </a:r>
            <a:r>
              <a:rPr kumimoji="1" lang="ko-KR" altLang="en-US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  <a:r>
              <a:rPr kumimoji="1" lang="en-US" altLang="ko-KR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ko-KR" altLang="en-US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및</a:t>
            </a:r>
            <a:br>
              <a:rPr kumimoji="1" lang="en-US" altLang="ko-KR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kumimoji="1" lang="en-US" altLang="ko-KR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Discrete Gaussian </a:t>
            </a:r>
            <a:r>
              <a:rPr kumimoji="1" lang="ko-KR" altLang="en-US" sz="5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86A9AD-7C0F-5F6F-FC58-F9606B7DE7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2"/>
              </a:rPr>
              <a:t>https://youtu.be/-Z5PA5ZdjJk</a:t>
            </a:r>
            <a:br>
              <a:rPr kumimoji="1" lang="en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kumimoji="1" lang="en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3"/>
              </a:rPr>
              <a:t>https://youtu.be</a:t>
            </a:r>
            <a:r>
              <a:rPr kumimoji="1" lang="en" altLang="ko-KR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3"/>
              </a:rPr>
              <a:t>/dvuhjjYitJ4</a:t>
            </a:r>
            <a:endParaRPr kumimoji="1" lang="en" altLang="ko-KR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21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4795A-DE2A-6D51-E0D1-AFFF7148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1.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한성대학교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To Do list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20D818-BBFE-F671-CBF0-AF4CB72C9C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Polynomial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Ring Dim = 256</a:t>
            </a: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 &gt; 2</a:t>
            </a:r>
            <a:r>
              <a:rPr kumimoji="1" lang="en-US" altLang="ko-KR" baseline="30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 in NTT friendly</a:t>
            </a:r>
          </a:p>
          <a:p>
            <a:pPr lvl="1"/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Discrete Gaussian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구현을 위한 관련 연구 및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Github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파악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Constant time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적용 여부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및 성능 저하 분석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Sampler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구현을 위해서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convolution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기반의 구현 방법을 후보로 생각중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논문 제목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Gaussian Sampling over the Integers: Efficient, Generic, Constant-time</a:t>
            </a:r>
          </a:p>
          <a:p>
            <a:pPr lvl="2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link: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3"/>
              </a:rPr>
              <a:t>https://eprint.iacr.org/2017/259.pdf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github: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4"/>
              </a:rPr>
              <a:t>https://github.com/malb/dgs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525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39B-287F-E40A-A42A-943A7BED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DABAB-684C-D729-BE63-1CC6E224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91A19D5A-237C-FBDB-1312-77A0BF4518CA}"/>
              </a:ext>
            </a:extLst>
          </p:cNvPr>
          <p:cNvSpPr/>
          <p:nvPr/>
        </p:nvSpPr>
        <p:spPr>
          <a:xfrm>
            <a:off x="3936171" y="3921173"/>
            <a:ext cx="357258" cy="2442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35CDB2C-D6F7-DAFF-D239-9AB89E0F1A9F}"/>
              </a:ext>
            </a:extLst>
          </p:cNvPr>
          <p:cNvSpPr/>
          <p:nvPr/>
        </p:nvSpPr>
        <p:spPr>
          <a:xfrm>
            <a:off x="7898571" y="3921173"/>
            <a:ext cx="357258" cy="2442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1CC93C-9D9F-C160-8938-2C6E1431A457}"/>
              </a:ext>
            </a:extLst>
          </p:cNvPr>
          <p:cNvSpPr/>
          <p:nvPr/>
        </p:nvSpPr>
        <p:spPr>
          <a:xfrm>
            <a:off x="411920" y="1795514"/>
            <a:ext cx="3443360" cy="831030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1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단계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프로토타입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(Python)</a:t>
            </a: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72A966-2961-AF76-2EBC-C05E82F9EFC3}"/>
              </a:ext>
            </a:extLst>
          </p:cNvPr>
          <p:cNvSpPr/>
          <p:nvPr/>
        </p:nvSpPr>
        <p:spPr>
          <a:xfrm>
            <a:off x="4374320" y="1799975"/>
            <a:ext cx="3443360" cy="831030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단계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레벨 이식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(C, u128)</a:t>
            </a: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90CD7D-10EB-89BC-3DC4-6A04BE28F413}"/>
              </a:ext>
            </a:extLst>
          </p:cNvPr>
          <p:cNvSpPr/>
          <p:nvPr/>
        </p:nvSpPr>
        <p:spPr>
          <a:xfrm>
            <a:off x="8336720" y="1799975"/>
            <a:ext cx="3443360" cy="831030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단계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최적화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(NTT)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7D0B6D-21E4-E3C3-E6AD-35C682F04E93}"/>
              </a:ext>
            </a:extLst>
          </p:cNvPr>
          <p:cNvSpPr/>
          <p:nvPr/>
        </p:nvSpPr>
        <p:spPr>
          <a:xfrm>
            <a:off x="411920" y="2626543"/>
            <a:ext cx="3443360" cy="3397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목표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정확성</a:t>
            </a: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가능성 검증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검증용 </a:t>
            </a: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Schoolbook 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 &gt; 2</a:t>
            </a:r>
            <a:r>
              <a:rPr lang="en-US" altLang="ko-KR" sz="1600" baseline="300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에서의 </a:t>
            </a: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NTT 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동작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검증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NTT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round-</a:t>
            </a:r>
            <a:r>
              <a:rPr lang="en-US" altLang="ko-KR" sz="1600" dirty="0" err="1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tirp</a:t>
            </a: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검증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Schoolbook == NTT Mult ?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F6A255-17CD-8F48-D513-CBC824FFDA82}"/>
              </a:ext>
            </a:extLst>
          </p:cNvPr>
          <p:cNvSpPr/>
          <p:nvPr/>
        </p:nvSpPr>
        <p:spPr>
          <a:xfrm>
            <a:off x="4374320" y="2626543"/>
            <a:ext cx="3443360" cy="3397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목표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u128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자료형 구현 확인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__uint128_t 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산술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Barrett / Montgomery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모듈 분리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검증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Python 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프로토타입과 값 비교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Schoolbook == NTT Mult ?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41C223-258E-530E-D8C0-EC80D41AE30E}"/>
              </a:ext>
            </a:extLst>
          </p:cNvPr>
          <p:cNvSpPr/>
          <p:nvPr/>
        </p:nvSpPr>
        <p:spPr>
          <a:xfrm>
            <a:off x="8336720" y="2626542"/>
            <a:ext cx="3443360" cy="3397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목표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성능 향상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  <a:endParaRPr lang="en-US" altLang="ko-KR" sz="1600" b="1" dirty="0">
              <a:solidFill>
                <a:schemeClr val="accent4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사전연산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Lazy reduction + Radix-4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Forward full-lazy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검증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</a:t>
            </a:r>
            <a:r>
              <a: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단계 구현과 결과 및 성능 비교</a:t>
            </a:r>
            <a:endParaRPr lang="en-US" altLang="ko-KR" sz="16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694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5A45-6B93-9A20-7FA9-4BD149F3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EDA36-8E63-7BF5-480F-B3C6F837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3048483-8CDA-D40D-962C-FEE808E52AC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266092"/>
                <a:ext cx="11369675" cy="5384162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v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q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조건 검증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</a:p>
              <a:p>
                <a:pPr marL="971550" lvl="1" indent="-514350">
                  <a:buFont typeface="+mj-ea"/>
                  <a:buAutoNum type="circleNumDbPlain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𝑞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&gt;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64</m:t>
                        </m:r>
                      </m:sup>
                    </m:sSup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구현 목표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71550" lvl="1" indent="-514350">
                  <a:buFont typeface="+mj-ea"/>
                  <a:buAutoNum type="circleNumDbPlain"/>
                </a:pPr>
                <a:r>
                  <a:rPr kumimoji="1" lang="ko-KR" altLang="en-US" dirty="0">
                    <a:ea typeface="G마켓 산스 Medium" panose="02000000000000000000" pitchFamily="50" charset="-12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𝑞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−1</m:t>
                        </m:r>
                      </m:e>
                    </m:d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𝑚𝑜𝑑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2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𝑁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0</m:t>
                    </m:r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NTT friendly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조건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endParaRPr kumimoji="1" lang="en-US" altLang="ko-KR" b="0" i="1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>
                  <a:buFont typeface="Wingdings" pitchFamily="2" charset="2"/>
                  <a:buChar char="v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NTT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조건 검증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kumimoji="1" lang="en-US" altLang="ko-KR" b="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ko-KR" altLang="en-US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𝜓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𝑁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𝜓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primitive 2N-th root of unity</a:t>
                </a:r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ko-KR" altLang="en-US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𝜔</m:t>
                        </m:r>
                      </m:e>
                      <m:sup>
                        <m:f>
                          <m:f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마켓 산스 Medium" panose="02000000000000000000" pitchFamily="50" charset="-127"/>
                              </a:rPr>
                            </m:ctrlPr>
                          </m:fPr>
                          <m:num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마켓 산스 Medium" panose="02000000000000000000" pitchFamily="50" charset="-127"/>
                              </a:rPr>
                              <m:t>𝑁</m:t>
                            </m:r>
                          </m:num>
                          <m:den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마켓 산스 Medium" panose="02000000000000000000" pitchFamily="50" charset="-127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𝜔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primitive N-</a:t>
                </a:r>
                <a:r>
                  <a:rPr kumimoji="1" lang="en-US" altLang="ko-KR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th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root of unity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ko-KR" altLang="en-US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𝜓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𝜔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)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라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서 ①이 만족하면 같이 자동 통과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3048483-8CDA-D40D-962C-FEE808E52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266092"/>
                <a:ext cx="11369675" cy="5384162"/>
              </a:xfrm>
              <a:blipFill>
                <a:blip r:embed="rId2"/>
                <a:stretch>
                  <a:fillRect l="-911" t="-20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24CE5F5-5AEA-C55A-6CF3-3378429F1827}"/>
              </a:ext>
            </a:extLst>
          </p:cNvPr>
          <p:cNvSpPr txBox="1"/>
          <p:nvPr/>
        </p:nvSpPr>
        <p:spPr>
          <a:xfrm>
            <a:off x="8674751" y="5874831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JP" panose="02000503000000020004" pitchFamily="2" charset="-128"/>
              </a:rPr>
              <a:t>최대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JP" panose="02000503000000020004" pitchFamily="2" charset="-128"/>
              </a:rPr>
              <a:t>q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JP" panose="02000503000000020004" pitchFamily="2" charset="-128"/>
              </a:rPr>
              <a:t>는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JP" panose="02000503000000020004" pitchFamily="2" charset="-128"/>
              </a:rPr>
              <a:t>2</a:t>
            </a:r>
            <a:r>
              <a:rPr kumimoji="1" lang="en-US" altLang="ko-KR" baseline="300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JP" panose="02000503000000020004" pitchFamily="2" charset="-128"/>
              </a:rPr>
              <a:t>81</a:t>
            </a:r>
            <a:endParaRPr kumimoji="1" lang="ko-KR" altLang="en-US" baseline="30000" dirty="0" err="1">
              <a:latin typeface="Gmarket Sans Medium" panose="02000000000000000000" pitchFamily="2" charset="-128"/>
              <a:ea typeface="Gmarket Sans Medium" panose="02000000000000000000" pitchFamily="2" charset="-128"/>
              <a:cs typeface="Pretendard JP" panose="02000503000000020004" pitchFamily="2" charset="-128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826A1E9-2A2F-2F62-E85F-D1869B53D41C}"/>
              </a:ext>
            </a:extLst>
          </p:cNvPr>
          <p:cNvGrpSpPr/>
          <p:nvPr/>
        </p:nvGrpSpPr>
        <p:grpSpPr>
          <a:xfrm>
            <a:off x="7038095" y="1721224"/>
            <a:ext cx="4741985" cy="4156554"/>
            <a:chOff x="7038095" y="1721224"/>
            <a:chExt cx="4741985" cy="41565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1621579-8D9B-F57B-11E4-FB712119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8095" y="1721224"/>
              <a:ext cx="4741985" cy="415655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7E29B6-88AC-DEBF-6F75-9C9056C0ECB3}"/>
                </a:ext>
              </a:extLst>
            </p:cNvPr>
            <p:cNvSpPr/>
            <p:nvPr/>
          </p:nvSpPr>
          <p:spPr>
            <a:xfrm>
              <a:off x="7877908" y="5009690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5AE2283-4C3C-4BBC-A58E-4D25354B64E5}"/>
                </a:ext>
              </a:extLst>
            </p:cNvPr>
            <p:cNvSpPr/>
            <p:nvPr/>
          </p:nvSpPr>
          <p:spPr>
            <a:xfrm>
              <a:off x="7877908" y="3951362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909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CA35-8ECE-2B76-6D19-8D01D5DA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8C8E0-EB29-A279-5C3C-79BFD5A2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2A47B02-7130-1FDB-7A44-0C01253257E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0405" y="1155133"/>
                <a:ext cx="11369675" cy="5495120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1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단계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: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Python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프로토타입 구현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q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찾기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임의의 비트 수에서 조건 만족하는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prime q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검색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kumimoji="1" lang="ko-KR" altLang="en-US" dirty="0">
                    <a:ea typeface="G마켓 산스 Medium" panose="02000000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b="0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𝜓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𝜔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조건 체크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ko-KR" altLang="en-US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𝜓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𝑁</m:t>
                        </m:r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NTT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자체 검증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round-trip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테스트로 검증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Slow NTT == Cooley-Tukey NTT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곱셈 검증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Schoolbook(naïve)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검증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0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==0</m:t>
                    </m:r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1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𝑋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𝑁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−1</m:t>
                        </m:r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==−1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	</a:t>
                </a:r>
                <a:r>
                  <a:rPr kumimoji="1" lang="en-US" altLang="ko-KR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negacyclic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검증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naïve == ntt (random 100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쌍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2A47B02-7130-1FDB-7A44-0C01253257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0405" y="1155133"/>
                <a:ext cx="11369675" cy="5495120"/>
              </a:xfrm>
              <a:blipFill>
                <a:blip r:embed="rId2"/>
                <a:stretch>
                  <a:fillRect l="-912" t="-19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A3E6EE14-5AF2-126B-A0B8-F37899671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548" y="2206693"/>
            <a:ext cx="417253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0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EF721-22AF-FADF-B7AA-1C3FBCD7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888D-F9C4-52FA-E7C3-539EFFEF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C74354-8F24-6575-BF65-B91F4BC82F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2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단계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C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레벨 이식</a:t>
            </a:r>
            <a:endParaRPr kumimoji="1" lang="en-US" altLang="ko-KR" sz="2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레벨 이식에서의 문제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일반적으로 컴퓨터의 레지스터는 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32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 또는 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</a:t>
            </a:r>
            <a:endParaRPr kumimoji="1" lang="en-US" altLang="ko-KR" sz="16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언어에서 가장 큰 표준 공식 자료형은 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(long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long)</a:t>
            </a:r>
          </a:p>
          <a:p>
            <a:pPr lvl="2"/>
            <a:endParaRPr kumimoji="1" lang="en-US" altLang="ko-KR" sz="16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 시스템에서는 컴파일러 확장 기능으로 </a:t>
            </a:r>
            <a:b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__int128_t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 __uint128_t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자료형 제공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 레지스터 두 개를 조합하여 사용</a:t>
            </a:r>
            <a:endParaRPr kumimoji="1" lang="en-US" altLang="ko-KR" sz="16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457200" lvl="1" indent="0">
              <a:buNone/>
            </a:pP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5D10D5-FF38-8362-8D26-E723D863FB6D}"/>
              </a:ext>
            </a:extLst>
          </p:cNvPr>
          <p:cNvSpPr/>
          <p:nvPr/>
        </p:nvSpPr>
        <p:spPr>
          <a:xfrm>
            <a:off x="411162" y="4405959"/>
            <a:ext cx="5240216" cy="468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u128</a:t>
            </a:r>
            <a:r>
              <a:rPr lang="ko-KR" altLang="en-US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u128_add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(u128 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a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u128 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b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 { return a + b; }</a:t>
            </a:r>
            <a:endParaRPr lang="ko-KR" altLang="en-US" dirty="0"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6AE7D0-C141-D7F3-9C41-567931E4FDDE}"/>
              </a:ext>
            </a:extLst>
          </p:cNvPr>
          <p:cNvSpPr/>
          <p:nvPr/>
        </p:nvSpPr>
        <p:spPr>
          <a:xfrm>
            <a:off x="411162" y="5055123"/>
            <a:ext cx="5240216" cy="13007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u128_add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: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add	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rax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r8	; lo + lo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adc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rdx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rdi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	; hi + hi + carry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ret</a:t>
            </a:r>
            <a:endParaRPr lang="ko-KR" altLang="en-US" dirty="0"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481C89-E476-277E-9A64-457BBC59F1A2}"/>
              </a:ext>
            </a:extLst>
          </p:cNvPr>
          <p:cNvSpPr/>
          <p:nvPr/>
        </p:nvSpPr>
        <p:spPr>
          <a:xfrm>
            <a:off x="6539864" y="4405959"/>
            <a:ext cx="5240216" cy="468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u64</a:t>
            </a:r>
            <a:r>
              <a:rPr lang="ko-KR" altLang="en-US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u64_add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(u64 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a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u64 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b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 { return a + b; }</a:t>
            </a:r>
            <a:endParaRPr lang="ko-KR" altLang="en-US" dirty="0"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3D7FB7-260B-1DE6-14FF-206202AAB514}"/>
              </a:ext>
            </a:extLst>
          </p:cNvPr>
          <p:cNvSpPr/>
          <p:nvPr/>
        </p:nvSpPr>
        <p:spPr>
          <a:xfrm>
            <a:off x="6539864" y="5055123"/>
            <a:ext cx="5240216" cy="13007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u64_add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: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lea	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rax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[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rdi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+ 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rsi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*1]	;  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rax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= 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rdi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+ </a:t>
            </a:r>
            <a:r>
              <a:rPr lang="en-US" altLang="ko-KR" dirty="0" err="1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rsi</a:t>
            </a:r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ret</a:t>
            </a:r>
            <a:endParaRPr lang="ko-KR" altLang="en-US" dirty="0"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52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1DAA-C179-94D1-7092-E3DB03C5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EC289-087C-3EB3-8FB6-E336F8E5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CFEB84B-4BD2-A334-554D-1D3FE4CDC71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721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3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단계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: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최적화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(NTT)</a:t>
                </a:r>
              </a:p>
              <a:p>
                <a:pPr lvl="1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NTT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연산에서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𝑚𝑜𝑑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𝑞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와 같은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modular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연산이 많이 사용됨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단순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% </a:t>
                </a:r>
              </a:p>
              <a:p>
                <a:pPr lvl="2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나눗셈 연산이 포함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CPU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에서 느린 산술 연산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lt"/>
                  <a:buAutoNum type="circleNumDbPlain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Barrett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𝜇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𝑅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/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𝑞</m:t>
                        </m:r>
                      </m:e>
                    </m:d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를 미리 계산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mod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연산 </a:t>
                </a: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→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곱셈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2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번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+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뺄셈으로 대체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marL="914400" lvl="1" indent="-457200">
                  <a:buFont typeface="+mj-lt"/>
                  <a:buAutoNum type="circleNumDbPlain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Montgomery</a:t>
                </a:r>
              </a:p>
              <a:p>
                <a:pPr lvl="2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모든 값을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</a:t>
                </a:r>
                <a:r>
                  <a:rPr kumimoji="1" lang="ko-KR" altLang="en-US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배한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형태로 변환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mod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연산 </a:t>
                </a:r>
                <a14:m>
                  <m:oMath xmlns:m="http://schemas.openxmlformats.org/officeDocument/2006/math"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→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곱셈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1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번과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REDC 1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번으로 대체 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대신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변환 비용이 포함되지만 가려짐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CFEB84B-4BD2-A334-554D-1D3FE4CDC7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72100"/>
              </a:xfrm>
              <a:blipFill>
                <a:blip r:embed="rId2"/>
                <a:stretch>
                  <a:fillRect l="-911" t="-1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별: 꼭짓점 5개 3">
            <a:extLst>
              <a:ext uri="{FF2B5EF4-FFF2-40B4-BE49-F238E27FC236}">
                <a16:creationId xmlns:a16="http://schemas.microsoft.com/office/drawing/2014/main" id="{E61B6CE6-FE07-05F7-6468-59AD03F493E6}"/>
              </a:ext>
            </a:extLst>
          </p:cNvPr>
          <p:cNvSpPr/>
          <p:nvPr/>
        </p:nvSpPr>
        <p:spPr>
          <a:xfrm>
            <a:off x="11014414" y="333375"/>
            <a:ext cx="517000" cy="517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70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4E88-9E1E-1431-B2FA-2827689C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6B99B-1F51-83F6-893C-0240FA0D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54B72E7-883D-7195-C172-80D2739809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v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3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단계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: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최적화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(NTT)</a:t>
                </a:r>
              </a:p>
              <a:p>
                <a:pPr lvl="1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사전연산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+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Montgomery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+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Radix-4 butterfly</a:t>
                </a:r>
              </a:p>
              <a:p>
                <a:pPr lvl="2"/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매 단계에서 필요한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to_mont(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ko-KR" altLang="en-US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𝜓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)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를 사전 연산하여 테이블 호출로 사용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Montgomery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에서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Fully Lazy Reduction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적용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Radix-4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는 레지스터 병렬이 아닌 반복문 안에서의 </a:t>
                </a:r>
                <a:r>
                  <a:rPr kumimoji="1" lang="ko-KR" altLang="en-US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처리수를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의미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endParaRPr kumimoji="1" lang="ko-KR" altLang="en-US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54B72E7-883D-7195-C172-80D273980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911" t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1E9B039-32CA-A2A0-77C4-2EB8A8804BB0}"/>
              </a:ext>
            </a:extLst>
          </p:cNvPr>
          <p:cNvSpPr/>
          <p:nvPr/>
        </p:nvSpPr>
        <p:spPr>
          <a:xfrm>
            <a:off x="1468903" y="4245535"/>
            <a:ext cx="1276388" cy="438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to_mont(a)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356B79D-AFA7-B98D-7023-169273A68350}"/>
              </a:ext>
            </a:extLst>
          </p:cNvPr>
          <p:cNvSpPr/>
          <p:nvPr/>
        </p:nvSpPr>
        <p:spPr>
          <a:xfrm>
            <a:off x="1468903" y="5202215"/>
            <a:ext cx="1276388" cy="438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to_mont(b)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2E3E6E8-1B77-4C99-8797-440E967CA7CF}"/>
              </a:ext>
            </a:extLst>
          </p:cNvPr>
          <p:cNvSpPr/>
          <p:nvPr/>
        </p:nvSpPr>
        <p:spPr>
          <a:xfrm>
            <a:off x="3321351" y="4245535"/>
            <a:ext cx="1276388" cy="4386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ntt(a)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82D79C1-144E-1CDC-2D64-084223E00EAB}"/>
              </a:ext>
            </a:extLst>
          </p:cNvPr>
          <p:cNvSpPr/>
          <p:nvPr/>
        </p:nvSpPr>
        <p:spPr>
          <a:xfrm>
            <a:off x="3321351" y="5202215"/>
            <a:ext cx="1276388" cy="4386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ntt(b)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FF699F5-E15F-21D3-90BD-B9099B8511BD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745291" y="4464843"/>
            <a:ext cx="5760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B97E9F2-B11F-D26F-233F-C7B42FD212E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745291" y="5421523"/>
            <a:ext cx="5760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E67C45F-07C5-811F-E510-776D3B526E2F}"/>
              </a:ext>
            </a:extLst>
          </p:cNvPr>
          <p:cNvSpPr/>
          <p:nvPr/>
        </p:nvSpPr>
        <p:spPr>
          <a:xfrm>
            <a:off x="5055558" y="4723875"/>
            <a:ext cx="2376898" cy="43861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pointwise mult (</a:t>
            </a:r>
            <a:r>
              <a:rPr kumimoji="1" lang="en-US" altLang="ko-KR" sz="1400" dirty="0" err="1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a,b</a:t>
            </a:r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15" name="꺾인 연결선[E] 14">
            <a:extLst>
              <a:ext uri="{FF2B5EF4-FFF2-40B4-BE49-F238E27FC236}">
                <a16:creationId xmlns:a16="http://schemas.microsoft.com/office/drawing/2014/main" id="{09328E42-66F0-35AB-E4A7-351DB3A5BA13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4597739" y="4943183"/>
            <a:ext cx="457819" cy="47834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[E] 15">
            <a:extLst>
              <a:ext uri="{FF2B5EF4-FFF2-40B4-BE49-F238E27FC236}">
                <a16:creationId xmlns:a16="http://schemas.microsoft.com/office/drawing/2014/main" id="{983D1AD7-CD37-6247-CFB8-006E758A6F6D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4597739" y="4464843"/>
            <a:ext cx="457819" cy="47834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7122BA0-E07B-440C-4C86-B0E159CC4526}"/>
              </a:ext>
            </a:extLst>
          </p:cNvPr>
          <p:cNvSpPr/>
          <p:nvPr/>
        </p:nvSpPr>
        <p:spPr>
          <a:xfrm>
            <a:off x="7890275" y="4723874"/>
            <a:ext cx="1276388" cy="4386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intt(c)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1AC53EA-5B95-23F4-4A85-3416A7CD1267}"/>
              </a:ext>
            </a:extLst>
          </p:cNvPr>
          <p:cNvCxnSpPr>
            <a:cxnSpLocks/>
            <a:stCxn id="13" idx="3"/>
            <a:endCxn id="33" idx="1"/>
          </p:cNvCxnSpPr>
          <p:nvPr/>
        </p:nvCxnSpPr>
        <p:spPr>
          <a:xfrm flipV="1">
            <a:off x="7432456" y="4943182"/>
            <a:ext cx="45781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1EEA2F91-2CC6-F165-DB30-0F67E96421AD}"/>
              </a:ext>
            </a:extLst>
          </p:cNvPr>
          <p:cNvSpPr/>
          <p:nvPr/>
        </p:nvSpPr>
        <p:spPr>
          <a:xfrm>
            <a:off x="9628979" y="4721366"/>
            <a:ext cx="1468960" cy="438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from_mont(c)</a:t>
            </a:r>
            <a:endParaRPr kumimoji="1" lang="ko-KR" altLang="en-US" sz="14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0DF07B7-D27F-D119-402B-B1ADDF33605A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 flipV="1">
            <a:off x="9166663" y="4940674"/>
            <a:ext cx="462316" cy="25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8E45CD3F-00FB-FBED-2592-88A61FB7086B}"/>
              </a:ext>
            </a:extLst>
          </p:cNvPr>
          <p:cNvCxnSpPr>
            <a:cxnSpLocks/>
          </p:cNvCxnSpPr>
          <p:nvPr/>
        </p:nvCxnSpPr>
        <p:spPr>
          <a:xfrm>
            <a:off x="4830126" y="3476583"/>
            <a:ext cx="0" cy="309918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5F3FA533-9704-A16C-6BB9-C500BA832C86}"/>
              </a:ext>
            </a:extLst>
          </p:cNvPr>
          <p:cNvCxnSpPr>
            <a:cxnSpLocks/>
          </p:cNvCxnSpPr>
          <p:nvPr/>
        </p:nvCxnSpPr>
        <p:spPr>
          <a:xfrm>
            <a:off x="3050187" y="3476583"/>
            <a:ext cx="0" cy="309918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CFBB7160-E4B3-9FE0-A4F3-186DA3CF0024}"/>
              </a:ext>
            </a:extLst>
          </p:cNvPr>
          <p:cNvCxnSpPr>
            <a:cxnSpLocks/>
          </p:cNvCxnSpPr>
          <p:nvPr/>
        </p:nvCxnSpPr>
        <p:spPr>
          <a:xfrm>
            <a:off x="7643127" y="3476583"/>
            <a:ext cx="0" cy="309918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49">
            <a:extLst>
              <a:ext uri="{FF2B5EF4-FFF2-40B4-BE49-F238E27FC236}">
                <a16:creationId xmlns:a16="http://schemas.microsoft.com/office/drawing/2014/main" id="{383AF660-C37B-C0FA-D543-175895E07A08}"/>
              </a:ext>
            </a:extLst>
          </p:cNvPr>
          <p:cNvCxnSpPr>
            <a:cxnSpLocks/>
          </p:cNvCxnSpPr>
          <p:nvPr/>
        </p:nvCxnSpPr>
        <p:spPr>
          <a:xfrm>
            <a:off x="9388166" y="3476583"/>
            <a:ext cx="0" cy="309918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24C470D-D831-D242-A8EB-AA55C73299DA}"/>
              </a:ext>
            </a:extLst>
          </p:cNvPr>
          <p:cNvSpPr txBox="1"/>
          <p:nvPr/>
        </p:nvSpPr>
        <p:spPr>
          <a:xfrm>
            <a:off x="3397313" y="6125944"/>
            <a:ext cx="1191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Fully Lazy</a:t>
            </a:r>
            <a:b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Radix-4</a:t>
            </a:r>
            <a:endParaRPr kumimoji="1" lang="ko-KR" altLang="en-US" dirty="0" err="1">
              <a:latin typeface="Times New Roman" panose="02020603050405020304" pitchFamily="18" charset="0"/>
              <a:ea typeface="Pretendard JP" panose="02000503000000020004" pitchFamily="2" charset="-128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5EF279-FB14-53B0-7E46-0AB705075459}"/>
              </a:ext>
            </a:extLst>
          </p:cNvPr>
          <p:cNvSpPr txBox="1"/>
          <p:nvPr/>
        </p:nvSpPr>
        <p:spPr>
          <a:xfrm>
            <a:off x="5638716" y="626444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Mult. Lazy</a:t>
            </a:r>
            <a:endParaRPr kumimoji="1" lang="ko-KR" altLang="en-US" dirty="0" err="1">
              <a:latin typeface="Times New Roman" panose="02020603050405020304" pitchFamily="18" charset="0"/>
              <a:ea typeface="Pretendard JP" panose="02000503000000020004" pitchFamily="2" charset="-128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202D10-1E14-AFCF-09A4-916566143775}"/>
              </a:ext>
            </a:extLst>
          </p:cNvPr>
          <p:cNvSpPr txBox="1"/>
          <p:nvPr/>
        </p:nvSpPr>
        <p:spPr>
          <a:xfrm>
            <a:off x="7932792" y="6125944"/>
            <a:ext cx="1191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Fully</a:t>
            </a:r>
            <a:r>
              <a:rPr kumimoji="1" lang="ko-KR" altLang="en-US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 </a:t>
            </a:r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Lazy</a:t>
            </a:r>
            <a:b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Radix-4</a:t>
            </a:r>
            <a:endParaRPr kumimoji="1" lang="ko-KR" altLang="en-US" dirty="0" err="1">
              <a:latin typeface="Times New Roman" panose="02020603050405020304" pitchFamily="18" charset="0"/>
              <a:ea typeface="Pretendard JP" panose="02000503000000020004" pitchFamily="2" charset="-128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BF08B-4B21-B8C4-39E2-D2DFAE45C767}"/>
              </a:ext>
            </a:extLst>
          </p:cNvPr>
          <p:cNvSpPr txBox="1"/>
          <p:nvPr/>
        </p:nvSpPr>
        <p:spPr>
          <a:xfrm>
            <a:off x="7596315" y="3226355"/>
            <a:ext cx="1864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Gentleman-Sande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83F7CF-8920-4624-9D2B-54DA23237EF7}"/>
              </a:ext>
            </a:extLst>
          </p:cNvPr>
          <p:cNvSpPr txBox="1"/>
          <p:nvPr/>
        </p:nvSpPr>
        <p:spPr>
          <a:xfrm>
            <a:off x="3060836" y="3195385"/>
            <a:ext cx="1864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Cooley-Tukey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72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260AB-63E1-6622-A61D-C816AD52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0EFEC-4A46-D00B-D377-A804C346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2C29A6-9756-7BE4-0936-1F40C1C20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3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단계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최적화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(NTT)</a:t>
            </a:r>
          </a:p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Unsigned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대신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Signed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자료형을 사용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다만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signed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적용하여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lazy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ko-KR" altLang="en-US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리덕션을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넣으려면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의 범위가 이론적으로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55</a:t>
            </a:r>
            <a:r>
              <a:rPr kumimoji="1" lang="ko-KR" altLang="en-US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비트까지만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사용 가능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마찬가지로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128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 자료형으로 구현했을 때는 성능이 느림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  <a:p>
            <a:pPr lvl="1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그래서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64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비트보다 크면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unsigned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 좋음</a:t>
            </a:r>
          </a:p>
        </p:txBody>
      </p:sp>
      <p:sp>
        <p:nvSpPr>
          <p:cNvPr id="4" name="별: 꼭짓점 5개 3">
            <a:extLst>
              <a:ext uri="{FF2B5EF4-FFF2-40B4-BE49-F238E27FC236}">
                <a16:creationId xmlns:a16="http://schemas.microsoft.com/office/drawing/2014/main" id="{571ADBF6-3808-68BF-CA58-866E321FAAAD}"/>
              </a:ext>
            </a:extLst>
          </p:cNvPr>
          <p:cNvSpPr/>
          <p:nvPr/>
        </p:nvSpPr>
        <p:spPr>
          <a:xfrm>
            <a:off x="11034734" y="330328"/>
            <a:ext cx="517000" cy="517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22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CBDE2-9D73-16EE-AE91-4A9863C7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FA8C0-0C9F-7D26-BDB1-48CC0CF8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2. polynomial Ring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6A537-677B-B1E8-DE93-5122F17843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성능 측정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l-G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μ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s/op, N=256</a:t>
            </a:r>
          </a:p>
          <a:p>
            <a:pPr lvl="1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다항식 곱셈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60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번 총 시간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5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번 반복 후 가장 빠른 값을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60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으로 나눔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4B1C94C-99A0-9518-3CEB-A0C1A1A7C3DE}"/>
              </a:ext>
            </a:extLst>
          </p:cNvPr>
          <p:cNvGrpSpPr/>
          <p:nvPr/>
        </p:nvGrpSpPr>
        <p:grpSpPr>
          <a:xfrm>
            <a:off x="7295270" y="2527036"/>
            <a:ext cx="4741985" cy="4156554"/>
            <a:chOff x="7038095" y="1721224"/>
            <a:chExt cx="4741985" cy="415655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1B94C68-CE53-9A14-FD41-9FAFF924F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8095" y="1721224"/>
              <a:ext cx="4741985" cy="415655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4329E3C-14BC-5C9E-536E-A79F0BA7AEF2}"/>
                </a:ext>
              </a:extLst>
            </p:cNvPr>
            <p:cNvSpPr/>
            <p:nvPr/>
          </p:nvSpPr>
          <p:spPr>
            <a:xfrm>
              <a:off x="7877908" y="5009690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123A8ED-6637-FD44-4958-937FE660AA8F}"/>
                </a:ext>
              </a:extLst>
            </p:cNvPr>
            <p:cNvSpPr/>
            <p:nvPr/>
          </p:nvSpPr>
          <p:spPr>
            <a:xfrm>
              <a:off x="7877908" y="3951362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4D6F3B-9CB9-130A-6AD9-A40066FE32E1}"/>
                </a:ext>
              </a:extLst>
            </p:cNvPr>
            <p:cNvSpPr/>
            <p:nvPr/>
          </p:nvSpPr>
          <p:spPr>
            <a:xfrm>
              <a:off x="7877908" y="4677925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41875FD-9547-0BB1-2915-BC4B758FB1E2}"/>
                </a:ext>
              </a:extLst>
            </p:cNvPr>
            <p:cNvSpPr/>
            <p:nvPr/>
          </p:nvSpPr>
          <p:spPr>
            <a:xfrm>
              <a:off x="7877908" y="5375913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A0AE40-7A0B-0556-7727-2E25F1AFC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194115"/>
              </p:ext>
            </p:extLst>
          </p:nvPr>
        </p:nvGraphicFramePr>
        <p:xfrm>
          <a:off x="411162" y="3429000"/>
          <a:ext cx="6759452" cy="267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863">
                  <a:extLst>
                    <a:ext uri="{9D8B030D-6E8A-4147-A177-3AD203B41FA5}">
                      <a16:colId xmlns:a16="http://schemas.microsoft.com/office/drawing/2014/main" val="1616898933"/>
                    </a:ext>
                  </a:extLst>
                </a:gridCol>
                <a:gridCol w="1689863">
                  <a:extLst>
                    <a:ext uri="{9D8B030D-6E8A-4147-A177-3AD203B41FA5}">
                      <a16:colId xmlns:a16="http://schemas.microsoft.com/office/drawing/2014/main" val="529002099"/>
                    </a:ext>
                  </a:extLst>
                </a:gridCol>
                <a:gridCol w="1689863">
                  <a:extLst>
                    <a:ext uri="{9D8B030D-6E8A-4147-A177-3AD203B41FA5}">
                      <a16:colId xmlns:a16="http://schemas.microsoft.com/office/drawing/2014/main" val="3425862954"/>
                    </a:ext>
                  </a:extLst>
                </a:gridCol>
                <a:gridCol w="1689863">
                  <a:extLst>
                    <a:ext uri="{9D8B030D-6E8A-4147-A177-3AD203B41FA5}">
                      <a16:colId xmlns:a16="http://schemas.microsoft.com/office/drawing/2014/main" val="1924234886"/>
                    </a:ext>
                  </a:extLst>
                </a:gridCol>
              </a:tblGrid>
              <a:tr h="445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q.Bits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s64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u64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u128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089034"/>
                  </a:ext>
                </a:extLst>
              </a:tr>
              <a:tr h="445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2</a:t>
                      </a:r>
                      <a:r>
                        <a:rPr lang="en-US" altLang="ko-KR" sz="1800" baseline="300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14</a:t>
                      </a:r>
                      <a:endParaRPr lang="ko-KR" altLang="en-US" sz="1800" baseline="300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3.07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5.47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31.23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34721"/>
                  </a:ext>
                </a:extLst>
              </a:tr>
              <a:tr h="445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2</a:t>
                      </a:r>
                      <a:r>
                        <a:rPr lang="en-US" altLang="ko-KR" sz="1800" baseline="300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30</a:t>
                      </a:r>
                      <a:endParaRPr lang="ko-KR" altLang="en-US" sz="1800" baseline="300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3.07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5.47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31.18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926794"/>
                  </a:ext>
                </a:extLst>
              </a:tr>
              <a:tr h="445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2</a:t>
                      </a:r>
                      <a:r>
                        <a:rPr lang="en-US" altLang="ko-KR" sz="1800" baseline="300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55</a:t>
                      </a:r>
                      <a:endParaRPr lang="ko-KR" altLang="en-US" sz="1800" baseline="300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5.47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31.11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606734"/>
                  </a:ext>
                </a:extLst>
              </a:tr>
              <a:tr h="44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2</a:t>
                      </a:r>
                      <a:r>
                        <a:rPr lang="en-US" altLang="ko-KR" sz="1800" baseline="300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62</a:t>
                      </a:r>
                      <a:endParaRPr lang="ko-KR" altLang="en-US" sz="1800" baseline="300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31.12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031162"/>
                  </a:ext>
                </a:extLst>
              </a:tr>
              <a:tr h="445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2</a:t>
                      </a:r>
                      <a:r>
                        <a:rPr lang="en-US" altLang="ko-KR" sz="1800" baseline="300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123</a:t>
                      </a:r>
                      <a:endParaRPr lang="ko-KR" altLang="en-US" sz="1800" baseline="300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31.06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89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4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E7DB8-8144-3AFE-8135-ACF5BDA5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E2336-B7A4-C804-F28A-A1639629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28E264-1DB3-8C13-6744-217D0BFF4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DGS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는 정수 집합 위에서 가우시안 분포를 따르는 값을 뽑는 과정</a:t>
            </a:r>
            <a:endParaRPr kumimoji="1" lang="en-US" altLang="ko-KR" sz="2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일반적으로 </a:t>
            </a:r>
            <a:r>
              <a:rPr kumimoji="1" lang="ko-KR" altLang="en-US" sz="20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가우시안분포는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실수 영역에서 정의됨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암호 구현에서는 정수 계수나 다항식 계수로 사용해야 하므로 정수 위의 가우시안 분포가 필요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격자기반 암호에서 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Secret, error, noise 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등을 특정 분포에서 </a:t>
            </a:r>
            <a:r>
              <a:rPr kumimoji="1" lang="ko-KR" altLang="en-US" sz="16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샘플링함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  <a:p>
            <a:pPr lvl="2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분포가 정확하지 않으면  가정한 조건이 깨질 수 있고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공격자가 분포의 편향을 이용하여 공격할 가능성이 있음</a:t>
            </a:r>
            <a:endParaRPr kumimoji="1" lang="en-US" altLang="ko-KR" sz="16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수학적 정의를 실제 컴퓨터에서 안전하게 구현하는 것이 어려움</a:t>
            </a:r>
            <a:endParaRPr kumimoji="1" lang="en-US" altLang="ko-KR" sz="2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Floating point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의 오차 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-&gt; 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플랫폼마다 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float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다루는 차이가 발생하여 플랫폼 차이도 고려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 시간이 달라지며 발생하는 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Timing 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누출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메모리 접근 패턴이 달라지면서 발생하는 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Cache side channel </a:t>
            </a:r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발생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분포에 작은 편향이 생겨 발생할 수 있는 공격 가능성</a:t>
            </a:r>
            <a:endParaRPr kumimoji="1" lang="en-US" altLang="ko-KR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방식에 따라서 장단점이 달라짐</a:t>
            </a:r>
            <a:endParaRPr kumimoji="1" lang="en-US" altLang="ko-KR" sz="2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대표적인 방법 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CDT, Knuth-Yao, Rejection, Bernoulli, Convolution Sampling</a:t>
            </a:r>
            <a:endParaRPr kumimoji="1" lang="ko-KR" altLang="en-US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" name="별: 꼭짓점 5개 4">
            <a:extLst>
              <a:ext uri="{FF2B5EF4-FFF2-40B4-BE49-F238E27FC236}">
                <a16:creationId xmlns:a16="http://schemas.microsoft.com/office/drawing/2014/main" id="{77C8EC8C-0B67-90CD-764F-7BD957F13AFA}"/>
              </a:ext>
            </a:extLst>
          </p:cNvPr>
          <p:cNvSpPr/>
          <p:nvPr/>
        </p:nvSpPr>
        <p:spPr>
          <a:xfrm>
            <a:off x="11014414" y="285718"/>
            <a:ext cx="517000" cy="517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038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C977-9057-F108-667B-9BCE7294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2C2E6-0DFA-C262-EE41-B97521B6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C9BCE85-10A6-16C6-A3C9-1DC73030780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25120" y="1584960"/>
                <a:ext cx="9022548" cy="4625340"/>
              </a:xfrm>
            </p:spPr>
            <p:txBody>
              <a:bodyPr/>
              <a:lstStyle/>
              <a:p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대표적인 구현 방법 비교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CDT</a:t>
                </a:r>
              </a:p>
              <a:p>
                <a:pPr lvl="2"/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샘플링 속도가 빠름</a:t>
                </a:r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사전 연산 테이블 사용</a:t>
                </a:r>
                <a:endPara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·center에 선형 비례해 테이블 크기 증가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메모리 부담</a:t>
                </a:r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파라미터 바뀔 때마다 테이블 재생성</a:t>
                </a:r>
                <a:endPara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Rejection Sampling</a:t>
                </a:r>
              </a:p>
              <a:p>
                <a:pPr lvl="2"/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메모리 사용 적음</a:t>
                </a:r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임의의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지원</a:t>
                </a:r>
                <a:endPara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Reject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으로 인한 시간 변동</a:t>
                </a:r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부동소수점 연산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상수시간 구현 </a:t>
                </a:r>
                <a:b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</a:b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어려움</a:t>
                </a:r>
                <a:endPara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Convolution Sampling</a:t>
                </a:r>
              </a:p>
              <a:p>
                <a:pPr lvl="2"/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작은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의 base sampler들을 합성해 큰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생성</a:t>
                </a:r>
                <a:endPara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2"/>
                <a:r>
                  <a:rPr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Sampler</a:t>
                </a:r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를 재사용해 다양한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지원, 큰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에서 메모리 효율적</a:t>
                </a:r>
                <a:endPara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C9BCE85-10A6-16C6-A3C9-1DC7303078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25120" y="1584960"/>
                <a:ext cx="9022548" cy="4625340"/>
              </a:xfrm>
              <a:blipFill>
                <a:blip r:embed="rId2"/>
                <a:stretch>
                  <a:fillRect l="-1216" t="-1713" b="-25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90BB3771-DFDF-8440-95D5-7CA5B043C304}"/>
              </a:ext>
            </a:extLst>
          </p:cNvPr>
          <p:cNvGrpSpPr/>
          <p:nvPr/>
        </p:nvGrpSpPr>
        <p:grpSpPr>
          <a:xfrm>
            <a:off x="9083040" y="2596822"/>
            <a:ext cx="2783840" cy="2440156"/>
            <a:chOff x="7038095" y="1721224"/>
            <a:chExt cx="4741985" cy="415655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F7DD5FC-A5B4-699C-CD7D-1CED79F2F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8095" y="1721224"/>
              <a:ext cx="4741985" cy="415655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45E78A5-8961-0E6F-C85E-3D8EBA556C63}"/>
                </a:ext>
              </a:extLst>
            </p:cNvPr>
            <p:cNvSpPr/>
            <p:nvPr/>
          </p:nvSpPr>
          <p:spPr>
            <a:xfrm>
              <a:off x="8920645" y="4993648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AD2EE43-C9CF-3A44-D3EB-039D80319547}"/>
                </a:ext>
              </a:extLst>
            </p:cNvPr>
            <p:cNvSpPr/>
            <p:nvPr/>
          </p:nvSpPr>
          <p:spPr>
            <a:xfrm>
              <a:off x="8545566" y="3225648"/>
              <a:ext cx="339969" cy="31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1E2B9CB8-E1EA-DB59-CB66-F7AAD69E7C61}"/>
              </a:ext>
            </a:extLst>
          </p:cNvPr>
          <p:cNvSpPr/>
          <p:nvPr/>
        </p:nvSpPr>
        <p:spPr>
          <a:xfrm>
            <a:off x="11014414" y="285718"/>
            <a:ext cx="517000" cy="517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BF69EC-B708-51A8-3C08-6E0BB6889DDF}"/>
              </a:ext>
            </a:extLst>
          </p:cNvPr>
          <p:cNvSpPr txBox="1"/>
          <p:nvPr/>
        </p:nvSpPr>
        <p:spPr>
          <a:xfrm>
            <a:off x="5684080" y="3615021"/>
            <a:ext cx="1800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exp(-x² / 2</a:t>
            </a:r>
            <a:r>
              <a:rPr lang="el-GR" altLang="ko-KR" dirty="0"/>
              <a:t>σ²)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00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14DF-0394-4495-9EF1-9116BE73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E6813-FBE9-33CD-5F24-840F0C21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37D3990-7959-8D52-E31B-980B25A8B6C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49772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SupPr>
                      <m:e>
                        <m:r>
                          <a:rPr kumimoji="1" lang="ko-KR" altLang="en-US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𝑛𝑒𝑤</m:t>
                        </m:r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=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1</m:t>
                        </m:r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p>
                    </m:sSub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+</m:t>
                    </m:r>
                    <m:sSubSup>
                      <m:sSub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p>
                    </m:sSub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)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sSubSup>
                      <m:sSub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ko-KR" altLang="en-US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𝑜𝑙𝑑</m:t>
                        </m:r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p>
                    </m:sSub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    →</m:t>
                    </m:r>
                    <m:r>
                      <m:rPr>
                        <m:nor/>
                      </m:rPr>
                      <a:rPr kumimoji="1" lang="en-US" altLang="ko-KR" b="0" i="0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  </m:t>
                    </m:r>
                    <m:r>
                      <m:rPr>
                        <m:nor/>
                      </m:rPr>
                      <a:rPr kumimoji="1" lang="ko-KR" altLang="en-US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rPr>
                      <m:t> </m:t>
                    </m:r>
                    <m:sSub>
                      <m:sSub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  <a:ea typeface="G마켓 산스 Medium" panose="02000000000000000000" pitchFamily="50" charset="-127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  <a:ea typeface="G마켓 산스 Medium" panose="02000000000000000000" pitchFamily="50" charset="-127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rad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𝑘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일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때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1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𝑥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=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G마켓 산스 Medium" panose="02000000000000000000" pitchFamily="50" charset="-127"/>
                          </a:rPr>
                          <m:t>10</m:t>
                        </m:r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</a:rPr>
                      <m:t>일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때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10.5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  <a:t> 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31.5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  <a:t> 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42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  <a:t> 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52.5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  <a:t> 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ko-KR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37D3990-7959-8D52-E31B-980B25A8B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497728"/>
              </a:xfrm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타원 6">
            <a:extLst>
              <a:ext uri="{FF2B5EF4-FFF2-40B4-BE49-F238E27FC236}">
                <a16:creationId xmlns:a16="http://schemas.microsoft.com/office/drawing/2014/main" id="{5D91F998-A187-47FE-D428-83DBE760E42A}"/>
              </a:ext>
            </a:extLst>
          </p:cNvPr>
          <p:cNvSpPr/>
          <p:nvPr/>
        </p:nvSpPr>
        <p:spPr>
          <a:xfrm>
            <a:off x="7247467" y="5366808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49E990C-CC0C-0E28-E3B3-7FB2C5B32BFC}"/>
              </a:ext>
            </a:extLst>
          </p:cNvPr>
          <p:cNvSpPr/>
          <p:nvPr/>
        </p:nvSpPr>
        <p:spPr>
          <a:xfrm>
            <a:off x="7829974" y="5366808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FC23F0D-DB4C-AD15-43FB-958221724B3C}"/>
              </a:ext>
            </a:extLst>
          </p:cNvPr>
          <p:cNvSpPr/>
          <p:nvPr/>
        </p:nvSpPr>
        <p:spPr>
          <a:xfrm>
            <a:off x="8412481" y="5366808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2FEB567-51E5-8EF5-0E83-FC3D8D067774}"/>
              </a:ext>
            </a:extLst>
          </p:cNvPr>
          <p:cNvSpPr/>
          <p:nvPr/>
        </p:nvSpPr>
        <p:spPr>
          <a:xfrm>
            <a:off x="8994988" y="5366808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84E22B6-2C07-2322-A81F-0B14810F6F6D}"/>
              </a:ext>
            </a:extLst>
          </p:cNvPr>
          <p:cNvSpPr/>
          <p:nvPr/>
        </p:nvSpPr>
        <p:spPr>
          <a:xfrm>
            <a:off x="9577495" y="5366808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9030DCB-0014-8DE9-7BB4-AB0BD703BBC8}"/>
              </a:ext>
            </a:extLst>
          </p:cNvPr>
          <p:cNvSpPr/>
          <p:nvPr/>
        </p:nvSpPr>
        <p:spPr>
          <a:xfrm>
            <a:off x="10160002" y="5366808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049AC85-9C4E-F30E-1021-BFC8AAB699C0}"/>
              </a:ext>
            </a:extLst>
          </p:cNvPr>
          <p:cNvSpPr/>
          <p:nvPr/>
        </p:nvSpPr>
        <p:spPr>
          <a:xfrm>
            <a:off x="10742509" y="5366808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508053-3504-1312-C62B-F850EDC573B2}"/>
              </a:ext>
            </a:extLst>
          </p:cNvPr>
          <p:cNvSpPr/>
          <p:nvPr/>
        </p:nvSpPr>
        <p:spPr>
          <a:xfrm>
            <a:off x="11325016" y="5366808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2CFD5B2-CDD8-E8EC-283C-099A1E14F9D9}"/>
              </a:ext>
            </a:extLst>
          </p:cNvPr>
          <p:cNvSpPr/>
          <p:nvPr/>
        </p:nvSpPr>
        <p:spPr>
          <a:xfrm>
            <a:off x="7538721" y="4635288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F07FD99-E81C-1448-3982-15C6B09B1373}"/>
              </a:ext>
            </a:extLst>
          </p:cNvPr>
          <p:cNvSpPr/>
          <p:nvPr/>
        </p:nvSpPr>
        <p:spPr>
          <a:xfrm>
            <a:off x="8708499" y="4635288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B946D60-A558-D10E-73ED-7A1C621E3488}"/>
              </a:ext>
            </a:extLst>
          </p:cNvPr>
          <p:cNvSpPr/>
          <p:nvPr/>
        </p:nvSpPr>
        <p:spPr>
          <a:xfrm>
            <a:off x="9873513" y="4635288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501DE55-FFAB-B4C2-95DA-A00B4D78F914}"/>
              </a:ext>
            </a:extLst>
          </p:cNvPr>
          <p:cNvSpPr/>
          <p:nvPr/>
        </p:nvSpPr>
        <p:spPr>
          <a:xfrm>
            <a:off x="11033763" y="4635288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137CDCB-2179-4E9A-1F19-576FC528FFB4}"/>
              </a:ext>
            </a:extLst>
          </p:cNvPr>
          <p:cNvSpPr/>
          <p:nvPr/>
        </p:nvSpPr>
        <p:spPr>
          <a:xfrm>
            <a:off x="8121228" y="3815715"/>
            <a:ext cx="455064" cy="455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x</a:t>
            </a:r>
            <a:r>
              <a:rPr lang="en-US" altLang="ko-KR" sz="1200" baseline="-25000">
                <a:solidFill>
                  <a:schemeClr val="tx1"/>
                </a:solidFill>
              </a:rPr>
              <a:t>1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392E6CE-3038-83AC-0B77-4B4778A75755}"/>
                  </a:ext>
                </a:extLst>
              </p:cNvPr>
              <p:cNvSpPr/>
              <p:nvPr/>
            </p:nvSpPr>
            <p:spPr>
              <a:xfrm>
                <a:off x="9286242" y="3052021"/>
                <a:ext cx="455064" cy="455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392E6CE-3038-83AC-0B77-4B4778A757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242" y="3052021"/>
                <a:ext cx="455064" cy="4550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70CE055-F1EF-8528-1CA4-ED47296821B5}"/>
              </a:ext>
            </a:extLst>
          </p:cNvPr>
          <p:cNvCxnSpPr>
            <a:cxnSpLocks/>
            <a:stCxn id="7" idx="0"/>
            <a:endCxn id="15" idx="4"/>
          </p:cNvCxnSpPr>
          <p:nvPr/>
        </p:nvCxnSpPr>
        <p:spPr>
          <a:xfrm flipV="1">
            <a:off x="7474999" y="5090352"/>
            <a:ext cx="291254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DC282D2-5068-BF07-F49C-55637EE61472}"/>
              </a:ext>
            </a:extLst>
          </p:cNvPr>
          <p:cNvCxnSpPr>
            <a:cxnSpLocks/>
            <a:stCxn id="8" idx="0"/>
            <a:endCxn id="15" idx="4"/>
          </p:cNvCxnSpPr>
          <p:nvPr/>
        </p:nvCxnSpPr>
        <p:spPr>
          <a:xfrm flipH="1" flipV="1">
            <a:off x="7766253" y="5090352"/>
            <a:ext cx="291253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4ECBC83-22AE-0190-05C5-67CCD0DBAA1A}"/>
              </a:ext>
            </a:extLst>
          </p:cNvPr>
          <p:cNvCxnSpPr>
            <a:cxnSpLocks/>
            <a:stCxn id="9" idx="0"/>
            <a:endCxn id="19" idx="4"/>
          </p:cNvCxnSpPr>
          <p:nvPr/>
        </p:nvCxnSpPr>
        <p:spPr>
          <a:xfrm flipV="1">
            <a:off x="8640013" y="5090352"/>
            <a:ext cx="296018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50D620E-F8FA-1462-EA42-23BAB7DDF2A4}"/>
              </a:ext>
            </a:extLst>
          </p:cNvPr>
          <p:cNvCxnSpPr>
            <a:cxnSpLocks/>
            <a:stCxn id="10" idx="0"/>
            <a:endCxn id="19" idx="4"/>
          </p:cNvCxnSpPr>
          <p:nvPr/>
        </p:nvCxnSpPr>
        <p:spPr>
          <a:xfrm flipH="1" flipV="1">
            <a:off x="8936031" y="5090352"/>
            <a:ext cx="286489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96FD913-090E-273C-177C-13990AF5548D}"/>
              </a:ext>
            </a:extLst>
          </p:cNvPr>
          <p:cNvCxnSpPr>
            <a:cxnSpLocks/>
            <a:stCxn id="11" idx="0"/>
            <a:endCxn id="20" idx="4"/>
          </p:cNvCxnSpPr>
          <p:nvPr/>
        </p:nvCxnSpPr>
        <p:spPr>
          <a:xfrm flipV="1">
            <a:off x="9805027" y="5090352"/>
            <a:ext cx="296018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5D1A0A6-3889-AA12-FA76-26DDEEE92222}"/>
              </a:ext>
            </a:extLst>
          </p:cNvPr>
          <p:cNvCxnSpPr>
            <a:cxnSpLocks/>
            <a:stCxn id="12" idx="0"/>
            <a:endCxn id="20" idx="4"/>
          </p:cNvCxnSpPr>
          <p:nvPr/>
        </p:nvCxnSpPr>
        <p:spPr>
          <a:xfrm flipH="1" flipV="1">
            <a:off x="10101045" y="5090352"/>
            <a:ext cx="286489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0F5920E-BB57-6BD0-0F89-37181C9E118C}"/>
              </a:ext>
            </a:extLst>
          </p:cNvPr>
          <p:cNvCxnSpPr>
            <a:cxnSpLocks/>
            <a:stCxn id="13" idx="0"/>
            <a:endCxn id="21" idx="4"/>
          </p:cNvCxnSpPr>
          <p:nvPr/>
        </p:nvCxnSpPr>
        <p:spPr>
          <a:xfrm flipV="1">
            <a:off x="10970041" y="5090352"/>
            <a:ext cx="291254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3B616B2-BCEC-9432-87DC-2917D1A93A34}"/>
              </a:ext>
            </a:extLst>
          </p:cNvPr>
          <p:cNvCxnSpPr>
            <a:cxnSpLocks/>
            <a:stCxn id="14" idx="0"/>
            <a:endCxn id="21" idx="4"/>
          </p:cNvCxnSpPr>
          <p:nvPr/>
        </p:nvCxnSpPr>
        <p:spPr>
          <a:xfrm flipH="1" flipV="1">
            <a:off x="11261295" y="5090352"/>
            <a:ext cx="291253" cy="276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694E97B-CACC-0989-41F5-775278C63852}"/>
              </a:ext>
            </a:extLst>
          </p:cNvPr>
          <p:cNvCxnSpPr>
            <a:cxnSpLocks/>
            <a:stCxn id="19" idx="0"/>
            <a:endCxn id="22" idx="4"/>
          </p:cNvCxnSpPr>
          <p:nvPr/>
        </p:nvCxnSpPr>
        <p:spPr>
          <a:xfrm flipH="1" flipV="1">
            <a:off x="8348760" y="4270779"/>
            <a:ext cx="587271" cy="3645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CA2D484-5506-DAF1-B7BC-AC29594D0B4F}"/>
              </a:ext>
            </a:extLst>
          </p:cNvPr>
          <p:cNvCxnSpPr>
            <a:cxnSpLocks/>
            <a:stCxn id="15" idx="0"/>
            <a:endCxn id="22" idx="4"/>
          </p:cNvCxnSpPr>
          <p:nvPr/>
        </p:nvCxnSpPr>
        <p:spPr>
          <a:xfrm flipV="1">
            <a:off x="7766253" y="4270779"/>
            <a:ext cx="582507" cy="3645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6E47ACDB-97C4-4C3C-F564-9766F0E7CB22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348760" y="3507085"/>
            <a:ext cx="1165014" cy="3086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DE527DB-66C4-6898-8878-42758BF0B08D}"/>
              </a:ext>
            </a:extLst>
          </p:cNvPr>
          <p:cNvCxnSpPr>
            <a:cxnSpLocks/>
            <a:endCxn id="24" idx="4"/>
          </p:cNvCxnSpPr>
          <p:nvPr/>
        </p:nvCxnSpPr>
        <p:spPr>
          <a:xfrm flipH="1" flipV="1">
            <a:off x="9513774" y="3507085"/>
            <a:ext cx="1169778" cy="3086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81B418E-C0FF-5391-B835-77C1AA7DF1B9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0101045" y="4270779"/>
            <a:ext cx="582507" cy="3645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D276A14-2D51-0DD3-F465-0D1CBF2133EB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10683552" y="4270779"/>
            <a:ext cx="577743" cy="3645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별: 꼭짓점 5개 3">
            <a:extLst>
              <a:ext uri="{FF2B5EF4-FFF2-40B4-BE49-F238E27FC236}">
                <a16:creationId xmlns:a16="http://schemas.microsoft.com/office/drawing/2014/main" id="{5C5D7A20-7298-D766-4C1F-FD7296A500D4}"/>
              </a:ext>
            </a:extLst>
          </p:cNvPr>
          <p:cNvSpPr/>
          <p:nvPr/>
        </p:nvSpPr>
        <p:spPr>
          <a:xfrm>
            <a:off x="11014414" y="285718"/>
            <a:ext cx="517000" cy="517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F07310B-FF17-4E79-32E8-9148F15C462E}"/>
              </a:ext>
            </a:extLst>
          </p:cNvPr>
          <p:cNvSpPr/>
          <p:nvPr/>
        </p:nvSpPr>
        <p:spPr>
          <a:xfrm>
            <a:off x="10456020" y="3826067"/>
            <a:ext cx="455064" cy="4550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en-US" altLang="ko-KR" sz="1200" baseline="-25000" dirty="0">
                <a:solidFill>
                  <a:schemeClr val="tx1"/>
                </a:solidFill>
              </a:rPr>
              <a:t>2</a:t>
            </a:r>
            <a:endParaRPr lang="ko-KR" altLang="en-US" sz="1200" baseline="-25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204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1476-C379-E999-82B7-CE96E32F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95E82-82F0-940C-921B-8D996B10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CFF70-EE5F-1180-419A-9CCF123DC7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405" y="1152525"/>
            <a:ext cx="11369675" cy="5497728"/>
          </a:xfrm>
        </p:spPr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github: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3"/>
              </a:rPr>
              <a:t>https://github.com/malb/dgs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다양한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Discrete </a:t>
            </a: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Gaussain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Sampling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기법을 구현하고 비교할 수 있음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dp_Ver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/ </a:t>
            </a: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mp_Ver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– Floating point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기반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2"/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dp_Ver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double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자료형으로 부동소수점 연산을 사용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  <a:p>
            <a:pPr lvl="2"/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mp_Ver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MPFR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기반의 임의 정밀도 부동소수점 연산을 사용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더 높은 정밀도로 사용 가능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377C9E4D-D1B7-2E52-EC1F-8156F4B261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1209893"/>
                  </p:ext>
                </p:extLst>
              </p:nvPr>
            </p:nvGraphicFramePr>
            <p:xfrm>
              <a:off x="296015" y="3749627"/>
              <a:ext cx="5332624" cy="23179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4116">
                      <a:extLst>
                        <a:ext uri="{9D8B030D-6E8A-4147-A177-3AD203B41FA5}">
                          <a16:colId xmlns:a16="http://schemas.microsoft.com/office/drawing/2014/main" val="1529668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679613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2435361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050525677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3036034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50630202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2071550010"/>
                        </a:ext>
                      </a:extLst>
                    </a:gridCol>
                  </a:tblGrid>
                  <a:tr h="354813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𝜎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Rejection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CDT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Conv.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49541"/>
                      </a:ext>
                    </a:extLst>
                  </a:tr>
                  <a:tr h="354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online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logtable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+ logtable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526074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2.281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2.087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2.729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1.149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0.154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0.325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972425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16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1.024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1.767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3.982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2.061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TIMEOUT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1.231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79144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0.606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865068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60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1.267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73627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377C9E4D-D1B7-2E52-EC1F-8156F4B261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1209893"/>
                  </p:ext>
                </p:extLst>
              </p:nvPr>
            </p:nvGraphicFramePr>
            <p:xfrm>
              <a:off x="296015" y="3749627"/>
              <a:ext cx="5332624" cy="23179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4116">
                      <a:extLst>
                        <a:ext uri="{9D8B030D-6E8A-4147-A177-3AD203B41FA5}">
                          <a16:colId xmlns:a16="http://schemas.microsoft.com/office/drawing/2014/main" val="1529668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679613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2435361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050525677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3036034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50630202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2071550010"/>
                        </a:ext>
                      </a:extLst>
                    </a:gridCol>
                  </a:tblGrid>
                  <a:tr h="354813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𝜎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Rejection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CDT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Conv.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49541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online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logtable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4478" t="-90769" r="-200746" b="-39846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526074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08" t="-190769" r="-1135211" b="-29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2.281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2.087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2.729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1.149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0.154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0.325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972425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08" t="-295313" r="-1135211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1.024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1.767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3.982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2.061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TIMEOUT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1.231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79144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08" t="-389231" r="-113521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0.606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865068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08" t="-496875" r="-1135211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1.267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73627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DFE05B-AC99-97E8-423E-7DF43688CCD1}"/>
                  </a:ext>
                </a:extLst>
              </p:cNvPr>
              <p:cNvSpPr txBox="1"/>
              <p:nvPr/>
            </p:nvSpPr>
            <p:spPr>
              <a:xfrm>
                <a:off x="3781900" y="6175249"/>
                <a:ext cx="28874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FAIL: </a:t>
                </a:r>
                <a14:m>
                  <m:oMath xmlns:m="http://schemas.openxmlformats.org/officeDocument/2006/math">
                    <m:r>
                      <a:rPr lang="ko-KR" altLang="en-US" sz="1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가 너무 크거나</a:t>
                </a:r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, double </a:t>
                </a:r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정밀도 한계</a:t>
                </a:r>
                <a:endParaRPr lang="en-US" altLang="ko-KR" sz="1000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OOM: overflow</a:t>
                </a:r>
                <a:endParaRPr lang="ko-KR" altLang="en-US" sz="1000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DFE05B-AC99-97E8-423E-7DF43688C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900" y="6175249"/>
                <a:ext cx="2887452" cy="400110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06DACC30-9EB4-259E-55C5-D511423DAB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290884"/>
                  </p:ext>
                </p:extLst>
              </p:nvPr>
            </p:nvGraphicFramePr>
            <p:xfrm>
              <a:off x="6263322" y="3749626"/>
              <a:ext cx="5332624" cy="23179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4116">
                      <a:extLst>
                        <a:ext uri="{9D8B030D-6E8A-4147-A177-3AD203B41FA5}">
                          <a16:colId xmlns:a16="http://schemas.microsoft.com/office/drawing/2014/main" val="1529668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679613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2435361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050525677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3036034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50630202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2071550010"/>
                        </a:ext>
                      </a:extLst>
                    </a:gridCol>
                  </a:tblGrid>
                  <a:tr h="354813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𝜎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Rejection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CDT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Conv.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49541"/>
                      </a:ext>
                    </a:extLst>
                  </a:tr>
                  <a:tr h="354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online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logtable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+ logtable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526074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35.861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1.841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4.740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3.331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0.544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1.458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972425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16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34.978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3.378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7.523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5.959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TIMEOUT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3.083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79144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34.693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12.880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10.689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4.859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865068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마켓 산스 Medium" panose="02000000000000000000" pitchFamily="50" charset="-127"/>
                                      </a:rPr>
                                      <m:t>60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34.790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23.910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10.424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73627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06DACC30-9EB4-259E-55C5-D511423DAB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290884"/>
                  </p:ext>
                </p:extLst>
              </p:nvPr>
            </p:nvGraphicFramePr>
            <p:xfrm>
              <a:off x="6263322" y="3749626"/>
              <a:ext cx="5332624" cy="23179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4116">
                      <a:extLst>
                        <a:ext uri="{9D8B030D-6E8A-4147-A177-3AD203B41FA5}">
                          <a16:colId xmlns:a16="http://schemas.microsoft.com/office/drawing/2014/main" val="1529668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67961303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2435361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050525677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430360341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1050630202"/>
                        </a:ext>
                      </a:extLst>
                    </a:gridCol>
                    <a:gridCol w="816418">
                      <a:extLst>
                        <a:ext uri="{9D8B030D-6E8A-4147-A177-3AD203B41FA5}">
                          <a16:colId xmlns:a16="http://schemas.microsoft.com/office/drawing/2014/main" val="2071550010"/>
                        </a:ext>
                      </a:extLst>
                    </a:gridCol>
                  </a:tblGrid>
                  <a:tr h="354813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𝜎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Rejection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CDT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Conv.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49541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online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logtable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4478" t="-90769" r="-200746" b="-39846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526074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8" t="-190769" r="-1135211" b="-29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35.861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1.841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4.740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3.331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0.544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1.458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972425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8" t="-295313" r="-1135211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34.978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3.378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7.523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5.959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TIMEOUT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3.083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791443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8" t="-389231" r="-113521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34.693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12.880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10.689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4.859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865068"/>
                      </a:ext>
                    </a:extLst>
                  </a:tr>
                  <a:tr h="3917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8" t="-496875" r="-1135211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34.790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23.910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FAIL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OOM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G마켓 산스 Medium" panose="02000000000000000000" pitchFamily="50" charset="-127"/>
                              <a:ea typeface="G마켓 산스 Medium" panose="02000000000000000000" pitchFamily="50" charset="-127"/>
                            </a:rPr>
                            <a:t>10.424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G마켓 산스 Medium" panose="02000000000000000000" pitchFamily="50" charset="-127"/>
                            <a:ea typeface="G마켓 산스 Medium" panose="02000000000000000000" pitchFamily="50" charset="-127"/>
                          </a:endParaRPr>
                        </a:p>
                      </a:txBody>
                      <a:tcPr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73627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F815EED-7CC1-0EC2-6DA3-5C77A6FDD5D0}"/>
              </a:ext>
            </a:extLst>
          </p:cNvPr>
          <p:cNvSpPr txBox="1"/>
          <p:nvPr/>
        </p:nvSpPr>
        <p:spPr>
          <a:xfrm>
            <a:off x="1518601" y="3441849"/>
            <a:ext cx="28874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dp_Ver</a:t>
            </a:r>
            <a:endParaRPr lang="ko-KR" altLang="en-US" sz="1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EFB63-CF4C-3E8B-B615-17228CF5E000}"/>
              </a:ext>
            </a:extLst>
          </p:cNvPr>
          <p:cNvSpPr txBox="1"/>
          <p:nvPr/>
        </p:nvSpPr>
        <p:spPr>
          <a:xfrm>
            <a:off x="7485908" y="3441849"/>
            <a:ext cx="28874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mp_Ver</a:t>
            </a:r>
            <a:endParaRPr lang="ko-KR" altLang="en-US" sz="1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30B3E5-5AFD-F4A9-C458-F5B751060210}"/>
                  </a:ext>
                </a:extLst>
              </p:cNvPr>
              <p:cNvSpPr txBox="1"/>
              <p:nvPr/>
            </p:nvSpPr>
            <p:spPr>
              <a:xfrm>
                <a:off x="410404" y="6150114"/>
                <a:ext cx="373487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online: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사전 표 없음</a:t>
                </a:r>
                <a:endParaRPr lang="en-US" altLang="ko-KR" sz="10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table: </a:t>
                </a:r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사전 표 사용 </a:t>
                </a:r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+ </a:t>
                </a:r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메모리 사용 증가</a:t>
                </a:r>
                <a:endParaRPr lang="en-US" altLang="ko-KR" sz="1000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r>
                  <a:rPr lang="en-US" altLang="ko-KR" sz="1000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logtable</a:t>
                </a:r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: </a:t>
                </a:r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메모리 최적화</a:t>
                </a:r>
                <a:endParaRPr lang="en-US" altLang="ko-KR" sz="1000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 + </a:t>
                </a:r>
                <a:r>
                  <a:rPr lang="en-US" altLang="ko-KR" sz="1000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logtable</a:t>
                </a:r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: </a:t>
                </a:r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가우시안 모양의 후보</a:t>
                </a:r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(reject</a:t>
                </a:r>
                <a:r>
                  <a:rPr lang="ko-KR" altLang="en-US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이 </a:t>
                </a:r>
                <a:r>
                  <a:rPr lang="ko-KR" altLang="en-US" sz="1000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줄어듬</a:t>
                </a:r>
                <a:r>
                  <a:rPr lang="en-US" altLang="ko-KR" sz="1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30B3E5-5AFD-F4A9-C458-F5B751060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4" y="6150114"/>
                <a:ext cx="3734875" cy="707886"/>
              </a:xfrm>
              <a:prstGeom prst="rect">
                <a:avLst/>
              </a:prstGeom>
              <a:blipFill>
                <a:blip r:embed="rId7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E1676B8-F880-11D2-5061-0519D53005DB}"/>
              </a:ext>
            </a:extLst>
          </p:cNvPr>
          <p:cNvSpPr txBox="1"/>
          <p:nvPr/>
        </p:nvSpPr>
        <p:spPr>
          <a:xfrm>
            <a:off x="9552430" y="6314240"/>
            <a:ext cx="234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Constant </a:t>
            </a:r>
            <a:r>
              <a:rPr lang="ko-KR" altLang="en-US" sz="16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아님</a:t>
            </a:r>
          </a:p>
        </p:txBody>
      </p:sp>
    </p:spTree>
    <p:extLst>
      <p:ext uri="{BB962C8B-B14F-4D97-AF65-F5344CB8AC3E}">
        <p14:creationId xmlns:p14="http://schemas.microsoft.com/office/powerpoint/2010/main" val="3273550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B40A-F4B7-C15C-609A-19242C68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C581B-3780-4A58-217C-75C3BE21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E8F314F-C3A7-0E00-BF67-EB37D81DA3C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56917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sz="20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Gaussian Sampling over the Integers: Efficient, Generic, Constant-time</a:t>
                </a:r>
              </a:p>
              <a:p>
                <a:pPr lvl="1"/>
                <a:r>
                  <a:rPr kumimoji="1" lang="en-US" altLang="ko-KR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Convolution</a:t>
                </a:r>
                <a:r>
                  <a:rPr kumimoji="1" lang="ko-KR" altLang="en-US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 최적화 </a:t>
                </a:r>
                <a:r>
                  <a:rPr kumimoji="1" lang="en-US" altLang="ko-KR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constant time </a:t>
                </a:r>
                <a:r>
                  <a:rPr kumimoji="1" lang="ko-KR" altLang="en-US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구현 구조 제안</a:t>
                </a:r>
                <a:endParaRPr kumimoji="1" lang="en-US" altLang="ko-KR" sz="1800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lvl="1"/>
                <a:r>
                  <a:rPr kumimoji="1" lang="en-US" altLang="ko-KR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convolution</a:t>
                </a:r>
                <a:r>
                  <a:rPr kumimoji="1" lang="ko-KR" altLang="en-US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은 기본적으로 작은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ko-KR" altLang="en-US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를 합쳐서 목표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ko-KR" altLang="en-US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를 샘플링함</a:t>
                </a:r>
                <a:r>
                  <a:rPr kumimoji="1" lang="en-US" altLang="ko-KR" sz="18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.</a:t>
                </a:r>
                <a:endParaRPr kumimoji="1" lang="ko-KR" altLang="en-US" sz="1800" dirty="0"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E8F314F-C3A7-0E00-BF67-EB37D81DA3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56917"/>
              </a:xfrm>
              <a:blipFill>
                <a:blip r:embed="rId3"/>
                <a:stretch>
                  <a:fillRect l="-446" t="-7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10068C-5355-4780-C13A-45554DCD7ED9}"/>
                  </a:ext>
                </a:extLst>
              </p:cNvPr>
              <p:cNvSpPr txBox="1"/>
              <p:nvPr/>
            </p:nvSpPr>
            <p:spPr>
              <a:xfrm>
                <a:off x="626463" y="3126078"/>
                <a:ext cx="494263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𝜎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기반 동적 결정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초기화 단계에서 </a:t>
                </a:r>
                <a14:m>
                  <m:oMath xmlns:m="http://schemas.openxmlformats.org/officeDocument/2006/math"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𝜎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보고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Layer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수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, </a:t>
                </a:r>
                <a:b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</a:b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테이블 크기 결정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부동소수점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double, </a:t>
                </a:r>
                <a:r>
                  <a:rPr kumimoji="1" lang="en-US" altLang="ko-KR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mpfr_t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사용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float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비교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입력에 의존적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반복 횟수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,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분기가 </a:t>
                </a:r>
                <a14:m>
                  <m:oMath xmlns:m="http://schemas.openxmlformats.org/officeDocument/2006/math"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𝜎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∙</m:t>
                    </m:r>
                    <m:r>
                      <m:rPr>
                        <m:sty m:val="p"/>
                      </m:rPr>
                      <a:rPr kumimoji="1" lang="en-US" altLang="ko-KR" i="1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center</m:t>
                    </m:r>
                  </m:oMath>
                </a14:m>
                <a:r>
                  <a:rPr kumimoji="1" lang="ko-KR" altLang="en-US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에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따라 변함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따라서 실행시간 가변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입력마다 실행 시간이 달라짐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10068C-5355-4780-C13A-45554DCD7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63" y="3126078"/>
                <a:ext cx="4942638" cy="2862322"/>
              </a:xfrm>
              <a:prstGeom prst="rect">
                <a:avLst/>
              </a:prstGeom>
              <a:blipFill>
                <a:blip r:embed="rId4"/>
                <a:stretch>
                  <a:fillRect l="-769" t="-885" b="-26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280F4F-932E-A580-4568-DFB9F50BD048}"/>
              </a:ext>
            </a:extLst>
          </p:cNvPr>
          <p:cNvSpPr/>
          <p:nvPr/>
        </p:nvSpPr>
        <p:spPr>
          <a:xfrm>
            <a:off x="6199658" y="2418319"/>
            <a:ext cx="5635602" cy="42449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D88D79-C4F5-FDB8-6E0D-FD80BC9AC743}"/>
              </a:ext>
            </a:extLst>
          </p:cNvPr>
          <p:cNvSpPr/>
          <p:nvPr/>
        </p:nvSpPr>
        <p:spPr>
          <a:xfrm>
            <a:off x="469238" y="2418319"/>
            <a:ext cx="5257086" cy="42737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4DB40-B181-6ED2-763F-13D550501DD5}"/>
              </a:ext>
            </a:extLst>
          </p:cNvPr>
          <p:cNvSpPr txBox="1"/>
          <p:nvPr/>
        </p:nvSpPr>
        <p:spPr>
          <a:xfrm>
            <a:off x="1585191" y="2235704"/>
            <a:ext cx="3025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기존 방식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(</a:t>
            </a: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dgs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라이브러리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)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212AA-FEE3-1E3B-F147-574D9A0B24B0}"/>
              </a:ext>
            </a:extLst>
          </p:cNvPr>
          <p:cNvSpPr txBox="1"/>
          <p:nvPr/>
        </p:nvSpPr>
        <p:spPr>
          <a:xfrm>
            <a:off x="8447431" y="2233653"/>
            <a:ext cx="11400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논문 방식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16CD10-2DA8-A036-55FA-38A6420FB9EE}"/>
                  </a:ext>
                </a:extLst>
              </p:cNvPr>
              <p:cNvSpPr txBox="1"/>
              <p:nvPr/>
            </p:nvSpPr>
            <p:spPr>
              <a:xfrm>
                <a:off x="6356880" y="2847028"/>
                <a:ext cx="533829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상수로 고정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ko-KR" altLang="en-US" i="1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𝜎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과 무관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, Layer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수와 크기를 미리 정해진 상수로 고정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Fixed-point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정수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𝑃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JP" panose="02000503000000020004" pitchFamily="2" charset="-128"/>
                      </a:rPr>
                      <m:t>×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JP" panose="02000503000000020004" pitchFamily="2" charset="-128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JP" panose="02000503000000020004" pitchFamily="2" charset="-128"/>
                          </a:rPr>
                          <m:t>2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 JP" panose="02000503000000020004" pitchFamily="2" charset="-128"/>
                          </a:rPr>
                          <m:t>64</m:t>
                        </m:r>
                      </m:sup>
                    </m:sSup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미리 연산 </a:t>
                </a: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테이블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lookup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사용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매 호출은 정수 비트 비교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연산 과정 고정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동일한 </a:t>
                </a:r>
                <a:r>
                  <a:rPr kumimoji="1" lang="ko-KR" altLang="en-US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루프랑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테이블 조회를 고정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Mask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트릭으로 분기 제거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Constant-time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비밀 값과 관련된 값에 대해서는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constant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Base Sampler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는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rejection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루프가 있음</a:t>
                </a:r>
                <a:endParaRPr kumimoji="1"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16CD10-2DA8-A036-55FA-38A6420FB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80" y="2847028"/>
                <a:ext cx="5338293" cy="3416320"/>
              </a:xfrm>
              <a:prstGeom prst="rect">
                <a:avLst/>
              </a:prstGeom>
              <a:blipFill>
                <a:blip r:embed="rId5"/>
                <a:stretch>
                  <a:fillRect l="-713" t="-1115" r="-238" b="-2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193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3FC9-13A1-2F2D-ED9E-F266A969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50EC2-B1A2-6FBB-5776-4C7A94E3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9DA72D-1961-6485-5C00-211A70E7BD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Gaussian Sampling over the Integers: Efficient, Generic, Constant-time</a:t>
            </a:r>
          </a:p>
          <a:p>
            <a:pPr lvl="1"/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OpenFHE (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  <a:hlinkClick r:id="rId2"/>
              </a:rPr>
              <a:t>https://github.com/openfheorg/openfhe-development</a:t>
            </a:r>
            <a:r>
              <a:rPr kumimoji="1" lang="en-US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lvl="1"/>
            <a:endParaRPr kumimoji="1" lang="ko-KR" altLang="en-US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956E27-13B5-8213-574B-D438D68A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940" y="2616708"/>
            <a:ext cx="5928757" cy="4930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F95FD1-D2FF-52FF-F58B-487B19F43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940" y="3276001"/>
            <a:ext cx="5205867" cy="13168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06E5DF-325F-9FB4-B0A5-54C8D0FED2D3}"/>
              </a:ext>
            </a:extLst>
          </p:cNvPr>
          <p:cNvSpPr/>
          <p:nvPr/>
        </p:nvSpPr>
        <p:spPr>
          <a:xfrm>
            <a:off x="469729" y="4800068"/>
            <a:ext cx="2661947" cy="17519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OpenFHE default</a:t>
            </a:r>
          </a:p>
          <a:p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#define MAX_LEVELS 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4</a:t>
            </a:r>
          </a:p>
          <a:p>
            <a:endParaRPr lang="en-US" altLang="ko-KR" sz="1400" dirty="0">
              <a:solidFill>
                <a:srgbClr val="00B0F0"/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Test override</a:t>
            </a:r>
          </a:p>
          <a:p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#define MAX_LEVELS 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5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9E73EB-0C5A-32E3-768E-2A4158554235}"/>
              </a:ext>
            </a:extLst>
          </p:cNvPr>
          <p:cNvSpPr/>
          <p:nvPr/>
        </p:nvSpPr>
        <p:spPr>
          <a:xfrm>
            <a:off x="5616593" y="4800068"/>
            <a:ext cx="4371781" cy="17519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OpenFHE default</a:t>
            </a:r>
          </a:p>
          <a:p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return 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x1 * sampler1-&gt;Gen..()  + x2 * sampler2-&gt;Gen..();</a:t>
            </a:r>
          </a:p>
          <a:p>
            <a:endParaRPr lang="en-US" altLang="ko-KR" sz="1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Test override</a:t>
            </a:r>
          </a:p>
          <a:p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return </a:t>
            </a:r>
            <a:r>
              <a:rPr lang="en-US" altLang="ko-KR" sz="14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static_cast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&lt;__int128&gt; (x1) * sampler1-&gt;Gen..()  + </a:t>
            </a:r>
            <a:b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</a:b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       </a:t>
            </a:r>
            <a:r>
              <a:rPr lang="en-US" altLang="ko-KR" sz="14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static_cast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&lt;__int128&gt; (x2) * sampler2-&gt;Gen..();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A40DFD-6361-8FED-DD50-5A1B1219D5F0}"/>
                  </a:ext>
                </a:extLst>
              </p:cNvPr>
              <p:cNvSpPr txBox="1"/>
              <p:nvPr/>
            </p:nvSpPr>
            <p:spPr>
              <a:xfrm>
                <a:off x="2886940" y="6011893"/>
                <a:ext cx="272965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ko-KR" sz="1600" dirty="0">
                    <a:solidFill>
                      <a:schemeClr val="tx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level 4 : wide </a:t>
                </a:r>
                <a14:m>
                  <m:oMath xmlns:m="http://schemas.openxmlformats.org/officeDocument/2006/math">
                    <m:r>
                      <a:rPr kumimoji="1" lang="en-US" altLang="ko-K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kumimoji="1"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endParaRPr kumimoji="1" lang="en-US" altLang="ko-KR" sz="16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  <a:p>
                <a:pPr algn="ctr"/>
                <a:r>
                  <a:rPr kumimoji="1" lang="en-US" altLang="ko-KR" sz="1600" dirty="0">
                    <a:solidFill>
                      <a:schemeClr val="tx1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level 5 : wide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kumimoji="1"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kumimoji="1"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62</m:t>
                        </m:r>
                      </m:sup>
                    </m:sSup>
                  </m:oMath>
                </a14:m>
                <a:endParaRPr kumimoji="1" lang="ko-KR" altLang="en-US" sz="16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A40DFD-6361-8FED-DD50-5A1B1219D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940" y="6011893"/>
                <a:ext cx="2729653" cy="584775"/>
              </a:xfrm>
              <a:prstGeom prst="rect">
                <a:avLst/>
              </a:prstGeom>
              <a:blipFill>
                <a:blip r:embed="rId5"/>
                <a:stretch>
                  <a:fillRect t="-1042" b="-14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316E8A-C1DD-0F8A-96A8-03E8D359DB7C}"/>
                  </a:ext>
                </a:extLst>
              </p:cNvPr>
              <p:cNvSpPr txBox="1"/>
              <p:nvPr/>
            </p:nvSpPr>
            <p:spPr>
              <a:xfrm>
                <a:off x="10007716" y="5721063"/>
                <a:ext cx="272965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큰 </a:t>
                </a:r>
                <a14:m>
                  <m:oMath xmlns:m="http://schemas.openxmlformats.org/officeDocument/2006/math">
                    <m:r>
                      <a:rPr kumimoji="1" lang="ko-KR" altLang="en-US" sz="16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ko-KR" altLang="en-US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에서 발생하는 </a:t>
                </a:r>
                <a:r>
                  <a:rPr kumimoji="1" lang="en-US" altLang="ko-KR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Convolution </a:t>
                </a:r>
                <a:r>
                  <a:rPr kumimoji="1" lang="ko-KR" altLang="en-US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중간값 </a:t>
                </a:r>
                <a:r>
                  <a:rPr kumimoji="1" lang="en-US" altLang="ko-KR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overflow</a:t>
                </a:r>
                <a:r>
                  <a:rPr kumimoji="1" lang="ko-KR" altLang="en-US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로 인해</a:t>
                </a:r>
                <a:r>
                  <a:rPr kumimoji="1" lang="en-US" altLang="ko-KR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</a:rPr>
                  <a:t>.</a:t>
                </a:r>
                <a:endParaRPr kumimoji="1" lang="ko-KR" altLang="en-US" sz="16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316E8A-C1DD-0F8A-96A8-03E8D359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716" y="5721063"/>
                <a:ext cx="2729653" cy="830997"/>
              </a:xfrm>
              <a:prstGeom prst="rect">
                <a:avLst/>
              </a:prstGeom>
              <a:blipFill>
                <a:blip r:embed="rId6"/>
                <a:stretch>
                  <a:fillRect l="-1342" t="-730" b="-87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BB25C2-DDD7-CE3B-E152-79705434FDCE}"/>
              </a:ext>
            </a:extLst>
          </p:cNvPr>
          <p:cNvSpPr/>
          <p:nvPr/>
        </p:nvSpPr>
        <p:spPr>
          <a:xfrm>
            <a:off x="5589500" y="2803216"/>
            <a:ext cx="3169920" cy="2980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BFF527-5574-689B-70FA-909D140F37D8}"/>
              </a:ext>
            </a:extLst>
          </p:cNvPr>
          <p:cNvSpPr/>
          <p:nvPr/>
        </p:nvSpPr>
        <p:spPr>
          <a:xfrm>
            <a:off x="3191739" y="3538724"/>
            <a:ext cx="4901067" cy="529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987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CB92-FA5F-9A3C-A3AA-1707DD98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0B703D-1430-E912-9828-8FD2F62CE9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>
            <a:normAutofit/>
          </a:bodyPr>
          <a:lstStyle/>
          <a:p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DGS 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라이브러리와 </a:t>
            </a:r>
            <a:r>
              <a:rPr kumimoji="1" lang="en-US" altLang="ko-KR" sz="2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openFHE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-Constant </a:t>
            </a:r>
            <a:r>
              <a:rPr kumimoji="1" lang="en-US" altLang="ko-KR" sz="2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Covolution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구현 비교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045810-B517-0E59-B7C8-0BE9D228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0964D2-724E-1F8C-7D74-4CE94C06FF40}"/>
              </a:ext>
            </a:extLst>
          </p:cNvPr>
          <p:cNvSpPr/>
          <p:nvPr/>
        </p:nvSpPr>
        <p:spPr>
          <a:xfrm>
            <a:off x="608347" y="3678289"/>
            <a:ext cx="5018088" cy="24479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σ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가 작아질 때까지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while → recursion_level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이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σ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로 결정됨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while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(table_size &gt; </a:t>
            </a:r>
            <a:r>
              <a:rPr lang="en-US" altLang="ko-K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MAX_TABLE_SIZE_BYTES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 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recursion_level++;</a:t>
            </a:r>
          </a:p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z1 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floor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sqrt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(current_sigma / (eta *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)));</a:t>
            </a:r>
          </a:p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z2 = (z1 &gt;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 ? z1 −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: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;</a:t>
            </a:r>
          </a:p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current_sigma /=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sqrt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(z1*z1 + z2*z2);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table_size =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*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ceil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(current_sigma * tau) * per_entry;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n_coefficients = 1 &lt;&lt; recursion_level; 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</a:t>
            </a:r>
            <a:r>
              <a:rPr lang="el-GR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σ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의존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A76E7-DC43-B37E-EB80-F416D0134C7A}"/>
              </a:ext>
            </a:extLst>
          </p:cNvPr>
          <p:cNvSpPr txBox="1"/>
          <p:nvPr/>
        </p:nvSpPr>
        <p:spPr>
          <a:xfrm>
            <a:off x="608347" y="3308957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dgs_gauss_dp.c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373555-26D1-0B51-B057-3AA8AC913FFA}"/>
                  </a:ext>
                </a:extLst>
              </p:cNvPr>
              <p:cNvSpPr txBox="1"/>
              <p:nvPr/>
            </p:nvSpPr>
            <p:spPr>
              <a:xfrm>
                <a:off x="2190278" y="2772846"/>
                <a:ext cx="1854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Pretendard JP" panose="02000503000000020004" pitchFamily="2" charset="-128"/>
                        <a:cs typeface="Pretendard JP" panose="02000503000000020004" pitchFamily="2" charset="-128"/>
                      </a:rPr>
                      <m:t>𝜎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기반 동적 결정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373555-26D1-0B51-B057-3AA8AC913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278" y="2772846"/>
                <a:ext cx="1854226" cy="369332"/>
              </a:xfrm>
              <a:prstGeom prst="rect">
                <a:avLst/>
              </a:prstGeom>
              <a:blipFill>
                <a:blip r:embed="rId2"/>
                <a:stretch>
                  <a:fillRect t="-6667" r="-2632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663DE1B-15FD-72F8-22E7-F25A8E8A7752}"/>
              </a:ext>
            </a:extLst>
          </p:cNvPr>
          <p:cNvCxnSpPr>
            <a:cxnSpLocks/>
          </p:cNvCxnSpPr>
          <p:nvPr/>
        </p:nvCxnSpPr>
        <p:spPr>
          <a:xfrm>
            <a:off x="6096000" y="1685395"/>
            <a:ext cx="0" cy="5038725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E4FDAC-8108-0C06-02C7-2742D9780541}"/>
              </a:ext>
            </a:extLst>
          </p:cNvPr>
          <p:cNvSpPr/>
          <p:nvPr/>
        </p:nvSpPr>
        <p:spPr>
          <a:xfrm>
            <a:off x="6477299" y="3506839"/>
            <a:ext cx="5496681" cy="28860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컴파일 타임 상수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. </a:t>
            </a:r>
            <a:r>
              <a:rPr lang="el-GR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σ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와 완전 무관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#define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MAX_LEVELS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5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     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header</a:t>
            </a:r>
          </a:p>
          <a:p>
            <a:endParaRPr lang="en-US" altLang="ko-KR" sz="1400" dirty="0">
              <a:solidFill>
                <a:schemeClr val="bg1"/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항상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번 반복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el-GR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σ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altLang="ko-KR" sz="1400" baseline="30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30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이든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altLang="ko-KR" sz="1400" baseline="30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60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이든 동일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for (int i =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; i &lt; </a:t>
            </a:r>
            <a:r>
              <a:rPr lang="en-US" altLang="ko-K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MAX_LEVELS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; ++i) 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x1 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floor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sqrt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(wide_variance / (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2.0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*N*N)));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x2 = max(x1 −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wide_sampler = </a:t>
            </a:r>
            <a:r>
              <a:rPr lang="en-US" altLang="ko-KR" sz="1400" dirty="0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new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SamplerCombiner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(...);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k 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ceil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((PRECISION − BERNOULLI_FLIPS) / log_base); 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= 6,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고정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7DD47-FDA1-25BD-F88C-087B548ACF30}"/>
              </a:ext>
            </a:extLst>
          </p:cNvPr>
          <p:cNvSpPr txBox="1"/>
          <p:nvPr/>
        </p:nvSpPr>
        <p:spPr>
          <a:xfrm>
            <a:off x="6477299" y="3137507"/>
            <a:ext cx="363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discretegaussiangeneratorgeneric.cpp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D48C2B-779F-DE4C-3BF7-5D405B8C6AED}"/>
              </a:ext>
            </a:extLst>
          </p:cNvPr>
          <p:cNvSpPr txBox="1"/>
          <p:nvPr/>
        </p:nvSpPr>
        <p:spPr>
          <a:xfrm>
            <a:off x="8655611" y="2601396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상수 고정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9D0AD9-50BD-1739-BC1E-1B5A683AB390}"/>
              </a:ext>
            </a:extLst>
          </p:cNvPr>
          <p:cNvSpPr txBox="1"/>
          <p:nvPr/>
        </p:nvSpPr>
        <p:spPr>
          <a:xfrm>
            <a:off x="608347" y="1950793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dgs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라이브러리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4CCAC0-15A7-6EC8-DF6B-09EE78B41D00}"/>
              </a:ext>
            </a:extLst>
          </p:cNvPr>
          <p:cNvSpPr txBox="1"/>
          <p:nvPr/>
        </p:nvSpPr>
        <p:spPr>
          <a:xfrm>
            <a:off x="6477299" y="1950793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openFHE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1225380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59C1-ED79-0E36-D55E-8B3AB839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9E388-B8BA-F8AC-23F8-804FB93C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CDBEF9-582A-A71B-B902-CB105F922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DGS 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라이브러리와 </a:t>
            </a:r>
            <a:r>
              <a:rPr kumimoji="1" lang="en-US" altLang="ko-KR" sz="2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openFHE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-Constant </a:t>
            </a:r>
            <a:r>
              <a:rPr kumimoji="1" lang="en-US" altLang="ko-KR" sz="2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Covolution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07660A-8073-0621-4D02-6015CAD4D595}"/>
              </a:ext>
            </a:extLst>
          </p:cNvPr>
          <p:cNvSpPr/>
          <p:nvPr/>
        </p:nvSpPr>
        <p:spPr>
          <a:xfrm>
            <a:off x="628666" y="3762023"/>
            <a:ext cx="5018088" cy="18284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y, z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double —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부동소수점 계산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do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x = self-&gt;c_z +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_dgs_randomm_libc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(...) − ...;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z 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exp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(((double)x − c)*((double)x − c) * self-&gt;f);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y 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drand48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();             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double [0,1)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while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(y &gt;= z);           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float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비교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(CPU·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값 따라 시간 다름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0D8A3-073F-1C81-FA77-2981208DE5E1}"/>
              </a:ext>
            </a:extLst>
          </p:cNvPr>
          <p:cNvSpPr txBox="1"/>
          <p:nvPr/>
        </p:nvSpPr>
        <p:spPr>
          <a:xfrm>
            <a:off x="628666" y="3308957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dgs_gauss_dp.c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65F7C-00FD-3A1C-8841-E5FBC8120DC5}"/>
              </a:ext>
            </a:extLst>
          </p:cNvPr>
          <p:cNvSpPr txBox="1"/>
          <p:nvPr/>
        </p:nvSpPr>
        <p:spPr>
          <a:xfrm>
            <a:off x="1738638" y="2772846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부동소수점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+ float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FFFCB7-1937-54C2-0991-883C2BE036EC}"/>
              </a:ext>
            </a:extLst>
          </p:cNvPr>
          <p:cNvSpPr/>
          <p:nvPr/>
        </p:nvSpPr>
        <p:spPr>
          <a:xfrm>
            <a:off x="6409566" y="3506839"/>
            <a:ext cx="5496681" cy="28860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(</a:t>
            </a:r>
            <a:r>
              <a:rPr lang="en-US" altLang="ko-KR" sz="14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init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확률을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2^64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정수로 환산해 테이블에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probMatrix[i] = probs[i] * (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1.0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/S) * std::pow(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64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);	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uint64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hammingWeights[j] += ((probMatrix[i] &gt;&gt; (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63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−j)) &amp;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);</a:t>
            </a:r>
          </a:p>
          <a:p>
            <a:endParaRPr lang="en-US" altLang="ko-KR" sz="1400" dirty="0">
              <a:solidFill>
                <a:schemeClr val="bg1"/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(call) PRNG 1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비트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+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정수 시프트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+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정수 비교만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bit = bg-&gt;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Generate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nodeIndex = nodeIndex *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+ bit;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if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(ans &gt;=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0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&amp;&amp; ans != b_matrixSize −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 hit = true;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533FE-9F73-6743-C251-6E72BB1D0B20}"/>
              </a:ext>
            </a:extLst>
          </p:cNvPr>
          <p:cNvSpPr txBox="1"/>
          <p:nvPr/>
        </p:nvSpPr>
        <p:spPr>
          <a:xfrm>
            <a:off x="6409566" y="3137507"/>
            <a:ext cx="363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discretegaussiangeneratorgeneric.cpp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CDE53-A156-4E2E-AF22-B202029EDC95}"/>
              </a:ext>
            </a:extLst>
          </p:cNvPr>
          <p:cNvSpPr txBox="1"/>
          <p:nvPr/>
        </p:nvSpPr>
        <p:spPr>
          <a:xfrm>
            <a:off x="8183803" y="2601396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Fixed-point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정수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E52314-3A0B-649C-C1B3-8C76A175F83E}"/>
              </a:ext>
            </a:extLst>
          </p:cNvPr>
          <p:cNvSpPr txBox="1"/>
          <p:nvPr/>
        </p:nvSpPr>
        <p:spPr>
          <a:xfrm>
            <a:off x="628666" y="1950793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dgs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라이브러리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8AE14-1A60-757C-8038-A918AD775950}"/>
              </a:ext>
            </a:extLst>
          </p:cNvPr>
          <p:cNvSpPr txBox="1"/>
          <p:nvPr/>
        </p:nvSpPr>
        <p:spPr>
          <a:xfrm>
            <a:off x="6409566" y="1950793"/>
            <a:ext cx="480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openFHE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라이브러리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(</a:t>
            </a: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Knuth_yao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방식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)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3A7A9EF-E25D-11DB-5756-614CE83C0242}"/>
              </a:ext>
            </a:extLst>
          </p:cNvPr>
          <p:cNvCxnSpPr>
            <a:cxnSpLocks/>
          </p:cNvCxnSpPr>
          <p:nvPr/>
        </p:nvCxnSpPr>
        <p:spPr>
          <a:xfrm>
            <a:off x="6096000" y="1685395"/>
            <a:ext cx="0" cy="5038725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4758D2-8DBA-055A-AF53-0E0B323A974A}"/>
              </a:ext>
            </a:extLst>
          </p:cNvPr>
          <p:cNvSpPr txBox="1"/>
          <p:nvPr/>
        </p:nvSpPr>
        <p:spPr>
          <a:xfrm>
            <a:off x="9530601" y="2265015"/>
            <a:ext cx="1998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PRNG 1비트씩 트리 하강</a:t>
            </a:r>
          </a:p>
        </p:txBody>
      </p:sp>
    </p:spTree>
    <p:extLst>
      <p:ext uri="{BB962C8B-B14F-4D97-AF65-F5344CB8AC3E}">
        <p14:creationId xmlns:p14="http://schemas.microsoft.com/office/powerpoint/2010/main" val="3804367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5D9B-2AE7-57C1-5CDB-3FC83580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CF6B1-D084-867C-492B-57706980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2CD073-3F2E-0B27-3718-77EE57149B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DGS 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라이브러리와 </a:t>
            </a:r>
            <a:r>
              <a:rPr kumimoji="1" lang="en-US" altLang="ko-KR" sz="2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openFHE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-Constant </a:t>
            </a:r>
            <a:r>
              <a:rPr kumimoji="1" lang="en-US" altLang="ko-KR" sz="24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Covolution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163325-201C-294A-72E7-90B9A2EB2BF6}"/>
              </a:ext>
            </a:extLst>
          </p:cNvPr>
          <p:cNvSpPr/>
          <p:nvPr/>
        </p:nvSpPr>
        <p:spPr>
          <a:xfrm>
            <a:off x="628666" y="3654625"/>
            <a:ext cx="5018088" cy="2869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반복 횟수가 입력 의존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do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{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x = ...;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z = ...;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y =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drand48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();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while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(y &gt;= z);              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//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횟수 가변 → 시간 가변</a:t>
            </a:r>
          </a:p>
          <a:p>
            <a:endParaRPr lang="ko-KR" altLang="en-US" sz="1400" dirty="0">
              <a:solidFill>
                <a:schemeClr val="bg1"/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center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에 따라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if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분기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if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(self-&gt;coset_sampler) {    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분수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center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일 때만 호출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x += self-&gt;coset_sampler-&gt;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call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(...);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90561-5299-782B-B623-48AFF91BE3ED}"/>
              </a:ext>
            </a:extLst>
          </p:cNvPr>
          <p:cNvSpPr txBox="1"/>
          <p:nvPr/>
        </p:nvSpPr>
        <p:spPr>
          <a:xfrm>
            <a:off x="628666" y="3201560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dgs_gauss_dp.c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9996F-3895-2DF7-BFDF-C7405A693882}"/>
              </a:ext>
            </a:extLst>
          </p:cNvPr>
          <p:cNvSpPr txBox="1"/>
          <p:nvPr/>
        </p:nvSpPr>
        <p:spPr>
          <a:xfrm>
            <a:off x="1441572" y="2772846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가변 흐름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– rejection + if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분기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7C53F1-DF05-E590-B611-B5E90479D8C3}"/>
              </a:ext>
            </a:extLst>
          </p:cNvPr>
          <p:cNvSpPr/>
          <p:nvPr/>
        </p:nvSpPr>
        <p:spPr>
          <a:xfrm>
            <a:off x="6409566" y="3399442"/>
            <a:ext cx="5496681" cy="32172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항상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k=6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번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분기 대신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mask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인덱싱으로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sampler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선택</a:t>
            </a: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for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(int i = 0; i &lt; k; ++i) {</a:t>
            </a:r>
          </a:p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// "mask &amp; c"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의 값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(0~31)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이 곧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sampler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인덱스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— if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문 없음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sample = base_samplers[mask &amp; c]-&gt;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GenerateInteger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c &gt;&gt;= log_base;  c += sample;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</a:t>
            </a:r>
          </a:p>
          <a:p>
            <a:endParaRPr lang="en-US" altLang="ko-KR" sz="1400" dirty="0">
              <a:solidFill>
                <a:schemeClr val="bg1"/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// flipAndRound — 23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비트 모두 결정론적 비교 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for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(int i = BERNOULLI_FLIPS−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; i &gt;=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0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; −−i) 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rb = base_samplers[0]-&gt;RandomBit();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if (rb &gt;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extractBit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(c, i)) return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SampleC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(base_c);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    if (rb &lt;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extractBit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(c, i)) return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SampleC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(base_c + </a:t>
            </a:r>
            <a: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A86AE-1364-67F8-FA07-1D4B93CCBCFB}"/>
              </a:ext>
            </a:extLst>
          </p:cNvPr>
          <p:cNvSpPr txBox="1"/>
          <p:nvPr/>
        </p:nvSpPr>
        <p:spPr>
          <a:xfrm>
            <a:off x="6409566" y="3030110"/>
            <a:ext cx="363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Times New Roman" panose="02020603050405020304" pitchFamily="18" charset="0"/>
                <a:ea typeface="Pretendard JP" panose="02000503000000020004" pitchFamily="2" charset="-128"/>
                <a:cs typeface="Times New Roman" panose="02020603050405020304" pitchFamily="18" charset="0"/>
              </a:rPr>
              <a:t>discretegaussiangeneratorgeneric.cpp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627C8-5A01-7001-FB5C-6DE1375056E6}"/>
              </a:ext>
            </a:extLst>
          </p:cNvPr>
          <p:cNvSpPr txBox="1"/>
          <p:nvPr/>
        </p:nvSpPr>
        <p:spPr>
          <a:xfrm>
            <a:off x="8183803" y="2601396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고정 흐름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+ Mask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트릭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81B29C-5561-C03A-C5EC-76AFD2155EBB}"/>
              </a:ext>
            </a:extLst>
          </p:cNvPr>
          <p:cNvSpPr txBox="1"/>
          <p:nvPr/>
        </p:nvSpPr>
        <p:spPr>
          <a:xfrm>
            <a:off x="628666" y="1950793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dgs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라이브러리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78993-6D23-4855-70FB-D32A7F29AEF8}"/>
              </a:ext>
            </a:extLst>
          </p:cNvPr>
          <p:cNvSpPr txBox="1"/>
          <p:nvPr/>
        </p:nvSpPr>
        <p:spPr>
          <a:xfrm>
            <a:off x="6409566" y="1950793"/>
            <a:ext cx="480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openFHE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라이브러리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(</a:t>
            </a: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Knuth_yao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방식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)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44F3537-09ED-92F3-FFBE-81326DF5F06B}"/>
              </a:ext>
            </a:extLst>
          </p:cNvPr>
          <p:cNvCxnSpPr>
            <a:cxnSpLocks/>
          </p:cNvCxnSpPr>
          <p:nvPr/>
        </p:nvCxnSpPr>
        <p:spPr>
          <a:xfrm>
            <a:off x="6096000" y="1685395"/>
            <a:ext cx="0" cy="5038725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2D1AB8-81C2-F214-B2ED-E93A47B0802F}"/>
              </a:ext>
            </a:extLst>
          </p:cNvPr>
          <p:cNvSpPr txBox="1"/>
          <p:nvPr/>
        </p:nvSpPr>
        <p:spPr>
          <a:xfrm>
            <a:off x="9530601" y="2265015"/>
            <a:ext cx="1998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PRNG 1비트씩 트리 하강</a:t>
            </a:r>
          </a:p>
        </p:txBody>
      </p:sp>
    </p:spTree>
    <p:extLst>
      <p:ext uri="{BB962C8B-B14F-4D97-AF65-F5344CB8AC3E}">
        <p14:creationId xmlns:p14="http://schemas.microsoft.com/office/powerpoint/2010/main" val="1307027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1B1A-0176-7572-816E-681458D8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B45C5-E4D4-828A-7F80-B654CD37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AEE42F3-0C02-F42A-A87D-3A7F6324C568}"/>
              </a:ext>
            </a:extLst>
          </p:cNvPr>
          <p:cNvSpPr/>
          <p:nvPr/>
        </p:nvSpPr>
        <p:spPr>
          <a:xfrm>
            <a:off x="3606348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Sampler Core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C03706B-52EB-0D4E-125D-C6D3AF8DE39F}"/>
              </a:ext>
            </a:extLst>
          </p:cNvPr>
          <p:cNvSpPr/>
          <p:nvPr/>
        </p:nvSpPr>
        <p:spPr>
          <a:xfrm>
            <a:off x="6364848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Base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Sampler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(alias)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64BB63A-5FF2-E3BB-6675-F8987452F200}"/>
              </a:ext>
            </a:extLst>
          </p:cNvPr>
          <p:cNvSpPr/>
          <p:nvPr/>
        </p:nvSpPr>
        <p:spPr>
          <a:xfrm>
            <a:off x="9123348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Coset 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샘플러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31B29AD-2B3A-0055-0589-0CCEA0953386}"/>
              </a:ext>
            </a:extLst>
          </p:cNvPr>
          <p:cNvSpPr/>
          <p:nvPr/>
        </p:nvSpPr>
        <p:spPr>
          <a:xfrm>
            <a:off x="3504938" y="5842000"/>
            <a:ext cx="1655790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call_convolution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6AC04F-576A-CF2A-9B4C-E80BF4121316}"/>
              </a:ext>
            </a:extLst>
          </p:cNvPr>
          <p:cNvSpPr/>
          <p:nvPr/>
        </p:nvSpPr>
        <p:spPr>
          <a:xfrm>
            <a:off x="6364848" y="58420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Base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Sampler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(alias)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915F9FF-E2D3-6BDD-BA96-57DF0BD97D90}"/>
              </a:ext>
            </a:extLst>
          </p:cNvPr>
          <p:cNvSpPr/>
          <p:nvPr/>
        </p:nvSpPr>
        <p:spPr>
          <a:xfrm>
            <a:off x="9123348" y="58420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coset_sampler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1CDC137-4AD0-4C91-ED18-C520374F8413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4332833" y="1929182"/>
            <a:ext cx="0" cy="3912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BED45CA-116F-5107-ABFF-57075D9623B5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7091333" y="1929182"/>
            <a:ext cx="0" cy="3912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85F1641-F07A-BC79-3492-36DDE1470535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9849833" y="1929182"/>
            <a:ext cx="0" cy="3912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757C8C3-FCB9-2AD4-DB02-B847172C2D66}"/>
              </a:ext>
            </a:extLst>
          </p:cNvPr>
          <p:cNvCxnSpPr>
            <a:cxnSpLocks/>
          </p:cNvCxnSpPr>
          <p:nvPr/>
        </p:nvCxnSpPr>
        <p:spPr>
          <a:xfrm>
            <a:off x="1533049" y="1809750"/>
            <a:ext cx="0" cy="438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6A91E831-9EB4-E144-ECC4-CB585107000C}"/>
              </a:ext>
            </a:extLst>
          </p:cNvPr>
          <p:cNvSpPr/>
          <p:nvPr/>
        </p:nvSpPr>
        <p:spPr>
          <a:xfrm>
            <a:off x="1374299" y="2260490"/>
            <a:ext cx="317500" cy="3175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BFB1963-BF18-BE08-8D27-0C8BBF00BEAC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1691799" y="2419240"/>
            <a:ext cx="25838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81A995-6241-157C-647C-49A0039E38C6}"/>
                  </a:ext>
                </a:extLst>
              </p:cNvPr>
              <p:cNvSpPr txBox="1"/>
              <p:nvPr/>
            </p:nvSpPr>
            <p:spPr>
              <a:xfrm>
                <a:off x="1943657" y="2062058"/>
                <a:ext cx="213731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가우시안 샘플러</a:t>
                </a:r>
                <a:r>
                  <a:rPr kumimoji="1" lang="en-US" altLang="ko-KR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(c,</a:t>
                </a:r>
                <a:r>
                  <a:rPr kumimoji="1" lang="ko-KR" altLang="en-US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sz="1600" i="1" smtClean="0">
                        <a:latin typeface="Cambria Math" panose="02040503050406030204" pitchFamily="18" charset="0"/>
                        <a:ea typeface="Pretendard JP" panose="02000503000000020004" pitchFamily="2" charset="-128"/>
                        <a:cs typeface="Pretendard JP" panose="02000503000000020004" pitchFamily="2" charset="-128"/>
                      </a:rPr>
                      <m:t>𝜎</m:t>
                    </m:r>
                  </m:oMath>
                </a14:m>
                <a:r>
                  <a:rPr kumimoji="1" lang="en-US" altLang="ko-KR" sz="16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)</a:t>
                </a:r>
                <a:endParaRPr kumimoji="1" lang="ko-KR" altLang="en-US" sz="1600" dirty="0" err="1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81A995-6241-157C-647C-49A0039E3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57" y="2062058"/>
                <a:ext cx="2137316" cy="338554"/>
              </a:xfrm>
              <a:prstGeom prst="rect">
                <a:avLst/>
              </a:prstGeom>
              <a:blipFill>
                <a:blip r:embed="rId2"/>
                <a:stretch>
                  <a:fillRect l="-1714" t="-1786" r="-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타원 37">
            <a:extLst>
              <a:ext uri="{FF2B5EF4-FFF2-40B4-BE49-F238E27FC236}">
                <a16:creationId xmlns:a16="http://schemas.microsoft.com/office/drawing/2014/main" id="{1DAD5606-D7CF-B17E-1557-850D60B26789}"/>
              </a:ext>
            </a:extLst>
          </p:cNvPr>
          <p:cNvSpPr/>
          <p:nvPr/>
        </p:nvSpPr>
        <p:spPr>
          <a:xfrm>
            <a:off x="4174082" y="2893988"/>
            <a:ext cx="317500" cy="3175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192E367-9C23-877B-B194-2534D03B90D1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4491582" y="3052738"/>
            <a:ext cx="25997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872F18D-B2FC-4466-4D1E-C407AEFE0F2B}"/>
              </a:ext>
            </a:extLst>
          </p:cNvPr>
          <p:cNvSpPr txBox="1"/>
          <p:nvPr/>
        </p:nvSpPr>
        <p:spPr>
          <a:xfrm>
            <a:off x="5022631" y="2626652"/>
            <a:ext cx="148309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작은 표본 요청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D99BA31-282E-EF8F-9342-BC68153CB363}"/>
              </a:ext>
            </a:extLst>
          </p:cNvPr>
          <p:cNvSpPr/>
          <p:nvPr/>
        </p:nvSpPr>
        <p:spPr>
          <a:xfrm>
            <a:off x="6932580" y="3525030"/>
            <a:ext cx="317500" cy="3175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D31CF51-6D98-D89E-243B-F2397132FC76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4348716" y="3683780"/>
            <a:ext cx="258386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60B72F3-85F6-9DA8-A517-8067D88E59D3}"/>
              </a:ext>
            </a:extLst>
          </p:cNvPr>
          <p:cNvSpPr txBox="1"/>
          <p:nvPr/>
        </p:nvSpPr>
        <p:spPr>
          <a:xfrm>
            <a:off x="5194352" y="3289260"/>
            <a:ext cx="103105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작은 표본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2E265EE-956F-3525-9B8E-A84A34230B5D}"/>
              </a:ext>
            </a:extLst>
          </p:cNvPr>
          <p:cNvSpPr/>
          <p:nvPr/>
        </p:nvSpPr>
        <p:spPr>
          <a:xfrm>
            <a:off x="3867151" y="2577990"/>
            <a:ext cx="3543296" cy="134353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5B90BDE-E2FA-3E82-88B7-1F011E1DE614}"/>
              </a:ext>
            </a:extLst>
          </p:cNvPr>
          <p:cNvSpPr/>
          <p:nvPr/>
        </p:nvSpPr>
        <p:spPr>
          <a:xfrm>
            <a:off x="3870909" y="2584340"/>
            <a:ext cx="633382" cy="2491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loop</a:t>
            </a:r>
            <a:endParaRPr lang="ko-KR" altLang="en-US" sz="12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AE42D25-74BC-8507-DF9C-EF2DCD8A985D}"/>
              </a:ext>
            </a:extLst>
          </p:cNvPr>
          <p:cNvSpPr/>
          <p:nvPr/>
        </p:nvSpPr>
        <p:spPr>
          <a:xfrm>
            <a:off x="4174082" y="4334649"/>
            <a:ext cx="317500" cy="3175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879A2B8-0938-9C08-4E5D-C738D90616BD}"/>
              </a:ext>
            </a:extLst>
          </p:cNvPr>
          <p:cNvSpPr/>
          <p:nvPr/>
        </p:nvSpPr>
        <p:spPr>
          <a:xfrm>
            <a:off x="9664642" y="4814469"/>
            <a:ext cx="317500" cy="3175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F4A92C3-F58E-249D-1446-7E12F9842FEC}"/>
              </a:ext>
            </a:extLst>
          </p:cNvPr>
          <p:cNvCxnSpPr>
            <a:cxnSpLocks/>
            <a:stCxn id="52" idx="6"/>
          </p:cNvCxnSpPr>
          <p:nvPr/>
        </p:nvCxnSpPr>
        <p:spPr>
          <a:xfrm>
            <a:off x="4491582" y="4493399"/>
            <a:ext cx="53582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3B85DFA-8EF1-03D5-B61C-A18DCCDFE9D8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4348716" y="4973219"/>
            <a:ext cx="531592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60F4C9B-8F65-A992-D3FE-6EF5A7FF79D0}"/>
              </a:ext>
            </a:extLst>
          </p:cNvPr>
          <p:cNvSpPr txBox="1"/>
          <p:nvPr/>
        </p:nvSpPr>
        <p:spPr>
          <a:xfrm>
            <a:off x="7642776" y="4093085"/>
            <a:ext cx="168026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분수 보정값 요청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2A195A-819C-4D8E-EE6A-1FD81CF29B34}"/>
              </a:ext>
            </a:extLst>
          </p:cNvPr>
          <p:cNvSpPr txBox="1"/>
          <p:nvPr/>
        </p:nvSpPr>
        <p:spPr>
          <a:xfrm>
            <a:off x="8082495" y="4583432"/>
            <a:ext cx="77617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보정값</a:t>
            </a: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57D138ED-9CFB-F80E-2F0C-E84BC72F527E}"/>
              </a:ext>
            </a:extLst>
          </p:cNvPr>
          <p:cNvSpPr/>
          <p:nvPr/>
        </p:nvSpPr>
        <p:spPr>
          <a:xfrm>
            <a:off x="4174082" y="5382221"/>
            <a:ext cx="317500" cy="3175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F8E3E1B-52E3-B0C3-A5D3-91882E5DA359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1533049" y="5540971"/>
            <a:ext cx="264103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99B4E8F-DD8A-200D-6884-7673E1881E81}"/>
              </a:ext>
            </a:extLst>
          </p:cNvPr>
          <p:cNvSpPr/>
          <p:nvPr/>
        </p:nvSpPr>
        <p:spPr>
          <a:xfrm>
            <a:off x="3867150" y="4045041"/>
            <a:ext cx="6210299" cy="1252077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7780E9-1529-853B-F5E2-1234612CF0FF}"/>
              </a:ext>
            </a:extLst>
          </p:cNvPr>
          <p:cNvSpPr txBox="1"/>
          <p:nvPr/>
        </p:nvSpPr>
        <p:spPr>
          <a:xfrm>
            <a:off x="7672214" y="3653196"/>
            <a:ext cx="182133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분수 </a:t>
            </a:r>
            <a:r>
              <a:rPr kumimoji="1" lang="en-US" altLang="ko-KR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center </a:t>
            </a:r>
            <a:r>
              <a:rPr kumimoji="1" lang="ko-KR" altLang="en-US" sz="16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때만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07ABF8-B444-1D75-F1B0-D901E5A3AD3F}"/>
              </a:ext>
            </a:extLst>
          </p:cNvPr>
          <p:cNvSpPr txBox="1"/>
          <p:nvPr/>
        </p:nvSpPr>
        <p:spPr>
          <a:xfrm>
            <a:off x="2591366" y="5148358"/>
            <a:ext cx="69281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Times New Roman" panose="02020603050405020304" pitchFamily="18" charset="0"/>
                <a:ea typeface="G마켓 산스 Medium" panose="02000000000000000000" pitchFamily="50" charset="-127"/>
                <a:cs typeface="Times New Roman" panose="02020603050405020304" pitchFamily="18" charset="0"/>
              </a:rPr>
              <a:t>long z</a:t>
            </a:r>
            <a:endParaRPr kumimoji="1" lang="ko-KR" altLang="en-US" sz="1600" dirty="0" err="1">
              <a:latin typeface="Times New Roman" panose="02020603050405020304" pitchFamily="18" charset="0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E9042D-15E6-26AF-6055-F0D552ED5ECA}"/>
              </a:ext>
            </a:extLst>
          </p:cNvPr>
          <p:cNvSpPr txBox="1"/>
          <p:nvPr/>
        </p:nvSpPr>
        <p:spPr>
          <a:xfrm>
            <a:off x="411920" y="1152727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dgs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1312633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A123-0E64-591D-D3EC-85691FE2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5DCB-3C2C-A586-7614-196AA21D0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63E93D8-1A70-39D7-9E15-B5FE194FB021}"/>
              </a:ext>
            </a:extLst>
          </p:cNvPr>
          <p:cNvSpPr/>
          <p:nvPr/>
        </p:nvSpPr>
        <p:spPr>
          <a:xfrm>
            <a:off x="1424442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Sampler Core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A826660-B9DF-971D-C9D0-9A8DE8A661B5}"/>
              </a:ext>
            </a:extLst>
          </p:cNvPr>
          <p:cNvSpPr/>
          <p:nvPr/>
        </p:nvSpPr>
        <p:spPr>
          <a:xfrm>
            <a:off x="3868195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Wide 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샘플러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EB3154D-2087-0236-C44D-8D7ED02AC4D3}"/>
              </a:ext>
            </a:extLst>
          </p:cNvPr>
          <p:cNvSpPr/>
          <p:nvPr/>
        </p:nvSpPr>
        <p:spPr>
          <a:xfrm>
            <a:off x="6311948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Base 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샘플러</a:t>
            </a:r>
            <a:endParaRPr lang="en-US" altLang="ko-KR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(KY)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0E87BC1-29B6-7AE0-3B52-247C44629022}"/>
              </a:ext>
            </a:extLst>
          </p:cNvPr>
          <p:cNvSpPr/>
          <p:nvPr/>
        </p:nvSpPr>
        <p:spPr>
          <a:xfrm>
            <a:off x="974596" y="6217382"/>
            <a:ext cx="2352662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DGG::GenerateInteger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B5487F-8C31-8023-6E7B-D2CEEC822FE9}"/>
              </a:ext>
            </a:extLst>
          </p:cNvPr>
          <p:cNvSpPr/>
          <p:nvPr/>
        </p:nvSpPr>
        <p:spPr>
          <a:xfrm>
            <a:off x="3682648" y="6217382"/>
            <a:ext cx="1824064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SamplerCombiner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B061F10-367C-2CDA-A959-114EBCD33CF9}"/>
              </a:ext>
            </a:extLst>
          </p:cNvPr>
          <p:cNvSpPr/>
          <p:nvPr/>
        </p:nvSpPr>
        <p:spPr>
          <a:xfrm>
            <a:off x="6105150" y="6217382"/>
            <a:ext cx="1866566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base_sampelrs</a:t>
            </a:r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[0]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333709D-19D7-BB54-955E-10EFC8A3B28B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150927" y="1929182"/>
            <a:ext cx="0" cy="428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CA8621-3BEE-22CC-30F0-078A7B889DC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4594680" y="1929182"/>
            <a:ext cx="0" cy="428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C5D429E-335C-846C-F958-FD933F937C8D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7038433" y="1929182"/>
            <a:ext cx="0" cy="428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225C6E-A285-AE49-1A85-DFFCA140DEB0}"/>
              </a:ext>
            </a:extLst>
          </p:cNvPr>
          <p:cNvCxnSpPr>
            <a:cxnSpLocks/>
          </p:cNvCxnSpPr>
          <p:nvPr/>
        </p:nvCxnSpPr>
        <p:spPr>
          <a:xfrm>
            <a:off x="378978" y="1809750"/>
            <a:ext cx="0" cy="438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9D99F7CC-84CC-FC4E-DFA3-6D3E9E3EA723}"/>
              </a:ext>
            </a:extLst>
          </p:cNvPr>
          <p:cNvSpPr/>
          <p:nvPr/>
        </p:nvSpPr>
        <p:spPr>
          <a:xfrm>
            <a:off x="278564" y="2271106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71A51D4-67C1-4040-6DA1-39EB53330ABC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479391" y="2371520"/>
            <a:ext cx="16715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8A703C-83CE-90D9-4258-EE84C57934D2}"/>
                  </a:ext>
                </a:extLst>
              </p:cNvPr>
              <p:cNvSpPr txBox="1"/>
              <p:nvPr/>
            </p:nvSpPr>
            <p:spPr>
              <a:xfrm>
                <a:off x="493171" y="2045807"/>
                <a:ext cx="164397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2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가우시안 샘플러</a:t>
                </a:r>
                <a:r>
                  <a:rPr kumimoji="1" lang="en-US" altLang="ko-KR" sz="12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(c,</a:t>
                </a:r>
                <a:r>
                  <a:rPr kumimoji="1" lang="ko-KR" altLang="en-US" sz="12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sz="1200" i="1" smtClean="0">
                        <a:latin typeface="Cambria Math" panose="02040503050406030204" pitchFamily="18" charset="0"/>
                        <a:ea typeface="Pretendard JP" panose="02000503000000020004" pitchFamily="2" charset="-128"/>
                        <a:cs typeface="Pretendard JP" panose="02000503000000020004" pitchFamily="2" charset="-128"/>
                      </a:rPr>
                      <m:t>𝜎</m:t>
                    </m:r>
                  </m:oMath>
                </a14:m>
                <a:r>
                  <a:rPr kumimoji="1" lang="en-US" altLang="ko-KR" sz="12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)</a:t>
                </a:r>
                <a:endParaRPr kumimoji="1" lang="ko-KR" altLang="en-US" sz="1200" dirty="0" err="1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8A703C-83CE-90D9-4258-EE84C5793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71" y="2045807"/>
                <a:ext cx="1643976" cy="276999"/>
              </a:xfrm>
              <a:prstGeom prst="rect">
                <a:avLst/>
              </a:prstGeom>
              <a:blipFill>
                <a:blip r:embed="rId2"/>
                <a:stretch>
                  <a:fillRect l="-37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E0AD696-40B0-35D3-AD43-0982BEDCE963}"/>
              </a:ext>
            </a:extLst>
          </p:cNvPr>
          <p:cNvSpPr txBox="1"/>
          <p:nvPr/>
        </p:nvSpPr>
        <p:spPr>
          <a:xfrm>
            <a:off x="411920" y="988538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openFHE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라이브러리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5927B9C-1B3B-92DF-B3CC-C17D188412CF}"/>
              </a:ext>
            </a:extLst>
          </p:cNvPr>
          <p:cNvSpPr/>
          <p:nvPr/>
        </p:nvSpPr>
        <p:spPr>
          <a:xfrm>
            <a:off x="8491402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분수 </a:t>
            </a:r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center 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보정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23FC839-1D27-BBAD-335B-B51388C5DF32}"/>
              </a:ext>
            </a:extLst>
          </p:cNvPr>
          <p:cNvSpPr/>
          <p:nvPr/>
        </p:nvSpPr>
        <p:spPr>
          <a:xfrm>
            <a:off x="8491402" y="6217382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flipAndRound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42D08B-F14F-E6EF-8ED8-E9A3D9A04544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9217887" y="1929182"/>
            <a:ext cx="0" cy="428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53F7D76-57DA-AD15-7933-0BBC85F0D028}"/>
              </a:ext>
            </a:extLst>
          </p:cNvPr>
          <p:cNvSpPr/>
          <p:nvPr/>
        </p:nvSpPr>
        <p:spPr>
          <a:xfrm>
            <a:off x="10670884" y="1384300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정수 </a:t>
            </a:r>
            <a:r>
              <a:rPr lang="en-US" altLang="ko-KR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center </a:t>
            </a:r>
            <a:r>
              <a:rPr lang="ko-KR" altLang="en-US" sz="1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보정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C08D6F1-EF10-E82E-06CE-E55E352F020E}"/>
              </a:ext>
            </a:extLst>
          </p:cNvPr>
          <p:cNvSpPr/>
          <p:nvPr/>
        </p:nvSpPr>
        <p:spPr>
          <a:xfrm>
            <a:off x="10670884" y="6217382"/>
            <a:ext cx="1452969" cy="544882"/>
          </a:xfrm>
          <a:prstGeom prst="roundRect">
            <a:avLst>
              <a:gd name="adj" fmla="val 3222"/>
            </a:avLst>
          </a:prstGeom>
          <a:solidFill>
            <a:schemeClr val="accent5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SampeC</a:t>
            </a:r>
            <a:endParaRPr lang="ko-KR" altLang="en-US" sz="1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3740D83-248E-F2A5-A63F-4F1B477C824D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11397369" y="1929182"/>
            <a:ext cx="0" cy="428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1DED5DBD-C707-CE5E-6E8C-F497CA681184}"/>
              </a:ext>
            </a:extLst>
          </p:cNvPr>
          <p:cNvSpPr/>
          <p:nvPr/>
        </p:nvSpPr>
        <p:spPr>
          <a:xfrm>
            <a:off x="2050512" y="2504322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CD0743F5-153B-A097-A04E-B2D221907AE4}"/>
              </a:ext>
            </a:extLst>
          </p:cNvPr>
          <p:cNvSpPr/>
          <p:nvPr/>
        </p:nvSpPr>
        <p:spPr>
          <a:xfrm>
            <a:off x="4494265" y="2810591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F4E37B6-8BD5-A459-B658-37C3763EE084}"/>
              </a:ext>
            </a:extLst>
          </p:cNvPr>
          <p:cNvCxnSpPr>
            <a:cxnSpLocks/>
            <a:stCxn id="49" idx="6"/>
          </p:cNvCxnSpPr>
          <p:nvPr/>
        </p:nvCxnSpPr>
        <p:spPr>
          <a:xfrm flipV="1">
            <a:off x="2251339" y="2604735"/>
            <a:ext cx="234333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304D36D-D84D-243A-C8E8-F128237BFF65}"/>
              </a:ext>
            </a:extLst>
          </p:cNvPr>
          <p:cNvCxnSpPr>
            <a:cxnSpLocks/>
            <a:stCxn id="50" idx="6"/>
          </p:cNvCxnSpPr>
          <p:nvPr/>
        </p:nvCxnSpPr>
        <p:spPr>
          <a:xfrm>
            <a:off x="4695092" y="2911005"/>
            <a:ext cx="23433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E26473AB-DDE9-662C-88CC-A35F4FD95FAA}"/>
              </a:ext>
            </a:extLst>
          </p:cNvPr>
          <p:cNvSpPr/>
          <p:nvPr/>
        </p:nvSpPr>
        <p:spPr>
          <a:xfrm>
            <a:off x="6938022" y="3152244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381EDE4-CBA4-F6BA-F875-93BE525E0B33}"/>
              </a:ext>
            </a:extLst>
          </p:cNvPr>
          <p:cNvCxnSpPr>
            <a:cxnSpLocks/>
            <a:stCxn id="58" idx="2"/>
          </p:cNvCxnSpPr>
          <p:nvPr/>
        </p:nvCxnSpPr>
        <p:spPr>
          <a:xfrm flipH="1">
            <a:off x="4594678" y="3252658"/>
            <a:ext cx="234334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7DFF185E-E84D-73B2-854A-87CCAB998AED}"/>
              </a:ext>
            </a:extLst>
          </p:cNvPr>
          <p:cNvSpPr/>
          <p:nvPr/>
        </p:nvSpPr>
        <p:spPr>
          <a:xfrm>
            <a:off x="4489442" y="3477516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10FE93CF-F588-4A52-6E2D-5AD2F6102285}"/>
              </a:ext>
            </a:extLst>
          </p:cNvPr>
          <p:cNvCxnSpPr>
            <a:cxnSpLocks/>
            <a:stCxn id="62" idx="2"/>
          </p:cNvCxnSpPr>
          <p:nvPr/>
        </p:nvCxnSpPr>
        <p:spPr>
          <a:xfrm flipH="1">
            <a:off x="2150925" y="3577930"/>
            <a:ext cx="2338517" cy="1659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C789E34D-378F-2109-9600-46F40E8831FE}"/>
              </a:ext>
            </a:extLst>
          </p:cNvPr>
          <p:cNvSpPr/>
          <p:nvPr/>
        </p:nvSpPr>
        <p:spPr>
          <a:xfrm>
            <a:off x="2050512" y="3757503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6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131F34E-1CC6-730F-EE4D-31D2ABFAB477}"/>
              </a:ext>
            </a:extLst>
          </p:cNvPr>
          <p:cNvCxnSpPr>
            <a:cxnSpLocks/>
            <a:stCxn id="66" idx="6"/>
          </p:cNvCxnSpPr>
          <p:nvPr/>
        </p:nvCxnSpPr>
        <p:spPr>
          <a:xfrm>
            <a:off x="2251339" y="3857917"/>
            <a:ext cx="69665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583F2B8-8F29-E313-FBEC-436FCF6A9A62}"/>
              </a:ext>
            </a:extLst>
          </p:cNvPr>
          <p:cNvSpPr txBox="1"/>
          <p:nvPr/>
        </p:nvSpPr>
        <p:spPr>
          <a:xfrm>
            <a:off x="2836761" y="2333433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큰 후보 요청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88F167-9CDB-9EDB-C6B2-D2DE79EE8FFA}"/>
              </a:ext>
            </a:extLst>
          </p:cNvPr>
          <p:cNvSpPr txBox="1"/>
          <p:nvPr/>
        </p:nvSpPr>
        <p:spPr>
          <a:xfrm>
            <a:off x="5312249" y="2658632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작은 표본 요청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53FE96-023E-596F-7040-681DE094985E}"/>
              </a:ext>
            </a:extLst>
          </p:cNvPr>
          <p:cNvSpPr txBox="1"/>
          <p:nvPr/>
        </p:nvSpPr>
        <p:spPr>
          <a:xfrm>
            <a:off x="5457822" y="2993539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작음 표본</a:t>
            </a:r>
            <a:endParaRPr kumimoji="1" lang="ko-KR" altLang="en-US" sz="12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21C799-63FD-0B59-BF0C-8C7000C211BC}"/>
              </a:ext>
            </a:extLst>
          </p:cNvPr>
          <p:cNvSpPr txBox="1"/>
          <p:nvPr/>
        </p:nvSpPr>
        <p:spPr>
          <a:xfrm>
            <a:off x="3017287" y="3297982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큰 후보 </a:t>
            </a:r>
            <a:r>
              <a:rPr kumimoji="1"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x</a:t>
            </a:r>
            <a:endParaRPr kumimoji="1" lang="ko-KR" altLang="en-US" sz="12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225CEAB-5BE9-7B80-A69F-6A2620B66918}"/>
              </a:ext>
            </a:extLst>
          </p:cNvPr>
          <p:cNvSpPr/>
          <p:nvPr/>
        </p:nvSpPr>
        <p:spPr>
          <a:xfrm>
            <a:off x="4430792" y="2672988"/>
            <a:ext cx="2853927" cy="75169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D8E1684-846A-42A6-5C69-D3533B635BD2}"/>
              </a:ext>
            </a:extLst>
          </p:cNvPr>
          <p:cNvSpPr/>
          <p:nvPr/>
        </p:nvSpPr>
        <p:spPr>
          <a:xfrm>
            <a:off x="6651337" y="2545960"/>
            <a:ext cx="633382" cy="2491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loop</a:t>
            </a:r>
            <a:endParaRPr lang="ko-KR" altLang="en-US" sz="12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6F06AC-C8A0-3035-FEC6-566BCE019196}"/>
              </a:ext>
            </a:extLst>
          </p:cNvPr>
          <p:cNvSpPr txBox="1"/>
          <p:nvPr/>
        </p:nvSpPr>
        <p:spPr>
          <a:xfrm>
            <a:off x="7308740" y="2545960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solidFill>
                  <a:srgbClr val="0070C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상수 고정 반복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B9CC20-BBFA-E046-4206-CA2D250CD12B}"/>
              </a:ext>
            </a:extLst>
          </p:cNvPr>
          <p:cNvSpPr txBox="1"/>
          <p:nvPr/>
        </p:nvSpPr>
        <p:spPr>
          <a:xfrm>
            <a:off x="5135618" y="3594311"/>
            <a:ext cx="1452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분수 </a:t>
            </a:r>
            <a:r>
              <a:rPr kumimoji="1"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Center </a:t>
            </a:r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처리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9E3AA53B-FA8F-9EB2-005E-583EDF6ABD18}"/>
              </a:ext>
            </a:extLst>
          </p:cNvPr>
          <p:cNvSpPr/>
          <p:nvPr/>
        </p:nvSpPr>
        <p:spPr>
          <a:xfrm>
            <a:off x="9117472" y="4121312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7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7213CA6-4E41-B44D-F0BA-45B9AE857599}"/>
              </a:ext>
            </a:extLst>
          </p:cNvPr>
          <p:cNvSpPr/>
          <p:nvPr/>
        </p:nvSpPr>
        <p:spPr>
          <a:xfrm>
            <a:off x="6953009" y="4485119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8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52C5DB1-6620-2124-A8A2-E4607648542F}"/>
              </a:ext>
            </a:extLst>
          </p:cNvPr>
          <p:cNvCxnSpPr>
            <a:cxnSpLocks/>
            <a:stCxn id="82" idx="6"/>
          </p:cNvCxnSpPr>
          <p:nvPr/>
        </p:nvCxnSpPr>
        <p:spPr>
          <a:xfrm flipV="1">
            <a:off x="7153836" y="4580738"/>
            <a:ext cx="2064051" cy="479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BC41E44-6715-3FB4-7126-2DB1E24D7A5A}"/>
              </a:ext>
            </a:extLst>
          </p:cNvPr>
          <p:cNvSpPr txBox="1"/>
          <p:nvPr/>
        </p:nvSpPr>
        <p:spPr>
          <a:xfrm>
            <a:off x="7375452" y="3958330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PRNG 1</a:t>
            </a:r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비트 추출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F6D9D08-2EA1-1C15-EB4F-B9BDB866A64D}"/>
              </a:ext>
            </a:extLst>
          </p:cNvPr>
          <p:cNvCxnSpPr>
            <a:cxnSpLocks/>
          </p:cNvCxnSpPr>
          <p:nvPr/>
        </p:nvCxnSpPr>
        <p:spPr>
          <a:xfrm flipH="1">
            <a:off x="7038406" y="4221725"/>
            <a:ext cx="207906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348A3F4-C114-76E8-75F9-C5C32A0500B1}"/>
              </a:ext>
            </a:extLst>
          </p:cNvPr>
          <p:cNvSpPr txBox="1"/>
          <p:nvPr/>
        </p:nvSpPr>
        <p:spPr>
          <a:xfrm>
            <a:off x="7929214" y="4335741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bit</a:t>
            </a:r>
            <a:endParaRPr kumimoji="1" lang="ko-KR" altLang="en-US" sz="12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9DB8BA1D-05EE-501A-6950-E2322D6655CB}"/>
              </a:ext>
            </a:extLst>
          </p:cNvPr>
          <p:cNvSpPr/>
          <p:nvPr/>
        </p:nvSpPr>
        <p:spPr>
          <a:xfrm>
            <a:off x="11296927" y="4994321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BEF156F2-E478-2958-F6B3-1D7AF46A9298}"/>
              </a:ext>
            </a:extLst>
          </p:cNvPr>
          <p:cNvSpPr/>
          <p:nvPr/>
        </p:nvSpPr>
        <p:spPr>
          <a:xfrm>
            <a:off x="6953009" y="5297118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A9B7BCD1-FC72-95C6-92A0-E457CB7B53AA}"/>
              </a:ext>
            </a:extLst>
          </p:cNvPr>
          <p:cNvSpPr/>
          <p:nvPr/>
        </p:nvSpPr>
        <p:spPr>
          <a:xfrm>
            <a:off x="11296927" y="5639616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0F6AFF21-738B-9D63-028A-5CB347DCDD42}"/>
              </a:ext>
            </a:extLst>
          </p:cNvPr>
          <p:cNvSpPr/>
          <p:nvPr/>
        </p:nvSpPr>
        <p:spPr>
          <a:xfrm>
            <a:off x="9132492" y="5912335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d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35959545-3B9B-0288-3889-CB0D98B3C1EC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9333319" y="4782315"/>
            <a:ext cx="20640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4C42AA09-CB26-175F-19C2-4B75CF013DD8}"/>
              </a:ext>
            </a:extLst>
          </p:cNvPr>
          <p:cNvCxnSpPr>
            <a:cxnSpLocks/>
            <a:stCxn id="99" idx="2"/>
          </p:cNvCxnSpPr>
          <p:nvPr/>
        </p:nvCxnSpPr>
        <p:spPr>
          <a:xfrm flipH="1">
            <a:off x="7038406" y="5094735"/>
            <a:ext cx="42585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6A0ADCE0-41A8-A798-D5A9-BFF6B9720D4C}"/>
              </a:ext>
            </a:extLst>
          </p:cNvPr>
          <p:cNvCxnSpPr>
            <a:cxnSpLocks/>
            <a:stCxn id="100" idx="6"/>
          </p:cNvCxnSpPr>
          <p:nvPr/>
        </p:nvCxnSpPr>
        <p:spPr>
          <a:xfrm>
            <a:off x="7153836" y="5397532"/>
            <a:ext cx="424350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665E60B-FE56-D03D-4D14-E737AF4699AE}"/>
              </a:ext>
            </a:extLst>
          </p:cNvPr>
          <p:cNvCxnSpPr>
            <a:cxnSpLocks/>
          </p:cNvCxnSpPr>
          <p:nvPr/>
        </p:nvCxnSpPr>
        <p:spPr>
          <a:xfrm flipH="1">
            <a:off x="9217850" y="5740029"/>
            <a:ext cx="2079077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5B6EF24-32A9-29B2-2D15-13F79DF044C5}"/>
              </a:ext>
            </a:extLst>
          </p:cNvPr>
          <p:cNvSpPr txBox="1"/>
          <p:nvPr/>
        </p:nvSpPr>
        <p:spPr>
          <a:xfrm>
            <a:off x="9651533" y="4512553"/>
            <a:ext cx="1412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정수 </a:t>
            </a:r>
            <a:r>
              <a:rPr kumimoji="1"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center </a:t>
            </a:r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처리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636DAC2-BEF2-FEF5-CC57-DDE0830BA70F}"/>
              </a:ext>
            </a:extLst>
          </p:cNvPr>
          <p:cNvSpPr txBox="1"/>
          <p:nvPr/>
        </p:nvSpPr>
        <p:spPr>
          <a:xfrm>
            <a:off x="10041073" y="5168995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표본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4641871-FE88-0A12-CC28-05087394D7C9}"/>
              </a:ext>
            </a:extLst>
          </p:cNvPr>
          <p:cNvSpPr txBox="1"/>
          <p:nvPr/>
        </p:nvSpPr>
        <p:spPr>
          <a:xfrm>
            <a:off x="9706036" y="5784107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정수 보정된 표본</a:t>
            </a:r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EBFD3B0D-15FA-8199-4D69-F0A29BE35956}"/>
              </a:ext>
            </a:extLst>
          </p:cNvPr>
          <p:cNvCxnSpPr>
            <a:cxnSpLocks/>
            <a:stCxn id="107" idx="2"/>
            <a:endCxn id="139" idx="6"/>
          </p:cNvCxnSpPr>
          <p:nvPr/>
        </p:nvCxnSpPr>
        <p:spPr>
          <a:xfrm flipH="1" flipV="1">
            <a:off x="2245361" y="6012748"/>
            <a:ext cx="6887131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8C7E29B-8B40-9A25-EAFE-9A37C0F3FF89}"/>
              </a:ext>
            </a:extLst>
          </p:cNvPr>
          <p:cNvSpPr txBox="1"/>
          <p:nvPr/>
        </p:nvSpPr>
        <p:spPr>
          <a:xfrm>
            <a:off x="5153568" y="5726958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분수 보정된 표본</a:t>
            </a:r>
            <a:endParaRPr kumimoji="1" lang="ko-KR" altLang="en-US" sz="12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4BD3834-3AD2-8F8E-C90B-655B9C279A97}"/>
              </a:ext>
            </a:extLst>
          </p:cNvPr>
          <p:cNvSpPr txBox="1"/>
          <p:nvPr/>
        </p:nvSpPr>
        <p:spPr>
          <a:xfrm>
            <a:off x="694246" y="560041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최종 정수 표본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953993C9-6DE4-8F0E-F2DD-B1A617DFEDAE}"/>
              </a:ext>
            </a:extLst>
          </p:cNvPr>
          <p:cNvCxnSpPr>
            <a:cxnSpLocks/>
            <a:stCxn id="139" idx="2"/>
          </p:cNvCxnSpPr>
          <p:nvPr/>
        </p:nvCxnSpPr>
        <p:spPr>
          <a:xfrm flipH="1" flipV="1">
            <a:off x="365198" y="6003957"/>
            <a:ext cx="1679336" cy="879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타원 138">
            <a:extLst>
              <a:ext uri="{FF2B5EF4-FFF2-40B4-BE49-F238E27FC236}">
                <a16:creationId xmlns:a16="http://schemas.microsoft.com/office/drawing/2014/main" id="{283D05F3-9561-261C-8EDE-785687740E1C}"/>
              </a:ext>
            </a:extLst>
          </p:cNvPr>
          <p:cNvSpPr/>
          <p:nvPr/>
        </p:nvSpPr>
        <p:spPr>
          <a:xfrm>
            <a:off x="2044534" y="5912334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018BE10-A80B-23C3-9955-AFB77884A799}"/>
              </a:ext>
            </a:extLst>
          </p:cNvPr>
          <p:cNvSpPr/>
          <p:nvPr/>
        </p:nvSpPr>
        <p:spPr>
          <a:xfrm>
            <a:off x="6900116" y="3949070"/>
            <a:ext cx="2558766" cy="78281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A277694-BFEB-EDC3-C031-58BFB9CB4BF5}"/>
              </a:ext>
            </a:extLst>
          </p:cNvPr>
          <p:cNvSpPr/>
          <p:nvPr/>
        </p:nvSpPr>
        <p:spPr>
          <a:xfrm>
            <a:off x="6911540" y="4944545"/>
            <a:ext cx="4678480" cy="628712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5362E482-479D-54AE-5E4A-2B41C9F5CF79}"/>
              </a:ext>
            </a:extLst>
          </p:cNvPr>
          <p:cNvSpPr/>
          <p:nvPr/>
        </p:nvSpPr>
        <p:spPr>
          <a:xfrm>
            <a:off x="9132492" y="4681901"/>
            <a:ext cx="200827" cy="20082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9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910F6E72-734B-0DE7-1C4D-255557F5DAEC}"/>
              </a:ext>
            </a:extLst>
          </p:cNvPr>
          <p:cNvSpPr/>
          <p:nvPr/>
        </p:nvSpPr>
        <p:spPr>
          <a:xfrm>
            <a:off x="9308623" y="3830578"/>
            <a:ext cx="633382" cy="2491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loop</a:t>
            </a:r>
            <a:endParaRPr lang="ko-KR" altLang="en-US" sz="12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0911EB8A-0D16-9E04-EAAB-C39BB73CD755}"/>
              </a:ext>
            </a:extLst>
          </p:cNvPr>
          <p:cNvSpPr/>
          <p:nvPr/>
        </p:nvSpPr>
        <p:spPr>
          <a:xfrm>
            <a:off x="6355084" y="4849137"/>
            <a:ext cx="633382" cy="2491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loop</a:t>
            </a:r>
            <a:endParaRPr lang="ko-KR" altLang="en-US" sz="12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72F8E1E-95C3-17D7-B456-DCCF75E4C378}"/>
              </a:ext>
            </a:extLst>
          </p:cNvPr>
          <p:cNvSpPr txBox="1"/>
          <p:nvPr/>
        </p:nvSpPr>
        <p:spPr>
          <a:xfrm>
            <a:off x="7435484" y="4746626"/>
            <a:ext cx="138531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mask 1</a:t>
            </a:r>
            <a:r>
              <a:rPr kumimoji="1" lang="ko-KR" altLang="en-US" sz="1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자리 표본</a:t>
            </a:r>
          </a:p>
        </p:txBody>
      </p:sp>
      <p:sp>
        <p:nvSpPr>
          <p:cNvPr id="151" name="별: 꼭짓점 5개 150">
            <a:extLst>
              <a:ext uri="{FF2B5EF4-FFF2-40B4-BE49-F238E27FC236}">
                <a16:creationId xmlns:a16="http://schemas.microsoft.com/office/drawing/2014/main" id="{715D00D4-4FAB-99E4-B5B9-1642AE78E2A4}"/>
              </a:ext>
            </a:extLst>
          </p:cNvPr>
          <p:cNvSpPr/>
          <p:nvPr/>
        </p:nvSpPr>
        <p:spPr>
          <a:xfrm>
            <a:off x="7290778" y="2379188"/>
            <a:ext cx="197829" cy="19782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별: 꼭짓점 5개 151">
            <a:extLst>
              <a:ext uri="{FF2B5EF4-FFF2-40B4-BE49-F238E27FC236}">
                <a16:creationId xmlns:a16="http://schemas.microsoft.com/office/drawing/2014/main" id="{065EB522-6498-E423-5ECF-9EAA8BC7BCD5}"/>
              </a:ext>
            </a:extLst>
          </p:cNvPr>
          <p:cNvSpPr/>
          <p:nvPr/>
        </p:nvSpPr>
        <p:spPr>
          <a:xfrm>
            <a:off x="9239470" y="3589308"/>
            <a:ext cx="197829" cy="19782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별: 꼭짓점 5개 153">
            <a:extLst>
              <a:ext uri="{FF2B5EF4-FFF2-40B4-BE49-F238E27FC236}">
                <a16:creationId xmlns:a16="http://schemas.microsoft.com/office/drawing/2014/main" id="{6EBC2A19-8E65-4D0A-51FD-8F08CB3A5CFF}"/>
              </a:ext>
            </a:extLst>
          </p:cNvPr>
          <p:cNvSpPr/>
          <p:nvPr/>
        </p:nvSpPr>
        <p:spPr>
          <a:xfrm>
            <a:off x="6270506" y="4722914"/>
            <a:ext cx="197829" cy="19782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별: 꼭짓점 5개 154">
            <a:extLst>
              <a:ext uri="{FF2B5EF4-FFF2-40B4-BE49-F238E27FC236}">
                <a16:creationId xmlns:a16="http://schemas.microsoft.com/office/drawing/2014/main" id="{B3237BA7-344A-A03B-ADC7-16028DAE9DE3}"/>
              </a:ext>
            </a:extLst>
          </p:cNvPr>
          <p:cNvSpPr/>
          <p:nvPr/>
        </p:nvSpPr>
        <p:spPr>
          <a:xfrm>
            <a:off x="7285994" y="4797927"/>
            <a:ext cx="197829" cy="19782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970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8C8D-9971-B073-969E-B5952E09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00785-8C6F-AB18-353C-37449084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3. Discrete Gaussian Sampler</a:t>
            </a:r>
            <a:endParaRPr kumimoji="1"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298869-7695-CD1F-953A-2A169A8521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전체적인 </a:t>
            </a:r>
            <a:r>
              <a:rPr kumimoji="1"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Discrete Gaussian Sampler </a:t>
            </a:r>
            <a:r>
              <a:rPr kumimoji="1" lang="ko-KR" altLang="en-US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성능 비교 </a:t>
            </a:r>
            <a:endParaRPr kumimoji="1" lang="ko-KR" altLang="en-US" sz="2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D03F0A4-57BA-2BF1-0DC3-B2CE8A091D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240977"/>
                  </p:ext>
                </p:extLst>
              </p:nvPr>
            </p:nvGraphicFramePr>
            <p:xfrm>
              <a:off x="1017311" y="2279014"/>
              <a:ext cx="10157378" cy="36506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1054">
                      <a:extLst>
                        <a:ext uri="{9D8B030D-6E8A-4147-A177-3AD203B41FA5}">
                          <a16:colId xmlns:a16="http://schemas.microsoft.com/office/drawing/2014/main" val="1948545341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1332923833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1598406338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3388611032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3486364607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1233710177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2496274001"/>
                        </a:ext>
                      </a:extLst>
                    </a:gridCol>
                  </a:tblGrid>
                  <a:tr h="609487">
                    <a:tc row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ko-KR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oMath>
                            </m:oMathPara>
                          </a14:m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b="0" i="0" dirty="0" err="1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dgs</a:t>
                          </a:r>
                          <a:endParaRPr lang="en-US" altLang="ko-KR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openFHE(KY)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b="0" i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openFHE(Peikert)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923606"/>
                      </a:ext>
                    </a:extLst>
                  </a:tr>
                  <a:tr h="6074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성능</a:t>
                          </a:r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𝜇</m:t>
                              </m:r>
                              <m:r>
                                <a:rPr lang="en-US" altLang="ko-K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메모리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성능</a:t>
                          </a:r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𝜇</m:t>
                              </m:r>
                              <m:r>
                                <a:rPr lang="en-US" altLang="ko-K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메모리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성능</a:t>
                          </a:r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𝜇</m:t>
                              </m:r>
                              <m:r>
                                <a:rPr lang="en-US" altLang="ko-K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메모리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467033"/>
                      </a:ext>
                    </a:extLst>
                  </a:tr>
                  <a:tr h="60740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0.171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 xmlns:m="http://schemas.openxmlformats.org/officeDocument/2006/math"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200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0.697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0.958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8530465"/>
                      </a:ext>
                    </a:extLst>
                  </a:tr>
                  <a:tr h="6074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0.754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200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0.694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0.959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5751756"/>
                      </a:ext>
                    </a:extLst>
                  </a:tr>
                  <a:tr h="60948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0.739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200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0.687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0.955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6543309"/>
                      </a:ext>
                    </a:extLst>
                  </a:tr>
                  <a:tr h="60948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1.371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200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0.680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0.956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81669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D03F0A4-57BA-2BF1-0DC3-B2CE8A091D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240977"/>
                  </p:ext>
                </p:extLst>
              </p:nvPr>
            </p:nvGraphicFramePr>
            <p:xfrm>
              <a:off x="1017311" y="2279014"/>
              <a:ext cx="10157378" cy="36506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1054">
                      <a:extLst>
                        <a:ext uri="{9D8B030D-6E8A-4147-A177-3AD203B41FA5}">
                          <a16:colId xmlns:a16="http://schemas.microsoft.com/office/drawing/2014/main" val="1948545341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1332923833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1598406338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3388611032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3486364607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1233710177"/>
                        </a:ext>
                      </a:extLst>
                    </a:gridCol>
                    <a:gridCol w="1451054">
                      <a:extLst>
                        <a:ext uri="{9D8B030D-6E8A-4147-A177-3AD203B41FA5}">
                          <a16:colId xmlns:a16="http://schemas.microsoft.com/office/drawing/2014/main" val="2496274001"/>
                        </a:ext>
                      </a:extLst>
                    </a:gridCol>
                  </a:tblGrid>
                  <a:tr h="609487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0" t="-500" r="-601681" b="-2010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b="0" i="0" dirty="0" err="1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dgs</a:t>
                          </a:r>
                          <a:endParaRPr lang="en-US" altLang="ko-KR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openFHE(KY)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b="0" i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openFHE(Peikert)</a:t>
                          </a:r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923606"/>
                      </a:ext>
                    </a:extLst>
                  </a:tr>
                  <a:tr h="6074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20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1000" r="-499163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메모리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840" t="-101000" r="-301261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메모리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745" t="-101000" r="-100418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메모리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467033"/>
                      </a:ext>
                    </a:extLst>
                  </a:tr>
                  <a:tr h="6074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0" t="-201000" r="-601681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0.171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40" t="-201000" r="-401261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0.697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0.958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8530465"/>
                      </a:ext>
                    </a:extLst>
                  </a:tr>
                  <a:tr h="6074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0" t="-301000" r="-601681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0.754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40" t="-301000" r="-401261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0.694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0.959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5751756"/>
                      </a:ext>
                    </a:extLst>
                  </a:tr>
                  <a:tr h="60948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0" t="-401000" r="-601681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0.739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40" t="-401000" r="-401261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0.687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0.955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6543309"/>
                      </a:ext>
                    </a:extLst>
                  </a:tr>
                  <a:tr h="60948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20" t="-501000" r="-601681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1.371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40" t="-501000" r="-401261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1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0.680</a:t>
                          </a:r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19 MB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0.956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i="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360 KB</a:t>
                          </a:r>
                          <a:endParaRPr lang="ko-KR" altLang="en-US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81669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3738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C392-02E6-BB08-BE43-1A445E14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07734-0FFC-F011-C0E7-8408AFCA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4.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논의 사항 및 추후 진행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2DFE3F-BEFD-6D2F-38BB-8D1A3C673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성능을 위해 보안 등급에 따라 다른 구현을 활용해야 하는지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s64, u64, u128</a:t>
            </a:r>
          </a:p>
          <a:p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Discrete Gaussian Constant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구현 및 성능 비교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PRNG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함수에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AES-CTR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적용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현재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C++ std::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제공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PRNG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함수 사용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1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Knuth-Yao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와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Peikert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비교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165854-3F04-FD99-33F2-63943D5B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398" y="4953000"/>
            <a:ext cx="4691682" cy="128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4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63324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Pretendard JP" panose="02000503000000020004" pitchFamily="2" charset="-128"/>
            <a:ea typeface="Pretendard JP" panose="02000503000000020004" pitchFamily="2" charset="-128"/>
            <a:cs typeface="Pretendard JP" panose="02000503000000020004" pitchFamily="2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84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0FED43-28B1-4F98-90AF-B1638A4006E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e53091a-cf52-40c4-82cf-181f1b3ae77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5115</TotalTime>
  <Words>2617</Words>
  <Application>Microsoft Macintosh PowerPoint</Application>
  <PresentationFormat>와이드스크린</PresentationFormat>
  <Paragraphs>551</Paragraphs>
  <Slides>24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Times New Roman</vt:lpstr>
      <vt:lpstr>Gmarket Sans Medium</vt:lpstr>
      <vt:lpstr>맑은 고딕</vt:lpstr>
      <vt:lpstr>Arial</vt:lpstr>
      <vt:lpstr>G마켓 산스 Medium</vt:lpstr>
      <vt:lpstr>Cambria Math</vt:lpstr>
      <vt:lpstr>Pretendard JP</vt:lpstr>
      <vt:lpstr>Wingdings</vt:lpstr>
      <vt:lpstr>제목 테마</vt:lpstr>
      <vt:lpstr>Polynomial Ring 구현 및 Discrete Gaussian 조사</vt:lpstr>
      <vt:lpstr>1. 한성대학교 To Do list</vt:lpstr>
      <vt:lpstr>2. polynomial Ring 구현</vt:lpstr>
      <vt:lpstr>2. polynomial Ring 구현</vt:lpstr>
      <vt:lpstr>2. polynomial Ring 구현</vt:lpstr>
      <vt:lpstr>2. polynomial Ring 구현</vt:lpstr>
      <vt:lpstr>2. polynomial Ring 구현</vt:lpstr>
      <vt:lpstr>2. polynomial Ring 구현</vt:lpstr>
      <vt:lpstr>2. polynomial Ring 구현</vt:lpstr>
      <vt:lpstr>2. polynomial Ring 구현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3. Discrete Gaussian Sampler</vt:lpstr>
      <vt:lpstr>4. 논의 사항 및 추후 진행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엄시우</cp:lastModifiedBy>
  <cp:revision>117</cp:revision>
  <dcterms:created xsi:type="dcterms:W3CDTF">2019-03-05T04:29:07Z</dcterms:created>
  <dcterms:modified xsi:type="dcterms:W3CDTF">2026-05-25T18:28:30Z</dcterms:modified>
</cp:coreProperties>
</file>