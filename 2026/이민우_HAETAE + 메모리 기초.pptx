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 saveSubsetFonts="1">
  <p:sldMasterIdLst>
    <p:sldMasterId id="2147483687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2014" autoAdjust="0"/>
    <p:restoredTop sz="85776"/>
  </p:normalViewPr>
  <p:slideViewPr>
    <p:cSldViewPr snapToGrid="0">
      <p:cViewPr varScale="1">
        <p:scale>
          <a:sx n="100" d="100"/>
          <a:sy n="100" d="100"/>
        </p:scale>
        <p:origin x="1208" y="168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slide" Target="slides/slide21.xml"  /><Relationship Id="rId25" Type="http://schemas.openxmlformats.org/officeDocument/2006/relationships/slide" Target="slides/slide22.xml"  /><Relationship Id="rId26" Type="http://schemas.openxmlformats.org/officeDocument/2006/relationships/slide" Target="slides/slide23.xml"  /><Relationship Id="rId27" Type="http://schemas.openxmlformats.org/officeDocument/2006/relationships/slide" Target="slides/slide24.xml"  /><Relationship Id="rId28" Type="http://schemas.openxmlformats.org/officeDocument/2006/relationships/presProps" Target="presProps.xml"  /><Relationship Id="rId29" Type="http://schemas.openxmlformats.org/officeDocument/2006/relationships/viewProps" Target="viewProps.xml"  /><Relationship Id="rId3" Type="http://schemas.openxmlformats.org/officeDocument/2006/relationships/handoutMaster" Target="handoutMasters/handoutMaster1.xml"  /><Relationship Id="rId30" Type="http://schemas.openxmlformats.org/officeDocument/2006/relationships/theme" Target="theme/theme1.xml"  /><Relationship Id="rId31" Type="http://schemas.openxmlformats.org/officeDocument/2006/relationships/tableStyles" Target="tableStyles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1.xlsx"  /></Relationships>
</file>

<file path=ppt/charts/_rels/chart2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2.xlsx"  /></Relationships>
</file>

<file path=ppt/charts/_rels/chart3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3.xlsx"  /></Relationships>
</file>

<file path=ppt/charts/_rels/chart4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4.xlsx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title>
      <c:tx>
        <c:rich>
          <a:bodyPr rot="0" vert="horz" wrap="none" lIns="0" tIns="0" rIns="0" bIns="0" anchor="ctr" anchorCtr="1"/>
          <a:p>
            <a:pPr algn="l">
              <a:defRPr sz="16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 panose="0"/>
                <a:ea typeface="+mn-ea" panose="0"/>
                <a:cs typeface="+mn-ea" panose="0"/>
                <a:sym typeface="+mn-ea" panose="0"/>
              </a:defRPr>
            </a:pPr>
            <a:r>
              <a:rPr sz="16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 panose="0"/>
                <a:ea typeface="+mn-ea" panose="0"/>
                <a:cs typeface="+mn-ea" panose="0"/>
                <a:sym typeface="+mn-ea" panose="0"/>
              </a:rPr>
              <a:t>HAETAE 파라미터 별 연산 과정 비중</a:t>
            </a:r>
            <a:endParaRPr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KeyGen</c:v>
                </c:pt>
              </c:strCache>
            </c:strRef>
          </c:tx>
          <c:spPr>
            <a:solidFill>
              <a:schemeClr val="accent1"/>
            </a:solidFill>
            <a:ln w="9525">
              <a:noFill/>
            </a:ln>
            <a:effectLst/>
          </c:spPr>
          <c:invertIfNegative val="0"/>
          <c:dLbls>
            <c:delete val="0"/>
            <c:spPr>
              <a:noFill/>
              <a:ln w="9525">
                <a:noFill/>
              </a:ln>
              <a:effectLst/>
            </c:spPr>
            <c:txPr>
              <a:bodyPr rot="0" vert="horz" wrap="none" lIns="0" tIns="0" rIns="0" bIns="0" anchor="ctr" anchorCtr="1"/>
              <a:p>
                <a:pPr algn="l">
                  <a:defRPr sz="900" b="0" i="0" u="none">
                    <a:solidFill>
                      <a:schemeClr val="lt1"/>
                    </a:solidFill>
                    <a:latin typeface="+mn-lt" panose="0"/>
                    <a:ea typeface="+mn-ea" panose="0"/>
                    <a:cs typeface="+mn-ea" panose="0"/>
                    <a:sym typeface="+mn-ea" panose="0"/>
                  </a:defRPr>
                </a:pPr>
                <a:endParaRPr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HAETAE120</c:v>
                </c:pt>
                <c:pt idx="1">
                  <c:v>HAETAE180</c:v>
                </c:pt>
                <c:pt idx="2">
                  <c:v>HAETAE260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0.247</c:v>
                </c:pt>
                <c:pt idx="1">
                  <c:v>0.33300000000000002</c:v>
                </c:pt>
                <c:pt idx="2">
                  <c:v>0.27100000000000002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Sign</c:v>
                </c:pt>
              </c:strCache>
            </c:strRef>
          </c:tx>
          <c:spPr>
            <a:solidFill>
              <a:schemeClr val="accent2"/>
            </a:solidFill>
            <a:ln w="9525">
              <a:noFill/>
            </a:ln>
            <a:effectLst/>
          </c:spPr>
          <c:invertIfNegative val="0"/>
          <c:dLbls>
            <c:delete val="0"/>
            <c:spPr>
              <a:noFill/>
              <a:ln w="9525">
                <a:noFill/>
              </a:ln>
              <a:effectLst/>
            </c:spPr>
            <c:txPr>
              <a:bodyPr rot="0" vert="horz" wrap="none" lIns="0" tIns="0" rIns="0" bIns="0" anchor="ctr" anchorCtr="1"/>
              <a:p>
                <a:pPr algn="l">
                  <a:defRPr sz="900" b="0" i="0" u="none">
                    <a:solidFill>
                      <a:schemeClr val="lt1"/>
                    </a:solidFill>
                    <a:latin typeface="+mn-lt" panose="0"/>
                    <a:ea typeface="+mn-ea" panose="0"/>
                    <a:cs typeface="+mn-ea" panose="0"/>
                    <a:sym typeface="+mn-ea" panose="0"/>
                  </a:defRPr>
                </a:pPr>
                <a:endParaRPr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HAETAE120</c:v>
                </c:pt>
                <c:pt idx="1">
                  <c:v>HAETAE180</c:v>
                </c:pt>
                <c:pt idx="2">
                  <c:v>HAETAE260</c:v>
                </c:pt>
              </c:strCache>
            </c:strRef>
          </c:cat>
          <c:val>
            <c:numRef>
              <c:f>Sheet1!$C$2:$C$4</c:f>
              <c:numCache>
                <c:formatCode>0.00%</c:formatCode>
                <c:ptCount val="3"/>
                <c:pt idx="0">
                  <c:v>0.70099999999999996</c:v>
                </c:pt>
                <c:pt idx="1">
                  <c:v>0.624</c:v>
                </c:pt>
                <c:pt idx="2">
                  <c:v>0.68799999999999994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Verify</c:v>
                </c:pt>
              </c:strCache>
            </c:strRef>
          </c:tx>
          <c:spPr>
            <a:solidFill>
              <a:schemeClr val="accent3"/>
            </a:solidFill>
            <a:ln w="9525">
              <a:noFill/>
            </a:ln>
            <a:effectLst/>
          </c:spPr>
          <c:invertIfNegative val="0"/>
          <c:dLbls>
            <c:delete val="0"/>
            <c:spPr>
              <a:noFill/>
              <a:ln w="9525">
                <a:noFill/>
              </a:ln>
              <a:effectLst/>
            </c:spPr>
            <c:txPr>
              <a:bodyPr rot="0" vert="horz" wrap="none" lIns="0" tIns="0" rIns="0" bIns="0" anchor="ctr" anchorCtr="1"/>
              <a:p>
                <a:pPr algn="l">
                  <a:defRPr sz="900" b="0" i="0" u="none">
                    <a:solidFill>
                      <a:schemeClr val="lt1"/>
                    </a:solidFill>
                    <a:latin typeface="+mn-lt" panose="0"/>
                    <a:ea typeface="+mn-ea" panose="0"/>
                    <a:cs typeface="+mn-ea" panose="0"/>
                    <a:sym typeface="+mn-ea" panose="0"/>
                  </a:defRPr>
                </a:pPr>
                <a:endParaRPr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HAETAE120</c:v>
                </c:pt>
                <c:pt idx="1">
                  <c:v>HAETAE180</c:v>
                </c:pt>
                <c:pt idx="2">
                  <c:v>HAETAE260</c:v>
                </c:pt>
              </c:strCache>
            </c:strRef>
          </c:cat>
          <c:val>
            <c:numRef>
              <c:f>Sheet1!$D$2:$D$4</c:f>
              <c:numCache>
                <c:formatCode>0.00%</c:formatCode>
                <c:ptCount val="3"/>
                <c:pt idx="0">
                  <c:v>0.05</c:v>
                </c:pt>
                <c:pt idx="1">
                  <c:v>4.2000000000000003E-2</c:v>
                </c:pt>
                <c:pt idx="2">
                  <c:v>3.9E-2</c:v>
                </c:pt>
              </c:numCache>
            </c:numRef>
          </c:val>
        </c:ser>
        <c:dLbls>
          <c:delete val="0"/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9"/>
        <c:overlap val="100"/>
        <c:axId val="1026959040"/>
        <c:axId val="1026960752"/>
      </c:barChart>
      <c:catAx>
        <c:axId val="1026959040"/>
        <c:scaling>
          <c:orientation val="minMax"/>
        </c:scaling>
        <c:axPos val="l"/>
        <c:crossAx val="1026960752"/>
        <c:delete val="0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 wrap="none" lIns="0" tIns="0" rIns="0" bIns="0" anchor="ctr" anchorCtr="1"/>
          <a:p>
            <a:pPr algn="l">
              <a:defRPr sz="8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 panose="0"/>
                <a:ea typeface="+mn-ea" panose="0"/>
                <a:cs typeface="+mn-ea" panose="0"/>
                <a:sym typeface="+mn-ea" panose="0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0"/>
      </c:catAx>
      <c:valAx>
        <c:axId val="1026960752"/>
        <c:scaling>
          <c:orientation val="minMax"/>
        </c:scaling>
        <c:axPos val="b"/>
        <c:crossAx val="1026959040"/>
        <c:delete val="1"/>
        <c:numFmt formatCode="0.00%" sourceLinked="1"/>
        <c:majorTickMark val="none"/>
        <c:minorTickMark val="none"/>
        <c:tickLblPos val="nextTo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 w="9525">
          <a:noFill/>
        </a:ln>
        <a:effectLst/>
      </c:spPr>
      <c:txPr>
        <a:bodyPr rot="0" vert="horz" wrap="none" lIns="0" tIns="0" rIns="0" bIns="0" anchor="ctr" anchorCtr="1"/>
        <a:p>
          <a:pPr algn="l">
            <a:defRPr sz="900" b="0" i="0" u="none">
              <a:solidFill>
                <a:schemeClr val="tx1">
                  <a:lumMod val="65000"/>
                  <a:lumOff val="35000"/>
                </a:schemeClr>
              </a:solidFill>
              <a:latin typeface="+mn-lt" panose="0"/>
              <a:ea typeface="+mn-ea" panose="0"/>
              <a:cs typeface="+mn-ea" panose="0"/>
              <a:sym typeface="+mn-ea" panose="0"/>
            </a:defRPr>
          </a:pPr>
          <a:endParaRPr/>
        </a:p>
      </c:txPr>
    </c:legend>
    <c:dispBlanksAs val="gap"/>
  </c:chart>
  <c:txPr>
    <a:bodyPr rot="0" vert="horz" wrap="none" lIns="0" tIns="0" rIns="0" bIns="0" anchor="ctr" anchorCtr="1"/>
    <a:p>
      <a:pPr algn="l">
        <a:defRPr b="0" i="0" u="none"/>
      </a:pPr>
      <a:endParaRPr/>
    </a:p>
  </c:txPr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2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title>
      <c:tx>
        <c:rich>
          <a:bodyPr rot="0" vert="horz" wrap="none" lIns="0" tIns="0" rIns="0" bIns="0" anchor="ctr" anchorCtr="1"/>
          <a:p>
            <a:pPr algn="l">
              <a:defRPr sz="11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 panose="0"/>
                <a:ea typeface="+mn-ea" panose="0"/>
                <a:cs typeface="+mn-ea" panose="0"/>
                <a:sym typeface="+mn-ea" panose="0"/>
              </a:defRPr>
            </a:pPr>
            <a:r>
              <a:rPr sz="11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 panose="0"/>
                <a:ea typeface="+mn-ea" panose="0"/>
                <a:cs typeface="+mn-ea" panose="0"/>
                <a:sym typeface="+mn-ea" panose="0"/>
              </a:rPr>
              <a:t>HAETAE Keypair 연산 비중</a:t>
            </a:r>
            <a:endParaRPr/>
          </a:p>
        </c:rich>
      </c:tx>
      <c:layout>
        <c:manualLayout>
          <c:xMode val="edge"/>
          <c:yMode val="edge"/>
          <c:x val="0.19607500731945038"/>
          <c:y val="0.08515740931034088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explosion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delete val="0"/>
            <c:spPr>
              <a:noFill/>
              <a:ln w="9525">
                <a:noFill/>
              </a:ln>
              <a:effectLst/>
            </c:spPr>
            <c:txPr>
              <a:bodyPr rot="0" vert="horz" wrap="none" lIns="0" tIns="0" rIns="0" bIns="0" anchor="ctr" anchorCtr="1"/>
              <a:p>
                <a:pPr algn="l">
                  <a:defRPr sz="900" b="1" i="0" u="none">
                    <a:solidFill>
                      <a:schemeClr val="lt1"/>
                    </a:solidFill>
                    <a:latin typeface="+mn-lt" panose="0"/>
                    <a:ea typeface="+mn-ea" panose="0"/>
                    <a:cs typeface="+mn-ea" panose="0"/>
                    <a:sym typeface="+mn-ea" panose="0"/>
                  </a:defRPr>
                </a:pPr>
                <a:endParaRPr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</c:dLbls>
          <c:cat>
            <c:strRef>
              <c:f>Sheet1!$A$2:$A$7</c:f>
              <c:strCache>
                <c:ptCount val="6"/>
                <c:pt idx="0">
                  <c:v>polyvecmk_sqsing_value</c:v>
                </c:pt>
                <c:pt idx="1">
                  <c:v>polyvecmk_uniform_eta</c:v>
                </c:pt>
                <c:pt idx="2">
                  <c:v>polymatkm_expand</c:v>
                </c:pt>
                <c:pt idx="3">
                  <c:v>polyvecm_ntt</c:v>
                </c:pt>
                <c:pt idx="4">
                  <c:v>polymatkm_pointwise_montgomery</c:v>
                </c:pt>
                <c:pt idx="5">
                  <c:v>etc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0.66300000000000003</c:v>
                </c:pt>
                <c:pt idx="1">
                  <c:v>7.6999999999999999E-2</c:v>
                </c:pt>
                <c:pt idx="2">
                  <c:v>4.7E-2</c:v>
                </c:pt>
                <c:pt idx="3">
                  <c:v>6.3E-2</c:v>
                </c:pt>
                <c:pt idx="4">
                  <c:v>0.03</c:v>
                </c:pt>
                <c:pt idx="5">
                  <c:v>0.11999999999999988</c:v>
                </c:pt>
              </c:numCache>
            </c:numRef>
          </c:val>
        </c:ser>
        <c:dLbls>
          <c:delete val="0"/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4780016243457794"/>
          <c:y val="0.17573800683021545"/>
          <c:w val="0.74853068590164185"/>
          <c:h val="0.17798040807247162"/>
        </c:manualLayout>
      </c:layout>
      <c:overlay val="0"/>
      <c:spPr>
        <a:noFill/>
        <a:ln w="9525">
          <a:noFill/>
        </a:ln>
        <a:effectLst/>
      </c:spPr>
      <c:txPr>
        <a:bodyPr rot="0" vert="horz" wrap="none" lIns="0" tIns="0" rIns="0" bIns="0" anchor="ctr" anchorCtr="1"/>
        <a:p>
          <a:pPr algn="l">
            <a:defRPr sz="700" b="0" i="0" u="none">
              <a:solidFill>
                <a:schemeClr val="tx1">
                  <a:lumMod val="65000"/>
                  <a:lumOff val="35000"/>
                </a:schemeClr>
              </a:solidFill>
              <a:latin typeface="+mn-lt" panose="0"/>
              <a:ea typeface="+mn-ea" panose="0"/>
              <a:cs typeface="+mn-ea" panose="0"/>
              <a:sym typeface="+mn-ea" panose="0"/>
            </a:defRPr>
          </a:pPr>
          <a:endParaRPr/>
        </a:p>
      </c:txPr>
    </c:legend>
    <c:dispBlanksAs val="gap"/>
  </c:chart>
  <c:txPr>
    <a:bodyPr rot="0" vert="horz" wrap="none" lIns="0" tIns="0" rIns="0" bIns="0" anchor="ctr" anchorCtr="1"/>
    <a:p>
      <a:pPr algn="l">
        <a:defRPr b="0" i="0" u="none"/>
      </a:pPr>
      <a:endParaRPr/>
    </a:p>
  </c:txPr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3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title>
      <c:tx>
        <c:rich>
          <a:bodyPr rot="0" vert="horz" wrap="none" lIns="0" tIns="0" rIns="0" bIns="0" anchor="ctr" anchorCtr="1"/>
          <a:p>
            <a:pPr algn="l">
              <a:defRPr sz="11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 panose="0"/>
                <a:ea typeface="+mn-ea" panose="0"/>
                <a:cs typeface="+mn-ea" panose="0"/>
                <a:sym typeface="+mn-ea" panose="0"/>
              </a:defRPr>
            </a:pPr>
            <a:r>
              <a:rPr sz="11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 panose="0"/>
                <a:ea typeface="+mn-ea" panose="0"/>
                <a:cs typeface="+mn-ea" panose="0"/>
                <a:sym typeface="+mn-ea" panose="0"/>
              </a:rPr>
              <a:t>HAETAE Sign 연산 비중</a:t>
            </a:r>
            <a:endParaRPr/>
          </a:p>
        </c:rich>
      </c:tx>
      <c:layout>
        <c:manualLayout>
          <c:xMode val="edge"/>
          <c:yMode val="edge"/>
          <c:x val="0.22217565774917603"/>
          <c:y val="0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explosion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dLbl>
              <c:idx val="0"/>
              <c:layout>
                <c:manualLayout>
                  <c:x val="-0.091507002711296082"/>
                  <c:y val="-0.14610953629016876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</c:dLbl>
            <c:delete val="0"/>
            <c:spPr>
              <a:noFill/>
              <a:ln w="9525">
                <a:noFill/>
              </a:ln>
              <a:effectLst/>
            </c:spPr>
            <c:txPr>
              <a:bodyPr rot="0" vert="horz" wrap="none" lIns="0" tIns="0" rIns="0" bIns="0" anchor="ctr" anchorCtr="1"/>
              <a:p>
                <a:pPr algn="l">
                  <a:defRPr sz="1000" b="1" i="0" u="none">
                    <a:solidFill>
                      <a:schemeClr val="lt1"/>
                    </a:solidFill>
                    <a:latin typeface="+mn-lt" panose="0"/>
                    <a:ea typeface="+mn-ea" panose="0"/>
                    <a:cs typeface="+mn-ea" panose="0"/>
                    <a:sym typeface="+mn-ea" panose="0"/>
                  </a:defRPr>
                </a:pPr>
                <a:endParaRPr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</c:dLbls>
          <c:cat>
            <c:strRef>
              <c:f>Sheet1!$A$2:$A$5</c:f>
              <c:strCache>
                <c:ptCount val="4"/>
                <c:pt idx="0">
                  <c:v>polyfixveclk_sample_hyperball</c:v>
                </c:pt>
                <c:pt idx="1">
                  <c:v>invntt_tomont</c:v>
                </c:pt>
                <c:pt idx="2">
                  <c:v>ntt</c:v>
                </c:pt>
                <c:pt idx="3">
                  <c:v>etc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0.81499999999999995</c:v>
                </c:pt>
                <c:pt idx="1">
                  <c:v>4.3999999999999997E-2</c:v>
                </c:pt>
                <c:pt idx="2">
                  <c:v>2.1999999999999999E-2</c:v>
                </c:pt>
                <c:pt idx="3">
                  <c:v>0.11899999999999999</c:v>
                </c:pt>
              </c:numCache>
            </c:numRef>
          </c:val>
        </c:ser>
        <c:dLbls>
          <c:delete val="0"/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7782284319400787"/>
          <c:y val="0.10494943708181381"/>
          <c:w val="0.64256870746612549"/>
          <c:h val="0.15595658123493195"/>
        </c:manualLayout>
      </c:layout>
      <c:overlay val="0"/>
      <c:spPr>
        <a:noFill/>
        <a:ln w="9525">
          <a:noFill/>
        </a:ln>
        <a:effectLst/>
      </c:spPr>
      <c:txPr>
        <a:bodyPr rot="0" vert="horz" wrap="none" lIns="0" tIns="0" rIns="0" bIns="0" anchor="ctr" anchorCtr="1"/>
        <a:p>
          <a:pPr algn="l">
            <a:defRPr sz="800" b="0" i="0" u="none">
              <a:solidFill>
                <a:schemeClr val="tx1">
                  <a:lumMod val="65000"/>
                  <a:lumOff val="35000"/>
                </a:schemeClr>
              </a:solidFill>
              <a:latin typeface="+mn-lt" panose="0"/>
              <a:ea typeface="+mn-ea" panose="0"/>
              <a:cs typeface="+mn-ea" panose="0"/>
              <a:sym typeface="+mn-ea" panose="0"/>
            </a:defRPr>
          </a:pPr>
          <a:endParaRPr/>
        </a:p>
      </c:txPr>
    </c:legend>
    <c:dispBlanksAs val="gap"/>
  </c:chart>
  <c:txPr>
    <a:bodyPr rot="0" vert="horz" wrap="none" lIns="0" tIns="0" rIns="0" bIns="0" anchor="ctr" anchorCtr="1"/>
    <a:p>
      <a:pPr algn="l">
        <a:defRPr b="0" i="0" u="none"/>
      </a:pPr>
      <a:endParaRPr/>
    </a:p>
  </c:txPr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4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title>
      <c:tx>
        <c:rich>
          <a:bodyPr rot="0" vert="horz" wrap="none" lIns="0" tIns="0" rIns="0" bIns="0" anchor="ctr" anchorCtr="1"/>
          <a:p>
            <a:pPr algn="l">
              <a:defRPr sz="11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 panose="0"/>
                <a:ea typeface="+mn-ea" panose="0"/>
                <a:cs typeface="+mn-ea" panose="0"/>
                <a:sym typeface="+mn-ea" panose="0"/>
              </a:defRPr>
            </a:pPr>
            <a:r>
              <a:rPr sz="11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 panose="0"/>
                <a:ea typeface="+mn-ea" panose="0"/>
                <a:cs typeface="+mn-ea" panose="0"/>
                <a:sym typeface="+mn-ea" panose="0"/>
              </a:rPr>
              <a:t>Haetae verify 연산 비중</a:t>
            </a:r>
            <a:endParaRPr/>
          </a:p>
        </c:rich>
      </c:tx>
      <c:layout>
        <c:manualLayout>
          <c:xMode val="edge"/>
          <c:yMode val="edge"/>
          <c:x val="0.21753357350826263"/>
          <c:y val="0.07619347423315048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explosion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delete val="0"/>
            <c:spPr>
              <a:noFill/>
              <a:ln w="9525">
                <a:noFill/>
              </a:ln>
              <a:effectLst/>
            </c:spPr>
            <c:txPr>
              <a:bodyPr rot="0" vert="horz" wrap="none" lIns="0" tIns="0" rIns="0" bIns="0" anchor="ctr" anchorCtr="1"/>
              <a:p>
                <a:pPr algn="l">
                  <a:defRPr sz="900" b="1" i="0" u="none">
                    <a:solidFill>
                      <a:schemeClr val="lt1"/>
                    </a:solidFill>
                    <a:latin typeface="+mn-lt" panose="0"/>
                    <a:ea typeface="+mn-ea" panose="0"/>
                    <a:cs typeface="+mn-ea" panose="0"/>
                    <a:sym typeface="+mn-ea" panose="0"/>
                  </a:defRPr>
                </a:pPr>
                <a:endParaRPr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</c:dLbls>
          <c:cat>
            <c:strRef>
              <c:f>Sheet1!$A$2:$A$7</c:f>
              <c:strCache>
                <c:ptCount val="6"/>
                <c:pt idx="0">
                  <c:v>unpack_sig</c:v>
                </c:pt>
                <c:pt idx="1">
                  <c:v>polymatkl_expand</c:v>
                </c:pt>
                <c:pt idx="2">
                  <c:v>poly_uniform</c:v>
                </c:pt>
                <c:pt idx="3">
                  <c:v>polyveck_ntt</c:v>
                </c:pt>
                <c:pt idx="4">
                  <c:v>polyveck_reduce2q</c:v>
                </c:pt>
                <c:pt idx="5">
                  <c:v>etc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0.245</c:v>
                </c:pt>
                <c:pt idx="1">
                  <c:v>0.18</c:v>
                </c:pt>
                <c:pt idx="2">
                  <c:v>0.13100000000000001</c:v>
                </c:pt>
                <c:pt idx="3">
                  <c:v>9.8000000000000004E-2</c:v>
                </c:pt>
                <c:pt idx="4">
                  <c:v>4.9000000000000002E-2</c:v>
                </c:pt>
                <c:pt idx="5">
                  <c:v>0.29699999999999993</c:v>
                </c:pt>
              </c:numCache>
            </c:numRef>
          </c:val>
        </c:ser>
        <c:dLbls>
          <c:delete val="0"/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6882090270519257"/>
          <c:y val="0.17573800683021545"/>
          <c:w val="0.65868031978607178"/>
          <c:h val="0.11641261726617813"/>
        </c:manualLayout>
      </c:layout>
      <c:overlay val="0"/>
      <c:spPr>
        <a:noFill/>
        <a:ln w="9525">
          <a:noFill/>
        </a:ln>
        <a:effectLst/>
      </c:spPr>
      <c:txPr>
        <a:bodyPr rot="0" vert="horz" wrap="none" lIns="0" tIns="0" rIns="0" bIns="0" anchor="ctr" anchorCtr="1"/>
        <a:p>
          <a:pPr algn="l">
            <a:defRPr sz="700" b="0" i="0" u="none">
              <a:solidFill>
                <a:schemeClr val="tx1">
                  <a:lumMod val="65000"/>
                  <a:lumOff val="35000"/>
                </a:schemeClr>
              </a:solidFill>
              <a:latin typeface="+mn-lt" panose="0"/>
              <a:ea typeface="+mn-ea" panose="0"/>
              <a:cs typeface="+mn-ea" panose="0"/>
              <a:sym typeface="+mn-ea" panose="0"/>
            </a:defRPr>
          </a:pPr>
          <a:endParaRPr/>
        </a:p>
      </c:txPr>
    </c:legend>
    <c:dispBlanksAs val="gap"/>
  </c:chart>
  <c:txPr>
    <a:bodyPr rot="0" vert="horz" wrap="none" lIns="0" tIns="0" rIns="0" bIns="0" anchor="ctr" anchorCtr="1"/>
    <a:p>
      <a:pPr algn="l">
        <a:defRPr b="0" i="0" u="none"/>
      </a:pPr>
      <a:endParaRPr/>
    </a:p>
  </c:txPr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5546E7E-6CE1-4F62-BC39-1BE7148D0D0D}" type="datetime1">
              <a:rPr lang="ko-KR" altLang="en-US"/>
              <a:pPr lvl="0">
                <a:defRPr/>
              </a:pPr>
              <a:t>2026-02-02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42F56489-CFDC-4DF4-92D1-C366C0FB173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B8A1C54-2D0D-48EB-888A-9786B070F533}" type="datetime1">
              <a:rPr lang="ko-KR" altLang="en-US"/>
              <a:pPr lvl="0">
                <a:defRPr/>
              </a:pPr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6002C913-610E-4BF0-B55F-9CE65BBA65D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/>
              <a:t/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1C69811C-20CC-C342-ABAC-EF4E2EEDF8E2}" type="slidenum">
              <a:rPr kumimoji="1" lang="en-US" altLang="en-US"/>
              <a:pPr lvl="0">
                <a:defRPr/>
              </a:pPr>
              <a:t>2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/>
              <a:t/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1C868C-0160-FC4C-AC83-D26960EE29D4}" type="slidenum">
              <a:rPr kumimoji="1" lang="en-US" altLang="en-US"/>
              <a:pPr lvl="0">
                <a:defRPr/>
              </a:pPr>
              <a:t>7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/>
              <a:t/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1C868C-0160-FC4C-AC83-D26960EE29D4}" type="slidenum">
              <a:rPr kumimoji="1" lang="en-US" altLang="en-US"/>
              <a:pPr lvl="0">
                <a:defRPr/>
              </a:pPr>
              <a:t>21</a:t>
            </a:fld>
            <a:endParaRPr kumimoji="1"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0" t="65598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60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676048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2158084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3073925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993106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2158085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307068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999684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theme" Target="../theme/theme1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preserve="1">
  <p:cSld name="제목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B68DAAC8-442A-4C15-9819-F07FF5E7315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hyperlink" Target="https://youtu.be/7HPBQ-y3cv4" TargetMode="External"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4.xml"  /><Relationship Id="rId3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.png"  /><Relationship Id="rId3" Type="http://schemas.openxmlformats.org/officeDocument/2006/relationships/hyperlink" Target="https://github.com/PQClean/PQClean" TargetMode="External" /><Relationship Id="rId4" Type="http://schemas.openxmlformats.org/officeDocument/2006/relationships/hyperlink" Target="https://github.com/kpqc-cryptocraft/KpqClean_ver2" TargetMode="External" /><Relationship Id="rId5" Type="http://schemas.openxmlformats.org/officeDocument/2006/relationships/image" Target="../media/image6.png"  /><Relationship Id="rId6" Type="http://schemas.openxmlformats.org/officeDocument/2006/relationships/hyperlink" Target="https://github.com/mupq/pqm4" TargetMode="External"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4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image" Target="../media/image10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3.jpe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4.jpe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5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4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8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9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0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chart" Target="../charts/chart1.xml"  /><Relationship Id="rId3" Type="http://schemas.openxmlformats.org/officeDocument/2006/relationships/chart" Target="../charts/chart2.xml"  /><Relationship Id="rId4" Type="http://schemas.openxmlformats.org/officeDocument/2006/relationships/chart" Target="../charts/chart3.xml"  /><Relationship Id="rId5" Type="http://schemas.openxmlformats.org/officeDocument/2006/relationships/chart" Target="../charts/chart4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1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4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4.xml"  /><Relationship Id="rId3" Type="http://schemas.openxmlformats.org/officeDocument/2006/relationships/image" Target="../media/image22.png"  /><Relationship Id="rId4" Type="http://schemas.openxmlformats.org/officeDocument/2006/relationships/image" Target="../media/image23.jpeg"  /><Relationship Id="rId5" Type="http://schemas.openxmlformats.org/officeDocument/2006/relationships/image" Target="../media/image24.png"  /><Relationship Id="rId6" Type="http://schemas.openxmlformats.org/officeDocument/2006/relationships/image" Target="../media/image24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5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5400"/>
              <a:t>메모리 기초 </a:t>
            </a:r>
            <a:r>
              <a:rPr lang="en-US" altLang="ko-KR" sz="5400"/>
              <a:t>+</a:t>
            </a:r>
            <a:r>
              <a:rPr lang="ko-KR" altLang="en-US" sz="5400"/>
              <a:t> </a:t>
            </a:r>
            <a:r>
              <a:rPr lang="en-US" altLang="ko-KR" sz="5400"/>
              <a:t>HAETAE</a:t>
            </a:r>
            <a:endParaRPr lang="en-US" altLang="ko-KR" sz="54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유튜브 주소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en-US">
                <a:hlinkClick r:id="rId2"/>
              </a:rPr>
              <a:t>https://youtu.be/7HPBQ-y3cv4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" altLang="ko-KR"/>
              <a:t>KpqC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11919" y="3429000"/>
          <a:ext cx="3721768" cy="3011937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301178"/>
                <a:gridCol w="2420590"/>
              </a:tblGrid>
              <a:tr h="349133">
                <a:tc gridSpan="2"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ko-Kore-KR" sz="16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KpqCm</a:t>
                      </a:r>
                      <a:endParaRPr lang="ko-Kore-KR" altLang="en-US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ore-KR" altLang="en-US"/>
                    </a:p>
                  </a:txBody>
                  <a:tcPr marL="91440" marR="91440"/>
                </a:tc>
              </a:tr>
              <a:tr h="425672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2021.11.25</a:t>
                      </a:r>
                      <a:endParaRPr lang="ko-Kore-KR" altLang="en-US" sz="1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공모전 공지</a:t>
                      </a:r>
                      <a:endParaRPr lang="ko-KR" altLang="en-US" sz="12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425672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2022.02.18</a:t>
                      </a:r>
                      <a:endParaRPr lang="ko-Kore-KR" altLang="en-US" sz="1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제출마감</a:t>
                      </a:r>
                      <a:endParaRPr lang="ko-KR" altLang="en-US" sz="12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425672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2022.03.15</a:t>
                      </a:r>
                      <a:endParaRPr lang="ko-Kore-KR" altLang="en-US" sz="1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차 평가</a:t>
                      </a:r>
                      <a:endParaRPr lang="ko-KR" altLang="en-US" sz="12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480058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2023.12</a:t>
                      </a:r>
                      <a:endParaRPr lang="ko-Kore-KR" altLang="en-US" sz="1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라운드 결과 발표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2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라운드 후보 목록 공개</a:t>
                      </a:r>
                      <a:endParaRPr lang="ko-KR" altLang="en-US" sz="12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425672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2024.04</a:t>
                      </a:r>
                      <a:r>
                        <a:rPr lang="en-US" altLang="ko-KR" sz="14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~11</a:t>
                      </a:r>
                      <a:endParaRPr lang="ko-Kore-KR" altLang="en-US" sz="1800" b="1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2</a:t>
                      </a:r>
                      <a:r>
                        <a:rPr lang="ko-KR" alt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라운드 진행 </a:t>
                      </a:r>
                      <a:endParaRPr lang="ko-KR" altLang="en-US" sz="1200" b="1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480058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2024.11</a:t>
                      </a:r>
                      <a:endParaRPr lang="ko-Kore-KR" altLang="en-US" sz="1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KpqC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공모전 최종결과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발표 예정</a:t>
                      </a:r>
                      <a:endParaRPr lang="ko-KR" altLang="en-US" sz="12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4482116" y="4203073"/>
          <a:ext cx="7297964" cy="2175272"/>
        </p:xfrm>
        <a:graphic>
          <a:graphicData uri="http://schemas.openxmlformats.org/drawingml/2006/table">
            <a:tbl>
              <a:tblPr firstRow="1" bandRow="1"/>
              <a:tblGrid>
                <a:gridCol w="1151283"/>
                <a:gridCol w="1243473"/>
                <a:gridCol w="1215200"/>
                <a:gridCol w="1303882"/>
                <a:gridCol w="1154790"/>
                <a:gridCol w="1229336"/>
              </a:tblGrid>
              <a:tr h="645160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Type</a:t>
                      </a:r>
                      <a:endParaRPr lang="ko-KR" altLang="en-US" sz="1100" b="1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Code-based</a:t>
                      </a:r>
                      <a:endParaRPr lang="ko-KR" altLang="en-US" sz="1100" b="1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Lattice-based</a:t>
                      </a:r>
                      <a:endParaRPr lang="ko-KR" altLang="en-US" sz="1100" b="1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Multivariate Quadratic</a:t>
                      </a:r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  <a:r>
                        <a:rPr lang="en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based</a:t>
                      </a:r>
                      <a:endParaRPr lang="ko-KR" altLang="en-US" sz="1100" b="1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Hash-based</a:t>
                      </a:r>
                      <a:endParaRPr lang="ko-KR" altLang="en-US" sz="1100" b="1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" altLang="ko-KR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MPC</a:t>
                      </a:r>
                      <a:endParaRPr lang="ko-KR" altLang="en-US" sz="1100" b="1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2528">
                <a:tc rowSpan="2"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Digital Signature</a:t>
                      </a: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 rowSpan="2"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  <a:endParaRPr lang="en" sz="1050" b="0" i="0" u="none" strike="noStrike" kern="120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>
                        <a:defRPr/>
                      </a:pPr>
                      <a:r>
                        <a:rPr lang="en" altLang="ko-KR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HAETAE</a:t>
                      </a: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 rowSpan="2"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" altLang="ko-KR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MQ-Sign</a:t>
                      </a:r>
                      <a:endParaRPr lang="en" altLang="ko-KR" sz="1050" b="0" i="0" u="none" strike="noStrike" kern="120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 rowSpan="2"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 rowSpan="2"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AIMer</a:t>
                      </a: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</a:tr>
              <a:tr h="382528">
                <a:tc vMerge="1">
                  <a:txBody>
                    <a:bodyPr/>
                    <a:p>
                      <a:pPr lvl="0">
                        <a:defRPr/>
                      </a:pPr>
                      <a:endParaRPr lang="ko-Kore-KR" altLang="en-US"/>
                    </a:p>
                  </a:txBody>
                  <a:tcPr marL="91440" marR="91440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 vMerge="1">
                  <a:txBody>
                    <a:bodyPr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" sz="20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>
                        <a:defRPr/>
                      </a:pPr>
                      <a:r>
                        <a:rPr lang="en" altLang="ko-KR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NCC-Sign</a:t>
                      </a: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ore-KR" altLang="en-US"/>
                    </a:p>
                  </a:txBody>
                  <a:tcPr marL="91440" marR="91440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ore-KR" altLang="en-US"/>
                    </a:p>
                  </a:txBody>
                  <a:tcPr marL="91440" marR="91440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ore-KR" altLang="en-US"/>
                    </a:p>
                  </a:txBody>
                  <a:tcPr marL="91440" marR="91440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</a:tr>
              <a:tr h="382528">
                <a:tc rowSpan="2"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Encryption/</a:t>
                      </a:r>
                      <a:endParaRPr lang="en-US" altLang="ko-KR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Key-establishment</a:t>
                      </a:r>
                      <a:endParaRPr lang="ko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" altLang="ko-KR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PALOMA</a:t>
                      </a:r>
                      <a:endParaRPr lang="en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" altLang="ko-KR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NTRU+</a:t>
                      </a:r>
                      <a:endParaRPr lang="en" altLang="ko-KR" sz="1050" b="0" i="0" u="none" strike="noStrike" kern="120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</a:tr>
              <a:tr h="382528">
                <a:tc vMerge="1">
                  <a:txBody>
                    <a:bodyPr/>
                    <a:p>
                      <a:pPr algn="ctr">
                        <a:defRPr/>
                      </a:pP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" altLang="ko-KR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REDOG</a:t>
                      </a:r>
                      <a:endParaRPr lang="en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" altLang="ko-KR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SMAUG-T</a:t>
                      </a:r>
                      <a:endParaRPr lang="en" altLang="ko-KR" sz="1050" b="0" i="0" u="none" strike="noStrike" kern="120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82115" y="3651348"/>
            <a:ext cx="3576199" cy="452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altLang="ko-KR" sz="1200" b="1" i="0" u="none" strike="noStrike">
                <a:solidFill>
                  <a:srgbClr val="000000"/>
                </a:solidFill>
                <a:effectLst/>
                <a:latin typeface="Arial"/>
              </a:rPr>
              <a:t>Digital Signature Algorithm: 4</a:t>
            </a:r>
            <a:r>
              <a:rPr lang="ko-KR" altLang="en-US" sz="1200" b="1" i="0" u="none" strike="noStrike">
                <a:solidFill>
                  <a:srgbClr val="000000"/>
                </a:solidFill>
                <a:effectLst/>
                <a:latin typeface="Arial"/>
              </a:rPr>
              <a:t>개</a:t>
            </a:r>
            <a:endParaRPr lang="ko-KR" altLang="en-US" sz="1200" b="1" i="0" u="none" strike="noStrike">
              <a:solidFill>
                <a:srgbClr val="000000"/>
              </a:solidFill>
              <a:effectLst/>
              <a:latin typeface="Arial"/>
            </a:endParaRPr>
          </a:p>
          <a:p>
            <a:pPr>
              <a:buFont typeface="Arial"/>
              <a:buChar char="•"/>
              <a:defRPr/>
            </a:pPr>
            <a:r>
              <a:rPr lang="en-US" altLang="ko-KR" sz="1200" b="1">
                <a:solidFill>
                  <a:srgbClr val="000000"/>
                </a:solidFill>
                <a:latin typeface="Arial"/>
              </a:rPr>
              <a:t>Encryption/Key-establishment Algorithm </a:t>
            </a:r>
            <a:r>
              <a:rPr lang="en-US" altLang="ko-KR" sz="1200" b="1" i="0" u="none" strike="noStrike">
                <a:solidFill>
                  <a:srgbClr val="000000"/>
                </a:solidFill>
                <a:effectLst/>
                <a:latin typeface="Arial"/>
              </a:rPr>
              <a:t>: 4</a:t>
            </a:r>
            <a:r>
              <a:rPr lang="ko-KR" altLang="en-US" sz="1200" b="1" i="0" u="none" strike="noStrike">
                <a:solidFill>
                  <a:srgbClr val="000000"/>
                </a:solidFill>
                <a:effectLst/>
                <a:latin typeface="Arial"/>
              </a:rPr>
              <a:t>개</a:t>
            </a:r>
            <a:endParaRPr lang="ko-KR" altLang="en-US" sz="1200" b="1" i="0" u="none" strike="noStrike">
              <a:solidFill>
                <a:srgbClr val="000000"/>
              </a:solidFill>
              <a:effectLst/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919" y="1090749"/>
            <a:ext cx="10919469" cy="1888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kumimoji="1" lang="ko-KR" altLang="en-US" sz="2200" b="1">
                <a:latin typeface="+mn-ea"/>
              </a:rPr>
              <a:t>양자 내성 암호 연구단</a:t>
            </a:r>
            <a:r>
              <a:rPr kumimoji="1" lang="ko-KR" altLang="en-US" sz="2200">
                <a:latin typeface="+mn-ea"/>
              </a:rPr>
              <a:t>은 양자컴퓨터에 의한 보안 위협에 대비하기 위해 </a:t>
            </a:r>
            <a:br>
              <a:rPr kumimoji="1" lang="en-US" altLang="ko-KR" sz="2200">
                <a:latin typeface="+mn-ea"/>
              </a:rPr>
            </a:br>
            <a:r>
              <a:rPr kumimoji="1" lang="ko-KR" altLang="en-US" sz="2200" b="1">
                <a:solidFill>
                  <a:schemeClr val="accent1"/>
                </a:solidFill>
                <a:latin typeface="+mn-ea"/>
              </a:rPr>
              <a:t>양자내성암호 국가공모전 </a:t>
            </a:r>
            <a:r>
              <a:rPr kumimoji="1" lang="en-US" altLang="ko-KR" sz="2200" b="1">
                <a:solidFill>
                  <a:schemeClr val="accent1"/>
                </a:solidFill>
                <a:latin typeface="+mn-ea"/>
              </a:rPr>
              <a:t>(</a:t>
            </a:r>
            <a:r>
              <a:rPr kumimoji="1" lang="en" altLang="ko-Kore-KR" sz="2200" b="1">
                <a:solidFill>
                  <a:schemeClr val="accent1"/>
                </a:solidFill>
                <a:latin typeface="+mn-ea"/>
              </a:rPr>
              <a:t>KpqC </a:t>
            </a:r>
            <a:r>
              <a:rPr kumimoji="1" lang="ko-KR" altLang="en-US" sz="2200" b="1">
                <a:solidFill>
                  <a:schemeClr val="accent1"/>
                </a:solidFill>
                <a:latin typeface="+mn-ea"/>
              </a:rPr>
              <a:t>공모전</a:t>
            </a:r>
            <a:r>
              <a:rPr kumimoji="1" lang="en-US" altLang="ko-KR" sz="2200" b="1">
                <a:solidFill>
                  <a:schemeClr val="accent1"/>
                </a:solidFill>
                <a:latin typeface="+mn-ea"/>
              </a:rPr>
              <a:t>)</a:t>
            </a:r>
            <a:r>
              <a:rPr kumimoji="1" lang="ko-KR" altLang="en-US" sz="2200" b="1">
                <a:solidFill>
                  <a:schemeClr val="accent1"/>
                </a:solidFill>
                <a:latin typeface="+mn-ea"/>
              </a:rPr>
              <a:t> 진행 중</a:t>
            </a:r>
            <a:endParaRPr kumimoji="1" lang="ko-KR" altLang="en-US" sz="2200" b="1">
              <a:solidFill>
                <a:schemeClr val="accent1"/>
              </a:solidFill>
              <a:latin typeface="+mn-ea"/>
            </a:endParaRPr>
          </a:p>
          <a:p>
            <a:pPr marL="285750" indent="-285750">
              <a:buFont typeface="Arial"/>
              <a:buChar char="•"/>
              <a:defRPr/>
            </a:pPr>
            <a:endParaRPr kumimoji="1" lang="en-US" altLang="ko-KR" sz="2000">
              <a:latin typeface="+mn-ea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kumimoji="1" lang="en-US" altLang="ko-KR" sz="2200" b="1">
                <a:latin typeface="+mn-ea"/>
              </a:rPr>
              <a:t>2</a:t>
            </a:r>
            <a:r>
              <a:rPr kumimoji="1" lang="ko-KR" altLang="en-US" sz="2200" b="1">
                <a:latin typeface="+mn-ea"/>
              </a:rPr>
              <a:t>라운드 진출 알고리즘</a:t>
            </a:r>
            <a:endParaRPr kumimoji="1" lang="ko-KR" altLang="en-US" sz="2200" b="1">
              <a:latin typeface="+mn-ea"/>
            </a:endParaRPr>
          </a:p>
          <a:p>
            <a:pPr marL="800100" lvl="1" indent="-342900">
              <a:buFont typeface="Arial"/>
              <a:buChar char="•"/>
              <a:defRPr/>
            </a:pPr>
            <a:r>
              <a:rPr kumimoji="1" lang="en-US" altLang="en-US" sz="1600" b="1">
                <a:latin typeface="+mn-ea"/>
              </a:rPr>
              <a:t>Digital Signature 		  : AIMer, HAETAE, MQ-Sign, NCC-Sign </a:t>
            </a:r>
            <a:endParaRPr kumimoji="1" lang="en-US" altLang="en-US" sz="1600" b="1">
              <a:latin typeface="+mn-ea"/>
            </a:endParaRPr>
          </a:p>
          <a:p>
            <a:pPr marL="800100" lvl="1" indent="-342900">
              <a:buFont typeface="Arial"/>
              <a:buChar char="•"/>
              <a:defRPr/>
            </a:pPr>
            <a:r>
              <a:rPr kumimoji="1" lang="en-US" altLang="en-US" sz="1600" b="1">
                <a:latin typeface="+mn-ea"/>
              </a:rPr>
              <a:t>Encryption/Key-establishment : NTRU+, PALOMA, REDOG, SMAUG-T</a:t>
            </a:r>
            <a:endParaRPr kumimoji="1" lang="en-US" altLang="en-US" sz="1600" b="1">
              <a:latin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712679" y="1866895"/>
            <a:ext cx="3067401" cy="21752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919" y="6596390"/>
            <a:ext cx="3021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https://www.kpqc.or.kr/competition_02.html</a:t>
            </a:r>
            <a:endParaRPr kumimoji="0" lang="ko-KR" altLang="en-US" sz="1100" b="0" i="0" u="none" strike="noStrike" kern="1200" cap="none" spc="0" normalizeH="0" baseline="0">
              <a:solidFill>
                <a:prstClr val="black"/>
              </a:solidFill>
              <a:latin typeface="Arial"/>
              <a:ea typeface="맑은 고딕"/>
              <a:cs typeface="+mn-cs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62713" y="4203073"/>
            <a:ext cx="1195601" cy="2175272"/>
          </a:xfrm>
          <a:custGeom>
            <a:avLst/>
            <a:gdLst>
              <a:gd name="connsiteX0" fmla="*/ 0 w 1195601"/>
              <a:gd name="connsiteY0" fmla="*/ 0 h 2175272"/>
              <a:gd name="connsiteX1" fmla="*/ 621713 w 1195601"/>
              <a:gd name="connsiteY1" fmla="*/ 0 h 2175272"/>
              <a:gd name="connsiteX2" fmla="*/ 1195601 w 1195601"/>
              <a:gd name="connsiteY2" fmla="*/ 0 h 2175272"/>
              <a:gd name="connsiteX3" fmla="*/ 1195601 w 1195601"/>
              <a:gd name="connsiteY3" fmla="*/ 587323 h 2175272"/>
              <a:gd name="connsiteX4" fmla="*/ 1195601 w 1195601"/>
              <a:gd name="connsiteY4" fmla="*/ 1152894 h 2175272"/>
              <a:gd name="connsiteX5" fmla="*/ 1195601 w 1195601"/>
              <a:gd name="connsiteY5" fmla="*/ 1696712 h 2175272"/>
              <a:gd name="connsiteX6" fmla="*/ 1195601 w 1195601"/>
              <a:gd name="connsiteY6" fmla="*/ 2175272 h 2175272"/>
              <a:gd name="connsiteX7" fmla="*/ 597801 w 1195601"/>
              <a:gd name="connsiteY7" fmla="*/ 2175272 h 2175272"/>
              <a:gd name="connsiteX8" fmla="*/ 0 w 1195601"/>
              <a:gd name="connsiteY8" fmla="*/ 2175272 h 2175272"/>
              <a:gd name="connsiteX9" fmla="*/ 0 w 1195601"/>
              <a:gd name="connsiteY9" fmla="*/ 1631454 h 2175272"/>
              <a:gd name="connsiteX10" fmla="*/ 0 w 1195601"/>
              <a:gd name="connsiteY10" fmla="*/ 1131141 h 2175272"/>
              <a:gd name="connsiteX11" fmla="*/ 0 w 1195601"/>
              <a:gd name="connsiteY11" fmla="*/ 565571 h 2175272"/>
              <a:gd name="connsiteX12" fmla="*/ 0 w 1195601"/>
              <a:gd name="connsiteY12" fmla="*/ 0 h 217527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5601" h="2175272" extrusionOk="0">
                <a:moveTo>
                  <a:pt x="0" y="0"/>
                </a:moveTo>
                <a:cubicBezTo>
                  <a:pt x="166065" y="-11700"/>
                  <a:pt x="383316" y="-26572"/>
                  <a:pt x="621713" y="0"/>
                </a:cubicBezTo>
                <a:cubicBezTo>
                  <a:pt x="860110" y="26572"/>
                  <a:pt x="933063" y="7198"/>
                  <a:pt x="1195601" y="0"/>
                </a:cubicBezTo>
                <a:cubicBezTo>
                  <a:pt x="1202541" y="182415"/>
                  <a:pt x="1185095" y="438178"/>
                  <a:pt x="1195601" y="587323"/>
                </a:cubicBezTo>
                <a:cubicBezTo>
                  <a:pt x="1206107" y="736468"/>
                  <a:pt x="1217507" y="923620"/>
                  <a:pt x="1195601" y="1152894"/>
                </a:cubicBezTo>
                <a:cubicBezTo>
                  <a:pt x="1173695" y="1382168"/>
                  <a:pt x="1183115" y="1520795"/>
                  <a:pt x="1195601" y="1696712"/>
                </a:cubicBezTo>
                <a:cubicBezTo>
                  <a:pt x="1208087" y="1872629"/>
                  <a:pt x="1202841" y="1962629"/>
                  <a:pt x="1195601" y="2175272"/>
                </a:cubicBezTo>
                <a:cubicBezTo>
                  <a:pt x="905929" y="2192723"/>
                  <a:pt x="729683" y="2171381"/>
                  <a:pt x="597801" y="2175272"/>
                </a:cubicBezTo>
                <a:cubicBezTo>
                  <a:pt x="465919" y="2179163"/>
                  <a:pt x="133892" y="2173135"/>
                  <a:pt x="0" y="2175272"/>
                </a:cubicBezTo>
                <a:cubicBezTo>
                  <a:pt x="247" y="1979619"/>
                  <a:pt x="-17651" y="1747169"/>
                  <a:pt x="0" y="1631454"/>
                </a:cubicBezTo>
                <a:cubicBezTo>
                  <a:pt x="17651" y="1515739"/>
                  <a:pt x="12340" y="1353127"/>
                  <a:pt x="0" y="1131141"/>
                </a:cubicBezTo>
                <a:cubicBezTo>
                  <a:pt x="-12340" y="909155"/>
                  <a:pt x="21815" y="836299"/>
                  <a:pt x="0" y="565571"/>
                </a:cubicBezTo>
                <a:cubicBezTo>
                  <a:pt x="-21815" y="294843"/>
                  <a:pt x="-22244" y="226028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11920" y="5562617"/>
            <a:ext cx="3721767" cy="390508"/>
          </a:xfrm>
          <a:custGeom>
            <a:avLst/>
            <a:gdLst>
              <a:gd name="connsiteX0" fmla="*/ 0 w 3721767"/>
              <a:gd name="connsiteY0" fmla="*/ 0 h 390508"/>
              <a:gd name="connsiteX1" fmla="*/ 694730 w 3721767"/>
              <a:gd name="connsiteY1" fmla="*/ 0 h 390508"/>
              <a:gd name="connsiteX2" fmla="*/ 1277807 w 3721767"/>
              <a:gd name="connsiteY2" fmla="*/ 0 h 390508"/>
              <a:gd name="connsiteX3" fmla="*/ 1972537 w 3721767"/>
              <a:gd name="connsiteY3" fmla="*/ 0 h 390508"/>
              <a:gd name="connsiteX4" fmla="*/ 2592831 w 3721767"/>
              <a:gd name="connsiteY4" fmla="*/ 0 h 390508"/>
              <a:gd name="connsiteX5" fmla="*/ 3721767 w 3721767"/>
              <a:gd name="connsiteY5" fmla="*/ 0 h 390508"/>
              <a:gd name="connsiteX6" fmla="*/ 3721767 w 3721767"/>
              <a:gd name="connsiteY6" fmla="*/ 390508 h 390508"/>
              <a:gd name="connsiteX7" fmla="*/ 3101473 w 3721767"/>
              <a:gd name="connsiteY7" fmla="*/ 390508 h 390508"/>
              <a:gd name="connsiteX8" fmla="*/ 2481178 w 3721767"/>
              <a:gd name="connsiteY8" fmla="*/ 390508 h 390508"/>
              <a:gd name="connsiteX9" fmla="*/ 1860884 w 3721767"/>
              <a:gd name="connsiteY9" fmla="*/ 390508 h 390508"/>
              <a:gd name="connsiteX10" fmla="*/ 1352242 w 3721767"/>
              <a:gd name="connsiteY10" fmla="*/ 390508 h 390508"/>
              <a:gd name="connsiteX11" fmla="*/ 806383 w 3721767"/>
              <a:gd name="connsiteY11" fmla="*/ 390508 h 390508"/>
              <a:gd name="connsiteX12" fmla="*/ 0 w 3721767"/>
              <a:gd name="connsiteY12" fmla="*/ 390508 h 390508"/>
              <a:gd name="connsiteX13" fmla="*/ 0 w 3721767"/>
              <a:gd name="connsiteY13" fmla="*/ 0 h 39050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21767" h="390508" extrusionOk="0">
                <a:moveTo>
                  <a:pt x="0" y="0"/>
                </a:moveTo>
                <a:cubicBezTo>
                  <a:pt x="259841" y="-19815"/>
                  <a:pt x="351156" y="15487"/>
                  <a:pt x="694730" y="0"/>
                </a:cubicBezTo>
                <a:cubicBezTo>
                  <a:pt x="1038304" y="-15487"/>
                  <a:pt x="1063993" y="14838"/>
                  <a:pt x="1277807" y="0"/>
                </a:cubicBezTo>
                <a:cubicBezTo>
                  <a:pt x="1491621" y="-14838"/>
                  <a:pt x="1702989" y="1308"/>
                  <a:pt x="1972537" y="0"/>
                </a:cubicBezTo>
                <a:cubicBezTo>
                  <a:pt x="2242085" y="-1308"/>
                  <a:pt x="2445829" y="30150"/>
                  <a:pt x="2592831" y="0"/>
                </a:cubicBezTo>
                <a:cubicBezTo>
                  <a:pt x="2739833" y="-30150"/>
                  <a:pt x="3263794" y="-30771"/>
                  <a:pt x="3721767" y="0"/>
                </a:cubicBezTo>
                <a:cubicBezTo>
                  <a:pt x="3703317" y="109224"/>
                  <a:pt x="3723666" y="289433"/>
                  <a:pt x="3721767" y="390508"/>
                </a:cubicBezTo>
                <a:cubicBezTo>
                  <a:pt x="3520136" y="396068"/>
                  <a:pt x="3280038" y="407586"/>
                  <a:pt x="3101473" y="390508"/>
                </a:cubicBezTo>
                <a:cubicBezTo>
                  <a:pt x="2922908" y="373430"/>
                  <a:pt x="2781954" y="380776"/>
                  <a:pt x="2481178" y="390508"/>
                </a:cubicBezTo>
                <a:cubicBezTo>
                  <a:pt x="2180402" y="400240"/>
                  <a:pt x="2122584" y="386478"/>
                  <a:pt x="1860884" y="390508"/>
                </a:cubicBezTo>
                <a:cubicBezTo>
                  <a:pt x="1599184" y="394538"/>
                  <a:pt x="1586241" y="400290"/>
                  <a:pt x="1352242" y="390508"/>
                </a:cubicBezTo>
                <a:cubicBezTo>
                  <a:pt x="1118243" y="380726"/>
                  <a:pt x="977263" y="390314"/>
                  <a:pt x="806383" y="390508"/>
                </a:cubicBezTo>
                <a:cubicBezTo>
                  <a:pt x="635503" y="390702"/>
                  <a:pt x="209833" y="393134"/>
                  <a:pt x="0" y="390508"/>
                </a:cubicBezTo>
                <a:cubicBezTo>
                  <a:pt x="17928" y="225208"/>
                  <a:pt x="-6855" y="141826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" altLang="ko-KR"/>
              <a:t>KpqC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1920" y="1279917"/>
            <a:ext cx="8606004" cy="969890"/>
          </a:xfrm>
        </p:spPr>
        <p:txBody>
          <a:bodyPr/>
          <a:lstStyle/>
          <a:p>
            <a:pPr lvl="0">
              <a:defRPr/>
            </a:pPr>
            <a:r>
              <a:rPr kumimoji="1" lang="ko-KR" altLang="en-US" sz="2000" b="1">
                <a:latin typeface="+mn-ea"/>
              </a:rPr>
              <a:t>양자 내성 암호 연구단</a:t>
            </a:r>
            <a:r>
              <a:rPr kumimoji="1" lang="ko-KR" altLang="en-US" sz="2000">
                <a:latin typeface="+mn-ea"/>
              </a:rPr>
              <a:t>은 양자컴퓨터에 의한 보안 위협에 대비하기 위해 </a:t>
            </a:r>
            <a:br>
              <a:rPr kumimoji="1" lang="en-US" altLang="ko-KR" sz="2000">
                <a:latin typeface="+mn-ea"/>
              </a:rPr>
            </a:br>
            <a:r>
              <a:rPr kumimoji="1" lang="ko-KR" altLang="en-US" sz="2000" b="1">
                <a:solidFill>
                  <a:schemeClr val="accent1"/>
                </a:solidFill>
                <a:latin typeface="+mn-ea"/>
              </a:rPr>
              <a:t>양자내성암호 국가공모전 </a:t>
            </a:r>
            <a:r>
              <a:rPr kumimoji="1" lang="en-US" altLang="ko-KR" sz="2000" b="1">
                <a:solidFill>
                  <a:schemeClr val="accent1"/>
                </a:solidFill>
                <a:latin typeface="+mn-ea"/>
              </a:rPr>
              <a:t>(</a:t>
            </a:r>
            <a:r>
              <a:rPr kumimoji="1" lang="en" altLang="ko-Kore-KR" sz="2000" b="1">
                <a:solidFill>
                  <a:schemeClr val="accent1"/>
                </a:solidFill>
                <a:latin typeface="+mn-ea"/>
              </a:rPr>
              <a:t>KpqC </a:t>
            </a:r>
            <a:r>
              <a:rPr kumimoji="1" lang="ko-KR" altLang="en-US" sz="2000" b="1">
                <a:solidFill>
                  <a:schemeClr val="accent1"/>
                </a:solidFill>
                <a:latin typeface="+mn-ea"/>
              </a:rPr>
              <a:t>공모전</a:t>
            </a:r>
            <a:r>
              <a:rPr kumimoji="1" lang="en-US" altLang="ko-KR" sz="2000" b="1">
                <a:solidFill>
                  <a:schemeClr val="accent1"/>
                </a:solidFill>
                <a:latin typeface="+mn-ea"/>
              </a:rPr>
              <a:t>)</a:t>
            </a:r>
            <a:r>
              <a:rPr kumimoji="1" lang="ko-KR" altLang="en-US" sz="2000" b="1">
                <a:solidFill>
                  <a:schemeClr val="accent1"/>
                </a:solidFill>
                <a:latin typeface="+mn-ea"/>
              </a:rPr>
              <a:t> 진행 완료</a:t>
            </a:r>
            <a:endParaRPr kumimoji="1" lang="en-US" altLang="ko-KR" sz="2000" b="1">
              <a:solidFill>
                <a:schemeClr val="accent1"/>
              </a:solidFill>
              <a:latin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06490" y="2074986"/>
          <a:ext cx="3721768" cy="400547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301178"/>
                <a:gridCol w="2420590"/>
              </a:tblGrid>
              <a:tr h="400472">
                <a:tc gridSpan="2"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ko-Kore-KR" sz="16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KpqCm</a:t>
                      </a:r>
                      <a:endParaRPr lang="ko-Kore-KR" altLang="en-US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vl="0">
                        <a:defRPr/>
                      </a:pPr>
                      <a:endParaRPr lang="ko-Kore-KR" altLang="en-US"/>
                    </a:p>
                  </a:txBody>
                  <a:tcPr marL="91440" marR="91440"/>
                </a:tc>
              </a:tr>
              <a:tr h="488265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2021.11.25</a:t>
                      </a:r>
                      <a:endParaRPr lang="ko-Kore-KR" altLang="en-US" sz="1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공모전 공지</a:t>
                      </a:r>
                      <a:endParaRPr lang="ko-KR" altLang="en-US" sz="12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488265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2022.02.18</a:t>
                      </a:r>
                      <a:endParaRPr lang="ko-Kore-KR" altLang="en-US" sz="1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제출마감</a:t>
                      </a:r>
                      <a:endParaRPr lang="ko-KR" altLang="en-US" sz="12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488265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2022.03.15</a:t>
                      </a:r>
                      <a:endParaRPr lang="ko-Kore-KR" altLang="en-US" sz="1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차 평가</a:t>
                      </a:r>
                      <a:endParaRPr lang="ko-KR" altLang="en-US" sz="12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550648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2023.12</a:t>
                      </a:r>
                      <a:endParaRPr lang="ko-Kore-KR" altLang="en-US" sz="1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라운드 결과 발표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2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라운드 후보 목록 공개</a:t>
                      </a:r>
                      <a:endParaRPr lang="ko-KR" altLang="en-US" sz="12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488265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2024.04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~11</a:t>
                      </a:r>
                      <a:endParaRPr lang="ko-Kore-KR" altLang="en-US" sz="1800" b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2</a:t>
                      </a:r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라운드 진행 </a:t>
                      </a:r>
                      <a:endParaRPr lang="ko-KR" altLang="en-US" sz="12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550648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ore-KR" sz="14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202</a:t>
                      </a:r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lang="en-US" altLang="ko-Kore-KR" sz="14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lang="en-US" altLang="ko-KR" sz="14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01.16</a:t>
                      </a:r>
                      <a:endParaRPr lang="ko-Kore-KR" altLang="en-US" sz="1800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" sz="1200" b="0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KpqC </a:t>
                      </a:r>
                      <a:r>
                        <a:rPr lang="ko-KR" alt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공모전 최종결과 선정</a:t>
                      </a:r>
                      <a:endParaRPr lang="en-US" altLang="ko-KR" sz="1200" b="0" i="0" u="none" strike="noStrike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  <a:tr h="550648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현재</a:t>
                      </a:r>
                      <a:endParaRPr lang="ko-Kore-KR" altLang="en-US" sz="1200" b="1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/>
                        </a:rPr>
                        <a:t>표준화 작업 진행 중</a:t>
                      </a:r>
                      <a:endParaRPr lang="en-US" altLang="ko-KR" sz="1200" b="1" i="0" u="none" strike="noStrike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5156053" y="3975305"/>
          <a:ext cx="6624027" cy="2246058"/>
        </p:xfrm>
        <a:graphic>
          <a:graphicData uri="http://schemas.openxmlformats.org/drawingml/2006/table">
            <a:tbl>
              <a:tblPr firstRow="1" bandRow="1"/>
              <a:tblGrid>
                <a:gridCol w="2120832"/>
                <a:gridCol w="2238577"/>
                <a:gridCol w="2264618"/>
              </a:tblGrid>
              <a:tr h="715946"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Type</a:t>
                      </a:r>
                      <a:endParaRPr lang="ko-KR" altLang="en-US" sz="1600" b="1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Lattice-based</a:t>
                      </a:r>
                      <a:endParaRPr lang="ko-KR" altLang="en-US" sz="1600" b="1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" altLang="ko-KR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MPC</a:t>
                      </a:r>
                      <a:endParaRPr lang="ko-KR" altLang="en-US" sz="1600" b="1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2528">
                <a:tc rowSpan="2"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Digital Signature</a:t>
                      </a:r>
                      <a:endParaRPr lang="ko-Kore-KR" alt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>
                        <a:defRPr/>
                      </a:pPr>
                      <a:r>
                        <a:rPr lang="en" altLang="ko-K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HAETAE</a:t>
                      </a:r>
                      <a:endParaRPr lang="ko-Kore-KR" alt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 rowSpan="2"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AIMer</a:t>
                      </a:r>
                      <a:endParaRPr lang="ko-Kore-KR" alt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</a:tr>
              <a:tr h="382528">
                <a:tc vMerge="1">
                  <a:txBody>
                    <a:bodyPr/>
                    <a:p>
                      <a:pPr lvl="0">
                        <a:defRPr/>
                      </a:pPr>
                      <a:endParaRPr lang="ko-Kore-KR" altLang="en-US"/>
                    </a:p>
                  </a:txBody>
                  <a:tcPr marL="91440" marR="91440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algn="ctr">
                        <a:defRPr/>
                      </a:pPr>
                      <a:endParaRPr lang="ko-Kore-KR" alt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 vMerge="1">
                  <a:txBody>
                    <a:bodyPr/>
                    <a:p>
                      <a:pPr lvl="0">
                        <a:defRPr/>
                      </a:pPr>
                      <a:endParaRPr lang="ko-Kore-KR" altLang="en-US"/>
                    </a:p>
                  </a:txBody>
                  <a:tcPr marL="91440" marR="91440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</a:tr>
              <a:tr h="382528">
                <a:tc rowSpan="2"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Encryption/</a:t>
                      </a:r>
                      <a:endParaRPr lang="en-US" altLang="ko-KR" sz="14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Key-establishment</a:t>
                      </a:r>
                      <a:endParaRPr lang="ko-KR" alt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" altLang="ko-K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NTRU+</a:t>
                      </a:r>
                      <a:endParaRPr lang="en" altLang="ko-KR" sz="1400" b="0" i="0" u="none" strike="noStrike" kern="120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  <a:endParaRPr lang="ko-Kore-KR" alt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</a:tr>
              <a:tr h="382528">
                <a:tc vMerge="1">
                  <a:txBody>
                    <a:bodyPr/>
                    <a:p>
                      <a:pPr algn="ctr">
                        <a:defRPr/>
                      </a:pPr>
                      <a:endParaRPr lang="ko-Kore-KR" altLang="en-US" sz="105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 vert="horz" lIns="95250" tIns="47625" rIns="95250" bIns="47625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" altLang="ko-KR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SMAUG-T</a:t>
                      </a:r>
                      <a:endParaRPr lang="en" altLang="ko-KR" sz="1400" b="0" i="0" u="none" strike="noStrike" kern="120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5250" marR="95250" marT="47625" marB="47625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en-US" alt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  <a:endParaRPr lang="ko-Kore-KR" alt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91440" marR="91440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6490" y="6329130"/>
            <a:ext cx="3021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1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https://www.kpqc.or.kr/competition_02.html</a:t>
            </a:r>
            <a:endParaRPr kumimoji="0" lang="ko-KR" altLang="en-US" sz="1100" b="0" i="0" u="none" strike="noStrike" kern="1200" cap="none" spc="0" normalizeH="0" baseline="0">
              <a:solidFill>
                <a:prstClr val="black"/>
              </a:solidFill>
              <a:latin typeface="Arial"/>
              <a:ea typeface="맑은 고딕"/>
              <a:cs typeface="+mn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284144" y="4010698"/>
            <a:ext cx="2223670" cy="2175272"/>
          </a:xfrm>
          <a:custGeom>
            <a:avLst/>
            <a:gdLst>
              <a:gd name="connsiteX0" fmla="*/ 0 w 2223670"/>
              <a:gd name="connsiteY0" fmla="*/ 0 h 2175272"/>
              <a:gd name="connsiteX1" fmla="*/ 600391 w 2223670"/>
              <a:gd name="connsiteY1" fmla="*/ 0 h 2175272"/>
              <a:gd name="connsiteX2" fmla="*/ 1134072 w 2223670"/>
              <a:gd name="connsiteY2" fmla="*/ 0 h 2175272"/>
              <a:gd name="connsiteX3" fmla="*/ 1734463 w 2223670"/>
              <a:gd name="connsiteY3" fmla="*/ 0 h 2175272"/>
              <a:gd name="connsiteX4" fmla="*/ 2223670 w 2223670"/>
              <a:gd name="connsiteY4" fmla="*/ 0 h 2175272"/>
              <a:gd name="connsiteX5" fmla="*/ 2223670 w 2223670"/>
              <a:gd name="connsiteY5" fmla="*/ 543818 h 2175272"/>
              <a:gd name="connsiteX6" fmla="*/ 2223670 w 2223670"/>
              <a:gd name="connsiteY6" fmla="*/ 1131141 h 2175272"/>
              <a:gd name="connsiteX7" fmla="*/ 2223670 w 2223670"/>
              <a:gd name="connsiteY7" fmla="*/ 1674959 h 2175272"/>
              <a:gd name="connsiteX8" fmla="*/ 2223670 w 2223670"/>
              <a:gd name="connsiteY8" fmla="*/ 2175272 h 2175272"/>
              <a:gd name="connsiteX9" fmla="*/ 1712226 w 2223670"/>
              <a:gd name="connsiteY9" fmla="*/ 2175272 h 2175272"/>
              <a:gd name="connsiteX10" fmla="*/ 1223019 w 2223670"/>
              <a:gd name="connsiteY10" fmla="*/ 2175272 h 2175272"/>
              <a:gd name="connsiteX11" fmla="*/ 711574 w 2223670"/>
              <a:gd name="connsiteY11" fmla="*/ 2175272 h 2175272"/>
              <a:gd name="connsiteX12" fmla="*/ 0 w 2223670"/>
              <a:gd name="connsiteY12" fmla="*/ 2175272 h 2175272"/>
              <a:gd name="connsiteX13" fmla="*/ 0 w 2223670"/>
              <a:gd name="connsiteY13" fmla="*/ 1674959 h 2175272"/>
              <a:gd name="connsiteX14" fmla="*/ 0 w 2223670"/>
              <a:gd name="connsiteY14" fmla="*/ 1109389 h 2175272"/>
              <a:gd name="connsiteX15" fmla="*/ 0 w 2223670"/>
              <a:gd name="connsiteY15" fmla="*/ 522065 h 2175272"/>
              <a:gd name="connsiteX16" fmla="*/ 0 w 2223670"/>
              <a:gd name="connsiteY16" fmla="*/ 0 h 217527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3670" h="2175272" extrusionOk="0">
                <a:moveTo>
                  <a:pt x="0" y="0"/>
                </a:moveTo>
                <a:cubicBezTo>
                  <a:pt x="160364" y="-23620"/>
                  <a:pt x="469169" y="-11562"/>
                  <a:pt x="600391" y="0"/>
                </a:cubicBezTo>
                <a:cubicBezTo>
                  <a:pt x="731613" y="11562"/>
                  <a:pt x="914865" y="-19714"/>
                  <a:pt x="1134072" y="0"/>
                </a:cubicBezTo>
                <a:cubicBezTo>
                  <a:pt x="1353279" y="19714"/>
                  <a:pt x="1527318" y="-25154"/>
                  <a:pt x="1734463" y="0"/>
                </a:cubicBezTo>
                <a:cubicBezTo>
                  <a:pt x="1941608" y="25154"/>
                  <a:pt x="2104672" y="11039"/>
                  <a:pt x="2223670" y="0"/>
                </a:cubicBezTo>
                <a:cubicBezTo>
                  <a:pt x="2232813" y="123852"/>
                  <a:pt x="2211184" y="367901"/>
                  <a:pt x="2223670" y="543818"/>
                </a:cubicBezTo>
                <a:cubicBezTo>
                  <a:pt x="2236156" y="719735"/>
                  <a:pt x="2251740" y="937414"/>
                  <a:pt x="2223670" y="1131141"/>
                </a:cubicBezTo>
                <a:cubicBezTo>
                  <a:pt x="2195600" y="1324868"/>
                  <a:pt x="2205829" y="1489455"/>
                  <a:pt x="2223670" y="1674959"/>
                </a:cubicBezTo>
                <a:cubicBezTo>
                  <a:pt x="2241511" y="1860463"/>
                  <a:pt x="2233968" y="2041276"/>
                  <a:pt x="2223670" y="2175272"/>
                </a:cubicBezTo>
                <a:cubicBezTo>
                  <a:pt x="1988401" y="2188180"/>
                  <a:pt x="1881782" y="2151922"/>
                  <a:pt x="1712226" y="2175272"/>
                </a:cubicBezTo>
                <a:cubicBezTo>
                  <a:pt x="1542670" y="2198622"/>
                  <a:pt x="1415741" y="2179484"/>
                  <a:pt x="1223019" y="2175272"/>
                </a:cubicBezTo>
                <a:cubicBezTo>
                  <a:pt x="1030297" y="2171060"/>
                  <a:pt x="906869" y="2173837"/>
                  <a:pt x="711574" y="2175272"/>
                </a:cubicBezTo>
                <a:cubicBezTo>
                  <a:pt x="516279" y="2176707"/>
                  <a:pt x="170718" y="2167001"/>
                  <a:pt x="0" y="2175272"/>
                </a:cubicBezTo>
                <a:cubicBezTo>
                  <a:pt x="22403" y="1939019"/>
                  <a:pt x="1156" y="1800711"/>
                  <a:pt x="0" y="1674959"/>
                </a:cubicBezTo>
                <a:cubicBezTo>
                  <a:pt x="-1156" y="1549207"/>
                  <a:pt x="5715" y="1301280"/>
                  <a:pt x="0" y="1109389"/>
                </a:cubicBezTo>
                <a:cubicBezTo>
                  <a:pt x="-5715" y="917498"/>
                  <a:pt x="-18060" y="675095"/>
                  <a:pt x="0" y="522065"/>
                </a:cubicBezTo>
                <a:cubicBezTo>
                  <a:pt x="18060" y="369035"/>
                  <a:pt x="-9231" y="137546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06491" y="5516938"/>
            <a:ext cx="3721767" cy="633863"/>
          </a:xfrm>
          <a:custGeom>
            <a:avLst/>
            <a:gdLst>
              <a:gd name="connsiteX0" fmla="*/ 0 w 3721767"/>
              <a:gd name="connsiteY0" fmla="*/ 0 h 633863"/>
              <a:gd name="connsiteX1" fmla="*/ 694730 w 3721767"/>
              <a:gd name="connsiteY1" fmla="*/ 0 h 633863"/>
              <a:gd name="connsiteX2" fmla="*/ 1277807 w 3721767"/>
              <a:gd name="connsiteY2" fmla="*/ 0 h 633863"/>
              <a:gd name="connsiteX3" fmla="*/ 1972537 w 3721767"/>
              <a:gd name="connsiteY3" fmla="*/ 0 h 633863"/>
              <a:gd name="connsiteX4" fmla="*/ 2592831 w 3721767"/>
              <a:gd name="connsiteY4" fmla="*/ 0 h 633863"/>
              <a:gd name="connsiteX5" fmla="*/ 3721767 w 3721767"/>
              <a:gd name="connsiteY5" fmla="*/ 0 h 633863"/>
              <a:gd name="connsiteX6" fmla="*/ 3721767 w 3721767"/>
              <a:gd name="connsiteY6" fmla="*/ 633863 h 633863"/>
              <a:gd name="connsiteX7" fmla="*/ 3101473 w 3721767"/>
              <a:gd name="connsiteY7" fmla="*/ 633863 h 633863"/>
              <a:gd name="connsiteX8" fmla="*/ 2481178 w 3721767"/>
              <a:gd name="connsiteY8" fmla="*/ 633863 h 633863"/>
              <a:gd name="connsiteX9" fmla="*/ 1860884 w 3721767"/>
              <a:gd name="connsiteY9" fmla="*/ 633863 h 633863"/>
              <a:gd name="connsiteX10" fmla="*/ 1352242 w 3721767"/>
              <a:gd name="connsiteY10" fmla="*/ 633863 h 633863"/>
              <a:gd name="connsiteX11" fmla="*/ 806383 w 3721767"/>
              <a:gd name="connsiteY11" fmla="*/ 633863 h 633863"/>
              <a:gd name="connsiteX12" fmla="*/ 0 w 3721767"/>
              <a:gd name="connsiteY12" fmla="*/ 633863 h 633863"/>
              <a:gd name="connsiteX13" fmla="*/ 0 w 3721767"/>
              <a:gd name="connsiteY13" fmla="*/ 0 h 63386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21767" h="633863" extrusionOk="0">
                <a:moveTo>
                  <a:pt x="0" y="0"/>
                </a:moveTo>
                <a:cubicBezTo>
                  <a:pt x="259841" y="-19815"/>
                  <a:pt x="351156" y="15487"/>
                  <a:pt x="694730" y="0"/>
                </a:cubicBezTo>
                <a:cubicBezTo>
                  <a:pt x="1038304" y="-15487"/>
                  <a:pt x="1063993" y="14838"/>
                  <a:pt x="1277807" y="0"/>
                </a:cubicBezTo>
                <a:cubicBezTo>
                  <a:pt x="1491621" y="-14838"/>
                  <a:pt x="1702989" y="1308"/>
                  <a:pt x="1972537" y="0"/>
                </a:cubicBezTo>
                <a:cubicBezTo>
                  <a:pt x="2242085" y="-1308"/>
                  <a:pt x="2445829" y="30150"/>
                  <a:pt x="2592831" y="0"/>
                </a:cubicBezTo>
                <a:cubicBezTo>
                  <a:pt x="2739833" y="-30150"/>
                  <a:pt x="3263794" y="-30771"/>
                  <a:pt x="3721767" y="0"/>
                </a:cubicBezTo>
                <a:cubicBezTo>
                  <a:pt x="3693462" y="270009"/>
                  <a:pt x="3703877" y="470922"/>
                  <a:pt x="3721767" y="633863"/>
                </a:cubicBezTo>
                <a:cubicBezTo>
                  <a:pt x="3520136" y="639423"/>
                  <a:pt x="3280038" y="650941"/>
                  <a:pt x="3101473" y="633863"/>
                </a:cubicBezTo>
                <a:cubicBezTo>
                  <a:pt x="2922908" y="616785"/>
                  <a:pt x="2781954" y="624131"/>
                  <a:pt x="2481178" y="633863"/>
                </a:cubicBezTo>
                <a:cubicBezTo>
                  <a:pt x="2180402" y="643595"/>
                  <a:pt x="2122584" y="629833"/>
                  <a:pt x="1860884" y="633863"/>
                </a:cubicBezTo>
                <a:cubicBezTo>
                  <a:pt x="1599184" y="637893"/>
                  <a:pt x="1586241" y="643645"/>
                  <a:pt x="1352242" y="633863"/>
                </a:cubicBezTo>
                <a:cubicBezTo>
                  <a:pt x="1118243" y="624081"/>
                  <a:pt x="977263" y="633669"/>
                  <a:pt x="806383" y="633863"/>
                </a:cubicBezTo>
                <a:cubicBezTo>
                  <a:pt x="635503" y="634057"/>
                  <a:pt x="209833" y="636489"/>
                  <a:pt x="0" y="633863"/>
                </a:cubicBezTo>
                <a:cubicBezTo>
                  <a:pt x="6133" y="348675"/>
                  <a:pt x="16340" y="27247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330028" y="6379024"/>
            <a:ext cx="62199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NIST PQC</a:t>
            </a:r>
            <a:r>
              <a:rPr lang="ko-KR" altLang="en-US" b="1"/>
              <a:t>공모전과 유사하게 격자기반이 가장 많이 선정 됨</a:t>
            </a:r>
            <a:endParaRPr lang="ko-KR" altLang="en-US" b="1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rcRect l="2420" t="4730" r="2580" b="2510"/>
          <a:stretch>
            <a:fillRect/>
          </a:stretch>
        </p:blipFill>
        <p:spPr>
          <a:xfrm>
            <a:off x="6956758" y="1653304"/>
            <a:ext cx="4769730" cy="1813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ore-KR"/>
              <a:t>P</a:t>
            </a:r>
            <a:r>
              <a:rPr kumimoji="1" lang="en-US" altLang="ko-KR"/>
              <a:t>Qclean,Pqm4</a:t>
            </a:r>
            <a:endParaRPr kumimoji="1"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>
                <a:solidFill>
                  <a:srgbClr val="ff0000"/>
                </a:solidFill>
              </a:rPr>
              <a:t>PQClean: PQC</a:t>
            </a:r>
            <a:r>
              <a:rPr lang="ko-KR" altLang="en-US" b="1">
                <a:solidFill>
                  <a:srgbClr val="ff0000"/>
                </a:solidFill>
              </a:rPr>
              <a:t> 알고리즘을 깨끗하게 </a:t>
            </a:r>
            <a:r>
              <a:rPr lang="en-US" altLang="ko-KR" b="1">
                <a:solidFill>
                  <a:srgbClr val="ff0000"/>
                </a:solidFill>
              </a:rPr>
              <a:t>C</a:t>
            </a:r>
            <a:r>
              <a:rPr lang="ko-KR" altLang="en-US" b="1">
                <a:solidFill>
                  <a:srgbClr val="ff0000"/>
                </a:solidFill>
              </a:rPr>
              <a:t>로 구현한 라이브러리</a:t>
            </a:r>
            <a:endParaRPr lang="ko-KR" altLang="en-US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 b="1">
                <a:solidFill>
                  <a:schemeClr val="accent1"/>
                </a:solidFill>
              </a:rPr>
              <a:t>의존성 최소화</a:t>
            </a:r>
            <a:r>
              <a:rPr lang="en-US" altLang="ko-KR" b="1">
                <a:solidFill>
                  <a:schemeClr val="accent1"/>
                </a:solidFill>
              </a:rPr>
              <a:t>(openssl</a:t>
            </a:r>
            <a:r>
              <a:rPr lang="ko-KR" altLang="en-US" b="1">
                <a:solidFill>
                  <a:schemeClr val="accent1"/>
                </a:solidFill>
              </a:rPr>
              <a:t> 등 외부 라이브러리 </a:t>
            </a:r>
            <a:r>
              <a:rPr lang="en-US" altLang="ko-KR" b="1">
                <a:solidFill>
                  <a:schemeClr val="accent1"/>
                </a:solidFill>
              </a:rPr>
              <a:t>X)</a:t>
            </a:r>
            <a:endParaRPr lang="en-US" altLang="ko-KR" b="1">
              <a:solidFill>
                <a:schemeClr val="accent1"/>
              </a:solidFill>
            </a:endParaRPr>
          </a:p>
          <a:p>
            <a:pPr lvl="1">
              <a:defRPr/>
            </a:pPr>
            <a:r>
              <a:rPr lang="ko-KR" altLang="en-US"/>
              <a:t>이식성 높음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벤치마크 기준으로 많이 활용됨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AVX, aarch64 </a:t>
            </a:r>
            <a:r>
              <a:rPr lang="ko-KR" altLang="en-US"/>
              <a:t>구현도 일부 포함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최적 구현이 적용된건 아님</a:t>
            </a:r>
            <a:endParaRPr lang="ko-KR" altLang="en-US"/>
          </a:p>
          <a:p>
            <a:pPr lvl="0">
              <a:defRPr/>
            </a:pPr>
            <a:r>
              <a:rPr lang="en-US" altLang="ko-KR" b="1">
                <a:solidFill>
                  <a:schemeClr val="dk1"/>
                </a:solidFill>
              </a:rPr>
              <a:t>KpqClean: PQClean</a:t>
            </a:r>
            <a:r>
              <a:rPr lang="ko-KR" altLang="en-US" b="1">
                <a:solidFill>
                  <a:schemeClr val="dk1"/>
                </a:solidFill>
              </a:rPr>
              <a:t>의 </a:t>
            </a:r>
            <a:r>
              <a:rPr lang="en-US" altLang="ko-KR" b="1">
                <a:solidFill>
                  <a:schemeClr val="dk1"/>
                </a:solidFill>
              </a:rPr>
              <a:t>KpqC </a:t>
            </a:r>
            <a:r>
              <a:rPr lang="ko-KR" altLang="en-US" b="1">
                <a:solidFill>
                  <a:schemeClr val="dk1"/>
                </a:solidFill>
              </a:rPr>
              <a:t>버전</a:t>
            </a:r>
            <a:endParaRPr lang="ko-KR" altLang="en-US" b="1">
              <a:solidFill>
                <a:schemeClr val="dk1"/>
              </a:solidFill>
            </a:endParaRPr>
          </a:p>
          <a:p>
            <a:pPr lvl="0">
              <a:defRPr/>
            </a:pPr>
            <a:r>
              <a:rPr lang="en-US" altLang="ko-KR" b="1">
                <a:solidFill>
                  <a:srgbClr val="ff0000"/>
                </a:solidFill>
              </a:rPr>
              <a:t>Pqm4: PQC</a:t>
            </a:r>
            <a:r>
              <a:rPr lang="ko-KR" altLang="en-US" b="1">
                <a:solidFill>
                  <a:srgbClr val="ff0000"/>
                </a:solidFill>
              </a:rPr>
              <a:t>를 </a:t>
            </a:r>
            <a:r>
              <a:rPr lang="en-US" altLang="ko-KR" b="1">
                <a:solidFill>
                  <a:srgbClr val="ff0000"/>
                </a:solidFill>
              </a:rPr>
              <a:t>Cortex</a:t>
            </a:r>
            <a:r>
              <a:rPr lang="ko-KR" altLang="en-US" b="1">
                <a:solidFill>
                  <a:srgbClr val="ff0000"/>
                </a:solidFill>
              </a:rPr>
              <a:t>계열 보드에서 측정하기 위한 라이브러리</a:t>
            </a:r>
            <a:endParaRPr lang="ko-KR" altLang="en-US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/>
              <a:t>cycle(</a:t>
            </a:r>
            <a:r>
              <a:rPr lang="ko-KR" altLang="en-US"/>
              <a:t>속도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+ stack(RAM) + ROM/</a:t>
            </a:r>
            <a:r>
              <a:rPr lang="ko-KR" altLang="en-US"/>
              <a:t>정적</a:t>
            </a:r>
            <a:r>
              <a:rPr lang="en-US" altLang="ko-KR"/>
              <a:t>RAM </a:t>
            </a:r>
            <a:r>
              <a:rPr lang="ko-KR" altLang="en-US"/>
              <a:t>측정 가능</a:t>
            </a:r>
            <a:endParaRPr lang="ko-KR" altLang="en-US"/>
          </a:p>
          <a:p>
            <a:pPr lvl="0">
              <a:defRPr/>
            </a:pPr>
            <a:r>
              <a:rPr lang="ko-KR" altLang="en-US" b="1">
                <a:solidFill>
                  <a:schemeClr val="accent1"/>
                </a:solidFill>
              </a:rPr>
              <a:t>임베디드에선 속도보단 올라가는지가 일단 중요</a:t>
            </a:r>
            <a:endParaRPr lang="ko-KR" altLang="en-US" b="1">
              <a:solidFill>
                <a:schemeClr val="accent1"/>
              </a:solidFill>
            </a:endParaRPr>
          </a:p>
          <a:p>
            <a:pPr lvl="1">
              <a:defRPr/>
            </a:pPr>
            <a:r>
              <a:rPr lang="ko-KR" altLang="en-US"/>
              <a:t>속도는 </a:t>
            </a:r>
            <a:r>
              <a:rPr lang="en-US" altLang="ko-KR"/>
              <a:t>2</a:t>
            </a:r>
            <a:r>
              <a:rPr lang="ko-KR" altLang="en-US"/>
              <a:t>순위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RAM peak</a:t>
            </a:r>
            <a:r>
              <a:rPr lang="ko-KR" altLang="en-US"/>
              <a:t>가 </a:t>
            </a:r>
            <a:r>
              <a:rPr lang="en-US" altLang="ko-KR"/>
              <a:t>1</a:t>
            </a:r>
            <a:r>
              <a:rPr lang="ko-KR" altLang="en-US"/>
              <a:t>순위</a:t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472984" y="1513646"/>
            <a:ext cx="4286250" cy="2232422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7604260" y="222303"/>
            <a:ext cx="4412148" cy="36758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en-US">
                <a:hlinkClick r:id="rId3"/>
              </a:rPr>
              <a:t>https://github.com/PQClean/PQClean</a:t>
            </a:r>
            <a:endParaRPr lang="en-US" altLang="en-US"/>
          </a:p>
        </p:txBody>
      </p:sp>
      <p:sp>
        <p:nvSpPr>
          <p:cNvPr id="6" name=""/>
          <p:cNvSpPr txBox="1"/>
          <p:nvPr/>
        </p:nvSpPr>
        <p:spPr>
          <a:xfrm>
            <a:off x="6248400" y="574315"/>
            <a:ext cx="5568812" cy="3667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en-US">
                <a:hlinkClick r:id="rId4"/>
              </a:rPr>
              <a:t>https://github.com/kpqc-cryptocraft/KpqClean_ver2</a:t>
            </a:r>
            <a:endParaRPr lang="en-US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755132" y="4960562"/>
            <a:ext cx="3436868" cy="1897437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8833608" y="4891623"/>
            <a:ext cx="3358392" cy="367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>
                <a:hlinkClick r:id="rId6"/>
              </a:rPr>
              <a:t>https://github.com/mupq/pqm4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R"/>
              <a:t>KpqC</a:t>
            </a:r>
            <a:r>
              <a:rPr kumimoji="1" lang="ko-KR" altLang="en-US"/>
              <a:t>에 대한 벤치마크 </a:t>
            </a:r>
            <a:r>
              <a:rPr kumimoji="1" lang="en-US" altLang="ko-KR"/>
              <a:t>KpqClean</a:t>
            </a:r>
            <a:endParaRPr kumimoji="1" lang="ko-Kore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780837" cy="5603875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en-US" altLang="ko-KR" b="1">
                <a:solidFill>
                  <a:srgbClr val="0070c0"/>
                </a:solidFill>
              </a:rPr>
              <a:t>KpqC</a:t>
            </a:r>
            <a:r>
              <a:rPr kumimoji="1" lang="ko-KR" altLang="en-US" b="1">
                <a:solidFill>
                  <a:srgbClr val="0070c0"/>
                </a:solidFill>
              </a:rPr>
              <a:t> 후보 알고리즘들에 대한 벤치마킹</a:t>
            </a:r>
            <a:endParaRPr kumimoji="1" lang="ko-KR" altLang="en-US" b="1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현재 각 알고리즘이 제시하는 벤치마크 결과는 </a:t>
            </a:r>
            <a:r>
              <a:rPr kumimoji="1" lang="ko-KR" altLang="en-US" b="1">
                <a:solidFill>
                  <a:srgbClr val="ff0000"/>
                </a:solidFill>
              </a:rPr>
              <a:t>각기 다른 컴퓨터 환경에서 측정</a:t>
            </a:r>
            <a:endParaRPr kumimoji="1" lang="ko-KR" altLang="en-US" b="1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 b="1">
                <a:solidFill>
                  <a:srgbClr val="ff0000"/>
                </a:solidFill>
              </a:rPr>
              <a:t>동일한 환경에서 알고리즘들을 벤치마크</a:t>
            </a:r>
            <a:r>
              <a:rPr kumimoji="1" lang="ko-KR" altLang="en-US"/>
              <a:t>하여 객관성을 확보하는 것이 목표</a:t>
            </a:r>
            <a:endParaRPr kumimoji="1" lang="ko-KR" altLang="en-US"/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내부 모듈 </a:t>
            </a:r>
            <a:r>
              <a:rPr kumimoji="1" lang="en-US" altLang="ko-KR"/>
              <a:t>(AES, SHA, AVX2)</a:t>
            </a:r>
            <a:r>
              <a:rPr kumimoji="1" lang="ko-KR" altLang="en-US"/>
              <a:t>을 통일하여 모듈에 따른 성능 차이를 최소화</a:t>
            </a:r>
            <a:endParaRPr kumimoji="1" lang="ko-KR" altLang="en-US"/>
          </a:p>
          <a:p>
            <a:pPr>
              <a:lnSpc>
                <a:spcPct val="120000"/>
              </a:lnSpc>
              <a:defRPr/>
            </a:pPr>
            <a:r>
              <a:rPr kumimoji="1" lang="ko-KR" altLang="en-US" b="1">
                <a:solidFill>
                  <a:srgbClr val="0070c0"/>
                </a:solidFill>
              </a:rPr>
              <a:t>공정한 벤치마크 결과 제공</a:t>
            </a:r>
            <a:endParaRPr kumimoji="1" lang="ko-KR" altLang="en-US" b="1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개발 및 운영 환경 차이</a:t>
            </a:r>
            <a:r>
              <a:rPr kumimoji="1" lang="en-US" altLang="ko-KR"/>
              <a:t>, </a:t>
            </a:r>
            <a:r>
              <a:rPr kumimoji="1" lang="ko-KR" altLang="en-US"/>
              <a:t>모듈 차이로 인한 성능 격차 최소화</a:t>
            </a:r>
            <a:endParaRPr kumimoji="1" lang="ko-KR" altLang="en-US"/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동일한 환경에서 측정한 성능으로 공정한 성능 비교 분석이 가능하도록 함 </a:t>
            </a:r>
            <a:endParaRPr kumimoji="1" lang="ko-KR" altLang="en-US"/>
          </a:p>
          <a:p>
            <a:pPr>
              <a:lnSpc>
                <a:spcPct val="120000"/>
              </a:lnSpc>
              <a:defRPr/>
            </a:pPr>
            <a:r>
              <a:rPr kumimoji="1" lang="en-US" altLang="en-US" b="1">
                <a:solidFill>
                  <a:srgbClr val="0070c0"/>
                </a:solidFill>
              </a:rPr>
              <a:t>KpqC </a:t>
            </a:r>
            <a:r>
              <a:rPr kumimoji="1" lang="ko-KR" altLang="en-US" b="1">
                <a:solidFill>
                  <a:srgbClr val="0070c0"/>
                </a:solidFill>
              </a:rPr>
              <a:t>후보</a:t>
            </a:r>
            <a:r>
              <a:rPr kumimoji="1" lang="en-US" altLang="en-US" b="1">
                <a:solidFill>
                  <a:srgbClr val="0070c0"/>
                </a:solidFill>
              </a:rPr>
              <a:t> </a:t>
            </a:r>
            <a:r>
              <a:rPr kumimoji="1" lang="ko-KR" altLang="en-US" b="1">
                <a:solidFill>
                  <a:srgbClr val="0070c0"/>
                </a:solidFill>
              </a:rPr>
              <a:t>알고리즘의 의존성 제거</a:t>
            </a:r>
            <a:endParaRPr kumimoji="1" lang="ko-KR" altLang="en-US" b="1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kumimoji="1" lang="en-US" altLang="en-US"/>
              <a:t>NIST </a:t>
            </a:r>
            <a:r>
              <a:rPr kumimoji="1" lang="ko-KR" altLang="en-US"/>
              <a:t>양자내성암호와 관련된 </a:t>
            </a:r>
            <a:r>
              <a:rPr kumimoji="1" lang="en-US" altLang="en-US"/>
              <a:t>PQClean </a:t>
            </a:r>
            <a:r>
              <a:rPr kumimoji="1" lang="ko-KR" altLang="en-US"/>
              <a:t>프로젝트에서 추구한 방향성</a:t>
            </a:r>
            <a:endParaRPr kumimoji="1" lang="ko-KR" altLang="en-US"/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의존성 제거 시 </a:t>
            </a:r>
            <a:r>
              <a:rPr kumimoji="1" lang="ko-KR" altLang="en-US" b="1">
                <a:solidFill>
                  <a:srgbClr val="ff0000"/>
                </a:solidFill>
              </a:rPr>
              <a:t>플랫폼에 구애받지 않고 알고리즘 가동 용이</a:t>
            </a:r>
            <a:endParaRPr kumimoji="1" lang="ko-KR" altLang="en-US" b="1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개발 환경 설정을 용이하도록 하여 양자내성 알고리즘 벤치마크 진입장벽 완화</a:t>
            </a:r>
            <a:endParaRPr kumimoji="1" lang="ko-Kore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R"/>
              <a:t>KpqC</a:t>
            </a:r>
            <a:r>
              <a:rPr kumimoji="1" lang="ko-KR" altLang="en-US"/>
              <a:t>에 대한 벤치마크 </a:t>
            </a:r>
            <a:r>
              <a:rPr kumimoji="1" lang="en-US" altLang="ko-KR"/>
              <a:t>KpqClean</a:t>
            </a:r>
            <a:endParaRPr kumimoji="1" lang="ko-Kore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780837" cy="5603875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en-US" altLang="ko-KR" b="1">
                <a:solidFill>
                  <a:srgbClr val="0070c0"/>
                </a:solidFill>
              </a:rPr>
              <a:t>KpqC</a:t>
            </a:r>
            <a:r>
              <a:rPr kumimoji="1" lang="ko-KR" altLang="en-US" b="1">
                <a:solidFill>
                  <a:srgbClr val="0070c0"/>
                </a:solidFill>
              </a:rPr>
              <a:t> 후보 알고리즘들에 대한 벤치마킹</a:t>
            </a:r>
            <a:endParaRPr kumimoji="1" lang="ko-KR" altLang="en-US" b="1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현재 각 알고리즘이 제시하는 벤치마크 결과는 </a:t>
            </a:r>
            <a:r>
              <a:rPr kumimoji="1" lang="ko-KR" altLang="en-US" b="1">
                <a:solidFill>
                  <a:srgbClr val="ff0000"/>
                </a:solidFill>
              </a:rPr>
              <a:t>각기 다른 컴퓨터 환경에서 측정</a:t>
            </a:r>
            <a:endParaRPr kumimoji="1" lang="ko-KR" altLang="en-US" b="1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 b="1">
                <a:solidFill>
                  <a:srgbClr val="ff0000"/>
                </a:solidFill>
              </a:rPr>
              <a:t>동일한 환경에서 알고리즘들을 벤치마크</a:t>
            </a:r>
            <a:r>
              <a:rPr kumimoji="1" lang="ko-KR" altLang="en-US"/>
              <a:t>하여 객관성을 확보하는 것이 목표</a:t>
            </a:r>
            <a:endParaRPr kumimoji="1" lang="ko-KR" altLang="en-US"/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내부 모듈 </a:t>
            </a:r>
            <a:r>
              <a:rPr kumimoji="1" lang="en-US" altLang="ko-KR"/>
              <a:t>(AES, SHA, AVX2)</a:t>
            </a:r>
            <a:r>
              <a:rPr kumimoji="1" lang="ko-KR" altLang="en-US"/>
              <a:t>을 통일하여 모듈에 따른 성능 차이를 최소화</a:t>
            </a:r>
            <a:endParaRPr kumimoji="1" lang="ko-KR" altLang="en-US"/>
          </a:p>
          <a:p>
            <a:pPr>
              <a:lnSpc>
                <a:spcPct val="120000"/>
              </a:lnSpc>
              <a:defRPr/>
            </a:pPr>
            <a:r>
              <a:rPr kumimoji="1" lang="ko-KR" altLang="en-US" b="1">
                <a:solidFill>
                  <a:srgbClr val="0070c0"/>
                </a:solidFill>
              </a:rPr>
              <a:t>공정한 벤치마크 결과 제공</a:t>
            </a:r>
            <a:endParaRPr kumimoji="1" lang="ko-KR" altLang="en-US" b="1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개발 및 운영 환경 차이</a:t>
            </a:r>
            <a:r>
              <a:rPr kumimoji="1" lang="en-US" altLang="ko-KR"/>
              <a:t>, </a:t>
            </a:r>
            <a:r>
              <a:rPr kumimoji="1" lang="ko-KR" altLang="en-US"/>
              <a:t>모듈 차이로 인한 성능 격차 최소화</a:t>
            </a:r>
            <a:endParaRPr kumimoji="1" lang="ko-KR" altLang="en-US"/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동일한 환경에서 측정한 성능으로 공정한 성능 비교 분석이 가능하도록 함 </a:t>
            </a:r>
            <a:endParaRPr kumimoji="1" lang="ko-KR" altLang="en-US"/>
          </a:p>
          <a:p>
            <a:pPr>
              <a:lnSpc>
                <a:spcPct val="120000"/>
              </a:lnSpc>
              <a:defRPr/>
            </a:pPr>
            <a:r>
              <a:rPr kumimoji="1" lang="en-US" altLang="en-US" b="1">
                <a:solidFill>
                  <a:srgbClr val="0070c0"/>
                </a:solidFill>
              </a:rPr>
              <a:t>KpqC </a:t>
            </a:r>
            <a:r>
              <a:rPr kumimoji="1" lang="ko-KR" altLang="en-US" b="1">
                <a:solidFill>
                  <a:srgbClr val="0070c0"/>
                </a:solidFill>
              </a:rPr>
              <a:t>후보</a:t>
            </a:r>
            <a:r>
              <a:rPr kumimoji="1" lang="en-US" altLang="en-US" b="1">
                <a:solidFill>
                  <a:srgbClr val="0070c0"/>
                </a:solidFill>
              </a:rPr>
              <a:t> </a:t>
            </a:r>
            <a:r>
              <a:rPr kumimoji="1" lang="ko-KR" altLang="en-US" b="1">
                <a:solidFill>
                  <a:srgbClr val="0070c0"/>
                </a:solidFill>
              </a:rPr>
              <a:t>알고리즘의 의존성 제거</a:t>
            </a:r>
            <a:endParaRPr kumimoji="1" lang="ko-KR" altLang="en-US" b="1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kumimoji="1" lang="en-US" altLang="en-US"/>
              <a:t>NIST </a:t>
            </a:r>
            <a:r>
              <a:rPr kumimoji="1" lang="ko-KR" altLang="en-US"/>
              <a:t>양자내성암호와 관련된 </a:t>
            </a:r>
            <a:r>
              <a:rPr kumimoji="1" lang="en-US" altLang="en-US"/>
              <a:t>PQClean </a:t>
            </a:r>
            <a:r>
              <a:rPr kumimoji="1" lang="ko-KR" altLang="en-US"/>
              <a:t>프로젝트에서 추구한 방향성</a:t>
            </a:r>
            <a:endParaRPr kumimoji="1" lang="ko-KR" altLang="en-US"/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의존성 제거 시 </a:t>
            </a:r>
            <a:r>
              <a:rPr kumimoji="1" lang="ko-KR" altLang="en-US" b="1">
                <a:solidFill>
                  <a:srgbClr val="ff0000"/>
                </a:solidFill>
              </a:rPr>
              <a:t>플랫폼에 구애받지 않고 알고리즘 가동 용이</a:t>
            </a:r>
            <a:endParaRPr kumimoji="1" lang="ko-KR" altLang="en-US" b="1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kumimoji="1" lang="ko-KR" altLang="en-US"/>
              <a:t>개발 환경 설정을 용이하도록 하여 양자내성 알고리즘 벤치마크 진입장벽 완화</a:t>
            </a:r>
            <a:endParaRPr kumimoji="1" lang="ko-Kore-KR" altLang="en-US"/>
          </a:p>
        </p:txBody>
      </p:sp>
      <p:sp>
        <p:nvSpPr>
          <p:cNvPr id="6" name="직사각형 5"/>
          <p:cNvSpPr/>
          <p:nvPr/>
        </p:nvSpPr>
        <p:spPr>
          <a:xfrm>
            <a:off x="0" y="2580077"/>
            <a:ext cx="12192000" cy="1611086"/>
          </a:xfrm>
          <a:prstGeom prst="rect">
            <a:avLst/>
          </a:prstGeom>
          <a:solidFill>
            <a:schemeClr val="tx1">
              <a:alpha val="3523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ko-KR" sz="3600" b="1">
                <a:solidFill>
                  <a:schemeClr val="bg1"/>
                </a:solidFill>
              </a:rPr>
              <a:t>KpqClean</a:t>
            </a:r>
            <a:r>
              <a:rPr kumimoji="1" lang="ko-KR" altLang="en-US" sz="3600" b="1">
                <a:solidFill>
                  <a:schemeClr val="bg1"/>
                </a:solidFill>
              </a:rPr>
              <a:t>의 후속작 </a:t>
            </a:r>
            <a:r>
              <a:rPr kumimoji="1" lang="en-US" altLang="ko-KR" sz="3600" b="1">
                <a:solidFill>
                  <a:srgbClr val="ff0000"/>
                </a:solidFill>
              </a:rPr>
              <a:t>KpqClean ver2</a:t>
            </a:r>
            <a:endParaRPr kumimoji="1" lang="ko-KR" altLang="en-US" sz="36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KpqClean</a:t>
            </a:r>
            <a:r>
              <a:rPr lang="ko-KR" altLang="en-US"/>
              <a:t> </a:t>
            </a:r>
            <a:r>
              <a:rPr lang="en-US" altLang="ko-KR"/>
              <a:t>ver2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400" b="1"/>
              <a:t>작년</a:t>
            </a:r>
            <a:r>
              <a:rPr lang="en-US" altLang="ko-KR" sz="2400" b="1"/>
              <a:t> </a:t>
            </a:r>
            <a:r>
              <a:rPr lang="ko-KR" altLang="en-US" sz="2400" b="1"/>
              <a:t>프로젝트 </a:t>
            </a:r>
            <a:r>
              <a:rPr lang="en-US" altLang="ko-KR" sz="2400" b="1"/>
              <a:t>(KpqClean)</a:t>
            </a:r>
            <a:r>
              <a:rPr lang="ko-KR" altLang="en-US" sz="2400"/>
              <a:t>를 기반으로 전체코드를 새로 작성</a:t>
            </a:r>
            <a:endParaRPr lang="ko-KR" altLang="en-US" sz="2400"/>
          </a:p>
          <a:p>
            <a:pPr lvl="0">
              <a:defRPr/>
            </a:pPr>
            <a:r>
              <a:rPr lang="ko-KR" altLang="en-US" sz="2400" b="1"/>
              <a:t>달라진 점</a:t>
            </a:r>
            <a:endParaRPr lang="ko-KR" altLang="en-US" sz="2400" b="1"/>
          </a:p>
          <a:p>
            <a:pPr lvl="2">
              <a:defRPr/>
            </a:pPr>
            <a:r>
              <a:rPr lang="en-US" altLang="ko-KR" b="1">
                <a:solidFill>
                  <a:schemeClr val="accent1"/>
                </a:solidFill>
              </a:rPr>
              <a:t>PQClean</a:t>
            </a:r>
            <a:r>
              <a:rPr lang="ko-KR" altLang="en-US" b="1">
                <a:solidFill>
                  <a:schemeClr val="accent1"/>
                </a:solidFill>
              </a:rPr>
              <a:t>과 거의 유사한 구조를 띄게 변경</a:t>
            </a:r>
            <a:endParaRPr lang="ko-KR" altLang="en-US" b="1">
              <a:solidFill>
                <a:schemeClr val="accent1"/>
              </a:solidFill>
            </a:endParaRPr>
          </a:p>
          <a:p>
            <a:pPr lvl="2">
              <a:defRPr/>
            </a:pPr>
            <a:r>
              <a:rPr lang="en-US" altLang="ko-KR" b="1">
                <a:solidFill>
                  <a:schemeClr val="accent1"/>
                </a:solidFill>
              </a:rPr>
              <a:t>makefile</a:t>
            </a:r>
            <a:r>
              <a:rPr lang="ko-KR" altLang="en-US" b="1">
                <a:solidFill>
                  <a:schemeClr val="accent1"/>
                </a:solidFill>
              </a:rPr>
              <a:t> 구조가</a:t>
            </a:r>
            <a:r>
              <a:rPr lang="en-US" altLang="ko-KR" b="1">
                <a:solidFill>
                  <a:schemeClr val="accent1"/>
                </a:solidFill>
              </a:rPr>
              <a:t> </a:t>
            </a:r>
            <a:r>
              <a:rPr lang="ko-KR" altLang="en-US" b="1">
                <a:solidFill>
                  <a:schemeClr val="accent1"/>
                </a:solidFill>
              </a:rPr>
              <a:t>통일되도록 새로 작성</a:t>
            </a:r>
            <a:endParaRPr lang="ko-KR" altLang="en-US" b="1">
              <a:solidFill>
                <a:schemeClr val="accent1"/>
              </a:solidFill>
            </a:endParaRPr>
          </a:p>
          <a:p>
            <a:pPr lvl="2">
              <a:defRPr/>
            </a:pPr>
            <a:r>
              <a:rPr lang="en-US" altLang="ko-KR" b="1">
                <a:solidFill>
                  <a:srgbClr val="ff0000"/>
                </a:solidFill>
              </a:rPr>
              <a:t>AVX2 </a:t>
            </a:r>
            <a:r>
              <a:rPr lang="ko-KR" altLang="en-US" b="1">
                <a:solidFill>
                  <a:srgbClr val="ff0000"/>
                </a:solidFill>
              </a:rPr>
              <a:t>구현물 벤치마킹</a:t>
            </a:r>
            <a:endParaRPr lang="ko-KR" altLang="en-US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en-US" altLang="ko-KR" sz="2400" b="1"/>
              <a:t>PQClean</a:t>
            </a:r>
            <a:r>
              <a:rPr lang="ko-KR" altLang="en-US" sz="2400" b="1"/>
              <a:t>과 차별점</a:t>
            </a:r>
            <a:endParaRPr lang="ko-KR" altLang="en-US" sz="2400" b="1"/>
          </a:p>
          <a:p>
            <a:pPr lvl="1">
              <a:defRPr/>
            </a:pPr>
            <a:r>
              <a:rPr lang="ko-KR" altLang="en-US" sz="2000" b="1">
                <a:solidFill>
                  <a:srgbClr val="ff0000"/>
                </a:solidFill>
              </a:rPr>
              <a:t>하나의 </a:t>
            </a:r>
            <a:r>
              <a:rPr lang="en-US" altLang="ko-KR" sz="2000" b="1">
                <a:solidFill>
                  <a:srgbClr val="ff0000"/>
                </a:solidFill>
              </a:rPr>
              <a:t>makefile</a:t>
            </a:r>
            <a:r>
              <a:rPr lang="ko-KR" altLang="en-US" sz="2000" b="1">
                <a:solidFill>
                  <a:srgbClr val="ff0000"/>
                </a:solidFill>
              </a:rPr>
              <a:t>로 </a:t>
            </a:r>
            <a:r>
              <a:rPr lang="en-US" altLang="ko-KR" sz="2000" b="1">
                <a:solidFill>
                  <a:srgbClr val="ff0000"/>
                </a:solidFill>
              </a:rPr>
              <a:t>x86, aarch64</a:t>
            </a:r>
            <a:r>
              <a:rPr lang="ko-KR" altLang="en-US" sz="2000" b="1">
                <a:solidFill>
                  <a:srgbClr val="ff0000"/>
                </a:solidFill>
              </a:rPr>
              <a:t>에서 </a:t>
            </a:r>
            <a:r>
              <a:rPr lang="en-US" altLang="ko-KR" sz="2000" b="1">
                <a:solidFill>
                  <a:srgbClr val="ff0000"/>
                </a:solidFill>
              </a:rPr>
              <a:t>(</a:t>
            </a:r>
            <a:r>
              <a:rPr lang="ko-KR" altLang="en-US" sz="2000" b="1">
                <a:solidFill>
                  <a:srgbClr val="ff0000"/>
                </a:solidFill>
              </a:rPr>
              <a:t>별도의 수정없이</a:t>
            </a:r>
            <a:r>
              <a:rPr lang="en-US" altLang="ko-KR" sz="2000" b="1">
                <a:solidFill>
                  <a:srgbClr val="ff0000"/>
                </a:solidFill>
              </a:rPr>
              <a:t>) </a:t>
            </a:r>
            <a:r>
              <a:rPr lang="ko-KR" altLang="en-US" sz="2000" b="1">
                <a:solidFill>
                  <a:srgbClr val="ff0000"/>
                </a:solidFill>
              </a:rPr>
              <a:t>성능 측정 가능</a:t>
            </a:r>
            <a:endParaRPr lang="en-US" altLang="ko-KR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7993" y="404162"/>
            <a:ext cx="6131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https://github.com/kpqc-cryptocraft/KpqClean_ver2</a:t>
            </a:r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4255237"/>
            <a:ext cx="4171552" cy="17596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rcRect l="12160" t="14350" r="12240" b="13400"/>
          <a:stretch>
            <a:fillRect/>
          </a:stretch>
        </p:blipFill>
        <p:spPr>
          <a:xfrm>
            <a:off x="10725849" y="55510"/>
            <a:ext cx="1445677" cy="138153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250815" y="4297048"/>
            <a:ext cx="3728685" cy="17363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043348" y="4297048"/>
            <a:ext cx="3996609" cy="17363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직사각형 6"/>
          <p:cNvSpPr/>
          <p:nvPr/>
        </p:nvSpPr>
        <p:spPr>
          <a:xfrm>
            <a:off x="8058763" y="5406229"/>
            <a:ext cx="3981194" cy="4784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기본적인 </a:t>
            </a:r>
            <a:r>
              <a:rPr lang="en-US" altLang="ko-KR"/>
              <a:t>primitive</a:t>
            </a:r>
            <a:r>
              <a:rPr lang="ko-KR" altLang="en-US"/>
              <a:t> 코드 통일 작업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" y="1152525"/>
            <a:ext cx="6846276" cy="5057775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/>
              <a:t>동일한 환경에서 </a:t>
            </a:r>
            <a:r>
              <a:rPr lang="en-US" altLang="ko-KR" sz="2000"/>
              <a:t>2</a:t>
            </a:r>
            <a:r>
              <a:rPr lang="ko-KR" altLang="en-US" sz="2000"/>
              <a:t>라운드 알고리즘 성능 측정을 위해</a:t>
            </a:r>
            <a:r>
              <a:rPr lang="en-US" altLang="ko-KR" sz="2000"/>
              <a:t>  </a:t>
            </a:r>
            <a:r>
              <a:rPr lang="en-US" altLang="ko-KR" sz="2000" b="1">
                <a:solidFill>
                  <a:srgbClr val="ff0000"/>
                </a:solidFill>
              </a:rPr>
              <a:t>SHAKE, AES, SHA-2, SHA-3</a:t>
            </a:r>
            <a:r>
              <a:rPr lang="ko-KR" altLang="en-US" sz="2000" b="1">
                <a:solidFill>
                  <a:srgbClr val="ff0000"/>
                </a:solidFill>
              </a:rPr>
              <a:t> 모두 </a:t>
            </a:r>
            <a:r>
              <a:rPr lang="en-US" altLang="ko-KR" sz="2000" b="1">
                <a:solidFill>
                  <a:srgbClr val="ff0000"/>
                </a:solidFill>
              </a:rPr>
              <a:t>PQClean</a:t>
            </a:r>
            <a:r>
              <a:rPr lang="ko-KR" altLang="en-US" sz="2000" b="1">
                <a:solidFill>
                  <a:srgbClr val="ff0000"/>
                </a:solidFill>
              </a:rPr>
              <a:t>의 코드로</a:t>
            </a:r>
            <a:r>
              <a:rPr lang="en-US" altLang="ko-KR" sz="2000" b="1">
                <a:solidFill>
                  <a:srgbClr val="ff0000"/>
                </a:solidFill>
              </a:rPr>
              <a:t> </a:t>
            </a:r>
            <a:r>
              <a:rPr lang="ko-KR" altLang="en-US" sz="2000" b="1">
                <a:solidFill>
                  <a:srgbClr val="ff0000"/>
                </a:solidFill>
              </a:rPr>
              <a:t>통일하는 작업 </a:t>
            </a:r>
            <a:endParaRPr lang="ko-KR" altLang="en-US" sz="2000" b="1">
              <a:solidFill>
                <a:srgbClr val="ff0000"/>
              </a:solidFill>
            </a:endParaRPr>
          </a:p>
          <a:p>
            <a:pPr lvl="0">
              <a:defRPr/>
            </a:pPr>
            <a:endParaRPr lang="en-US" altLang="ko-KR" sz="2000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ko-KR" altLang="en-US" sz="2000"/>
              <a:t>이외에 동일하게 사용하는 </a:t>
            </a:r>
            <a:r>
              <a:rPr lang="en-US" altLang="ko-KR" sz="2000"/>
              <a:t>aes256ctr</a:t>
            </a:r>
            <a:r>
              <a:rPr lang="ko-KR" altLang="en-US" sz="2000"/>
              <a:t>나 </a:t>
            </a:r>
            <a:r>
              <a:rPr lang="en-US" altLang="ko-KR" sz="2000"/>
              <a:t>KAT</a:t>
            </a:r>
            <a:r>
              <a:rPr lang="ko-KR" altLang="en-US" sz="2000"/>
              <a:t>파일 생성을 위한 </a:t>
            </a:r>
            <a:r>
              <a:rPr lang="en-US" altLang="ko-KR" sz="2000"/>
              <a:t>rng.c</a:t>
            </a:r>
            <a:r>
              <a:rPr lang="ko-KR" altLang="en-US" sz="2000"/>
              <a:t> 등은 </a:t>
            </a:r>
            <a:r>
              <a:rPr lang="en-US" altLang="ko-KR" sz="2000"/>
              <a:t>PQClean</a:t>
            </a:r>
            <a:r>
              <a:rPr lang="ko-KR" altLang="en-US" sz="2000"/>
              <a:t> 이외의 </a:t>
            </a:r>
            <a:r>
              <a:rPr lang="en-US" altLang="ko-KR" sz="2000"/>
              <a:t>NIST</a:t>
            </a:r>
            <a:r>
              <a:rPr lang="ko-KR" altLang="en-US" sz="2000"/>
              <a:t> 코드 등을 </a:t>
            </a:r>
            <a:br>
              <a:rPr lang="en-US" altLang="ko-KR" sz="2000"/>
            </a:br>
            <a:r>
              <a:rPr lang="ko-KR" altLang="en-US" sz="2000"/>
              <a:t>사용하여 </a:t>
            </a:r>
            <a:r>
              <a:rPr lang="ko-KR" altLang="en-US" sz="2000" b="1"/>
              <a:t>모든 알고리즘들이 동일한 </a:t>
            </a:r>
            <a:r>
              <a:rPr lang="en-US" altLang="ko-KR" sz="2000" b="1"/>
              <a:t>common</a:t>
            </a:r>
            <a:r>
              <a:rPr lang="ko-KR" altLang="en-US" sz="2000" b="1"/>
              <a:t> 파일을 </a:t>
            </a:r>
            <a:br>
              <a:rPr lang="en-US" altLang="ko-KR" sz="2000" b="1"/>
            </a:br>
            <a:r>
              <a:rPr lang="ko-KR" altLang="en-US" sz="2000" b="1"/>
              <a:t>사용하게 수정 작업 진행</a:t>
            </a:r>
            <a:endParaRPr lang="ko-KR" altLang="en-US" sz="2000" b="1"/>
          </a:p>
          <a:p>
            <a:pPr lvl="0">
              <a:defRPr/>
            </a:pPr>
            <a:endParaRPr lang="en-US" altLang="ko-KR" sz="2400"/>
          </a:p>
        </p:txBody>
      </p:sp>
      <p:grpSp>
        <p:nvGrpSpPr>
          <p:cNvPr id="9" name="그룹 8"/>
          <p:cNvGrpSpPr/>
          <p:nvPr/>
        </p:nvGrpSpPr>
        <p:grpSpPr>
          <a:xfrm rot="0">
            <a:off x="7062011" y="996625"/>
            <a:ext cx="2485887" cy="5861375"/>
            <a:chOff x="761144" y="1752033"/>
            <a:chExt cx="1325174" cy="280136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rcRect t="450" r="68420"/>
            <a:stretch>
              <a:fillRect/>
            </a:stretch>
          </p:blipFill>
          <p:spPr>
            <a:xfrm>
              <a:off x="761144" y="1752033"/>
              <a:ext cx="1325174" cy="2801368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825335" y="2507184"/>
              <a:ext cx="1260983" cy="389696"/>
            </a:xfrm>
            <a:prstGeom prst="rect">
              <a:avLst/>
            </a:prstGeom>
            <a:solidFill>
              <a:schemeClr val="accent2">
                <a:alpha val="1268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793239" y="3173680"/>
              <a:ext cx="1293079" cy="255320"/>
            </a:xfrm>
            <a:prstGeom prst="rect">
              <a:avLst/>
            </a:prstGeom>
            <a:solidFill>
              <a:schemeClr val="accent2">
                <a:alpha val="1268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93239" y="3707855"/>
              <a:ext cx="1293079" cy="526746"/>
            </a:xfrm>
            <a:prstGeom prst="rect">
              <a:avLst/>
            </a:prstGeom>
            <a:solidFill>
              <a:schemeClr val="accent2">
                <a:alpha val="1268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ko-KR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738874" y="3787931"/>
            <a:ext cx="3972316" cy="2830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1" lang="en-US" altLang="ko-KR"/>
              <a:t>&lt;</a:t>
            </a:r>
            <a:r>
              <a:rPr kumimoji="1" lang="ko-KR" altLang="en-US"/>
              <a:t>상세</a:t>
            </a:r>
            <a:r>
              <a:rPr kumimoji="1" lang="en-US" altLang="ko-KR"/>
              <a:t>&gt;</a:t>
            </a:r>
            <a:endParaRPr kumimoji="1" lang="en-US" altLang="ko-KR"/>
          </a:p>
          <a:p>
            <a:pPr lvl="0">
              <a:defRPr/>
            </a:pPr>
            <a:r>
              <a:rPr kumimoji="1" lang="en-US" altLang="ko-KR"/>
              <a:t>PKE/KEM</a:t>
            </a:r>
            <a:endParaRPr kumimoji="1" lang="en-US" altLang="ko-KR"/>
          </a:p>
          <a:p>
            <a:pPr marL="285750" indent="-285750">
              <a:buFontTx/>
              <a:buChar char="-"/>
              <a:defRPr/>
            </a:pPr>
            <a:r>
              <a:rPr kumimoji="1" lang="en-US" altLang="ko-KR" sz="1600"/>
              <a:t>NTRU+ : randombytes, AES, SHA-2</a:t>
            </a:r>
            <a:endParaRPr kumimoji="1" lang="en-US" altLang="ko-KR" sz="1600"/>
          </a:p>
          <a:p>
            <a:pPr marL="285750" indent="-285750">
              <a:buFontTx/>
              <a:buChar char="-"/>
              <a:defRPr/>
            </a:pPr>
            <a:r>
              <a:rPr kumimoji="1" lang="en-US" altLang="ko-KR" sz="1600"/>
              <a:t>PALOMA : none</a:t>
            </a:r>
            <a:endParaRPr kumimoji="1" lang="en-US" altLang="ko-KR" sz="1600"/>
          </a:p>
          <a:p>
            <a:pPr marL="285750" indent="-285750">
              <a:buFontTx/>
              <a:buChar char="-"/>
              <a:defRPr/>
            </a:pPr>
            <a:r>
              <a:rPr kumimoji="1" lang="en-US" altLang="ko-KR" sz="1600"/>
              <a:t>SMAUG-T : randombytes, AES, SHA-2</a:t>
            </a:r>
            <a:endParaRPr kumimoji="1" lang="en-US" altLang="ko-KR" sz="1600"/>
          </a:p>
          <a:p>
            <a:pPr marL="285750" indent="-285750">
              <a:buFontTx/>
              <a:buChar char="-"/>
              <a:defRPr/>
            </a:pPr>
            <a:endParaRPr kumimoji="1" lang="en-US" altLang="ko-KR" sz="1600"/>
          </a:p>
          <a:p>
            <a:pPr lvl="0">
              <a:defRPr/>
            </a:pPr>
            <a:r>
              <a:rPr kumimoji="1" lang="en-US" altLang="ko-KR" sz="1600"/>
              <a:t>DSA</a:t>
            </a:r>
            <a:endParaRPr kumimoji="1" lang="en-US" altLang="ko-KR" sz="1600"/>
          </a:p>
          <a:p>
            <a:pPr marL="285750" indent="-285750">
              <a:buFontTx/>
              <a:buChar char="-"/>
              <a:defRPr/>
            </a:pPr>
            <a:r>
              <a:rPr kumimoji="1" lang="en-US" altLang="ko-KR" sz="1600"/>
              <a:t>AIMer : randombytes, FIPS202</a:t>
            </a:r>
            <a:endParaRPr kumimoji="1" lang="en-US" altLang="ko-KR" sz="1600"/>
          </a:p>
          <a:p>
            <a:pPr marL="285750" indent="-285750">
              <a:buFontTx/>
              <a:buChar char="-"/>
              <a:defRPr/>
            </a:pPr>
            <a:r>
              <a:rPr kumimoji="1" lang="en-US" altLang="ko-KR" sz="1600"/>
              <a:t>HAETAE : FIPS202, AES</a:t>
            </a:r>
            <a:endParaRPr kumimoji="1" lang="en-US" altLang="ko-KR" sz="1600"/>
          </a:p>
          <a:p>
            <a:pPr marL="285750" indent="-285750">
              <a:buFontTx/>
              <a:buChar char="-"/>
              <a:defRPr/>
            </a:pPr>
            <a:r>
              <a:rPr kumimoji="1" lang="en-US" altLang="ko-KR" sz="1600"/>
              <a:t>MQSign : FIPS202, AES</a:t>
            </a:r>
            <a:endParaRPr kumimoji="1" lang="en-US" altLang="ko-KR" sz="1600"/>
          </a:p>
          <a:p>
            <a:pPr marL="285750" indent="-285750">
              <a:buFontTx/>
              <a:buChar char="-"/>
              <a:defRPr/>
            </a:pPr>
            <a:r>
              <a:rPr kumimoji="1" lang="en-US" altLang="ko-KR" sz="1600"/>
              <a:t>NCCSign : randombytes, FIPS202</a:t>
            </a:r>
            <a:endParaRPr kumimoji="1" lang="ko-KR" altLang="en-US" sz="1600"/>
          </a:p>
        </p:txBody>
      </p:sp>
      <p:grpSp>
        <p:nvGrpSpPr>
          <p:cNvPr id="20" name="그룹 19"/>
          <p:cNvGrpSpPr/>
          <p:nvPr/>
        </p:nvGrpSpPr>
        <p:grpSpPr>
          <a:xfrm rot="0">
            <a:off x="9547898" y="996624"/>
            <a:ext cx="2353349" cy="5861376"/>
            <a:chOff x="4648032" y="2611050"/>
            <a:chExt cx="1858646" cy="4246949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648032" y="2611050"/>
              <a:ext cx="1793364" cy="4246949"/>
            </a:xfrm>
            <a:prstGeom prst="rect">
              <a:avLst/>
            </a:prstGeom>
          </p:spPr>
        </p:pic>
        <p:sp>
          <p:nvSpPr>
            <p:cNvPr id="17" name="직사각형 16"/>
            <p:cNvSpPr/>
            <p:nvPr/>
          </p:nvSpPr>
          <p:spPr>
            <a:xfrm>
              <a:off x="4704167" y="3731603"/>
              <a:ext cx="1802511" cy="541734"/>
            </a:xfrm>
            <a:prstGeom prst="rect">
              <a:avLst/>
            </a:prstGeom>
            <a:solidFill>
              <a:schemeClr val="accent2">
                <a:alpha val="1268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704167" y="5253840"/>
              <a:ext cx="1737229" cy="738998"/>
            </a:xfrm>
            <a:prstGeom prst="rect">
              <a:avLst/>
            </a:prstGeom>
            <a:solidFill>
              <a:schemeClr val="accent2">
                <a:alpha val="1268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694800" y="6411159"/>
              <a:ext cx="1802511" cy="353742"/>
            </a:xfrm>
            <a:prstGeom prst="rect">
              <a:avLst/>
            </a:prstGeom>
            <a:solidFill>
              <a:schemeClr val="accent2">
                <a:alpha val="1268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kumimoji="1" lang="ko-KR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R"/>
              <a:t>Pqm4 </a:t>
            </a:r>
            <a:r>
              <a:rPr kumimoji="1" lang="ko-KR" altLang="en-US"/>
              <a:t>타겟</a:t>
            </a:r>
            <a:r>
              <a:rPr kumimoji="1" lang="ko-Kore-KR" altLang="en-US"/>
              <a:t> 보드</a:t>
            </a:r>
            <a:endParaRPr kumimoji="1" lang="ko-Kore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>
                <a:solidFill>
                  <a:srgbClr val="ff0000"/>
                </a:solidFill>
              </a:rPr>
              <a:t>Pqm4 </a:t>
            </a:r>
            <a:r>
              <a:rPr lang="ko-KR" altLang="en-US" b="1">
                <a:solidFill>
                  <a:srgbClr val="ff0000"/>
                </a:solidFill>
              </a:rPr>
              <a:t>타겟 보드 모델</a:t>
            </a:r>
            <a:r>
              <a:rPr lang="en-US" altLang="ko-KR" b="1">
                <a:solidFill>
                  <a:srgbClr val="ff0000"/>
                </a:solidFill>
              </a:rPr>
              <a:t>:</a:t>
            </a:r>
            <a:r>
              <a:rPr lang="ko-KR" altLang="en-US" b="1">
                <a:solidFill>
                  <a:srgbClr val="ff0000"/>
                </a:solidFill>
              </a:rPr>
              <a:t> </a:t>
            </a:r>
            <a:r>
              <a:rPr lang="en" altLang="ko-Kore-KR" b="1">
                <a:solidFill>
                  <a:srgbClr val="ff0000"/>
                </a:solidFill>
              </a:rPr>
              <a:t>NUCLEO-L4R5ZI</a:t>
            </a:r>
            <a:endParaRPr lang="en" altLang="ko-Kore-KR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en-US" altLang="ko-KR"/>
              <a:t>RAM </a:t>
            </a:r>
            <a:r>
              <a:rPr lang="ko-KR" altLang="en-US"/>
              <a:t>상한선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640KB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구성</a:t>
            </a:r>
            <a:r>
              <a:rPr lang="en-US" altLang="ko-KR"/>
              <a:t>:</a:t>
            </a:r>
            <a:r>
              <a:rPr lang="ko-KR" altLang="en-US"/>
              <a:t> 정적</a:t>
            </a:r>
            <a:r>
              <a:rPr lang="en-US" altLang="ko-KR"/>
              <a:t>(.data + .bss) +</a:t>
            </a:r>
            <a:r>
              <a:rPr lang="ko-KR" altLang="en-US"/>
              <a:t> 동적</a:t>
            </a:r>
            <a:r>
              <a:rPr lang="en-US" altLang="ko-KR"/>
              <a:t>(stack + heap)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FLASH </a:t>
            </a:r>
            <a:r>
              <a:rPr lang="ko-KR" altLang="en-US"/>
              <a:t>상한선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2MB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코드</a:t>
            </a:r>
            <a:r>
              <a:rPr lang="en-US" altLang="ko-KR"/>
              <a:t>/</a:t>
            </a:r>
            <a:r>
              <a:rPr lang="ko-KR" altLang="en-US"/>
              <a:t>상수</a:t>
            </a:r>
            <a:r>
              <a:rPr lang="en-US" altLang="ko-KR"/>
              <a:t>/</a:t>
            </a:r>
            <a:r>
              <a:rPr lang="ko-KR" altLang="en-US"/>
              <a:t>초기값 등이 </a:t>
            </a:r>
            <a:r>
              <a:rPr lang="en-US" altLang="ko-KR"/>
              <a:t>FLASH</a:t>
            </a:r>
            <a:r>
              <a:rPr lang="ko-KR" altLang="en-US"/>
              <a:t>에 탑재됨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E.g. .text + .rodata + .data init </a:t>
            </a:r>
            <a:r>
              <a:rPr lang="ko-KR" altLang="en-US"/>
              <a:t>합이 </a:t>
            </a:r>
            <a:r>
              <a:rPr lang="en-US" altLang="ko-KR"/>
              <a:t>2MB </a:t>
            </a:r>
            <a:r>
              <a:rPr lang="ko-KR" altLang="en-US"/>
              <a:t>이내면 됨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rcRect t="19250" b="18580"/>
          <a:stretch>
            <a:fillRect/>
          </a:stretch>
        </p:blipFill>
        <p:spPr>
          <a:xfrm>
            <a:off x="8488005" y="1339095"/>
            <a:ext cx="2994991" cy="1939510"/>
          </a:xfrm>
          <a:prstGeom prst="rect">
            <a:avLst/>
          </a:prstGeom>
        </p:spPr>
      </p:pic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871091" y="3877411"/>
          <a:ext cx="10449817" cy="2651511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011265"/>
                <a:gridCol w="5240653"/>
                <a:gridCol w="1645540"/>
                <a:gridCol w="1552359"/>
              </a:tblGrid>
              <a:tr h="42647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구분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대표 보드/MCU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Flash(ROM)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/>
                        <a:t>RAM(SRAM)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Pqm4</a:t>
                      </a:r>
                      <a:r>
                        <a:rPr lang="ko-KR" altLang="en-US"/>
                        <a:t> 타겟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NUCLEO-L4R5ZI (STM32L4R5)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2 MB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640 KB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고사양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Raspberry Pi Pico (RP2040)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2 MB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264 KB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흔한 </a:t>
                      </a:r>
                      <a:r>
                        <a:rPr lang="en-US" altLang="ko-KR"/>
                        <a:t>m4</a:t>
                      </a:r>
                      <a:r>
                        <a:rPr lang="ko-KR" altLang="en-US"/>
                        <a:t>급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STM32F4DISCOVERY (STM32F407)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1 MB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192 KB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보급형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저사양</a:t>
                      </a:r>
                      <a:r>
                        <a:rPr lang="en-US" altLang="ko-KR"/>
                        <a:t>)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NUCLEO-F446RE (STM32F446)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512 KB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128 KB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초저사양</a:t>
                      </a:r>
                      <a:r>
                        <a:rPr lang="en-US" altLang="ko-KR"/>
                        <a:t>(m0+)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NUCLEO-G070RB (STM32G070RB)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128 KB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36 KB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  <a:tr h="37084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극초저사양</a:t>
                      </a:r>
                      <a:r>
                        <a:rPr lang="en-US" altLang="ko-KR"/>
                        <a:t>(m3)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Blue Pill 계열 (STM32F103C8)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64 KB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20 KB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/>
              <a:t> </a:t>
            </a:r>
            <a:r>
              <a:rPr kumimoji="1" lang="en-US" altLang="ko-KR"/>
              <a:t>RAM &amp; </a:t>
            </a:r>
            <a:r>
              <a:rPr kumimoji="1" lang="en-US" altLang="ko-Kore-KR"/>
              <a:t>RAM peak</a:t>
            </a:r>
            <a:endParaRPr kumimoji="1" lang="en-US" altLang="ko-Kore-KR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ore-KR" b="1">
                <a:solidFill>
                  <a:srgbClr val="ff0000"/>
                </a:solidFill>
              </a:rPr>
              <a:t>RAM</a:t>
            </a:r>
            <a:r>
              <a:rPr kumimoji="1" lang="en-US" altLang="ko-KR" b="1">
                <a:solidFill>
                  <a:srgbClr val="ff0000"/>
                </a:solidFill>
              </a:rPr>
              <a:t>:</a:t>
            </a:r>
            <a:r>
              <a:rPr kumimoji="1" lang="ko-KR" altLang="en-US" b="1">
                <a:solidFill>
                  <a:srgbClr val="ff0000"/>
                </a:solidFill>
              </a:rPr>
              <a:t> </a:t>
            </a:r>
            <a:r>
              <a:rPr kumimoji="1" lang="en-US" altLang="ko-KR" b="1">
                <a:solidFill>
                  <a:srgbClr val="ff0000"/>
                </a:solidFill>
              </a:rPr>
              <a:t>Random Access Memory</a:t>
            </a:r>
            <a:endParaRPr kumimoji="1" lang="en-US" altLang="ko-KR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kumimoji="1" lang="ko-KR" altLang="en-US" b="1">
                <a:solidFill>
                  <a:schemeClr val="accent1"/>
                </a:solidFill>
              </a:rPr>
              <a:t>실행중인 프로그램</a:t>
            </a:r>
            <a:r>
              <a:rPr kumimoji="1" lang="en-US" altLang="ko-KR" b="1">
                <a:solidFill>
                  <a:schemeClr val="accent1"/>
                </a:solidFill>
              </a:rPr>
              <a:t>(</a:t>
            </a:r>
            <a:r>
              <a:rPr kumimoji="1" lang="ko-KR" altLang="en-US" b="1">
                <a:solidFill>
                  <a:schemeClr val="accent1"/>
                </a:solidFill>
              </a:rPr>
              <a:t>데이터</a:t>
            </a:r>
            <a:r>
              <a:rPr kumimoji="1" lang="en-US" altLang="ko-KR" b="1">
                <a:solidFill>
                  <a:schemeClr val="accent1"/>
                </a:solidFill>
              </a:rPr>
              <a:t>)</a:t>
            </a:r>
            <a:r>
              <a:rPr kumimoji="1" lang="ko-KR" altLang="en-US" b="1">
                <a:solidFill>
                  <a:schemeClr val="accent1"/>
                </a:solidFill>
              </a:rPr>
              <a:t>를 임시 저장</a:t>
            </a:r>
            <a:endParaRPr kumimoji="1" lang="ko-KR" altLang="en-US" b="1">
              <a:solidFill>
                <a:schemeClr val="accent1"/>
              </a:solidFill>
            </a:endParaRPr>
          </a:p>
          <a:p>
            <a:pPr lvl="1">
              <a:defRPr/>
            </a:pPr>
            <a:r>
              <a:rPr kumimoji="1" lang="ko-KR" altLang="en-US"/>
              <a:t>휘발성 메모리 </a:t>
            </a:r>
            <a:r>
              <a:rPr kumimoji="1" lang="en-US" altLang="ko-KR"/>
              <a:t>- </a:t>
            </a:r>
            <a:r>
              <a:rPr kumimoji="1" lang="ko-KR" altLang="en-US"/>
              <a:t>전원 꺼지면 내용 사라짐</a:t>
            </a:r>
            <a:endParaRPr kumimoji="1" lang="ko-KR" altLang="en-US"/>
          </a:p>
          <a:p>
            <a:pPr lvl="0">
              <a:defRPr/>
            </a:pPr>
            <a:r>
              <a:rPr kumimoji="1" lang="en-US" altLang="ko-KR"/>
              <a:t>Read / Write - CPU</a:t>
            </a:r>
            <a:r>
              <a:rPr kumimoji="1" lang="ko-KR" altLang="en-US"/>
              <a:t>가 제어</a:t>
            </a:r>
            <a:endParaRPr kumimoji="1" lang="ko-KR" altLang="en-US"/>
          </a:p>
          <a:p>
            <a:pPr lvl="1">
              <a:defRPr/>
            </a:pPr>
            <a:r>
              <a:rPr kumimoji="1" lang="en-US" altLang="ko-KR"/>
              <a:t>Read: RAM -&gt; CPU</a:t>
            </a:r>
            <a:r>
              <a:rPr kumimoji="1" lang="ko-KR" altLang="en-US"/>
              <a:t>로 데이터 보냄</a:t>
            </a:r>
            <a:endParaRPr kumimoji="1" lang="ko-KR" altLang="en-US"/>
          </a:p>
          <a:p>
            <a:pPr lvl="1">
              <a:defRPr/>
            </a:pPr>
            <a:r>
              <a:rPr kumimoji="1" lang="en-US" altLang="ko-KR"/>
              <a:t>Write: CPU -&gt; RAM</a:t>
            </a:r>
            <a:r>
              <a:rPr kumimoji="1" lang="ko-KR" altLang="en-US"/>
              <a:t>으로 데이터 보냄</a:t>
            </a:r>
            <a:endParaRPr kumimoji="1" lang="ko-KR" altLang="en-US"/>
          </a:p>
          <a:p>
            <a:pPr lvl="0">
              <a:defRPr/>
            </a:pPr>
            <a:r>
              <a:rPr kumimoji="1" lang="en-US" altLang="ko-KR"/>
              <a:t>CPU</a:t>
            </a:r>
            <a:r>
              <a:rPr kumimoji="1" lang="ko-KR" altLang="en-US"/>
              <a:t>가 주소</a:t>
            </a:r>
            <a:r>
              <a:rPr kumimoji="1" lang="en-US" altLang="ko-KR"/>
              <a:t>(k-bit)</a:t>
            </a:r>
            <a:r>
              <a:rPr kumimoji="1" lang="ko-KR" altLang="en-US"/>
              <a:t> </a:t>
            </a:r>
            <a:r>
              <a:rPr kumimoji="1" lang="en-US" altLang="ko-KR"/>
              <a:t>+</a:t>
            </a:r>
            <a:r>
              <a:rPr kumimoji="1" lang="ko-KR" altLang="en-US"/>
              <a:t> </a:t>
            </a:r>
            <a:r>
              <a:rPr kumimoji="1" lang="en-US" altLang="ko-KR"/>
              <a:t>R/W</a:t>
            </a:r>
            <a:r>
              <a:rPr kumimoji="1" lang="ko-KR" altLang="en-US"/>
              <a:t>을 주면 </a:t>
            </a:r>
            <a:r>
              <a:rPr kumimoji="1" lang="en-US" altLang="ko-KR"/>
              <a:t>RAM</a:t>
            </a:r>
            <a:r>
              <a:rPr kumimoji="1" lang="ko-KR" altLang="en-US"/>
              <a:t>이 해당 주소 데이터를 송수신</a:t>
            </a:r>
            <a:endParaRPr kumimoji="1" lang="ko-KR" altLang="en-US"/>
          </a:p>
          <a:p>
            <a:pPr lvl="0">
              <a:defRPr/>
            </a:pPr>
            <a:r>
              <a:rPr kumimoji="1" lang="en-US" altLang="ko-KR" b="1">
                <a:solidFill>
                  <a:srgbClr val="ff0000"/>
                </a:solidFill>
              </a:rPr>
              <a:t>RAM peak: </a:t>
            </a:r>
            <a:r>
              <a:rPr kumimoji="1" lang="ko-KR" altLang="en-US" b="1">
                <a:solidFill>
                  <a:srgbClr val="ff0000"/>
                </a:solidFill>
              </a:rPr>
              <a:t>정적 </a:t>
            </a:r>
            <a:r>
              <a:rPr kumimoji="1" lang="en-US" altLang="ko-KR" b="1">
                <a:solidFill>
                  <a:srgbClr val="ff0000"/>
                </a:solidFill>
              </a:rPr>
              <a:t>RAM + </a:t>
            </a:r>
            <a:r>
              <a:rPr kumimoji="1" lang="ko-KR" altLang="en-US" b="1">
                <a:solidFill>
                  <a:srgbClr val="ff0000"/>
                </a:solidFill>
              </a:rPr>
              <a:t>동적 </a:t>
            </a:r>
            <a:r>
              <a:rPr kumimoji="1" lang="en-US" altLang="ko-KR" b="1">
                <a:solidFill>
                  <a:srgbClr val="ff0000"/>
                </a:solidFill>
              </a:rPr>
              <a:t>RAM</a:t>
            </a:r>
            <a:endParaRPr kumimoji="1" lang="en-US" altLang="ko-KR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kumimoji="1" lang="en-US" altLang="ko-KR" b="1">
                <a:solidFill>
                  <a:schemeClr val="accent1"/>
                </a:solidFill>
              </a:rPr>
              <a:t>RAM peak</a:t>
            </a:r>
            <a:r>
              <a:rPr kumimoji="1" lang="ko-KR" altLang="en-US" b="1">
                <a:solidFill>
                  <a:schemeClr val="accent1"/>
                </a:solidFill>
              </a:rPr>
              <a:t> 수치에 따라 프로그램 실행 가능 유무가 나뉨</a:t>
            </a:r>
            <a:endParaRPr kumimoji="1" lang="ko-KR" altLang="en-US" b="1">
              <a:solidFill>
                <a:schemeClr val="accent1"/>
              </a:solidFill>
            </a:endParaRPr>
          </a:p>
          <a:p>
            <a:pPr lvl="1">
              <a:defRPr/>
            </a:pPr>
            <a:r>
              <a:rPr kumimoji="1" lang="ko-KR" altLang="en-US" b="1">
                <a:solidFill>
                  <a:schemeClr val="accent1"/>
                </a:solidFill>
              </a:rPr>
              <a:t>정적 </a:t>
            </a:r>
            <a:r>
              <a:rPr kumimoji="1" lang="en-US" altLang="ko-KR" b="1">
                <a:solidFill>
                  <a:schemeClr val="accent1"/>
                </a:solidFill>
              </a:rPr>
              <a:t>RAM +</a:t>
            </a:r>
            <a:r>
              <a:rPr kumimoji="1" lang="ko-KR" altLang="en-US" b="1">
                <a:solidFill>
                  <a:schemeClr val="accent1"/>
                </a:solidFill>
              </a:rPr>
              <a:t> 동적 </a:t>
            </a:r>
            <a:r>
              <a:rPr kumimoji="1" lang="en-US" altLang="ko-KR" b="1">
                <a:solidFill>
                  <a:schemeClr val="accent1"/>
                </a:solidFill>
              </a:rPr>
              <a:t>RAM</a:t>
            </a:r>
            <a:r>
              <a:rPr kumimoji="1" lang="ko-KR" altLang="en-US" b="1">
                <a:solidFill>
                  <a:schemeClr val="accent1"/>
                </a:solidFill>
              </a:rPr>
              <a:t>이 가장 높을 때가 </a:t>
            </a:r>
            <a:r>
              <a:rPr kumimoji="1" lang="en-US" altLang="ko-KR" b="1">
                <a:solidFill>
                  <a:schemeClr val="accent1"/>
                </a:solidFill>
              </a:rPr>
              <a:t>RAM peak</a:t>
            </a:r>
            <a:endParaRPr kumimoji="1" lang="en-US" altLang="ko-KR" b="1">
              <a:solidFill>
                <a:schemeClr val="accent1"/>
              </a:solidFill>
            </a:endParaRPr>
          </a:p>
          <a:p>
            <a:pPr lvl="2">
              <a:defRPr/>
            </a:pPr>
            <a:r>
              <a:rPr kumimoji="1" lang="ko-KR" altLang="en-US"/>
              <a:t>정적</a:t>
            </a:r>
            <a:r>
              <a:rPr kumimoji="1" lang="en-US" altLang="ko-KR"/>
              <a:t> RAM: </a:t>
            </a:r>
            <a:r>
              <a:rPr kumimoji="1" lang="ko-KR" altLang="en-US"/>
              <a:t>전역</a:t>
            </a:r>
            <a:r>
              <a:rPr kumimoji="1" lang="en-US" altLang="ko-KR"/>
              <a:t>/</a:t>
            </a:r>
            <a:r>
              <a:rPr kumimoji="1" lang="ko-KR" altLang="en-US"/>
              <a:t>정적 변수</a:t>
            </a:r>
            <a:endParaRPr kumimoji="1" lang="ko-KR" altLang="en-US"/>
          </a:p>
          <a:p>
            <a:pPr lvl="2">
              <a:defRPr/>
            </a:pPr>
            <a:r>
              <a:rPr kumimoji="1" lang="ko-KR" altLang="en-US"/>
              <a:t>동적 </a:t>
            </a:r>
            <a:r>
              <a:rPr kumimoji="1" lang="en-US" altLang="ko-KR"/>
              <a:t>RAM: </a:t>
            </a:r>
            <a:r>
              <a:rPr kumimoji="1" lang="ko-KR" altLang="en-US"/>
              <a:t>호출 깊이</a:t>
            </a:r>
            <a:r>
              <a:rPr kumimoji="1" lang="en-US" altLang="ko-KR"/>
              <a:t>,</a:t>
            </a:r>
            <a:r>
              <a:rPr kumimoji="1" lang="ko-KR" altLang="en-US"/>
              <a:t> 임시 버퍼 등에 따라 변동됨</a:t>
            </a:r>
            <a:r>
              <a:rPr kumimoji="1" lang="en-US" altLang="ko-KR"/>
              <a:t>(</a:t>
            </a:r>
            <a:r>
              <a:rPr kumimoji="1" lang="ko-KR" altLang="en-US"/>
              <a:t>주로 </a:t>
            </a:r>
            <a:r>
              <a:rPr kumimoji="1" lang="en-US" altLang="ko-KR"/>
              <a:t>stack) + heap</a:t>
            </a:r>
            <a:endParaRPr kumimoji="1" lang="en-US" altLang="ko-KR"/>
          </a:p>
          <a:p>
            <a:pPr lvl="3">
              <a:defRPr/>
            </a:pPr>
            <a:endParaRPr kumimoji="1" lang="en-US" altLang="ko-KR"/>
          </a:p>
          <a:p>
            <a:pPr lvl="2">
              <a:defRPr/>
            </a:pPr>
            <a:endParaRPr kumimoji="1" lang="ko-KR" altLang="en-US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02500" y="0"/>
            <a:ext cx="4889499" cy="3667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ore-KR" altLang="en-US"/>
              <a:t>메모리 </a:t>
            </a:r>
            <a:r>
              <a:rPr kumimoji="1" lang="ko-KR" altLang="en-US"/>
              <a:t>섹션</a:t>
            </a:r>
            <a:r>
              <a:rPr kumimoji="1" lang="en-US" altLang="ko-KR"/>
              <a:t>(ELF)</a:t>
            </a:r>
            <a:endParaRPr kumimoji="1"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R"/>
              <a:t>.text:</a:t>
            </a:r>
            <a:r>
              <a:rPr kumimoji="1" lang="ko-KR" altLang="en-US"/>
              <a:t> 실행 코드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함수 본문</a:t>
            </a:r>
            <a:endParaRPr kumimoji="1" lang="ko-KR" altLang="en-US"/>
          </a:p>
          <a:p>
            <a:pPr lvl="0">
              <a:defRPr/>
            </a:pPr>
            <a:r>
              <a:rPr kumimoji="1" lang="en-US" altLang="ko-KR"/>
              <a:t>.rodata:</a:t>
            </a:r>
            <a:r>
              <a:rPr kumimoji="1" lang="ko-KR" altLang="en-US"/>
              <a:t> 읽기 전용 상수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문자열 리터럴</a:t>
            </a:r>
            <a:r>
              <a:rPr kumimoji="1" lang="en-US" altLang="ko-KR"/>
              <a:t>,</a:t>
            </a:r>
            <a:r>
              <a:rPr kumimoji="1" lang="ko-KR" altLang="en-US"/>
              <a:t> 전역 </a:t>
            </a:r>
            <a:r>
              <a:rPr kumimoji="1" lang="en-US" altLang="ko-KR"/>
              <a:t>const</a:t>
            </a:r>
            <a:r>
              <a:rPr kumimoji="1" lang="ko-KR" altLang="en-US"/>
              <a:t> 등</a:t>
            </a:r>
            <a:endParaRPr kumimoji="1" lang="ko-KR" altLang="en-US"/>
          </a:p>
          <a:p>
            <a:pPr lvl="0">
              <a:defRPr/>
            </a:pPr>
            <a:r>
              <a:rPr kumimoji="1" lang="en-US" altLang="ko-KR"/>
              <a:t>.data: </a:t>
            </a:r>
            <a:r>
              <a:rPr kumimoji="1" lang="ko-KR" altLang="en-US"/>
              <a:t>초기값이 있는 전역</a:t>
            </a:r>
            <a:r>
              <a:rPr kumimoji="1" lang="en-US" altLang="ko-KR"/>
              <a:t>/</a:t>
            </a:r>
            <a:r>
              <a:rPr kumimoji="1" lang="ko-KR" altLang="en-US"/>
              <a:t>정적 변수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초기값은 </a:t>
            </a:r>
            <a:r>
              <a:rPr kumimoji="1" lang="en-US" altLang="ko-KR"/>
              <a:t>Flash</a:t>
            </a:r>
            <a:r>
              <a:rPr kumimoji="1" lang="ko-KR" altLang="en-US"/>
              <a:t>에 저장</a:t>
            </a:r>
            <a:r>
              <a:rPr kumimoji="1" lang="en-US" altLang="ko-KR"/>
              <a:t>,</a:t>
            </a:r>
            <a:r>
              <a:rPr kumimoji="1" lang="ko-KR" altLang="en-US"/>
              <a:t> 실행 시에 </a:t>
            </a:r>
            <a:r>
              <a:rPr kumimoji="1" lang="en-US" altLang="ko-KR"/>
              <a:t>RAM</a:t>
            </a:r>
            <a:r>
              <a:rPr kumimoji="1" lang="ko-KR" altLang="en-US"/>
              <a:t>에 올라감</a:t>
            </a:r>
            <a:endParaRPr kumimoji="1" lang="ko-KR" altLang="en-US"/>
          </a:p>
          <a:p>
            <a:pPr lvl="1">
              <a:defRPr/>
            </a:pPr>
            <a:r>
              <a:rPr kumimoji="1" lang="en-US" altLang="ko-KR"/>
              <a:t>data init image - .data</a:t>
            </a:r>
            <a:r>
              <a:rPr kumimoji="1" lang="ko-KR" altLang="en-US"/>
              <a:t>의 초기값</a:t>
            </a:r>
            <a:r>
              <a:rPr kumimoji="1" lang="en-US" altLang="ko-KR"/>
              <a:t> </a:t>
            </a:r>
            <a:r>
              <a:rPr kumimoji="1" lang="ko-KR" altLang="en-US"/>
              <a:t>원본 저장</a:t>
            </a:r>
            <a:endParaRPr kumimoji="1" lang="ko-KR" altLang="en-US"/>
          </a:p>
          <a:p>
            <a:pPr lvl="0">
              <a:defRPr/>
            </a:pPr>
            <a:r>
              <a:rPr kumimoji="1" lang="en-US" altLang="ko-KR"/>
              <a:t>.bss: </a:t>
            </a:r>
            <a:r>
              <a:rPr kumimoji="1" lang="ko-KR" altLang="en-US"/>
              <a:t>초기값이 없는 전역</a:t>
            </a:r>
            <a:r>
              <a:rPr kumimoji="1" lang="en-US" altLang="ko-KR"/>
              <a:t>/</a:t>
            </a:r>
            <a:r>
              <a:rPr kumimoji="1" lang="ko-KR" altLang="en-US"/>
              <a:t>정적 변수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시작 시 </a:t>
            </a:r>
            <a:r>
              <a:rPr kumimoji="1" lang="en-US" altLang="ko-KR"/>
              <a:t>0</a:t>
            </a:r>
            <a:r>
              <a:rPr kumimoji="1" lang="ko-KR" altLang="en-US"/>
              <a:t>으로 초기화됨</a:t>
            </a:r>
            <a:endParaRPr kumimoji="1" lang="ko-KR" altLang="en-US"/>
          </a:p>
          <a:p>
            <a:pPr lvl="1">
              <a:defRPr/>
            </a:pPr>
            <a:endParaRPr kumimoji="1" lang="ko-KR" altLang="en-US"/>
          </a:p>
          <a:p>
            <a:pPr lvl="0">
              <a:defRPr/>
            </a:pPr>
            <a:endParaRPr kumimoji="1" lang="ko-KR" altLang="en-US" b="1">
              <a:solidFill>
                <a:srgbClr val="ff0000"/>
              </a:solidFill>
            </a:endParaRPr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203096" y="0"/>
            <a:ext cx="3988903" cy="5412028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449965" y="5647858"/>
            <a:ext cx="11856621" cy="10955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kumimoji="0" lang="ko-Kore-KR" altLang="ko-Kore-KR" sz="2200" b="1" i="0" u="none" strike="noStrike" cap="none" normalizeH="0" baseline="0">
                <a:solidFill>
                  <a:schemeClr val="tx1"/>
                </a:solidFill>
                <a:effectLst/>
                <a:latin typeface="Arial"/>
              </a:rPr>
              <a:t>Flash/ROM(.text + .rodata)</a:t>
            </a:r>
            <a:r>
              <a:rPr kumimoji="0" lang="ko-Kore-KR" altLang="ko-Kore-KR" sz="2200" b="0" i="0" u="none" strike="noStrike" cap="none" normalizeH="0" baseline="0">
                <a:solidFill>
                  <a:schemeClr val="tx1"/>
                </a:solidFill>
                <a:effectLst/>
                <a:latin typeface="Arial"/>
              </a:rPr>
              <a:t>: 코드와 상수(테이블, zetas, S-box, 라운드 상수 등)</a:t>
            </a:r>
            <a:endParaRPr kumimoji="0" lang="ko-Kore-KR" altLang="ko-Kore-KR" sz="2200" b="0" i="0" u="none" strike="noStrike" cap="none" normalizeH="0" baseline="0">
              <a:solidFill>
                <a:schemeClr val="tx1"/>
              </a:solidFill>
              <a:effectLst/>
              <a:latin typeface="Arial"/>
            </a:endParaRPr>
          </a:p>
          <a:p>
            <a:pPr>
              <a:defRPr/>
            </a:pPr>
            <a:r>
              <a:rPr kumimoji="0" lang="ko-Kore-KR" altLang="ko-Kore-KR" sz="2200" b="1" i="0" u="none" strike="noStrike" cap="none" normalizeH="0" baseline="0">
                <a:solidFill>
                  <a:schemeClr val="tx1"/>
                </a:solidFill>
                <a:effectLst/>
                <a:latin typeface="Arial"/>
              </a:rPr>
              <a:t>RAM 정적 영역(.data + .bss)</a:t>
            </a:r>
            <a:r>
              <a:rPr kumimoji="0" lang="ko-Kore-KR" altLang="ko-Kore-KR" sz="2200" b="0" i="0" u="none" strike="noStrike" cap="none" normalizeH="0" baseline="0">
                <a:solidFill>
                  <a:schemeClr val="tx1"/>
                </a:solidFill>
                <a:effectLst/>
                <a:latin typeface="Arial"/>
              </a:rPr>
              <a:t>: 전역/정적 변수(초기화 유무에 따라 data/bss)</a:t>
            </a:r>
            <a:endParaRPr kumimoji="0" lang="ko-Kore-KR" altLang="ko-Kore-KR" sz="2200" b="0" i="0" u="none" strike="noStrike" cap="none" normalizeH="0" baseline="0">
              <a:solidFill>
                <a:schemeClr val="tx1"/>
              </a:solidFill>
              <a:effectLst/>
              <a:latin typeface="Arial"/>
            </a:endParaRPr>
          </a:p>
          <a:p>
            <a:pPr>
              <a:defRPr/>
            </a:pPr>
            <a:r>
              <a:rPr kumimoji="0" lang="ko-Kore-KR" altLang="ko-Kore-KR" sz="2200" b="1" i="0" u="none" strike="noStrike" cap="none" normalizeH="0" baseline="0">
                <a:solidFill>
                  <a:schemeClr val="tx1"/>
                </a:solidFill>
                <a:effectLst/>
                <a:latin typeface="Arial"/>
              </a:rPr>
              <a:t>RAM 동적/스택(heap/stack)</a:t>
            </a:r>
            <a:r>
              <a:rPr kumimoji="0" lang="ko-Kore-KR" altLang="ko-Kore-KR" sz="2200" b="0" i="0" u="none" strike="noStrike" cap="none" normalizeH="0" baseline="0">
                <a:solidFill>
                  <a:schemeClr val="tx1"/>
                </a:solidFill>
                <a:effectLst/>
                <a:latin typeface="Arial"/>
              </a:rPr>
              <a:t>: 함수 호출 중 생기는 지역변수/임시 버퍼(스택), malloc 등(힙)</a:t>
            </a:r>
            <a:endParaRPr kumimoji="0" lang="ko-Kore-KR" altLang="ko-Kore-KR" sz="2200" b="0" i="0" u="none" strike="noStrike" cap="none" normalizeH="0" baseline="0">
              <a:solidFill>
                <a:schemeClr val="tx1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/>
              <a:t>변수 수명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 b="1">
                <a:solidFill>
                  <a:srgbClr val="ff0000"/>
                </a:solidFill>
              </a:rPr>
              <a:t>전역</a:t>
            </a:r>
            <a:r>
              <a:rPr kumimoji="1" lang="en-US" altLang="ko-KR" b="1">
                <a:solidFill>
                  <a:srgbClr val="ff0000"/>
                </a:solidFill>
              </a:rPr>
              <a:t>/</a:t>
            </a:r>
            <a:r>
              <a:rPr kumimoji="1" lang="ko-KR" altLang="en-US" b="1">
                <a:solidFill>
                  <a:srgbClr val="ff0000"/>
                </a:solidFill>
              </a:rPr>
              <a:t>정적</a:t>
            </a:r>
            <a:r>
              <a:rPr kumimoji="1" lang="en-US" altLang="ko-KR" b="1">
                <a:solidFill>
                  <a:srgbClr val="ff0000"/>
                </a:solidFill>
              </a:rPr>
              <a:t>(static)</a:t>
            </a:r>
            <a:r>
              <a:rPr kumimoji="1" lang="ko-KR" altLang="en-US" b="1">
                <a:solidFill>
                  <a:srgbClr val="ff0000"/>
                </a:solidFill>
              </a:rPr>
              <a:t> 변수 </a:t>
            </a:r>
            <a:endParaRPr kumimoji="1" lang="ko-KR" altLang="en-US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kumimoji="1" lang="ko-KR" altLang="en-US" b="1">
                <a:solidFill>
                  <a:schemeClr val="accent1"/>
                </a:solidFill>
              </a:rPr>
              <a:t>실행 내내 살아있음</a:t>
            </a:r>
            <a:r>
              <a:rPr kumimoji="1" lang="en-US" altLang="ko-KR" b="1">
                <a:solidFill>
                  <a:schemeClr val="accent1"/>
                </a:solidFill>
              </a:rPr>
              <a:t>(</a:t>
            </a:r>
            <a:r>
              <a:rPr kumimoji="1" lang="ko-KR" altLang="en-US" b="1">
                <a:solidFill>
                  <a:schemeClr val="accent1"/>
                </a:solidFill>
              </a:rPr>
              <a:t>프로그램 시작부터 끝까지 상주</a:t>
            </a:r>
            <a:r>
              <a:rPr kumimoji="1" lang="en-US" altLang="ko-KR" b="1">
                <a:solidFill>
                  <a:schemeClr val="accent1"/>
                </a:solidFill>
              </a:rPr>
              <a:t>)</a:t>
            </a:r>
            <a:endParaRPr kumimoji="1" lang="en-US" altLang="ko-KR" b="1">
              <a:solidFill>
                <a:schemeClr val="accent1"/>
              </a:solidFill>
            </a:endParaRPr>
          </a:p>
          <a:p>
            <a:pPr lvl="1">
              <a:defRPr/>
            </a:pPr>
            <a:r>
              <a:rPr kumimoji="1" lang="ko-KR" altLang="en-US"/>
              <a:t>항상 </a:t>
            </a:r>
            <a:r>
              <a:rPr kumimoji="1" lang="en-US" altLang="ko-KR"/>
              <a:t>RAM</a:t>
            </a:r>
            <a:r>
              <a:rPr kumimoji="1" lang="ko-KR" altLang="en-US"/>
              <a:t>을 차지 </a:t>
            </a:r>
            <a:r>
              <a:rPr kumimoji="1" lang="en-US" altLang="ko-KR"/>
              <a:t>-&gt;</a:t>
            </a:r>
            <a:r>
              <a:rPr kumimoji="1" lang="ko-KR" altLang="en-US"/>
              <a:t> 고정 비용</a:t>
            </a:r>
            <a:endParaRPr kumimoji="1" lang="ko-KR" altLang="en-US"/>
          </a:p>
          <a:p>
            <a:pPr lvl="0">
              <a:defRPr/>
            </a:pPr>
            <a:r>
              <a:rPr kumimoji="1" lang="ko-KR" altLang="en-US" b="1">
                <a:solidFill>
                  <a:srgbClr val="ff0000"/>
                </a:solidFill>
              </a:rPr>
              <a:t>지역 변수</a:t>
            </a:r>
            <a:endParaRPr kumimoji="1" lang="ko-KR" altLang="en-US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kumimoji="1" lang="ko-KR" altLang="en-US" b="1">
                <a:solidFill>
                  <a:schemeClr val="accent1"/>
                </a:solidFill>
              </a:rPr>
              <a:t>수명</a:t>
            </a:r>
            <a:r>
              <a:rPr kumimoji="1" lang="en-US" altLang="ko-KR" b="1">
                <a:solidFill>
                  <a:schemeClr val="accent1"/>
                </a:solidFill>
              </a:rPr>
              <a:t>:</a:t>
            </a:r>
            <a:r>
              <a:rPr kumimoji="1" lang="ko-KR" altLang="en-US" b="1">
                <a:solidFill>
                  <a:schemeClr val="accent1"/>
                </a:solidFill>
              </a:rPr>
              <a:t> 함수 진입</a:t>
            </a:r>
            <a:r>
              <a:rPr kumimoji="1" lang="en-US" altLang="ko-KR" b="1">
                <a:solidFill>
                  <a:schemeClr val="accent1"/>
                </a:solidFill>
              </a:rPr>
              <a:t>~</a:t>
            </a:r>
            <a:r>
              <a:rPr kumimoji="1" lang="ko-KR" altLang="en-US" b="1">
                <a:solidFill>
                  <a:schemeClr val="accent1"/>
                </a:solidFill>
              </a:rPr>
              <a:t>복귀</a:t>
            </a:r>
            <a:endParaRPr kumimoji="1" lang="ko-KR" altLang="en-US" b="1">
              <a:solidFill>
                <a:schemeClr val="accent1"/>
              </a:solidFill>
            </a:endParaRPr>
          </a:p>
          <a:p>
            <a:pPr lvl="1">
              <a:defRPr/>
            </a:pPr>
            <a:r>
              <a:rPr kumimoji="1" lang="en-US" altLang="ko-KR"/>
              <a:t>stack</a:t>
            </a:r>
            <a:r>
              <a:rPr kumimoji="1" lang="ko-KR" altLang="en-US"/>
              <a:t>에 위치</a:t>
            </a:r>
            <a:endParaRPr kumimoji="1" lang="ko-KR" altLang="en-US"/>
          </a:p>
          <a:p>
            <a:pPr lvl="0">
              <a:defRPr/>
            </a:pPr>
            <a:r>
              <a:rPr kumimoji="1" lang="en-US" altLang="ko-KR"/>
              <a:t>const</a:t>
            </a:r>
            <a:endParaRPr kumimoji="1" lang="en-US" altLang="ko-KR"/>
          </a:p>
          <a:p>
            <a:pPr lvl="1">
              <a:defRPr/>
            </a:pPr>
            <a:r>
              <a:rPr kumimoji="1" lang="ko-KR" altLang="en-US"/>
              <a:t>자동으로 </a:t>
            </a:r>
            <a:r>
              <a:rPr kumimoji="1" lang="en-US" altLang="ko-KR"/>
              <a:t>ROM</a:t>
            </a:r>
            <a:r>
              <a:rPr kumimoji="1" lang="ko-KR" altLang="en-US"/>
              <a:t> 배치되는건 아님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지역 </a:t>
            </a:r>
            <a:r>
              <a:rPr kumimoji="1" lang="en-US" altLang="ko-KR"/>
              <a:t>const</a:t>
            </a:r>
            <a:r>
              <a:rPr kumimoji="1" lang="ko-KR" altLang="en-US"/>
              <a:t>는 지역 변수로 취급</a:t>
            </a:r>
            <a:r>
              <a:rPr kumimoji="1" lang="en-US" altLang="ko-KR"/>
              <a:t>(stack</a:t>
            </a:r>
            <a:r>
              <a:rPr kumimoji="1" lang="ko-KR" altLang="en-US"/>
              <a:t>에 쌓임</a:t>
            </a:r>
            <a:r>
              <a:rPr kumimoji="1" lang="en-US" altLang="ko-KR"/>
              <a:t>)</a:t>
            </a:r>
            <a:endParaRPr kumimoji="1" lang="en-US" altLang="ko-KR"/>
          </a:p>
          <a:p>
            <a:pPr lvl="1">
              <a:defRPr/>
            </a:pPr>
            <a:r>
              <a:rPr kumimoji="1" lang="ko-KR" altLang="en-US"/>
              <a:t>상수</a:t>
            </a:r>
            <a:r>
              <a:rPr kumimoji="1" lang="en-US" altLang="ko-KR"/>
              <a:t>(</a:t>
            </a:r>
            <a:r>
              <a:rPr kumimoji="1" lang="ko-KR" altLang="en-US"/>
              <a:t>큰 테이블이나 파라미터</a:t>
            </a:r>
            <a:r>
              <a:rPr kumimoji="1" lang="en-US" altLang="ko-KR"/>
              <a:t>)</a:t>
            </a:r>
            <a:r>
              <a:rPr kumimoji="1" lang="ko-KR" altLang="en-US"/>
              <a:t>는 전역</a:t>
            </a:r>
            <a:r>
              <a:rPr kumimoji="1" lang="en-US" altLang="ko-KR"/>
              <a:t>/</a:t>
            </a:r>
            <a:r>
              <a:rPr kumimoji="1" lang="ko-KR" altLang="en-US"/>
              <a:t>정적으로 두고 </a:t>
            </a:r>
            <a:r>
              <a:rPr kumimoji="1" lang="en-US" altLang="ko-KR"/>
              <a:t>const</a:t>
            </a:r>
            <a:r>
              <a:rPr kumimoji="1" lang="ko-KR" altLang="en-US"/>
              <a:t> 붙혀야 </a:t>
            </a:r>
            <a:r>
              <a:rPr kumimoji="1" lang="en-US" altLang="ko-KR"/>
              <a:t>RAM</a:t>
            </a:r>
            <a:r>
              <a:rPr kumimoji="1" lang="ko-KR" altLang="en-US"/>
              <a:t> 절약</a:t>
            </a:r>
            <a:endParaRPr kumimoji="1" lang="ko-KR" altLang="en-US"/>
          </a:p>
          <a:p>
            <a:pPr lvl="1">
              <a:defRPr/>
            </a:pPr>
            <a:endParaRPr kumimoji="1"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ore-KR"/>
              <a:t>Stack &amp; Heap</a:t>
            </a:r>
            <a:endParaRPr kumimoji="1" lang="ko-Kore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ore-KR" b="1">
                <a:solidFill>
                  <a:srgbClr val="ff0000"/>
                </a:solidFill>
              </a:rPr>
              <a:t>Stack: </a:t>
            </a:r>
            <a:r>
              <a:rPr kumimoji="1" lang="ko-KR" altLang="en-US" b="1">
                <a:solidFill>
                  <a:srgbClr val="ff0000"/>
                </a:solidFill>
              </a:rPr>
              <a:t>호출 경로에 따라 누적되는 메모리</a:t>
            </a:r>
            <a:endParaRPr kumimoji="1" lang="ko-KR" altLang="en-US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kumimoji="1" lang="ko-KR" altLang="en-US"/>
              <a:t>구성</a:t>
            </a:r>
            <a:r>
              <a:rPr kumimoji="1" lang="en-US" altLang="ko-KR"/>
              <a:t>:</a:t>
            </a:r>
            <a:r>
              <a:rPr kumimoji="1" lang="ko-KR" altLang="en-US"/>
              <a:t> </a:t>
            </a:r>
            <a:r>
              <a:rPr kumimoji="1" lang="en-US" altLang="ko-KR"/>
              <a:t>return addr / saved regs / locals / spill / alignment</a:t>
            </a:r>
            <a:endParaRPr kumimoji="1" lang="en-US" altLang="ko-KR"/>
          </a:p>
          <a:p>
            <a:pPr lvl="1">
              <a:defRPr/>
            </a:pPr>
            <a:r>
              <a:rPr kumimoji="1" lang="en-US" altLang="ko-KR"/>
              <a:t>peak</a:t>
            </a:r>
            <a:r>
              <a:rPr kumimoji="1" lang="ko-KR" altLang="en-US"/>
              <a:t> 요인</a:t>
            </a:r>
            <a:r>
              <a:rPr kumimoji="1" lang="en-US" altLang="ko-KR"/>
              <a:t>:</a:t>
            </a:r>
            <a:r>
              <a:rPr kumimoji="1" lang="ko-KR" altLang="en-US"/>
              <a:t> 큰 지역 변수</a:t>
            </a:r>
            <a:r>
              <a:rPr kumimoji="1" lang="en-US" altLang="ko-KR"/>
              <a:t>(</a:t>
            </a:r>
            <a:r>
              <a:rPr kumimoji="1" lang="ko-KR" altLang="en-US"/>
              <a:t>배열</a:t>
            </a:r>
            <a:r>
              <a:rPr kumimoji="1" lang="en-US" altLang="ko-KR"/>
              <a:t>),</a:t>
            </a:r>
            <a:r>
              <a:rPr kumimoji="1" lang="ko-KR" altLang="en-US"/>
              <a:t> 콜 체인 깊이</a:t>
            </a:r>
            <a:r>
              <a:rPr kumimoji="1" lang="en-US" altLang="ko-KR"/>
              <a:t>,</a:t>
            </a:r>
            <a:r>
              <a:rPr kumimoji="1" lang="ko-KR" altLang="en-US"/>
              <a:t> 재귀</a:t>
            </a:r>
            <a:r>
              <a:rPr kumimoji="1" lang="en-US" altLang="ko-KR"/>
              <a:t>,</a:t>
            </a:r>
            <a:r>
              <a:rPr kumimoji="1" lang="ko-KR" altLang="en-US"/>
              <a:t> 인터럽트 중첩 등</a:t>
            </a:r>
            <a:endParaRPr kumimoji="1" lang="ko-KR" altLang="en-US"/>
          </a:p>
          <a:p>
            <a:pPr lvl="1">
              <a:defRPr/>
            </a:pPr>
            <a:r>
              <a:rPr kumimoji="1" lang="en-US" altLang="ko-KR"/>
              <a:t>stack</a:t>
            </a:r>
            <a:r>
              <a:rPr kumimoji="1" lang="ko-KR" altLang="en-US"/>
              <a:t>이 </a:t>
            </a:r>
            <a:r>
              <a:rPr kumimoji="1" lang="en-US" altLang="ko-KR"/>
              <a:t>RAM </a:t>
            </a:r>
            <a:r>
              <a:rPr kumimoji="1" lang="ko-KR" altLang="en-US"/>
              <a:t>한도 초과 시 즉시 프로그램 실패</a:t>
            </a:r>
            <a:endParaRPr kumimoji="1" lang="ko-KR" altLang="en-US"/>
          </a:p>
          <a:p>
            <a:pPr lvl="0">
              <a:defRPr/>
            </a:pPr>
            <a:r>
              <a:rPr kumimoji="1" lang="en-US" altLang="ko-Kore-KR" b="1">
                <a:solidFill>
                  <a:srgbClr val="ff0000"/>
                </a:solidFill>
              </a:rPr>
              <a:t>Heap: </a:t>
            </a:r>
            <a:r>
              <a:rPr kumimoji="1" lang="ko-KR" altLang="en-US" b="1">
                <a:solidFill>
                  <a:srgbClr val="ff0000"/>
                </a:solidFill>
              </a:rPr>
              <a:t>동적 할당</a:t>
            </a:r>
            <a:r>
              <a:rPr kumimoji="1" lang="en-US" altLang="ko-KR" b="1">
                <a:solidFill>
                  <a:srgbClr val="ff0000"/>
                </a:solidFill>
              </a:rPr>
              <a:t>(malloc</a:t>
            </a:r>
            <a:r>
              <a:rPr kumimoji="1" lang="ko-KR" altLang="en-US" b="1">
                <a:solidFill>
                  <a:srgbClr val="ff0000"/>
                </a:solidFill>
              </a:rPr>
              <a:t>류</a:t>
            </a:r>
            <a:r>
              <a:rPr kumimoji="1" lang="en-US" altLang="ko-KR" b="1">
                <a:solidFill>
                  <a:srgbClr val="ff0000"/>
                </a:solidFill>
              </a:rPr>
              <a:t>/free)</a:t>
            </a:r>
            <a:endParaRPr kumimoji="1" lang="en-US" altLang="ko-KR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kumimoji="1" lang="en-US" altLang="ko-KR"/>
              <a:t>malloc, realloc, calloc</a:t>
            </a:r>
            <a:r>
              <a:rPr kumimoji="1" lang="ko-KR" altLang="en-US"/>
              <a:t> 등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프로그램 실행 중 필요한 만큼 메모리를 동적으로 할당받고 해제하는 함수들</a:t>
            </a:r>
            <a:endParaRPr kumimoji="1" lang="ko-KR" altLang="en-US"/>
          </a:p>
          <a:p>
            <a:pPr lvl="0">
              <a:defRPr/>
            </a:pPr>
            <a:r>
              <a:rPr kumimoji="1" lang="en-US" altLang="ko-KR"/>
              <a:t>PQC</a:t>
            </a:r>
            <a:r>
              <a:rPr kumimoji="1" lang="ko-KR" altLang="en-US"/>
              <a:t>에서 </a:t>
            </a:r>
            <a:r>
              <a:rPr kumimoji="1" lang="en-US" altLang="ko-KR"/>
              <a:t>Heap</a:t>
            </a:r>
            <a:r>
              <a:rPr kumimoji="1" lang="ko-KR" altLang="en-US"/>
              <a:t>을 잘 안쓰는 이유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상수시간 리스크 </a:t>
            </a:r>
            <a:r>
              <a:rPr kumimoji="1" lang="en-US" altLang="ko-KR"/>
              <a:t>-&gt;</a:t>
            </a:r>
            <a:r>
              <a:rPr kumimoji="1" lang="ko-KR" altLang="en-US"/>
              <a:t> 타이밍 공격에 취약함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포팅 이슈 </a:t>
            </a:r>
            <a:r>
              <a:rPr kumimoji="1" lang="en-US" altLang="ko-KR"/>
              <a:t>-&gt;</a:t>
            </a:r>
            <a:r>
              <a:rPr kumimoji="1" lang="ko-KR" altLang="en-US"/>
              <a:t> 동적 할당은 </a:t>
            </a:r>
            <a:r>
              <a:rPr kumimoji="1" lang="en-US" altLang="ko-KR"/>
              <a:t>OS</a:t>
            </a:r>
            <a:r>
              <a:rPr kumimoji="1" lang="ko-KR" altLang="en-US"/>
              <a:t>에서 제어하는데</a:t>
            </a:r>
            <a:r>
              <a:rPr kumimoji="1" lang="en-US" altLang="ko-KR"/>
              <a:t>,</a:t>
            </a:r>
            <a:r>
              <a:rPr kumimoji="1" lang="ko-KR" altLang="en-US"/>
              <a:t> 임베디드 기기는 </a:t>
            </a:r>
            <a:r>
              <a:rPr kumimoji="1" lang="en-US" altLang="ko-KR"/>
              <a:t>OS</a:t>
            </a:r>
            <a:r>
              <a:rPr kumimoji="1" lang="ko-KR" altLang="en-US"/>
              <a:t>가 없음</a:t>
            </a:r>
            <a:endParaRPr kumimoji="1" lang="ko-KR" altLang="en-US"/>
          </a:p>
          <a:p>
            <a:pPr lvl="2">
              <a:defRPr/>
            </a:pPr>
            <a:r>
              <a:rPr kumimoji="1" lang="ko-KR" altLang="en-US"/>
              <a:t>동일한 코드가 플랫폼에 따라 빌드 실패 및 동작 불능할 가능성이 높음</a:t>
            </a:r>
            <a:endParaRPr kumimoji="1" lang="ko-KR" altLang="en-US"/>
          </a:p>
          <a:p>
            <a:pPr lvl="0">
              <a:defRPr/>
            </a:pPr>
            <a:r>
              <a:rPr kumimoji="1" lang="ko-KR" altLang="en-US"/>
              <a:t>예외적으로 </a:t>
            </a:r>
            <a:r>
              <a:rPr kumimoji="1" lang="en-US" altLang="ko-KR"/>
              <a:t>FALCON</a:t>
            </a:r>
            <a:r>
              <a:rPr kumimoji="1" lang="ko-KR" altLang="en-US"/>
              <a:t>같은 알고리즘은 </a:t>
            </a:r>
            <a:r>
              <a:rPr kumimoji="1" lang="en-US" altLang="ko-KR"/>
              <a:t>Heap</a:t>
            </a:r>
            <a:r>
              <a:rPr kumimoji="1" lang="ko-KR" altLang="en-US"/>
              <a:t>을 사용하긴 함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구조 상 </a:t>
            </a:r>
            <a:r>
              <a:rPr kumimoji="1" lang="en-US" altLang="ko-KR"/>
              <a:t>stack</a:t>
            </a:r>
            <a:r>
              <a:rPr kumimoji="1" lang="ko-KR" altLang="en-US"/>
              <a:t>에 큰 버퍼를 두기 어려운 경우 사용하기도 함</a:t>
            </a:r>
            <a:endParaRPr kumimoji="1"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kumimoji="1" lang="en-US" altLang="ko-Kore-KR"/>
              <a:t>ROM</a:t>
            </a:r>
            <a:r>
              <a:rPr kumimoji="1" lang="ko-KR" altLang="en-US"/>
              <a:t> 최적화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 b="1">
                <a:solidFill>
                  <a:srgbClr val="ff0000"/>
                </a:solidFill>
              </a:rPr>
              <a:t>대부분은 </a:t>
            </a:r>
            <a:r>
              <a:rPr kumimoji="1" lang="en-US" altLang="ko-KR" b="1">
                <a:solidFill>
                  <a:srgbClr val="ff0000"/>
                </a:solidFill>
              </a:rPr>
              <a:t>RAM peak</a:t>
            </a:r>
            <a:r>
              <a:rPr kumimoji="1" lang="ko-KR" altLang="en-US" b="1">
                <a:solidFill>
                  <a:srgbClr val="ff0000"/>
                </a:solidFill>
              </a:rPr>
              <a:t>가 </a:t>
            </a:r>
            <a:r>
              <a:rPr kumimoji="1" lang="en-US" altLang="ko-KR" b="1">
                <a:solidFill>
                  <a:srgbClr val="ff0000"/>
                </a:solidFill>
              </a:rPr>
              <a:t>1</a:t>
            </a:r>
            <a:r>
              <a:rPr kumimoji="1" lang="ko-KR" altLang="en-US" b="1">
                <a:solidFill>
                  <a:srgbClr val="ff0000"/>
                </a:solidFill>
              </a:rPr>
              <a:t>순위</a:t>
            </a:r>
            <a:r>
              <a:rPr kumimoji="1" lang="en-US" altLang="ko-KR" b="1">
                <a:solidFill>
                  <a:srgbClr val="ff0000"/>
                </a:solidFill>
              </a:rPr>
              <a:t>,</a:t>
            </a:r>
            <a:r>
              <a:rPr kumimoji="1" lang="ko-KR" altLang="en-US" b="1">
                <a:solidFill>
                  <a:srgbClr val="ff0000"/>
                </a:solidFill>
              </a:rPr>
              <a:t> </a:t>
            </a:r>
            <a:r>
              <a:rPr kumimoji="1" lang="en-US" altLang="ko-KR" b="1">
                <a:solidFill>
                  <a:srgbClr val="ff0000"/>
                </a:solidFill>
              </a:rPr>
              <a:t>ROM</a:t>
            </a:r>
            <a:r>
              <a:rPr kumimoji="1" lang="ko-KR" altLang="en-US" b="1">
                <a:solidFill>
                  <a:srgbClr val="ff0000"/>
                </a:solidFill>
              </a:rPr>
              <a:t>은 </a:t>
            </a:r>
            <a:r>
              <a:rPr kumimoji="1" lang="en-US" altLang="ko-KR" b="1">
                <a:solidFill>
                  <a:srgbClr val="ff0000"/>
                </a:solidFill>
              </a:rPr>
              <a:t>2</a:t>
            </a:r>
            <a:r>
              <a:rPr kumimoji="1" lang="ko-KR" altLang="en-US" b="1">
                <a:solidFill>
                  <a:srgbClr val="ff0000"/>
                </a:solidFill>
              </a:rPr>
              <a:t>순위나 </a:t>
            </a:r>
            <a:r>
              <a:rPr kumimoji="1" lang="en-US" altLang="ko-KR" b="1">
                <a:solidFill>
                  <a:srgbClr val="ff0000"/>
                </a:solidFill>
              </a:rPr>
              <a:t>3</a:t>
            </a:r>
            <a:r>
              <a:rPr kumimoji="1" lang="ko-KR" altLang="en-US" b="1">
                <a:solidFill>
                  <a:srgbClr val="ff0000"/>
                </a:solidFill>
              </a:rPr>
              <a:t>순위</a:t>
            </a:r>
            <a:endParaRPr kumimoji="1" lang="ko-KR" altLang="en-US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kumimoji="1" lang="ko-KR" altLang="en-US"/>
              <a:t>특수한 상황에서만 최적화가 필요</a:t>
            </a:r>
            <a:endParaRPr kumimoji="1" lang="ko-KR" altLang="en-US"/>
          </a:p>
          <a:p>
            <a:pPr lvl="1">
              <a:defRPr/>
            </a:pPr>
            <a:r>
              <a:rPr kumimoji="1" lang="en-US" altLang="ko-KR"/>
              <a:t>Flash</a:t>
            </a:r>
            <a:r>
              <a:rPr kumimoji="1" lang="ko-KR" altLang="en-US"/>
              <a:t>가 작은 타겟에서 알고리즘 여러개를 올려야 할 경우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큰 상수 테이블이</a:t>
            </a:r>
            <a:r>
              <a:rPr kumimoji="1" lang="en-US" altLang="ko-KR"/>
              <a:t>(zetas/NTT</a:t>
            </a:r>
            <a:r>
              <a:rPr kumimoji="1" lang="ko-KR" altLang="en-US"/>
              <a:t> 상수</a:t>
            </a:r>
            <a:r>
              <a:rPr kumimoji="1" lang="en-US" altLang="ko-KR"/>
              <a:t>,</a:t>
            </a:r>
            <a:r>
              <a:rPr kumimoji="1" lang="ko-KR" altLang="en-US"/>
              <a:t> 사전계산 테이블 등</a:t>
            </a:r>
            <a:r>
              <a:rPr kumimoji="1" lang="en-US" altLang="ko-KR"/>
              <a:t>)</a:t>
            </a:r>
            <a:r>
              <a:rPr kumimoji="1" lang="ko-KR" altLang="en-US"/>
              <a:t> 상당히 많을 경우</a:t>
            </a:r>
            <a:endParaRPr kumimoji="1" lang="ko-KR" altLang="en-US"/>
          </a:p>
          <a:p>
            <a:pPr lvl="0">
              <a:defRPr/>
            </a:pPr>
            <a:r>
              <a:rPr kumimoji="1" lang="en-US" altLang="ko-KR"/>
              <a:t>ROM</a:t>
            </a:r>
            <a:r>
              <a:rPr kumimoji="1" lang="ko-KR" altLang="en-US"/>
              <a:t>이 커지는 대표적인 상황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큰 </a:t>
            </a:r>
            <a:r>
              <a:rPr kumimoji="1" lang="en-US" altLang="ko-KR"/>
              <a:t>cosnt</a:t>
            </a:r>
            <a:r>
              <a:rPr kumimoji="1" lang="ko-KR" altLang="en-US"/>
              <a:t> 테이블이 다수</a:t>
            </a:r>
            <a:endParaRPr kumimoji="1" lang="ko-KR" altLang="en-US"/>
          </a:p>
          <a:p>
            <a:pPr lvl="1">
              <a:defRPr/>
            </a:pPr>
            <a:r>
              <a:rPr kumimoji="1" lang="ko-KR" altLang="en-US"/>
              <a:t>동일 기능이 여러번 구현되었을 경우</a:t>
            </a:r>
            <a:r>
              <a:rPr kumimoji="1" lang="en-US" altLang="ko-KR"/>
              <a:t>(SHAKE, AES </a:t>
            </a:r>
            <a:r>
              <a:rPr kumimoji="1" lang="ko-KR" altLang="en-US"/>
              <a:t>등의 중복 구현</a:t>
            </a:r>
            <a:r>
              <a:rPr kumimoji="1" lang="en-US" altLang="ko-KR"/>
              <a:t>)</a:t>
            </a:r>
            <a:endParaRPr kumimoji="1" lang="en-US" altLang="ko-KR"/>
          </a:p>
          <a:p>
            <a:pPr lvl="0">
              <a:defRPr/>
            </a:pPr>
            <a:r>
              <a:rPr kumimoji="1" lang="ko-KR" altLang="en-US" b="1">
                <a:solidFill>
                  <a:srgbClr val="ff0000"/>
                </a:solidFill>
              </a:rPr>
              <a:t>보통의 메모리 최적 구현 연구는 </a:t>
            </a:r>
            <a:r>
              <a:rPr kumimoji="1" lang="en-US" altLang="ko-KR" b="1">
                <a:solidFill>
                  <a:srgbClr val="ff0000"/>
                </a:solidFill>
              </a:rPr>
              <a:t>RAM peak</a:t>
            </a:r>
            <a:r>
              <a:rPr kumimoji="1" lang="ko-KR" altLang="en-US" b="1">
                <a:solidFill>
                  <a:srgbClr val="ff0000"/>
                </a:solidFill>
              </a:rPr>
              <a:t>만 다룸</a:t>
            </a:r>
            <a:endParaRPr kumimoji="1" lang="ko-KR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HAETAE </a:t>
            </a:r>
            <a:r>
              <a:rPr lang="ko-KR" altLang="en-US"/>
              <a:t>개요</a:t>
            </a:r>
            <a:endParaRPr lang="ko-KR" altLang="en-US"/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b="1">
                <a:solidFill>
                  <a:srgbClr val="ff0000"/>
                </a:solidFill>
              </a:rPr>
              <a:t>HAETAE: </a:t>
            </a:r>
            <a:r>
              <a:rPr lang="ko-KR" altLang="en-US" b="1">
                <a:solidFill>
                  <a:srgbClr val="ff0000"/>
                </a:solidFill>
              </a:rPr>
              <a:t>격자기반</a:t>
            </a:r>
            <a:r>
              <a:rPr lang="en-US" altLang="ko-KR" b="1">
                <a:solidFill>
                  <a:srgbClr val="ff0000"/>
                </a:solidFill>
              </a:rPr>
              <a:t>(DSA)</a:t>
            </a:r>
            <a:r>
              <a:rPr lang="ko-KR" altLang="en-US" b="1">
                <a:solidFill>
                  <a:srgbClr val="ff0000"/>
                </a:solidFill>
              </a:rPr>
              <a:t> 전자서명 알고리즘</a:t>
            </a:r>
            <a:endParaRPr lang="ko-KR" altLang="en-US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b="1">
                <a:solidFill>
                  <a:schemeClr val="accent1"/>
                </a:solidFill>
              </a:rPr>
              <a:t>module lattice </a:t>
            </a:r>
            <a:r>
              <a:rPr lang="ko-KR" altLang="en-US" b="1">
                <a:solidFill>
                  <a:schemeClr val="accent1"/>
                </a:solidFill>
              </a:rPr>
              <a:t>기반</a:t>
            </a:r>
            <a:endParaRPr lang="ko-KR" altLang="en-US" b="1">
              <a:solidFill>
                <a:schemeClr val="accent1"/>
              </a:solidFill>
            </a:endParaRPr>
          </a:p>
          <a:p>
            <a:pPr lvl="1">
              <a:defRPr/>
            </a:pPr>
            <a:r>
              <a:rPr lang="ko-KR" altLang="en-US"/>
              <a:t>구체적으로는 </a:t>
            </a:r>
            <a:r>
              <a:rPr lang="en-US" altLang="ko-KR"/>
              <a:t>Module-LWE / Module-SIS </a:t>
            </a:r>
            <a:r>
              <a:rPr lang="ko-KR" altLang="en-US"/>
              <a:t>계열 </a:t>
            </a:r>
            <a:r>
              <a:rPr lang="en-US" altLang="ko-KR"/>
              <a:t>lattice</a:t>
            </a:r>
            <a:r>
              <a:rPr lang="ko-KR" altLang="en-US"/>
              <a:t> 기반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Fiat-Shamir with Aborts</a:t>
            </a:r>
            <a:r>
              <a:rPr lang="ko-KR" altLang="en-US"/>
              <a:t> 패러다임을 따름</a:t>
            </a:r>
            <a:r>
              <a:rPr lang="en-US" altLang="ko-KR"/>
              <a:t>(Dilithium</a:t>
            </a:r>
            <a:r>
              <a:rPr lang="ko-KR" altLang="en-US"/>
              <a:t>과 같음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Dilithium</a:t>
            </a:r>
            <a:r>
              <a:rPr lang="ko-KR" altLang="en-US"/>
              <a:t>보다 서명 길이와 키 크기가 작음</a:t>
            </a:r>
            <a:r>
              <a:rPr lang="en-US" altLang="ko-KR"/>
              <a:t>(25~40%</a:t>
            </a:r>
            <a:r>
              <a:rPr lang="ko-KR" altLang="en-US"/>
              <a:t> 감소</a:t>
            </a:r>
            <a:r>
              <a:rPr lang="en-US" altLang="ko-KR"/>
              <a:t>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동일한 보안 강도에서 좀 더 컴팩트한 알고리즘을 만들고자 설계됨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공간 제약이 큰 환경에 적용을 염두에 두고 설계</a:t>
            </a:r>
            <a:r>
              <a:rPr lang="en-US" altLang="ko-KR"/>
              <a:t>(</a:t>
            </a:r>
            <a:r>
              <a:rPr lang="ko-KR" altLang="en-US"/>
              <a:t>통신 등에 적용 시 이점 있음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r>
              <a:rPr lang="ko-KR" altLang="en-US"/>
              <a:t>파라미터 세트 </a:t>
            </a:r>
            <a:r>
              <a:rPr lang="en-US" altLang="ko-KR"/>
              <a:t>3</a:t>
            </a:r>
            <a:r>
              <a:rPr lang="ko-KR" altLang="en-US"/>
              <a:t>개 존재</a:t>
            </a:r>
            <a:r>
              <a:rPr lang="en-US" altLang="ko-KR"/>
              <a:t>(HAETAE-2,3,5)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파라미터 세트에 따라서 보안 강도 설정 가능</a:t>
            </a:r>
            <a:r>
              <a:rPr lang="en-US" altLang="ko-KR"/>
              <a:t>(5</a:t>
            </a:r>
            <a:r>
              <a:rPr lang="ko-KR" altLang="en-US"/>
              <a:t>가 가장 강력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59293" y="0"/>
            <a:ext cx="3332706" cy="1199244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3875" y="5086116"/>
            <a:ext cx="6976793" cy="1771884"/>
          </a:xfrm>
          <a:prstGeom prst="rect">
            <a:avLst/>
          </a:prstGeom>
        </p:spPr>
      </p:pic>
      <p:grpSp>
        <p:nvGrpSpPr>
          <p:cNvPr id="8" name=""/>
          <p:cNvGrpSpPr/>
          <p:nvPr/>
        </p:nvGrpSpPr>
        <p:grpSpPr>
          <a:xfrm rot="0">
            <a:off x="7521449" y="5045663"/>
            <a:ext cx="4299078" cy="1812337"/>
            <a:chOff x="7664322" y="5390945"/>
            <a:chExt cx="3810922" cy="1467056"/>
          </a:xfrm>
        </p:grpSpPr>
        <p:pic>
          <p:nvPicPr>
            <p:cNvPr id="6" name=""/>
            <p:cNvPicPr>
              <a:picLocks noChangeAspect="1"/>
            </p:cNvPicPr>
            <p:nvPr/>
          </p:nvPicPr>
          <p:blipFill rotWithShape="1">
            <a:blip r:embed="rId4"/>
            <a:srcRect r="77080"/>
            <a:stretch>
              <a:fillRect/>
            </a:stretch>
          </p:blipFill>
          <p:spPr>
            <a:xfrm>
              <a:off x="7664322" y="5390946"/>
              <a:ext cx="1515397" cy="1467054"/>
            </a:xfrm>
            <a:prstGeom prst="rect">
              <a:avLst/>
            </a:prstGeom>
          </p:spPr>
        </p:pic>
        <p:pic>
          <p:nvPicPr>
            <p:cNvPr id="7" name=""/>
            <p:cNvPicPr>
              <a:picLocks noChangeAspect="1"/>
            </p:cNvPicPr>
            <p:nvPr/>
          </p:nvPicPr>
          <p:blipFill rotWithShape="1">
            <a:blip r:embed="rId5"/>
            <a:srcRect l="64830"/>
            <a:stretch>
              <a:fillRect/>
            </a:stretch>
          </p:blipFill>
          <p:spPr>
            <a:xfrm>
              <a:off x="9150223" y="5390945"/>
              <a:ext cx="2325022" cy="146705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전자서명</a:t>
            </a:r>
            <a:r>
              <a:rPr lang="en-US" altLang="ko-KR"/>
              <a:t>(DSA)</a:t>
            </a:r>
            <a:endParaRPr lang="en-US" altLang="ko-KR"/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b="1">
                <a:solidFill>
                  <a:srgbClr val="ff0000"/>
                </a:solidFill>
              </a:rPr>
              <a:t>전자서명</a:t>
            </a:r>
            <a:r>
              <a:rPr lang="en-US" altLang="ko-KR" b="1">
                <a:solidFill>
                  <a:srgbClr val="ff0000"/>
                </a:solidFill>
              </a:rPr>
              <a:t>:</a:t>
            </a:r>
            <a:r>
              <a:rPr lang="ko-KR" altLang="en-US" b="1">
                <a:solidFill>
                  <a:srgbClr val="ff0000"/>
                </a:solidFill>
              </a:rPr>
              <a:t> 데이터 전송 시 위변조 방지</a:t>
            </a:r>
            <a:endParaRPr lang="ko-KR" altLang="en-US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/>
              <a:t>누가 서명했는지를 공개키로 검증 </a:t>
            </a:r>
            <a:r>
              <a:rPr lang="en-US" altLang="ko-KR"/>
              <a:t>-&gt;</a:t>
            </a:r>
            <a:r>
              <a:rPr lang="ko-KR" altLang="en-US"/>
              <a:t> 서명자 인증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부인 방지 가능</a:t>
            </a:r>
            <a:r>
              <a:rPr lang="en-US" altLang="ko-KR"/>
              <a:t>(</a:t>
            </a:r>
            <a:r>
              <a:rPr lang="ko-KR" altLang="en-US"/>
              <a:t>서명자가 나중에 내가 한게 아니라고 주장할 수 없음</a:t>
            </a:r>
            <a:r>
              <a:rPr lang="en-US" altLang="ko-KR"/>
              <a:t>)</a:t>
            </a:r>
            <a:endParaRPr lang="en-US" altLang="ko-KR"/>
          </a:p>
          <a:p>
            <a:pPr lvl="1">
              <a:defRPr/>
            </a:pPr>
            <a:r>
              <a:rPr lang="ko-KR" altLang="en-US" b="1">
                <a:solidFill>
                  <a:schemeClr val="accent1"/>
                </a:solidFill>
              </a:rPr>
              <a:t>쉽게 말해서</a:t>
            </a:r>
            <a:r>
              <a:rPr lang="en-US" altLang="ko-KR" b="1">
                <a:solidFill>
                  <a:schemeClr val="accent1"/>
                </a:solidFill>
              </a:rPr>
              <a:t>,</a:t>
            </a:r>
            <a:r>
              <a:rPr lang="ko-KR" altLang="en-US" b="1">
                <a:solidFill>
                  <a:schemeClr val="accent1"/>
                </a:solidFill>
              </a:rPr>
              <a:t> </a:t>
            </a:r>
            <a:r>
              <a:rPr lang="en-US" altLang="ko-KR" b="1">
                <a:solidFill>
                  <a:schemeClr val="accent1"/>
                </a:solidFill>
              </a:rPr>
              <a:t>파일/메시지에 “디지털 도장”을 찍고(Sign), </a:t>
            </a:r>
            <a:r>
              <a:rPr lang="ko-KR" altLang="en-US" b="1">
                <a:solidFill>
                  <a:schemeClr val="accent1"/>
                </a:solidFill>
              </a:rPr>
              <a:t>			</a:t>
            </a:r>
            <a:r>
              <a:rPr lang="en-US" altLang="ko-KR" b="1">
                <a:solidFill>
                  <a:schemeClr val="accent1"/>
                </a:solidFill>
              </a:rPr>
              <a:t>다른 사람이 그 도장이 진짜인지 확인(Verify)하게 해줌</a:t>
            </a:r>
            <a:endParaRPr lang="en-US" altLang="ko-KR" b="1">
              <a:solidFill>
                <a:schemeClr val="accent1"/>
              </a:solidFill>
            </a:endParaRPr>
          </a:p>
          <a:p>
            <a:pPr lvl="0">
              <a:defRPr/>
            </a:pPr>
            <a:r>
              <a:rPr lang="ko-KR" altLang="en-US">
                <a:solidFill>
                  <a:schemeClr val="dk1"/>
                </a:solidFill>
              </a:rPr>
              <a:t> 전자서명 핵심 구성 요소 </a:t>
            </a:r>
            <a:r>
              <a:rPr lang="en-US" altLang="ko-KR">
                <a:solidFill>
                  <a:schemeClr val="dk1"/>
                </a:solidFill>
              </a:rPr>
              <a:t>3</a:t>
            </a:r>
            <a:r>
              <a:rPr lang="ko-KR" altLang="en-US">
                <a:solidFill>
                  <a:schemeClr val="dk1"/>
                </a:solidFill>
              </a:rPr>
              <a:t>가지</a:t>
            </a:r>
            <a:endParaRPr lang="ko-KR" altLang="en-US">
              <a:solidFill>
                <a:schemeClr val="dk1"/>
              </a:solidFill>
            </a:endParaRPr>
          </a:p>
          <a:p>
            <a:pPr lvl="1">
              <a:defRPr/>
            </a:pPr>
            <a:r>
              <a:rPr lang="ko-KR" altLang="en-US"/>
              <a:t>공개키</a:t>
            </a:r>
            <a:r>
              <a:rPr lang="en-US" altLang="ko-KR"/>
              <a:t>(pk): </a:t>
            </a:r>
            <a:r>
              <a:rPr lang="ko-KR" altLang="en-US"/>
              <a:t>누구에게나 공개된 키</a:t>
            </a:r>
            <a:r>
              <a:rPr lang="en-US" altLang="ko-KR"/>
              <a:t>(</a:t>
            </a:r>
            <a:r>
              <a:rPr lang="ko-KR" altLang="en-US"/>
              <a:t>검증할때 사용</a:t>
            </a:r>
            <a:r>
              <a:rPr lang="en-US" altLang="ko-KR"/>
              <a:t>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개인키</a:t>
            </a:r>
            <a:r>
              <a:rPr lang="en-US" altLang="ko-KR"/>
              <a:t>(sk): </a:t>
            </a:r>
            <a:r>
              <a:rPr lang="ko-KR" altLang="en-US"/>
              <a:t>서명자만 보관</a:t>
            </a:r>
            <a:r>
              <a:rPr lang="en-US" altLang="ko-KR"/>
              <a:t>(</a:t>
            </a:r>
            <a:r>
              <a:rPr lang="ko-KR" altLang="en-US"/>
              <a:t>서명 생성할 때 사용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서명</a:t>
            </a:r>
            <a:r>
              <a:rPr lang="en-US" altLang="ko-KR"/>
              <a:t>(sign): </a:t>
            </a:r>
            <a:r>
              <a:rPr lang="ko-KR" altLang="en-US"/>
              <a:t>어떠한 메시지에 대한 증명값</a:t>
            </a:r>
            <a:endParaRPr lang="ko-KR" altLang="en-US"/>
          </a:p>
          <a:p>
            <a:pPr lvl="0">
              <a:defRPr/>
            </a:pPr>
            <a:r>
              <a:rPr lang="ko-KR" altLang="en-US" b="1">
                <a:solidFill>
                  <a:srgbClr val="ff0000"/>
                </a:solidFill>
              </a:rPr>
              <a:t>전자서명은 </a:t>
            </a:r>
            <a:r>
              <a:rPr lang="en-US" altLang="ko-KR" b="1">
                <a:solidFill>
                  <a:srgbClr val="ff0000"/>
                </a:solidFill>
              </a:rPr>
              <a:t>3</a:t>
            </a:r>
            <a:r>
              <a:rPr lang="ko-KR" altLang="en-US" b="1">
                <a:solidFill>
                  <a:srgbClr val="ff0000"/>
                </a:solidFill>
              </a:rPr>
              <a:t>단계로 동작</a:t>
            </a:r>
            <a:endParaRPr lang="ko-KR" altLang="en-US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/>
              <a:t>Keygen(</a:t>
            </a:r>
            <a:r>
              <a:rPr lang="ko-KR" altLang="en-US"/>
              <a:t>키 생성</a:t>
            </a:r>
            <a:r>
              <a:rPr lang="en-US" altLang="ko-KR"/>
              <a:t>) - </a:t>
            </a:r>
            <a:r>
              <a:rPr lang="ko-KR" altLang="en-US"/>
              <a:t>개인키와 공개키를 만드는 과정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Sign(</a:t>
            </a:r>
            <a:r>
              <a:rPr lang="ko-KR" altLang="en-US"/>
              <a:t>서명</a:t>
            </a:r>
            <a:r>
              <a:rPr lang="en-US" altLang="ko-KR"/>
              <a:t>) - </a:t>
            </a:r>
            <a:r>
              <a:rPr lang="ko-KR" altLang="en-US"/>
              <a:t>메시지에 도장을 찍는 과정 </a:t>
            </a:r>
            <a:r>
              <a:rPr lang="en-US" altLang="ko-KR"/>
              <a:t>-&gt;</a:t>
            </a:r>
            <a:r>
              <a:rPr lang="ko-KR" altLang="en-US"/>
              <a:t> 서명을 생성함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Verify(</a:t>
            </a:r>
            <a:r>
              <a:rPr lang="ko-KR" altLang="en-US"/>
              <a:t>검증</a:t>
            </a:r>
            <a:r>
              <a:rPr lang="en-US" altLang="ko-KR"/>
              <a:t>) - </a:t>
            </a:r>
            <a:r>
              <a:rPr lang="ko-KR" altLang="en-US"/>
              <a:t>생성된 서명이 진짜인지 확인하는 과정</a:t>
            </a:r>
            <a:r>
              <a:rPr lang="en-US" altLang="ko-KR"/>
              <a:t>(</a:t>
            </a:r>
            <a:r>
              <a:rPr lang="ko-KR" altLang="en-US"/>
              <a:t>공개키로 검증</a:t>
            </a:r>
            <a:r>
              <a:rPr lang="en-US" altLang="ko-KR"/>
              <a:t>)</a:t>
            </a:r>
            <a:endParaRPr lang="en-US" altLang="ko-KR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781924" y="0"/>
            <a:ext cx="4410075" cy="19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PQC </a:t>
            </a:r>
            <a:r>
              <a:rPr lang="ko-KR" altLang="en-US"/>
              <a:t>수학적 기반</a:t>
            </a:r>
            <a:endParaRPr lang="ko-KR" altLang="en-US"/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6702425" cy="5603875"/>
          </a:xfrm>
        </p:spPr>
        <p:txBody>
          <a:bodyPr/>
          <a:lstStyle/>
          <a:p>
            <a:pPr>
              <a:defRPr/>
            </a:pPr>
            <a:r>
              <a:rPr lang="en-US" altLang="ko-KR" b="1">
                <a:solidFill>
                  <a:srgbClr val="ff0000"/>
                </a:solidFill>
              </a:rPr>
              <a:t>PQC</a:t>
            </a:r>
            <a:r>
              <a:rPr lang="ko-KR" altLang="en-US" b="1">
                <a:solidFill>
                  <a:srgbClr val="ff0000"/>
                </a:solidFill>
              </a:rPr>
              <a:t> 알고리즘은 다양한 수학적 난제를 기반으로 설계됨</a:t>
            </a:r>
            <a:endParaRPr lang="ko-KR" altLang="en-US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/>
              <a:t>양자에 강한 수학 문제들이 여러개 있음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그걸 기반으로 알고리즘을 설계</a:t>
            </a:r>
            <a:endParaRPr lang="ko-KR" altLang="en-US"/>
          </a:p>
          <a:p>
            <a:pPr lvl="1">
              <a:defRPr/>
            </a:pPr>
            <a:r>
              <a:rPr lang="en-US" altLang="ko-KR" b="1">
                <a:solidFill>
                  <a:schemeClr val="accent1"/>
                </a:solidFill>
              </a:rPr>
              <a:t>HAETAE</a:t>
            </a:r>
            <a:r>
              <a:rPr lang="ko-KR" altLang="en-US" b="1">
                <a:solidFill>
                  <a:schemeClr val="accent1"/>
                </a:solidFill>
              </a:rPr>
              <a:t>는 격자 기반 전자서명</a:t>
            </a:r>
            <a:endParaRPr lang="ko-KR" altLang="en-US" b="1">
              <a:solidFill>
                <a:schemeClr val="accent1"/>
              </a:solidFill>
            </a:endParaRPr>
          </a:p>
          <a:p>
            <a:pPr lvl="0">
              <a:defRPr/>
            </a:pPr>
            <a:r>
              <a:rPr lang="ko-KR" altLang="en-US"/>
              <a:t>격자 기반도 여러 계열이 있음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LWE/Module-LWE </a:t>
            </a:r>
            <a:r>
              <a:rPr lang="ko-KR" altLang="en-US"/>
              <a:t>계열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SIS/Module-SIS </a:t>
            </a:r>
            <a:r>
              <a:rPr lang="ko-KR" altLang="en-US"/>
              <a:t>계열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NTRU </a:t>
            </a:r>
            <a:r>
              <a:rPr lang="ko-KR" altLang="en-US"/>
              <a:t>계열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격자가 안전성과 성능이 비교적 우수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성능 좋고 구현 용이함 </a:t>
            </a:r>
            <a:r>
              <a:rPr lang="en-US" altLang="ko-KR"/>
              <a:t>-&gt;</a:t>
            </a:r>
            <a:r>
              <a:rPr lang="ko-KR" altLang="en-US"/>
              <a:t> 많이 사용</a:t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102556" y="1082003"/>
            <a:ext cx="5089444" cy="57759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HAETAE </a:t>
            </a:r>
            <a:r>
              <a:rPr lang="ko-KR" altLang="en-US"/>
              <a:t>핵심 모듈</a:t>
            </a:r>
            <a:endParaRPr lang="ko-KR" altLang="en-US"/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2" y="965779"/>
            <a:ext cx="11780837" cy="568981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/>
              <a:t>1. </a:t>
            </a:r>
            <a:r>
              <a:rPr lang="ko-KR" altLang="en-US"/>
              <a:t>난수 </a:t>
            </a:r>
            <a:r>
              <a:rPr lang="en-US" altLang="ko-KR"/>
              <a:t>/</a:t>
            </a:r>
            <a:r>
              <a:rPr lang="ko-KR" altLang="en-US"/>
              <a:t> 샘플링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서명 과정에서 사용할 임시값을 랜덤하게 생성하는 과정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다항식</a:t>
            </a:r>
            <a:r>
              <a:rPr lang="en-US" altLang="ko-KR"/>
              <a:t>,</a:t>
            </a:r>
            <a:r>
              <a:rPr lang="ko-KR" altLang="en-US"/>
              <a:t>벡터 연산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격자기반은 내부적으로 큰 배열이나 다항식 계수들을 계산하는 과정이 많음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NTT</a:t>
            </a:r>
            <a:r>
              <a:rPr lang="ko-KR" altLang="en-US"/>
              <a:t>는 이 연산을 가속하는 기법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3. </a:t>
            </a:r>
            <a:r>
              <a:rPr lang="ko-KR" altLang="en-US"/>
              <a:t>해시 기반 챌린지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메시지와 중간 결과를 해시로 섞어서 챌린지를 만듦 </a:t>
            </a:r>
            <a:r>
              <a:rPr lang="en-US" altLang="ko-KR"/>
              <a:t>-</a:t>
            </a:r>
            <a:r>
              <a:rPr lang="ko-KR" altLang="en-US"/>
              <a:t> 서명 검증 시 사용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4.</a:t>
            </a:r>
            <a:r>
              <a:rPr lang="ko-KR" altLang="en-US"/>
              <a:t> 조건 검사 </a:t>
            </a:r>
            <a:r>
              <a:rPr lang="en-US" altLang="ko-KR"/>
              <a:t>+</a:t>
            </a:r>
            <a:r>
              <a:rPr lang="ko-KR" altLang="en-US"/>
              <a:t> 재시도</a:t>
            </a:r>
            <a:r>
              <a:rPr lang="en-US" altLang="ko-KR"/>
              <a:t>(Reject &amp; Retry)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계산 결과가 조건</a:t>
            </a:r>
            <a:r>
              <a:rPr lang="en-US" altLang="ko-KR"/>
              <a:t>(</a:t>
            </a:r>
            <a:r>
              <a:rPr lang="ko-KR" altLang="en-US"/>
              <a:t>범위</a:t>
            </a:r>
            <a:r>
              <a:rPr lang="en-US" altLang="ko-KR"/>
              <a:t>,</a:t>
            </a:r>
            <a:r>
              <a:rPr lang="ko-KR" altLang="en-US"/>
              <a:t>규칙</a:t>
            </a:r>
            <a:r>
              <a:rPr lang="en-US" altLang="ko-KR"/>
              <a:t>)</a:t>
            </a:r>
            <a:r>
              <a:rPr lang="ko-KR" altLang="en-US"/>
              <a:t>을 벗어나면 그 서명은 버리고 다시 생성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5.</a:t>
            </a:r>
            <a:r>
              <a:rPr lang="ko-KR" altLang="en-US"/>
              <a:t> 패킹 </a:t>
            </a:r>
            <a:r>
              <a:rPr lang="en-US" altLang="ko-KR"/>
              <a:t>/</a:t>
            </a:r>
            <a:r>
              <a:rPr lang="ko-KR" altLang="en-US"/>
              <a:t> 직렬화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최종 서명을 바이트 배열로 정리하여 전송 가능한 형태로 만듦 </a:t>
            </a:r>
            <a:r>
              <a:rPr lang="en-US" altLang="ko-KR"/>
              <a:t>-&gt;</a:t>
            </a:r>
            <a:r>
              <a:rPr lang="ko-KR" altLang="en-US"/>
              <a:t> 서명 크기 결정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ko-KR" altLang="en-US" b="1">
                <a:solidFill>
                  <a:srgbClr val="ff0000"/>
                </a:solidFill>
              </a:rPr>
              <a:t>메모리 피크는 </a:t>
            </a:r>
            <a:r>
              <a:rPr lang="en-US" altLang="ko-KR" b="1">
                <a:solidFill>
                  <a:srgbClr val="ff0000"/>
                </a:solidFill>
              </a:rPr>
              <a:t>Sign</a:t>
            </a:r>
            <a:r>
              <a:rPr lang="ko-KR" altLang="en-US" b="1">
                <a:solidFill>
                  <a:srgbClr val="ff0000"/>
                </a:solidFill>
              </a:rPr>
              <a:t>에서 주로 발생하는 편</a:t>
            </a:r>
            <a:endParaRPr lang="ko-KR" altLang="en-US" b="1">
              <a:solidFill>
                <a:srgbClr val="ff0000"/>
              </a:solidFill>
            </a:endParaRPr>
          </a:p>
          <a:p>
            <a:pPr marL="0" lvl="0" indent="0">
              <a:buNone/>
              <a:defRPr/>
            </a:pPr>
            <a:r>
              <a:rPr lang="en-US" altLang="ko-KR" b="1">
                <a:solidFill>
                  <a:srgbClr val="ff0000"/>
                </a:solidFill>
              </a:rPr>
              <a:t>Sign</a:t>
            </a:r>
            <a:r>
              <a:rPr lang="ko-KR" altLang="en-US" b="1">
                <a:solidFill>
                  <a:srgbClr val="ff0000"/>
                </a:solidFill>
              </a:rPr>
              <a:t>은 위의 </a:t>
            </a:r>
            <a:r>
              <a:rPr lang="en-US" altLang="ko-KR" b="1">
                <a:solidFill>
                  <a:srgbClr val="ff0000"/>
                </a:solidFill>
              </a:rPr>
              <a:t>1,2,4</a:t>
            </a:r>
            <a:r>
              <a:rPr lang="ko-KR" altLang="en-US" b="1">
                <a:solidFill>
                  <a:srgbClr val="ff0000"/>
                </a:solidFill>
              </a:rPr>
              <a:t>번 때문에 임시값</a:t>
            </a:r>
            <a:r>
              <a:rPr lang="en-US" altLang="ko-KR" b="1">
                <a:solidFill>
                  <a:srgbClr val="ff0000"/>
                </a:solidFill>
              </a:rPr>
              <a:t>(</a:t>
            </a:r>
            <a:r>
              <a:rPr lang="ko-KR" altLang="en-US" b="1">
                <a:solidFill>
                  <a:srgbClr val="ff0000"/>
                </a:solidFill>
              </a:rPr>
              <a:t>배열</a:t>
            </a:r>
            <a:r>
              <a:rPr lang="en-US" altLang="ko-KR" b="1">
                <a:solidFill>
                  <a:srgbClr val="ff0000"/>
                </a:solidFill>
              </a:rPr>
              <a:t>/</a:t>
            </a:r>
            <a:r>
              <a:rPr lang="ko-KR" altLang="en-US" b="1">
                <a:solidFill>
                  <a:srgbClr val="ff0000"/>
                </a:solidFill>
              </a:rPr>
              <a:t>벡터</a:t>
            </a:r>
            <a:r>
              <a:rPr lang="en-US" altLang="ko-KR" b="1">
                <a:solidFill>
                  <a:srgbClr val="ff0000"/>
                </a:solidFill>
              </a:rPr>
              <a:t>)</a:t>
            </a:r>
            <a:r>
              <a:rPr lang="ko-KR" altLang="en-US" b="1">
                <a:solidFill>
                  <a:srgbClr val="ff0000"/>
                </a:solidFill>
              </a:rPr>
              <a:t>가 많이 생기는 편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>
                <a:solidFill>
                  <a:schemeClr val="accent6"/>
                </a:solidFill>
              </a:rPr>
              <a:t>(DSA)</a:t>
            </a:r>
            <a:r>
              <a:rPr lang="en-US" altLang="ko-KR" b="1">
                <a:solidFill>
                  <a:schemeClr val="accent1"/>
                </a:solidFill>
              </a:rPr>
              <a:t> </a:t>
            </a:r>
            <a:r>
              <a:rPr lang="en-US" altLang="ko-KR"/>
              <a:t>HAETAE </a:t>
            </a:r>
            <a:r>
              <a:rPr lang="ko-KR" altLang="en-US"/>
              <a:t>알고리즘 연산 분석 결과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11164" y="1152525"/>
            <a:ext cx="11368160" cy="5057775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400" b="1"/>
              <a:t>HAETAE</a:t>
            </a:r>
            <a:r>
              <a:rPr lang="ko-KR" altLang="en-US" sz="2400" b="1"/>
              <a:t>의 키 생성</a:t>
            </a:r>
            <a:r>
              <a:rPr lang="en-US" altLang="ko-KR" sz="2400" b="1"/>
              <a:t>,</a:t>
            </a:r>
            <a:r>
              <a:rPr lang="ko-KR" altLang="en-US" sz="2400" b="1"/>
              <a:t> 서명</a:t>
            </a:r>
            <a:r>
              <a:rPr lang="en-US" altLang="ko-KR" sz="2400" b="1"/>
              <a:t>,</a:t>
            </a:r>
            <a:r>
              <a:rPr lang="ko-KR" altLang="en-US" sz="2400" b="1"/>
              <a:t> 검증 과정 중에서 가장 큰 비중을 차지하는 과정은 </a:t>
            </a:r>
            <a:br>
              <a:rPr lang="en-US" altLang="ko-KR" sz="2400" b="1"/>
            </a:br>
            <a:r>
              <a:rPr lang="ko-KR" altLang="en-US" sz="2400" b="1">
                <a:solidFill>
                  <a:srgbClr val="ff0000"/>
                </a:solidFill>
              </a:rPr>
              <a:t>서명 과정</a:t>
            </a:r>
            <a:endParaRPr lang="ko-KR" altLang="en-US" sz="2400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 sz="2000"/>
              <a:t>서명 과정에서는 </a:t>
            </a:r>
            <a:r>
              <a:rPr lang="ko-KR" altLang="en-US" sz="2000" b="1">
                <a:solidFill>
                  <a:srgbClr val="0070c0"/>
                </a:solidFill>
              </a:rPr>
              <a:t>난수 생성 과정</a:t>
            </a:r>
            <a:r>
              <a:rPr lang="ko-KR" altLang="en-US" sz="2000"/>
              <a:t>이 가장 큰 연산 비중을 차지하며</a:t>
            </a:r>
            <a:r>
              <a:rPr lang="en-US" altLang="ko-KR" sz="2000"/>
              <a:t>,</a:t>
            </a:r>
            <a:r>
              <a:rPr lang="ko-KR" altLang="en-US" sz="2000"/>
              <a:t> 그 과정에서 </a:t>
            </a:r>
            <a:r>
              <a:rPr lang="en-US" altLang="ko-KR" sz="2000" b="1">
                <a:solidFill>
                  <a:srgbClr val="0070c0"/>
                </a:solidFill>
              </a:rPr>
              <a:t>SHAKE</a:t>
            </a:r>
            <a:r>
              <a:rPr lang="ko-KR" altLang="en-US" sz="2000" b="1">
                <a:solidFill>
                  <a:srgbClr val="0070c0"/>
                </a:solidFill>
              </a:rPr>
              <a:t> 관련 연산</a:t>
            </a:r>
            <a:r>
              <a:rPr lang="ko-KR" altLang="en-US" sz="2000"/>
              <a:t>이 많이 사용</a:t>
            </a:r>
            <a:endParaRPr lang="ko-KR" altLang="en-US" sz="2000"/>
          </a:p>
          <a:p>
            <a:pPr lvl="1">
              <a:defRPr/>
            </a:pPr>
            <a:r>
              <a:rPr lang="ko-KR" altLang="en-US" sz="2000"/>
              <a:t>키 생성 과정에서는 </a:t>
            </a:r>
            <a:r>
              <a:rPr lang="en-US" altLang="ko-KR" sz="2000" b="1">
                <a:solidFill>
                  <a:srgbClr val="0070c0"/>
                </a:solidFill>
              </a:rPr>
              <a:t>FFT </a:t>
            </a:r>
            <a:r>
              <a:rPr lang="ko-KR" altLang="en-US" sz="2000" b="1">
                <a:solidFill>
                  <a:srgbClr val="0070c0"/>
                </a:solidFill>
              </a:rPr>
              <a:t>연산</a:t>
            </a:r>
            <a:r>
              <a:rPr lang="ko-KR" altLang="en-US" sz="2000"/>
              <a:t>과 </a:t>
            </a:r>
            <a:r>
              <a:rPr lang="en-US" altLang="ko-KR" sz="2000" b="1">
                <a:solidFill>
                  <a:srgbClr val="0070c0"/>
                </a:solidFill>
              </a:rPr>
              <a:t>SHAKE </a:t>
            </a:r>
            <a:r>
              <a:rPr lang="ko-KR" altLang="en-US" sz="2000" b="1">
                <a:solidFill>
                  <a:srgbClr val="0070c0"/>
                </a:solidFill>
              </a:rPr>
              <a:t>관련 연산</a:t>
            </a:r>
            <a:r>
              <a:rPr lang="ko-KR" altLang="en-US" sz="2000"/>
              <a:t>이 많이 사용</a:t>
            </a:r>
            <a:endParaRPr lang="ko-KR" altLang="en-US" sz="2000"/>
          </a:p>
          <a:p>
            <a:pPr lvl="1">
              <a:defRPr/>
            </a:pPr>
            <a:r>
              <a:rPr lang="ko-KR" altLang="en-US" sz="2000"/>
              <a:t>검증 과정에서는 </a:t>
            </a:r>
            <a:r>
              <a:rPr lang="en-US" altLang="ko-KR" sz="2000" b="1">
                <a:solidFill>
                  <a:srgbClr val="0070c0"/>
                </a:solidFill>
              </a:rPr>
              <a:t>Decode </a:t>
            </a:r>
            <a:r>
              <a:rPr lang="ko-KR" altLang="en-US" sz="2000" b="1">
                <a:solidFill>
                  <a:srgbClr val="0070c0"/>
                </a:solidFill>
              </a:rPr>
              <a:t>과정</a:t>
            </a:r>
            <a:r>
              <a:rPr lang="ko-KR" altLang="en-US" sz="2000"/>
              <a:t>과 </a:t>
            </a:r>
            <a:r>
              <a:rPr lang="en-US" altLang="ko-KR" sz="2000" b="1">
                <a:solidFill>
                  <a:srgbClr val="0070c0"/>
                </a:solidFill>
              </a:rPr>
              <a:t>SHAKE </a:t>
            </a:r>
            <a:r>
              <a:rPr lang="ko-KR" altLang="en-US" sz="2000" b="1">
                <a:solidFill>
                  <a:srgbClr val="0070c0"/>
                </a:solidFill>
              </a:rPr>
              <a:t>관련 연산</a:t>
            </a:r>
            <a:r>
              <a:rPr lang="ko-KR" altLang="en-US" sz="2000"/>
              <a:t>이 많이 사용</a:t>
            </a:r>
            <a:endParaRPr lang="ko-KR" altLang="en-US" sz="2000"/>
          </a:p>
          <a:p>
            <a:pPr lvl="1">
              <a:defRPr/>
            </a:pPr>
            <a:r>
              <a:rPr lang="ko-KR" altLang="en-US" sz="2000"/>
              <a:t>전체적으로 </a:t>
            </a:r>
            <a:r>
              <a:rPr lang="en-US" altLang="ko-KR" sz="2000"/>
              <a:t>HAETAE </a:t>
            </a:r>
            <a:r>
              <a:rPr lang="ko-KR" altLang="en-US" sz="2000"/>
              <a:t>알고리즘에서 많이 사용되는 연산은 </a:t>
            </a:r>
            <a:r>
              <a:rPr lang="en-US" altLang="ko-KR" sz="2000" b="1">
                <a:solidFill>
                  <a:srgbClr val="ff0000"/>
                </a:solidFill>
              </a:rPr>
              <a:t>SHAKE </a:t>
            </a:r>
            <a:r>
              <a:rPr lang="ko-KR" altLang="en-US" sz="2000" b="1">
                <a:solidFill>
                  <a:srgbClr val="ff0000"/>
                </a:solidFill>
              </a:rPr>
              <a:t>관련 연산</a:t>
            </a:r>
            <a:endParaRPr lang="ko-KR" altLang="en-US" sz="2000"/>
          </a:p>
        </p:txBody>
      </p:sp>
      <p:graphicFrame>
        <p:nvGraphicFramePr>
          <p:cNvPr id="6" name="차트 5"/>
          <p:cNvGraphicFramePr/>
          <p:nvPr/>
        </p:nvGraphicFramePr>
        <p:xfrm>
          <a:off x="216920" y="3893451"/>
          <a:ext cx="4956602" cy="2628218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id="7" name="차트 6"/>
          <p:cNvGraphicFramePr/>
          <p:nvPr/>
        </p:nvGraphicFramePr>
        <p:xfrm>
          <a:off x="4413771" y="3603414"/>
          <a:ext cx="3453352" cy="2833576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8" name="차트 7"/>
          <p:cNvGraphicFramePr/>
          <p:nvPr/>
        </p:nvGraphicFramePr>
        <p:xfrm>
          <a:off x="6909556" y="3851112"/>
          <a:ext cx="3194837" cy="2628218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9" name="차트 8"/>
          <p:cNvGraphicFramePr/>
          <p:nvPr/>
        </p:nvGraphicFramePr>
        <p:xfrm>
          <a:off x="9146826" y="3645754"/>
          <a:ext cx="3453352" cy="2833576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kumimoji="1" lang="ko-KR" altLang="en-US"/>
              <a:t>메모리 사용량 측정</a:t>
            </a:r>
            <a:r>
              <a:rPr kumimoji="1" lang="en-US" altLang="ko-KR"/>
              <a:t>(2024</a:t>
            </a:r>
            <a:r>
              <a:rPr kumimoji="1" lang="ko-KR" altLang="en-US"/>
              <a:t>년 버전</a:t>
            </a:r>
            <a:r>
              <a:rPr kumimoji="1" lang="en-US" altLang="ko-KR"/>
              <a:t>)</a:t>
            </a:r>
            <a:endParaRPr kumimoji="1" lang="en-US" altLang="ko-K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1132114"/>
          <a:ext cx="12191998" cy="5725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022"/>
                <a:gridCol w="2253442"/>
                <a:gridCol w="2253442"/>
                <a:gridCol w="2253442"/>
                <a:gridCol w="2364650"/>
              </a:tblGrid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sz="1400"/>
                        <a:t>Algorithm</a:t>
                      </a:r>
                      <a:endParaRPr lang="en-US" sz="1400"/>
                    </a:p>
                  </a:txBody>
                  <a:tcPr marL="54392" marR="54392" marT="27196" marB="27196" anchor="ctr"/>
                </a:tc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sz="1400"/>
                        <a:t>Stack+Heap (bytes)</a:t>
                      </a:r>
                      <a:endParaRPr lang="en-US" sz="1400"/>
                    </a:p>
                  </a:txBody>
                  <a:tcPr marL="54392" marR="54392" marT="27196" marB="27196" anchor="ctr"/>
                </a:tc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sz="1400"/>
                        <a:t>Stack</a:t>
                      </a:r>
                      <a:r>
                        <a:rPr lang="en-US" altLang="ko-KR" sz="1400"/>
                        <a:t> (bytes)</a:t>
                      </a:r>
                      <a:endParaRPr lang="en-US" sz="1400"/>
                    </a:p>
                  </a:txBody>
                  <a:tcPr marL="54392" marR="54392" marT="27196" marB="27196" anchor="ctr"/>
                </a:tc>
                <a:tc>
                  <a:txBody>
                    <a:bodyPr vert="horz" lIns="54392" tIns="27196" rIns="54392" bIns="27196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ore-KR" sz="1400"/>
                        <a:t>Heap</a:t>
                      </a:r>
                      <a:r>
                        <a:rPr lang="en-US" altLang="ko-KR" sz="1400"/>
                        <a:t> (bytes)</a:t>
                      </a:r>
                      <a:endParaRPr lang="en-US" altLang="ko-Kore-KR" sz="1400"/>
                    </a:p>
                  </a:txBody>
                  <a:tcPr marL="54392" marR="54392" marT="27196" marB="27196" anchor="ctr"/>
                </a:tc>
                <a:tc>
                  <a:txBody>
                    <a:bodyPr vert="horz" lIns="54392" tIns="27196" rIns="54392" bIns="27196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ore-KR" sz="1400"/>
                        <a:t>extra_heap(bytes)</a:t>
                      </a:r>
                      <a:endParaRPr lang="en-US" altLang="ko-Kore-KR" sz="1400"/>
                    </a:p>
                  </a:txBody>
                  <a:tcPr marL="54392" marR="54392" marT="27196" marB="27196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AIMer-128f</a:t>
                      </a:r>
                      <a:endParaRPr 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142,256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141,008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1,232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16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AIMer-128s</a:t>
                      </a:r>
                      <a:endParaRPr 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923,936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922,904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1,024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8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tx1"/>
                          </a:solidFill>
                        </a:rPr>
                        <a:t>AIMer-192f</a:t>
                      </a:r>
                      <a:endParaRPr 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313,600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312,352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1,232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16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tx1"/>
                          </a:solidFill>
                        </a:rPr>
                        <a:t>AIMer-192s</a:t>
                      </a:r>
                      <a:endParaRPr 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2,035,488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2,034,456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1,024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8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tx1"/>
                          </a:solidFill>
                        </a:rPr>
                        <a:t>AIMer-256f</a:t>
                      </a:r>
                      <a:endParaRPr 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649,872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648,624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1,232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16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tx1"/>
                          </a:solidFill>
                        </a:rPr>
                        <a:t>AIMer-256s</a:t>
                      </a:r>
                      <a:endParaRPr 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4,182,504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4,181,264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1,232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8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accent2"/>
                          </a:solidFill>
                        </a:rPr>
                        <a:t>HAETAE-II</a:t>
                      </a:r>
                      <a:endParaRPr lang="en-US" sz="1400" b="1">
                        <a:solidFill>
                          <a:schemeClr val="accent2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369,736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111,224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197,377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61,135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accent2"/>
                          </a:solidFill>
                        </a:rPr>
                        <a:t>HAETAE-III</a:t>
                      </a:r>
                      <a:endParaRPr lang="en-US" sz="1400" b="1">
                        <a:solidFill>
                          <a:schemeClr val="accent2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432,600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174,088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197,377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61,135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accent2"/>
                          </a:solidFill>
                        </a:rPr>
                        <a:t>HAETAE-V</a:t>
                      </a:r>
                      <a:endParaRPr lang="en-US" sz="1400" b="1">
                        <a:solidFill>
                          <a:schemeClr val="accent2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481,896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223,384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197,377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rgbClr val="ff0000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61,135</a:t>
                      </a:r>
                      <a:endParaRPr lang="en-US" altLang="ko-Kore-KR" sz="1400" b="1" i="0" u="none" strike="noStrike">
                        <a:solidFill>
                          <a:srgbClr val="ff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accent5"/>
                          </a:solidFill>
                        </a:rPr>
                        <a:t>MQSign-MQLR-256-72-46</a:t>
                      </a:r>
                      <a:endParaRPr lang="en-US" sz="1400" b="1">
                        <a:solidFill>
                          <a:schemeClr val="accent5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1,318,960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590,048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728,858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54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accent5"/>
                          </a:solidFill>
                        </a:rPr>
                        <a:t>MQSign-MQLR-256-112-72</a:t>
                      </a:r>
                      <a:endParaRPr lang="en-US" sz="1400" b="1">
                        <a:solidFill>
                          <a:schemeClr val="accent5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4,963,632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2,219,328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2,744,250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54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accent5"/>
                          </a:solidFill>
                        </a:rPr>
                        <a:t>MQSign-MQLR-256-148-96</a:t>
                      </a:r>
                      <a:endParaRPr lang="en-US" sz="1400" b="1">
                        <a:solidFill>
                          <a:schemeClr val="accent5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11,584,144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5,187,168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6,396,930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46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accent5"/>
                          </a:solidFill>
                        </a:rPr>
                        <a:t>MQSign-MQRR-256-72-46</a:t>
                      </a:r>
                      <a:endParaRPr lang="en-US" sz="1400" b="1">
                        <a:solidFill>
                          <a:schemeClr val="accent5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1,185,680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579,400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606,226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54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accent5"/>
                          </a:solidFill>
                        </a:rPr>
                        <a:t>MQSign-MQRR-256-112-72</a:t>
                      </a:r>
                      <a:endParaRPr lang="en-US" sz="1400" b="1">
                        <a:solidFill>
                          <a:schemeClr val="accent5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4,478,288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2,193,960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2,284,282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46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accent5"/>
                          </a:solidFill>
                        </a:rPr>
                        <a:t>MQSign-MQRR-256-148-96</a:t>
                      </a:r>
                      <a:endParaRPr lang="en-US" sz="1400" b="1">
                        <a:solidFill>
                          <a:schemeClr val="accent5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10,473,984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5,143,080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5,330,866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38</a:t>
                      </a:r>
                      <a:endParaRPr lang="en-US" altLang="ko-Kore-KR" sz="1400" b="1" i="0" u="none" strike="noStrike">
                        <a:solidFill>
                          <a:schemeClr val="accent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accent2"/>
                          </a:solidFill>
                        </a:rPr>
                        <a:t>NCCSign-I</a:t>
                      </a:r>
                      <a:endParaRPr lang="en-US" sz="1400" b="1">
                        <a:solidFill>
                          <a:schemeClr val="accent2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60,712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60,712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0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0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accent2"/>
                          </a:solidFill>
                        </a:rPr>
                        <a:t>NCCSign-III</a:t>
                      </a:r>
                      <a:endParaRPr lang="en-US" sz="1400" b="1">
                        <a:solidFill>
                          <a:schemeClr val="accent2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80,248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80,248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0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0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  <a:tr h="301362">
                <a:tc>
                  <a:txBody>
                    <a:bodyPr vert="horz" lIns="54392" tIns="27196" rIns="54392" bIns="27196" anchor="ctr" anchorCtr="0"/>
                    <a:p>
                      <a:pPr algn="ctr">
                        <a:defRPr/>
                      </a:pPr>
                      <a:r>
                        <a:rPr lang="en-US" altLang="ko-Kore-KR" sz="1400" b="1">
                          <a:solidFill>
                            <a:schemeClr val="accent2"/>
                          </a:solidFill>
                        </a:rPr>
                        <a:t>NCCSign-V</a:t>
                      </a:r>
                      <a:endParaRPr lang="en-US" sz="1400" b="1">
                        <a:solidFill>
                          <a:schemeClr val="accent2"/>
                        </a:solidFill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120,440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120,440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0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400" b="1" i="0" u="none" strike="noStrike">
                          <a:solidFill>
                            <a:schemeClr val="tx2"/>
                          </a:solidFill>
                          <a:effectLst/>
                          <a:latin typeface="Arial"/>
                          <a:ea typeface="맑은 고딕"/>
                          <a:cs typeface="Arial"/>
                        </a:rPr>
                        <a:t>0</a:t>
                      </a:r>
                      <a:endParaRPr lang="en-US" altLang="ko-Kore-KR" sz="1400" b="1" i="0" u="none" strike="noStrike">
                        <a:solidFill>
                          <a:schemeClr val="tx2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977" y="323579"/>
            <a:ext cx="5081954" cy="63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>
                <a:solidFill>
                  <a:srgbClr val="ff0000"/>
                </a:solidFill>
              </a:rPr>
              <a:t>수십 </a:t>
            </a:r>
            <a:r>
              <a:rPr lang="en-US" altLang="ko-KR" b="1">
                <a:solidFill>
                  <a:srgbClr val="ff0000"/>
                </a:solidFill>
              </a:rPr>
              <a:t>KB</a:t>
            </a:r>
            <a:r>
              <a:rPr lang="ko-KR" altLang="en-US" b="1">
                <a:solidFill>
                  <a:srgbClr val="ff0000"/>
                </a:solidFill>
              </a:rPr>
              <a:t>가 저전력 장비에 </a:t>
            </a:r>
            <a:br>
              <a:rPr lang="en-US" altLang="ko-KR" b="1">
                <a:solidFill>
                  <a:srgbClr val="ff0000"/>
                </a:solidFill>
              </a:rPr>
            </a:br>
            <a:r>
              <a:rPr lang="ko-KR" altLang="en-US" b="1">
                <a:solidFill>
                  <a:srgbClr val="ff0000"/>
                </a:solidFill>
              </a:rPr>
              <a:t>적합한 메모리 사용량</a:t>
            </a:r>
            <a:endParaRPr lang="en-US" altLang="ko-KR" b="1">
              <a:solidFill>
                <a:srgbClr val="ff0000"/>
              </a:solidFill>
            </a:endParaRPr>
          </a:p>
        </p:txBody>
      </p:sp>
      <p:pic>
        <p:nvPicPr>
          <p:cNvPr id="5" name="Picture 2" descr="왕관 - 무료 패션개 아이콘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 rot="18900000">
            <a:off x="752366" y="5802377"/>
            <a:ext cx="369332" cy="369332"/>
          </a:xfrm>
          <a:prstGeom prst="rect">
            <a:avLst/>
          </a:prstGeom>
          <a:noFill/>
        </p:spPr>
      </p:pic>
      <p:sp>
        <p:nvSpPr>
          <p:cNvPr id="6" name="직사각형 5"/>
          <p:cNvSpPr/>
          <p:nvPr/>
        </p:nvSpPr>
        <p:spPr>
          <a:xfrm>
            <a:off x="242487" y="3262572"/>
            <a:ext cx="11707026" cy="854349"/>
          </a:xfrm>
          <a:custGeom>
            <a:avLst/>
            <a:gdLst>
              <a:gd name="connsiteX0" fmla="*/ 0 w 9159089"/>
              <a:gd name="connsiteY0" fmla="*/ 0 h 1747318"/>
              <a:gd name="connsiteX1" fmla="*/ 837402 w 9159089"/>
              <a:gd name="connsiteY1" fmla="*/ 0 h 1747318"/>
              <a:gd name="connsiteX2" fmla="*/ 1583214 w 9159089"/>
              <a:gd name="connsiteY2" fmla="*/ 0 h 1747318"/>
              <a:gd name="connsiteX3" fmla="*/ 1962662 w 9159089"/>
              <a:gd name="connsiteY3" fmla="*/ 0 h 1747318"/>
              <a:gd name="connsiteX4" fmla="*/ 2433701 w 9159089"/>
              <a:gd name="connsiteY4" fmla="*/ 0 h 1747318"/>
              <a:gd name="connsiteX5" fmla="*/ 3087921 w 9159089"/>
              <a:gd name="connsiteY5" fmla="*/ 0 h 1747318"/>
              <a:gd name="connsiteX6" fmla="*/ 3742142 w 9159089"/>
              <a:gd name="connsiteY6" fmla="*/ 0 h 1747318"/>
              <a:gd name="connsiteX7" fmla="*/ 4487954 w 9159089"/>
              <a:gd name="connsiteY7" fmla="*/ 0 h 1747318"/>
              <a:gd name="connsiteX8" fmla="*/ 4958992 w 9159089"/>
              <a:gd name="connsiteY8" fmla="*/ 0 h 1747318"/>
              <a:gd name="connsiteX9" fmla="*/ 5704804 w 9159089"/>
              <a:gd name="connsiteY9" fmla="*/ 0 h 1747318"/>
              <a:gd name="connsiteX10" fmla="*/ 6267434 w 9159089"/>
              <a:gd name="connsiteY10" fmla="*/ 0 h 1747318"/>
              <a:gd name="connsiteX11" fmla="*/ 6646882 w 9159089"/>
              <a:gd name="connsiteY11" fmla="*/ 0 h 1747318"/>
              <a:gd name="connsiteX12" fmla="*/ 7209511 w 9159089"/>
              <a:gd name="connsiteY12" fmla="*/ 0 h 1747318"/>
              <a:gd name="connsiteX13" fmla="*/ 7955323 w 9159089"/>
              <a:gd name="connsiteY13" fmla="*/ 0 h 1747318"/>
              <a:gd name="connsiteX14" fmla="*/ 9159089 w 9159089"/>
              <a:gd name="connsiteY14" fmla="*/ 0 h 1747318"/>
              <a:gd name="connsiteX15" fmla="*/ 9159089 w 9159089"/>
              <a:gd name="connsiteY15" fmla="*/ 530020 h 1747318"/>
              <a:gd name="connsiteX16" fmla="*/ 9159089 w 9159089"/>
              <a:gd name="connsiteY16" fmla="*/ 1060040 h 1747318"/>
              <a:gd name="connsiteX17" fmla="*/ 9159089 w 9159089"/>
              <a:gd name="connsiteY17" fmla="*/ 1747318 h 1747318"/>
              <a:gd name="connsiteX18" fmla="*/ 8413277 w 9159089"/>
              <a:gd name="connsiteY18" fmla="*/ 1747318 h 1747318"/>
              <a:gd name="connsiteX19" fmla="*/ 8033829 w 9159089"/>
              <a:gd name="connsiteY19" fmla="*/ 1747318 h 1747318"/>
              <a:gd name="connsiteX20" fmla="*/ 7562791 w 9159089"/>
              <a:gd name="connsiteY20" fmla="*/ 1747318 h 1747318"/>
              <a:gd name="connsiteX21" fmla="*/ 6908570 w 9159089"/>
              <a:gd name="connsiteY21" fmla="*/ 1747318 h 1747318"/>
              <a:gd name="connsiteX22" fmla="*/ 6437531 w 9159089"/>
              <a:gd name="connsiteY22" fmla="*/ 1747318 h 1747318"/>
              <a:gd name="connsiteX23" fmla="*/ 6058083 w 9159089"/>
              <a:gd name="connsiteY23" fmla="*/ 1747318 h 1747318"/>
              <a:gd name="connsiteX24" fmla="*/ 5495453 w 9159089"/>
              <a:gd name="connsiteY24" fmla="*/ 1747318 h 1747318"/>
              <a:gd name="connsiteX25" fmla="*/ 4658051 w 9159089"/>
              <a:gd name="connsiteY25" fmla="*/ 1747318 h 1747318"/>
              <a:gd name="connsiteX26" fmla="*/ 4003830 w 9159089"/>
              <a:gd name="connsiteY26" fmla="*/ 1747318 h 1747318"/>
              <a:gd name="connsiteX27" fmla="*/ 3258019 w 9159089"/>
              <a:gd name="connsiteY27" fmla="*/ 1747318 h 1747318"/>
              <a:gd name="connsiteX28" fmla="*/ 2878571 w 9159089"/>
              <a:gd name="connsiteY28" fmla="*/ 1747318 h 1747318"/>
              <a:gd name="connsiteX29" fmla="*/ 2224350 w 9159089"/>
              <a:gd name="connsiteY29" fmla="*/ 1747318 h 1747318"/>
              <a:gd name="connsiteX30" fmla="*/ 1661720 w 9159089"/>
              <a:gd name="connsiteY30" fmla="*/ 1747318 h 1747318"/>
              <a:gd name="connsiteX31" fmla="*/ 1099091 w 9159089"/>
              <a:gd name="connsiteY31" fmla="*/ 1747318 h 1747318"/>
              <a:gd name="connsiteX32" fmla="*/ 0 w 9159089"/>
              <a:gd name="connsiteY32" fmla="*/ 1747318 h 1747318"/>
              <a:gd name="connsiteX33" fmla="*/ 0 w 9159089"/>
              <a:gd name="connsiteY33" fmla="*/ 1164879 h 1747318"/>
              <a:gd name="connsiteX34" fmla="*/ 0 w 9159089"/>
              <a:gd name="connsiteY34" fmla="*/ 547493 h 1747318"/>
              <a:gd name="connsiteX35" fmla="*/ 0 w 9159089"/>
              <a:gd name="connsiteY35" fmla="*/ 0 h 174731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9159089" h="1747318" extrusionOk="0">
                <a:moveTo>
                  <a:pt x="0" y="0"/>
                </a:moveTo>
                <a:cubicBezTo>
                  <a:pt x="187878" y="-40687"/>
                  <a:pt x="492416" y="29683"/>
                  <a:pt x="837402" y="0"/>
                </a:cubicBezTo>
                <a:cubicBezTo>
                  <a:pt x="1182388" y="-29683"/>
                  <a:pt x="1374814" y="-12850"/>
                  <a:pt x="1583214" y="0"/>
                </a:cubicBezTo>
                <a:cubicBezTo>
                  <a:pt x="1791614" y="12850"/>
                  <a:pt x="1784907" y="-16379"/>
                  <a:pt x="1962662" y="0"/>
                </a:cubicBezTo>
                <a:cubicBezTo>
                  <a:pt x="2140417" y="16379"/>
                  <a:pt x="2235388" y="2754"/>
                  <a:pt x="2433701" y="0"/>
                </a:cubicBezTo>
                <a:cubicBezTo>
                  <a:pt x="2632014" y="-2754"/>
                  <a:pt x="2921153" y="-29412"/>
                  <a:pt x="3087921" y="0"/>
                </a:cubicBezTo>
                <a:cubicBezTo>
                  <a:pt x="3254689" y="29412"/>
                  <a:pt x="3503791" y="8252"/>
                  <a:pt x="3742142" y="0"/>
                </a:cubicBezTo>
                <a:cubicBezTo>
                  <a:pt x="3980493" y="-8252"/>
                  <a:pt x="4195916" y="-5417"/>
                  <a:pt x="4487954" y="0"/>
                </a:cubicBezTo>
                <a:cubicBezTo>
                  <a:pt x="4779992" y="5417"/>
                  <a:pt x="4828447" y="14864"/>
                  <a:pt x="4958992" y="0"/>
                </a:cubicBezTo>
                <a:cubicBezTo>
                  <a:pt x="5089537" y="-14864"/>
                  <a:pt x="5467925" y="14346"/>
                  <a:pt x="5704804" y="0"/>
                </a:cubicBezTo>
                <a:cubicBezTo>
                  <a:pt x="5941683" y="-14346"/>
                  <a:pt x="6127216" y="-10210"/>
                  <a:pt x="6267434" y="0"/>
                </a:cubicBezTo>
                <a:cubicBezTo>
                  <a:pt x="6407652" y="10210"/>
                  <a:pt x="6556150" y="16969"/>
                  <a:pt x="6646882" y="0"/>
                </a:cubicBezTo>
                <a:cubicBezTo>
                  <a:pt x="6737614" y="-16969"/>
                  <a:pt x="7063137" y="-1669"/>
                  <a:pt x="7209511" y="0"/>
                </a:cubicBezTo>
                <a:cubicBezTo>
                  <a:pt x="7355885" y="1669"/>
                  <a:pt x="7786771" y="37202"/>
                  <a:pt x="7955323" y="0"/>
                </a:cubicBezTo>
                <a:cubicBezTo>
                  <a:pt x="8123875" y="-37202"/>
                  <a:pt x="8848756" y="-54037"/>
                  <a:pt x="9159089" y="0"/>
                </a:cubicBezTo>
                <a:cubicBezTo>
                  <a:pt x="9151876" y="207911"/>
                  <a:pt x="9181859" y="417912"/>
                  <a:pt x="9159089" y="530020"/>
                </a:cubicBezTo>
                <a:cubicBezTo>
                  <a:pt x="9136319" y="642128"/>
                  <a:pt x="9146256" y="878065"/>
                  <a:pt x="9159089" y="1060040"/>
                </a:cubicBezTo>
                <a:cubicBezTo>
                  <a:pt x="9171922" y="1242015"/>
                  <a:pt x="9173209" y="1526983"/>
                  <a:pt x="9159089" y="1747318"/>
                </a:cubicBezTo>
                <a:cubicBezTo>
                  <a:pt x="9005419" y="1764388"/>
                  <a:pt x="8700646" y="1719353"/>
                  <a:pt x="8413277" y="1747318"/>
                </a:cubicBezTo>
                <a:cubicBezTo>
                  <a:pt x="8125908" y="1775283"/>
                  <a:pt x="8122426" y="1748058"/>
                  <a:pt x="8033829" y="1747318"/>
                </a:cubicBezTo>
                <a:cubicBezTo>
                  <a:pt x="7945232" y="1746578"/>
                  <a:pt x="7709324" y="1735851"/>
                  <a:pt x="7562791" y="1747318"/>
                </a:cubicBezTo>
                <a:cubicBezTo>
                  <a:pt x="7416258" y="1758785"/>
                  <a:pt x="7137160" y="1765993"/>
                  <a:pt x="6908570" y="1747318"/>
                </a:cubicBezTo>
                <a:cubicBezTo>
                  <a:pt x="6679980" y="1728643"/>
                  <a:pt x="6576879" y="1735345"/>
                  <a:pt x="6437531" y="1747318"/>
                </a:cubicBezTo>
                <a:cubicBezTo>
                  <a:pt x="6298183" y="1759291"/>
                  <a:pt x="6212718" y="1748819"/>
                  <a:pt x="6058083" y="1747318"/>
                </a:cubicBezTo>
                <a:cubicBezTo>
                  <a:pt x="5903448" y="1745817"/>
                  <a:pt x="5763579" y="1731133"/>
                  <a:pt x="5495453" y="1747318"/>
                </a:cubicBezTo>
                <a:cubicBezTo>
                  <a:pt x="5227327" y="1763504"/>
                  <a:pt x="5029738" y="1773639"/>
                  <a:pt x="4658051" y="1747318"/>
                </a:cubicBezTo>
                <a:cubicBezTo>
                  <a:pt x="4286364" y="1720997"/>
                  <a:pt x="4261144" y="1742322"/>
                  <a:pt x="4003830" y="1747318"/>
                </a:cubicBezTo>
                <a:cubicBezTo>
                  <a:pt x="3746516" y="1752314"/>
                  <a:pt x="3464135" y="1734165"/>
                  <a:pt x="3258019" y="1747318"/>
                </a:cubicBezTo>
                <a:cubicBezTo>
                  <a:pt x="3051903" y="1760471"/>
                  <a:pt x="3061487" y="1752179"/>
                  <a:pt x="2878571" y="1747318"/>
                </a:cubicBezTo>
                <a:cubicBezTo>
                  <a:pt x="2695655" y="1742457"/>
                  <a:pt x="2479408" y="1758746"/>
                  <a:pt x="2224350" y="1747318"/>
                </a:cubicBezTo>
                <a:cubicBezTo>
                  <a:pt x="1969292" y="1735890"/>
                  <a:pt x="1856856" y="1734711"/>
                  <a:pt x="1661720" y="1747318"/>
                </a:cubicBezTo>
                <a:cubicBezTo>
                  <a:pt x="1466584" y="1759926"/>
                  <a:pt x="1348752" y="1755382"/>
                  <a:pt x="1099091" y="1747318"/>
                </a:cubicBezTo>
                <a:cubicBezTo>
                  <a:pt x="849430" y="1739254"/>
                  <a:pt x="384009" y="1741376"/>
                  <a:pt x="0" y="1747318"/>
                </a:cubicBezTo>
                <a:cubicBezTo>
                  <a:pt x="-524" y="1546234"/>
                  <a:pt x="8587" y="1382304"/>
                  <a:pt x="0" y="1164879"/>
                </a:cubicBezTo>
                <a:cubicBezTo>
                  <a:pt x="-8587" y="947454"/>
                  <a:pt x="25384" y="809789"/>
                  <a:pt x="0" y="547493"/>
                </a:cubicBezTo>
                <a:cubicBezTo>
                  <a:pt x="-25384" y="285197"/>
                  <a:pt x="-9262" y="250506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/>
              <a:t>Dililthium FALCON vs HAETAE</a:t>
            </a:r>
            <a:r>
              <a:rPr lang="ko-KR" altLang="en-US"/>
              <a:t> 성능 비교</a:t>
            </a:r>
            <a:r>
              <a:rPr lang="en-US" altLang="ko-KR"/>
              <a:t>(ARM)</a:t>
            </a:r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0" y="3138526"/>
          <a:ext cx="3842658" cy="3719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609"/>
                <a:gridCol w="2184400"/>
                <a:gridCol w="1080649"/>
              </a:tblGrid>
              <a:tr h="35061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Rank</a:t>
                      </a:r>
                      <a:endParaRPr lang="ko-KR" altLang="en-US" sz="1200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Scheme</a:t>
                      </a:r>
                      <a:endParaRPr lang="ko-KR" altLang="en-US" sz="1200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Keypair(avg)</a:t>
                      </a:r>
                      <a:endParaRPr lang="ko-KR" altLang="en-US" sz="1200"/>
                    </a:p>
                  </a:txBody>
                  <a:tcPr marL="91440" marR="9144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dilithium2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190,398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dilithium3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362,409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dilithium5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540,914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HAETAE2</a:t>
                      </a:r>
                      <a:endParaRPr lang="en-US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2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</a:rPr>
                        <a:t>835,765</a:t>
                      </a:r>
                      <a:endParaRPr lang="en-US" altLang="ko-KR" sz="1200" b="1" i="0" u="none" strike="noStrike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5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HAETAE3</a:t>
                      </a:r>
                      <a:endParaRPr lang="en-US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2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</a:rPr>
                        <a:t>1,180,426</a:t>
                      </a:r>
                      <a:endParaRPr lang="en-US" altLang="ko-KR" sz="1200" b="1" i="0" u="none" strike="noStrike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6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HAETAE5</a:t>
                      </a:r>
                      <a:endParaRPr lang="en-US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200" b="1" i="0" u="none" strike="noStrike">
                          <a:solidFill>
                            <a:schemeClr val="accent6"/>
                          </a:solidFill>
                          <a:effectLst/>
                          <a:latin typeface="Arial"/>
                        </a:rPr>
                        <a:t>1,378,932</a:t>
                      </a:r>
                      <a:endParaRPr lang="en-US" altLang="ko-KR" sz="1200" b="1" i="0" u="none" strike="noStrike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7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falcon-512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35,583,909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8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falcon-1024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106,966,738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4174670" y="3138525"/>
          <a:ext cx="3842658" cy="3719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609"/>
                <a:gridCol w="2184400"/>
                <a:gridCol w="1080649"/>
              </a:tblGrid>
              <a:tr h="35061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Rank</a:t>
                      </a:r>
                      <a:endParaRPr lang="ko-KR" altLang="en-US" sz="1200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Scheme</a:t>
                      </a:r>
                      <a:endParaRPr lang="ko-KR" altLang="en-US" sz="1200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Keypair(avg)</a:t>
                      </a:r>
                      <a:endParaRPr lang="ko-KR" altLang="en-US" sz="1200"/>
                    </a:p>
                  </a:txBody>
                  <a:tcPr marL="91440" marR="9144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dilithium2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306,143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HAETAE2</a:t>
                      </a:r>
                      <a:endParaRPr lang="en-US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ore-KR" sz="1200" b="1" u="none" strike="noStrike">
                          <a:solidFill>
                            <a:schemeClr val="accent6"/>
                          </a:solidFill>
                          <a:effectLst/>
                        </a:rPr>
                        <a:t>828,534</a:t>
                      </a:r>
                      <a:endParaRPr lang="en-US" altLang="ko-KR" sz="1200" b="1" i="0" u="none" strike="noStrike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HAETAE3</a:t>
                      </a:r>
                      <a:endParaRPr lang="en-US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ore-KR" sz="1200" b="1" u="none" strike="noStrike">
                          <a:solidFill>
                            <a:schemeClr val="accent6"/>
                          </a:solidFill>
                          <a:effectLst/>
                        </a:rPr>
                        <a:t>979,182</a:t>
                      </a:r>
                      <a:endParaRPr lang="en-US" altLang="ko-KR" sz="1200" b="1" i="0" u="none" strike="noStrike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dilithium5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1,023,099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5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1" i="0" u="none" strike="noStrike">
                          <a:solidFill>
                            <a:schemeClr val="accent6"/>
                          </a:solidFill>
                          <a:effectLst/>
                          <a:latin typeface="맑은 고딕"/>
                          <a:ea typeface="맑은 고딕"/>
                        </a:rPr>
                        <a:t>HAETAE5</a:t>
                      </a:r>
                      <a:endParaRPr lang="en-US" sz="1200" b="1" i="0" u="none" strike="noStrike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ore-KR" sz="1200" b="1" u="none" strike="noStrike">
                          <a:solidFill>
                            <a:schemeClr val="accent6"/>
                          </a:solidFill>
                          <a:effectLst/>
                        </a:rPr>
                        <a:t>1,026,078</a:t>
                      </a:r>
                      <a:endParaRPr lang="en-US" altLang="ko-KR" sz="1200" b="1" i="0" u="none" strike="noStrike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6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dilithium3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1,741,397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7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falcon-512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10,044,417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8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falcon-1024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21,844,507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8349342" y="3138526"/>
          <a:ext cx="3842658" cy="3719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609"/>
                <a:gridCol w="2184400"/>
                <a:gridCol w="1080649"/>
              </a:tblGrid>
              <a:tr h="35061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Rank</a:t>
                      </a:r>
                      <a:endParaRPr lang="ko-KR" altLang="en-US" sz="1200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Scheme</a:t>
                      </a:r>
                      <a:endParaRPr lang="ko-KR" altLang="en-US" sz="1200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Keypair(avg)</a:t>
                      </a:r>
                      <a:endParaRPr lang="ko-KR" altLang="en-US" sz="1200"/>
                    </a:p>
                  </a:txBody>
                  <a:tcPr marL="91440" marR="9144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1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Falcon-512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91,243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/>
                        </a:rPr>
                        <a:t>2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/>
                        </a:rPr>
                        <a:t>HAETAE2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200" b="1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136,239</a:t>
                      </a:r>
                      <a:endParaRPr lang="en-US" altLang="ko-KR" sz="1200" b="1" i="0" u="none" strike="noStrike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3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Falcon-1024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182,233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4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Dilithium2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195,294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/>
                        </a:rPr>
                        <a:t>5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/>
                        </a:rPr>
                        <a:t>HAETAE3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ore-KR" sz="1200" b="1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237,614</a:t>
                      </a:r>
                      <a:endParaRPr lang="en-US" altLang="ko-KR" sz="1200" b="1" i="0" u="none" strike="noStrike">
                        <a:solidFill>
                          <a:schemeClr val="accent6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/>
                        </a:rPr>
                        <a:t>6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1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  <a:ea typeface="맑은 고딕"/>
                        </a:rPr>
                        <a:t>HAETAE5</a:t>
                      </a:r>
                      <a:endParaRPr lang="en" sz="1200" b="1" i="0" u="none" strike="noStrike">
                        <a:solidFill>
                          <a:schemeClr val="accent6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ore-KR" sz="1200" b="1" i="0" u="none" strike="noStrike">
                          <a:solidFill>
                            <a:schemeClr val="accent6"/>
                          </a:solidFill>
                          <a:effectLst/>
                          <a:latin typeface="+mn-lt"/>
                        </a:rPr>
                        <a:t>303,049</a:t>
                      </a:r>
                      <a:endParaRPr lang="en-US" altLang="ko-Kore-KR" sz="1200" b="1" i="0" u="none" strike="noStrike">
                        <a:solidFill>
                          <a:schemeClr val="accent6"/>
                        </a:solidFill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7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Dilithium3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321,151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  <a:tr h="421108"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8</a:t>
                      </a:r>
                      <a:endParaRPr lang="en" sz="1200" b="0" i="0" u="none" strike="noStrike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Dilithium5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 vert="horz" lIns="9525" tIns="9525" rIns="9525" bIns="0" anchor="ctr" anchorCtr="0"/>
                    <a:p>
                      <a:pPr algn="ctr"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</a:rPr>
                        <a:t>542,833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5" name="표 9"/>
          <p:cNvGraphicFramePr>
            <a:graphicFrameLocks noGrp="1"/>
          </p:cNvGraphicFramePr>
          <p:nvPr/>
        </p:nvGraphicFramePr>
        <p:xfrm>
          <a:off x="3719530" y="1015807"/>
          <a:ext cx="4752940" cy="2011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752940"/>
              </a:tblGrid>
              <a:tr h="396240">
                <a:tc>
                  <a:txBody>
                    <a:bodyPr vert="horz" lIns="91440" tIns="45720" rIns="91440" bIns="45720" anchor="ctr" anchorCtr="0"/>
                    <a:p>
                      <a:pPr algn="ctr">
                        <a:defRPr/>
                      </a:pPr>
                      <a:r>
                        <a:rPr lang="ko-KR" altLang="en-US" sz="2000"/>
                        <a:t>성능측정환경</a:t>
                      </a:r>
                      <a:r>
                        <a:rPr lang="en-US" altLang="ko-KR" sz="2000"/>
                        <a:t>(ARM)</a:t>
                      </a:r>
                      <a:endParaRPr lang="en-US" altLang="ko-KR" sz="2000"/>
                    </a:p>
                  </a:txBody>
                  <a:tcPr marL="91440" marR="91440" anchor="ctr"/>
                </a:tc>
              </a:tr>
              <a:tr h="1615440">
                <a:tc>
                  <a:txBody>
                    <a:bodyPr vert="horz" lIns="91440" tIns="45720" rIns="91440" bIns="45720" anchor="ctr" anchorCtr="0"/>
                    <a:p>
                      <a:pPr marL="285750" indent="-285750" latinLnBrk="1">
                        <a:buFont typeface="Arial"/>
                        <a:buChar char="•"/>
                        <a:defRPr/>
                      </a:pPr>
                      <a:r>
                        <a:rPr lang="en-US" altLang="ko-KR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OS: </a:t>
                      </a:r>
                      <a:r>
                        <a:rPr lang="en" altLang="ko-KR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macOs Sonoma 14.4.1</a:t>
                      </a:r>
                      <a:endParaRPr lang="en" altLang="ko-KR" sz="2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en-US" altLang="ko-KR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CPU: </a:t>
                      </a:r>
                      <a:r>
                        <a:rPr lang="en" altLang="ko-KR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Apple M2 (3.23 GHz)</a:t>
                      </a:r>
                      <a:endParaRPr lang="en" altLang="ko-KR" sz="2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en" altLang="ko-KR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RAM: 8GB</a:t>
                      </a:r>
                      <a:endParaRPr lang="en" altLang="ko-KR" sz="2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en" altLang="ko-KR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Compiler: Apple clang 15.0.0</a:t>
                      </a:r>
                      <a:endParaRPr lang="en" altLang="ko-KR" sz="2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en" altLang="ko-KR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Optimization Level: -O3</a:t>
                      </a:r>
                      <a:endParaRPr lang="en" altLang="ko-KR" sz="2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  <p:sp>
        <p:nvSpPr>
          <p:cNvPr id="16" name=""/>
          <p:cNvSpPr txBox="1"/>
          <p:nvPr/>
        </p:nvSpPr>
        <p:spPr>
          <a:xfrm>
            <a:off x="958453" y="1119187"/>
            <a:ext cx="1512093" cy="36480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Valgrind Massif</a:t>
            </a:r>
            <a:r>
              <a:rPr lang="ko-KR" altLang="en-US"/>
              <a:t>로 </a:t>
            </a:r>
            <a:r>
              <a:rPr lang="en-US" altLang="ko-KR"/>
              <a:t>Peak RAM(stack/Heap)</a:t>
            </a:r>
            <a:r>
              <a:rPr lang="ko-KR" altLang="en-US"/>
              <a:t> 측정</a:t>
            </a:r>
            <a:endParaRPr lang="ko-KR" altLang="en-US"/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Valgrind: </a:t>
            </a:r>
            <a:r>
              <a:rPr lang="ko-KR" altLang="en-US"/>
              <a:t>프로그램 분석 도구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ram </a:t>
            </a:r>
            <a:r>
              <a:rPr lang="ko-KR" altLang="en-US"/>
              <a:t>측정</a:t>
            </a:r>
            <a:r>
              <a:rPr lang="en-US" altLang="ko-KR"/>
              <a:t>,</a:t>
            </a:r>
            <a:r>
              <a:rPr lang="ko-KR" altLang="en-US"/>
              <a:t> 메모리 누수 위치 찾기</a:t>
            </a:r>
            <a:r>
              <a:rPr lang="en-US" altLang="ko-KR"/>
              <a:t>,</a:t>
            </a:r>
            <a:r>
              <a:rPr lang="ko-KR" altLang="en-US"/>
              <a:t> 상수시간 확인 등 여러가지 가능</a:t>
            </a:r>
            <a:endParaRPr lang="ko-KR" altLang="en-US"/>
          </a:p>
          <a:p>
            <a:pPr lvl="0">
              <a:defRPr/>
            </a:pPr>
            <a:r>
              <a:rPr lang="en-US" altLang="ko-KR" b="1">
                <a:solidFill>
                  <a:srgbClr val="ff0000"/>
                </a:solidFill>
              </a:rPr>
              <a:t>Valgrind Massif:</a:t>
            </a:r>
            <a:r>
              <a:rPr lang="ko-KR" altLang="en-US" b="1">
                <a:solidFill>
                  <a:srgbClr val="ff0000"/>
                </a:solidFill>
              </a:rPr>
              <a:t> 메모리 사용량을 기록하는 로그</a:t>
            </a:r>
            <a:r>
              <a:rPr lang="en-US" altLang="ko-KR" b="1">
                <a:solidFill>
                  <a:srgbClr val="ff0000"/>
                </a:solidFill>
              </a:rPr>
              <a:t>(</a:t>
            </a:r>
            <a:r>
              <a:rPr lang="ko-KR" altLang="en-US" b="1">
                <a:solidFill>
                  <a:srgbClr val="ff0000"/>
                </a:solidFill>
              </a:rPr>
              <a:t>프로파일러</a:t>
            </a:r>
            <a:r>
              <a:rPr lang="en-US" altLang="ko-KR" b="1">
                <a:solidFill>
                  <a:srgbClr val="ff0000"/>
                </a:solidFill>
              </a:rPr>
              <a:t>)</a:t>
            </a:r>
            <a:endParaRPr lang="en-US" altLang="ko-KR" b="1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ko-KR" altLang="en-US" b="1">
                <a:solidFill>
                  <a:schemeClr val="accent1"/>
                </a:solidFill>
              </a:rPr>
              <a:t>메모리 사용량</a:t>
            </a:r>
            <a:r>
              <a:rPr lang="en-US" altLang="ko-KR" b="1">
                <a:solidFill>
                  <a:schemeClr val="accent1"/>
                </a:solidFill>
              </a:rPr>
              <a:t>(Heap, Stack)</a:t>
            </a:r>
            <a:r>
              <a:rPr lang="ko-KR" altLang="en-US" b="1">
                <a:solidFill>
                  <a:schemeClr val="accent1"/>
                </a:solidFill>
              </a:rPr>
              <a:t>을 시간 흐름에 따라서 스냅샷 형태로 기록함</a:t>
            </a:r>
            <a:endParaRPr lang="ko-KR" altLang="en-US" b="1">
              <a:solidFill>
                <a:schemeClr val="accent1"/>
              </a:solidFill>
            </a:endParaRPr>
          </a:p>
          <a:p>
            <a:pPr lvl="2">
              <a:defRPr/>
            </a:pPr>
            <a:r>
              <a:rPr lang="en-US" altLang="en-US"/>
              <a:t>valgrind --tool=massif --stacks=yes --massif-out-file=massif.out ./</a:t>
            </a:r>
            <a:r>
              <a:rPr lang="en-US" altLang="ko-KR"/>
              <a:t>main</a:t>
            </a:r>
            <a:endParaRPr lang="en-US" altLang="ko-KR"/>
          </a:p>
          <a:p>
            <a:pPr lvl="2">
              <a:defRPr/>
            </a:pPr>
            <a:r>
              <a:rPr lang="en-US" altLang="en-US"/>
              <a:t>ms_print massif.out | less</a:t>
            </a:r>
            <a:endParaRPr lang="en-US" altLang="en-US"/>
          </a:p>
          <a:p>
            <a:pPr lvl="0">
              <a:defRPr/>
            </a:pPr>
            <a:endParaRPr lang="ko-KR" altLang="en-US"/>
          </a:p>
        </p:txBody>
      </p:sp>
      <p:grpSp>
        <p:nvGrpSpPr>
          <p:cNvPr id="6" name=""/>
          <p:cNvGrpSpPr/>
          <p:nvPr/>
        </p:nvGrpSpPr>
        <p:grpSpPr>
          <a:xfrm rot="0">
            <a:off x="10210848" y="0"/>
            <a:ext cx="1981152" cy="1955184"/>
            <a:chOff x="9425036" y="-251483"/>
            <a:chExt cx="2766964" cy="2490966"/>
          </a:xfrm>
        </p:grpSpPr>
        <p:pic>
          <p:nvPicPr>
            <p:cNvPr id="4" name="그림 4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474578" y="0"/>
              <a:ext cx="2717422" cy="2239483"/>
            </a:xfrm>
            <a:prstGeom prst="rect">
              <a:avLst/>
            </a:prstGeom>
          </p:spPr>
        </p:pic>
        <p:pic>
          <p:nvPicPr>
            <p:cNvPr id="5" name="Picture 6" descr="Valgrind Your Memory Leaks Away"/>
            <p:cNvPicPr>
              <a:picLocks noChangeAspect="1" noChangeArrowheads="1"/>
            </p:cNvPicPr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425036" y="-251483"/>
              <a:ext cx="1408253" cy="983932"/>
            </a:xfrm>
            <a:prstGeom prst="rect">
              <a:avLst/>
            </a:prstGeom>
            <a:noFill/>
          </p:spPr>
        </p:pic>
      </p:grpSp>
      <p:pic>
        <p:nvPicPr>
          <p:cNvPr id="7" name=""/>
          <p:cNvPicPr>
            <a:picLocks noChangeAspect="1"/>
          </p:cNvPicPr>
          <p:nvPr/>
        </p:nvPicPr>
        <p:blipFill rotWithShape="1">
          <a:blip r:embed="rId5"/>
          <a:srcRect b="48810"/>
          <a:stretch>
            <a:fillRect/>
          </a:stretch>
        </p:blipFill>
        <p:spPr>
          <a:xfrm>
            <a:off x="166686" y="3818662"/>
            <a:ext cx="5929313" cy="3039338"/>
          </a:xfrm>
          <a:prstGeom prst="rect">
            <a:avLst/>
          </a:prstGeom>
        </p:spPr>
      </p:pic>
      <p:pic>
        <p:nvPicPr>
          <p:cNvPr id="8" name=""/>
          <p:cNvPicPr>
            <a:picLocks noChangeAspect="1"/>
          </p:cNvPicPr>
          <p:nvPr/>
        </p:nvPicPr>
        <p:blipFill rotWithShape="1">
          <a:blip r:embed="rId6"/>
          <a:srcRect t="48480"/>
          <a:stretch>
            <a:fillRect/>
          </a:stretch>
        </p:blipFill>
        <p:spPr>
          <a:xfrm>
            <a:off x="6096000" y="3796886"/>
            <a:ext cx="5933042" cy="30611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HAETAE RAM peak </a:t>
            </a:r>
            <a:r>
              <a:rPr lang="ko-KR" altLang="en-US"/>
              <a:t>측정 결과</a:t>
            </a:r>
            <a:r>
              <a:rPr lang="en-US" altLang="ko-KR"/>
              <a:t>(o3)</a:t>
            </a:r>
            <a:endParaRPr lang="en-US" altLang="ko-KR"/>
          </a:p>
        </p:txBody>
      </p:sp>
      <p:sp>
        <p:nvSpPr>
          <p:cNvPr id="3" name="텍스트 개체 틀 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HAETAE </a:t>
            </a:r>
            <a:r>
              <a:rPr lang="ko-KR" altLang="en-US"/>
              <a:t>자체는 </a:t>
            </a:r>
            <a:r>
              <a:rPr lang="en-US" altLang="ko-KR"/>
              <a:t>Heap</a:t>
            </a:r>
            <a:r>
              <a:rPr lang="ko-KR" altLang="en-US"/>
              <a:t>을 안쓰나</a:t>
            </a:r>
            <a:r>
              <a:rPr lang="en-US" altLang="ko-KR"/>
              <a:t>,</a:t>
            </a:r>
            <a:r>
              <a:rPr lang="ko-KR" altLang="en-US"/>
              <a:t> 연결된 라이브러리에서 사용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printf</a:t>
            </a:r>
            <a:r>
              <a:rPr lang="ko-KR" altLang="en-US"/>
              <a:t>나 </a:t>
            </a:r>
            <a:r>
              <a:rPr lang="en-US" altLang="ko-KR"/>
              <a:t>randombytes</a:t>
            </a:r>
            <a:r>
              <a:rPr lang="ko-KR" altLang="en-US"/>
              <a:t>같은 입출력 버퍼때문에 검출되는 것으로 보임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또한 </a:t>
            </a:r>
            <a:r>
              <a:rPr lang="en-US" altLang="ko-KR"/>
              <a:t>fips202.c</a:t>
            </a:r>
            <a:r>
              <a:rPr lang="ko-KR" altLang="en-US"/>
              <a:t>의 </a:t>
            </a:r>
            <a:r>
              <a:rPr lang="en-US" altLang="ko-KR"/>
              <a:t>shake</a:t>
            </a:r>
            <a:r>
              <a:rPr lang="ko-KR" altLang="en-US"/>
              <a:t>에서 </a:t>
            </a:r>
            <a:r>
              <a:rPr lang="en-US" altLang="ko-KR"/>
              <a:t>heap</a:t>
            </a:r>
            <a:r>
              <a:rPr lang="ko-KR" altLang="en-US"/>
              <a:t> 사용 중</a:t>
            </a:r>
            <a:endParaRPr lang="ko-KR" altLang="en-US"/>
          </a:p>
          <a:p>
            <a:pPr lvl="2">
              <a:defRPr/>
            </a:pPr>
            <a:r>
              <a:rPr lang="en-US" altLang="ko-KR"/>
              <a:t>shake_inc_init()</a:t>
            </a:r>
            <a:r>
              <a:rPr lang="ko-KR" altLang="en-US"/>
              <a:t> 함수에서 </a:t>
            </a:r>
            <a:r>
              <a:rPr lang="en-US" altLang="ko-KR"/>
              <a:t>malloc </a:t>
            </a:r>
            <a:r>
              <a:rPr lang="ko-KR" altLang="en-US"/>
              <a:t>사용중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Pqm4</a:t>
            </a:r>
            <a:r>
              <a:rPr lang="ko-KR" altLang="en-US"/>
              <a:t> 구현물은 </a:t>
            </a:r>
            <a:r>
              <a:rPr lang="en-US" altLang="ko-KR"/>
              <a:t>stack </a:t>
            </a:r>
            <a:r>
              <a:rPr lang="ko-KR" altLang="en-US"/>
              <a:t>기반 구현으로 되어있음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임베디드에 올리려면 그 버전으로 교체 필요</a:t>
            </a: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08780" y="4440928"/>
            <a:ext cx="7574440" cy="1869487"/>
          </a:xfrm>
          <a:prstGeom prst="rect">
            <a:avLst/>
          </a:prstGeom>
        </p:spPr>
      </p:pic>
      <p:sp>
        <p:nvSpPr>
          <p:cNvPr id="5" name="직사각형 5"/>
          <p:cNvSpPr/>
          <p:nvPr/>
        </p:nvSpPr>
        <p:spPr>
          <a:xfrm flipV="1">
            <a:off x="7469580" y="4652702"/>
            <a:ext cx="2098683" cy="1622152"/>
          </a:xfrm>
          <a:custGeom>
            <a:avLst/>
            <a:gdLst>
              <a:gd name="connsiteX0" fmla="*/ 0 w 9159089"/>
              <a:gd name="connsiteY0" fmla="*/ 0 h 1747318"/>
              <a:gd name="connsiteX1" fmla="*/ 837402 w 9159089"/>
              <a:gd name="connsiteY1" fmla="*/ 0 h 1747318"/>
              <a:gd name="connsiteX2" fmla="*/ 1583214 w 9159089"/>
              <a:gd name="connsiteY2" fmla="*/ 0 h 1747318"/>
              <a:gd name="connsiteX3" fmla="*/ 1962662 w 9159089"/>
              <a:gd name="connsiteY3" fmla="*/ 0 h 1747318"/>
              <a:gd name="connsiteX4" fmla="*/ 2433701 w 9159089"/>
              <a:gd name="connsiteY4" fmla="*/ 0 h 1747318"/>
              <a:gd name="connsiteX5" fmla="*/ 3087921 w 9159089"/>
              <a:gd name="connsiteY5" fmla="*/ 0 h 1747318"/>
              <a:gd name="connsiteX6" fmla="*/ 3742142 w 9159089"/>
              <a:gd name="connsiteY6" fmla="*/ 0 h 1747318"/>
              <a:gd name="connsiteX7" fmla="*/ 4487954 w 9159089"/>
              <a:gd name="connsiteY7" fmla="*/ 0 h 1747318"/>
              <a:gd name="connsiteX8" fmla="*/ 4958992 w 9159089"/>
              <a:gd name="connsiteY8" fmla="*/ 0 h 1747318"/>
              <a:gd name="connsiteX9" fmla="*/ 5704804 w 9159089"/>
              <a:gd name="connsiteY9" fmla="*/ 0 h 1747318"/>
              <a:gd name="connsiteX10" fmla="*/ 6267434 w 9159089"/>
              <a:gd name="connsiteY10" fmla="*/ 0 h 1747318"/>
              <a:gd name="connsiteX11" fmla="*/ 6646882 w 9159089"/>
              <a:gd name="connsiteY11" fmla="*/ 0 h 1747318"/>
              <a:gd name="connsiteX12" fmla="*/ 7209511 w 9159089"/>
              <a:gd name="connsiteY12" fmla="*/ 0 h 1747318"/>
              <a:gd name="connsiteX13" fmla="*/ 7955323 w 9159089"/>
              <a:gd name="connsiteY13" fmla="*/ 0 h 1747318"/>
              <a:gd name="connsiteX14" fmla="*/ 9159089 w 9159089"/>
              <a:gd name="connsiteY14" fmla="*/ 0 h 1747318"/>
              <a:gd name="connsiteX15" fmla="*/ 9159089 w 9159089"/>
              <a:gd name="connsiteY15" fmla="*/ 530020 h 1747318"/>
              <a:gd name="connsiteX16" fmla="*/ 9159089 w 9159089"/>
              <a:gd name="connsiteY16" fmla="*/ 1060040 h 1747318"/>
              <a:gd name="connsiteX17" fmla="*/ 9159089 w 9159089"/>
              <a:gd name="connsiteY17" fmla="*/ 1747318 h 1747318"/>
              <a:gd name="connsiteX18" fmla="*/ 8413277 w 9159089"/>
              <a:gd name="connsiteY18" fmla="*/ 1747318 h 1747318"/>
              <a:gd name="connsiteX19" fmla="*/ 8033829 w 9159089"/>
              <a:gd name="connsiteY19" fmla="*/ 1747318 h 1747318"/>
              <a:gd name="connsiteX20" fmla="*/ 7562791 w 9159089"/>
              <a:gd name="connsiteY20" fmla="*/ 1747318 h 1747318"/>
              <a:gd name="connsiteX21" fmla="*/ 6908570 w 9159089"/>
              <a:gd name="connsiteY21" fmla="*/ 1747318 h 1747318"/>
              <a:gd name="connsiteX22" fmla="*/ 6437531 w 9159089"/>
              <a:gd name="connsiteY22" fmla="*/ 1747318 h 1747318"/>
              <a:gd name="connsiteX23" fmla="*/ 6058083 w 9159089"/>
              <a:gd name="connsiteY23" fmla="*/ 1747318 h 1747318"/>
              <a:gd name="connsiteX24" fmla="*/ 5495453 w 9159089"/>
              <a:gd name="connsiteY24" fmla="*/ 1747318 h 1747318"/>
              <a:gd name="connsiteX25" fmla="*/ 4658051 w 9159089"/>
              <a:gd name="connsiteY25" fmla="*/ 1747318 h 1747318"/>
              <a:gd name="connsiteX26" fmla="*/ 4003830 w 9159089"/>
              <a:gd name="connsiteY26" fmla="*/ 1747318 h 1747318"/>
              <a:gd name="connsiteX27" fmla="*/ 3258019 w 9159089"/>
              <a:gd name="connsiteY27" fmla="*/ 1747318 h 1747318"/>
              <a:gd name="connsiteX28" fmla="*/ 2878571 w 9159089"/>
              <a:gd name="connsiteY28" fmla="*/ 1747318 h 1747318"/>
              <a:gd name="connsiteX29" fmla="*/ 2224350 w 9159089"/>
              <a:gd name="connsiteY29" fmla="*/ 1747318 h 1747318"/>
              <a:gd name="connsiteX30" fmla="*/ 1661720 w 9159089"/>
              <a:gd name="connsiteY30" fmla="*/ 1747318 h 1747318"/>
              <a:gd name="connsiteX31" fmla="*/ 1099091 w 9159089"/>
              <a:gd name="connsiteY31" fmla="*/ 1747318 h 1747318"/>
              <a:gd name="connsiteX32" fmla="*/ 0 w 9159089"/>
              <a:gd name="connsiteY32" fmla="*/ 1747318 h 1747318"/>
              <a:gd name="connsiteX33" fmla="*/ 0 w 9159089"/>
              <a:gd name="connsiteY33" fmla="*/ 1164879 h 1747318"/>
              <a:gd name="connsiteX34" fmla="*/ 0 w 9159089"/>
              <a:gd name="connsiteY34" fmla="*/ 547493 h 1747318"/>
              <a:gd name="connsiteX35" fmla="*/ 0 w 9159089"/>
              <a:gd name="connsiteY35" fmla="*/ 0 h 174731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9159089" h="1747318" extrusionOk="0">
                <a:moveTo>
                  <a:pt x="0" y="0"/>
                </a:moveTo>
                <a:cubicBezTo>
                  <a:pt x="187878" y="-40687"/>
                  <a:pt x="492416" y="29683"/>
                  <a:pt x="837402" y="0"/>
                </a:cubicBezTo>
                <a:cubicBezTo>
                  <a:pt x="1182388" y="-29683"/>
                  <a:pt x="1374814" y="-12850"/>
                  <a:pt x="1583214" y="0"/>
                </a:cubicBezTo>
                <a:cubicBezTo>
                  <a:pt x="1791614" y="12850"/>
                  <a:pt x="1784907" y="-16379"/>
                  <a:pt x="1962662" y="0"/>
                </a:cubicBezTo>
                <a:cubicBezTo>
                  <a:pt x="2140417" y="16379"/>
                  <a:pt x="2235388" y="2754"/>
                  <a:pt x="2433701" y="0"/>
                </a:cubicBezTo>
                <a:cubicBezTo>
                  <a:pt x="2632014" y="-2754"/>
                  <a:pt x="2921153" y="-29412"/>
                  <a:pt x="3087921" y="0"/>
                </a:cubicBezTo>
                <a:cubicBezTo>
                  <a:pt x="3254689" y="29412"/>
                  <a:pt x="3503791" y="8252"/>
                  <a:pt x="3742142" y="0"/>
                </a:cubicBezTo>
                <a:cubicBezTo>
                  <a:pt x="3980493" y="-8252"/>
                  <a:pt x="4195916" y="-5417"/>
                  <a:pt x="4487954" y="0"/>
                </a:cubicBezTo>
                <a:cubicBezTo>
                  <a:pt x="4779992" y="5417"/>
                  <a:pt x="4828447" y="14864"/>
                  <a:pt x="4958992" y="0"/>
                </a:cubicBezTo>
                <a:cubicBezTo>
                  <a:pt x="5089537" y="-14864"/>
                  <a:pt x="5467925" y="14346"/>
                  <a:pt x="5704804" y="0"/>
                </a:cubicBezTo>
                <a:cubicBezTo>
                  <a:pt x="5941683" y="-14346"/>
                  <a:pt x="6127216" y="-10210"/>
                  <a:pt x="6267434" y="0"/>
                </a:cubicBezTo>
                <a:cubicBezTo>
                  <a:pt x="6407652" y="10210"/>
                  <a:pt x="6556150" y="16969"/>
                  <a:pt x="6646882" y="0"/>
                </a:cubicBezTo>
                <a:cubicBezTo>
                  <a:pt x="6737614" y="-16969"/>
                  <a:pt x="7063137" y="-1669"/>
                  <a:pt x="7209511" y="0"/>
                </a:cubicBezTo>
                <a:cubicBezTo>
                  <a:pt x="7355885" y="1669"/>
                  <a:pt x="7786771" y="37202"/>
                  <a:pt x="7955323" y="0"/>
                </a:cubicBezTo>
                <a:cubicBezTo>
                  <a:pt x="8123875" y="-37202"/>
                  <a:pt x="8848756" y="-54037"/>
                  <a:pt x="9159089" y="0"/>
                </a:cubicBezTo>
                <a:cubicBezTo>
                  <a:pt x="9151876" y="207911"/>
                  <a:pt x="9181859" y="417912"/>
                  <a:pt x="9159089" y="530020"/>
                </a:cubicBezTo>
                <a:cubicBezTo>
                  <a:pt x="9136319" y="642128"/>
                  <a:pt x="9146256" y="878065"/>
                  <a:pt x="9159089" y="1060040"/>
                </a:cubicBezTo>
                <a:cubicBezTo>
                  <a:pt x="9171922" y="1242015"/>
                  <a:pt x="9173209" y="1526983"/>
                  <a:pt x="9159089" y="1747318"/>
                </a:cubicBezTo>
                <a:cubicBezTo>
                  <a:pt x="9005419" y="1764388"/>
                  <a:pt x="8700646" y="1719353"/>
                  <a:pt x="8413277" y="1747318"/>
                </a:cubicBezTo>
                <a:cubicBezTo>
                  <a:pt x="8125908" y="1775283"/>
                  <a:pt x="8122426" y="1748058"/>
                  <a:pt x="8033829" y="1747318"/>
                </a:cubicBezTo>
                <a:cubicBezTo>
                  <a:pt x="7945232" y="1746578"/>
                  <a:pt x="7709324" y="1735851"/>
                  <a:pt x="7562791" y="1747318"/>
                </a:cubicBezTo>
                <a:cubicBezTo>
                  <a:pt x="7416258" y="1758785"/>
                  <a:pt x="7137160" y="1765993"/>
                  <a:pt x="6908570" y="1747318"/>
                </a:cubicBezTo>
                <a:cubicBezTo>
                  <a:pt x="6679980" y="1728643"/>
                  <a:pt x="6576879" y="1735345"/>
                  <a:pt x="6437531" y="1747318"/>
                </a:cubicBezTo>
                <a:cubicBezTo>
                  <a:pt x="6298183" y="1759291"/>
                  <a:pt x="6212718" y="1748819"/>
                  <a:pt x="6058083" y="1747318"/>
                </a:cubicBezTo>
                <a:cubicBezTo>
                  <a:pt x="5903448" y="1745817"/>
                  <a:pt x="5763579" y="1731133"/>
                  <a:pt x="5495453" y="1747318"/>
                </a:cubicBezTo>
                <a:cubicBezTo>
                  <a:pt x="5227327" y="1763504"/>
                  <a:pt x="5029738" y="1773639"/>
                  <a:pt x="4658051" y="1747318"/>
                </a:cubicBezTo>
                <a:cubicBezTo>
                  <a:pt x="4286364" y="1720997"/>
                  <a:pt x="4261144" y="1742322"/>
                  <a:pt x="4003830" y="1747318"/>
                </a:cubicBezTo>
                <a:cubicBezTo>
                  <a:pt x="3746516" y="1752314"/>
                  <a:pt x="3464135" y="1734165"/>
                  <a:pt x="3258019" y="1747318"/>
                </a:cubicBezTo>
                <a:cubicBezTo>
                  <a:pt x="3051903" y="1760471"/>
                  <a:pt x="3061487" y="1752179"/>
                  <a:pt x="2878571" y="1747318"/>
                </a:cubicBezTo>
                <a:cubicBezTo>
                  <a:pt x="2695655" y="1742457"/>
                  <a:pt x="2479408" y="1758746"/>
                  <a:pt x="2224350" y="1747318"/>
                </a:cubicBezTo>
                <a:cubicBezTo>
                  <a:pt x="1969292" y="1735890"/>
                  <a:pt x="1856856" y="1734711"/>
                  <a:pt x="1661720" y="1747318"/>
                </a:cubicBezTo>
                <a:cubicBezTo>
                  <a:pt x="1466584" y="1759926"/>
                  <a:pt x="1348752" y="1755382"/>
                  <a:pt x="1099091" y="1747318"/>
                </a:cubicBezTo>
                <a:cubicBezTo>
                  <a:pt x="849430" y="1739254"/>
                  <a:pt x="384009" y="1741376"/>
                  <a:pt x="0" y="1747318"/>
                </a:cubicBezTo>
                <a:cubicBezTo>
                  <a:pt x="-524" y="1546234"/>
                  <a:pt x="8587" y="1382304"/>
                  <a:pt x="0" y="1164879"/>
                </a:cubicBezTo>
                <a:cubicBezTo>
                  <a:pt x="-8587" y="947454"/>
                  <a:pt x="25384" y="809789"/>
                  <a:pt x="0" y="547493"/>
                </a:cubicBezTo>
                <a:cubicBezTo>
                  <a:pt x="-25384" y="285197"/>
                  <a:pt x="-9262" y="250506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147483647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147483647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147483647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147483647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4991</ep:Words>
  <ep:PresentationFormat>와이드스크린</ep:PresentationFormat>
  <ep:Paragraphs>754</ep:Paragraphs>
  <ep:Slides>24</ep:Slides>
  <ep:Notes>13</ep:Notes>
  <ep:TotalTime>0</ep:TotalTime>
  <ep:HiddenSlides>9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제목 테마</vt:lpstr>
      <vt:lpstr>메모리 기초 + HAETAE</vt:lpstr>
      <vt:lpstr>KpqC</vt:lpstr>
      <vt:lpstr>KpqC</vt:lpstr>
      <vt:lpstr>PQclean,Pqm4</vt:lpstr>
      <vt:lpstr>KpqC에 대한 벤치마크 KpqClean</vt:lpstr>
      <vt:lpstr>KpqC에 대한 벤치마크 KpqClean</vt:lpstr>
      <vt:lpstr>KpqClean ver2</vt:lpstr>
      <vt:lpstr>기본적인 primitive 코드 통일 작업</vt:lpstr>
      <vt:lpstr>Pqm4 타겟 보드</vt:lpstr>
      <vt:lpstr>RAM &amp; RAM peak</vt:lpstr>
      <vt:lpstr>메모리 섹션(ELF)</vt:lpstr>
      <vt:lpstr>변수 수명</vt:lpstr>
      <vt:lpstr>Stack &amp; Heap</vt:lpstr>
      <vt:lpstr>ROM 최적화</vt:lpstr>
      <vt:lpstr>HAETAE 개요</vt:lpstr>
      <vt:lpstr>전자서명(DSA)</vt:lpstr>
      <vt:lpstr>PQC 수학적 기반</vt:lpstr>
      <vt:lpstr>HAETAE 핵심 모듈</vt:lpstr>
      <vt:lpstr>(DSA) HAETAE 알고리즘 연산 분석 결과</vt:lpstr>
      <vt:lpstr>메모리 사용량 측정(2024년 버전)</vt:lpstr>
      <vt:lpstr>Dililthium FALCON vs HAETAE 성능 비교(ARM)</vt:lpstr>
      <vt:lpstr>슬라이드 22</vt:lpstr>
      <vt:lpstr>HAETAE RAM peak 측정 결과(o3)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2019-03-05T04:29:07.000</dcterms:created>
  <dc:creator>HD</dc:creator>
  <cp:lastModifiedBy>minun</cp:lastModifiedBy>
  <dcterms:modified xsi:type="dcterms:W3CDTF">2026-02-01T17:03:17.642</dcterms:modified>
  <cp:revision>251</cp:revision>
  <dc:title>PowerPoint 프레젠테이션</dc:title>
  <cp:version>1000.0000.01</cp:version>
</cp:coreProperties>
</file>