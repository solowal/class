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  <p:sldMasterId id="2147483673" r:id="rId2"/>
    <p:sldMasterId id="2147483689" r:id="rId3"/>
  </p:sldMasterIdLst>
  <p:notesMasterIdLst>
    <p:notesMasterId r:id="rId11"/>
  </p:notesMasterIdLst>
  <p:handoutMasterIdLst>
    <p:handoutMasterId r:id="rId12"/>
  </p:handoutMasterIdLst>
  <p:sldIdLst>
    <p:sldId id="273" r:id="rId4"/>
    <p:sldId id="271" r:id="rId5"/>
    <p:sldId id="274" r:id="rId6"/>
    <p:sldId id="276" r:id="rId7"/>
    <p:sldId id="275" r:id="rId8"/>
    <p:sldId id="277" r:id="rId9"/>
    <p:sldId id="27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DD9"/>
    <a:srgbClr val="0089CB"/>
    <a:srgbClr val="2057A6"/>
    <a:srgbClr val="02439A"/>
    <a:srgbClr val="0698D9"/>
    <a:srgbClr val="014099"/>
    <a:srgbClr val="010D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7" autoAdjust="0"/>
    <p:restoredTop sz="94692"/>
  </p:normalViewPr>
  <p:slideViewPr>
    <p:cSldViewPr snapToGrid="0">
      <p:cViewPr varScale="1">
        <p:scale>
          <a:sx n="142" d="100"/>
          <a:sy n="142" d="100"/>
        </p:scale>
        <p:origin x="16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D41062-EA43-95AE-AB69-DDD240C18F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577C81-D543-2073-2945-F3741AAF4A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89BC2-8B6F-4329-84C0-38ADCF062B7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1A6DFB-E8BC-D901-4451-E8490C6A70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5105FA-9199-7D05-7622-7916DB5443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9E715-E965-457B-9EFF-9B2CB5AE84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3033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73354-27DB-47A1-9CF5-0ADFB2C61589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D0A05-DC5D-445C-BF35-E1559A52FE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6509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alphaModFix amt="58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27000" b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9EC1AE-0CF3-C014-5001-35BB9A406A33}"/>
              </a:ext>
            </a:extLst>
          </p:cNvPr>
          <p:cNvSpPr/>
          <p:nvPr userDrawn="1"/>
        </p:nvSpPr>
        <p:spPr>
          <a:xfrm>
            <a:off x="0" y="0"/>
            <a:ext cx="12192000" cy="3990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 descr="폰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E50B43-50C2-3141-C999-2D25888336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73338"/>
            <a:ext cx="1583170" cy="629243"/>
          </a:xfrm>
          <a:prstGeom prst="rect">
            <a:avLst/>
          </a:prstGeom>
        </p:spPr>
      </p:pic>
      <p:pic>
        <p:nvPicPr>
          <p:cNvPr id="16" name="그림 15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257517-ACA1-8637-88FB-7058C27C9E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10007956" y="6492240"/>
            <a:ext cx="2103124" cy="2579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5">
            <a:extLst>
              <a:ext uri="{FF2B5EF4-FFF2-40B4-BE49-F238E27FC236}">
                <a16:creationId xmlns:a16="http://schemas.microsoft.com/office/drawing/2014/main" id="{5BF06899-00BD-28B2-66B5-4DB3214DC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372465"/>
            <a:ext cx="11201400" cy="1618407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42C2F-B1B4-80EC-DD8A-24A30223B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3303846"/>
            <a:ext cx="11201400" cy="102052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18121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FB841235-2B37-B2DF-969C-BE066A9B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EF22DA-A276-F072-2FF4-D5D3B5F42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C60637-A0DE-EF1A-58BE-08B5D45A1148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DD3EAB-C62A-0EA5-3683-581D3B88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" y="1054100"/>
            <a:ext cx="11803380" cy="5255174"/>
          </a:xfr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5" name="그림 4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AA793B-0BA5-F2FB-0428-747669A8B1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743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DD3EAB-C62A-0EA5-3683-581D3B88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" y="1052498"/>
            <a:ext cx="5817870" cy="5256776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8AA5431C-D950-548D-7061-D522619584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9822" y="1052498"/>
            <a:ext cx="5783578" cy="5256775"/>
          </a:xfr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슬라이드 번호 개체 틀 13">
            <a:extLst>
              <a:ext uri="{FF2B5EF4-FFF2-40B4-BE49-F238E27FC236}">
                <a16:creationId xmlns:a16="http://schemas.microsoft.com/office/drawing/2014/main" id="{6E62B848-B380-C88A-52BF-ED0DD3A8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D35FCC-D2A6-004F-4C10-D61F3B9AA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5519E1-4621-6085-EDD7-69644F87736D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C381D2-D4F6-1FA9-C21B-C00BBDE32E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61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DD3EAB-C62A-0EA5-3683-581D3B88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2900" y="1052498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8" name="슬라이드 번호 개체 틀 13">
            <a:extLst>
              <a:ext uri="{FF2B5EF4-FFF2-40B4-BE49-F238E27FC236}">
                <a16:creationId xmlns:a16="http://schemas.microsoft.com/office/drawing/2014/main" id="{6E62B848-B380-C88A-52BF-ED0DD3A8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D35FCC-D2A6-004F-4C10-D61F3B9AA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5519E1-4621-6085-EDD7-69644F87736D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D09C54C-55C2-3B47-2B5A-C262D48F8E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4310" y="1052498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31326AF-D9F9-BA9E-5012-A0C234CC27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11490" y="1052498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9D7E47FE-1D9D-8918-87C3-91DFB40955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52900" y="2349500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D5B5F32-EFD9-4E36-4857-A583AA392A5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4310" y="2349500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6A31BA71-EDE9-2CC9-44E1-0EA0F4303DE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111490" y="2349500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6" name="그림 5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FAF277-60F6-EC6D-FFBE-F107B6B533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731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3">
            <a:extLst>
              <a:ext uri="{FF2B5EF4-FFF2-40B4-BE49-F238E27FC236}">
                <a16:creationId xmlns:a16="http://schemas.microsoft.com/office/drawing/2014/main" id="{6E62B848-B380-C88A-52BF-ED0DD3A8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D35FCC-D2A6-004F-4C10-D61F3B9AA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5519E1-4621-6085-EDD7-69644F87736D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D09C54C-55C2-3B47-2B5A-C262D48F8E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4310" y="5088472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6D5B5F32-EFD9-4E36-4857-A583AA392A5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4310" y="1052498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5EC15F0-54F9-9DAD-0150-F619B4C3891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111490" y="5088472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36D6673-DEF3-54BE-9FB0-9B03F8FE836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111490" y="1052498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641477A6-10E8-FF59-43CE-C5F416452D85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152900" y="5088472"/>
            <a:ext cx="3886200" cy="12208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7B8615ED-A729-EEB8-AE8F-63AE95330AB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152900" y="1052498"/>
            <a:ext cx="3886200" cy="3959774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16DC82-BC95-90FB-C3AA-DC6F6D5786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300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DD3EAB-C62A-0EA5-3683-581D3B88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2899" y="1052498"/>
            <a:ext cx="7810501" cy="5256776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슬라이드 번호 개체 틀 13">
            <a:extLst>
              <a:ext uri="{FF2B5EF4-FFF2-40B4-BE49-F238E27FC236}">
                <a16:creationId xmlns:a16="http://schemas.microsoft.com/office/drawing/2014/main" id="{6E62B848-B380-C88A-52BF-ED0DD3A8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D35FCC-D2A6-004F-4C10-D61F3B9AA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5519E1-4621-6085-EDD7-69644F87736D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D09C54C-55C2-3B47-2B5A-C262D48F8E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4310" y="1052498"/>
            <a:ext cx="3886200" cy="5256776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6" name="그림 5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F28F2-620D-C485-CBE9-A3480270E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971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27000" b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9EC1AE-0CF3-C014-5001-35BB9A406A33}"/>
              </a:ext>
            </a:extLst>
          </p:cNvPr>
          <p:cNvSpPr/>
          <p:nvPr userDrawn="1"/>
        </p:nvSpPr>
        <p:spPr>
          <a:xfrm>
            <a:off x="0" y="0"/>
            <a:ext cx="12192000" cy="3990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6385110-BBA2-3D86-8E10-2FEECF064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372465"/>
            <a:ext cx="11201400" cy="1618407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437E5B85-1BAA-2D41-2477-DC458AEFF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3303846"/>
            <a:ext cx="11201400" cy="102052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5" name="그림 4" descr="폰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E50B43-50C2-3141-C999-2D25888336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73338"/>
            <a:ext cx="1583170" cy="629243"/>
          </a:xfrm>
          <a:prstGeom prst="rect">
            <a:avLst/>
          </a:prstGeom>
        </p:spPr>
      </p:pic>
      <p:pic>
        <p:nvPicPr>
          <p:cNvPr id="16" name="그림 15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257517-ACA1-8637-88FB-7058C27C9E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10007956" y="6492240"/>
            <a:ext cx="2103124" cy="2579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7213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bg>
      <p:bgPr>
        <a:blipFill dpi="0" rotWithShape="1">
          <a:blip r:embed="rId2">
            <a:alphaModFix amt="46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5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3">
            <a:extLst>
              <a:ext uri="{FF2B5EF4-FFF2-40B4-BE49-F238E27FC236}">
                <a16:creationId xmlns:a16="http://schemas.microsoft.com/office/drawing/2014/main" id="{5D59EDC2-E66D-F0D7-C8FD-23DFA563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E53F90-EA30-C27B-C4DE-C61DFA633DC7}"/>
              </a:ext>
            </a:extLst>
          </p:cNvPr>
          <p:cNvSpPr/>
          <p:nvPr userDrawn="1"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519E37D6-90CA-810A-9DBC-1D9A25633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" y="1054100"/>
            <a:ext cx="11803380" cy="5041900"/>
          </a:xfr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5BD0CC-1590-CCC6-68FD-1A9201E78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ABD66F-36D0-CA76-F2DD-8543FEAD8434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34C0DF-1A75-972E-F932-43765540D4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130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blipFill dpi="0" rotWithShape="1">
          <a:blip r:embed="rId2">
            <a:alphaModFix amt="46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5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346442-1E6A-5866-06D4-6E4675CFC9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13">
            <a:extLst>
              <a:ext uri="{FF2B5EF4-FFF2-40B4-BE49-F238E27FC236}">
                <a16:creationId xmlns:a16="http://schemas.microsoft.com/office/drawing/2014/main" id="{5D59EDC2-E66D-F0D7-C8FD-23DFA563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E53F90-EA30-C27B-C4DE-C61DFA633DC7}"/>
              </a:ext>
            </a:extLst>
          </p:cNvPr>
          <p:cNvSpPr/>
          <p:nvPr userDrawn="1"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5BD0CC-1590-CCC6-68FD-1A9201E78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ABD66F-36D0-CA76-F2DD-8543FEAD8434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144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blipFill dpi="0" rotWithShape="1">
          <a:blip r:embed="rId2">
            <a:alphaModFix amt="46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5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F4CCBA3-3AA7-0978-25EE-971C1CF691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" name="그림 10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346442-1E6A-5866-06D4-6E4675CFC9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슬라이드 번호 개체 틀 13">
            <a:extLst>
              <a:ext uri="{FF2B5EF4-FFF2-40B4-BE49-F238E27FC236}">
                <a16:creationId xmlns:a16="http://schemas.microsoft.com/office/drawing/2014/main" id="{51382A1D-BD5C-3C4B-B1CB-3432C016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EA213745-F545-75FE-7461-207CEFE3D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" y="1052498"/>
            <a:ext cx="5817870" cy="5043502"/>
          </a:xfrm>
        </p:spPr>
        <p:txBody>
          <a:bodyPr anchor="ctr"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2pPr>
            <a:lvl3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3pPr>
            <a:lvl4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4pPr>
            <a:lvl5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그림 개체 틀 6">
            <a:extLst>
              <a:ext uri="{FF2B5EF4-FFF2-40B4-BE49-F238E27FC236}">
                <a16:creationId xmlns:a16="http://schemas.microsoft.com/office/drawing/2014/main" id="{8B064BD2-135E-A979-EF31-6AA0CAA37D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9822" y="1052498"/>
            <a:ext cx="5783578" cy="5043501"/>
          </a:xfr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7571026-B769-6E0F-815B-F0F6601F7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4B9AD2-0978-C5C3-0DC2-C6A77108AD75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28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bg>
      <p:bgPr>
        <a:blipFill dpi="0" rotWithShape="1">
          <a:blip r:embed="rId2">
            <a:alphaModFix amt="46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/>
          <a:stretch>
            <a:fillRect t="5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346442-1E6A-5866-06D4-6E4675CFC9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56801" y="6545941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슬라이드 번호 개체 틀 13">
            <a:extLst>
              <a:ext uri="{FF2B5EF4-FFF2-40B4-BE49-F238E27FC236}">
                <a16:creationId xmlns:a16="http://schemas.microsoft.com/office/drawing/2014/main" id="{5D59EDC2-E66D-F0D7-C8FD-23DFA563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40375" y="6545941"/>
            <a:ext cx="1111250" cy="297544"/>
          </a:xfrm>
        </p:spPr>
        <p:txBody>
          <a:bodyPr/>
          <a:lstStyle>
            <a:lvl1pPr algn="ctr">
              <a:defRPr sz="105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6B26E85-F37C-4597-B270-B0393212ABD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E53F90-EA30-C27B-C4DE-C61DFA633DC7}"/>
              </a:ext>
            </a:extLst>
          </p:cNvPr>
          <p:cNvSpPr/>
          <p:nvPr userDrawn="1"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5BD0CC-1590-CCC6-68FD-1A9201E78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96542"/>
            <a:ext cx="11734800" cy="534212"/>
          </a:xfrm>
          <a:ln>
            <a:noFill/>
          </a:ln>
        </p:spPr>
        <p:txBody>
          <a:bodyPr anchor="ctr">
            <a:noAutofit/>
          </a:bodyPr>
          <a:lstStyle>
            <a:lvl1pPr algn="l">
              <a:defRPr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ABD66F-36D0-CA76-F2DD-8543FEAD8434}"/>
              </a:ext>
            </a:extLst>
          </p:cNvPr>
          <p:cNvSpPr/>
          <p:nvPr userDrawn="1"/>
        </p:nvSpPr>
        <p:spPr>
          <a:xfrm>
            <a:off x="194310" y="281621"/>
            <a:ext cx="83820" cy="534212"/>
          </a:xfrm>
          <a:prstGeom prst="rect">
            <a:avLst/>
          </a:prstGeom>
          <a:solidFill>
            <a:srgbClr val="010D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3839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7012DB67-9CE8-5FD2-87C3-7E188A1F4928}"/>
              </a:ext>
            </a:extLst>
          </p:cNvPr>
          <p:cNvSpPr/>
          <p:nvPr userDrawn="1"/>
        </p:nvSpPr>
        <p:spPr>
          <a:xfrm>
            <a:off x="0" y="0"/>
            <a:ext cx="12192000" cy="5886450"/>
          </a:xfrm>
          <a:custGeom>
            <a:avLst/>
            <a:gdLst>
              <a:gd name="csX0" fmla="*/ 0 w 12192000"/>
              <a:gd name="csY0" fmla="*/ 0 h 5516925"/>
              <a:gd name="csX1" fmla="*/ 12192000 w 12192000"/>
              <a:gd name="csY1" fmla="*/ 0 h 5516925"/>
              <a:gd name="csX2" fmla="*/ 12192000 w 12192000"/>
              <a:gd name="csY2" fmla="*/ 4948990 h 5516925"/>
              <a:gd name="csX3" fmla="*/ 11970634 w 12192000"/>
              <a:gd name="csY3" fmla="*/ 4992296 h 5516925"/>
              <a:gd name="csX4" fmla="*/ 5880939 w 12192000"/>
              <a:gd name="csY4" fmla="*/ 5516925 h 5516925"/>
              <a:gd name="csX5" fmla="*/ 342109 w 12192000"/>
              <a:gd name="csY5" fmla="*/ 5088289 h 5516925"/>
              <a:gd name="csX6" fmla="*/ 0 w 12192000"/>
              <a:gd name="csY6" fmla="*/ 5028674 h 5516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192000" h="5516925">
                <a:moveTo>
                  <a:pt x="0" y="0"/>
                </a:moveTo>
                <a:lnTo>
                  <a:pt x="12192000" y="0"/>
                </a:lnTo>
                <a:lnTo>
                  <a:pt x="12192000" y="4948990"/>
                </a:lnTo>
                <a:lnTo>
                  <a:pt x="11970634" y="4992296"/>
                </a:lnTo>
                <a:cubicBezTo>
                  <a:pt x="10160392" y="5326876"/>
                  <a:pt x="8085898" y="5516925"/>
                  <a:pt x="5880939" y="5516925"/>
                </a:cubicBezTo>
                <a:cubicBezTo>
                  <a:pt x="3896475" y="5516925"/>
                  <a:pt x="2017688" y="5362985"/>
                  <a:pt x="342109" y="5088289"/>
                </a:cubicBezTo>
                <a:lnTo>
                  <a:pt x="0" y="5028674"/>
                </a:lnTo>
                <a:close/>
              </a:path>
            </a:pathLst>
          </a:custGeom>
          <a:gradFill flip="none" rotWithShape="1">
            <a:gsLst>
              <a:gs pos="28000">
                <a:srgbClr val="2057A6"/>
              </a:gs>
              <a:gs pos="73000">
                <a:srgbClr val="0089CB"/>
              </a:gs>
              <a:gs pos="100000">
                <a:srgbClr val="009DD9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717E72-C6AA-82CB-B70B-E753F7E23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496" y="2349597"/>
            <a:ext cx="11077007" cy="140325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E2D808-3655-52A2-C50C-0D2EC38BC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57687"/>
            <a:ext cx="9144000" cy="9239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</a:t>
            </a:r>
            <a:endParaRPr lang="en-US" altLang="ko-KR" dirty="0"/>
          </a:p>
          <a:p>
            <a:r>
              <a:rPr lang="ko-KR" altLang="en-US" dirty="0"/>
              <a:t>스타일 편집</a:t>
            </a:r>
          </a:p>
        </p:txBody>
      </p: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D15CBA63-48D8-E330-CE56-5EA3DC6B6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7496" y="416628"/>
            <a:ext cx="4996422" cy="376774"/>
          </a:xfrm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37" name="그림 36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DD964E-977D-69BE-6C37-7F495C451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055" y="6196373"/>
            <a:ext cx="1313889" cy="489998"/>
          </a:xfrm>
          <a:prstGeom prst="rect">
            <a:avLst/>
          </a:prstGeom>
        </p:spPr>
      </p:pic>
      <p:pic>
        <p:nvPicPr>
          <p:cNvPr id="39" name="그림 38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FFC963-F4F5-928A-6C9F-17A35ACA21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9858399" y="476050"/>
            <a:ext cx="2103124" cy="2579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8459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332B523-68FF-C5CE-E77E-C28F284FCBB9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 flip="none" rotWithShape="1">
            <a:gsLst>
              <a:gs pos="50000">
                <a:srgbClr val="2057A6"/>
              </a:gs>
              <a:gs pos="78000">
                <a:srgbClr val="0089CB"/>
              </a:gs>
              <a:gs pos="100000">
                <a:srgbClr val="009DD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DC563B-9651-E414-9340-9023A5B28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96" y="61912"/>
            <a:ext cx="9949086" cy="638175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4" name="그림 3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96EA2B-C8B6-A2C9-F39D-87FE954B10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10018981" y="252034"/>
            <a:ext cx="2103124" cy="2579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FFD56F5-9148-D27D-2C2B-7357FB6A7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" y="898525"/>
            <a:ext cx="12052300" cy="588962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7B7C23B-493A-BBDB-3985-0556F5CE2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8905" y="6430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26B6EFD-AA77-41FE-AE8F-E1D50C1DBB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56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E188C05-5121-7975-1160-633878230B14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 flip="none" rotWithShape="1">
            <a:gsLst>
              <a:gs pos="50000">
                <a:srgbClr val="2057A6"/>
              </a:gs>
              <a:gs pos="78000">
                <a:srgbClr val="0089CB"/>
              </a:gs>
              <a:gs pos="100000">
                <a:srgbClr val="009DD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DC563B-9651-E414-9340-9023A5B28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4" y="61912"/>
            <a:ext cx="11687175" cy="638175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A09CA6-7BE8-8CA6-3F06-FA887C2E9019}"/>
              </a:ext>
            </a:extLst>
          </p:cNvPr>
          <p:cNvSpPr/>
          <p:nvPr userDrawn="1"/>
        </p:nvSpPr>
        <p:spPr>
          <a:xfrm>
            <a:off x="185737" y="0"/>
            <a:ext cx="176213" cy="501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78814B-FD35-CA08-FE54-53E5549307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32579" r="3625" b="46562"/>
          <a:stretch>
            <a:fillRect/>
          </a:stretch>
        </p:blipFill>
        <p:spPr>
          <a:xfrm>
            <a:off x="10018981" y="252034"/>
            <a:ext cx="2103124" cy="2579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765CE8-EECF-B6C1-DF61-51A0E6355E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793" y="890209"/>
            <a:ext cx="11936413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AD4F3D-DA6D-3410-CC21-7AF5BD9D2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1006" y="63766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26B6EFD-AA77-41FE-AE8F-E1D50C1DBB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215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155575A-59FD-D78F-E0B1-901341F0DE69}"/>
              </a:ext>
            </a:extLst>
          </p:cNvPr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gradFill flip="none" rotWithShape="1">
            <a:gsLst>
              <a:gs pos="50000">
                <a:srgbClr val="2057A6"/>
              </a:gs>
              <a:gs pos="78000">
                <a:srgbClr val="0089CB"/>
              </a:gs>
              <a:gs pos="100000">
                <a:srgbClr val="009DD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DC563B-9651-E414-9340-9023A5B28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4" y="61912"/>
            <a:ext cx="11687175" cy="638175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A09CA6-7BE8-8CA6-3F06-FA887C2E9019}"/>
              </a:ext>
            </a:extLst>
          </p:cNvPr>
          <p:cNvSpPr/>
          <p:nvPr userDrawn="1"/>
        </p:nvSpPr>
        <p:spPr>
          <a:xfrm>
            <a:off x="185737" y="0"/>
            <a:ext cx="176213" cy="501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스크린샷, 폰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4341F0-00E2-7FF1-90AA-00D7DCD68D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31171" r="3095" b="46343"/>
          <a:stretch>
            <a:fillRect/>
          </a:stretch>
        </p:blipFill>
        <p:spPr>
          <a:xfrm>
            <a:off x="9960021" y="239484"/>
            <a:ext cx="2165304" cy="2830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917A95C7-1687-4BFF-5C9A-29615C0672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793" y="890209"/>
            <a:ext cx="11936413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E44FAC85-97DE-65A3-3AD8-353F9729A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1006" y="63766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26B6EFD-AA77-41FE-AE8F-E1D50C1DBB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9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75B8E8-3DDA-5EDB-B29D-8036C04F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012E74-FC6A-49F7-D558-2CC79692E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16551B-2724-C7C4-17BC-2E89F6D46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31C36E91-CEC5-4CD3-A0F4-6EDCBB41E6BC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ACE58F-0A14-A03D-E0FE-A5946112B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65634-FCDB-8DE3-1656-E8C37B12B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CE92B13-0DEE-4AFB-A91D-B5513A4C88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27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8" r:id="rId4"/>
    <p:sldLayoutId id="2147483671" r:id="rId5"/>
    <p:sldLayoutId id="2147483669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</p:titleStyle>
    <p:bodyStyle>
      <a:lvl1pPr marL="228600" indent="-324000" algn="l" defTabSz="914400" rtl="0" eaLnBrk="1" latinLnBrk="1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75B8E8-3DDA-5EDB-B29D-8036C04F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012E74-FC6A-49F7-D558-2CC79692E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16551B-2724-C7C4-17BC-2E89F6D46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84D2421C-BAF4-4076-9D02-F5E86F7ABA33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ACE58F-0A14-A03D-E0FE-A5946112B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865634-FCDB-8DE3-1656-E8C37B12B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7CE92B13-0DEE-4AFB-A91D-B5513A4C887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37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0" r:id="rId2"/>
    <p:sldLayoutId id="2147483681" r:id="rId3"/>
    <p:sldLayoutId id="2147483682" r:id="rId4"/>
    <p:sldLayoutId id="214748368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</p:titleStyle>
    <p:bodyStyle>
      <a:lvl1pPr marL="228600" indent="-324000" algn="l" defTabSz="914400" rtl="0" eaLnBrk="1" latinLnBrk="1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8DC113-67E6-2853-DE95-C2C1D2A4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0A638D-A1B2-59BB-011F-30BC9711C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C2AA15-E098-DD36-59C2-AA706821D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B7AD4B7D-95B2-4DEC-B91A-944DC3E8A719}" type="datetime1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8BA91-D2FF-B8B5-7E82-96B1E80FE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9C9C5-5533-9A19-F1BC-90E79A8A8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C26B6EFD-AA77-41FE-AE8F-E1D50C1DBB8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70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ECFA2-1AB7-29DD-24F7-52EFEF7E6B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ARM Cryptographic Extension</a:t>
            </a:r>
            <a:r>
              <a:rPr lang="ko-KR" altLang="en-US" dirty="0"/>
              <a:t>을 활용한 </a:t>
            </a:r>
            <a:r>
              <a:rPr lang="en-US" altLang="ko-KR" dirty="0"/>
              <a:t>Rijndael-256 </a:t>
            </a:r>
            <a:r>
              <a:rPr lang="ko-KR" altLang="en-US" dirty="0"/>
              <a:t>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D81253-03F8-5D8D-AF06-0EDA949CE3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https://youtu.be/mbFTdKw8hRg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021687-2E56-BAD9-BD21-638C925B0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26. 01.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179046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355E3-0E86-8D78-F658-B6C925C1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Rijndael-256 AES-NI </a:t>
            </a:r>
            <a:r>
              <a:rPr lang="ko-KR" altLang="en-US" dirty="0"/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7D8368-23BF-85DE-CA7C-E4A242852F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Software Optimization of Rijndael256 for Modern x86-64 Platforms</a:t>
            </a:r>
          </a:p>
          <a:p>
            <a:pPr lvl="1"/>
            <a:r>
              <a:rPr lang="ko-KR" altLang="en-US" dirty="0"/>
              <a:t>대표적인 </a:t>
            </a:r>
            <a:r>
              <a:rPr lang="en-US" altLang="ko-KR" dirty="0"/>
              <a:t>AES </a:t>
            </a:r>
            <a:r>
              <a:rPr lang="ko-KR" altLang="en-US" dirty="0"/>
              <a:t>블록 암호를 위해서 하드웨어 가속기 </a:t>
            </a:r>
            <a:r>
              <a:rPr lang="en-US" altLang="ko-KR" dirty="0"/>
              <a:t>AES-NI</a:t>
            </a:r>
            <a:r>
              <a:rPr lang="ko-KR" altLang="en-US" dirty="0"/>
              <a:t>가 존재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이를 통해서 </a:t>
            </a:r>
            <a:r>
              <a:rPr lang="en-US" altLang="ko-KR" dirty="0"/>
              <a:t>AES</a:t>
            </a:r>
            <a:r>
              <a:rPr lang="ko-KR" altLang="en-US" dirty="0"/>
              <a:t>는 굉장히 빠르게 암호화를 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하지만</a:t>
            </a:r>
            <a:r>
              <a:rPr lang="en-US" altLang="ko-KR" dirty="0"/>
              <a:t> Rijndael-256</a:t>
            </a:r>
            <a:r>
              <a:rPr lang="ko-KR" altLang="en-US" dirty="0"/>
              <a:t>은 </a:t>
            </a:r>
            <a:r>
              <a:rPr lang="en-US" altLang="ko-KR" dirty="0"/>
              <a:t>AES </a:t>
            </a:r>
            <a:r>
              <a:rPr lang="ko-KR" altLang="en-US" dirty="0"/>
              <a:t>알고리즘과 다른 부분이 있음</a:t>
            </a:r>
            <a:endParaRPr lang="en-US" altLang="ko-KR" dirty="0"/>
          </a:p>
          <a:p>
            <a:pPr lvl="1"/>
            <a:r>
              <a:rPr lang="en-US" altLang="ko-KR" dirty="0"/>
              <a:t>AES</a:t>
            </a:r>
            <a:r>
              <a:rPr lang="ko-KR" altLang="en-US" dirty="0"/>
              <a:t>는 </a:t>
            </a:r>
            <a:r>
              <a:rPr lang="en-US" altLang="ko-KR" dirty="0" err="1"/>
              <a:t>Shiftrows</a:t>
            </a:r>
            <a:r>
              <a:rPr lang="en-US" altLang="ko-KR" dirty="0"/>
              <a:t>(0, 1, 2, 3) </a:t>
            </a:r>
            <a:r>
              <a:rPr lang="ko-KR" altLang="en-US" dirty="0"/>
              <a:t>하도록 되어있음</a:t>
            </a:r>
            <a:endParaRPr lang="en-US" altLang="ko-KR" dirty="0"/>
          </a:p>
          <a:p>
            <a:pPr lvl="1"/>
            <a:r>
              <a:rPr lang="en-US" altLang="ko-KR" dirty="0"/>
              <a:t>Rijndael-256</a:t>
            </a:r>
            <a:r>
              <a:rPr lang="ko-KR" altLang="en-US" dirty="0"/>
              <a:t>은 </a:t>
            </a:r>
            <a:r>
              <a:rPr lang="en-US" altLang="ko-KR" dirty="0" err="1"/>
              <a:t>Shiftrows</a:t>
            </a:r>
            <a:r>
              <a:rPr lang="en-US" altLang="ko-KR" dirty="0"/>
              <a:t>(0,1,3,4) </a:t>
            </a:r>
            <a:r>
              <a:rPr lang="ko-KR" altLang="en-US" dirty="0"/>
              <a:t>으로 바뀜</a:t>
            </a:r>
            <a:endParaRPr lang="en-US" altLang="ko-KR" dirty="0"/>
          </a:p>
          <a:p>
            <a:pPr lvl="1"/>
            <a:r>
              <a:rPr lang="ko-KR" altLang="en-US" dirty="0"/>
              <a:t>따라서</a:t>
            </a:r>
            <a:r>
              <a:rPr lang="en-US" altLang="ko-KR" dirty="0"/>
              <a:t>,</a:t>
            </a:r>
          </a:p>
          <a:p>
            <a:pPr lvl="2"/>
            <a:r>
              <a:rPr lang="en-US" altLang="ko-KR" dirty="0"/>
              <a:t>AES-NI</a:t>
            </a:r>
            <a:r>
              <a:rPr lang="ko-KR" altLang="en-US" dirty="0"/>
              <a:t>는 </a:t>
            </a:r>
            <a:r>
              <a:rPr lang="en-US" altLang="ko-KR" dirty="0"/>
              <a:t>128</a:t>
            </a:r>
            <a:r>
              <a:rPr lang="ko-KR" altLang="en-US" dirty="0"/>
              <a:t>비트 레지스터를 그대로 사용하도록 되어있음</a:t>
            </a:r>
            <a:endParaRPr lang="en-US" altLang="ko-KR" dirty="0"/>
          </a:p>
          <a:p>
            <a:pPr lvl="2"/>
            <a:r>
              <a:rPr lang="ko-KR" altLang="en-US" dirty="0"/>
              <a:t>예를 들면 </a:t>
            </a:r>
            <a:r>
              <a:rPr lang="en-US" altLang="ko-KR" dirty="0"/>
              <a:t>-&gt; </a:t>
            </a:r>
            <a:r>
              <a:rPr lang="en-US" altLang="ko-KR" dirty="0" err="1"/>
              <a:t>Aesenc</a:t>
            </a:r>
            <a:r>
              <a:rPr lang="en-US" altLang="ko-KR" dirty="0"/>
              <a:t> xmm1, xmm1  </a:t>
            </a:r>
          </a:p>
          <a:p>
            <a:pPr lvl="2"/>
            <a:r>
              <a:rPr lang="ko-KR" altLang="en-US" dirty="0"/>
              <a:t>근데</a:t>
            </a:r>
            <a:r>
              <a:rPr lang="en-US" altLang="ko-KR" dirty="0"/>
              <a:t>, </a:t>
            </a:r>
            <a:r>
              <a:rPr lang="ko-KR" altLang="en-US" dirty="0"/>
              <a:t>블록크기가 </a:t>
            </a:r>
            <a:r>
              <a:rPr lang="en-US" altLang="ko-KR" dirty="0"/>
              <a:t>256</a:t>
            </a:r>
            <a:r>
              <a:rPr lang="ko-KR" altLang="en-US" dirty="0"/>
              <a:t>비트라면 </a:t>
            </a:r>
            <a:r>
              <a:rPr lang="en-US" altLang="ko-KR" dirty="0"/>
              <a:t>state</a:t>
            </a:r>
            <a:r>
              <a:rPr lang="ko-KR" altLang="en-US" dirty="0"/>
              <a:t>가 두개의 레지스터로 나뉘어 </a:t>
            </a:r>
            <a:r>
              <a:rPr lang="ko-KR" altLang="en-US" dirty="0" err="1"/>
              <a:t>저장해야함</a:t>
            </a:r>
            <a:endParaRPr lang="en-US" altLang="ko-KR" dirty="0"/>
          </a:p>
          <a:p>
            <a:pPr lvl="3"/>
            <a:r>
              <a:rPr lang="en-US" altLang="ko-KR" dirty="0" err="1"/>
              <a:t>Aesenc</a:t>
            </a:r>
            <a:r>
              <a:rPr lang="en-US" altLang="ko-KR" dirty="0"/>
              <a:t> xmm1, xmm1   / </a:t>
            </a:r>
            <a:r>
              <a:rPr lang="en-US" altLang="ko-KR" dirty="0" err="1"/>
              <a:t>aesenc</a:t>
            </a:r>
            <a:r>
              <a:rPr lang="en-US" altLang="ko-KR" dirty="0"/>
              <a:t> xmm2, xmm2 </a:t>
            </a:r>
          </a:p>
          <a:p>
            <a:pPr lvl="2"/>
            <a:r>
              <a:rPr lang="ko-KR" altLang="en-US" dirty="0"/>
              <a:t>근데 </a:t>
            </a:r>
            <a:r>
              <a:rPr lang="en-US" altLang="ko-KR" dirty="0" err="1"/>
              <a:t>Shiftrows</a:t>
            </a:r>
            <a:r>
              <a:rPr lang="ko-KR" altLang="en-US" dirty="0"/>
              <a:t>가 달라서 </a:t>
            </a:r>
            <a:r>
              <a:rPr lang="en-US" altLang="ko-KR" dirty="0" err="1"/>
              <a:t>aesenc</a:t>
            </a:r>
            <a:r>
              <a:rPr lang="ko-KR" altLang="en-US" dirty="0"/>
              <a:t>를 사용할 수 없음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E696D-B6EA-CD7D-C7E5-7D4EA1471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62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8BE6-5074-416C-1C36-93F239678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F82D6-466C-13B3-DB71-5E10A8DF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Rijndael-256 AES-NI </a:t>
            </a:r>
            <a:r>
              <a:rPr lang="ko-KR" altLang="en-US" dirty="0"/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7CCA2D-A0F0-915B-1929-61A404FAD3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AES</a:t>
            </a:r>
            <a:r>
              <a:rPr lang="ko-KR" altLang="en-US" dirty="0"/>
              <a:t>의 라운드 함수</a:t>
            </a:r>
            <a:endParaRPr lang="en-US" altLang="ko-KR" dirty="0"/>
          </a:p>
          <a:p>
            <a:pPr lvl="1"/>
            <a:r>
              <a:rPr lang="en-US" altLang="ko-KR" dirty="0" err="1"/>
              <a:t>Subbyte</a:t>
            </a:r>
            <a:r>
              <a:rPr lang="en-US" altLang="ko-KR" dirty="0"/>
              <a:t> : </a:t>
            </a:r>
            <a:r>
              <a:rPr lang="ko-KR" altLang="en-US" dirty="0"/>
              <a:t>바이트 독립적</a:t>
            </a:r>
            <a:endParaRPr lang="en-US" altLang="ko-KR" dirty="0"/>
          </a:p>
          <a:p>
            <a:pPr lvl="1"/>
            <a:r>
              <a:rPr lang="en-US" altLang="ko-KR" dirty="0" err="1"/>
              <a:t>Shiftrows</a:t>
            </a:r>
            <a:r>
              <a:rPr lang="en-US" altLang="ko-KR" dirty="0"/>
              <a:t> : </a:t>
            </a:r>
            <a:r>
              <a:rPr lang="ko-KR" altLang="en-US" dirty="0"/>
              <a:t>행 단위의 순열</a:t>
            </a:r>
            <a:endParaRPr lang="en-US" altLang="ko-KR" dirty="0"/>
          </a:p>
          <a:p>
            <a:pPr lvl="1"/>
            <a:r>
              <a:rPr lang="en-US" altLang="ko-KR" dirty="0" err="1"/>
              <a:t>Mixcolumns</a:t>
            </a:r>
            <a:r>
              <a:rPr lang="en-US" altLang="ko-KR" dirty="0"/>
              <a:t> : </a:t>
            </a:r>
            <a:r>
              <a:rPr lang="ko-KR" altLang="en-US" dirty="0"/>
              <a:t>열 단위의 확산</a:t>
            </a:r>
            <a:endParaRPr lang="en-US" altLang="ko-KR" dirty="0"/>
          </a:p>
          <a:p>
            <a:pPr lvl="1"/>
            <a:r>
              <a:rPr lang="en-US" altLang="ko-KR" dirty="0" err="1"/>
              <a:t>Addroundkey</a:t>
            </a:r>
            <a:r>
              <a:rPr lang="en-US" altLang="ko-KR" dirty="0"/>
              <a:t> : </a:t>
            </a:r>
            <a:r>
              <a:rPr lang="ko-KR" altLang="en-US" dirty="0"/>
              <a:t>바이트 독립적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3F98AE-2D5A-C90C-039B-EE64D7D63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3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E4291D2-CFC1-36C8-062C-742870640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21244"/>
              </p:ext>
            </p:extLst>
          </p:nvPr>
        </p:nvGraphicFramePr>
        <p:xfrm>
          <a:off x="6024843" y="1209071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6B914FA-F8EC-C54E-8572-D38AB2A6B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951753"/>
              </p:ext>
            </p:extLst>
          </p:nvPr>
        </p:nvGraphicFramePr>
        <p:xfrm>
          <a:off x="9459860" y="1209071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3A0189-1C46-121E-A8DC-4D96FCD25254}"/>
              </a:ext>
            </a:extLst>
          </p:cNvPr>
          <p:cNvSpPr txBox="1"/>
          <p:nvPr/>
        </p:nvSpPr>
        <p:spPr>
          <a:xfrm>
            <a:off x="8206973" y="316326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Mixcolumns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EBED634-BFDB-63F1-4389-611C17AEB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153043"/>
              </p:ext>
            </p:extLst>
          </p:nvPr>
        </p:nvGraphicFramePr>
        <p:xfrm>
          <a:off x="616728" y="4018900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4B131BA-047E-45A2-33CC-C7D1FEB73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015114"/>
              </p:ext>
            </p:extLst>
          </p:nvPr>
        </p:nvGraphicFramePr>
        <p:xfrm>
          <a:off x="4051745" y="4018900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E0D34ED-8BCA-46C1-5185-E69AEBBC9A7A}"/>
              </a:ext>
            </a:extLst>
          </p:cNvPr>
          <p:cNvSpPr txBox="1"/>
          <p:nvPr/>
        </p:nvSpPr>
        <p:spPr>
          <a:xfrm>
            <a:off x="2961744" y="6105556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Shiftrows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25FC47-9E42-CD5A-8BE2-D4AA6C05582B}"/>
              </a:ext>
            </a:extLst>
          </p:cNvPr>
          <p:cNvSpPr txBox="1"/>
          <p:nvPr/>
        </p:nvSpPr>
        <p:spPr>
          <a:xfrm>
            <a:off x="3118657" y="4495624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&gt;&gt;&gt; 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99B0FE-B8B0-F062-C675-16FC6D770F74}"/>
              </a:ext>
            </a:extLst>
          </p:cNvPr>
          <p:cNvSpPr txBox="1"/>
          <p:nvPr/>
        </p:nvSpPr>
        <p:spPr>
          <a:xfrm>
            <a:off x="3118657" y="489016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&gt;&gt;&gt; 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C1C5A0-1EF4-3783-7C12-3011B062349D}"/>
              </a:ext>
            </a:extLst>
          </p:cNvPr>
          <p:cNvSpPr txBox="1"/>
          <p:nvPr/>
        </p:nvSpPr>
        <p:spPr>
          <a:xfrm>
            <a:off x="3118657" y="531319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&gt;&gt;&gt; 3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F42C790-D857-7A5F-3B81-31557F81A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782639"/>
              </p:ext>
            </p:extLst>
          </p:nvPr>
        </p:nvGraphicFramePr>
        <p:xfrm>
          <a:off x="7305716" y="4467140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12BBC1E-5720-3465-BA5D-88B934D0A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212431"/>
              </p:ext>
            </p:extLst>
          </p:nvPr>
        </p:nvGraphicFramePr>
        <p:xfrm>
          <a:off x="9719190" y="4467140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7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AD692-A500-4D5A-AF97-76490E1C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DB7BB-2DD9-A839-1281-E1037C91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Rijndael-256 AES-NI </a:t>
            </a:r>
            <a:r>
              <a:rPr lang="ko-KR" altLang="en-US" dirty="0"/>
              <a:t>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59921B-5DD8-95E3-49BA-78AED16C6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4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DFB8BC3-684E-091B-4D6C-592914B82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66286"/>
              </p:ext>
            </p:extLst>
          </p:nvPr>
        </p:nvGraphicFramePr>
        <p:xfrm>
          <a:off x="440992" y="1333976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9FE2B82-C0A2-AAA1-2A1B-C85F9B184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737268"/>
              </p:ext>
            </p:extLst>
          </p:nvPr>
        </p:nvGraphicFramePr>
        <p:xfrm>
          <a:off x="2786008" y="1333976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918DF09-C989-24DC-E2AE-7594216F96C5}"/>
              </a:ext>
            </a:extLst>
          </p:cNvPr>
          <p:cNvSpPr txBox="1"/>
          <p:nvPr/>
        </p:nvSpPr>
        <p:spPr>
          <a:xfrm>
            <a:off x="4930296" y="3090071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Shiftrows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B738B20-6D1C-CB28-7C90-761F7CDFF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58109"/>
              </p:ext>
            </p:extLst>
          </p:nvPr>
        </p:nvGraphicFramePr>
        <p:xfrm>
          <a:off x="7060978" y="1333976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5682534-B4A2-1C65-DDD3-C030792CF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649259"/>
              </p:ext>
            </p:extLst>
          </p:nvPr>
        </p:nvGraphicFramePr>
        <p:xfrm>
          <a:off x="9405994" y="1333976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27FD042-0C25-0D88-AAFC-C8714F26F694}"/>
              </a:ext>
            </a:extLst>
          </p:cNvPr>
          <p:cNvSpPr txBox="1"/>
          <p:nvPr/>
        </p:nvSpPr>
        <p:spPr>
          <a:xfrm>
            <a:off x="5765559" y="1839184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&gt;&gt;&gt; 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3DBDD-0F52-90E0-7330-E7BF1EBF0CB6}"/>
              </a:ext>
            </a:extLst>
          </p:cNvPr>
          <p:cNvSpPr txBox="1"/>
          <p:nvPr/>
        </p:nvSpPr>
        <p:spPr>
          <a:xfrm>
            <a:off x="5765559" y="223372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&gt;&gt;&gt; 3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188069-215F-B8AB-D513-5FD881F4AEDE}"/>
              </a:ext>
            </a:extLst>
          </p:cNvPr>
          <p:cNvSpPr txBox="1"/>
          <p:nvPr/>
        </p:nvSpPr>
        <p:spPr>
          <a:xfrm>
            <a:off x="5765559" y="2656756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&gt;&gt;&gt; 4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541DAA-76DA-0B64-C911-8900BD6A90F5}"/>
              </a:ext>
            </a:extLst>
          </p:cNvPr>
          <p:cNvSpPr txBox="1"/>
          <p:nvPr/>
        </p:nvSpPr>
        <p:spPr>
          <a:xfrm>
            <a:off x="7842308" y="931063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C1C96-2965-856A-DEE2-EC07F33512CB}"/>
              </a:ext>
            </a:extLst>
          </p:cNvPr>
          <p:cNvSpPr txBox="1"/>
          <p:nvPr/>
        </p:nvSpPr>
        <p:spPr>
          <a:xfrm>
            <a:off x="10166370" y="931063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68CB26-A6A3-3A49-323A-8B33E2D03526}"/>
              </a:ext>
            </a:extLst>
          </p:cNvPr>
          <p:cNvSpPr txBox="1"/>
          <p:nvPr/>
        </p:nvSpPr>
        <p:spPr>
          <a:xfrm>
            <a:off x="1201365" y="931063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E1558E-DF78-9578-6A20-61D4DD313FD1}"/>
              </a:ext>
            </a:extLst>
          </p:cNvPr>
          <p:cNvSpPr txBox="1"/>
          <p:nvPr/>
        </p:nvSpPr>
        <p:spPr>
          <a:xfrm>
            <a:off x="3525427" y="931063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89FC2A3-F1CC-63F7-5DE5-5B1AEFDC6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683948"/>
              </p:ext>
            </p:extLst>
          </p:nvPr>
        </p:nvGraphicFramePr>
        <p:xfrm>
          <a:off x="440990" y="3900198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1BA3D24-B835-BFD3-194E-F806DA78E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080313"/>
              </p:ext>
            </p:extLst>
          </p:nvPr>
        </p:nvGraphicFramePr>
        <p:xfrm>
          <a:off x="2786006" y="3900197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DE1F4CC-986D-9AD4-E26A-20D1A1F8D3AF}"/>
              </a:ext>
            </a:extLst>
          </p:cNvPr>
          <p:cNvSpPr txBox="1"/>
          <p:nvPr/>
        </p:nvSpPr>
        <p:spPr>
          <a:xfrm>
            <a:off x="1201363" y="3466882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6896BD-66CB-EF4B-E219-3178BB6B5C29}"/>
              </a:ext>
            </a:extLst>
          </p:cNvPr>
          <p:cNvSpPr txBox="1"/>
          <p:nvPr/>
        </p:nvSpPr>
        <p:spPr>
          <a:xfrm>
            <a:off x="3525425" y="3466882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B7CA927-C1FB-DFC4-BFD1-49403B39B433}"/>
              </a:ext>
            </a:extLst>
          </p:cNvPr>
          <p:cNvCxnSpPr>
            <a:cxnSpLocks/>
          </p:cNvCxnSpPr>
          <p:nvPr/>
        </p:nvCxnSpPr>
        <p:spPr>
          <a:xfrm flipH="1">
            <a:off x="5242110" y="3026088"/>
            <a:ext cx="1763808" cy="8397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40407FC-A885-49FD-AED9-C0CA6DDC6D6D}"/>
              </a:ext>
            </a:extLst>
          </p:cNvPr>
          <p:cNvCxnSpPr/>
          <p:nvPr/>
        </p:nvCxnSpPr>
        <p:spPr>
          <a:xfrm>
            <a:off x="5884753" y="3262329"/>
            <a:ext cx="433315" cy="4333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5D13816-7983-A78E-7523-82E2056B9D3D}"/>
              </a:ext>
            </a:extLst>
          </p:cNvPr>
          <p:cNvCxnSpPr>
            <a:cxnSpLocks/>
          </p:cNvCxnSpPr>
          <p:nvPr/>
        </p:nvCxnSpPr>
        <p:spPr>
          <a:xfrm flipH="1">
            <a:off x="5985313" y="3205508"/>
            <a:ext cx="232193" cy="5469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그림 30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513EDF-FA7C-41E1-723B-5A8AD796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836" y="5870052"/>
            <a:ext cx="2314898" cy="771633"/>
          </a:xfrm>
          <a:prstGeom prst="rect">
            <a:avLst/>
          </a:prstGeom>
        </p:spPr>
      </p:pic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D72DB835-D8C7-9A28-E770-72D165A63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46050"/>
              </p:ext>
            </p:extLst>
          </p:nvPr>
        </p:nvGraphicFramePr>
        <p:xfrm>
          <a:off x="7060978" y="4268798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54DADC7C-0C2D-EF0C-D0DC-29874FB35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922652"/>
              </p:ext>
            </p:extLst>
          </p:nvPr>
        </p:nvGraphicFramePr>
        <p:xfrm>
          <a:off x="9405994" y="4268798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4020C6BA-9190-B25E-EF87-2C22BF016DEF}"/>
              </a:ext>
            </a:extLst>
          </p:cNvPr>
          <p:cNvSpPr txBox="1"/>
          <p:nvPr/>
        </p:nvSpPr>
        <p:spPr>
          <a:xfrm>
            <a:off x="7842308" y="3865885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8E2A55-F093-A1E9-312F-914B99059043}"/>
              </a:ext>
            </a:extLst>
          </p:cNvPr>
          <p:cNvSpPr txBox="1"/>
          <p:nvPr/>
        </p:nvSpPr>
        <p:spPr>
          <a:xfrm>
            <a:off x="10166370" y="3865885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BFB2744-D677-CFA6-B394-79D89C0DCFE8}"/>
              </a:ext>
            </a:extLst>
          </p:cNvPr>
          <p:cNvCxnSpPr>
            <a:cxnSpLocks/>
          </p:cNvCxnSpPr>
          <p:nvPr/>
        </p:nvCxnSpPr>
        <p:spPr>
          <a:xfrm>
            <a:off x="9405994" y="4268798"/>
            <a:ext cx="0" cy="203169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3C01468-42D9-B71C-C3D9-A9F6F4B43D58}"/>
              </a:ext>
            </a:extLst>
          </p:cNvPr>
          <p:cNvCxnSpPr>
            <a:endCxn id="34" idx="0"/>
          </p:cNvCxnSpPr>
          <p:nvPr/>
        </p:nvCxnSpPr>
        <p:spPr>
          <a:xfrm>
            <a:off x="8233486" y="3205508"/>
            <a:ext cx="0" cy="546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2D3000A-85FB-A437-02A7-70209CD20731}"/>
              </a:ext>
            </a:extLst>
          </p:cNvPr>
          <p:cNvCxnSpPr/>
          <p:nvPr/>
        </p:nvCxnSpPr>
        <p:spPr>
          <a:xfrm>
            <a:off x="10578502" y="3205508"/>
            <a:ext cx="0" cy="546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86579C5-CDFA-BB0C-8A5F-3ECF2EB605F3}"/>
              </a:ext>
            </a:extLst>
          </p:cNvPr>
          <p:cNvSpPr txBox="1"/>
          <p:nvPr/>
        </p:nvSpPr>
        <p:spPr>
          <a:xfrm>
            <a:off x="9041022" y="3034456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&lt;&lt;&lt; 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10AA4B-9EE2-8EB5-3AF5-F95DE4F25842}"/>
              </a:ext>
            </a:extLst>
          </p:cNvPr>
          <p:cNvSpPr txBox="1"/>
          <p:nvPr/>
        </p:nvSpPr>
        <p:spPr>
          <a:xfrm>
            <a:off x="9041022" y="342900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&lt;&lt;&lt; 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070D75-5A23-551C-C21A-E208E9686858}"/>
              </a:ext>
            </a:extLst>
          </p:cNvPr>
          <p:cNvSpPr txBox="1"/>
          <p:nvPr/>
        </p:nvSpPr>
        <p:spPr>
          <a:xfrm>
            <a:off x="9041022" y="385202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&lt;&lt;&lt; 3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BDDA73B-D340-F349-5C57-5D11764EE8DC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9405994" y="931063"/>
            <a:ext cx="23116" cy="210339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58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864E-3E1E-C749-6F01-A0F99DCA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D10FA-1B3E-7287-12D3-E168B01D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Rijndael-256 AES-NI </a:t>
            </a:r>
            <a:r>
              <a:rPr lang="ko-KR" altLang="en-US" dirty="0"/>
              <a:t>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9F66F4-540C-487E-2AD7-56F51DED6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5C0093-B2E0-6950-BBF6-ACADDCF48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739" y="4568375"/>
            <a:ext cx="3349267" cy="1440023"/>
          </a:xfrm>
          <a:prstGeom prst="rect">
            <a:avLst/>
          </a:prstGeom>
        </p:spPr>
      </p:pic>
      <p:pic>
        <p:nvPicPr>
          <p:cNvPr id="8" name="그림 7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521FB9-A7D4-5C69-0CAC-FEC0F49E3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501" y="931469"/>
            <a:ext cx="3353659" cy="3210585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FB4336B-87C7-569B-6317-6FAE10185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423919"/>
              </p:ext>
            </p:extLst>
          </p:nvPr>
        </p:nvGraphicFramePr>
        <p:xfrm>
          <a:off x="418479" y="1334382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8707DD5-6416-578A-9B40-85AFF12BF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291571"/>
              </p:ext>
            </p:extLst>
          </p:nvPr>
        </p:nvGraphicFramePr>
        <p:xfrm>
          <a:off x="2870994" y="1334382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BB1A1C2-E1D7-3EB0-5907-5BBC5FDE6332}"/>
              </a:ext>
            </a:extLst>
          </p:cNvPr>
          <p:cNvSpPr txBox="1"/>
          <p:nvPr/>
        </p:nvSpPr>
        <p:spPr>
          <a:xfrm>
            <a:off x="1286351" y="931469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712214-0732-B5ED-2213-5FDCF97F0A1C}"/>
              </a:ext>
            </a:extLst>
          </p:cNvPr>
          <p:cNvSpPr txBox="1"/>
          <p:nvPr/>
        </p:nvSpPr>
        <p:spPr>
          <a:xfrm>
            <a:off x="3610413" y="931469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xmm2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E4A4069-459F-99F9-4570-D2CA16AF4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990792"/>
              </p:ext>
            </p:extLst>
          </p:nvPr>
        </p:nvGraphicFramePr>
        <p:xfrm>
          <a:off x="418479" y="3295998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790834D-869B-BAB5-C5AE-41B25FE16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597317"/>
              </p:ext>
            </p:extLst>
          </p:nvPr>
        </p:nvGraphicFramePr>
        <p:xfrm>
          <a:off x="2870994" y="3295998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CC7C472-08FD-B5E8-2160-86E4F38C6295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4434678" y="1116135"/>
            <a:ext cx="1740442" cy="1158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D66D9648-7263-78EA-C736-070E42D683D9}"/>
              </a:ext>
            </a:extLst>
          </p:cNvPr>
          <p:cNvCxnSpPr>
            <a:cxnSpLocks/>
            <a:endCxn id="11" idx="0"/>
          </p:cNvCxnSpPr>
          <p:nvPr/>
        </p:nvCxnSpPr>
        <p:spPr>
          <a:xfrm rot="10800000">
            <a:off x="1680852" y="931469"/>
            <a:ext cx="4494269" cy="344778"/>
          </a:xfrm>
          <a:prstGeom prst="bentConnector4">
            <a:avLst>
              <a:gd name="adj1" fmla="val 14643"/>
              <a:gd name="adj2" fmla="val 1409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6152C95-30EF-469F-594A-810B379E0D22}"/>
              </a:ext>
            </a:extLst>
          </p:cNvPr>
          <p:cNvCxnSpPr>
            <a:cxnSpLocks/>
          </p:cNvCxnSpPr>
          <p:nvPr/>
        </p:nvCxnSpPr>
        <p:spPr>
          <a:xfrm>
            <a:off x="2810482" y="3020334"/>
            <a:ext cx="0" cy="28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66E024F-6C03-93C0-F071-51F3717A6453}"/>
              </a:ext>
            </a:extLst>
          </p:cNvPr>
          <p:cNvSpPr txBox="1"/>
          <p:nvPr/>
        </p:nvSpPr>
        <p:spPr>
          <a:xfrm>
            <a:off x="9464971" y="2611476"/>
            <a:ext cx="2727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ARM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b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Cryptographic Extension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52BDB3-8CAD-8169-8E7C-A482DB01CB1F}"/>
              </a:ext>
            </a:extLst>
          </p:cNvPr>
          <p:cNvSpPr txBox="1"/>
          <p:nvPr/>
        </p:nvSpPr>
        <p:spPr>
          <a:xfrm>
            <a:off x="9913322" y="3968867"/>
            <a:ext cx="17738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cs typeface="Pretendard" panose="02000503000000020004" pitchFamily="50" charset="-127"/>
              </a:rPr>
              <a:t>AESE	v0, v0</a:t>
            </a:r>
          </a:p>
          <a:p>
            <a:r>
              <a:rPr lang="en-US" altLang="ko-KR" dirty="0">
                <a:latin typeface="+mn-ea"/>
                <a:cs typeface="Pretendard" panose="02000503000000020004" pitchFamily="50" charset="-127"/>
              </a:rPr>
              <a:t>AESMC	v0, v0</a:t>
            </a:r>
          </a:p>
          <a:p>
            <a:r>
              <a:rPr lang="en-US" altLang="ko-KR" dirty="0">
                <a:latin typeface="+mn-ea"/>
                <a:cs typeface="Pretendard" panose="02000503000000020004" pitchFamily="50" charset="-127"/>
              </a:rPr>
              <a:t>AESE	v1, v1</a:t>
            </a:r>
          </a:p>
          <a:p>
            <a:r>
              <a:rPr lang="en-US" altLang="ko-KR" dirty="0">
                <a:latin typeface="+mn-ea"/>
                <a:cs typeface="Pretendard" panose="02000503000000020004" pitchFamily="50" charset="-127"/>
              </a:rPr>
              <a:t>AESMC	v1, v1</a:t>
            </a:r>
            <a:endParaRPr lang="ko-KR" altLang="en-US" dirty="0">
              <a:latin typeface="+mn-ea"/>
              <a:cs typeface="Pretendard" panose="02000503000000020004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FF4384A2-D5DC-1893-FEF4-67EC12683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226883"/>
              </p:ext>
            </p:extLst>
          </p:nvPr>
        </p:nvGraphicFramePr>
        <p:xfrm>
          <a:off x="418479" y="5136998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07A3852-0D03-A87F-D1FB-196AF3C25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624250"/>
              </p:ext>
            </p:extLst>
          </p:nvPr>
        </p:nvGraphicFramePr>
        <p:xfrm>
          <a:off x="2870994" y="5136998"/>
          <a:ext cx="2345016" cy="16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54">
                  <a:extLst>
                    <a:ext uri="{9D8B030D-6E8A-4147-A177-3AD203B41FA5}">
                      <a16:colId xmlns:a16="http://schemas.microsoft.com/office/drawing/2014/main" val="3755666450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3920181629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1876961488"/>
                    </a:ext>
                  </a:extLst>
                </a:gridCol>
                <a:gridCol w="586254">
                  <a:extLst>
                    <a:ext uri="{9D8B030D-6E8A-4147-A177-3AD203B41FA5}">
                      <a16:colId xmlns:a16="http://schemas.microsoft.com/office/drawing/2014/main" val="2409307755"/>
                    </a:ext>
                  </a:extLst>
                </a:gridCol>
              </a:tblGrid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79728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69014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B</a:t>
                      </a: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0372"/>
                  </a:ext>
                </a:extLst>
              </a:tr>
              <a:tr h="423028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26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C418-5634-245A-C71F-E8BDF202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CB9DB-AE48-EA2F-8F16-06A70E9C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Rijndael-256 AES-NI </a:t>
            </a:r>
            <a:r>
              <a:rPr lang="ko-KR" altLang="en-US" dirty="0"/>
              <a:t>구현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5E931A-30C3-C97D-2B70-C60D5E3AD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1" y="974236"/>
            <a:ext cx="5060515" cy="506051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26AAC0-FB1B-F772-E68C-97501C1CB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670" y="908423"/>
            <a:ext cx="2635271" cy="1236616"/>
          </a:xfrm>
          <a:prstGeom prst="rect">
            <a:avLst/>
          </a:prstGeom>
        </p:spPr>
      </p:pic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9329D7-C163-7338-8D9F-8617DC448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87941"/>
            <a:ext cx="4934639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8514D-D1E1-5688-991F-0E5501D0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구현 진행사항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49D844-988E-82AB-02E4-44F0FFA379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Rijndael-256</a:t>
            </a:r>
            <a:r>
              <a:rPr lang="ko-KR" altLang="en-US" dirty="0"/>
              <a:t> 구현 계획</a:t>
            </a:r>
            <a:endParaRPr lang="en-US" altLang="ko-KR" dirty="0"/>
          </a:p>
          <a:p>
            <a:pPr lvl="1"/>
            <a:r>
              <a:rPr lang="en-US" altLang="ko-KR" dirty="0"/>
              <a:t>ARM64</a:t>
            </a:r>
          </a:p>
          <a:p>
            <a:pPr lvl="2"/>
            <a:r>
              <a:rPr lang="en-US" altLang="ko-KR" dirty="0"/>
              <a:t>ARM Cryptographic Extension</a:t>
            </a:r>
            <a:r>
              <a:rPr lang="ko-KR" altLang="en-US" dirty="0"/>
              <a:t>을 활용한 구현 완료</a:t>
            </a:r>
            <a:endParaRPr lang="en-US" altLang="ko-KR" dirty="0"/>
          </a:p>
          <a:p>
            <a:pPr lvl="2"/>
            <a:r>
              <a:rPr lang="en-US" altLang="ko-KR" dirty="0" err="1"/>
              <a:t>Fixslicing</a:t>
            </a:r>
            <a:r>
              <a:rPr lang="ko-KR" altLang="en-US" dirty="0"/>
              <a:t>도 적용하여 성능 분석</a:t>
            </a:r>
            <a:endParaRPr lang="en-US" altLang="ko-KR" dirty="0"/>
          </a:p>
          <a:p>
            <a:pPr lvl="1"/>
            <a:r>
              <a:rPr lang="en-US" altLang="ko-KR" dirty="0"/>
              <a:t>Cortex-M4</a:t>
            </a:r>
          </a:p>
          <a:p>
            <a:pPr lvl="2"/>
            <a:r>
              <a:rPr lang="en-US" altLang="ko-KR" dirty="0" err="1"/>
              <a:t>Fixslicing</a:t>
            </a:r>
            <a:r>
              <a:rPr lang="en-US" altLang="ko-KR" dirty="0"/>
              <a:t> </a:t>
            </a:r>
            <a:r>
              <a:rPr lang="ko-KR" altLang="en-US" dirty="0"/>
              <a:t>논문 분석 후 구현 예정</a:t>
            </a:r>
            <a:endParaRPr lang="en-US" altLang="ko-KR" dirty="0"/>
          </a:p>
          <a:p>
            <a:pPr lvl="1"/>
            <a:r>
              <a:rPr lang="en-US" altLang="ko-KR" dirty="0"/>
              <a:t>GPU</a:t>
            </a:r>
          </a:p>
          <a:p>
            <a:pPr lvl="2"/>
            <a:r>
              <a:rPr lang="ko-KR" altLang="en-US" dirty="0"/>
              <a:t>현재 여러 메모리에 대한 성능 비교 완료</a:t>
            </a:r>
            <a:r>
              <a:rPr lang="en-US" altLang="ko-KR" dirty="0"/>
              <a:t>, </a:t>
            </a:r>
            <a:r>
              <a:rPr lang="ko-KR" altLang="en-US" dirty="0"/>
              <a:t>다만 </a:t>
            </a:r>
            <a:r>
              <a:rPr lang="en-US" altLang="ko-KR" dirty="0"/>
              <a:t>ECB </a:t>
            </a:r>
            <a:r>
              <a:rPr lang="ko-KR" altLang="en-US" dirty="0"/>
              <a:t>모드로 구현하여 예상한 </a:t>
            </a:r>
            <a:r>
              <a:rPr lang="ko-KR" altLang="en-US" dirty="0" err="1"/>
              <a:t>결과랑</a:t>
            </a:r>
            <a:r>
              <a:rPr lang="ko-KR" altLang="en-US" dirty="0"/>
              <a:t> 다르게 나옴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CTR</a:t>
            </a:r>
            <a:r>
              <a:rPr lang="ko-KR" altLang="en-US" dirty="0"/>
              <a:t>와 </a:t>
            </a:r>
            <a:r>
              <a:rPr lang="en-US" altLang="ko-KR" dirty="0"/>
              <a:t>ES</a:t>
            </a:r>
            <a:r>
              <a:rPr lang="ko-KR" altLang="en-US" dirty="0"/>
              <a:t>로 구현하여 다른 방향으로 성능 개선 분석 예정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E0E454-4131-AE92-25AC-A316A27E9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26B6EFD-AA77-41FE-AE8F-E1D50C1DBB8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94429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1059</TotalTime>
  <Words>542</Words>
  <Application>Microsoft Office PowerPoint</Application>
  <PresentationFormat>와이드스크린</PresentationFormat>
  <Paragraphs>325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Pretendard</vt:lpstr>
      <vt:lpstr>맑은 고딕</vt:lpstr>
      <vt:lpstr>Arial</vt:lpstr>
      <vt:lpstr>Wingdings</vt:lpstr>
      <vt:lpstr>디자인 사용자 지정</vt:lpstr>
      <vt:lpstr>1_디자인 사용자 지정</vt:lpstr>
      <vt:lpstr>3_디자인 사용자 지정</vt:lpstr>
      <vt:lpstr>ARM Cryptographic Extension을 활용한 Rijndael-256 구현</vt:lpstr>
      <vt:lpstr>1. Rijndael-256 AES-NI 구현</vt:lpstr>
      <vt:lpstr>1. Rijndael-256 AES-NI 구현</vt:lpstr>
      <vt:lpstr>1. Rijndael-256 AES-NI 구현</vt:lpstr>
      <vt:lpstr>1. Rijndael-256 AES-NI 구현</vt:lpstr>
      <vt:lpstr>1. Rijndael-256 AES-NI 구현</vt:lpstr>
      <vt:lpstr>현재 구현 진행사항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엄시우</dc:creator>
  <cp:lastModifiedBy>SiWoo Eum</cp:lastModifiedBy>
  <cp:revision>39</cp:revision>
  <dcterms:created xsi:type="dcterms:W3CDTF">2025-12-25T07:35:51Z</dcterms:created>
  <dcterms:modified xsi:type="dcterms:W3CDTF">2026-01-25T23:49:36Z</dcterms:modified>
</cp:coreProperties>
</file>