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5" r:id="rId2"/>
  </p:sldMasterIdLst>
  <p:notesMasterIdLst>
    <p:notesMasterId r:id="rId20"/>
  </p:notesMasterIdLst>
  <p:sldIdLst>
    <p:sldId id="257" r:id="rId3"/>
    <p:sldId id="258" r:id="rId4"/>
    <p:sldId id="260" r:id="rId5"/>
    <p:sldId id="262" r:id="rId6"/>
    <p:sldId id="265" r:id="rId7"/>
    <p:sldId id="263" r:id="rId8"/>
    <p:sldId id="264" r:id="rId9"/>
    <p:sldId id="267" r:id="rId10"/>
    <p:sldId id="266" r:id="rId11"/>
    <p:sldId id="268" r:id="rId12"/>
    <p:sldId id="269" r:id="rId13"/>
    <p:sldId id="274" r:id="rId14"/>
    <p:sldId id="270" r:id="rId15"/>
    <p:sldId id="271" r:id="rId16"/>
    <p:sldId id="272" r:id="rId17"/>
    <p:sldId id="273" r:id="rId18"/>
    <p:sldId id="259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12ABDA-E5EF-F94F-B2E4-443282D32A82}" v="26" dt="2026-01-25T10:09:25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/>
    <p:restoredTop sz="94701"/>
  </p:normalViewPr>
  <p:slideViewPr>
    <p:cSldViewPr snapToGrid="0" snapToObjects="1">
      <p:cViewPr>
        <p:scale>
          <a:sx n="108" d="100"/>
          <a:sy n="108" d="100"/>
        </p:scale>
        <p:origin x="1120" y="37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09110-3155-9543-8752-C1B31D2F7B62}" type="datetimeFigureOut">
              <a:rPr kumimoji="1" lang="ko-KR" altLang="en-US" smtClean="0"/>
              <a:t>2026. 1. 25.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9ECD7-2199-BC4D-BA0D-326AD7D608B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4553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ㅌ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9ECD7-2199-BC4D-BA0D-326AD7D608B4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3120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02159-E246-94DF-DB9F-B3F31478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746847-0C2E-27FF-E9AA-482BEA837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0568C0-349C-E071-D2B1-5C4305558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7163D4-88E1-4EEE-72F4-B9F80A598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9ECD7-2199-BC4D-BA0D-326AD7D608B4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53996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9ECD7-2199-BC4D-BA0D-326AD7D608B4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1777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2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519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21674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15641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437B6-A43D-EA47-9F3F-E60C6642F8D2}" type="datetimeFigureOut">
              <a:rPr kumimoji="1" lang="ko-Kore-KR" altLang="en-US" smtClean="0"/>
              <a:t>1/25/26</a:t>
            </a:fld>
            <a:endParaRPr kumimoji="1" lang="ko-Kore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1A878-7EBC-2E42-A824-62C83D9372A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489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575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F9506-9EB3-1147-8806-F4FEE97D82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ko-KR" sz="3600" dirty="0" err="1"/>
              <a:t>Dilithium</a:t>
            </a:r>
            <a:r>
              <a:rPr lang="en" altLang="ko-KR" sz="3600" dirty="0"/>
              <a:t> for Memory Constrained Devices</a:t>
            </a:r>
            <a:r>
              <a:rPr lang="ko-KR" altLang="en-US" sz="3600" dirty="0"/>
              <a:t> 논문 리뷰</a:t>
            </a:r>
            <a:endParaRPr kumimoji="1" lang="ko-Kore-KR" altLang="en-US" sz="36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976B76-57E6-744E-80BD-56E31CBB47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" altLang="ko-KR" dirty="0"/>
              <a:t>https://</a:t>
            </a:r>
            <a:r>
              <a:rPr kumimoji="1" lang="en" altLang="ko-KR" dirty="0" err="1"/>
              <a:t>youtu.be</a:t>
            </a:r>
            <a:r>
              <a:rPr kumimoji="1" lang="en" altLang="ko-KR" dirty="0"/>
              <a:t>/wqIfyB772V0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9042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219CC-32AD-044F-84AE-0B176F85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 err="1"/>
              <a:t>Dilithium</a:t>
            </a:r>
            <a:r>
              <a:rPr lang="en" altLang="ko-KR" dirty="0"/>
              <a:t> for Memory Constrained Devices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CC5F6A-1A64-5C4F-842B-F731AECCBA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594910"/>
          </a:xfrm>
        </p:spPr>
        <p:txBody>
          <a:bodyPr>
            <a:normAutofit/>
          </a:bodyPr>
          <a:lstStyle/>
          <a:p>
            <a:r>
              <a:rPr kumimoji="1" lang="ko-KR" altLang="en-US" sz="2400" dirty="0"/>
              <a:t>해당 논문</a:t>
            </a:r>
            <a:r>
              <a:rPr kumimoji="1" lang="en-US" altLang="ko-KR" sz="2400" dirty="0"/>
              <a:t>(</a:t>
            </a:r>
            <a:r>
              <a:rPr kumimoji="1" lang="en-US" altLang="ko-KR" sz="2400" dirty="0" err="1"/>
              <a:t>AfricaCrypt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2022)</a:t>
            </a:r>
            <a:r>
              <a:rPr kumimoji="1" lang="ko-KR" altLang="en-US" sz="2400" dirty="0"/>
              <a:t>이 </a:t>
            </a:r>
            <a:r>
              <a:rPr kumimoji="1" lang="en-US" altLang="en-US" sz="2400" dirty="0"/>
              <a:t>pqm4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에</a:t>
            </a:r>
            <a:r>
              <a:rPr kumimoji="1" lang="ko-KR" altLang="en-US" sz="2400" dirty="0"/>
              <a:t> 공개된 시점 기준</a:t>
            </a:r>
            <a:br>
              <a:rPr kumimoji="1" lang="en-US" altLang="ko-KR" sz="2400" dirty="0"/>
            </a:br>
            <a:r>
              <a:rPr kumimoji="1" lang="en-US" altLang="ko-KR" sz="2400" dirty="0" err="1"/>
              <a:t>Dilithium</a:t>
            </a:r>
            <a:r>
              <a:rPr kumimoji="1" lang="ko-KR" altLang="en-US" sz="2400" dirty="0"/>
              <a:t>의 </a:t>
            </a:r>
            <a:r>
              <a:rPr kumimoji="1" lang="en-US" altLang="ko-KR" sz="2400" dirty="0"/>
              <a:t>clean</a:t>
            </a:r>
            <a:r>
              <a:rPr kumimoji="1" lang="ko-KR" altLang="en-US" sz="2400" dirty="0"/>
              <a:t> 코드와 </a:t>
            </a:r>
            <a:r>
              <a:rPr kumimoji="1" lang="en-US" altLang="ko-KR" sz="2400" dirty="0"/>
              <a:t>opt</a:t>
            </a:r>
            <a:r>
              <a:rPr kumimoji="1" lang="ko-KR" altLang="en-US" sz="2400" dirty="0"/>
              <a:t> 구현의 메모리 사용량 </a:t>
            </a:r>
            <a:r>
              <a:rPr kumimoji="1" lang="en-US" altLang="ko-KR" sz="2400" dirty="0"/>
              <a:t>: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50~100 KiB</a:t>
            </a:r>
          </a:p>
          <a:p>
            <a:r>
              <a:rPr kumimoji="1" lang="en-US" altLang="ko-KR" sz="2400" b="1" dirty="0">
                <a:solidFill>
                  <a:srgbClr val="FF0000"/>
                </a:solidFill>
              </a:rPr>
              <a:t>Pure C</a:t>
            </a:r>
            <a:r>
              <a:rPr kumimoji="1" lang="ko-KR" altLang="en-US" sz="2400" b="1" dirty="0">
                <a:solidFill>
                  <a:srgbClr val="FF0000"/>
                </a:solidFill>
              </a:rPr>
              <a:t> 구현</a:t>
            </a:r>
            <a:r>
              <a:rPr kumimoji="1" lang="en-US" altLang="ko-KR" sz="2400" b="1" dirty="0">
                <a:solidFill>
                  <a:srgbClr val="FF0000"/>
                </a:solidFill>
              </a:rPr>
              <a:t>(</a:t>
            </a:r>
            <a:r>
              <a:rPr kumimoji="1" lang="ko-KR" altLang="en-US" sz="2400" b="1" dirty="0">
                <a:solidFill>
                  <a:srgbClr val="FF0000"/>
                </a:solidFill>
              </a:rPr>
              <a:t>하드웨어 가속기 및 </a:t>
            </a:r>
            <a:r>
              <a:rPr kumimoji="1" lang="en-US" altLang="ko-KR" sz="2400" b="1" dirty="0">
                <a:solidFill>
                  <a:srgbClr val="FF0000"/>
                </a:solidFill>
              </a:rPr>
              <a:t>ASM</a:t>
            </a:r>
            <a:r>
              <a:rPr kumimoji="1" lang="ko-KR" altLang="en-US" sz="2400" b="1" dirty="0">
                <a:solidFill>
                  <a:srgbClr val="FF0000"/>
                </a:solidFill>
              </a:rPr>
              <a:t> 사용 </a:t>
            </a:r>
            <a:r>
              <a:rPr kumimoji="1" lang="en-US" altLang="ko-KR" sz="2400" b="1" dirty="0">
                <a:solidFill>
                  <a:srgbClr val="FF0000"/>
                </a:solidFill>
              </a:rPr>
              <a:t>X)</a:t>
            </a:r>
            <a:endParaRPr kumimoji="1" lang="en-US" altLang="ko-KR" sz="2400" dirty="0"/>
          </a:p>
          <a:p>
            <a:r>
              <a:rPr lang="ko-KR" altLang="en-US" sz="2400" b="1" dirty="0"/>
              <a:t>연구 목표 </a:t>
            </a:r>
            <a:r>
              <a:rPr lang="en-US" altLang="ko-KR" sz="2400" b="1" dirty="0"/>
              <a:t>(</a:t>
            </a:r>
            <a:r>
              <a:rPr lang="en" altLang="ko-KR" sz="2400" b="1" dirty="0"/>
              <a:t>Target Constraints)</a:t>
            </a:r>
            <a:r>
              <a:rPr lang="en" altLang="ko-KR" sz="2400" dirty="0"/>
              <a:t> </a:t>
            </a:r>
          </a:p>
          <a:p>
            <a:pPr lvl="1"/>
            <a:r>
              <a:rPr lang="ko-KR" altLang="en-US" sz="2000" b="1" dirty="0"/>
              <a:t>타겟</a:t>
            </a:r>
            <a:r>
              <a:rPr lang="en-US" altLang="ko-KR" sz="2000" b="1" dirty="0"/>
              <a:t>:</a:t>
            </a:r>
            <a:r>
              <a:rPr lang="ko-KR" altLang="en-US" sz="2000" dirty="0"/>
              <a:t> </a:t>
            </a:r>
            <a:r>
              <a:rPr lang="en" altLang="ko-KR" sz="2000" dirty="0"/>
              <a:t>Cortex-M0+ </a:t>
            </a:r>
            <a:r>
              <a:rPr lang="ko-KR" altLang="en-US" sz="2000" dirty="0"/>
              <a:t>등 초소형 </a:t>
            </a:r>
            <a:r>
              <a:rPr lang="en" altLang="ko-KR" sz="2000" dirty="0"/>
              <a:t>IoT </a:t>
            </a:r>
            <a:r>
              <a:rPr lang="ko-KR" altLang="en-US" sz="2000" dirty="0"/>
              <a:t>장치</a:t>
            </a:r>
            <a:endParaRPr lang="en-US" altLang="ko-KR" sz="2000" dirty="0"/>
          </a:p>
          <a:p>
            <a:pPr lvl="1"/>
            <a:r>
              <a:rPr lang="ko-KR" altLang="en-US" sz="2000" b="1" dirty="0"/>
              <a:t>메모리 제약</a:t>
            </a:r>
            <a:r>
              <a:rPr lang="en-US" altLang="ko-KR" sz="2000" b="1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8 </a:t>
            </a:r>
            <a:r>
              <a:rPr lang="en" altLang="ko-KR" sz="2000" dirty="0"/>
              <a:t>KiB </a:t>
            </a:r>
            <a:r>
              <a:rPr lang="ko-KR" altLang="en-US" sz="2000" dirty="0"/>
              <a:t>이하의 </a:t>
            </a:r>
            <a:r>
              <a:rPr lang="en" altLang="ko-KR" sz="2000" dirty="0"/>
              <a:t>SRAM </a:t>
            </a:r>
            <a:r>
              <a:rPr lang="ko-KR" altLang="en-US" sz="2000" dirty="0"/>
              <a:t>환경에서 동작하도록 최적화</a:t>
            </a:r>
            <a:endParaRPr kumimoji="1" lang="en-US" altLang="ko-KR" sz="2000" dirty="0">
              <a:solidFill>
                <a:srgbClr val="FF0000"/>
              </a:solidFill>
            </a:endParaRPr>
          </a:p>
          <a:p>
            <a:pPr lvl="1"/>
            <a:r>
              <a:rPr lang="ko-KR" altLang="en-US" sz="2000" b="1" dirty="0"/>
              <a:t>실험 및 검증 환경 </a:t>
            </a:r>
            <a:r>
              <a:rPr lang="en-US" altLang="ko-KR" sz="2000" b="1" dirty="0"/>
              <a:t>(</a:t>
            </a:r>
            <a:r>
              <a:rPr lang="en" altLang="ko-KR" sz="2000" b="1" dirty="0"/>
              <a:t>Test Platform)</a:t>
            </a:r>
          </a:p>
          <a:p>
            <a:pPr lvl="2"/>
            <a:r>
              <a:rPr lang="ko-KR" altLang="en-US" sz="1600" b="1" dirty="0"/>
              <a:t>사용 보드</a:t>
            </a:r>
            <a:r>
              <a:rPr lang="en-US" altLang="ko-KR" sz="1600" b="1" dirty="0"/>
              <a:t>:</a:t>
            </a:r>
            <a:r>
              <a:rPr lang="ko-KR" altLang="en-US" sz="1600" dirty="0"/>
              <a:t> </a:t>
            </a:r>
            <a:r>
              <a:rPr lang="en" altLang="ko-KR" sz="1600" dirty="0"/>
              <a:t>STM32F4 Discovery (STM32F407) </a:t>
            </a:r>
          </a:p>
          <a:p>
            <a:pPr lvl="2"/>
            <a:r>
              <a:rPr lang="ko-KR" altLang="en-US" sz="1600" b="1" dirty="0"/>
              <a:t>선정 이유</a:t>
            </a:r>
            <a:r>
              <a:rPr lang="en-US" altLang="ko-KR" sz="1600" b="1" dirty="0"/>
              <a:t>:</a:t>
            </a:r>
            <a:r>
              <a:rPr lang="ko-KR" altLang="en-US" sz="1600" dirty="0"/>
              <a:t> </a:t>
            </a:r>
            <a:r>
              <a:rPr lang="en" altLang="ko-KR" dirty="0"/>
              <a:t>pqm4</a:t>
            </a:r>
            <a:r>
              <a:rPr lang="en" altLang="ko-KR" sz="1600" dirty="0"/>
              <a:t> </a:t>
            </a:r>
            <a:r>
              <a:rPr lang="ko-KR" altLang="en-US" sz="1600" dirty="0"/>
              <a:t>벤치마킹 프레임워크 호환성 및 스택 사용량 측정을 위함</a:t>
            </a:r>
            <a:endParaRPr kumimoji="1" lang="en-US" altLang="ko-KR" dirty="0"/>
          </a:p>
          <a:p>
            <a:r>
              <a:rPr kumimoji="1" lang="ko-KR" altLang="en-US" sz="2400" dirty="0"/>
              <a:t>성능</a:t>
            </a:r>
            <a:r>
              <a:rPr kumimoji="1" lang="en-US" altLang="ko-KR" sz="2400" dirty="0"/>
              <a:t>(</a:t>
            </a:r>
            <a:r>
              <a:rPr kumimoji="1" lang="ko-KR" altLang="en-US" sz="2400" dirty="0"/>
              <a:t>각 작업이 실행될</a:t>
            </a:r>
            <a:r>
              <a:rPr kumimoji="1" lang="en-US" altLang="ko-KR" sz="2400" dirty="0"/>
              <a:t> </a:t>
            </a:r>
            <a:r>
              <a:rPr kumimoji="1" lang="ko-KR" altLang="en-US" sz="2400" dirty="0"/>
              <a:t>때의 필요한 </a:t>
            </a:r>
            <a:r>
              <a:rPr kumimoji="1" lang="en-US" altLang="ko-KR" sz="2400" dirty="0"/>
              <a:t>Peak Memory)</a:t>
            </a:r>
          </a:p>
          <a:p>
            <a:pPr lvl="1"/>
            <a:r>
              <a:rPr kumimoji="1" lang="ko-KR" altLang="en-US" sz="2000" dirty="0"/>
              <a:t>키 생성 및 서명 생성 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각각 </a:t>
            </a:r>
            <a:r>
              <a:rPr kumimoji="1" lang="en-US" altLang="ko-KR" sz="2000" dirty="0"/>
              <a:t>7KiB </a:t>
            </a:r>
            <a:r>
              <a:rPr kumimoji="1" lang="ko-KR" altLang="en-US" sz="2000" dirty="0"/>
              <a:t>미만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서명 검증 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3KiB</a:t>
            </a:r>
            <a:r>
              <a:rPr kumimoji="1" lang="ko-KR" altLang="en-US" sz="2000" dirty="0"/>
              <a:t> 미만</a:t>
            </a:r>
            <a:endParaRPr kumimoji="1" lang="en-US" altLang="ko-KR" sz="2000" dirty="0"/>
          </a:p>
          <a:p>
            <a:pPr lvl="2"/>
            <a:r>
              <a:rPr kumimoji="1" lang="ko-KR" altLang="en-US" sz="1600" dirty="0"/>
              <a:t>총합이 </a:t>
            </a:r>
            <a:r>
              <a:rPr kumimoji="1" lang="en-US" altLang="ko-KR" sz="1600" dirty="0"/>
              <a:t>10KiB</a:t>
            </a:r>
            <a:r>
              <a:rPr kumimoji="1" lang="ko-KR" altLang="en-US" sz="1600" dirty="0"/>
              <a:t> </a:t>
            </a:r>
            <a:r>
              <a:rPr kumimoji="1" lang="ko-KR" altLang="en-US" sz="1600" dirty="0" err="1"/>
              <a:t>넘을거</a:t>
            </a:r>
            <a:r>
              <a:rPr kumimoji="1" lang="ko-KR" altLang="en-US" sz="1600" dirty="0"/>
              <a:t> 같은데 여기 측정된 수치는 동시에 필요한 메모리 양이 아님</a:t>
            </a:r>
            <a:endParaRPr kumimoji="1" lang="en-US" altLang="ko-KR" sz="1600" dirty="0"/>
          </a:p>
          <a:p>
            <a:pPr lvl="2"/>
            <a:r>
              <a:rPr kumimoji="1" lang="ko-KR" altLang="en-US" sz="1600" dirty="0"/>
              <a:t>작업이 독립적으로 일어나 순차적으로 연산 후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메모리도 바로 비우기 때문</a:t>
            </a:r>
            <a:endParaRPr kumimoji="1" lang="ko-Kore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CB9C71-03AA-0AA2-9570-BBA57343B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747" y="1843472"/>
            <a:ext cx="2079948" cy="223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17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02F9-4067-B09A-F50D-601D7D761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EBED6-0018-D518-2A89-D1452FE85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 err="1"/>
              <a:t>Dilithium</a:t>
            </a:r>
            <a:r>
              <a:rPr lang="en" altLang="ko-KR" dirty="0"/>
              <a:t> for Memory Constrained Devices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099896-6CB0-8C4F-6180-D6270F3A08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ko-KR" altLang="en-US" sz="2400" dirty="0" err="1"/>
              <a:t>딜리시움</a:t>
            </a:r>
            <a:r>
              <a:rPr kumimoji="1" lang="ko-KR" altLang="en-US" sz="2400" dirty="0"/>
              <a:t> 단점</a:t>
            </a:r>
            <a:endParaRPr kumimoji="1" lang="en-US" altLang="ko-KR" sz="2400" dirty="0"/>
          </a:p>
          <a:p>
            <a:pPr lvl="1"/>
            <a:r>
              <a:rPr kumimoji="1" lang="ko-KR" altLang="en-US" sz="2000" dirty="0"/>
              <a:t>비교적 큰 키와 서명 크기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중간 데이터 저장을 위한 스택 공간을 과도하게 사용함</a:t>
            </a:r>
            <a:br>
              <a:rPr kumimoji="1" lang="en-US" altLang="ko-KR" sz="2000" dirty="0"/>
            </a:br>
            <a:r>
              <a:rPr kumimoji="1" lang="ko-KR" altLang="en-US" sz="2000" b="1" dirty="0">
                <a:solidFill>
                  <a:srgbClr val="FF0000"/>
                </a:solidFill>
              </a:rPr>
              <a:t>따라서</a:t>
            </a:r>
            <a:r>
              <a:rPr kumimoji="1" lang="en-US" altLang="ko-KR" sz="2000" b="1" dirty="0">
                <a:solidFill>
                  <a:srgbClr val="FF0000"/>
                </a:solidFill>
              </a:rPr>
              <a:t>,</a:t>
            </a:r>
            <a:r>
              <a:rPr kumimoji="1" lang="ko-KR" altLang="en-US" sz="2000" b="1" dirty="0">
                <a:solidFill>
                  <a:srgbClr val="FF0000"/>
                </a:solidFill>
              </a:rPr>
              <a:t> 메모리 사용이 많음 </a:t>
            </a:r>
            <a:endParaRPr kumimoji="1" lang="en-US" altLang="ko-KR" sz="2000" b="1" dirty="0">
              <a:solidFill>
                <a:srgbClr val="FF0000"/>
              </a:solidFill>
            </a:endParaRPr>
          </a:p>
          <a:p>
            <a:pPr lvl="1"/>
            <a:endParaRPr kumimoji="1" lang="en-US" altLang="ko-KR" sz="2000" dirty="0"/>
          </a:p>
          <a:p>
            <a:r>
              <a:rPr kumimoji="1" lang="ko-KR" altLang="en-US" sz="2400" dirty="0"/>
              <a:t>사용 기법</a:t>
            </a:r>
            <a:endParaRPr kumimoji="1" lang="en-US" altLang="ko-KR" sz="2400" dirty="0"/>
          </a:p>
          <a:p>
            <a:pPr lvl="1"/>
            <a:r>
              <a:rPr kumimoji="1" lang="ko-KR" altLang="en-US" sz="2000" b="1" dirty="0">
                <a:solidFill>
                  <a:srgbClr val="FF0000"/>
                </a:solidFill>
              </a:rPr>
              <a:t>특정 시점에 다른 값이 사용했던 메모리 공간을 재사용</a:t>
            </a:r>
            <a:endParaRPr kumimoji="1" lang="en-US" altLang="ko-KR" sz="2000" b="1" dirty="0">
              <a:solidFill>
                <a:srgbClr val="FF0000"/>
              </a:solidFill>
            </a:endParaRPr>
          </a:p>
          <a:p>
            <a:pPr lvl="2"/>
            <a:r>
              <a:rPr kumimoji="1" lang="ko-KR" altLang="en-US" sz="1800" dirty="0"/>
              <a:t>생명주기 </a:t>
            </a:r>
            <a:r>
              <a:rPr kumimoji="1" lang="en-US" altLang="ko-KR" sz="1800" dirty="0"/>
              <a:t>:</a:t>
            </a:r>
            <a:r>
              <a:rPr kumimoji="1" lang="ko-KR" altLang="en-US" sz="1800" dirty="0"/>
              <a:t> 변수의 수명으로 변수가 초기화된 시점부터 마지막으로 사용될 때까지의 시간</a:t>
            </a:r>
            <a:endParaRPr kumimoji="1" lang="en-US" altLang="ko-KR" sz="1800" dirty="0"/>
          </a:p>
          <a:p>
            <a:pPr lvl="2"/>
            <a:r>
              <a:rPr kumimoji="1" lang="ko-KR" altLang="en-US" sz="1800" dirty="0"/>
              <a:t>생명 주기가 끝나면</a:t>
            </a:r>
            <a:r>
              <a:rPr kumimoji="1" lang="en-US" altLang="ko-KR" sz="1800" dirty="0"/>
              <a:t>?</a:t>
            </a:r>
            <a:r>
              <a:rPr kumimoji="1" lang="ko-KR" altLang="en-US" sz="1800" dirty="0"/>
              <a:t> 변수가 마지막으로 사용된 후에는 그냥 죽은 상태</a:t>
            </a:r>
            <a:endParaRPr kumimoji="1" lang="en-US" altLang="ko-KR" sz="1800" dirty="0"/>
          </a:p>
          <a:p>
            <a:pPr lvl="2"/>
            <a:r>
              <a:rPr kumimoji="1" lang="ko-KR" altLang="en-US" sz="1800" dirty="0"/>
              <a:t>할당</a:t>
            </a:r>
            <a:r>
              <a:rPr kumimoji="1" lang="en-US" altLang="ko-KR" sz="1800" dirty="0"/>
              <a:t>?</a:t>
            </a:r>
            <a:r>
              <a:rPr kumimoji="1" lang="ko-KR" altLang="en-US" sz="1800" dirty="0"/>
              <a:t> 변수 저장을 위해 특정 메모리 예약</a:t>
            </a:r>
            <a:endParaRPr kumimoji="1" lang="en-US" altLang="ko-KR" sz="1800" dirty="0"/>
          </a:p>
          <a:p>
            <a:pPr lvl="2"/>
            <a:r>
              <a:rPr kumimoji="1" lang="ko-KR" altLang="en-US" sz="1800" dirty="0"/>
              <a:t>따라서</a:t>
            </a:r>
            <a:r>
              <a:rPr kumimoji="1" lang="en-US" altLang="ko-KR" sz="1800" dirty="0"/>
              <a:t>,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2</a:t>
            </a:r>
            <a:r>
              <a:rPr kumimoji="1" lang="ko-KR" altLang="en-US" sz="1800" dirty="0"/>
              <a:t>개의 변수의 수명이 겹치는 것은 알고리즘의 특정 시점에 </a:t>
            </a:r>
            <a:r>
              <a:rPr kumimoji="1" lang="en-US" altLang="ko-KR" sz="1800" dirty="0"/>
              <a:t>2</a:t>
            </a:r>
            <a:r>
              <a:rPr kumimoji="1" lang="ko-KR" altLang="en-US" sz="1800" dirty="0"/>
              <a:t>개의 변수가 살아있는 상태</a:t>
            </a:r>
            <a:endParaRPr kumimoji="1" lang="en-US" altLang="ko-KR" sz="1800" dirty="0"/>
          </a:p>
          <a:p>
            <a:pPr lvl="2"/>
            <a:r>
              <a:rPr kumimoji="1" lang="ko-KR" altLang="en-US" sz="1800" dirty="0"/>
              <a:t>이 경우 수명이 겹치는 </a:t>
            </a:r>
            <a:r>
              <a:rPr kumimoji="1" lang="en-US" altLang="ko-KR" sz="1800" dirty="0"/>
              <a:t>2</a:t>
            </a:r>
            <a:r>
              <a:rPr kumimoji="1" lang="ko-KR" altLang="en-US" sz="1800" dirty="0"/>
              <a:t>개의 변수는 동일한 메모리 위치 공유 못함</a:t>
            </a:r>
            <a:endParaRPr kumimoji="1" lang="ko-Kore-KR" altLang="en-US" sz="1800"/>
          </a:p>
        </p:txBody>
      </p:sp>
    </p:spTree>
    <p:extLst>
      <p:ext uri="{BB962C8B-B14F-4D97-AF65-F5344CB8AC3E}">
        <p14:creationId xmlns:p14="http://schemas.microsoft.com/office/powerpoint/2010/main" val="298295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D9FA5-BE85-8103-CD94-13E9DB07B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B5906-3490-24B0-203E-37FF9F73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기법 </a:t>
            </a:r>
            <a:r>
              <a:rPr kumimoji="1" lang="en-US" altLang="ko-KR" dirty="0"/>
              <a:t>1)</a:t>
            </a:r>
            <a:r>
              <a:rPr kumimoji="1" lang="ko-KR" altLang="en-US" dirty="0"/>
              <a:t> </a:t>
            </a:r>
            <a:r>
              <a:rPr kumimoji="1" lang="en-US" altLang="ko-KR" dirty="0"/>
              <a:t>Streaming A and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51EE4D8B-81BE-1438-B88D-BD1E158B6D70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497728"/>
              </a:xfrm>
            </p:spPr>
            <p:txBody>
              <a:bodyPr>
                <a:normAutofit/>
              </a:bodyPr>
              <a:lstStyle/>
              <a:p>
                <a:r>
                  <a:rPr kumimoji="1" lang="ko-KR" altLang="en-US" sz="2400" dirty="0"/>
                  <a:t>적용 전</a:t>
                </a:r>
                <a:r>
                  <a:rPr kumimoji="1" lang="en-US" altLang="ko-KR" sz="2400" dirty="0"/>
                  <a:t>)</a:t>
                </a:r>
                <a:r>
                  <a:rPr kumimoji="1" lang="ko-KR" altLang="en-US" sz="2400" dirty="0"/>
                  <a:t> </a:t>
                </a:r>
                <a:r>
                  <a:rPr kumimoji="1" lang="en-US" altLang="en-US" sz="2400" dirty="0" err="1"/>
                  <a:t>Dilithium</a:t>
                </a:r>
                <a:r>
                  <a:rPr kumimoji="1" lang="en-US" altLang="en-US" sz="2400" dirty="0"/>
                  <a:t> 2 : 49KiB / </a:t>
                </a:r>
                <a:r>
                  <a:rPr kumimoji="1" lang="en-US" altLang="en-US" sz="2400" dirty="0" err="1"/>
                  <a:t>Dilithium</a:t>
                </a:r>
                <a:r>
                  <a:rPr kumimoji="1" lang="en-US" altLang="en-US" sz="2400" dirty="0"/>
                  <a:t> 3: 80 KiB / </a:t>
                </a:r>
                <a:r>
                  <a:rPr kumimoji="1" lang="en-US" altLang="en-US" sz="2400" dirty="0" err="1"/>
                  <a:t>Dilithum</a:t>
                </a:r>
                <a:r>
                  <a:rPr kumimoji="1" lang="en-US" altLang="en-US" sz="2400" dirty="0"/>
                  <a:t> 5 : 116 KiB</a:t>
                </a:r>
              </a:p>
              <a:p>
                <a:endParaRPr kumimoji="1" lang="en-US" altLang="ko-KR" sz="2400" b="1" dirty="0"/>
              </a:p>
              <a:p>
                <a:r>
                  <a:rPr kumimoji="1" lang="ko-KR" altLang="en-US" sz="2400" b="1" dirty="0"/>
                  <a:t>기법 </a:t>
                </a:r>
                <a:r>
                  <a:rPr kumimoji="1" lang="en-US" altLang="ko-KR" sz="2400" b="1" dirty="0"/>
                  <a:t>1)</a:t>
                </a:r>
                <a:r>
                  <a:rPr kumimoji="1" lang="ko-KR" altLang="en-US" sz="2400" b="1" dirty="0"/>
                  <a:t> </a:t>
                </a:r>
                <a:r>
                  <a:rPr kumimoji="1" lang="en-US" altLang="ko-KR" sz="2400" b="1" dirty="0"/>
                  <a:t>Streaming A and y(On the fly)</a:t>
                </a:r>
              </a:p>
              <a:p>
                <a:pPr lvl="1"/>
                <a:r>
                  <a:rPr kumimoji="1" lang="ko-KR" altLang="en-US" sz="2000" dirty="0"/>
                  <a:t>서명 생성 알고리즘에 행렬 </a:t>
                </a:r>
                <a:r>
                  <a:rPr kumimoji="1" lang="en-US" altLang="ko-KR" sz="2000" dirty="0"/>
                  <a:t>A</a:t>
                </a:r>
                <a:r>
                  <a:rPr kumimoji="1" lang="ko-KR" altLang="en-US" sz="2000" dirty="0"/>
                  <a:t>가 메모리 차지 제일 많이 함</a:t>
                </a:r>
                <a:r>
                  <a:rPr kumimoji="1" lang="en-US" altLang="ko-KR" sz="2000" dirty="0"/>
                  <a:t>(</a:t>
                </a:r>
                <a:r>
                  <a:rPr kumimoji="1" lang="ko-KR" altLang="en-US" sz="2000" dirty="0"/>
                  <a:t>행렬 </a:t>
                </a:r>
                <a:r>
                  <a:rPr kumimoji="1" lang="en-US" altLang="ko-KR" sz="2000" dirty="0"/>
                  <a:t>A : k by l </a:t>
                </a:r>
                <a:r>
                  <a:rPr kumimoji="1" lang="ko-KR" altLang="en-US" sz="2000" dirty="0"/>
                  <a:t>구조</a:t>
                </a:r>
                <a:r>
                  <a:rPr kumimoji="1" lang="en-US" altLang="ko-KR" sz="2000" dirty="0"/>
                  <a:t>,</a:t>
                </a:r>
                <a:r>
                  <a:rPr kumimoji="1"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ko-KR" sz="200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kumimoji="1" lang="en-US" altLang="ko-KR" sz="20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kumimoji="1" lang="en-US" altLang="ko-KR" sz="2000" dirty="0"/>
                  <a:t> KiB)</a:t>
                </a:r>
              </a:p>
              <a:p>
                <a:pPr lvl="1"/>
                <a:endParaRPr kumimoji="1" lang="en-US" altLang="ko-KR" sz="2000" dirty="0"/>
              </a:p>
              <a:p>
                <a:pPr lvl="1"/>
                <a:endParaRPr kumimoji="1" lang="en-US" altLang="ko-KR" sz="2000" dirty="0"/>
              </a:p>
              <a:p>
                <a:pPr lvl="1"/>
                <a:endParaRPr kumimoji="1" lang="en-US" altLang="ko-KR" sz="2000" dirty="0"/>
              </a:p>
              <a:p>
                <a:pPr lvl="1"/>
                <a:endParaRPr kumimoji="1" lang="en-US" altLang="ko-KR" sz="2000" dirty="0"/>
              </a:p>
              <a:p>
                <a:pPr lvl="1"/>
                <a:endParaRPr kumimoji="1" lang="en-US" altLang="ko-KR" sz="2000" dirty="0"/>
              </a:p>
              <a:p>
                <a:pPr lvl="1"/>
                <a:endParaRPr kumimoji="1" lang="en-US" altLang="ko-KR" sz="2000" dirty="0"/>
              </a:p>
              <a:p>
                <a:pPr lvl="1"/>
                <a:r>
                  <a:rPr kumimoji="1" lang="ko-KR" altLang="en-US" sz="2000" dirty="0"/>
                  <a:t>행렬 </a:t>
                </a:r>
                <a:r>
                  <a:rPr kumimoji="1" lang="en-US" altLang="ko-KR" sz="2000" dirty="0"/>
                  <a:t>A</a:t>
                </a:r>
                <a:r>
                  <a:rPr kumimoji="1" lang="ko-KR" altLang="en-US" sz="2000" dirty="0"/>
                  <a:t>의 각 원소는 </a:t>
                </a:r>
                <a:r>
                  <a:rPr kumimoji="1" lang="en-US" altLang="ko-KR" sz="2000" dirty="0"/>
                  <a:t>n=256</a:t>
                </a:r>
                <a:r>
                  <a:rPr kumimoji="1" lang="ko-KR" altLang="en-US" sz="2000" dirty="0"/>
                  <a:t>개의 계수를 가진 다항식</a:t>
                </a:r>
                <a:endParaRPr kumimoji="1" lang="en-US" altLang="ko-KR" sz="2000" dirty="0"/>
              </a:p>
              <a:p>
                <a:pPr lvl="2"/>
                <a:r>
                  <a:rPr kumimoji="1" lang="ko-KR" altLang="en-US" sz="1600" dirty="0"/>
                  <a:t>기존 구현에서는 각 계수를 </a:t>
                </a:r>
                <a:r>
                  <a:rPr kumimoji="1" lang="en-US" altLang="ko-KR" sz="1600" dirty="0"/>
                  <a:t>4Byte(32</a:t>
                </a:r>
                <a:r>
                  <a:rPr kumimoji="1" lang="ko-KR" altLang="en-US" sz="1600" dirty="0"/>
                  <a:t>비트</a:t>
                </a:r>
                <a:r>
                  <a:rPr kumimoji="1" lang="en-US" altLang="ko-KR" sz="1600" dirty="0"/>
                  <a:t>)</a:t>
                </a:r>
                <a:r>
                  <a:rPr kumimoji="1" lang="ko-KR" altLang="en-US" sz="1600" dirty="0"/>
                  <a:t> 정수로 저장하기 때문에</a:t>
                </a:r>
                <a:r>
                  <a:rPr kumimoji="1" lang="en-US" altLang="ko-KR" sz="1600" dirty="0"/>
                  <a:t> </a:t>
                </a:r>
                <a:r>
                  <a:rPr kumimoji="1" lang="ko-KR" altLang="en-US" sz="1600" dirty="0"/>
                  <a:t>다항식 하나는 </a:t>
                </a:r>
                <a:r>
                  <a:rPr kumimoji="1" lang="en-US" altLang="ko-KR" sz="1600" dirty="0"/>
                  <a:t>1024byte(=1KiB)</a:t>
                </a:r>
                <a:r>
                  <a:rPr kumimoji="1" lang="ko-KR" altLang="en-US" sz="1600" dirty="0" err="1"/>
                  <a:t>를</a:t>
                </a:r>
                <a:r>
                  <a:rPr kumimoji="1" lang="ko-KR" altLang="en-US" sz="1600" dirty="0"/>
                  <a:t> 차지</a:t>
                </a:r>
                <a:endParaRPr kumimoji="1" lang="en-US" altLang="ko-KR" sz="1600" dirty="0"/>
              </a:p>
              <a:p>
                <a:pPr lvl="1"/>
                <a:endParaRPr kumimoji="1" lang="en-US" altLang="ko-KR" sz="2000" dirty="0"/>
              </a:p>
              <a:p>
                <a:pPr lvl="1"/>
                <a:r>
                  <a:rPr kumimoji="1" lang="ko-KR" altLang="en-US" sz="2000" dirty="0"/>
                  <a:t>적용 후</a:t>
                </a:r>
                <a:r>
                  <a:rPr kumimoji="1" lang="en-US" altLang="ko-KR" sz="2000" dirty="0"/>
                  <a:t>)</a:t>
                </a:r>
                <a:r>
                  <a:rPr kumimoji="1" lang="ko-KR" altLang="en-US" sz="2000" dirty="0"/>
                  <a:t> </a:t>
                </a:r>
                <a:r>
                  <a:rPr kumimoji="1" lang="en-US" altLang="en-US" sz="2000" dirty="0" err="1"/>
                  <a:t>Dilithium</a:t>
                </a:r>
                <a:r>
                  <a:rPr kumimoji="1" lang="en-US" altLang="en-US" sz="2000" dirty="0"/>
                  <a:t> 2 : </a:t>
                </a:r>
                <a:r>
                  <a:rPr kumimoji="1" lang="en-US" altLang="ko-KR" sz="2000" dirty="0"/>
                  <a:t>20</a:t>
                </a:r>
                <a:r>
                  <a:rPr kumimoji="1" lang="en-US" altLang="en-US" sz="2000" dirty="0"/>
                  <a:t>KiB / </a:t>
                </a:r>
                <a:r>
                  <a:rPr kumimoji="1" lang="en-US" altLang="en-US" sz="2000" dirty="0" err="1"/>
                  <a:t>Dilithium</a:t>
                </a:r>
                <a:r>
                  <a:rPr kumimoji="1" lang="en-US" altLang="en-US" sz="2000" dirty="0"/>
                  <a:t> 3: </a:t>
                </a:r>
                <a:r>
                  <a:rPr kumimoji="1" lang="en-US" altLang="ko-KR" sz="2000" dirty="0"/>
                  <a:t>35</a:t>
                </a:r>
                <a:r>
                  <a:rPr kumimoji="1" lang="en-US" altLang="en-US" sz="2000" dirty="0"/>
                  <a:t> KiB / </a:t>
                </a:r>
                <a:r>
                  <a:rPr kumimoji="1" lang="en-US" altLang="en-US" sz="2000" dirty="0" err="1"/>
                  <a:t>Dilithum</a:t>
                </a:r>
                <a:r>
                  <a:rPr kumimoji="1" lang="en-US" altLang="en-US" sz="2000" dirty="0"/>
                  <a:t> 5 : </a:t>
                </a:r>
                <a:r>
                  <a:rPr kumimoji="1" lang="en-US" altLang="ko-KR" sz="2000" dirty="0"/>
                  <a:t>63</a:t>
                </a:r>
                <a:r>
                  <a:rPr kumimoji="1" lang="en-US" altLang="en-US" sz="2000" dirty="0"/>
                  <a:t> KiB</a:t>
                </a:r>
                <a:r>
                  <a:rPr kumimoji="1" lang="ko-KR" altLang="en-US" sz="2000" dirty="0"/>
                  <a:t> 정도 각각 절감</a:t>
                </a:r>
                <a:br>
                  <a:rPr kumimoji="1" lang="en-US" altLang="ko-KR" sz="2000" dirty="0"/>
                </a:br>
                <a:r>
                  <a:rPr kumimoji="1" lang="ko-KR" altLang="en-US" sz="2000" dirty="0"/>
                  <a:t>                                 </a:t>
                </a:r>
                <a:r>
                  <a:rPr kumimoji="1" lang="en-US" altLang="ko-KR" sz="2000" dirty="0"/>
                  <a:t>ex)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49-20=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29KiB </a:t>
                </a:r>
                <a:r>
                  <a:rPr kumimoji="1" lang="ko-KR" altLang="en-US" sz="2000" dirty="0"/>
                  <a:t>이렇게 메모리 사용량 감소</a:t>
                </a:r>
                <a:endParaRPr kumimoji="1" lang="en-US" altLang="en-US" sz="2000" dirty="0"/>
              </a:p>
              <a:p>
                <a:endParaRPr kumimoji="1" lang="ko-Kore-KR" altLang="en-US" sz="240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51EE4D8B-81BE-1438-B88D-BD1E158B6D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497728"/>
              </a:xfrm>
              <a:blipFill>
                <a:blip r:embed="rId2"/>
                <a:stretch>
                  <a:fillRect l="-781" t="-13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AC82211-E518-1B96-4E10-8A9FAC5C4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283367"/>
              </p:ext>
            </p:extLst>
          </p:nvPr>
        </p:nvGraphicFramePr>
        <p:xfrm>
          <a:off x="1305859" y="2867161"/>
          <a:ext cx="9580282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7106">
                  <a:extLst>
                    <a:ext uri="{9D8B030D-6E8A-4147-A177-3AD203B41FA5}">
                      <a16:colId xmlns:a16="http://schemas.microsoft.com/office/drawing/2014/main" val="1519102017"/>
                    </a:ext>
                  </a:extLst>
                </a:gridCol>
                <a:gridCol w="1751106">
                  <a:extLst>
                    <a:ext uri="{9D8B030D-6E8A-4147-A177-3AD203B41FA5}">
                      <a16:colId xmlns:a16="http://schemas.microsoft.com/office/drawing/2014/main" val="2434028105"/>
                    </a:ext>
                  </a:extLst>
                </a:gridCol>
                <a:gridCol w="1434353">
                  <a:extLst>
                    <a:ext uri="{9D8B030D-6E8A-4147-A177-3AD203B41FA5}">
                      <a16:colId xmlns:a16="http://schemas.microsoft.com/office/drawing/2014/main" val="3044460680"/>
                    </a:ext>
                  </a:extLst>
                </a:gridCol>
                <a:gridCol w="3627717">
                  <a:extLst>
                    <a:ext uri="{9D8B030D-6E8A-4147-A177-3AD203B41FA5}">
                      <a16:colId xmlns:a16="http://schemas.microsoft.com/office/drawing/2014/main" val="3307634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보안 레벨 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NIST Level)</a:t>
                      </a:r>
                      <a:endParaRPr lang="en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k (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행의 개수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l (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열의 개수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행렬 </a:t>
                      </a:r>
                      <a:r>
                        <a:rPr lang="en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의 원소 수 </a:t>
                      </a:r>
                      <a:r>
                        <a:rPr lang="en-US" altLang="ko-KR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k×l)</a:t>
                      </a:r>
                      <a:endParaRPr lang="en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03437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Dilithium-2</a:t>
                      </a:r>
                      <a:endParaRPr lang="e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b="1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16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개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76013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Dilithium-3</a:t>
                      </a:r>
                      <a:endParaRPr lang="e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b="1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30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개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24209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Dilithium-5</a:t>
                      </a:r>
                      <a:endParaRPr lang="e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b="1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56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개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17204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3438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C1055-5838-3AC2-F507-76F2A0C9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w</a:t>
            </a:r>
            <a:r>
              <a:rPr kumimoji="1" lang="ko-KR" altLang="en-US" dirty="0"/>
              <a:t> 벡터 압축 원리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22B81262-2366-7A58-08A7-36A246199DA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ko-KR" altLang="en-US" sz="2400" dirty="0" err="1"/>
                  <a:t>딜리시움</a:t>
                </a:r>
                <a:r>
                  <a:rPr kumimoji="1" lang="ko-KR" altLang="en-US" sz="2400" dirty="0"/>
                  <a:t> 다항식 구조 </a:t>
                </a:r>
                <a:r>
                  <a:rPr kumimoji="1" lang="en-US" altLang="ko-KR" sz="2400" dirty="0"/>
                  <a:t>: n</a:t>
                </a:r>
                <a:r>
                  <a:rPr kumimoji="1" lang="ko-KR" altLang="en-US" sz="2400" dirty="0"/>
                  <a:t>의</a:t>
                </a:r>
                <a:r>
                  <a:rPr kumimoji="1" lang="en-US" altLang="ko-KR" sz="2400" dirty="0"/>
                  <a:t> 256</a:t>
                </a:r>
                <a:r>
                  <a:rPr kumimoji="1" lang="ko-KR" altLang="en-US" sz="2400" dirty="0"/>
                  <a:t>개의 계수</a:t>
                </a:r>
                <a:r>
                  <a:rPr kumimoji="1" lang="en-US" altLang="ko-KR" sz="2400" dirty="0"/>
                  <a:t>(Coefficient)</a:t>
                </a:r>
                <a:r>
                  <a:rPr kumimoji="1" lang="ko-KR" altLang="en-US" sz="2400" dirty="0"/>
                  <a:t>로 구성</a:t>
                </a:r>
                <a:endParaRPr kumimoji="1" lang="en-US" altLang="ko-KR" sz="2400" dirty="0"/>
              </a:p>
              <a:p>
                <a:pPr lvl="1">
                  <a:tabLst>
                    <a:tab pos="9372600" algn="l"/>
                  </a:tabLst>
                </a:pP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sSup>
                      <m:sSupPr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p>
                    </m:sSup>
                  </m:oMath>
                </a14:m>
                <a:endParaRPr kumimoji="1" lang="en-US" altLang="ko-KR" dirty="0"/>
              </a:p>
              <a:p>
                <a:pPr>
                  <a:tabLst>
                    <a:tab pos="9372600" algn="l"/>
                  </a:tabLst>
                </a:pPr>
                <a:endParaRPr kumimoji="1" lang="en-US" altLang="ko-KR" sz="2400" dirty="0"/>
              </a:p>
              <a:p>
                <a:pPr>
                  <a:tabLst>
                    <a:tab pos="9372600" algn="l"/>
                  </a:tabLst>
                </a:pPr>
                <a:r>
                  <a:rPr kumimoji="1" lang="ko-KR" altLang="en-US" sz="2400" dirty="0"/>
                  <a:t>값의 범위 </a:t>
                </a:r>
                <a:r>
                  <a:rPr kumimoji="1" lang="en-US" altLang="ko-KR" sz="2400" dirty="0"/>
                  <a:t>(q)</a:t>
                </a:r>
                <a:r>
                  <a:rPr kumimoji="1" lang="ko-KR" altLang="en-US" sz="2400" dirty="0"/>
                  <a:t> </a:t>
                </a:r>
                <a:r>
                  <a:rPr kumimoji="1" lang="en-US" altLang="ko-KR" sz="2400" dirty="0"/>
                  <a:t>:</a:t>
                </a:r>
                <a:r>
                  <a:rPr kumimoji="1" lang="ko-KR" altLang="en-US" sz="2400" dirty="0"/>
                  <a:t> 모든 계수는 소수 </a:t>
                </a:r>
                <a:r>
                  <a:rPr kumimoji="1" lang="en-US" altLang="ko-KR" sz="2400" dirty="0"/>
                  <a:t>q</a:t>
                </a:r>
                <a:r>
                  <a:rPr kumimoji="1" lang="ko-KR" altLang="en-US" sz="2400" dirty="0"/>
                  <a:t> </a:t>
                </a:r>
                <a:r>
                  <a:rPr kumimoji="1" lang="en-US" altLang="ko-KR" sz="2400" dirty="0"/>
                  <a:t>=</a:t>
                </a:r>
                <a:r>
                  <a:rPr kumimoji="1" lang="ko-KR" altLang="en-US" sz="2400" dirty="0"/>
                  <a:t> </a:t>
                </a:r>
                <a:r>
                  <a:rPr kumimoji="1" lang="en-US" altLang="ko-KR" sz="2400" dirty="0"/>
                  <a:t>8,380,417</a:t>
                </a:r>
                <a:r>
                  <a:rPr kumimoji="1" lang="ko-KR" altLang="en-US" sz="2400" dirty="0"/>
                  <a:t>보다 작음</a:t>
                </a:r>
                <a:endParaRPr kumimoji="1" lang="en-US" altLang="ko-KR" sz="2400" dirty="0"/>
              </a:p>
              <a:p>
                <a:pPr>
                  <a:tabLst>
                    <a:tab pos="9372600" algn="l"/>
                  </a:tabLst>
                </a:pPr>
                <a:endParaRPr kumimoji="1" lang="en-US" altLang="ko-KR" sz="2400" dirty="0"/>
              </a:p>
              <a:p>
                <a:pPr>
                  <a:tabLst>
                    <a:tab pos="9372600" algn="l"/>
                  </a:tabLst>
                </a:pPr>
                <a:r>
                  <a:rPr kumimoji="1" lang="ko-KR" altLang="en-US" sz="2400" dirty="0"/>
                  <a:t>일반적인 구현</a:t>
                </a:r>
                <a:r>
                  <a:rPr kumimoji="1" lang="en-US" altLang="ko-KR" sz="2400" dirty="0"/>
                  <a:t>(clean)</a:t>
                </a:r>
                <a:r>
                  <a:rPr kumimoji="1" lang="ko-KR" altLang="en-US" sz="2400" dirty="0"/>
                  <a:t>은 </a:t>
                </a:r>
                <a:r>
                  <a:rPr kumimoji="1" lang="en-US" altLang="ko-KR" sz="2400" dirty="0"/>
                  <a:t>32-bit(4-Byte)</a:t>
                </a:r>
                <a:r>
                  <a:rPr kumimoji="1" lang="ko-KR" altLang="en-US" sz="2400" dirty="0"/>
                  <a:t> 정수형 사용</a:t>
                </a:r>
                <a:endParaRPr kumimoji="1" lang="en-US" altLang="ko-KR" sz="2400" dirty="0"/>
              </a:p>
              <a:p>
                <a:pPr lvl="1">
                  <a:tabLst>
                    <a:tab pos="9372600" algn="l"/>
                  </a:tabLst>
                </a:pPr>
                <a:r>
                  <a:rPr kumimoji="1" lang="ko-KR" altLang="en-US" sz="2000" dirty="0"/>
                  <a:t>하지만 실제 데이터는 </a:t>
                </a:r>
                <a:r>
                  <a:rPr kumimoji="1" lang="en-US" altLang="ko-KR" sz="2000" dirty="0"/>
                  <a:t>23-bit</a:t>
                </a:r>
                <a:r>
                  <a:rPr kumimoji="1" lang="ko-KR" altLang="en-US" sz="2000" dirty="0"/>
                  <a:t>면 충분하기 때문에 </a:t>
                </a:r>
                <a:r>
                  <a:rPr kumimoji="1" lang="en-US" altLang="ko-KR" sz="2000" dirty="0"/>
                  <a:t>9bit </a:t>
                </a:r>
                <a:r>
                  <a:rPr kumimoji="1" lang="ko-KR" altLang="en-US" sz="2000" dirty="0"/>
                  <a:t>낭비</a:t>
                </a:r>
                <a:endParaRPr kumimoji="1" lang="en-US" altLang="ko-KR" sz="2000" dirty="0"/>
              </a:p>
              <a:p>
                <a:pPr>
                  <a:tabLst>
                    <a:tab pos="9372600" algn="l"/>
                  </a:tabLst>
                </a:pPr>
                <a:endParaRPr kumimoji="1" lang="en-US" altLang="ko-KR" sz="2400" dirty="0"/>
              </a:p>
              <a:p>
                <a:pPr>
                  <a:tabLst>
                    <a:tab pos="9372600" algn="l"/>
                  </a:tabLst>
                </a:pPr>
                <a:r>
                  <a:rPr kumimoji="1" lang="en-US" altLang="ko-KR" sz="2400" dirty="0"/>
                  <a:t>24-bit</a:t>
                </a:r>
                <a:r>
                  <a:rPr kumimoji="1" lang="ko-KR" altLang="en-US" sz="2400" dirty="0"/>
                  <a:t> </a:t>
                </a:r>
                <a:r>
                  <a:rPr kumimoji="1" lang="en-US" altLang="ko-KR" sz="2400" dirty="0"/>
                  <a:t>Packing</a:t>
                </a:r>
              </a:p>
              <a:p>
                <a:pPr lvl="1">
                  <a:tabLst>
                    <a:tab pos="9372600" algn="l"/>
                  </a:tabLst>
                </a:pPr>
                <a:r>
                  <a:rPr kumimoji="1" lang="en-US" altLang="ko-KR" sz="2000" dirty="0"/>
                  <a:t>8-bit</a:t>
                </a:r>
                <a:r>
                  <a:rPr kumimoji="1" lang="ko-KR" altLang="en-US" sz="2000" dirty="0"/>
                  <a:t> 낭비를 제거하고 </a:t>
                </a:r>
                <a:r>
                  <a:rPr kumimoji="1" lang="en-US" altLang="ko-KR" sz="2000" dirty="0"/>
                  <a:t>24-bit</a:t>
                </a:r>
                <a:r>
                  <a:rPr kumimoji="1" lang="ko-KR" altLang="en-US" sz="2000" dirty="0"/>
                  <a:t>로 압축</a:t>
                </a:r>
                <a:endParaRPr kumimoji="1" lang="en-US" altLang="ko-KR" sz="2000" dirty="0"/>
              </a:p>
              <a:p>
                <a:pPr lvl="1">
                  <a:tabLst>
                    <a:tab pos="9372600" algn="l"/>
                  </a:tabLst>
                </a:pPr>
                <a:r>
                  <a:rPr kumimoji="1" lang="en-US" altLang="ko-KR" sz="2000" dirty="0"/>
                  <a:t>23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bit</a:t>
                </a:r>
                <a:r>
                  <a:rPr kumimoji="1" lang="ko-KR" altLang="en-US" sz="2000" dirty="0"/>
                  <a:t>가 아닌 </a:t>
                </a:r>
                <a:r>
                  <a:rPr kumimoji="1" lang="en-US" altLang="ko-KR" sz="2000" dirty="0"/>
                  <a:t>24 bit </a:t>
                </a:r>
                <a:r>
                  <a:rPr kumimoji="1" lang="ko-KR" altLang="en-US" sz="2000" dirty="0"/>
                  <a:t>인 이유는 </a:t>
                </a:r>
                <a:r>
                  <a:rPr kumimoji="1" lang="en-US" altLang="ko-KR" sz="2000" dirty="0"/>
                  <a:t>8</a:t>
                </a:r>
                <a:r>
                  <a:rPr kumimoji="1" lang="ko-KR" altLang="en-US" sz="2000" dirty="0"/>
                  <a:t>의 배수</a:t>
                </a:r>
                <a:r>
                  <a:rPr kumimoji="1" lang="en-US" altLang="ko-KR" sz="2000" dirty="0"/>
                  <a:t>(1-Byte)</a:t>
                </a:r>
                <a:r>
                  <a:rPr kumimoji="1" lang="ko-KR" altLang="en-US" sz="2000" dirty="0"/>
                  <a:t>가 정렬 효율성을 위해 선택</a:t>
                </a:r>
                <a:endParaRPr kumimoji="1" lang="en-US" altLang="ko-KR" sz="2400" dirty="0"/>
              </a:p>
              <a:p>
                <a:pPr lvl="2">
                  <a:tabLst>
                    <a:tab pos="9372600" algn="l"/>
                  </a:tabLst>
                </a:pPr>
                <a:endParaRPr kumimoji="1" lang="en-US" altLang="ko-KR" dirty="0"/>
              </a:p>
              <a:p>
                <a:pPr lvl="2">
                  <a:tabLst>
                    <a:tab pos="9372600" algn="l"/>
                  </a:tabLst>
                </a:pPr>
                <a:endParaRPr kumimoji="1" lang="en-US" altLang="ko-KR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22B81262-2366-7A58-08A7-36A246199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81" t="-1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8184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53EB4-AB5F-1669-6DC2-134B0DC1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기법 </a:t>
            </a:r>
            <a:r>
              <a:rPr kumimoji="1" lang="en-US" altLang="ko-KR" dirty="0"/>
              <a:t>2)</a:t>
            </a:r>
            <a:r>
              <a:rPr kumimoji="1" lang="ko-KR" altLang="en-US" dirty="0"/>
              <a:t> </a:t>
            </a:r>
            <a:r>
              <a:rPr kumimoji="1" lang="en-US" altLang="ko-KR" dirty="0"/>
              <a:t>w</a:t>
            </a:r>
            <a:r>
              <a:rPr kumimoji="1" lang="ko-KR" altLang="en-US" dirty="0"/>
              <a:t> 벡터 압축</a:t>
            </a:r>
            <a:endParaRPr kumimoji="1"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BC66D7-FA95-93AA-42D7-8D49894082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467569" cy="5497728"/>
          </a:xfrm>
        </p:spPr>
        <p:txBody>
          <a:bodyPr>
            <a:noAutofit/>
          </a:bodyPr>
          <a:lstStyle/>
          <a:p>
            <a:r>
              <a:rPr kumimoji="1" lang="en-US" altLang="ko-KR" sz="2000" dirty="0"/>
              <a:t>w? </a:t>
            </a:r>
            <a:r>
              <a:rPr kumimoji="1" lang="ko-KR" altLang="en-US" sz="2000" dirty="0"/>
              <a:t>서명 생성 과정에서 가장 먼저 계산되는 핵심 중간값</a:t>
            </a:r>
            <a:endParaRPr kumimoji="1" lang="en-US" altLang="ko-KR" sz="2000" dirty="0"/>
          </a:p>
          <a:p>
            <a:pPr lvl="1"/>
            <a:r>
              <a:rPr kumimoji="1" lang="en-US" altLang="ko-KR" sz="2000" dirty="0"/>
              <a:t>w = Ay</a:t>
            </a:r>
          </a:p>
          <a:p>
            <a:pPr lvl="2"/>
            <a:r>
              <a:rPr kumimoji="1" lang="en-US" altLang="ko-KR" sz="1800" dirty="0"/>
              <a:t>A : </a:t>
            </a:r>
            <a:r>
              <a:rPr kumimoji="1" lang="ko-KR" altLang="en-US" sz="1800" dirty="0"/>
              <a:t>공개된 행렬</a:t>
            </a:r>
            <a:r>
              <a:rPr kumimoji="1" lang="en-US" altLang="ko-KR" sz="1800" dirty="0"/>
              <a:t>(k x l </a:t>
            </a:r>
            <a:r>
              <a:rPr kumimoji="1" lang="ko-KR" altLang="en-US" sz="1800" dirty="0"/>
              <a:t>행렬</a:t>
            </a:r>
            <a:r>
              <a:rPr kumimoji="1" lang="en-US" altLang="ko-KR" sz="1800" dirty="0"/>
              <a:t>)</a:t>
            </a:r>
          </a:p>
          <a:p>
            <a:pPr lvl="2"/>
            <a:r>
              <a:rPr kumimoji="1" lang="en-US" altLang="ko-KR" sz="1800" dirty="0"/>
              <a:t>y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:</a:t>
            </a:r>
            <a:r>
              <a:rPr kumimoji="1" lang="ko-KR" altLang="en-US" sz="1800" dirty="0"/>
              <a:t> 서명마다 새롭게 뽑는 랜덤벡터</a:t>
            </a:r>
            <a:r>
              <a:rPr kumimoji="1" lang="en-US" altLang="ko-KR" sz="1800" dirty="0"/>
              <a:t>(</a:t>
            </a:r>
            <a:r>
              <a:rPr kumimoji="1" lang="ko-KR" altLang="en-US" sz="1800" dirty="0" err="1"/>
              <a:t>마스킹</a:t>
            </a:r>
            <a:r>
              <a:rPr kumimoji="1" lang="ko-KR" altLang="en-US" sz="1800" dirty="0"/>
              <a:t> 벡터</a:t>
            </a:r>
            <a:r>
              <a:rPr kumimoji="1" lang="en-US" altLang="ko-KR" sz="1800" dirty="0"/>
              <a:t>)</a:t>
            </a:r>
          </a:p>
          <a:p>
            <a:pPr lvl="2"/>
            <a:r>
              <a:rPr kumimoji="1" lang="en-US" altLang="ko-KR" sz="1800" dirty="0"/>
              <a:t>W</a:t>
            </a:r>
            <a:r>
              <a:rPr kumimoji="1" lang="ko-KR" altLang="en-US" sz="1800" dirty="0"/>
              <a:t>는 </a:t>
            </a:r>
            <a:r>
              <a:rPr kumimoji="1" lang="en-US" altLang="ko-KR" sz="1800" dirty="0"/>
              <a:t>k</a:t>
            </a:r>
            <a:r>
              <a:rPr kumimoji="1" lang="ko-KR" altLang="en-US" sz="1800" dirty="0"/>
              <a:t>개의 다항식으로 이루어짐 </a:t>
            </a:r>
            <a:r>
              <a:rPr kumimoji="1" lang="en-US" altLang="ko-KR" sz="1800" dirty="0"/>
              <a:t>/</a:t>
            </a:r>
            <a:r>
              <a:rPr kumimoji="1" lang="ko-KR" altLang="en-US" sz="1800" dirty="0"/>
              <a:t> 원소가 </a:t>
            </a:r>
            <a:r>
              <a:rPr kumimoji="1" lang="en-US" altLang="ko-KR" sz="1800" dirty="0"/>
              <a:t>k</a:t>
            </a:r>
            <a:r>
              <a:rPr kumimoji="1" lang="ko-KR" altLang="en-US" sz="1800" dirty="0"/>
              <a:t>개</a:t>
            </a:r>
            <a:r>
              <a:rPr kumimoji="1" lang="en-US" altLang="ko-KR" sz="1800" dirty="0"/>
              <a:t>,</a:t>
            </a:r>
            <a:br>
              <a:rPr kumimoji="1" lang="en-US" altLang="ko-KR" sz="1800" dirty="0"/>
            </a:br>
            <a:r>
              <a:rPr kumimoji="1" lang="ko-KR" altLang="en-US" sz="1800" dirty="0"/>
              <a:t> 각 원소는 </a:t>
            </a:r>
            <a:r>
              <a:rPr kumimoji="1" lang="en-US" altLang="ko-KR" sz="1800" dirty="0"/>
              <a:t>256</a:t>
            </a:r>
            <a:r>
              <a:rPr kumimoji="1" lang="ko-KR" altLang="en-US" sz="1800" dirty="0"/>
              <a:t>개의 계수를 갖는 다항식</a:t>
            </a:r>
            <a:endParaRPr kumimoji="1" lang="en-US" altLang="ko-KR" sz="1800" dirty="0"/>
          </a:p>
          <a:p>
            <a:r>
              <a:rPr kumimoji="1" lang="en-US" altLang="ko-KR" sz="2000" dirty="0"/>
              <a:t>W</a:t>
            </a:r>
            <a:r>
              <a:rPr kumimoji="1" lang="ko-KR" altLang="en-US" sz="2000" dirty="0"/>
              <a:t>의 압축 저장이 가능한 이유</a:t>
            </a:r>
            <a:r>
              <a:rPr kumimoji="1" lang="en-US" altLang="ko-KR" sz="2000" dirty="0"/>
              <a:t>?</a:t>
            </a:r>
          </a:p>
          <a:p>
            <a:pPr lvl="1"/>
            <a:r>
              <a:rPr kumimoji="1" lang="en-US" altLang="ko-KR" sz="2000" dirty="0"/>
              <a:t>w </a:t>
            </a:r>
            <a:r>
              <a:rPr kumimoji="1" lang="ko-KR" altLang="en-US" sz="2000" dirty="0"/>
              <a:t>의 각 계수는 </a:t>
            </a:r>
            <a:r>
              <a:rPr kumimoji="1" lang="en-US" altLang="ko-KR" sz="2000" dirty="0"/>
              <a:t>32</a:t>
            </a:r>
            <a:r>
              <a:rPr kumimoji="1" lang="ko-KR" altLang="en-US" sz="2000" dirty="0"/>
              <a:t>비트 정수이지만  </a:t>
            </a:r>
            <a:r>
              <a:rPr kumimoji="1" lang="en-US" altLang="ko-KR" sz="2000" dirty="0"/>
              <a:t>24</a:t>
            </a:r>
            <a:r>
              <a:rPr kumimoji="1" lang="ko-KR" altLang="en-US" sz="2000" dirty="0"/>
              <a:t>비트로 압축해서 저장 가능</a:t>
            </a:r>
            <a:endParaRPr kumimoji="1" lang="en-US" altLang="ko-KR" sz="2000" dirty="0"/>
          </a:p>
          <a:p>
            <a:pPr lvl="1"/>
            <a:r>
              <a:rPr kumimoji="1" lang="en-US" altLang="ko-KR" sz="2000" dirty="0"/>
              <a:t>Why? Q=8,380,417(2^23</a:t>
            </a:r>
            <a:r>
              <a:rPr kumimoji="1" lang="ko-KR" altLang="en-US" sz="2000" dirty="0"/>
              <a:t>안에서 연산되기 때문</a:t>
            </a:r>
            <a:r>
              <a:rPr kumimoji="1" lang="en-US" altLang="ko-KR" sz="2000" dirty="0"/>
              <a:t>)</a:t>
            </a:r>
          </a:p>
          <a:p>
            <a:pPr lvl="1"/>
            <a:endParaRPr kumimoji="1" lang="en-US" altLang="ko-KR" sz="2000" dirty="0"/>
          </a:p>
          <a:p>
            <a:pPr marL="457200" lvl="1" indent="0">
              <a:buNone/>
            </a:pPr>
            <a:r>
              <a:rPr kumimoji="1" lang="en-US" altLang="ko-KR" sz="1800" dirty="0"/>
              <a:t>1.</a:t>
            </a:r>
            <a:r>
              <a:rPr kumimoji="1" lang="ko-KR" altLang="en-US" sz="1800" dirty="0"/>
              <a:t> 각 계수를 </a:t>
            </a:r>
            <a:r>
              <a:rPr kumimoji="1" lang="en-US" altLang="ko-KR" sz="1800" dirty="0"/>
              <a:t>q</a:t>
            </a:r>
            <a:r>
              <a:rPr kumimoji="1" lang="ko-KR" altLang="en-US" sz="1800" dirty="0"/>
              <a:t>로 나눈 나머지 구하기</a:t>
            </a:r>
            <a:endParaRPr kumimoji="1" lang="en-US" altLang="ko-KR" sz="1800" dirty="0"/>
          </a:p>
          <a:p>
            <a:pPr marL="457200" lvl="1" indent="0">
              <a:buNone/>
            </a:pPr>
            <a:r>
              <a:rPr kumimoji="1" lang="en-US" altLang="ko-KR" sz="1800" dirty="0"/>
              <a:t>2.</a:t>
            </a:r>
            <a:r>
              <a:rPr kumimoji="1" lang="ko-KR" altLang="en-US" sz="1800" dirty="0"/>
              <a:t> 이 값을 </a:t>
            </a:r>
            <a:r>
              <a:rPr kumimoji="1" lang="en-US" altLang="ko-KR" sz="1800" dirty="0"/>
              <a:t>24</a:t>
            </a:r>
            <a:r>
              <a:rPr kumimoji="1" lang="ko-KR" altLang="en-US" sz="1800" dirty="0"/>
              <a:t>비트에 꽉 채워서 패킹</a:t>
            </a:r>
            <a:endParaRPr kumimoji="1" lang="en-US" altLang="ko-KR" sz="1800" dirty="0"/>
          </a:p>
          <a:p>
            <a:pPr marL="457200" lvl="1" indent="0">
              <a:buNone/>
            </a:pPr>
            <a:r>
              <a:rPr kumimoji="1" lang="en-US" altLang="ko-KR" sz="1800" dirty="0"/>
              <a:t>3.</a:t>
            </a:r>
            <a:r>
              <a:rPr kumimoji="1" lang="ko-KR" altLang="en-US" sz="1800" dirty="0"/>
              <a:t> 다항식 하나당 </a:t>
            </a:r>
            <a:r>
              <a:rPr kumimoji="1" lang="en-US" altLang="ko-KR" sz="1800" dirty="0"/>
              <a:t>1024byte(32bit*256)</a:t>
            </a:r>
            <a:r>
              <a:rPr kumimoji="1" lang="ko-KR" altLang="en-US" sz="1800" dirty="0"/>
              <a:t> 필요했던 것이 </a:t>
            </a:r>
            <a:r>
              <a:rPr kumimoji="1" lang="en-US" altLang="ko-KR" sz="1800" b="1" dirty="0">
                <a:solidFill>
                  <a:srgbClr val="FF0000"/>
                </a:solidFill>
              </a:rPr>
              <a:t>768-Byte(24bit*256)</a:t>
            </a:r>
            <a:r>
              <a:rPr kumimoji="1" lang="ko-KR" altLang="en-US" sz="1800" b="1" dirty="0" err="1">
                <a:solidFill>
                  <a:srgbClr val="FF0000"/>
                </a:solidFill>
              </a:rPr>
              <a:t>으로</a:t>
            </a:r>
            <a:r>
              <a:rPr kumimoji="1" lang="ko-KR" altLang="en-US" sz="1800" b="1" dirty="0">
                <a:solidFill>
                  <a:srgbClr val="FF0000"/>
                </a:solidFill>
              </a:rPr>
              <a:t> 줄어 들음</a:t>
            </a:r>
            <a:endParaRPr kumimoji="1" lang="en-US" altLang="ko-KR" sz="18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kumimoji="1" lang="en-US" altLang="ko-KR" sz="1800" dirty="0"/>
          </a:p>
          <a:p>
            <a:r>
              <a:rPr kumimoji="1" lang="ko-KR" altLang="en-US" sz="2000" b="1" dirty="0">
                <a:solidFill>
                  <a:srgbClr val="FF0000"/>
                </a:solidFill>
              </a:rPr>
              <a:t>이 과정에서 메모리는 아끼지만 연산 오버헤드 생김</a:t>
            </a:r>
            <a:endParaRPr kumimoji="1" lang="en-US" altLang="ko-KR" sz="2000" b="1" dirty="0">
              <a:solidFill>
                <a:srgbClr val="FF0000"/>
              </a:solidFill>
            </a:endParaRPr>
          </a:p>
          <a:p>
            <a:r>
              <a:rPr kumimoji="1" lang="ko-KR" altLang="en-US" sz="2000" dirty="0"/>
              <a:t>챌린지 </a:t>
            </a:r>
            <a:r>
              <a:rPr kumimoji="1" lang="en-US" altLang="ko-KR" sz="2000" dirty="0"/>
              <a:t>c </a:t>
            </a:r>
            <a:r>
              <a:rPr kumimoji="1" lang="ko-KR" altLang="en-US" sz="2000" dirty="0"/>
              <a:t>생성 이후에도 </a:t>
            </a:r>
            <a:r>
              <a:rPr kumimoji="1" lang="en-US" altLang="ko-KR" sz="2000" dirty="0"/>
              <a:t>w</a:t>
            </a:r>
            <a:r>
              <a:rPr kumimoji="1" lang="ko-KR" altLang="en-US" sz="2000" dirty="0"/>
              <a:t> 원본이 필요하여 메모리 해제 불가</a:t>
            </a:r>
            <a:r>
              <a:rPr kumimoji="1" lang="en-US" altLang="ko-KR" sz="2000" dirty="0"/>
              <a:t>(Lifetime </a:t>
            </a:r>
            <a:r>
              <a:rPr kumimoji="1" lang="en-US" altLang="ko-KR" sz="2000" dirty="0" err="1"/>
              <a:t>Overlab</a:t>
            </a:r>
            <a:r>
              <a:rPr kumimoji="1" lang="en-US" altLang="ko-KR" sz="2000" dirty="0"/>
              <a:t>)</a:t>
            </a:r>
            <a:endParaRPr kumimoji="1" lang="en-US" altLang="ko-KR" sz="2400" dirty="0"/>
          </a:p>
          <a:p>
            <a:endParaRPr kumimoji="1" lang="ko-KR" altLang="en-US" sz="18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BD5E1E5-87AE-A815-2B20-3412D4FF3A89}"/>
              </a:ext>
            </a:extLst>
          </p:cNvPr>
          <p:cNvGrpSpPr/>
          <p:nvPr/>
        </p:nvGrpSpPr>
        <p:grpSpPr>
          <a:xfrm>
            <a:off x="6949441" y="0"/>
            <a:ext cx="5242560" cy="3429000"/>
            <a:chOff x="6904369" y="131547"/>
            <a:chExt cx="5054540" cy="314005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67FEC70-8E7C-F4A6-77E7-58C907A70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04" t="3174" r="7202" b="2292"/>
            <a:stretch>
              <a:fillRect/>
            </a:stretch>
          </p:blipFill>
          <p:spPr>
            <a:xfrm>
              <a:off x="6904369" y="131547"/>
              <a:ext cx="5054540" cy="3140059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C465F0D-EEF2-807A-5720-7C580A1227CA}"/>
                </a:ext>
              </a:extLst>
            </p:cNvPr>
            <p:cNvSpPr/>
            <p:nvPr/>
          </p:nvSpPr>
          <p:spPr>
            <a:xfrm>
              <a:off x="7279830" y="1319929"/>
              <a:ext cx="598206" cy="1880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442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A87BD-D2A1-7CF0-24CF-A0ED38D8B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기법 </a:t>
            </a:r>
            <a:r>
              <a:rPr kumimoji="1" lang="en-US" altLang="ko-KR" dirty="0"/>
              <a:t>2)</a:t>
            </a:r>
            <a:r>
              <a:rPr kumimoji="1" lang="ko-KR" altLang="en-US" dirty="0"/>
              <a:t> 구현 코드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9B89C0-BD61-C05A-9C9F-587C9CA921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ko-KR" altLang="en-US" sz="2400" dirty="0"/>
              <a:t>기법 </a:t>
            </a:r>
            <a:r>
              <a:rPr kumimoji="1" lang="en-US" altLang="ko-KR" sz="2400" dirty="0"/>
              <a:t>2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w</a:t>
            </a:r>
            <a:r>
              <a:rPr kumimoji="1" lang="ko-KR" altLang="en-US" sz="2400" dirty="0"/>
              <a:t> 압축</a:t>
            </a:r>
            <a:endParaRPr kumimoji="1" lang="en-US" altLang="ko-KR" sz="2400" dirty="0"/>
          </a:p>
          <a:p>
            <a:pPr lvl="1"/>
            <a:r>
              <a:rPr kumimoji="1" lang="en-US" altLang="ko-KR" dirty="0"/>
              <a:t>w </a:t>
            </a:r>
            <a:r>
              <a:rPr kumimoji="1" lang="ko-KR" altLang="en-US" dirty="0"/>
              <a:t>패킹 방법 및 패킹 값에 대한 덧셈 방법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223AEE-4B31-69FC-21FB-92A516F7B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23" y="2134181"/>
            <a:ext cx="4945554" cy="451607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5F4E928-6C85-0496-FE4B-17810739D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34181"/>
            <a:ext cx="5645945" cy="376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7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BAB04-0818-649B-991B-E49E5EF0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DBE52-DF2A-5CA0-85DD-A199EEE5A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기법 </a:t>
            </a:r>
            <a:r>
              <a:rPr kumimoji="1" lang="en-US" altLang="ko-KR" dirty="0"/>
              <a:t>3)</a:t>
            </a:r>
            <a:r>
              <a:rPr kumimoji="1" lang="ko-KR" altLang="en-US" dirty="0"/>
              <a:t> 챌린지 </a:t>
            </a:r>
            <a:r>
              <a:rPr kumimoji="1" lang="en-US" altLang="ko-KR" dirty="0"/>
              <a:t>c</a:t>
            </a:r>
            <a:r>
              <a:rPr kumimoji="1" lang="ko-KR" altLang="en-US" dirty="0"/>
              <a:t> 곱셈과 </a:t>
            </a:r>
            <a:r>
              <a:rPr kumimoji="1" lang="en-US" altLang="ko-KR" dirty="0"/>
              <a:t>sparse</a:t>
            </a:r>
            <a:r>
              <a:rPr kumimoji="1" lang="ko-KR" altLang="en-US" dirty="0"/>
              <a:t> 활용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3434705-26D0-C528-1B07-3568537420A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497728"/>
              </a:xfrm>
            </p:spPr>
            <p:txBody>
              <a:bodyPr>
                <a:normAutofit/>
              </a:bodyPr>
              <a:lstStyle/>
              <a:p>
                <a:r>
                  <a:rPr kumimoji="1" lang="ko-KR" altLang="en-US" dirty="0"/>
                  <a:t>서명 과정에서의 곱셈 연산 단축</a:t>
                </a:r>
                <a:endParaRPr kumimoji="1" lang="en-US" altLang="ko-KR" dirty="0"/>
              </a:p>
              <a:p>
                <a:pPr lvl="1"/>
                <a:r>
                  <a:rPr kumimoji="1" lang="ko-KR" altLang="en-US" dirty="0"/>
                  <a:t>서명 생성 식 </a:t>
                </a:r>
                <a:r>
                  <a:rPr kumimoji="1" lang="en-US" altLang="ko-KR" dirty="0"/>
                  <a:t>:</a:t>
                </a:r>
                <a:r>
                  <a:rPr kumimoji="1" lang="ko-KR" altLang="en-US" dirty="0"/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ko-K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ko-KR" dirty="0"/>
                  <a:t> : </a:t>
                </a:r>
                <a:r>
                  <a:rPr kumimoji="1" lang="ko-KR" altLang="en-US" dirty="0"/>
                  <a:t>비밀키</a:t>
                </a:r>
                <a:r>
                  <a:rPr kumimoji="1" lang="en-US" altLang="ko-KR" dirty="0"/>
                  <a:t>,</a:t>
                </a:r>
                <a:r>
                  <a:rPr kumimoji="1" lang="ko-KR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ko-KR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ko-KR" alt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dirty="0"/>
                  <a:t>일회용 랜덤 값</a:t>
                </a:r>
                <a:r>
                  <a:rPr kumimoji="1" lang="en-US" altLang="ko-KR" dirty="0"/>
                  <a:t>(</a:t>
                </a:r>
                <a:r>
                  <a:rPr kumimoji="1" lang="ko-KR" altLang="en-US" dirty="0" err="1"/>
                  <a:t>마스킹</a:t>
                </a:r>
                <a:r>
                  <a:rPr kumimoji="1" lang="en-US" altLang="ko-KR" dirty="0"/>
                  <a:t>))</a:t>
                </a:r>
              </a:p>
              <a:p>
                <a:pPr lvl="1"/>
                <a:endParaRPr kumimoji="1" lang="en-US" altLang="ko-KR" dirty="0"/>
              </a:p>
              <a:p>
                <a:r>
                  <a:rPr kumimoji="1" lang="ko-KR" altLang="en-US" b="1" dirty="0"/>
                  <a:t>챌린지 </a:t>
                </a:r>
                <a:r>
                  <a:rPr kumimoji="1" lang="en-US" altLang="ko-KR" b="1" dirty="0"/>
                  <a:t>c</a:t>
                </a:r>
                <a:r>
                  <a:rPr kumimoji="1" lang="ko-KR" altLang="en-US" b="1" dirty="0"/>
                  <a:t> </a:t>
                </a:r>
                <a:r>
                  <a:rPr kumimoji="1" lang="en-US" altLang="ko-KR" dirty="0"/>
                  <a:t>?</a:t>
                </a:r>
                <a:r>
                  <a:rPr kumimoji="1" lang="ko-KR" altLang="en-US" dirty="0"/>
                  <a:t> 서명의 보안성과 무결성을 보장하는 역할</a:t>
                </a:r>
                <a:endParaRPr kumimoji="1" lang="en-US" altLang="ko-KR" dirty="0"/>
              </a:p>
              <a:p>
                <a:pPr lvl="1"/>
                <a:r>
                  <a:rPr kumimoji="1" lang="ko-KR" altLang="en-US" b="1" dirty="0"/>
                  <a:t>서명자가 비밀키를 알고 있다는 것을 증명하기 위해 풀어야 하는 무작위 문제</a:t>
                </a:r>
                <a:endParaRPr kumimoji="1" lang="en-US" altLang="ko-KR" b="1" dirty="0"/>
              </a:p>
              <a:p>
                <a:pPr lvl="1"/>
                <a:r>
                  <a:rPr kumimoji="1" lang="en-US" altLang="ko-KR" dirty="0"/>
                  <a:t>c</a:t>
                </a:r>
                <a:r>
                  <a:rPr kumimoji="1" lang="ko-KR" altLang="en-US" dirty="0"/>
                  <a:t>는 </a:t>
                </a:r>
                <a:r>
                  <a:rPr kumimoji="1" lang="en-US" altLang="ko-KR" dirty="0"/>
                  <a:t>256</a:t>
                </a:r>
                <a:r>
                  <a:rPr kumimoji="1" lang="ko-KR" altLang="en-US" dirty="0"/>
                  <a:t>개의 계수를 갖지만 대부분이 </a:t>
                </a:r>
                <a:r>
                  <a:rPr kumimoji="1" lang="en-US" altLang="ko-KR" dirty="0"/>
                  <a:t>0</a:t>
                </a:r>
                <a:r>
                  <a:rPr kumimoji="1" lang="ko-KR" altLang="en-US" dirty="0"/>
                  <a:t>이고 아주 적은 수</a:t>
                </a:r>
                <a:r>
                  <a:rPr kumimoji="1" lang="en-US" altLang="ko-KR" dirty="0"/>
                  <a:t>(39~60</a:t>
                </a:r>
                <a:r>
                  <a:rPr kumimoji="1" lang="ko-KR" altLang="en-US" dirty="0"/>
                  <a:t>개</a:t>
                </a:r>
                <a:r>
                  <a:rPr kumimoji="1" lang="en-US" altLang="ko-KR" dirty="0"/>
                  <a:t>)</a:t>
                </a:r>
                <a:r>
                  <a:rPr kumimoji="1" lang="ko-KR" altLang="en-US" dirty="0"/>
                  <a:t>만 </a:t>
                </a:r>
                <a:br>
                  <a:rPr kumimoji="1" lang="en-US" altLang="ko-KR" dirty="0"/>
                </a:br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ko-KR" altLang="en-US" dirty="0"/>
                  <a:t>인 희소</a:t>
                </a:r>
                <a:r>
                  <a:rPr kumimoji="1" lang="en-US" altLang="ko-KR" dirty="0"/>
                  <a:t>(sparse) </a:t>
                </a:r>
                <a:r>
                  <a:rPr kumimoji="1" lang="ko-KR" altLang="en-US" dirty="0"/>
                  <a:t>다항식</a:t>
                </a:r>
                <a:endParaRPr kumimoji="1" lang="en-US" altLang="ko-KR" dirty="0"/>
              </a:p>
              <a:p>
                <a:pPr lvl="1"/>
                <a:r>
                  <a:rPr kumimoji="1" lang="ko-KR" altLang="en-US" dirty="0"/>
                  <a:t>역할 </a:t>
                </a:r>
                <a:r>
                  <a:rPr kumimoji="1" lang="en-US" altLang="ko-KR" dirty="0"/>
                  <a:t>1)</a:t>
                </a:r>
                <a:r>
                  <a:rPr kumimoji="1" lang="ko-KR" altLang="en-US" dirty="0"/>
                  <a:t> 서명하려는 메시지</a:t>
                </a:r>
                <a:r>
                  <a:rPr kumimoji="1" lang="en-US" altLang="ko-KR" dirty="0"/>
                  <a:t> M</a:t>
                </a:r>
                <a:r>
                  <a:rPr kumimoji="1" lang="ko-KR" altLang="en-US" dirty="0"/>
                  <a:t>과 서명자가 생성한 </a:t>
                </a:r>
                <a:r>
                  <a:rPr kumimoji="1" lang="ko-KR" altLang="en-US" dirty="0" err="1"/>
                  <a:t>랜덤값인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w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섞어서</a:t>
                </a:r>
                <a:br>
                  <a:rPr kumimoji="1" lang="en-US" altLang="ko-KR" dirty="0"/>
                </a:b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Hash</a:t>
                </a:r>
                <a:r>
                  <a:rPr kumimoji="1" lang="ko-KR" altLang="en-US" dirty="0"/>
                  <a:t>한 결과</a:t>
                </a:r>
                <a:endParaRPr kumimoji="1" lang="en-US" altLang="ko-KR" dirty="0"/>
              </a:p>
              <a:p>
                <a:pPr lvl="1"/>
                <a:r>
                  <a:rPr kumimoji="1" lang="ko-KR" altLang="en-US" dirty="0"/>
                  <a:t>역할 </a:t>
                </a:r>
                <a:r>
                  <a:rPr kumimoji="1" lang="en-US" altLang="ko-KR" dirty="0"/>
                  <a:t>2)</a:t>
                </a:r>
                <a:r>
                  <a:rPr kumimoji="1" lang="ko-KR" altLang="en-US" dirty="0"/>
                  <a:t> 비밀키에 곱해지는 계수 역할</a:t>
                </a:r>
                <a:endParaRPr kumimoji="1" lang="en-US" altLang="ko-KR" dirty="0"/>
              </a:p>
              <a:p>
                <a:pPr lvl="1"/>
                <a:r>
                  <a:rPr kumimoji="1" lang="ko-KR" altLang="en-US" dirty="0"/>
                  <a:t>역할 </a:t>
                </a:r>
                <a:r>
                  <a:rPr kumimoji="1" lang="en-US" altLang="ko-KR" dirty="0"/>
                  <a:t>3)</a:t>
                </a:r>
                <a:r>
                  <a:rPr kumimoji="1" lang="ko-KR" altLang="en-US" dirty="0"/>
                  <a:t> </a:t>
                </a:r>
                <a:r>
                  <a:rPr kumimoji="1" lang="ko-KR" altLang="en-US" dirty="0" err="1"/>
                  <a:t>스쿨북</a:t>
                </a:r>
                <a:r>
                  <a:rPr kumimoji="1" lang="ko-KR" altLang="en-US" dirty="0"/>
                  <a:t> 곱셈 최적화에 사용됨</a:t>
                </a:r>
                <a:br>
                  <a:rPr kumimoji="1" lang="en-US" altLang="ko-KR" dirty="0"/>
                </a:br>
                <a:r>
                  <a:rPr kumimoji="1" lang="en-US" altLang="ko-KR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0" smtClean="0">
                        <a:latin typeface="Cambria Math" panose="02040503050406030204" pitchFamily="18" charset="0"/>
                      </a:rPr>
                      <m:t>ex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ko-KR" altLang="en-US" dirty="0"/>
                  <a:t> 여기서 </a:t>
                </a:r>
                <a:r>
                  <a:rPr kumimoji="1" lang="en-US" altLang="ko-KR" dirty="0"/>
                  <a:t>0</a:t>
                </a:r>
                <a:r>
                  <a:rPr kumimoji="1" lang="ko-KR" altLang="en-US" dirty="0"/>
                  <a:t>인 부분 </a:t>
                </a:r>
                <a:r>
                  <a:rPr kumimoji="1" lang="ko-KR" altLang="en-US" dirty="0" err="1"/>
                  <a:t>생략가능하게</a:t>
                </a:r>
                <a:r>
                  <a:rPr kumimoji="1" lang="ko-KR" altLang="en-US" dirty="0"/>
                  <a:t> 함</a:t>
                </a:r>
                <a:r>
                  <a:rPr kumimoji="1" lang="en-US" altLang="ko-KR" dirty="0"/>
                  <a:t>) </a:t>
                </a:r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ko-KR" altLang="en-US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3434705-26D0-C528-1B07-3568537420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497728"/>
              </a:xfrm>
              <a:blipFill>
                <a:blip r:embed="rId3"/>
                <a:stretch>
                  <a:fillRect l="-893" t="-18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0194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4C149-D099-3BBE-354D-29F04656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기법 </a:t>
            </a:r>
            <a:r>
              <a:rPr kumimoji="1" lang="en-US" altLang="ko-KR" dirty="0"/>
              <a:t>3)</a:t>
            </a:r>
            <a:r>
              <a:rPr kumimoji="1" lang="ko-KR" altLang="en-US" dirty="0"/>
              <a:t> 챌린지 </a:t>
            </a:r>
            <a:r>
              <a:rPr kumimoji="1" lang="en-US" altLang="ko-KR" dirty="0"/>
              <a:t>c</a:t>
            </a:r>
            <a:r>
              <a:rPr kumimoji="1" lang="ko-KR" altLang="en-US" dirty="0"/>
              <a:t> 곱셈과 </a:t>
            </a:r>
            <a:r>
              <a:rPr kumimoji="1" lang="en-US" altLang="ko-KR" dirty="0"/>
              <a:t>sparse</a:t>
            </a:r>
            <a:r>
              <a:rPr kumimoji="1" lang="ko-KR" altLang="en-US" dirty="0"/>
              <a:t> 활용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50E1238C-8BCA-7733-FD31-B6A11F83C6C0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4"/>
                <a:ext cx="11369675" cy="5705475"/>
              </a:xfrm>
            </p:spPr>
            <p:txBody>
              <a:bodyPr>
                <a:normAutofit lnSpcReduction="10000"/>
              </a:bodyPr>
              <a:lstStyle/>
              <a:p>
                <a:r>
                  <a:rPr kumimoji="1" lang="en-US" altLang="ko-KR" dirty="0"/>
                  <a:t>NTT</a:t>
                </a:r>
                <a:r>
                  <a:rPr kumimoji="1" lang="ko-KR" altLang="en-US" dirty="0"/>
                  <a:t> 단점</a:t>
                </a:r>
                <a:endParaRPr kumimoji="1" lang="en-US" altLang="ko-KR" dirty="0"/>
              </a:p>
              <a:p>
                <a:pPr lvl="1"/>
                <a:r>
                  <a:rPr kumimoji="1" lang="ko-KR" altLang="en-US" dirty="0"/>
                  <a:t>기존 </a:t>
                </a:r>
                <a:r>
                  <a:rPr kumimoji="1" lang="en-US" altLang="ko-KR" dirty="0"/>
                  <a:t>NTT</a:t>
                </a:r>
                <a:r>
                  <a:rPr kumimoji="1" lang="ko-KR" altLang="en-US" dirty="0"/>
                  <a:t>는 </a:t>
                </a:r>
                <a:r>
                  <a:rPr kumimoji="1" lang="en-US" altLang="ko-KR" dirty="0"/>
                  <a:t>c, t0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모두 </a:t>
                </a:r>
                <a:r>
                  <a:rPr kumimoji="1" lang="en-US" altLang="ko-KR" dirty="0"/>
                  <a:t>NTT</a:t>
                </a:r>
                <a:r>
                  <a:rPr kumimoji="1" lang="ko-KR" altLang="en-US" dirty="0"/>
                  <a:t> 변환하여 메모리에 </a:t>
                </a:r>
                <a:r>
                  <a:rPr kumimoji="1" lang="ko-KR" altLang="en-US" dirty="0" err="1"/>
                  <a:t>올려야함</a:t>
                </a:r>
                <a:endParaRPr kumimoji="1" lang="en-US" altLang="ko-KR" dirty="0"/>
              </a:p>
              <a:p>
                <a:pPr lvl="1">
                  <a:buFont typeface="Wingdings" pitchFamily="2" charset="2"/>
                  <a:buChar char="è"/>
                </a:pPr>
                <a:r>
                  <a:rPr kumimoji="1" lang="ko-KR" altLang="en-US" dirty="0"/>
                  <a:t>메모리 과다 사용함</a:t>
                </a:r>
                <a:endParaRPr kumimoji="1" lang="en-US" altLang="ko-KR" dirty="0"/>
              </a:p>
              <a:p>
                <a:pPr lvl="1">
                  <a:buFont typeface="Wingdings" pitchFamily="2" charset="2"/>
                  <a:buChar char="è"/>
                </a:pPr>
                <a:r>
                  <a:rPr lang="en" altLang="ko-KR" dirty="0"/>
                  <a:t>t0</a:t>
                </a:r>
                <a:r>
                  <a:rPr lang="ko-KR" altLang="en-US" dirty="0"/>
                  <a:t>는 값이 커서 작은 소수</a:t>
                </a:r>
                <a:r>
                  <a:rPr lang="en-US" altLang="ko-KR" dirty="0"/>
                  <a:t>(</a:t>
                </a:r>
                <a:r>
                  <a:rPr lang="en" altLang="ko-KR" dirty="0"/>
                  <a:t>q'=257)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쓰는 </a:t>
                </a:r>
                <a:r>
                  <a:rPr lang="en" altLang="ko-KR" dirty="0"/>
                  <a:t>Alternative NTT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못 쓰기 때문</a:t>
                </a:r>
                <a:endParaRPr kumimoji="1" lang="en-US" altLang="ko-KR" dirty="0"/>
              </a:p>
              <a:p>
                <a:r>
                  <a:rPr kumimoji="1" lang="ko-KR" altLang="en-US" dirty="0"/>
                  <a:t>해결방법</a:t>
                </a:r>
                <a:endParaRPr kumimoji="1" lang="en-US" altLang="ko-KR" dirty="0"/>
              </a:p>
              <a:p>
                <a:pPr lvl="1"/>
                <a:r>
                  <a:rPr kumimoji="1" lang="ko-KR" altLang="en-US" dirty="0" err="1"/>
                  <a:t>스쿨북</a:t>
                </a:r>
                <a:r>
                  <a:rPr kumimoji="1" lang="ko-KR" altLang="en-US" dirty="0"/>
                  <a:t> 곱셈으로 수정해서 연산</a:t>
                </a:r>
                <a:endParaRPr kumimoji="1" lang="en-US" altLang="ko-KR" dirty="0"/>
              </a:p>
              <a:p>
                <a:pPr lvl="2"/>
                <a:r>
                  <a:rPr kumimoji="1" lang="ko-KR" altLang="en-US" dirty="0" err="1"/>
                  <a:t>스쿨북</a:t>
                </a:r>
                <a:r>
                  <a:rPr kumimoji="1" lang="ko-KR" altLang="en-US" dirty="0"/>
                  <a:t> 곱셈을 사용함으로써 </a:t>
                </a:r>
                <a:r>
                  <a:rPr kumimoji="1" lang="en-US" altLang="ko-KR" dirty="0"/>
                  <a:t>NTT </a:t>
                </a:r>
                <a:r>
                  <a:rPr kumimoji="1" lang="ko-KR" altLang="en-US" dirty="0"/>
                  <a:t>변환 없이 필요한 계수만 그때그때 </a:t>
                </a:r>
                <a:r>
                  <a:rPr kumimoji="1" lang="en-US" altLang="ko-KR" dirty="0"/>
                  <a:t>Streaming </a:t>
                </a:r>
                <a:r>
                  <a:rPr kumimoji="1" lang="ko-KR" altLang="en-US" dirty="0"/>
                  <a:t>연산</a:t>
                </a:r>
                <a:endParaRPr kumimoji="1" lang="en-US" altLang="ko-KR" dirty="0"/>
              </a:p>
              <a:p>
                <a:pPr lvl="1"/>
                <a:r>
                  <a:rPr kumimoji="1" lang="ko-KR" altLang="en-US" dirty="0"/>
                  <a:t>챌린지 </a:t>
                </a:r>
                <a:r>
                  <a:rPr kumimoji="1" lang="en-US" altLang="ko-KR" dirty="0"/>
                  <a:t>c</a:t>
                </a:r>
                <a:r>
                  <a:rPr kumimoji="1" lang="ko-KR" altLang="en-US" dirty="0"/>
                  <a:t>의 희소성 활용</a:t>
                </a:r>
                <a:endParaRPr kumimoji="1" lang="en-US" altLang="ko-KR" dirty="0"/>
              </a:p>
              <a:p>
                <a:pPr lvl="2"/>
                <a:r>
                  <a:rPr kumimoji="1" lang="en-US" altLang="ko-KR" dirty="0"/>
                  <a:t>c</a:t>
                </a:r>
                <a:r>
                  <a:rPr kumimoji="1" lang="ko-KR" altLang="en-US" dirty="0"/>
                  <a:t>는 </a:t>
                </a:r>
                <a:r>
                  <a:rPr kumimoji="1" lang="en-US" altLang="ko-KR" dirty="0"/>
                  <a:t>256</a:t>
                </a:r>
                <a:r>
                  <a:rPr kumimoji="1" lang="ko-KR" altLang="en-US" dirty="0"/>
                  <a:t>개의 계수를 갖지만 대부분이 </a:t>
                </a:r>
                <a:r>
                  <a:rPr kumimoji="1" lang="en-US" altLang="ko-KR" dirty="0"/>
                  <a:t>0</a:t>
                </a:r>
                <a:r>
                  <a:rPr kumimoji="1" lang="ko-KR" altLang="en-US" dirty="0"/>
                  <a:t>이고 아주 적은 수</a:t>
                </a:r>
                <a:r>
                  <a:rPr kumimoji="1" lang="en-US" altLang="ko-KR" dirty="0"/>
                  <a:t>(39~60</a:t>
                </a:r>
                <a:r>
                  <a:rPr kumimoji="1" lang="ko-KR" altLang="en-US" dirty="0"/>
                  <a:t>개</a:t>
                </a:r>
                <a:r>
                  <a:rPr kumimoji="1" lang="en-US" altLang="ko-KR" dirty="0"/>
                  <a:t>)</a:t>
                </a:r>
                <a:r>
                  <a:rPr kumimoji="1" lang="ko-KR" altLang="en-US" dirty="0"/>
                  <a:t>만 </a:t>
                </a:r>
                <a:br>
                  <a:rPr kumimoji="1" lang="en-US" altLang="ko-KR" dirty="0"/>
                </a:b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kumimoji="1" lang="ko-KR" altLang="en-US" dirty="0"/>
                  <a:t>인 희소</a:t>
                </a:r>
                <a:r>
                  <a:rPr kumimoji="1" lang="en-US" altLang="ko-KR" dirty="0"/>
                  <a:t>(sparse) </a:t>
                </a:r>
                <a:r>
                  <a:rPr kumimoji="1" lang="ko-KR" altLang="en-US" dirty="0"/>
                  <a:t>다항식</a:t>
                </a:r>
                <a:endParaRPr kumimoji="1" lang="en-US" altLang="ko-KR" dirty="0"/>
              </a:p>
              <a:p>
                <a:pPr lvl="2"/>
                <a:r>
                  <a:rPr kumimoji="1" lang="en-US" altLang="ko-KR" dirty="0"/>
                  <a:t>0</a:t>
                </a:r>
                <a:r>
                  <a:rPr kumimoji="1" lang="ko-KR" altLang="en-US" dirty="0"/>
                  <a:t> 인 부분 연산 생략</a:t>
                </a:r>
                <a:endParaRPr kumimoji="1" lang="en-US" altLang="ko-KR" dirty="0"/>
              </a:p>
              <a:p>
                <a:r>
                  <a:rPr kumimoji="1" lang="ko-KR" altLang="en-US" dirty="0"/>
                  <a:t>효과</a:t>
                </a:r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 </m:t>
                    </m:r>
                  </m:oMath>
                </a14:m>
                <a:r>
                  <a:rPr kumimoji="1" lang="ko-KR" altLang="en-US" dirty="0"/>
                  <a:t>곱셈이기 때문에 곱셈 연산을 단순 덧셈</a:t>
                </a:r>
                <a:r>
                  <a:rPr kumimoji="1" lang="en-US" altLang="ko-KR" dirty="0"/>
                  <a:t>/</a:t>
                </a:r>
                <a:r>
                  <a:rPr kumimoji="1" lang="ko-KR" altLang="en-US" dirty="0"/>
                  <a:t>뺄셈으로 대체할 수 있음</a:t>
                </a:r>
                <a:endParaRPr kumimoji="1" lang="en-US" altLang="ko-KR" dirty="0"/>
              </a:p>
              <a:p>
                <a:pPr lvl="1"/>
                <a:r>
                  <a:rPr kumimoji="1" lang="ko-KR" altLang="en-US" b="1" dirty="0"/>
                  <a:t>거대한 버퍼 대신에 </a:t>
                </a:r>
                <a:r>
                  <a:rPr kumimoji="1" lang="en-US" altLang="ko-KR" b="1" dirty="0"/>
                  <a:t>0</a:t>
                </a:r>
                <a:r>
                  <a:rPr kumimoji="1" lang="ko-KR" altLang="en-US" b="1" dirty="0"/>
                  <a:t>인 아닌 계수의 위치</a:t>
                </a:r>
                <a:r>
                  <a:rPr kumimoji="1" lang="en-US" altLang="ko-KR" b="1" dirty="0"/>
                  <a:t>(</a:t>
                </a:r>
                <a:r>
                  <a:rPr kumimoji="1" lang="ko-KR" altLang="en-US" b="1" dirty="0"/>
                  <a:t>인덱스</a:t>
                </a:r>
                <a:r>
                  <a:rPr kumimoji="1" lang="en-US" altLang="ko-KR" b="1" dirty="0"/>
                  <a:t>)</a:t>
                </a:r>
                <a:r>
                  <a:rPr kumimoji="1" lang="ko-KR" altLang="en-US" b="1" dirty="0"/>
                  <a:t>만 저장해서 메모리 절약</a:t>
                </a:r>
                <a:endParaRPr kumimoji="1" lang="en-US" altLang="ko-KR" b="1" dirty="0"/>
              </a:p>
              <a:p>
                <a:pPr lvl="1"/>
                <a:r>
                  <a:rPr kumimoji="1" lang="en-US" altLang="ko-KR" dirty="0"/>
                  <a:t>NTT</a:t>
                </a:r>
                <a:r>
                  <a:rPr kumimoji="1" lang="ko-KR" altLang="en-US" dirty="0"/>
                  <a:t> 대비 </a:t>
                </a:r>
                <a:r>
                  <a:rPr kumimoji="1" lang="en-US" altLang="ko-KR" dirty="0"/>
                  <a:t>1.37</a:t>
                </a:r>
                <a:r>
                  <a:rPr kumimoji="1" lang="ko-KR" altLang="en-US" dirty="0"/>
                  <a:t>배 감소</a:t>
                </a:r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marL="457200" lvl="1" indent="0">
                  <a:buNone/>
                </a:pPr>
                <a:endParaRPr kumimoji="1" lang="ko-KR" altLang="en-US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50E1238C-8BCA-7733-FD31-B6A11F83C6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4"/>
                <a:ext cx="11369675" cy="5705475"/>
              </a:xfrm>
              <a:blipFill>
                <a:blip r:embed="rId3"/>
                <a:stretch>
                  <a:fillRect l="-893" t="-2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877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747E9-2E70-60DC-64E7-6F10BF6B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기법 </a:t>
            </a:r>
            <a:r>
              <a:rPr kumimoji="1" lang="en-US" altLang="ko-KR" dirty="0"/>
              <a:t>3)</a:t>
            </a:r>
            <a:r>
              <a:rPr kumimoji="1" lang="ko-KR" altLang="en-US" dirty="0"/>
              <a:t> 구현 코드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29A6B3-C22C-59B2-7DF3-4B41F305DF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2B94FF-B3F2-BFE3-A064-9C763C281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12" y="887226"/>
            <a:ext cx="4115323" cy="60156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6402D6-6C93-C8A3-B8C6-F69ED93D0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971" y="792378"/>
            <a:ext cx="3674109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48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3CF19-FA43-F8E4-6B98-BC60EBA4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기법 </a:t>
            </a:r>
            <a:r>
              <a:rPr kumimoji="1" lang="en-US" altLang="ko-KR" dirty="0"/>
              <a:t>4)</a:t>
            </a:r>
            <a:r>
              <a:rPr kumimoji="1" lang="ko-KR" altLang="en-US" dirty="0"/>
              <a:t> </a:t>
            </a:r>
            <a:r>
              <a:rPr kumimoji="1" lang="en-US" altLang="ko-KR" dirty="0"/>
              <a:t>Alternative NTT</a:t>
            </a:r>
            <a:r>
              <a:rPr kumimoji="1" lang="ko-KR" altLang="en-US" dirty="0"/>
              <a:t> 곱셈 최적화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58436B8C-7316-A469-0093-E876A6D4948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356763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ko-KR" sz="2400" dirty="0"/>
                  <a:t>Alternative NTT</a:t>
                </a:r>
              </a:p>
              <a:p>
                <a:pPr lvl="1"/>
                <a:r>
                  <a:rPr kumimoji="1" lang="ko-KR" altLang="en-US" sz="2000" dirty="0"/>
                  <a:t>기존 </a:t>
                </a:r>
                <a:r>
                  <a:rPr kumimoji="1" lang="en-US" altLang="ko-KR" sz="2000" dirty="0"/>
                  <a:t>q</a:t>
                </a:r>
                <a:r>
                  <a:rPr kumimoji="1" lang="ko-KR" altLang="en-US" sz="2000" dirty="0"/>
                  <a:t> 값은 </a:t>
                </a:r>
                <a:r>
                  <a:rPr kumimoji="1" lang="en-US" altLang="ko-KR" sz="2000" dirty="0"/>
                  <a:t>q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=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8,380,417</a:t>
                </a:r>
                <a:r>
                  <a:rPr kumimoji="1" lang="ko-KR" altLang="en-US" sz="2000" dirty="0" err="1"/>
                  <a:t>으로</a:t>
                </a:r>
                <a:r>
                  <a:rPr kumimoji="1" lang="ko-KR" altLang="en-US" sz="2000" dirty="0"/>
                  <a:t> 너무 큼</a:t>
                </a:r>
                <a:endParaRPr kumimoji="1" lang="en-US" altLang="ko-KR" sz="2000" dirty="0"/>
              </a:p>
              <a:p>
                <a:pPr lvl="1"/>
                <a:r>
                  <a:rPr kumimoji="1" lang="en-US" altLang="ko-KR" sz="2000" dirty="0"/>
                  <a:t>c</a:t>
                </a:r>
                <a:r>
                  <a:rPr kumimoji="1" lang="ko-KR" altLang="en-US" sz="2000" dirty="0"/>
                  <a:t> *</a:t>
                </a:r>
                <a:r>
                  <a:rPr kumimoji="1" lang="en-US" altLang="ko-KR" sz="2000" dirty="0"/>
                  <a:t> s</a:t>
                </a:r>
                <a:r>
                  <a:rPr kumimoji="1" lang="ko-KR" altLang="en-US" sz="2000" dirty="0"/>
                  <a:t> 의 결과값은 작은 값이기 때문에 </a:t>
                </a:r>
                <a:r>
                  <a:rPr kumimoji="1" lang="en-US" altLang="ko-KR" sz="2000" dirty="0"/>
                  <a:t>q’</a:t>
                </a:r>
                <a:r>
                  <a:rPr kumimoji="1" lang="ko-KR" altLang="en-US" sz="2000" dirty="0"/>
                  <a:t>을 써도 결과가 동일</a:t>
                </a:r>
                <a:endParaRPr kumimoji="1" lang="en-US" altLang="ko-KR" sz="2000" dirty="0"/>
              </a:p>
              <a:p>
                <a:pPr lvl="1"/>
                <a:r>
                  <a:rPr kumimoji="1" lang="en-US" altLang="en-US" sz="2000" dirty="0" err="1"/>
                  <a:t>Dilithium</a:t>
                </a:r>
                <a:r>
                  <a:rPr kumimoji="1" lang="en-US" altLang="en-US" sz="2000" dirty="0"/>
                  <a:t> 2 : </a:t>
                </a:r>
                <a:r>
                  <a:rPr kumimoji="1" lang="en-US" altLang="ko-KR" sz="2000" dirty="0"/>
                  <a:t>257</a:t>
                </a:r>
                <a:r>
                  <a:rPr kumimoji="1" lang="en-US" altLang="en-US" sz="2000" dirty="0"/>
                  <a:t> / </a:t>
                </a:r>
                <a:r>
                  <a:rPr kumimoji="1" lang="en-US" altLang="en-US" sz="2000" dirty="0" err="1"/>
                  <a:t>Dilithium</a:t>
                </a:r>
                <a:r>
                  <a:rPr kumimoji="1" lang="en-US" altLang="en-US" sz="2000" dirty="0"/>
                  <a:t> 3: 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769</a:t>
                </a:r>
                <a:r>
                  <a:rPr kumimoji="1" lang="ko-KR" altLang="en-US" sz="2000" dirty="0"/>
                  <a:t> </a:t>
                </a:r>
                <a:r>
                  <a:rPr kumimoji="1" lang="en-US" altLang="en-US" sz="2000" dirty="0"/>
                  <a:t>/ </a:t>
                </a:r>
                <a:r>
                  <a:rPr kumimoji="1" lang="en-US" altLang="en-US" sz="2000" dirty="0" err="1"/>
                  <a:t>Dilithum</a:t>
                </a:r>
                <a:r>
                  <a:rPr kumimoji="1" lang="en-US" altLang="en-US" sz="2000" dirty="0"/>
                  <a:t> 5 : </a:t>
                </a:r>
                <a:r>
                  <a:rPr kumimoji="1" lang="en-US" altLang="ko-KR" sz="2000" dirty="0"/>
                  <a:t>257</a:t>
                </a:r>
              </a:p>
              <a:p>
                <a:pPr lvl="2"/>
                <a:r>
                  <a:rPr kumimoji="1" lang="en-US" altLang="ko-KR" sz="1600" dirty="0"/>
                  <a:t>16</a:t>
                </a:r>
                <a:r>
                  <a:rPr kumimoji="1" lang="ko-KR" altLang="en-US" sz="1600" dirty="0"/>
                  <a:t>비트 변수인 </a:t>
                </a:r>
                <a:r>
                  <a:rPr kumimoji="1" lang="en-US" altLang="ko-KR" sz="1600" dirty="0"/>
                  <a:t>65,536</a:t>
                </a:r>
                <a:r>
                  <a:rPr kumimoji="1" lang="ko-KR" altLang="en-US" sz="1600" dirty="0"/>
                  <a:t> 안에 해당되는 가장 작은 소수</a:t>
                </a:r>
                <a:endParaRPr kumimoji="1" lang="en-US" altLang="ko-KR" sz="1600" dirty="0"/>
              </a:p>
              <a:p>
                <a:pPr lvl="2"/>
                <a:r>
                  <a:rPr kumimoji="1" lang="en-US" altLang="ko-KR" sz="1600" dirty="0"/>
                  <a:t>NTT</a:t>
                </a:r>
                <a:r>
                  <a:rPr kumimoji="1" lang="ko-KR" altLang="en-US" sz="1600" dirty="0"/>
                  <a:t> 연산이 가능한 </a:t>
                </a:r>
                <a:r>
                  <a:rPr kumimoji="1" lang="en-US" altLang="ko-KR" sz="1600" dirty="0"/>
                  <a:t>k * 256 +1</a:t>
                </a:r>
                <a:r>
                  <a:rPr kumimoji="1" lang="ko-KR" altLang="en-US" sz="1600" dirty="0"/>
                  <a:t> 형태 만족</a:t>
                </a:r>
                <a:endParaRPr kumimoji="1" lang="en-US" altLang="ko-KR" sz="1600" dirty="0"/>
              </a:p>
              <a:p>
                <a:pPr lvl="2"/>
                <a:r>
                  <a:rPr kumimoji="1" lang="en-US" altLang="ko-KR" sz="1600" dirty="0"/>
                  <a:t>q’</a:t>
                </a:r>
                <a:r>
                  <a:rPr kumimoji="1" lang="ko-KR" altLang="en-US" sz="1600" dirty="0"/>
                  <a:t> 사용을 통해 데이터를 </a:t>
                </a:r>
                <a:r>
                  <a:rPr kumimoji="1" lang="en-US" altLang="ko-KR" sz="1600" dirty="0"/>
                  <a:t>32-bit</a:t>
                </a:r>
                <a:r>
                  <a:rPr kumimoji="1" lang="ko-KR" altLang="en-US" sz="1600" dirty="0"/>
                  <a:t> 대신 </a:t>
                </a:r>
                <a:r>
                  <a:rPr kumimoji="1" lang="en-US" altLang="ko-KR" sz="1600" dirty="0"/>
                  <a:t>16-bit</a:t>
                </a:r>
                <a:r>
                  <a:rPr kumimoji="1" lang="ko-KR" altLang="en-US" sz="1600" dirty="0"/>
                  <a:t> 변수 저장 가능</a:t>
                </a:r>
                <a:endParaRPr kumimoji="1" lang="en-US" altLang="ko-KR" sz="1600" dirty="0"/>
              </a:p>
              <a:p>
                <a:pPr lvl="1"/>
                <a:r>
                  <a:rPr kumimoji="1" lang="ko-KR" altLang="en-US" sz="2000" dirty="0"/>
                  <a:t>결과적으로</a:t>
                </a:r>
                <a:r>
                  <a:rPr kumimoji="1" lang="en-US" altLang="ko-KR" sz="2000" dirty="0"/>
                  <a:t>,</a:t>
                </a:r>
                <a:r>
                  <a:rPr kumimoji="1" lang="ko-KR" altLang="en-US" sz="2000" dirty="0"/>
                  <a:t> 메모리 사용량 </a:t>
                </a:r>
                <a:r>
                  <a:rPr kumimoji="1" lang="en-US" altLang="ko-KR" sz="2000" dirty="0"/>
                  <a:t>50%</a:t>
                </a:r>
                <a:r>
                  <a:rPr kumimoji="1" lang="ko-KR" altLang="en-US" sz="2000" dirty="0"/>
                  <a:t> 절감</a:t>
                </a:r>
                <a:r>
                  <a:rPr kumimoji="1" lang="en-US" altLang="ko-KR" sz="2000" dirty="0"/>
                  <a:t>(1.0KiB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= 0.5KiB &lt;c*s1&gt;+ 0.5KiB &lt;c * s2&gt; )</a:t>
                </a:r>
              </a:p>
              <a:p>
                <a:pPr lvl="1"/>
                <a:endParaRPr kumimoji="1" lang="en-US" altLang="ko-KR" sz="2000" dirty="0"/>
              </a:p>
              <a:p>
                <a:pPr lvl="1"/>
                <a:endParaRPr kumimoji="1" lang="en-US" altLang="ko-KR" sz="2000" dirty="0"/>
              </a:p>
              <a:p>
                <a:r>
                  <a:rPr kumimoji="1" lang="ko-KR" altLang="en-US" sz="2400" dirty="0" err="1"/>
                  <a:t>크로네커</a:t>
                </a:r>
                <a:r>
                  <a:rPr kumimoji="1" lang="ko-KR" altLang="en-US" sz="2400" dirty="0"/>
                  <a:t> 치환</a:t>
                </a:r>
                <a:r>
                  <a:rPr kumimoji="1" lang="en-US" altLang="ko-KR" sz="2400" dirty="0"/>
                  <a:t>(Kronecker Substitution)</a:t>
                </a:r>
                <a:r>
                  <a:rPr kumimoji="1" lang="ko-KR" altLang="en-US" sz="2400" dirty="0"/>
                  <a:t> </a:t>
                </a:r>
                <a:r>
                  <a:rPr kumimoji="1" lang="en-US" altLang="ko-KR" sz="2400" dirty="0"/>
                  <a:t>:</a:t>
                </a:r>
                <a:r>
                  <a:rPr kumimoji="1" lang="ko-KR" altLang="en-US" sz="2400" dirty="0"/>
                  <a:t>이론적 대체 가능한 옵션</a:t>
                </a:r>
                <a:endParaRPr kumimoji="1" lang="en-US" altLang="ko-KR" sz="2400" dirty="0"/>
              </a:p>
              <a:p>
                <a:pPr lvl="1"/>
                <a:r>
                  <a:rPr kumimoji="1" lang="ko-KR" altLang="en-US" sz="2000" dirty="0"/>
                  <a:t>다항식 곱셈을 </a:t>
                </a:r>
                <a:r>
                  <a:rPr kumimoji="1" lang="en-US" altLang="ko-KR" sz="2000" dirty="0"/>
                  <a:t>‘</a:t>
                </a:r>
                <a:r>
                  <a:rPr kumimoji="1" lang="ko-KR" altLang="en-US" sz="2000" dirty="0"/>
                  <a:t>엄청 큰 정수 곱셈</a:t>
                </a:r>
                <a:r>
                  <a:rPr kumimoji="1" lang="en-US" altLang="ko-KR" sz="2000" dirty="0"/>
                  <a:t>’</a:t>
                </a:r>
                <a:r>
                  <a:rPr kumimoji="1" lang="ko-KR" altLang="en-US" sz="2000" dirty="0" err="1"/>
                  <a:t>으로</a:t>
                </a:r>
                <a:r>
                  <a:rPr kumimoji="1" lang="ko-KR" altLang="en-US" sz="2000" dirty="0"/>
                  <a:t> 변경</a:t>
                </a:r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kumimoji="1" lang="en-US" altLang="ko-KR" sz="20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1" lang="en-US" altLang="ko-KR" sz="20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kumimoji="1" lang="en-US" altLang="ko-KR" sz="200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ko-KR" sz="2000" dirty="0"/>
              </a:p>
              <a:p>
                <a:pPr lvl="1"/>
                <a:r>
                  <a:rPr kumimoji="1" lang="ko-KR" altLang="en-US" sz="2000" dirty="0"/>
                  <a:t>다항식이 </a:t>
                </a:r>
                <a:r>
                  <a:rPr kumimoji="1" lang="en-US" altLang="ko-KR" sz="2000" dirty="0"/>
                  <a:t>2,000</a:t>
                </a:r>
                <a:r>
                  <a:rPr kumimoji="1" lang="ko-KR" altLang="en-US" sz="2000" dirty="0"/>
                  <a:t> 비트가 넘는 하나의 </a:t>
                </a:r>
                <a:r>
                  <a:rPr kumimoji="1" lang="en-US" altLang="ko-KR" sz="2000" dirty="0"/>
                  <a:t>Big integer</a:t>
                </a:r>
                <a:r>
                  <a:rPr kumimoji="1" lang="ko-KR" altLang="en-US" sz="2000" dirty="0"/>
                  <a:t>이 됨</a:t>
                </a:r>
                <a:endParaRPr kumimoji="1" lang="en-US" altLang="ko-KR" sz="2000" dirty="0"/>
              </a:p>
              <a:p>
                <a:pPr lvl="1"/>
                <a:r>
                  <a:rPr kumimoji="1" lang="ko-KR" altLang="en-US" sz="2000" dirty="0">
                    <a:solidFill>
                      <a:srgbClr val="FF0000"/>
                    </a:solidFill>
                  </a:rPr>
                  <a:t>결과적으로 </a:t>
                </a:r>
                <a:r>
                  <a:rPr kumimoji="1" lang="en-US" altLang="ko-KR" sz="2000" dirty="0">
                    <a:solidFill>
                      <a:srgbClr val="FF0000"/>
                    </a:solidFill>
                  </a:rPr>
                  <a:t>Alternative NTT</a:t>
                </a:r>
                <a:r>
                  <a:rPr kumimoji="1" lang="ko-KR" altLang="en-US" sz="2000" dirty="0">
                    <a:solidFill>
                      <a:srgbClr val="FF0000"/>
                    </a:solidFill>
                  </a:rPr>
                  <a:t> 방식 채택함</a:t>
                </a:r>
                <a:endParaRPr kumimoji="1"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58436B8C-7316-A469-0093-E876A6D494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356763"/>
              </a:xfrm>
              <a:blipFill>
                <a:blip r:embed="rId2"/>
                <a:stretch>
                  <a:fillRect l="-781" t="-14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42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63024-82C3-9A40-CB2D-1BE879F69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사용 기법 정리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F348A4-CC81-BC9B-149D-F3DAB0C324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90BBFF1-93E6-89A4-7462-7E25542A9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155152"/>
              </p:ext>
            </p:extLst>
          </p:nvPr>
        </p:nvGraphicFramePr>
        <p:xfrm>
          <a:off x="838200" y="1825625"/>
          <a:ext cx="10941880" cy="4160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855">
                  <a:extLst>
                    <a:ext uri="{9D8B030D-6E8A-4147-A177-3AD203B41FA5}">
                      <a16:colId xmlns:a16="http://schemas.microsoft.com/office/drawing/2014/main" val="817003321"/>
                    </a:ext>
                  </a:extLst>
                </a:gridCol>
                <a:gridCol w="2210786">
                  <a:extLst>
                    <a:ext uri="{9D8B030D-6E8A-4147-A177-3AD203B41FA5}">
                      <a16:colId xmlns:a16="http://schemas.microsoft.com/office/drawing/2014/main" val="3076660427"/>
                    </a:ext>
                  </a:extLst>
                </a:gridCol>
                <a:gridCol w="2658369">
                  <a:extLst>
                    <a:ext uri="{9D8B030D-6E8A-4147-A177-3AD203B41FA5}">
                      <a16:colId xmlns:a16="http://schemas.microsoft.com/office/drawing/2014/main" val="133488016"/>
                    </a:ext>
                  </a:extLst>
                </a:gridCol>
                <a:gridCol w="4303870">
                  <a:extLst>
                    <a:ext uri="{9D8B030D-6E8A-4147-A177-3AD203B41FA5}">
                      <a16:colId xmlns:a16="http://schemas.microsoft.com/office/drawing/2014/main" val="882308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연산 대상</a:t>
                      </a:r>
                      <a:endParaRPr lang="ko-KR" altLang="en-US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9988" marR="79988" marT="53325" marB="533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기존 방식</a:t>
                      </a:r>
                      <a:endParaRPr lang="en-US" altLang="ko-KR" sz="18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>
                        <a:buNone/>
                      </a:pP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effectLst/>
                        </a:rPr>
                        <a:t>Standard)</a:t>
                      </a:r>
                      <a:endParaRPr lang="e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9988" marR="79988" marT="53325" marB="533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대체된 방식 </a:t>
                      </a:r>
                      <a:endParaRPr lang="en-US" altLang="ko-KR" sz="18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effectLst/>
                        </a:rPr>
                        <a:t>This work)</a:t>
                      </a:r>
                      <a:endParaRPr lang="e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9988" marR="79988" marT="53325" marB="533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이유 및 원리</a:t>
                      </a:r>
                      <a:endParaRPr lang="ko-KR" altLang="en-US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9988" marR="79988" marT="53325" marB="53325" anchor="ctr"/>
                </a:tc>
                <a:extLst>
                  <a:ext uri="{0D108BD9-81ED-4DB2-BD59-A6C34878D82A}">
                    <a16:rowId xmlns:a16="http://schemas.microsoft.com/office/drawing/2014/main" val="3608124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800" b="1" dirty="0">
                          <a:solidFill>
                            <a:srgbClr val="1F1F1F"/>
                          </a:solidFill>
                          <a:effectLst/>
                        </a:rPr>
                        <a:t>c *s1, c *s2</a:t>
                      </a:r>
                      <a:endParaRPr lang="e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988" marR="79988" marT="53325" marB="533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800" dirty="0">
                          <a:solidFill>
                            <a:srgbClr val="1F1F1F"/>
                          </a:solidFill>
                          <a:effectLst/>
                        </a:rPr>
                        <a:t>Standard NTT </a:t>
                      </a:r>
                    </a:p>
                    <a:p>
                      <a:pPr algn="ctr" rtl="0">
                        <a:buNone/>
                      </a:pPr>
                      <a:r>
                        <a:rPr lang="en" sz="1800" dirty="0">
                          <a:solidFill>
                            <a:srgbClr val="1F1F1F"/>
                          </a:solidFill>
                          <a:effectLst/>
                        </a:rPr>
                        <a:t>(q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=</a:t>
                      </a:r>
                      <a:r>
                        <a:rPr kumimoji="1" lang="en-US" altLang="ko-KR" sz="1800" dirty="0"/>
                        <a:t>8,380,417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en-US" altLang="ko-KR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988" marR="79988" marT="53325" marB="533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800" b="1" dirty="0">
                          <a:solidFill>
                            <a:srgbClr val="1F1F1F"/>
                          </a:solidFill>
                          <a:effectLst/>
                        </a:rPr>
                        <a:t>Alternative NTT</a:t>
                      </a:r>
                    </a:p>
                    <a:p>
                      <a:pPr algn="ctr" rtl="0">
                        <a:buNone/>
                      </a:pPr>
                      <a:r>
                        <a:rPr lang="en" sz="1800" b="1" dirty="0">
                          <a:solidFill>
                            <a:srgbClr val="1F1F1F"/>
                          </a:solidFill>
                          <a:effectLst/>
                        </a:rPr>
                        <a:t> (q' = 257)</a:t>
                      </a:r>
                      <a:endParaRPr lang="e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988" marR="79988" marT="53325" marB="533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" sz="1800" dirty="0">
                          <a:solidFill>
                            <a:srgbClr val="1F1F1F"/>
                          </a:solidFill>
                          <a:effectLst/>
                        </a:rPr>
                        <a:t>• s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의 값이 작아서 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257 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같은 </a:t>
                      </a:r>
                      <a:endParaRPr lang="en-US" altLang="ko-KR" sz="18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작은 소수로도 계산 가능함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</a:p>
                    <a:p>
                      <a:pPr rtl="0">
                        <a:buNone/>
                      </a:pPr>
                      <a:endParaRPr lang="en-US" altLang="ko-KR" sz="18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• 32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비트 대신 </a:t>
                      </a:r>
                      <a:r>
                        <a:rPr lang="en-US" altLang="ko-KR" sz="1800" b="1" dirty="0">
                          <a:solidFill>
                            <a:srgbClr val="1F1F1F"/>
                          </a:solidFill>
                          <a:effectLst/>
                        </a:rPr>
                        <a:t>16</a:t>
                      </a:r>
                      <a:r>
                        <a:rPr lang="ko-KR" altLang="en-US" sz="1800" b="1" dirty="0">
                          <a:solidFill>
                            <a:srgbClr val="1F1F1F"/>
                          </a:solidFill>
                          <a:effectLst/>
                        </a:rPr>
                        <a:t>비트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 연산 사용</a:t>
                      </a:r>
                      <a:b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-&gt;</a:t>
                      </a:r>
                      <a:r>
                        <a:rPr lang="ko-KR" altLang="en-US" sz="1800" b="1" dirty="0">
                          <a:solidFill>
                            <a:srgbClr val="1F1F1F"/>
                          </a:solidFill>
                          <a:effectLst/>
                        </a:rPr>
                        <a:t>메모리 절반 절약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988" marR="79988" marT="53325" marB="53325" anchor="ctr"/>
                </a:tc>
                <a:extLst>
                  <a:ext uri="{0D108BD9-81ED-4DB2-BD59-A6C34878D82A}">
                    <a16:rowId xmlns:a16="http://schemas.microsoft.com/office/drawing/2014/main" val="2751997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800" b="1" dirty="0">
                          <a:solidFill>
                            <a:srgbClr val="1F1F1F"/>
                          </a:solidFill>
                          <a:effectLst/>
                        </a:rPr>
                        <a:t>c * t0</a:t>
                      </a:r>
                      <a:endParaRPr lang="e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988" marR="79988" marT="53325" marB="533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800" dirty="0">
                          <a:solidFill>
                            <a:srgbClr val="1F1F1F"/>
                          </a:solidFill>
                          <a:effectLst/>
                        </a:rPr>
                        <a:t>Standard NTT</a:t>
                      </a:r>
                      <a:endParaRPr lang="e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988" marR="79988" marT="53325" marB="533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800" b="1" dirty="0">
                          <a:solidFill>
                            <a:srgbClr val="1F1F1F"/>
                          </a:solidFill>
                          <a:effectLst/>
                        </a:rPr>
                        <a:t>Sparse Schoolbook</a:t>
                      </a:r>
                      <a:endParaRPr lang="e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988" marR="79988" marT="53325" marB="533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" sz="1800" dirty="0">
                          <a:solidFill>
                            <a:srgbClr val="1F1F1F"/>
                          </a:solidFill>
                          <a:effectLst/>
                        </a:rPr>
                        <a:t>• t0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는 값이 커서 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257 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소수를 못 씀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b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altLang="ko-KR" sz="18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• 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대신 </a:t>
                      </a:r>
                      <a:r>
                        <a:rPr lang="en" sz="1800" dirty="0">
                          <a:solidFill>
                            <a:srgbClr val="1F1F1F"/>
                          </a:solidFill>
                          <a:effectLst/>
                        </a:rPr>
                        <a:t>c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가 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이 많은 </a:t>
                      </a:r>
                      <a:b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ko-KR" altLang="en-US" sz="1800" b="1" dirty="0">
                          <a:solidFill>
                            <a:srgbClr val="1F1F1F"/>
                          </a:solidFill>
                          <a:effectLst/>
                        </a:rPr>
                        <a:t>희소</a:t>
                      </a:r>
                      <a:r>
                        <a:rPr lang="en-US" altLang="ko-KR" sz="1800" b="1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" sz="1800" b="1" dirty="0">
                          <a:solidFill>
                            <a:srgbClr val="1F1F1F"/>
                          </a:solidFill>
                          <a:effectLst/>
                        </a:rPr>
                        <a:t>Sparse) </a:t>
                      </a:r>
                      <a:r>
                        <a:rPr lang="ko-KR" altLang="en-US" sz="1800" b="1" dirty="0">
                          <a:solidFill>
                            <a:srgbClr val="1F1F1F"/>
                          </a:solidFill>
                          <a:effectLst/>
                        </a:rPr>
                        <a:t>다항식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임을 이용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</a:p>
                    <a:p>
                      <a:pPr rtl="0">
                        <a:buNone/>
                      </a:pPr>
                      <a:endParaRPr lang="en-US" altLang="ko-KR" sz="18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• 0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인 부분은 계산 안 하고 건너뛰는</a:t>
                      </a:r>
                      <a:b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en" sz="1800" b="1" dirty="0">
                          <a:solidFill>
                            <a:srgbClr val="1F1F1F"/>
                          </a:solidFill>
                          <a:effectLst/>
                        </a:rPr>
                        <a:t>Schoolbook</a:t>
                      </a:r>
                      <a:r>
                        <a:rPr lang="en" sz="1800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ko-KR" altLang="en-US" sz="1800" dirty="0">
                          <a:solidFill>
                            <a:srgbClr val="1F1F1F"/>
                          </a:solidFill>
                          <a:effectLst/>
                        </a:rPr>
                        <a:t>방식이 더 효율적</a:t>
                      </a:r>
                      <a:r>
                        <a:rPr lang="en-US" altLang="ko-KR" sz="18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988" marR="79988" marT="53325" marB="53325" anchor="ctr"/>
                </a:tc>
                <a:extLst>
                  <a:ext uri="{0D108BD9-81ED-4DB2-BD59-A6C34878D82A}">
                    <a16:rowId xmlns:a16="http://schemas.microsoft.com/office/drawing/2014/main" val="869232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339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817485-1E2A-79AF-27DC-D1D0DBF0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변수 할당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3B1B5E-1F2F-F26F-A54C-EF55D4AEEC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4" y="1152525"/>
            <a:ext cx="6323322" cy="5057775"/>
          </a:xfrm>
        </p:spPr>
        <p:txBody>
          <a:bodyPr>
            <a:normAutofit/>
          </a:bodyPr>
          <a:lstStyle/>
          <a:p>
            <a:r>
              <a:rPr kumimoji="1" lang="ko-KR" altLang="en-US" sz="2400"/>
              <a:t>메모리 병목 현상이 여러 서브 루틴 간에 </a:t>
            </a:r>
            <a:br>
              <a:rPr kumimoji="1" lang="en-US" altLang="ko-KR" sz="2400"/>
            </a:br>
            <a:r>
              <a:rPr kumimoji="1" lang="ko-KR" altLang="en-US" sz="2400"/>
              <a:t>공유됨</a:t>
            </a:r>
            <a:endParaRPr kumimoji="1" lang="en-US" altLang="ko-KR" sz="2400"/>
          </a:p>
          <a:p>
            <a:r>
              <a:rPr kumimoji="1" lang="en-US" altLang="ko-KR" sz="2400"/>
              <a:t>w</a:t>
            </a:r>
            <a:r>
              <a:rPr kumimoji="1" lang="ko-KR" altLang="en-US" sz="2400"/>
              <a:t> 벡터 원소를 한 번에 하나씩만 저장하는 방식</a:t>
            </a:r>
            <a:endParaRPr kumimoji="1" lang="en-US" altLang="ko-KR" sz="2400"/>
          </a:p>
          <a:p>
            <a:pPr lvl="1"/>
            <a:r>
              <a:rPr kumimoji="1" lang="ko-KR" altLang="en-US" sz="2000"/>
              <a:t>하지만 </a:t>
            </a:r>
            <a:r>
              <a:rPr kumimoji="1" lang="ko-KR" altLang="en-US" sz="2000" b="1">
                <a:solidFill>
                  <a:srgbClr val="FF0000"/>
                </a:solidFill>
              </a:rPr>
              <a:t>이 방법을 쓰면 나중에 </a:t>
            </a:r>
            <a:r>
              <a:rPr kumimoji="1" lang="en-US" altLang="ko-KR" sz="2000" b="1">
                <a:solidFill>
                  <a:srgbClr val="FF0000"/>
                </a:solidFill>
              </a:rPr>
              <a:t>w</a:t>
            </a:r>
            <a:r>
              <a:rPr kumimoji="1" lang="ko-KR" altLang="en-US" sz="2000" b="1">
                <a:solidFill>
                  <a:srgbClr val="FF0000"/>
                </a:solidFill>
              </a:rPr>
              <a:t>가 </a:t>
            </a:r>
            <a:br>
              <a:rPr kumimoji="1" lang="en-US" altLang="ko-KR" sz="2000" b="1">
                <a:solidFill>
                  <a:srgbClr val="FF0000"/>
                </a:solidFill>
              </a:rPr>
            </a:br>
            <a:r>
              <a:rPr kumimoji="1" lang="ko-KR" altLang="en-US" sz="2000" b="1">
                <a:solidFill>
                  <a:srgbClr val="FF0000"/>
                </a:solidFill>
              </a:rPr>
              <a:t>다시 필요해서 적용 안함</a:t>
            </a:r>
            <a:endParaRPr kumimoji="1" lang="en-US" altLang="ko-KR" sz="2000" b="1">
              <a:solidFill>
                <a:srgbClr val="FF0000"/>
              </a:solidFill>
            </a:endParaRPr>
          </a:p>
          <a:p>
            <a:pPr lvl="2"/>
            <a:r>
              <a:rPr kumimoji="1" lang="ko-KR" altLang="en-US"/>
              <a:t>처음부터 다시 </a:t>
            </a:r>
            <a:r>
              <a:rPr kumimoji="1" lang="ko-KR" altLang="en-US" err="1"/>
              <a:t>계산해야한다는</a:t>
            </a:r>
            <a:r>
              <a:rPr kumimoji="1" lang="ko-KR" altLang="en-US"/>
              <a:t> 의미</a:t>
            </a:r>
            <a:endParaRPr kumimoji="1" lang="en-US" altLang="ko-KR"/>
          </a:p>
          <a:p>
            <a:pPr lvl="2"/>
            <a:r>
              <a:rPr kumimoji="1" lang="en-US" altLang="ko-KR"/>
              <a:t>A*y, NTT </a:t>
            </a:r>
            <a:r>
              <a:rPr kumimoji="1" lang="ko-KR" altLang="en-US"/>
              <a:t>연산등에서 이 서명 생성이 가장 </a:t>
            </a:r>
            <a:br>
              <a:rPr kumimoji="1" lang="en-US" altLang="ko-KR"/>
            </a:br>
            <a:r>
              <a:rPr kumimoji="1" lang="ko-KR" altLang="en-US" err="1"/>
              <a:t>오래걸리는데</a:t>
            </a:r>
            <a:r>
              <a:rPr kumimoji="1" lang="ko-KR" altLang="en-US"/>
              <a:t> 이걸 </a:t>
            </a:r>
            <a:r>
              <a:rPr kumimoji="1" lang="en-US" altLang="ko-KR"/>
              <a:t>2</a:t>
            </a:r>
            <a:r>
              <a:rPr kumimoji="1" lang="ko-KR" altLang="en-US"/>
              <a:t>번 해야 하기 때문</a:t>
            </a:r>
            <a:r>
              <a:rPr kumimoji="1" lang="en-US" altLang="ko-KR"/>
              <a:t> </a:t>
            </a:r>
          </a:p>
          <a:p>
            <a:pPr lvl="1"/>
            <a:r>
              <a:rPr kumimoji="1" lang="ko-KR" altLang="en-US" sz="2000"/>
              <a:t>서명 생성 속도가 </a:t>
            </a:r>
            <a:r>
              <a:rPr kumimoji="1" lang="en-US" altLang="ko-KR" sz="2000"/>
              <a:t>2</a:t>
            </a:r>
            <a:r>
              <a:rPr kumimoji="1" lang="ko-KR" altLang="en-US" sz="2000"/>
              <a:t>배 느려지기 때문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64114F-3616-B892-7FF0-EC7FEB1C6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485" y="512955"/>
            <a:ext cx="5457515" cy="629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57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68E356-9777-CB25-813C-A0476C191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키 생성 알고리즘 최적화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13B4A7-C0C5-6F11-CB6D-757B64F6F5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ko-KR" altLang="en-US" sz="2400"/>
              <a:t>서명 알고리즘 기법 재사용</a:t>
            </a:r>
            <a:r>
              <a:rPr kumimoji="1" lang="en-US" altLang="ko-KR" sz="2400"/>
              <a:t>(</a:t>
            </a:r>
            <a:r>
              <a:rPr kumimoji="1" lang="ko-KR" altLang="en-US" sz="2400"/>
              <a:t>스트리밍 기법 사용</a:t>
            </a:r>
            <a:r>
              <a:rPr kumimoji="1" lang="en-US" altLang="ko-KR" sz="2400"/>
              <a:t>)</a:t>
            </a:r>
          </a:p>
          <a:p>
            <a:pPr lvl="1"/>
            <a:r>
              <a:rPr kumimoji="1" lang="en-US" altLang="ko-KR" sz="2000"/>
              <a:t>A*s1 </a:t>
            </a:r>
            <a:r>
              <a:rPr kumimoji="1" lang="ko-KR" altLang="en-US" sz="2000"/>
              <a:t>곱셈 </a:t>
            </a:r>
            <a:r>
              <a:rPr kumimoji="1" lang="ko-KR" altLang="en-US" sz="2000" err="1"/>
              <a:t>계산할때</a:t>
            </a:r>
            <a:r>
              <a:rPr kumimoji="1" lang="ko-KR" altLang="en-US" sz="2000"/>
              <a:t> 다항식용 별도 메모리 슬롯 제거</a:t>
            </a:r>
            <a:endParaRPr kumimoji="1" lang="en-US" altLang="ko-KR" sz="2000"/>
          </a:p>
          <a:p>
            <a:pPr lvl="1"/>
            <a:r>
              <a:rPr kumimoji="1" lang="ko-KR" altLang="en-US" sz="2000"/>
              <a:t>스케줄링을 통해 </a:t>
            </a:r>
            <a:r>
              <a:rPr kumimoji="1" lang="en-US" altLang="ko-KR" sz="2000" err="1"/>
              <a:t>KeyGen</a:t>
            </a:r>
            <a:r>
              <a:rPr kumimoji="1" lang="ko-KR" altLang="en-US" sz="2000"/>
              <a:t> 메모리 사용량을</a:t>
            </a:r>
            <a:br>
              <a:rPr kumimoji="1" lang="en-US" altLang="ko-KR" sz="2000"/>
            </a:br>
            <a:r>
              <a:rPr kumimoji="1" lang="ko-KR" altLang="en-US" sz="2000"/>
              <a:t>서명 생성 알고리즘보다 줄임</a:t>
            </a:r>
            <a:endParaRPr kumimoji="1" lang="en-US" altLang="ko-KR" sz="2000"/>
          </a:p>
          <a:p>
            <a:endParaRPr kumimoji="1" lang="en-US" altLang="ko-KR" sz="2400"/>
          </a:p>
          <a:p>
            <a:r>
              <a:rPr kumimoji="1" lang="ko-KR" altLang="en-US" sz="2400"/>
              <a:t>키 생성알고리즘은 챌린지 </a:t>
            </a:r>
            <a:r>
              <a:rPr kumimoji="1" lang="en-US" altLang="ko-KR" sz="2400"/>
              <a:t>c</a:t>
            </a:r>
            <a:r>
              <a:rPr kumimoji="1" lang="ko-KR" altLang="en-US" sz="2400"/>
              <a:t>와 같은 변수가 없기 때문에 벡터 </a:t>
            </a:r>
            <a:r>
              <a:rPr kumimoji="1" lang="en-US" altLang="ko-KR" sz="2400"/>
              <a:t>t</a:t>
            </a:r>
            <a:r>
              <a:rPr kumimoji="1" lang="ko-KR" altLang="en-US" sz="2400"/>
              <a:t>의 원소들이 동시에 메모리에 상주할 필요가 없음</a:t>
            </a:r>
            <a:endParaRPr kumimoji="1" lang="en-US" altLang="ko-KR" sz="2400"/>
          </a:p>
          <a:p>
            <a:pPr lvl="1"/>
            <a:r>
              <a:rPr kumimoji="1" lang="ko-KR" altLang="en-US" sz="2000" b="1">
                <a:solidFill>
                  <a:srgbClr val="FF0000"/>
                </a:solidFill>
              </a:rPr>
              <a:t>스트리밍 방식으로 </a:t>
            </a:r>
            <a:r>
              <a:rPr kumimoji="1" lang="ko-KR" altLang="en-US" sz="2000"/>
              <a:t>처리</a:t>
            </a:r>
            <a:endParaRPr kumimoji="1" lang="en-US" altLang="ko-KR" sz="2000"/>
          </a:p>
          <a:p>
            <a:pPr lvl="2"/>
            <a:r>
              <a:rPr kumimoji="1" lang="en-US" altLang="ko-KR" sz="1800"/>
              <a:t>t</a:t>
            </a:r>
            <a:r>
              <a:rPr kumimoji="1" lang="ko-KR" altLang="en-US" sz="1800"/>
              <a:t> </a:t>
            </a:r>
            <a:r>
              <a:rPr kumimoji="1" lang="en-US" altLang="ko-KR" sz="1800"/>
              <a:t>=</a:t>
            </a:r>
            <a:r>
              <a:rPr kumimoji="1" lang="ko-KR" altLang="en-US" sz="1800"/>
              <a:t> </a:t>
            </a:r>
            <a:r>
              <a:rPr kumimoji="1" lang="en-US" altLang="ko-KR" sz="1800"/>
              <a:t>A</a:t>
            </a:r>
            <a:r>
              <a:rPr kumimoji="1" lang="ko-KR" altLang="en-US" sz="1800"/>
              <a:t>*</a:t>
            </a:r>
            <a:r>
              <a:rPr kumimoji="1" lang="en-US" altLang="ko-KR" sz="1800"/>
              <a:t>s1+s2</a:t>
            </a:r>
            <a:r>
              <a:rPr kumimoji="1" lang="ko-KR" altLang="en-US" sz="1800"/>
              <a:t> 계산 시 원소들의 수명이 겹치지 않도록</a:t>
            </a:r>
            <a:endParaRPr kumimoji="1" lang="en-US" altLang="ko-KR" sz="1800"/>
          </a:p>
          <a:p>
            <a:pPr lvl="1"/>
            <a:r>
              <a:rPr kumimoji="1" lang="en-US" altLang="en-US" sz="2000" err="1"/>
              <a:t>Dilithium</a:t>
            </a:r>
            <a:r>
              <a:rPr kumimoji="1" lang="en-US" altLang="en-US" sz="2000"/>
              <a:t> 2 : </a:t>
            </a:r>
            <a:r>
              <a:rPr kumimoji="1" lang="en-US" altLang="ko-KR" sz="2000"/>
              <a:t>3.0KiB</a:t>
            </a:r>
            <a:r>
              <a:rPr kumimoji="1" lang="ko-KR" altLang="en-US" sz="2000"/>
              <a:t> 절약</a:t>
            </a:r>
            <a:r>
              <a:rPr kumimoji="1" lang="en-US" altLang="en-US" sz="2000"/>
              <a:t> / </a:t>
            </a:r>
            <a:r>
              <a:rPr kumimoji="1" lang="en-US" altLang="en-US" sz="2000" err="1"/>
              <a:t>Dilithium</a:t>
            </a:r>
            <a:r>
              <a:rPr kumimoji="1" lang="en-US" altLang="en-US" sz="2000"/>
              <a:t> 3: </a:t>
            </a:r>
            <a:r>
              <a:rPr kumimoji="1" lang="en-US" altLang="ko-KR" sz="2000"/>
              <a:t>4.5KiB</a:t>
            </a:r>
            <a:r>
              <a:rPr kumimoji="1" lang="ko-KR" altLang="en-US" sz="2000"/>
              <a:t> 절약</a:t>
            </a:r>
            <a:r>
              <a:rPr kumimoji="1" lang="en-US" altLang="en-US" sz="2000"/>
              <a:t>/ </a:t>
            </a:r>
            <a:r>
              <a:rPr kumimoji="1" lang="en-US" altLang="en-US" sz="2000" err="1"/>
              <a:t>Dilithum</a:t>
            </a:r>
            <a:r>
              <a:rPr kumimoji="1" lang="en-US" altLang="en-US" sz="2000"/>
              <a:t> 5 :</a:t>
            </a:r>
            <a:r>
              <a:rPr kumimoji="1" lang="en-US" altLang="ko-KR" sz="2000"/>
              <a:t>6.0</a:t>
            </a:r>
            <a:r>
              <a:rPr kumimoji="1" lang="ko-KR" altLang="en-US" sz="2000"/>
              <a:t> </a:t>
            </a:r>
            <a:r>
              <a:rPr kumimoji="1" lang="en-US" altLang="ko-KR" sz="2000"/>
              <a:t>KiB</a:t>
            </a:r>
            <a:r>
              <a:rPr kumimoji="1" lang="ko-KR" altLang="en-US" sz="2000"/>
              <a:t> 절약</a:t>
            </a:r>
            <a:endParaRPr kumimoji="1" lang="en-US" altLang="ko-KR" sz="2000"/>
          </a:p>
          <a:p>
            <a:pPr lvl="1"/>
            <a:endParaRPr kumimoji="1" lang="en-US" altLang="ko-KR" sz="2000"/>
          </a:p>
          <a:p>
            <a:pPr lvl="1"/>
            <a:endParaRPr kumimoji="1" lang="ko-KR" altLang="en-US" sz="20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96511C-BD87-5281-C551-CC39DB2A9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0"/>
            <a:ext cx="3962400" cy="236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92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5F38D5-A49B-DA49-E3C2-709D517BB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서명 검증 알고리즘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18FBBA-7825-7993-7FAC-07AACAA65D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메모리 구조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다항식 슬롯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개만 있으면 충분</a:t>
            </a:r>
            <a:r>
              <a:rPr kumimoji="1" lang="en-US" altLang="ko-KR" dirty="0"/>
              <a:t>(1.0KiB+768Byte)</a:t>
            </a:r>
          </a:p>
          <a:p>
            <a:pPr lvl="2"/>
            <a:r>
              <a:rPr kumimoji="1" lang="ko-KR" altLang="en-US" dirty="0"/>
              <a:t>기존</a:t>
            </a:r>
            <a:r>
              <a:rPr kumimoji="1" lang="en-US" altLang="ko-KR" dirty="0"/>
              <a:t>)</a:t>
            </a:r>
            <a:r>
              <a:rPr kumimoji="1" lang="ko-KR" altLang="en-US" dirty="0"/>
              <a:t> 행렬 </a:t>
            </a:r>
            <a:r>
              <a:rPr kumimoji="1" lang="en-US" altLang="ko-KR" dirty="0"/>
              <a:t>A</a:t>
            </a:r>
            <a:r>
              <a:rPr kumimoji="1" lang="ko-KR" altLang="en-US" dirty="0"/>
              <a:t> 나 벡터 </a:t>
            </a:r>
            <a:r>
              <a:rPr kumimoji="1" lang="en-US" altLang="ko-KR" dirty="0"/>
              <a:t>w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계산하기 위해 모든 다항식을 메모리에 한꺼번에 올려두고 연산</a:t>
            </a:r>
            <a:endParaRPr kumimoji="1" lang="en-US" altLang="ko-KR" dirty="0"/>
          </a:p>
          <a:p>
            <a:pPr lvl="2"/>
            <a:r>
              <a:rPr kumimoji="1" lang="ko-KR" altLang="en-US" dirty="0"/>
              <a:t>하지만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Streaming(</a:t>
            </a:r>
            <a:r>
              <a:rPr kumimoji="1" lang="ko-KR" altLang="en-US" dirty="0"/>
              <a:t>순차적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수행하여 동시에 딱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개의 다항식만 메모리에 </a:t>
            </a:r>
            <a:r>
              <a:rPr kumimoji="1" lang="ko-KR" altLang="en-US" dirty="0" err="1"/>
              <a:t>위치하면됨</a:t>
            </a:r>
            <a:endParaRPr kumimoji="1" lang="en-US" altLang="ko-KR" dirty="0"/>
          </a:p>
          <a:p>
            <a:pPr lvl="3"/>
            <a:r>
              <a:rPr kumimoji="1" lang="ko-KR" altLang="en-US" dirty="0"/>
              <a:t>슬롯 </a:t>
            </a:r>
            <a:r>
              <a:rPr kumimoji="1" lang="en-US" altLang="ko-KR" dirty="0"/>
              <a:t>1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누적값</a:t>
            </a:r>
            <a:r>
              <a:rPr kumimoji="1" lang="ko-KR" altLang="en-US" dirty="0"/>
              <a:t> 저장용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1.0</a:t>
            </a:r>
            <a:r>
              <a:rPr kumimoji="1" lang="ko-KR" altLang="en-US" dirty="0"/>
              <a:t> </a:t>
            </a:r>
            <a:r>
              <a:rPr kumimoji="1" lang="en-US" altLang="ko-KR" dirty="0"/>
              <a:t>KiB)</a:t>
            </a:r>
          </a:p>
          <a:p>
            <a:pPr lvl="3"/>
            <a:r>
              <a:rPr kumimoji="1" lang="ko-KR" altLang="en-US" dirty="0"/>
              <a:t>슬롯</a:t>
            </a:r>
            <a:r>
              <a:rPr kumimoji="1" lang="en-US" altLang="ko-KR" dirty="0"/>
              <a:t>2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/>
              <a:t>임시 연산용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768byte)</a:t>
            </a:r>
          </a:p>
          <a:p>
            <a:pPr lvl="1"/>
            <a:r>
              <a:rPr kumimoji="1" lang="en-US" altLang="ko-KR" dirty="0"/>
              <a:t>(SHA-3</a:t>
            </a:r>
            <a:r>
              <a:rPr kumimoji="1" lang="ko-KR" altLang="en-US" dirty="0"/>
              <a:t> </a:t>
            </a:r>
            <a:r>
              <a:rPr kumimoji="1" lang="en-US" altLang="ko-KR" dirty="0"/>
              <a:t>state(208Byte)</a:t>
            </a:r>
            <a:r>
              <a:rPr kumimoji="1" lang="ko-KR" altLang="en-US" dirty="0"/>
              <a:t>*</a:t>
            </a:r>
            <a:r>
              <a:rPr kumimoji="1" lang="en-US" altLang="ko-KR" dirty="0"/>
              <a:t>2)  + </a:t>
            </a:r>
            <a:r>
              <a:rPr kumimoji="1" lang="ko-KR" altLang="en-US" dirty="0"/>
              <a:t>압축된 </a:t>
            </a:r>
            <a:r>
              <a:rPr kumimoji="1" lang="en-US" altLang="ko-KR" dirty="0"/>
              <a:t>c</a:t>
            </a:r>
            <a:r>
              <a:rPr kumimoji="1" lang="ko-KR" altLang="en-US" dirty="0"/>
              <a:t> </a:t>
            </a:r>
            <a:r>
              <a:rPr kumimoji="1" lang="en-US" altLang="ko-KR" dirty="0"/>
              <a:t>(68Byte)</a:t>
            </a:r>
          </a:p>
          <a:p>
            <a:r>
              <a:rPr kumimoji="1" lang="ko-KR" altLang="en-US" dirty="0"/>
              <a:t>약 </a:t>
            </a:r>
            <a:r>
              <a:rPr kumimoji="1" lang="en-US" altLang="ko-KR" dirty="0"/>
              <a:t>2.3 KiB</a:t>
            </a:r>
            <a:r>
              <a:rPr kumimoji="1" lang="ko-KR" altLang="en-US" dirty="0"/>
              <a:t>의 고정된 메모리만 필요함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다항식 슬롯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</a:t>
            </a:r>
            <a:r>
              <a:rPr kumimoji="1" lang="en-US" altLang="ko-KR" dirty="0"/>
              <a:t>+</a:t>
            </a:r>
            <a:r>
              <a:rPr kumimoji="1" lang="ko-KR" altLang="en-US" dirty="0"/>
              <a:t>필수 데이터</a:t>
            </a:r>
            <a:r>
              <a:rPr kumimoji="1" lang="en-US" altLang="ko-KR" dirty="0"/>
              <a:t>(SHA3 state</a:t>
            </a:r>
            <a:r>
              <a:rPr kumimoji="1" lang="ko-KR" altLang="en-US" dirty="0"/>
              <a:t> 등</a:t>
            </a:r>
            <a:r>
              <a:rPr kumimoji="1" lang="en-US" altLang="ko-KR" dirty="0"/>
              <a:t>)</a:t>
            </a:r>
          </a:p>
          <a:p>
            <a:pPr lvl="1"/>
            <a:r>
              <a:rPr kumimoji="1" lang="ko-KR" altLang="en-US" b="1" dirty="0">
                <a:solidFill>
                  <a:srgbClr val="FF0000"/>
                </a:solidFill>
              </a:rPr>
              <a:t>서명 검증 알고리즘은 </a:t>
            </a:r>
            <a:r>
              <a:rPr kumimoji="1" lang="ko-KR" altLang="en-US" b="1" dirty="0" err="1">
                <a:solidFill>
                  <a:srgbClr val="FF0000"/>
                </a:solidFill>
              </a:rPr>
              <a:t>딜리시움</a:t>
            </a:r>
            <a:r>
              <a:rPr kumimoji="1" lang="ko-KR" altLang="en-US" b="1" dirty="0">
                <a:solidFill>
                  <a:srgbClr val="FF0000"/>
                </a:solidFill>
              </a:rPr>
              <a:t> 레벨과 상관없이 메모리 사용량 일정함</a:t>
            </a:r>
          </a:p>
        </p:txBody>
      </p:sp>
    </p:spTree>
    <p:extLst>
      <p:ext uri="{BB962C8B-B14F-4D97-AF65-F5344CB8AC3E}">
        <p14:creationId xmlns:p14="http://schemas.microsoft.com/office/powerpoint/2010/main" val="3378425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E2638-A80E-6BE3-CA59-4EDCADA1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성능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1071C4-8081-29CD-285A-F62EFD1DE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564" y="3932233"/>
            <a:ext cx="3921183" cy="281302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43194AB-1EDB-F4DD-F14A-7B8FD0689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564" y="589728"/>
            <a:ext cx="3810674" cy="334250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C3B1EB-CFD2-5960-8285-00ABEE6E7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019" y="3738697"/>
            <a:ext cx="3222951" cy="17606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514ECED-1D6F-BCA6-0D61-9B5244788B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920" y="1324491"/>
            <a:ext cx="3810674" cy="532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595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13457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yptoleb_clean" id="{52588569-4439-E744-A786-7B9A48D01E82}" vid="{3E351AFA-C5CD-FF45-AA6F-7CB5D626CE94}"/>
    </a:ext>
  </a:extLst>
</a:theme>
</file>

<file path=ppt/theme/theme2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yptoleb_clean" id="{52588569-4439-E744-A786-7B9A48D01E82}" vid="{9E614CC1-025E-7F4F-ADE5-A242777675E7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제목 테마</Template>
  <TotalTime>4062</TotalTime>
  <Words>1462</Words>
  <Application>Microsoft Macintosh PowerPoint</Application>
  <PresentationFormat>와이드스크린</PresentationFormat>
  <Paragraphs>188</Paragraphs>
  <Slides>17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맑은 고딕</vt:lpstr>
      <vt:lpstr>Google Sans Text</vt:lpstr>
      <vt:lpstr>Arial</vt:lpstr>
      <vt:lpstr>Cambria Math</vt:lpstr>
      <vt:lpstr>Wingdings</vt:lpstr>
      <vt:lpstr>제목 테마</vt:lpstr>
      <vt:lpstr>CryptoCraft 테마</vt:lpstr>
      <vt:lpstr>Dilithium for Memory Constrained Devices 논문 리뷰</vt:lpstr>
      <vt:lpstr>Dilithium for Memory Constrained Devices</vt:lpstr>
      <vt:lpstr>Dilithium for Memory Constrained Devices</vt:lpstr>
      <vt:lpstr>기법 1) Streaming A and y</vt:lpstr>
      <vt:lpstr>w 벡터 압축 원리</vt:lpstr>
      <vt:lpstr>기법 2) w 벡터 압축</vt:lpstr>
      <vt:lpstr>기법 2) 구현 코드</vt:lpstr>
      <vt:lpstr>기법 3) 챌린지 c 곱셈과 sparse 활용</vt:lpstr>
      <vt:lpstr>기법 3) 챌린지 c 곱셈과 sparse 활용</vt:lpstr>
      <vt:lpstr>기법 3) 구현 코드</vt:lpstr>
      <vt:lpstr>기법 4) Alternative NTT 곱셈 최적화</vt:lpstr>
      <vt:lpstr>사용 기법 정리</vt:lpstr>
      <vt:lpstr>변수 할당</vt:lpstr>
      <vt:lpstr>키 생성 알고리즘 최적화</vt:lpstr>
      <vt:lpstr>서명 검증 알고리즘</vt:lpstr>
      <vt:lpstr>성능 결과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심민주</dc:creator>
  <cp:keywords/>
  <dc:description/>
  <cp:lastModifiedBy>심민주</cp:lastModifiedBy>
  <cp:revision>2</cp:revision>
  <dcterms:created xsi:type="dcterms:W3CDTF">2026-01-04T04:19:30Z</dcterms:created>
  <dcterms:modified xsi:type="dcterms:W3CDTF">2026-01-25T10:09:47Z</dcterms:modified>
  <cp:category/>
</cp:coreProperties>
</file>