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7" r:id="rId1"/>
  </p:sldMasterIdLst>
  <p:notesMasterIdLst>
    <p:notesMasterId r:id="rId14"/>
  </p:notesMasterIdLst>
  <p:handoutMasterIdLst>
    <p:handoutMasterId r:id="rId15"/>
  </p:handoutMasterIdLst>
  <p:sldIdLst>
    <p:sldId id="256" r:id="rId2"/>
    <p:sldId id="274" r:id="rId3"/>
    <p:sldId id="276" r:id="rId4"/>
    <p:sldId id="275" r:id="rId5"/>
    <p:sldId id="277" r:id="rId6"/>
    <p:sldId id="279" r:id="rId7"/>
    <p:sldId id="280" r:id="rId8"/>
    <p:sldId id="281" r:id="rId9"/>
    <p:sldId id="278" r:id="rId10"/>
    <p:sldId id="282" r:id="rId11"/>
    <p:sldId id="283" r:id="rId12"/>
    <p:sldId id="273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4" autoAdjust="0"/>
    <p:restoredTop sz="79578" autoAdjust="0"/>
  </p:normalViewPr>
  <p:slideViewPr>
    <p:cSldViewPr snapToGrid="0">
      <p:cViewPr varScale="1">
        <p:scale>
          <a:sx n="126" d="100"/>
          <a:sy n="126" d="100"/>
        </p:scale>
        <p:origin x="1890" y="132"/>
      </p:cViewPr>
      <p:guideLst>
        <p:guide orient="horz" pos="2158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0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5546E7E-6CE1-4F62-BC39-1BE7148D0D0D}" type="datetime1">
              <a:rPr lang="ko-KR" altLang="en-US"/>
              <a:pPr lvl="0">
                <a:defRPr/>
              </a:pPr>
              <a:t>2026-04-29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42F56489-CFDC-4DF4-92D1-C366C0FB1731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6B8A1C54-2D0D-48EB-888A-9786B070F533}" type="datetime1">
              <a:rPr lang="ko-KR" altLang="en-US"/>
              <a:pPr lvl="0">
                <a:defRPr/>
              </a:pPr>
              <a:t>2026-04-29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6002C913-610E-4BF0-B55F-9CE65BBA65D1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</a:t>
            </a:r>
            <a:r>
              <a:rPr lang="en-US" altLang="ko-KR" dirty="0"/>
              <a:t>. X.509 PQC </a:t>
            </a:r>
            <a:r>
              <a:rPr lang="ko-KR" altLang="en-US" dirty="0"/>
              <a:t>전환을 위한 하이브리드 서명 전략 비교 분석에 대해 발표하도록 하겠습니다</a:t>
            </a:r>
            <a:r>
              <a:rPr lang="en-US" altLang="ko-KR" dirty="0"/>
              <a:t>. </a:t>
            </a:r>
            <a:r>
              <a:rPr lang="ko-KR" altLang="en-US" dirty="0"/>
              <a:t>저는 발표를 맡은 엄시우입니다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002C913-610E-4BF0-B55F-9CE65BBA65D1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512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연구 배경을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2024</a:t>
            </a:r>
            <a:r>
              <a:rPr lang="ko-KR" altLang="en-US" dirty="0"/>
              <a:t>년 </a:t>
            </a:r>
            <a:r>
              <a:rPr lang="en-US" altLang="ko-KR" dirty="0"/>
              <a:t>NIST</a:t>
            </a:r>
            <a:r>
              <a:rPr lang="ko-KR" altLang="en-US" dirty="0"/>
              <a:t>는 격자 기반 전자서명 </a:t>
            </a:r>
            <a:r>
              <a:rPr lang="en-US" altLang="ko-KR" dirty="0"/>
              <a:t>ML-DSA</a:t>
            </a:r>
            <a:r>
              <a:rPr lang="ko-KR" altLang="en-US" dirty="0"/>
              <a:t>를 </a:t>
            </a:r>
            <a:r>
              <a:rPr lang="en-US" altLang="ko-KR" dirty="0"/>
              <a:t>FIPS 204</a:t>
            </a:r>
            <a:r>
              <a:rPr lang="ko-KR" altLang="en-US" dirty="0"/>
              <a:t>로 </a:t>
            </a:r>
            <a:r>
              <a:rPr lang="ko-KR" altLang="en-US" dirty="0" err="1"/>
              <a:t>표준화했습니다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그래서 </a:t>
            </a:r>
            <a:r>
              <a:rPr lang="en-US" altLang="ko-KR" dirty="0"/>
              <a:t>TLS 1.3</a:t>
            </a:r>
            <a:r>
              <a:rPr lang="ko-KR" altLang="en-US" dirty="0"/>
              <a:t>에서 </a:t>
            </a:r>
            <a:r>
              <a:rPr lang="en-US" altLang="ko-KR" dirty="0"/>
              <a:t>X.509 </a:t>
            </a:r>
            <a:r>
              <a:rPr lang="ko-KR" altLang="en-US" dirty="0"/>
              <a:t>인증서의 공개키와 서명 체계를 </a:t>
            </a:r>
            <a:r>
              <a:rPr lang="en-US" altLang="ko-KR" dirty="0"/>
              <a:t>ECDSA</a:t>
            </a:r>
            <a:r>
              <a:rPr lang="ko-KR" altLang="en-US" dirty="0"/>
              <a:t>에서 </a:t>
            </a:r>
            <a:r>
              <a:rPr lang="en-US" altLang="ko-KR" dirty="0"/>
              <a:t>ML-DSA</a:t>
            </a:r>
            <a:r>
              <a:rPr lang="ko-KR" altLang="en-US" dirty="0"/>
              <a:t>로 전환하는 작업이 진행되고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하지만 </a:t>
            </a:r>
            <a:r>
              <a:rPr lang="en-US" altLang="ko-KR" dirty="0"/>
              <a:t>PQC</a:t>
            </a:r>
            <a:r>
              <a:rPr lang="ko-KR" altLang="en-US" dirty="0"/>
              <a:t>로 전환을 할 땐 고려해야 할 사항이 많습니다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대표적으로 기존 </a:t>
            </a:r>
            <a:r>
              <a:rPr lang="en-US" altLang="ko-KR" dirty="0"/>
              <a:t>ECDSA </a:t>
            </a:r>
            <a:r>
              <a:rPr lang="ko-KR" altLang="en-US" dirty="0"/>
              <a:t>기반 시스템과의 공존이 필수적입니다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전환 과도기에서의 암호 민첩성 확보도 중요하게 여겨지고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아래 표를 보시면</a:t>
            </a:r>
            <a:r>
              <a:rPr lang="en-US" altLang="ko-KR" dirty="0"/>
              <a:t>, ML-DSA-65</a:t>
            </a:r>
            <a:r>
              <a:rPr lang="ko-KR" altLang="en-US" dirty="0"/>
              <a:t>의 공개키는 약 </a:t>
            </a:r>
            <a:r>
              <a:rPr lang="en-US" altLang="ko-KR" dirty="0"/>
              <a:t>1,952</a:t>
            </a:r>
            <a:r>
              <a:rPr lang="ko-KR" altLang="en-US" dirty="0"/>
              <a:t>바이트</a:t>
            </a:r>
            <a:r>
              <a:rPr lang="en-US" altLang="ko-KR" dirty="0"/>
              <a:t>, </a:t>
            </a:r>
            <a:r>
              <a:rPr lang="ko-KR" altLang="en-US" dirty="0"/>
              <a:t>서명은 </a:t>
            </a:r>
            <a:r>
              <a:rPr lang="en-US" altLang="ko-KR" dirty="0"/>
              <a:t>3,309</a:t>
            </a:r>
            <a:r>
              <a:rPr lang="ko-KR" altLang="en-US" dirty="0"/>
              <a:t>바이트인 것을 확인하실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기존 </a:t>
            </a:r>
            <a:r>
              <a:rPr lang="en-US" altLang="ko-KR" dirty="0"/>
              <a:t>ECDSA P-256</a:t>
            </a:r>
            <a:r>
              <a:rPr lang="ko-KR" altLang="en-US" dirty="0"/>
              <a:t>과 비교하면 각각 </a:t>
            </a:r>
            <a:r>
              <a:rPr lang="en-US" altLang="ko-KR" dirty="0"/>
              <a:t>30</a:t>
            </a:r>
            <a:r>
              <a:rPr lang="ko-KR" altLang="en-US" dirty="0"/>
              <a:t>배</a:t>
            </a:r>
            <a:r>
              <a:rPr lang="en-US" altLang="ko-KR" dirty="0"/>
              <a:t>, 46</a:t>
            </a:r>
            <a:r>
              <a:rPr lang="ko-KR" altLang="en-US" dirty="0"/>
              <a:t>배 큽니다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 수치들을 인증서 </a:t>
            </a:r>
            <a:r>
              <a:rPr lang="en-US" altLang="ko-KR" dirty="0"/>
              <a:t>DER </a:t>
            </a:r>
            <a:r>
              <a:rPr lang="ko-KR" altLang="en-US" dirty="0"/>
              <a:t>단위로 환산하면 </a:t>
            </a:r>
            <a:r>
              <a:rPr lang="en-US" altLang="ko-KR" dirty="0"/>
              <a:t>377</a:t>
            </a:r>
            <a:r>
              <a:rPr lang="ko-KR" altLang="en-US" dirty="0"/>
              <a:t>바이트에서 </a:t>
            </a:r>
            <a:r>
              <a:rPr lang="en-US" altLang="ko-KR" dirty="0"/>
              <a:t>5,507</a:t>
            </a:r>
            <a:r>
              <a:rPr lang="ko-KR" altLang="en-US" dirty="0"/>
              <a:t>바이트로 약 </a:t>
            </a:r>
            <a:r>
              <a:rPr lang="en-US" altLang="ko-KR" dirty="0"/>
              <a:t>14.6</a:t>
            </a:r>
            <a:r>
              <a:rPr lang="ko-KR" altLang="en-US" dirty="0"/>
              <a:t>배 증가합니다</a:t>
            </a:r>
            <a:r>
              <a:rPr lang="en-US" altLang="ko-KR" dirty="0"/>
              <a:t>. </a:t>
            </a:r>
          </a:p>
          <a:p>
            <a:r>
              <a:rPr lang="ko-KR" altLang="en-US" dirty="0" err="1"/>
              <a:t>서버팜에서는</a:t>
            </a:r>
            <a:r>
              <a:rPr lang="ko-KR" altLang="en-US" dirty="0"/>
              <a:t> 크게 부담이 되지 않을 수 있지만</a:t>
            </a:r>
            <a:r>
              <a:rPr lang="en-US" altLang="ko-KR" dirty="0"/>
              <a:t>, </a:t>
            </a:r>
            <a:r>
              <a:rPr lang="ko-KR" altLang="en-US" dirty="0"/>
              <a:t>대역폭이 제한된 모바일이나 </a:t>
            </a:r>
            <a:r>
              <a:rPr lang="en-US" altLang="ko-KR" dirty="0"/>
              <a:t>IoT </a:t>
            </a:r>
            <a:r>
              <a:rPr lang="ko-KR" altLang="en-US" dirty="0"/>
              <a:t>환경에서는 </a:t>
            </a:r>
            <a:r>
              <a:rPr lang="ko-KR" altLang="en-US" dirty="0" err="1"/>
              <a:t>핸드셰이크</a:t>
            </a:r>
            <a:r>
              <a:rPr lang="ko-KR" altLang="en-US" dirty="0"/>
              <a:t> 지연이 일어날 수도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따라서 단순 교체보다는 하이브리드 전략이 필요해진 것입니다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002C913-610E-4BF0-B55F-9CE65BBA65D1}" type="slidenum">
              <a:rPr lang="ko-KR" altLang="en-US" smtClean="0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294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하이브리드 전환 방식을 설명하기에 앞서서 기존 연구 한계와 본 연구의 기여를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하이브리드 전환 방식은 두 갈래로 발전해 왔습니다</a:t>
            </a:r>
            <a:r>
              <a:rPr lang="en-US" altLang="ko-KR" dirty="0"/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각각 하이브리드 인증서와 서명 결합기로 분류할 수 있습니다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그런데 이 두 가지를 같은 기준으로 비교한 연구가 아직 없습니다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기존 연구를 보면</a:t>
            </a:r>
            <a:r>
              <a:rPr lang="en-US" altLang="ko-KR" dirty="0"/>
              <a:t>, Chen</a:t>
            </a:r>
            <a:r>
              <a:rPr lang="ko-KR" altLang="en-US" dirty="0"/>
              <a:t>은 하이브리드 인증서 </a:t>
            </a:r>
            <a:r>
              <a:rPr lang="en-US" altLang="ko-KR" dirty="0"/>
              <a:t>3</a:t>
            </a:r>
            <a:r>
              <a:rPr lang="ko-KR" altLang="en-US" dirty="0"/>
              <a:t>종만 비교했고</a:t>
            </a:r>
            <a:r>
              <a:rPr lang="en-US" altLang="ko-KR" dirty="0"/>
              <a:t>, Janneck</a:t>
            </a:r>
            <a:r>
              <a:rPr lang="ko-KR" altLang="en-US" dirty="0"/>
              <a:t>은 서명 결합기의 보안 증명에 집중했습니다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Sim </a:t>
            </a:r>
            <a:r>
              <a:rPr lang="ko-KR" altLang="en-US" dirty="0"/>
              <a:t>등은 </a:t>
            </a:r>
            <a:r>
              <a:rPr lang="en-US" altLang="ko-KR" dirty="0" err="1"/>
              <a:t>KpqC</a:t>
            </a:r>
            <a:r>
              <a:rPr lang="ko-KR" altLang="en-US" dirty="0"/>
              <a:t>의 </a:t>
            </a:r>
            <a:r>
              <a:rPr lang="en-US" altLang="ko-KR" dirty="0"/>
              <a:t>TLS </a:t>
            </a:r>
            <a:r>
              <a:rPr lang="ko-KR" altLang="en-US" dirty="0"/>
              <a:t>벤치마크 연구를 수행했지만 전환 방식 간 비교는 하지 않았습니다</a:t>
            </a:r>
            <a:r>
              <a:rPr lang="en-US" altLang="ko-KR" dirty="0"/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전환 방식 두가지를 같은 기준으로 정량 비교한 연구는 아직 없었습니다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본 연구의 기여는 세 가지입니다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첫째는 크기</a:t>
            </a:r>
            <a:r>
              <a:rPr lang="en-US" altLang="ko-KR" dirty="0"/>
              <a:t>, </a:t>
            </a:r>
            <a:r>
              <a:rPr lang="ko-KR" altLang="en-US" dirty="0" err="1"/>
              <a:t>핸드셰이크</a:t>
            </a:r>
            <a:r>
              <a:rPr lang="en-US" altLang="ko-KR" dirty="0"/>
              <a:t>, </a:t>
            </a:r>
            <a:r>
              <a:rPr lang="ko-KR" altLang="en-US" dirty="0"/>
              <a:t>검증 시간</a:t>
            </a:r>
            <a:r>
              <a:rPr lang="en-US" altLang="ko-KR" dirty="0"/>
              <a:t>, </a:t>
            </a:r>
            <a:r>
              <a:rPr lang="ko-KR" altLang="en-US" dirty="0"/>
              <a:t>호환성의 </a:t>
            </a:r>
            <a:r>
              <a:rPr lang="en-US" altLang="ko-KR" dirty="0"/>
              <a:t>4</a:t>
            </a:r>
            <a:r>
              <a:rPr lang="ko-KR" altLang="en-US" dirty="0"/>
              <a:t>축 통합 평가 모델을 제안합니다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두번째는</a:t>
            </a:r>
            <a:r>
              <a:rPr lang="en-US" altLang="ko-KR" dirty="0"/>
              <a:t> </a:t>
            </a:r>
            <a:r>
              <a:rPr lang="ko-KR" altLang="en-US" dirty="0"/>
              <a:t>이 </a:t>
            </a:r>
            <a:r>
              <a:rPr lang="en-US" altLang="ko-KR" dirty="0"/>
              <a:t>4</a:t>
            </a:r>
            <a:r>
              <a:rPr lang="ko-KR" altLang="en-US" dirty="0"/>
              <a:t>축 평가 모델로 인증서 </a:t>
            </a:r>
            <a:r>
              <a:rPr lang="en-US" altLang="ko-KR" dirty="0"/>
              <a:t>3</a:t>
            </a:r>
            <a:r>
              <a:rPr lang="ko-KR" altLang="en-US" dirty="0"/>
              <a:t>종과 서명 결합기</a:t>
            </a:r>
            <a:r>
              <a:rPr lang="en-US" altLang="ko-KR" dirty="0"/>
              <a:t> 2</a:t>
            </a:r>
            <a:r>
              <a:rPr lang="ko-KR" altLang="en-US" dirty="0"/>
              <a:t>종을 통합 비교합니다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세번째는 </a:t>
            </a:r>
            <a:r>
              <a:rPr lang="ko-KR" altLang="en-US" dirty="0" err="1"/>
              <a:t>서버팜</a:t>
            </a:r>
            <a:r>
              <a:rPr lang="en-US" altLang="ko-KR" dirty="0"/>
              <a:t>, </a:t>
            </a:r>
            <a:r>
              <a:rPr lang="ko-KR" altLang="en-US" dirty="0"/>
              <a:t>모바일</a:t>
            </a:r>
            <a:r>
              <a:rPr lang="en-US" altLang="ko-KR" dirty="0"/>
              <a:t>, IoT </a:t>
            </a:r>
            <a:r>
              <a:rPr lang="ko-KR" altLang="en-US" dirty="0"/>
              <a:t>세 환경에 대해 어떤 방식이 적합한지를 정량적으로 분석합니다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002C913-610E-4BF0-B55F-9CE65BBA65D1}" type="slidenum">
              <a:rPr lang="ko-KR" altLang="en-US" smtClean="0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0363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</a:t>
            </a:r>
            <a:r>
              <a:rPr lang="en-US" altLang="ko-KR" dirty="0"/>
              <a:t>X.509 PQC </a:t>
            </a:r>
            <a:r>
              <a:rPr lang="ko-KR" altLang="en-US" dirty="0"/>
              <a:t>전환 전략에 대해 자세히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앞서 말씀드린 것처럼 전환 전략은 두 갈래로 나뉩니다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첫번째는 하이브리드 인증서이고 두번째는 서명 결합기입니다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하이브리드 인증서는 </a:t>
            </a:r>
            <a:r>
              <a:rPr lang="en-US" altLang="ko-KR" dirty="0"/>
              <a:t>X.509 </a:t>
            </a:r>
            <a:r>
              <a:rPr lang="ko-KR" altLang="en-US" dirty="0"/>
              <a:t>포맷 자체를 수정하는 방식입니다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여기에는 세 가지가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Catalyst</a:t>
            </a:r>
            <a:r>
              <a:rPr lang="ko-KR" altLang="en-US" dirty="0"/>
              <a:t>는 </a:t>
            </a:r>
            <a:r>
              <a:rPr lang="en-US" altLang="ko-KR" dirty="0"/>
              <a:t>PQ </a:t>
            </a:r>
            <a:r>
              <a:rPr lang="ko-KR" altLang="en-US" dirty="0"/>
              <a:t>데이터를 </a:t>
            </a:r>
            <a:r>
              <a:rPr lang="en-US" altLang="ko-KR" dirty="0"/>
              <a:t>non-critical extension</a:t>
            </a:r>
            <a:r>
              <a:rPr lang="ko-KR" altLang="en-US" dirty="0"/>
              <a:t>으로 추가합니다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그래서 레거시 클라이언트가 이 확장을 무시할 수 있고</a:t>
            </a:r>
            <a:r>
              <a:rPr lang="en-US" altLang="ko-KR" dirty="0"/>
              <a:t>, </a:t>
            </a:r>
            <a:r>
              <a:rPr lang="ko-KR" altLang="en-US" dirty="0"/>
              <a:t>이로 인해서 호환성이 좋습니다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Composite</a:t>
            </a:r>
            <a:r>
              <a:rPr lang="ko-KR" altLang="en-US" dirty="0"/>
              <a:t>는 </a:t>
            </a:r>
            <a:r>
              <a:rPr lang="ko-KR" altLang="en-US" dirty="0" err="1"/>
              <a:t>레거시와</a:t>
            </a:r>
            <a:r>
              <a:rPr lang="ko-KR" altLang="en-US" dirty="0"/>
              <a:t> </a:t>
            </a:r>
            <a:r>
              <a:rPr lang="en-US" altLang="ko-KR" dirty="0"/>
              <a:t>PQC </a:t>
            </a:r>
            <a:r>
              <a:rPr lang="ko-KR" altLang="en-US" dirty="0"/>
              <a:t>서명을 하나의 </a:t>
            </a:r>
            <a:r>
              <a:rPr lang="en-US" altLang="ko-KR" dirty="0"/>
              <a:t>OID</a:t>
            </a:r>
            <a:r>
              <a:rPr lang="ko-KR" altLang="en-US" dirty="0"/>
              <a:t>로 묶어서 둘 다 유효해야 통과하는 </a:t>
            </a:r>
            <a:r>
              <a:rPr lang="en-US" altLang="ko-KR" dirty="0"/>
              <a:t>AND </a:t>
            </a:r>
            <a:r>
              <a:rPr lang="ko-KR" altLang="en-US" dirty="0"/>
              <a:t>모델입니다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하지만 단일 </a:t>
            </a:r>
            <a:r>
              <a:rPr lang="en-US" altLang="ko-KR" dirty="0"/>
              <a:t>OID</a:t>
            </a:r>
            <a:r>
              <a:rPr lang="ko-KR" altLang="en-US" dirty="0"/>
              <a:t>로 묶이기 때문에 레거시 호환은 불가능합니다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Chameleon</a:t>
            </a:r>
            <a:r>
              <a:rPr lang="ko-KR" altLang="en-US" dirty="0"/>
              <a:t>은 </a:t>
            </a:r>
            <a:r>
              <a:rPr lang="en-US" altLang="ko-KR" dirty="0"/>
              <a:t>Base </a:t>
            </a:r>
            <a:r>
              <a:rPr lang="ko-KR" altLang="en-US" dirty="0"/>
              <a:t>인증서 안에 </a:t>
            </a:r>
            <a:r>
              <a:rPr lang="en-US" altLang="ko-KR" dirty="0"/>
              <a:t>Delta </a:t>
            </a:r>
            <a:r>
              <a:rPr lang="ko-KR" altLang="en-US" dirty="0"/>
              <a:t>인증서를 내장하는 구조입니다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그래서 전환이 완료되면 </a:t>
            </a:r>
            <a:r>
              <a:rPr lang="en-US" altLang="ko-KR" dirty="0"/>
              <a:t>Delta</a:t>
            </a:r>
            <a:r>
              <a:rPr lang="ko-KR" altLang="en-US" dirty="0"/>
              <a:t>를 독립 인증서로 분리해서 사용할 수 있다는 장점이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다음은 서명 결합기에 대해서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서명 결합기는 </a:t>
            </a:r>
            <a:r>
              <a:rPr lang="en-US" altLang="ko-KR" dirty="0"/>
              <a:t>X.509 </a:t>
            </a:r>
            <a:r>
              <a:rPr lang="ko-KR" altLang="en-US" dirty="0"/>
              <a:t>포맷은 그대로 두고 서명만 결합하는 방식입니다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여기에는 두 가지가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Naïve Combiner</a:t>
            </a:r>
            <a:r>
              <a:rPr lang="ko-KR" altLang="en-US" dirty="0"/>
              <a:t>는 두 서명을 단순 연결하는 방식입니다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구현은 간단하지만 </a:t>
            </a:r>
            <a:r>
              <a:rPr lang="en-US" altLang="ko-KR" dirty="0"/>
              <a:t>SUF</a:t>
            </a:r>
            <a:r>
              <a:rPr lang="ko-KR" altLang="en-US" dirty="0"/>
              <a:t>가 보존되지 않습니다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Compact Combiner</a:t>
            </a:r>
            <a:r>
              <a:rPr lang="ko-KR" altLang="en-US" dirty="0"/>
              <a:t>는 </a:t>
            </a:r>
            <a:r>
              <a:rPr lang="en-US" altLang="ko-KR" dirty="0" err="1"/>
              <a:t>EdDSA</a:t>
            </a:r>
            <a:r>
              <a:rPr lang="ko-KR" altLang="en-US" dirty="0"/>
              <a:t>의 </a:t>
            </a:r>
            <a:r>
              <a:rPr lang="en-US" altLang="ko-KR" dirty="0"/>
              <a:t>Fiat-Shamir </a:t>
            </a:r>
            <a:r>
              <a:rPr lang="ko-KR" altLang="en-US" dirty="0"/>
              <a:t>구조를 활용해서 </a:t>
            </a:r>
            <a:r>
              <a:rPr lang="en-US" altLang="ko-KR" dirty="0"/>
              <a:t>commitment 32</a:t>
            </a:r>
            <a:r>
              <a:rPr lang="ko-KR" altLang="en-US" dirty="0"/>
              <a:t>바이트를 생략하면서도 </a:t>
            </a:r>
            <a:r>
              <a:rPr lang="en-US" altLang="ko-KR" dirty="0"/>
              <a:t>SUF</a:t>
            </a:r>
            <a:r>
              <a:rPr lang="ko-KR" altLang="en-US" dirty="0"/>
              <a:t>를 보존합니다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하지만 </a:t>
            </a:r>
            <a:r>
              <a:rPr lang="en-US" altLang="ko-KR" dirty="0" err="1"/>
              <a:t>EdDSA</a:t>
            </a:r>
            <a:r>
              <a:rPr lang="en-US" altLang="ko-KR" dirty="0"/>
              <a:t> </a:t>
            </a:r>
            <a:r>
              <a:rPr lang="ko-KR" altLang="en-US" dirty="0"/>
              <a:t>기반에서만 적용 가능하다는 제약이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002C913-610E-4BF0-B55F-9CE65BBA65D1}" type="slidenum">
              <a:rPr lang="ko-KR" altLang="en-US" smtClean="0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529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본격적인 비교에 앞서 </a:t>
            </a:r>
            <a:r>
              <a:rPr lang="en-US" altLang="ko-KR" dirty="0"/>
              <a:t>TLS 1.3</a:t>
            </a:r>
            <a:r>
              <a:rPr lang="ko-KR" altLang="en-US" dirty="0"/>
              <a:t>에서 서명이 어떻게 사용되는지 먼저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TLS 1.3 </a:t>
            </a:r>
            <a:r>
              <a:rPr lang="ko-KR" altLang="en-US" dirty="0" err="1"/>
              <a:t>핸드셰이크에서</a:t>
            </a:r>
            <a:r>
              <a:rPr lang="ko-KR" altLang="en-US" dirty="0"/>
              <a:t> 전자서명은 두 곳에서 사용됩니다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하나는 </a:t>
            </a:r>
            <a:r>
              <a:rPr lang="en-US" altLang="ko-KR" dirty="0"/>
              <a:t>CA</a:t>
            </a:r>
            <a:r>
              <a:rPr lang="ko-KR" altLang="en-US" dirty="0"/>
              <a:t>가 인증서를 발급할 때 포함하는 서명이고</a:t>
            </a:r>
            <a:r>
              <a:rPr lang="en-US" altLang="ko-KR" dirty="0"/>
              <a:t>, </a:t>
            </a:r>
            <a:r>
              <a:rPr lang="ko-KR" altLang="en-US" dirty="0"/>
              <a:t>다른 하나는 서버가 </a:t>
            </a:r>
            <a:r>
              <a:rPr lang="ko-KR" altLang="en-US" dirty="0" err="1"/>
              <a:t>핸드셰이크</a:t>
            </a:r>
            <a:r>
              <a:rPr lang="ko-KR" altLang="en-US" dirty="0"/>
              <a:t> 도중 생성하는 </a:t>
            </a:r>
            <a:r>
              <a:rPr lang="en-US" altLang="ko-KR" dirty="0" err="1"/>
              <a:t>CertificateVerify</a:t>
            </a:r>
            <a:r>
              <a:rPr lang="en-US" altLang="ko-KR" dirty="0"/>
              <a:t> </a:t>
            </a:r>
            <a:r>
              <a:rPr lang="ko-KR" altLang="en-US" dirty="0"/>
              <a:t>서명입니다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우측 그림을 보시면 </a:t>
            </a:r>
            <a:r>
              <a:rPr lang="ko-KR" altLang="en-US" dirty="0" err="1"/>
              <a:t>핸드셰이크</a:t>
            </a:r>
            <a:r>
              <a:rPr lang="ko-KR" altLang="en-US" dirty="0"/>
              <a:t> 과정을 확인하실 수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체인 길이가 </a:t>
            </a:r>
            <a:r>
              <a:rPr lang="en-US" altLang="ko-KR" dirty="0"/>
              <a:t>2</a:t>
            </a:r>
            <a:r>
              <a:rPr lang="ko-KR" altLang="en-US" dirty="0"/>
              <a:t>인 일반적인 구성에서</a:t>
            </a:r>
            <a:r>
              <a:rPr lang="en-US" altLang="ko-KR" dirty="0"/>
              <a:t>,</a:t>
            </a:r>
            <a:r>
              <a:rPr lang="ko-KR" altLang="en-US" dirty="0"/>
              <a:t> 클라이언트는 총 </a:t>
            </a:r>
            <a:r>
              <a:rPr lang="en-US" altLang="ko-KR" dirty="0"/>
              <a:t>3</a:t>
            </a:r>
            <a:r>
              <a:rPr lang="ko-KR" altLang="en-US" dirty="0"/>
              <a:t>회의 서명 검증을 수행합니다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첫번째는 </a:t>
            </a:r>
            <a:r>
              <a:rPr lang="en-US" altLang="ko-KR" dirty="0"/>
              <a:t>CA</a:t>
            </a:r>
            <a:r>
              <a:rPr lang="ko-KR" altLang="en-US" dirty="0"/>
              <a:t>에서 </a:t>
            </a:r>
            <a:r>
              <a:rPr lang="en-US" altLang="ko-KR" dirty="0"/>
              <a:t>Intermediate </a:t>
            </a:r>
            <a:r>
              <a:rPr lang="ko-KR" altLang="en-US" dirty="0"/>
              <a:t>인증서 검증</a:t>
            </a:r>
            <a:r>
              <a:rPr lang="en-US" altLang="ko-KR" dirty="0"/>
              <a:t>, </a:t>
            </a:r>
            <a:r>
              <a:rPr lang="ko-KR" altLang="en-US" dirty="0"/>
              <a:t>두번째는 </a:t>
            </a:r>
            <a:r>
              <a:rPr lang="en-US" altLang="ko-KR" dirty="0"/>
              <a:t>Intermediate</a:t>
            </a:r>
            <a:r>
              <a:rPr lang="ko-KR" altLang="en-US" dirty="0"/>
              <a:t>에서 </a:t>
            </a:r>
            <a:r>
              <a:rPr lang="en-US" altLang="ko-KR" dirty="0"/>
              <a:t>Server </a:t>
            </a:r>
            <a:r>
              <a:rPr lang="ko-KR" altLang="en-US" dirty="0"/>
              <a:t>인증서 검증</a:t>
            </a:r>
            <a:r>
              <a:rPr lang="en-US" altLang="ko-KR" dirty="0"/>
              <a:t>, </a:t>
            </a:r>
            <a:r>
              <a:rPr lang="ko-KR" altLang="en-US" dirty="0"/>
              <a:t>그리고 세번째는 </a:t>
            </a:r>
            <a:r>
              <a:rPr lang="en-US" altLang="ko-KR" dirty="0" err="1"/>
              <a:t>CertificateVerify</a:t>
            </a:r>
            <a:r>
              <a:rPr lang="en-US" altLang="ko-KR" dirty="0"/>
              <a:t> </a:t>
            </a:r>
            <a:r>
              <a:rPr lang="ko-KR" altLang="en-US" dirty="0"/>
              <a:t>검증입니다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PQC</a:t>
            </a:r>
            <a:r>
              <a:rPr lang="ko-KR" altLang="en-US" dirty="0"/>
              <a:t>로 전환할 때는 이 </a:t>
            </a:r>
            <a:r>
              <a:rPr lang="en-US" altLang="ko-KR" dirty="0"/>
              <a:t>3</a:t>
            </a:r>
            <a:r>
              <a:rPr lang="ko-KR" altLang="en-US" dirty="0"/>
              <a:t>회 모두가 교체 대상이 되는 것입니다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따라서 저희 연구에서는 검증 시간을 평가할 때는 </a:t>
            </a:r>
            <a:r>
              <a:rPr lang="en-US" altLang="ko-KR" dirty="0"/>
              <a:t>3</a:t>
            </a:r>
            <a:r>
              <a:rPr lang="ko-KR" altLang="en-US" dirty="0"/>
              <a:t>회 검증의 합산을 기준으로 사용합니다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002C913-610E-4BF0-B55F-9CE65BBA65D1}" type="slidenum">
              <a:rPr lang="ko-KR" altLang="en-US" smtClean="0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235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저희 연구에서 제안하는 </a:t>
            </a:r>
            <a:r>
              <a:rPr lang="en-US" altLang="ko-KR" dirty="0"/>
              <a:t>4</a:t>
            </a:r>
            <a:r>
              <a:rPr lang="ko-KR" altLang="en-US" dirty="0"/>
              <a:t>축 평가 모델을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제안 모델은 </a:t>
            </a:r>
            <a:r>
              <a:rPr lang="en-US" altLang="ko-KR" dirty="0"/>
              <a:t>4</a:t>
            </a:r>
            <a:r>
              <a:rPr lang="ko-KR" altLang="en-US" dirty="0"/>
              <a:t>가지 축으로 구성되어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첫번째 축인 </a:t>
            </a:r>
            <a:r>
              <a:rPr lang="en-US" altLang="ko-KR" dirty="0" err="1"/>
              <a:t>C_size</a:t>
            </a:r>
            <a:r>
              <a:rPr lang="ko-KR" altLang="en-US" dirty="0"/>
              <a:t>는 인증서 </a:t>
            </a:r>
            <a:r>
              <a:rPr lang="en-US" altLang="ko-KR" dirty="0"/>
              <a:t>DER </a:t>
            </a:r>
            <a:r>
              <a:rPr lang="ko-KR" altLang="en-US" dirty="0"/>
              <a:t>크기입니다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두번째 </a:t>
            </a:r>
            <a:r>
              <a:rPr lang="en-US" altLang="ko-KR" dirty="0" err="1"/>
              <a:t>C_hs</a:t>
            </a:r>
            <a:r>
              <a:rPr lang="ko-KR" altLang="en-US" dirty="0"/>
              <a:t>는 체인 </a:t>
            </a:r>
            <a:r>
              <a:rPr lang="ko-KR" altLang="en-US" dirty="0" err="1"/>
              <a:t>전송량과</a:t>
            </a:r>
            <a:r>
              <a:rPr lang="ko-KR" altLang="en-US" dirty="0"/>
              <a:t> 서명 크기를 합한 </a:t>
            </a:r>
            <a:r>
              <a:rPr lang="ko-KR" altLang="en-US" dirty="0" err="1"/>
              <a:t>핸드셰이크</a:t>
            </a:r>
            <a:r>
              <a:rPr lang="ko-KR" altLang="en-US" dirty="0"/>
              <a:t> 비용입니다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세번째 </a:t>
            </a:r>
            <a:r>
              <a:rPr lang="en-US" altLang="ko-KR" dirty="0" err="1"/>
              <a:t>C_verif</a:t>
            </a:r>
            <a:r>
              <a:rPr lang="ko-KR" altLang="en-US" dirty="0"/>
              <a:t>는 체인 전체 검증 시간입니다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마지막으로 </a:t>
            </a:r>
            <a:r>
              <a:rPr lang="en-US" altLang="ko-KR" dirty="0" err="1"/>
              <a:t>C_compat</a:t>
            </a:r>
            <a:r>
              <a:rPr lang="ko-KR" altLang="en-US" dirty="0"/>
              <a:t>은 레거시 호환성을 </a:t>
            </a:r>
            <a:r>
              <a:rPr lang="en-US" altLang="ko-KR" dirty="0"/>
              <a:t>0</a:t>
            </a:r>
            <a:r>
              <a:rPr lang="ko-KR" altLang="en-US" dirty="0"/>
              <a:t>에서 </a:t>
            </a:r>
            <a:r>
              <a:rPr lang="en-US" altLang="ko-KR" dirty="0"/>
              <a:t>1 </a:t>
            </a:r>
            <a:r>
              <a:rPr lang="ko-KR" altLang="en-US" dirty="0"/>
              <a:t>사이 점수로 나타낸 것입니다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C_compat</a:t>
            </a:r>
            <a:r>
              <a:rPr lang="ko-KR" altLang="en-US" dirty="0"/>
              <a:t>은 </a:t>
            </a:r>
            <a:r>
              <a:rPr lang="en-US" altLang="ko-KR" dirty="0"/>
              <a:t>0</a:t>
            </a:r>
            <a:r>
              <a:rPr lang="ko-KR" altLang="en-US" dirty="0"/>
              <a:t>에 가까울수록 호환성이 우수합니다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각 축을 </a:t>
            </a:r>
            <a:r>
              <a:rPr lang="ko-KR" altLang="en-US" dirty="0" err="1"/>
              <a:t>정규화한</a:t>
            </a:r>
            <a:r>
              <a:rPr lang="ko-KR" altLang="en-US" dirty="0"/>
              <a:t> 다음에 환경별 가중치를 적용해 총 비용인 </a:t>
            </a:r>
            <a:r>
              <a:rPr lang="en-US" altLang="ko-KR" dirty="0" err="1"/>
              <a:t>C_total</a:t>
            </a:r>
            <a:r>
              <a:rPr lang="ko-KR" altLang="en-US" dirty="0"/>
              <a:t>을 산출하고</a:t>
            </a:r>
            <a:r>
              <a:rPr lang="en-US" altLang="ko-KR" dirty="0"/>
              <a:t>, </a:t>
            </a:r>
            <a:r>
              <a:rPr lang="ko-KR" altLang="en-US" dirty="0"/>
              <a:t>이</a:t>
            </a:r>
            <a:r>
              <a:rPr lang="en-US" altLang="ko-KR" dirty="0"/>
              <a:t> </a:t>
            </a:r>
            <a:r>
              <a:rPr lang="en-US" altLang="ko-KR" dirty="0" err="1"/>
              <a:t>C_total</a:t>
            </a:r>
            <a:r>
              <a:rPr lang="ko-KR" altLang="en-US" dirty="0"/>
              <a:t>이 낮을수록 해당 방식이 유리함을 의미합니다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가중치는 환경별로 다르게 설정했습니다</a:t>
            </a:r>
            <a:r>
              <a:rPr lang="en-US" altLang="ko-KR" dirty="0"/>
              <a:t>. </a:t>
            </a:r>
          </a:p>
          <a:p>
            <a:r>
              <a:rPr lang="ko-KR" altLang="en-US" dirty="0" err="1"/>
              <a:t>서버팜은</a:t>
            </a:r>
            <a:r>
              <a:rPr lang="ko-KR" altLang="en-US" dirty="0"/>
              <a:t> 다양한 클라이언트를 </a:t>
            </a:r>
            <a:r>
              <a:rPr lang="ko-KR" altLang="en-US" dirty="0" err="1"/>
              <a:t>수용해야하기</a:t>
            </a:r>
            <a:r>
              <a:rPr lang="ko-KR" altLang="en-US" dirty="0"/>
              <a:t> 때문에 호환성 비중이 </a:t>
            </a:r>
            <a:r>
              <a:rPr lang="en-US" altLang="ko-KR" dirty="0"/>
              <a:t>0.5</a:t>
            </a:r>
            <a:r>
              <a:rPr lang="ko-KR" altLang="en-US" dirty="0"/>
              <a:t>로 가장 높습니다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모바일은 </a:t>
            </a:r>
            <a:r>
              <a:rPr lang="ko-KR" altLang="en-US" dirty="0" err="1"/>
              <a:t>핸드셰이크</a:t>
            </a:r>
            <a:r>
              <a:rPr lang="ko-KR" altLang="en-US" dirty="0"/>
              <a:t> 지연이 사용자에게 직접 영향을 미치기 때문에 </a:t>
            </a:r>
            <a:r>
              <a:rPr lang="en-US" altLang="ko-KR" dirty="0" err="1"/>
              <a:t>C_hs</a:t>
            </a:r>
            <a:r>
              <a:rPr lang="ko-KR" altLang="en-US" dirty="0"/>
              <a:t>가 </a:t>
            </a:r>
            <a:r>
              <a:rPr lang="en-US" altLang="ko-KR" dirty="0"/>
              <a:t>0.3</a:t>
            </a:r>
            <a:r>
              <a:rPr lang="ko-KR" altLang="en-US" dirty="0"/>
              <a:t>으로 비중이 큽니다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IoT</a:t>
            </a:r>
            <a:r>
              <a:rPr lang="ko-KR" altLang="en-US" dirty="0"/>
              <a:t>는 양쪽 펌웨어를 직접 관리할 수 있어서 호환성 비중을 </a:t>
            </a:r>
            <a:r>
              <a:rPr lang="en-US" altLang="ko-KR" dirty="0"/>
              <a:t>0.1</a:t>
            </a:r>
            <a:r>
              <a:rPr lang="ko-KR" altLang="en-US" dirty="0"/>
              <a:t>로 낮췄고</a:t>
            </a:r>
            <a:r>
              <a:rPr lang="en-US" altLang="ko-KR" dirty="0"/>
              <a:t>, </a:t>
            </a:r>
            <a:r>
              <a:rPr lang="ko-KR" altLang="en-US" dirty="0"/>
              <a:t>대신 크기와 검증 시간 비중을 각각 </a:t>
            </a:r>
            <a:r>
              <a:rPr lang="en-US" altLang="ko-KR" dirty="0"/>
              <a:t>0.35</a:t>
            </a:r>
            <a:r>
              <a:rPr lang="ko-KR" altLang="en-US" dirty="0"/>
              <a:t>로 높였습니다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002C913-610E-4BF0-B55F-9CE65BBA65D1}" type="slidenum">
              <a:rPr lang="ko-KR" altLang="en-US" smtClean="0"/>
              <a:pPr lvl="0"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9118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 실험 환경과 측정 방식을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실험은 </a:t>
            </a:r>
            <a:r>
              <a:rPr lang="en-US" altLang="ko-KR" dirty="0"/>
              <a:t>OQS Docker </a:t>
            </a:r>
            <a:r>
              <a:rPr lang="ko-KR" altLang="en-US" dirty="0"/>
              <a:t>환경에서 수행했습니다</a:t>
            </a:r>
            <a:r>
              <a:rPr lang="en-US" altLang="ko-KR" dirty="0"/>
              <a:t>. </a:t>
            </a:r>
          </a:p>
          <a:p>
            <a:r>
              <a:rPr lang="en-US" altLang="ko-KR" dirty="0" err="1"/>
              <a:t>liboqs</a:t>
            </a:r>
            <a:r>
              <a:rPr lang="en-US" altLang="ko-KR" dirty="0"/>
              <a:t> 0.11.0</a:t>
            </a:r>
            <a:r>
              <a:rPr lang="ko-KR" altLang="en-US" dirty="0"/>
              <a:t>과 </a:t>
            </a:r>
            <a:r>
              <a:rPr lang="en-US" altLang="ko-KR" dirty="0" err="1"/>
              <a:t>oqsprovider</a:t>
            </a:r>
            <a:r>
              <a:rPr lang="ko-KR" altLang="en-US" dirty="0"/>
              <a:t>를 </a:t>
            </a:r>
            <a:r>
              <a:rPr lang="en-US" altLang="ko-KR" dirty="0"/>
              <a:t>OpenSSL 3.6.0</a:t>
            </a:r>
            <a:r>
              <a:rPr lang="ko-KR" altLang="en-US" dirty="0"/>
              <a:t>에 연동했고</a:t>
            </a:r>
            <a:r>
              <a:rPr lang="en-US" altLang="ko-KR" dirty="0"/>
              <a:t>, </a:t>
            </a:r>
            <a:r>
              <a:rPr lang="ko-KR" altLang="en-US" dirty="0"/>
              <a:t>서명 성능은 </a:t>
            </a:r>
            <a:r>
              <a:rPr lang="en-US" altLang="ko-KR" dirty="0" err="1"/>
              <a:t>openssl</a:t>
            </a:r>
            <a:r>
              <a:rPr lang="en-US" altLang="ko-KR" dirty="0"/>
              <a:t> speed</a:t>
            </a:r>
            <a:r>
              <a:rPr lang="ko-KR" altLang="en-US" dirty="0"/>
              <a:t>로 </a:t>
            </a:r>
            <a:r>
              <a:rPr lang="en-US" altLang="ko-KR" dirty="0"/>
              <a:t>3</a:t>
            </a:r>
            <a:r>
              <a:rPr lang="ko-KR" altLang="en-US" dirty="0"/>
              <a:t>초간 측정했습니다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저희 연구에서 제시되는 인증서와 파라미터 크기는 모두 </a:t>
            </a:r>
            <a:r>
              <a:rPr lang="en-US" altLang="ko-KR" dirty="0"/>
              <a:t>ASN.1 DER </a:t>
            </a:r>
            <a:r>
              <a:rPr lang="ko-KR" altLang="en-US" dirty="0"/>
              <a:t>인코딩을 포함한 값입니다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 표를 보시면 비교 대상을 확인하실 수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모두 </a:t>
            </a:r>
            <a:r>
              <a:rPr lang="en-US" altLang="ko-KR" dirty="0"/>
              <a:t>ML-DSA-65 </a:t>
            </a:r>
            <a:r>
              <a:rPr lang="ko-KR" altLang="en-US" dirty="0"/>
              <a:t>기반이고</a:t>
            </a:r>
            <a:r>
              <a:rPr lang="en-US" altLang="ko-KR" dirty="0"/>
              <a:t>, </a:t>
            </a:r>
            <a:r>
              <a:rPr lang="en-US" altLang="ko-KR" dirty="0" err="1"/>
              <a:t>Catalyst·Chameleon·Naive</a:t>
            </a:r>
            <a:r>
              <a:rPr lang="en-US" altLang="ko-KR" dirty="0"/>
              <a:t> Combiner</a:t>
            </a:r>
            <a:r>
              <a:rPr lang="ko-KR" altLang="en-US" dirty="0"/>
              <a:t>는 레거시 측에 </a:t>
            </a:r>
            <a:r>
              <a:rPr lang="en-US" altLang="ko-KR" dirty="0"/>
              <a:t>ECDSA P-256</a:t>
            </a:r>
            <a:r>
              <a:rPr lang="ko-KR" altLang="en-US" dirty="0"/>
              <a:t>을 사용했습니다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Composite</a:t>
            </a:r>
            <a:r>
              <a:rPr lang="ko-KR" altLang="en-US" dirty="0"/>
              <a:t>는 </a:t>
            </a:r>
            <a:r>
              <a:rPr lang="en-US" altLang="ko-KR" dirty="0" err="1"/>
              <a:t>oqsprovider</a:t>
            </a:r>
            <a:r>
              <a:rPr lang="en-US" altLang="ko-KR" dirty="0"/>
              <a:t> </a:t>
            </a:r>
            <a:r>
              <a:rPr lang="ko-KR" altLang="en-US" dirty="0"/>
              <a:t>구현 특성상 </a:t>
            </a:r>
            <a:r>
              <a:rPr lang="en-US" altLang="ko-KR" dirty="0"/>
              <a:t>ECDSA P-384</a:t>
            </a:r>
            <a:r>
              <a:rPr lang="ko-KR" altLang="en-US" dirty="0"/>
              <a:t>를 사용했습니다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그릭</a:t>
            </a:r>
            <a:r>
              <a:rPr lang="en-US" altLang="ko-KR" dirty="0"/>
              <a:t> Compact Combiner</a:t>
            </a:r>
            <a:r>
              <a:rPr lang="ko-KR" altLang="en-US" dirty="0"/>
              <a:t>는 </a:t>
            </a:r>
            <a:r>
              <a:rPr lang="en-US" altLang="ko-KR" dirty="0" err="1"/>
              <a:t>EdDSA</a:t>
            </a:r>
            <a:r>
              <a:rPr lang="en-US" altLang="ko-KR" dirty="0"/>
              <a:t> </a:t>
            </a:r>
            <a:r>
              <a:rPr lang="ko-KR" altLang="en-US" dirty="0"/>
              <a:t>기반이므로 </a:t>
            </a:r>
            <a:r>
              <a:rPr lang="en-US" altLang="ko-KR" dirty="0"/>
              <a:t>Ed25519</a:t>
            </a:r>
            <a:r>
              <a:rPr lang="ko-KR" altLang="en-US" dirty="0"/>
              <a:t>를 사용했습니다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다음으로 측정방식을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Catalyst</a:t>
            </a:r>
            <a:r>
              <a:rPr lang="ko-KR" altLang="en-US" dirty="0"/>
              <a:t>와 </a:t>
            </a:r>
            <a:r>
              <a:rPr lang="en-US" altLang="ko-KR" dirty="0"/>
              <a:t>Composite</a:t>
            </a:r>
            <a:r>
              <a:rPr lang="ko-KR" altLang="en-US" dirty="0"/>
              <a:t>는 </a:t>
            </a:r>
            <a:r>
              <a:rPr lang="en-US" altLang="ko-KR" dirty="0" err="1"/>
              <a:t>oqsprovider</a:t>
            </a:r>
            <a:r>
              <a:rPr lang="ko-KR" altLang="en-US" dirty="0"/>
              <a:t>에 구현되어 있어서 직접 측정했습니다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하지만 </a:t>
            </a:r>
            <a:r>
              <a:rPr lang="en-US" altLang="ko-KR" dirty="0"/>
              <a:t>Chameleon</a:t>
            </a:r>
            <a:r>
              <a:rPr lang="ko-KR" altLang="en-US" dirty="0"/>
              <a:t>과 서명 결합기 </a:t>
            </a:r>
            <a:r>
              <a:rPr lang="en-US" altLang="ko-KR" dirty="0"/>
              <a:t>2</a:t>
            </a:r>
            <a:r>
              <a:rPr lang="ko-KR" altLang="en-US" dirty="0"/>
              <a:t>종은 </a:t>
            </a:r>
            <a:r>
              <a:rPr lang="en-US" altLang="ko-KR" dirty="0" err="1"/>
              <a:t>oqsprovider</a:t>
            </a:r>
            <a:r>
              <a:rPr lang="ko-KR" altLang="en-US" dirty="0"/>
              <a:t>에 구현이 없기 때문에 구성 요소 측정값을 합산해 추정했습니다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추정 방식의 신뢰성을 검증하기 위해서</a:t>
            </a:r>
            <a:r>
              <a:rPr lang="en-US" altLang="ko-KR" dirty="0"/>
              <a:t>, </a:t>
            </a:r>
            <a:r>
              <a:rPr lang="ko-KR" altLang="en-US" dirty="0" err="1"/>
              <a:t>실측값이</a:t>
            </a:r>
            <a:r>
              <a:rPr lang="ko-KR" altLang="en-US" dirty="0"/>
              <a:t> 있는 </a:t>
            </a:r>
            <a:r>
              <a:rPr lang="en-US" altLang="ko-KR" dirty="0"/>
              <a:t>Composite</a:t>
            </a:r>
            <a:r>
              <a:rPr lang="ko-KR" altLang="en-US" dirty="0"/>
              <a:t>에 동일한 합산 방식을 시험 적용해봤습니다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Composite</a:t>
            </a:r>
            <a:r>
              <a:rPr lang="ko-KR" altLang="en-US" dirty="0"/>
              <a:t>를 추정 대상인 것처럼 가정하고 구성 요소를 따로 측정해 합산한 값을 </a:t>
            </a:r>
            <a:r>
              <a:rPr lang="ko-KR" altLang="en-US" dirty="0" err="1"/>
              <a:t>실측값과</a:t>
            </a:r>
            <a:r>
              <a:rPr lang="ko-KR" altLang="en-US" dirty="0"/>
              <a:t> 비교한 것입니다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 결과 오차가 </a:t>
            </a:r>
            <a:r>
              <a:rPr lang="en-US" altLang="ko-KR" dirty="0"/>
              <a:t>0.6%</a:t>
            </a:r>
            <a:r>
              <a:rPr lang="ko-KR" altLang="en-US" dirty="0"/>
              <a:t>로 나타나 합산 방식이 신뢰할 만하다는 것을 확인했습니다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마지막으로 </a:t>
            </a:r>
            <a:r>
              <a:rPr lang="en-US" altLang="ko-KR" dirty="0"/>
              <a:t>Composite</a:t>
            </a:r>
            <a:r>
              <a:rPr lang="ko-KR" altLang="en-US" dirty="0"/>
              <a:t>의 </a:t>
            </a:r>
            <a:r>
              <a:rPr lang="en-US" altLang="ko-KR" dirty="0"/>
              <a:t>P-384 </a:t>
            </a:r>
            <a:r>
              <a:rPr lang="ko-KR" altLang="en-US" dirty="0"/>
              <a:t>사용에 있어서는 한가지 이슈가 있습니다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P-384</a:t>
            </a:r>
            <a:r>
              <a:rPr lang="ko-KR" altLang="en-US" dirty="0"/>
              <a:t>는 </a:t>
            </a:r>
            <a:r>
              <a:rPr lang="en-US" altLang="ko-KR" dirty="0"/>
              <a:t>P-256 </a:t>
            </a:r>
            <a:r>
              <a:rPr lang="ko-KR" altLang="en-US" dirty="0"/>
              <a:t>대비 검증 속도가 약 </a:t>
            </a:r>
            <a:r>
              <a:rPr lang="en-US" altLang="ko-KR" dirty="0"/>
              <a:t>10</a:t>
            </a:r>
            <a:r>
              <a:rPr lang="ko-KR" altLang="en-US" dirty="0"/>
              <a:t>배 느립니다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 차이가 결과에 영향을 줄 수 있어서</a:t>
            </a:r>
            <a:r>
              <a:rPr lang="en-US" altLang="ko-KR" dirty="0"/>
              <a:t>, </a:t>
            </a:r>
            <a:r>
              <a:rPr lang="ko-KR" altLang="en-US" dirty="0"/>
              <a:t>결과 분석을 할 땐 </a:t>
            </a:r>
            <a:r>
              <a:rPr lang="en-US" altLang="ko-KR" dirty="0"/>
              <a:t>P-256 </a:t>
            </a:r>
            <a:r>
              <a:rPr lang="ko-KR" altLang="en-US" dirty="0"/>
              <a:t>기반 추정 시나리오를 별도로 제시했습니다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002C913-610E-4BF0-B55F-9CE65BBA65D1}" type="slidenum">
              <a:rPr lang="ko-KR" altLang="en-US" smtClean="0"/>
              <a:pPr lvl="0"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180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비교 결과를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먼저 인증서 크기 비교결과부터 말씀드리겠습니다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위쪽의 표를 보시면</a:t>
            </a:r>
            <a:r>
              <a:rPr lang="en-US" altLang="ko-KR" dirty="0"/>
              <a:t>, </a:t>
            </a:r>
            <a:r>
              <a:rPr lang="ko-KR" altLang="en-US" dirty="0"/>
              <a:t>가장 위에 </a:t>
            </a:r>
            <a:r>
              <a:rPr lang="en-US" altLang="ko-KR" dirty="0"/>
              <a:t>ECDSA P-256</a:t>
            </a:r>
            <a:r>
              <a:rPr lang="ko-KR" altLang="en-US" dirty="0"/>
              <a:t>과 </a:t>
            </a:r>
            <a:r>
              <a:rPr lang="en-US" altLang="ko-KR" dirty="0"/>
              <a:t>ML-DSA-65</a:t>
            </a:r>
            <a:r>
              <a:rPr lang="ko-KR" altLang="en-US" dirty="0"/>
              <a:t>를 참조 기준으로 두었습니다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저희 연구의 비교 대상인 </a:t>
            </a:r>
            <a:r>
              <a:rPr lang="en-US" altLang="ko-KR" dirty="0"/>
              <a:t>5</a:t>
            </a:r>
            <a:r>
              <a:rPr lang="ko-KR" altLang="en-US" dirty="0"/>
              <a:t>가지 방식은 </a:t>
            </a:r>
            <a:r>
              <a:rPr lang="en-US" altLang="ko-KR" dirty="0"/>
              <a:t>5,579</a:t>
            </a:r>
            <a:r>
              <a:rPr lang="ko-KR" altLang="en-US" dirty="0"/>
              <a:t>바이트에서 </a:t>
            </a:r>
            <a:r>
              <a:rPr lang="en-US" altLang="ko-KR" dirty="0"/>
              <a:t>5,823</a:t>
            </a:r>
            <a:r>
              <a:rPr lang="ko-KR" altLang="en-US" dirty="0"/>
              <a:t>바이트 범위 안에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범위의 최대 차이는 </a:t>
            </a:r>
            <a:r>
              <a:rPr lang="en-US" altLang="ko-KR" dirty="0"/>
              <a:t>244</a:t>
            </a:r>
            <a:r>
              <a:rPr lang="ko-KR" altLang="en-US" dirty="0"/>
              <a:t>바이트이고</a:t>
            </a:r>
            <a:r>
              <a:rPr lang="en-US" altLang="ko-KR" dirty="0"/>
              <a:t>, </a:t>
            </a:r>
            <a:r>
              <a:rPr lang="ko-KR" altLang="en-US" dirty="0"/>
              <a:t>비율로는 </a:t>
            </a:r>
            <a:r>
              <a:rPr lang="en-US" altLang="ko-KR" dirty="0"/>
              <a:t>4.4%</a:t>
            </a:r>
            <a:r>
              <a:rPr lang="ko-KR" altLang="en-US" dirty="0"/>
              <a:t>밖에 되지 않습니다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이렇게 차이가 작은 이유는 </a:t>
            </a:r>
            <a:r>
              <a:rPr lang="en-US" altLang="ko-KR" dirty="0"/>
              <a:t>ML-DSA-65</a:t>
            </a:r>
            <a:r>
              <a:rPr lang="ko-KR" altLang="en-US" dirty="0"/>
              <a:t>의 공개키가 </a:t>
            </a:r>
            <a:r>
              <a:rPr lang="en-US" altLang="ko-KR" dirty="0"/>
              <a:t>1,974</a:t>
            </a:r>
            <a:r>
              <a:rPr lang="ko-KR" altLang="en-US" dirty="0"/>
              <a:t>바이트이고</a:t>
            </a:r>
            <a:r>
              <a:rPr lang="en-US" altLang="ko-KR" dirty="0"/>
              <a:t>, </a:t>
            </a:r>
            <a:r>
              <a:rPr lang="ko-KR" altLang="en-US" dirty="0"/>
              <a:t>서명이 </a:t>
            </a:r>
            <a:r>
              <a:rPr lang="en-US" altLang="ko-KR" dirty="0"/>
              <a:t>3,309</a:t>
            </a:r>
            <a:r>
              <a:rPr lang="ko-KR" altLang="en-US" dirty="0"/>
              <a:t>바이트로 인증서 전체의 대부분을 차지하기 때문입니다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그래서 레거시 측 알고리즘이나 구조 오버헤드가 추가되어도 약간의 차이만 있고</a:t>
            </a:r>
            <a:r>
              <a:rPr lang="en-US" altLang="ko-KR" dirty="0"/>
              <a:t>, </a:t>
            </a:r>
            <a:r>
              <a:rPr lang="ko-KR" altLang="en-US" dirty="0"/>
              <a:t>비율적으로는 큰 변화를 만들지는 못합니다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측정 결과 크기가 가장 작은 것은 </a:t>
            </a:r>
            <a:r>
              <a:rPr lang="en-US" altLang="ko-KR" dirty="0"/>
              <a:t>Compact Combiner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Ed25519</a:t>
            </a:r>
            <a:r>
              <a:rPr lang="ko-KR" altLang="en-US" dirty="0"/>
              <a:t>의 공개키가 작고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commitment 32</a:t>
            </a:r>
            <a:r>
              <a:rPr lang="ko-KR" altLang="en-US" dirty="0"/>
              <a:t>바이트 생략이 되었기 때문입니다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크기가 가장 큰 것은 </a:t>
            </a:r>
            <a:r>
              <a:rPr lang="en-US" altLang="ko-KR" dirty="0"/>
              <a:t>Chameleon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Delta </a:t>
            </a:r>
            <a:r>
              <a:rPr lang="ko-KR" altLang="en-US" dirty="0"/>
              <a:t>인증서를 내장하는 구조 오버헤드가 원인입니다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이 </a:t>
            </a:r>
            <a:r>
              <a:rPr lang="en-US" altLang="ko-KR" dirty="0"/>
              <a:t>4.4%</a:t>
            </a:r>
            <a:r>
              <a:rPr lang="ko-KR" altLang="en-US" dirty="0"/>
              <a:t>라는 차이는 실질적인 의미를 갖기는 어렵습니다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결과적으로 크기는 방식 선택의 결정 변수가 아니라는 것이 핵심입니다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002C913-610E-4BF0-B55F-9CE65BBA65D1}" type="slidenum">
              <a:rPr lang="ko-KR" altLang="en-US" smtClean="0"/>
              <a:pPr lvl="0"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0154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다음으로는 검증 시간 비교 결과를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체인 길이 </a:t>
            </a:r>
            <a:r>
              <a:rPr lang="en-US" altLang="ko-KR" dirty="0"/>
              <a:t>2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기준으로 </a:t>
            </a:r>
            <a:r>
              <a:rPr lang="en-US" altLang="ko-KR" dirty="0"/>
              <a:t>3</a:t>
            </a:r>
            <a:r>
              <a:rPr lang="ko-KR" altLang="en-US" dirty="0"/>
              <a:t>회 검증한 결과입니다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 </a:t>
            </a:r>
            <a:r>
              <a:rPr lang="en-US" altLang="ko-KR" dirty="0"/>
              <a:t>3</a:t>
            </a:r>
            <a:r>
              <a:rPr lang="ko-KR" altLang="en-US" dirty="0"/>
              <a:t>회는 </a:t>
            </a:r>
            <a:r>
              <a:rPr lang="en-US" altLang="ko-KR" dirty="0"/>
              <a:t>CA </a:t>
            </a:r>
            <a:r>
              <a:rPr lang="ko-KR" altLang="en-US" dirty="0"/>
              <a:t>서명 검증 </a:t>
            </a:r>
            <a:r>
              <a:rPr lang="en-US" altLang="ko-KR" dirty="0"/>
              <a:t>2</a:t>
            </a:r>
            <a:r>
              <a:rPr lang="ko-KR" altLang="en-US" dirty="0"/>
              <a:t>회와 </a:t>
            </a:r>
            <a:r>
              <a:rPr lang="en-US" altLang="ko-KR" dirty="0" err="1"/>
              <a:t>CertificateVerify</a:t>
            </a:r>
            <a:r>
              <a:rPr lang="en-US" altLang="ko-KR" dirty="0"/>
              <a:t> </a:t>
            </a:r>
            <a:r>
              <a:rPr lang="ko-KR" altLang="en-US" dirty="0"/>
              <a:t>검증 </a:t>
            </a:r>
            <a:r>
              <a:rPr lang="en-US" altLang="ko-KR" dirty="0"/>
              <a:t>1</a:t>
            </a:r>
            <a:r>
              <a:rPr lang="ko-KR" altLang="en-US" dirty="0"/>
              <a:t>회로 </a:t>
            </a:r>
            <a:r>
              <a:rPr lang="ko-KR" altLang="en-US" dirty="0" err="1"/>
              <a:t>이루어져있습니다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모든 방식에서 </a:t>
            </a:r>
            <a:r>
              <a:rPr lang="en-US" altLang="ko-KR" dirty="0" err="1"/>
              <a:t>CertificateVerify</a:t>
            </a:r>
            <a:r>
              <a:rPr lang="ko-KR" altLang="en-US" dirty="0"/>
              <a:t>도 </a:t>
            </a:r>
            <a:r>
              <a:rPr lang="ko-KR" altLang="en-US" dirty="0" err="1"/>
              <a:t>레거시와</a:t>
            </a:r>
            <a:r>
              <a:rPr lang="ko-KR" altLang="en-US" dirty="0"/>
              <a:t> </a:t>
            </a:r>
            <a:r>
              <a:rPr lang="en-US" altLang="ko-KR" dirty="0"/>
              <a:t>PQC </a:t>
            </a:r>
            <a:r>
              <a:rPr lang="ko-KR" altLang="en-US" dirty="0"/>
              <a:t>서명 </a:t>
            </a:r>
            <a:r>
              <a:rPr lang="ko-KR" altLang="en-US" dirty="0" err="1"/>
              <a:t>둘다</a:t>
            </a:r>
            <a:r>
              <a:rPr lang="ko-KR" altLang="en-US" dirty="0"/>
              <a:t> 포함한다고 가정했습니다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1</a:t>
            </a:r>
            <a:r>
              <a:rPr lang="ko-KR" altLang="en-US" dirty="0"/>
              <a:t>회 검증 시간을 보시면</a:t>
            </a:r>
            <a:r>
              <a:rPr lang="en-US" altLang="ko-KR" dirty="0"/>
              <a:t>, Catalyst, Chameleon, Naive Combiner</a:t>
            </a:r>
            <a:r>
              <a:rPr lang="ko-KR" altLang="en-US" dirty="0"/>
              <a:t>는 </a:t>
            </a:r>
            <a:r>
              <a:rPr lang="en-US" altLang="ko-KR" dirty="0"/>
              <a:t>ECDSA P-256</a:t>
            </a:r>
            <a:r>
              <a:rPr lang="ko-KR" altLang="en-US" dirty="0"/>
              <a:t>과 </a:t>
            </a:r>
            <a:r>
              <a:rPr lang="en-US" altLang="ko-KR" dirty="0"/>
              <a:t>ML-DSA-65</a:t>
            </a:r>
            <a:r>
              <a:rPr lang="ko-KR" altLang="en-US" dirty="0"/>
              <a:t>를 합해 </a:t>
            </a:r>
            <a:r>
              <a:rPr lang="en-US" altLang="ko-KR" dirty="0"/>
              <a:t>153.8 </a:t>
            </a:r>
            <a:r>
              <a:rPr lang="en-US" altLang="ko-KR" dirty="0" err="1"/>
              <a:t>μs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Compact Combiner</a:t>
            </a:r>
            <a:r>
              <a:rPr lang="ko-KR" altLang="en-US" dirty="0"/>
              <a:t>는 </a:t>
            </a:r>
            <a:r>
              <a:rPr lang="en-US" altLang="ko-KR" dirty="0"/>
              <a:t>Ed25519</a:t>
            </a:r>
            <a:r>
              <a:rPr lang="ko-KR" altLang="en-US" dirty="0"/>
              <a:t>를 사용해 </a:t>
            </a:r>
            <a:r>
              <a:rPr lang="en-US" altLang="ko-KR" dirty="0"/>
              <a:t>168.8 </a:t>
            </a:r>
            <a:r>
              <a:rPr lang="en-US" altLang="ko-KR" dirty="0" err="1"/>
              <a:t>μs</a:t>
            </a:r>
            <a:r>
              <a:rPr lang="ko-KR" altLang="en-US" dirty="0"/>
              <a:t>로 약간 더 깁니다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Composite</a:t>
            </a:r>
            <a:r>
              <a:rPr lang="ko-KR" altLang="en-US" dirty="0"/>
              <a:t>는 </a:t>
            </a:r>
            <a:r>
              <a:rPr lang="en-US" altLang="ko-KR" dirty="0"/>
              <a:t>1,207.2 </a:t>
            </a:r>
            <a:r>
              <a:rPr lang="en-US" altLang="ko-KR" dirty="0" err="1"/>
              <a:t>μs</a:t>
            </a:r>
            <a:r>
              <a:rPr lang="ko-KR" altLang="en-US" dirty="0"/>
              <a:t>라는 값이 나왔고</a:t>
            </a:r>
            <a:r>
              <a:rPr lang="en-US" altLang="ko-KR" dirty="0"/>
              <a:t>, </a:t>
            </a:r>
            <a:r>
              <a:rPr lang="ko-KR" altLang="en-US" dirty="0"/>
              <a:t>이것은 다른 방식보다 두 배 이상 느립니다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하지만 이것은 </a:t>
            </a:r>
            <a:r>
              <a:rPr lang="en-US" altLang="ko-KR" dirty="0"/>
              <a:t>Composite </a:t>
            </a:r>
            <a:r>
              <a:rPr lang="ko-KR" altLang="en-US" dirty="0"/>
              <a:t>자체의 문제가 아니라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ECDSA P-384</a:t>
            </a:r>
            <a:r>
              <a:rPr lang="ko-KR" altLang="en-US" dirty="0"/>
              <a:t>가 </a:t>
            </a:r>
            <a:r>
              <a:rPr lang="en-US" altLang="ko-KR" dirty="0"/>
              <a:t>P-256 </a:t>
            </a:r>
            <a:r>
              <a:rPr lang="ko-KR" altLang="en-US" dirty="0"/>
              <a:t>대비 검증 속도가 약 </a:t>
            </a:r>
            <a:r>
              <a:rPr lang="en-US" altLang="ko-KR" dirty="0"/>
              <a:t>10</a:t>
            </a:r>
            <a:r>
              <a:rPr lang="ko-KR" altLang="en-US" dirty="0"/>
              <a:t>배 느린 것이 원인입니다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만약 </a:t>
            </a:r>
            <a:r>
              <a:rPr lang="en-US" altLang="ko-KR" dirty="0" err="1"/>
              <a:t>oqsprovider</a:t>
            </a:r>
            <a:r>
              <a:rPr lang="ko-KR" altLang="en-US" dirty="0"/>
              <a:t>에 </a:t>
            </a:r>
            <a:r>
              <a:rPr lang="en-US" altLang="ko-KR" dirty="0"/>
              <a:t>P-256 </a:t>
            </a:r>
            <a:r>
              <a:rPr lang="ko-KR" altLang="en-US" dirty="0"/>
              <a:t>기반 </a:t>
            </a:r>
            <a:r>
              <a:rPr lang="en-US" altLang="ko-KR" dirty="0"/>
              <a:t>Composite</a:t>
            </a:r>
            <a:r>
              <a:rPr lang="ko-KR" altLang="en-US" dirty="0"/>
              <a:t>가 구현된다면 </a:t>
            </a:r>
            <a:r>
              <a:rPr lang="en-US" altLang="ko-KR" dirty="0"/>
              <a:t>461.4 </a:t>
            </a:r>
            <a:r>
              <a:rPr lang="en-US" altLang="ko-KR" dirty="0" err="1"/>
              <a:t>μs</a:t>
            </a:r>
            <a:r>
              <a:rPr lang="en-US" altLang="ko-KR" dirty="0"/>
              <a:t> </a:t>
            </a:r>
            <a:r>
              <a:rPr lang="ko-KR" altLang="en-US" dirty="0"/>
              <a:t>수준으로 다른 방식과 </a:t>
            </a:r>
            <a:r>
              <a:rPr lang="ko-KR" altLang="en-US" dirty="0" err="1"/>
              <a:t>비슷해집니다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002C913-610E-4BF0-B55F-9CE65BBA65D1}" type="slidenum">
              <a:rPr lang="ko-KR" altLang="en-US" smtClean="0"/>
              <a:pPr lvl="0"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914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다음으로는 </a:t>
            </a:r>
            <a:r>
              <a:rPr lang="en-US" altLang="ko-KR" dirty="0"/>
              <a:t>4</a:t>
            </a:r>
            <a:r>
              <a:rPr lang="ko-KR" altLang="en-US" dirty="0"/>
              <a:t>축 모델을 적용한 환경별 적합성 분석 결과를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위의 표를 보시면 환경별 </a:t>
            </a:r>
            <a:r>
              <a:rPr lang="en-US" altLang="ko-KR" dirty="0" err="1"/>
              <a:t>C_total</a:t>
            </a:r>
            <a:r>
              <a:rPr lang="en-US" altLang="ko-KR" dirty="0"/>
              <a:t> </a:t>
            </a:r>
            <a:r>
              <a:rPr lang="ko-KR" altLang="en-US" dirty="0"/>
              <a:t>순위를 확인하실 수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값이 낮을수록 유리합니다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서버팜과</a:t>
            </a:r>
            <a:r>
              <a:rPr lang="ko-KR" altLang="en-US" dirty="0"/>
              <a:t> 모바일에서는 </a:t>
            </a:r>
            <a:r>
              <a:rPr lang="en-US" altLang="ko-KR" dirty="0"/>
              <a:t>Catalyst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위입니다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두 환경 모두 호환성 가중치가 높기 때문에</a:t>
            </a:r>
            <a:r>
              <a:rPr lang="en-US" altLang="ko-KR" dirty="0"/>
              <a:t>, </a:t>
            </a:r>
            <a:r>
              <a:rPr lang="ko-KR" altLang="en-US" dirty="0"/>
              <a:t>레거시 </a:t>
            </a:r>
            <a:r>
              <a:rPr lang="en-US" altLang="ko-KR" dirty="0"/>
              <a:t>fallback</a:t>
            </a:r>
            <a:r>
              <a:rPr lang="ko-KR" altLang="en-US" dirty="0"/>
              <a:t>을 지원하는 </a:t>
            </a:r>
            <a:r>
              <a:rPr lang="en-US" altLang="ko-KR" dirty="0"/>
              <a:t>Catalyst</a:t>
            </a:r>
            <a:r>
              <a:rPr lang="ko-KR" altLang="en-US" dirty="0"/>
              <a:t>가 높은 순위에 위치했습니다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Chameleon</a:t>
            </a:r>
            <a:r>
              <a:rPr lang="ko-KR" altLang="en-US" dirty="0"/>
              <a:t>은 비슷한 호환성을 보이면서</a:t>
            </a:r>
            <a:r>
              <a:rPr lang="en-US" altLang="ko-KR" dirty="0"/>
              <a:t>,</a:t>
            </a:r>
            <a:r>
              <a:rPr lang="ko-KR" altLang="en-US" dirty="0"/>
              <a:t> 전환이 완료된 후에 </a:t>
            </a:r>
            <a:r>
              <a:rPr lang="en-US" altLang="ko-KR" dirty="0"/>
              <a:t>Delta </a:t>
            </a:r>
            <a:r>
              <a:rPr lang="ko-KR" altLang="en-US" dirty="0"/>
              <a:t>분리가 가능하다는 점에서 </a:t>
            </a:r>
            <a:r>
              <a:rPr lang="en-US" altLang="ko-KR" dirty="0"/>
              <a:t>2</a:t>
            </a:r>
            <a:r>
              <a:rPr lang="ko-KR" altLang="en-US" dirty="0"/>
              <a:t>위를 차지했습니다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IoT</a:t>
            </a:r>
            <a:r>
              <a:rPr lang="ko-KR" altLang="en-US" dirty="0"/>
              <a:t>에서는 </a:t>
            </a:r>
            <a:r>
              <a:rPr lang="en-US" altLang="ko-KR" dirty="0"/>
              <a:t>Naive Combiner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위입니다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IoT</a:t>
            </a:r>
            <a:r>
              <a:rPr lang="ko-KR" altLang="en-US" dirty="0"/>
              <a:t>는 호환성 가중치가 </a:t>
            </a:r>
            <a:r>
              <a:rPr lang="en-US" altLang="ko-KR" dirty="0"/>
              <a:t>0.1</a:t>
            </a:r>
            <a:r>
              <a:rPr lang="ko-KR" altLang="en-US" dirty="0"/>
              <a:t>로 낮아지면서 호환성 우위가 줄어들기 때문입니다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하지만 </a:t>
            </a:r>
            <a:r>
              <a:rPr lang="en-US" altLang="ko-KR" dirty="0"/>
              <a:t>1</a:t>
            </a:r>
            <a:r>
              <a:rPr lang="ko-KR" altLang="en-US" dirty="0"/>
              <a:t>위부터 </a:t>
            </a:r>
            <a:r>
              <a:rPr lang="en-US" altLang="ko-KR" dirty="0"/>
              <a:t>4</a:t>
            </a:r>
            <a:r>
              <a:rPr lang="ko-KR" altLang="en-US" dirty="0"/>
              <a:t>위까지 차이가 </a:t>
            </a:r>
            <a:r>
              <a:rPr lang="en-US" altLang="ko-KR" dirty="0"/>
              <a:t>0.018 </a:t>
            </a:r>
            <a:r>
              <a:rPr lang="ko-KR" altLang="en-US" dirty="0"/>
              <a:t>이내로 매우 가깝기 때문에</a:t>
            </a:r>
            <a:r>
              <a:rPr lang="en-US" altLang="ko-KR" dirty="0"/>
              <a:t>, </a:t>
            </a:r>
            <a:r>
              <a:rPr lang="ko-KR" altLang="en-US" dirty="0"/>
              <a:t>디바이스의 구체적인 제약에 따라 어느 방식을 선택해도 큰 차이가 없습니다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</a:t>
            </a:r>
            <a:r>
              <a:rPr lang="en-US" altLang="ko-KR" dirty="0"/>
              <a:t>Composite</a:t>
            </a:r>
            <a:r>
              <a:rPr lang="ko-KR" altLang="en-US" dirty="0"/>
              <a:t>는</a:t>
            </a:r>
            <a:r>
              <a:rPr lang="en-US" altLang="ko-KR" dirty="0"/>
              <a:t> </a:t>
            </a:r>
            <a:r>
              <a:rPr lang="ko-KR" altLang="en-US" dirty="0"/>
              <a:t>모든 환경에서 </a:t>
            </a:r>
            <a:r>
              <a:rPr lang="en-US" altLang="ko-KR" dirty="0"/>
              <a:t>5</a:t>
            </a:r>
            <a:r>
              <a:rPr lang="ko-KR" altLang="en-US" dirty="0"/>
              <a:t>위입니다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이것은 앞서 확인하신 </a:t>
            </a:r>
            <a:r>
              <a:rPr lang="en-US" altLang="ko-KR" dirty="0"/>
              <a:t>P-384 </a:t>
            </a:r>
            <a:r>
              <a:rPr lang="ko-KR" altLang="en-US" dirty="0"/>
              <a:t>검증 시간이 너무 길었기에 나온 결과입니다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만약 </a:t>
            </a:r>
            <a:r>
              <a:rPr lang="en-US" altLang="ko-KR" dirty="0" err="1"/>
              <a:t>oqsprovider</a:t>
            </a:r>
            <a:r>
              <a:rPr lang="ko-KR" altLang="en-US" dirty="0"/>
              <a:t>에 </a:t>
            </a:r>
            <a:r>
              <a:rPr lang="en-US" altLang="ko-KR" dirty="0"/>
              <a:t>P-256 </a:t>
            </a:r>
            <a:r>
              <a:rPr lang="ko-KR" altLang="en-US" dirty="0"/>
              <a:t>기반 </a:t>
            </a:r>
            <a:r>
              <a:rPr lang="en-US" altLang="ko-KR" dirty="0"/>
              <a:t>Composite</a:t>
            </a:r>
            <a:r>
              <a:rPr lang="ko-KR" altLang="en-US" dirty="0"/>
              <a:t>가 구현되어 측정이 </a:t>
            </a:r>
            <a:r>
              <a:rPr lang="ko-KR" altLang="en-US" dirty="0" err="1"/>
              <a:t>가능해진다면</a:t>
            </a:r>
            <a:r>
              <a:rPr lang="en-US" altLang="ko-KR" dirty="0"/>
              <a:t>, </a:t>
            </a:r>
            <a:r>
              <a:rPr lang="ko-KR" altLang="en-US" dirty="0" err="1"/>
              <a:t>서버팜에서</a:t>
            </a:r>
            <a:r>
              <a:rPr lang="ko-KR" altLang="en-US" dirty="0"/>
              <a:t> </a:t>
            </a:r>
            <a:r>
              <a:rPr lang="en-US" altLang="ko-KR" dirty="0" err="1"/>
              <a:t>C_total</a:t>
            </a:r>
            <a:r>
              <a:rPr lang="ko-KR" altLang="en-US" dirty="0"/>
              <a:t>은 약 </a:t>
            </a:r>
            <a:r>
              <a:rPr lang="en-US" altLang="ko-KR" dirty="0"/>
              <a:t>0.50</a:t>
            </a:r>
            <a:r>
              <a:rPr lang="ko-KR" altLang="en-US" dirty="0"/>
              <a:t>으로 </a:t>
            </a:r>
            <a:r>
              <a:rPr lang="en-US" altLang="ko-KR" dirty="0"/>
              <a:t>2~3</a:t>
            </a:r>
            <a:r>
              <a:rPr lang="ko-KR" altLang="en-US" dirty="0"/>
              <a:t>위권으로 상승합니다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사실 </a:t>
            </a:r>
            <a:r>
              <a:rPr lang="en-US" altLang="ko-KR" dirty="0"/>
              <a:t>Composite</a:t>
            </a:r>
            <a:r>
              <a:rPr lang="ko-KR" altLang="en-US" dirty="0"/>
              <a:t>는 두 알고리즘을 모두 검증하는 </a:t>
            </a:r>
            <a:r>
              <a:rPr lang="en-US" altLang="ko-KR" dirty="0"/>
              <a:t>AND </a:t>
            </a:r>
            <a:r>
              <a:rPr lang="ko-KR" altLang="en-US" dirty="0"/>
              <a:t>모델이라 보안 측면에서는 보수적인 측에 속한다고 볼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높은 보안이 요구되는 환경에서 충분히 경쟁력을 가질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마지막으로 민감도를 분석한 결과</a:t>
            </a:r>
            <a:r>
              <a:rPr lang="en-US" altLang="ko-KR" dirty="0"/>
              <a:t>, </a:t>
            </a:r>
            <a:r>
              <a:rPr lang="ko-KR" altLang="en-US" dirty="0"/>
              <a:t>가중치를 </a:t>
            </a:r>
            <a:r>
              <a:rPr lang="en-US" altLang="ko-KR" dirty="0"/>
              <a:t>0.1 </a:t>
            </a:r>
            <a:r>
              <a:rPr lang="ko-KR" altLang="en-US" dirty="0"/>
              <a:t>범위에서 변동시켜도 세 환경 모두 </a:t>
            </a:r>
            <a:r>
              <a:rPr lang="en-US" altLang="ko-KR" dirty="0"/>
              <a:t>1</a:t>
            </a:r>
            <a:r>
              <a:rPr lang="ko-KR" altLang="en-US" dirty="0"/>
              <a:t>위는 유지되었습니다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002C913-610E-4BF0-B55F-9CE65BBA65D1}" type="slidenum">
              <a:rPr lang="ko-KR" altLang="en-US" smtClean="0"/>
              <a:pPr lvl="0"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8726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 결론과 향후 연구를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 연구는 </a:t>
            </a:r>
            <a:r>
              <a:rPr lang="en-US" altLang="ko-KR" dirty="0"/>
              <a:t>X.509 PQC </a:t>
            </a:r>
            <a:r>
              <a:rPr lang="ko-KR" altLang="en-US" dirty="0"/>
              <a:t>전환 비용을 평가하기 위한 </a:t>
            </a:r>
            <a:r>
              <a:rPr lang="en-US" altLang="ko-KR" dirty="0"/>
              <a:t>4</a:t>
            </a:r>
            <a:r>
              <a:rPr lang="ko-KR" altLang="en-US" dirty="0"/>
              <a:t>축 통합 모델을 제안하고</a:t>
            </a:r>
            <a:r>
              <a:rPr lang="en-US" altLang="ko-KR" dirty="0"/>
              <a:t>, </a:t>
            </a:r>
            <a:r>
              <a:rPr lang="ko-KR" altLang="en-US" dirty="0"/>
              <a:t>하이브리드 인증서 </a:t>
            </a:r>
            <a:r>
              <a:rPr lang="en-US" altLang="ko-KR" dirty="0"/>
              <a:t>3</a:t>
            </a:r>
            <a:r>
              <a:rPr lang="ko-KR" altLang="en-US" dirty="0"/>
              <a:t>종과 서명 결합기 </a:t>
            </a:r>
            <a:r>
              <a:rPr lang="en-US" altLang="ko-KR" dirty="0"/>
              <a:t>2</a:t>
            </a:r>
            <a:r>
              <a:rPr lang="ko-KR" altLang="en-US" dirty="0"/>
              <a:t>종</a:t>
            </a:r>
            <a:r>
              <a:rPr lang="en-US" altLang="ko-KR" dirty="0"/>
              <a:t>, </a:t>
            </a:r>
            <a:r>
              <a:rPr lang="ko-KR" altLang="en-US" dirty="0"/>
              <a:t>총 </a:t>
            </a:r>
            <a:r>
              <a:rPr lang="en-US" altLang="ko-KR" dirty="0"/>
              <a:t>5</a:t>
            </a:r>
            <a:r>
              <a:rPr lang="ko-KR" altLang="en-US" dirty="0"/>
              <a:t>가지 전환 방식을 같은 기준으로 통합 비교했습니다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주요 결과는 네 가지입니다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첫째는 </a:t>
            </a:r>
            <a:r>
              <a:rPr lang="en-US" altLang="ko-KR" dirty="0"/>
              <a:t>5</a:t>
            </a:r>
            <a:r>
              <a:rPr lang="ko-KR" altLang="en-US" dirty="0"/>
              <a:t>가지 방식의 인증서 크기 차이가 </a:t>
            </a:r>
            <a:r>
              <a:rPr lang="en-US" altLang="ko-KR" dirty="0"/>
              <a:t>4.4% </a:t>
            </a:r>
            <a:r>
              <a:rPr lang="ko-KR" altLang="en-US" dirty="0"/>
              <a:t>이내라는 것을 확인한 것이고</a:t>
            </a:r>
            <a:r>
              <a:rPr lang="en-US" altLang="ko-KR" dirty="0"/>
              <a:t>, </a:t>
            </a:r>
            <a:r>
              <a:rPr lang="ko-KR" altLang="en-US" dirty="0"/>
              <a:t>크기는 방식을 선택할 때 큰 변수가 되지 않는다는 것을 확인했습니다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두번째는 환경별로 최적 방식이 다르다는 점을 확인한 것입니다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세번째는 호환성과 보안 모델이 방식을 선택할 때 가장 중요하게 </a:t>
            </a:r>
            <a:r>
              <a:rPr lang="ko-KR" altLang="en-US" dirty="0" err="1"/>
              <a:t>봐야할</a:t>
            </a:r>
            <a:r>
              <a:rPr lang="ko-KR" altLang="en-US" dirty="0"/>
              <a:t> 부분이라는 것을 확인한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마지막으로 </a:t>
            </a:r>
            <a:r>
              <a:rPr lang="en-US" altLang="ko-KR" dirty="0"/>
              <a:t>Composite</a:t>
            </a:r>
            <a:r>
              <a:rPr lang="ko-KR" altLang="en-US" dirty="0"/>
              <a:t>는 현재 </a:t>
            </a:r>
            <a:r>
              <a:rPr lang="en-US" altLang="ko-KR" dirty="0"/>
              <a:t>ECDSA P-384</a:t>
            </a:r>
            <a:r>
              <a:rPr lang="ko-KR" altLang="en-US" dirty="0"/>
              <a:t>를 사용하기 때문에 모든 환경에서 </a:t>
            </a:r>
            <a:r>
              <a:rPr lang="en-US" altLang="ko-KR" dirty="0"/>
              <a:t>5</a:t>
            </a:r>
            <a:r>
              <a:rPr lang="ko-KR" altLang="en-US" dirty="0"/>
              <a:t>위이지만</a:t>
            </a:r>
            <a:r>
              <a:rPr lang="en-US" altLang="ko-KR" dirty="0"/>
              <a:t>, P-256 </a:t>
            </a:r>
            <a:r>
              <a:rPr lang="ko-KR" altLang="en-US" dirty="0"/>
              <a:t>기반 측정이 가능해지면 </a:t>
            </a:r>
            <a:r>
              <a:rPr lang="ko-KR" altLang="en-US" dirty="0" err="1"/>
              <a:t>서버팜에서</a:t>
            </a:r>
            <a:r>
              <a:rPr lang="ko-KR" altLang="en-US" dirty="0"/>
              <a:t> </a:t>
            </a:r>
            <a:r>
              <a:rPr lang="en-US" altLang="ko-KR" dirty="0"/>
              <a:t>2~3</a:t>
            </a:r>
            <a:r>
              <a:rPr lang="ko-KR" altLang="en-US" dirty="0"/>
              <a:t>위권으로 상승할 여지가 있다는 점입니다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향후 연구로는</a:t>
            </a:r>
            <a:r>
              <a:rPr lang="en-US" altLang="ko-KR" dirty="0"/>
              <a:t>, </a:t>
            </a:r>
            <a:r>
              <a:rPr lang="ko-KR" altLang="en-US" dirty="0"/>
              <a:t>본 연구에서 추정으로 다룬 </a:t>
            </a:r>
            <a:r>
              <a:rPr lang="en-US" altLang="ko-KR" dirty="0"/>
              <a:t>Chameleon</a:t>
            </a:r>
            <a:r>
              <a:rPr lang="ko-KR" altLang="en-US" dirty="0"/>
              <a:t>과 서명 결합기 </a:t>
            </a:r>
            <a:r>
              <a:rPr lang="en-US" altLang="ko-KR" dirty="0"/>
              <a:t>2</a:t>
            </a:r>
            <a:r>
              <a:rPr lang="ko-KR" altLang="en-US" dirty="0"/>
              <a:t>종의 실측 검증</a:t>
            </a:r>
            <a:r>
              <a:rPr lang="en-US" altLang="ko-KR" dirty="0"/>
              <a:t>, ECDSA P-256 </a:t>
            </a:r>
            <a:r>
              <a:rPr lang="ko-KR" altLang="en-US" dirty="0"/>
              <a:t>기반 </a:t>
            </a:r>
            <a:r>
              <a:rPr lang="en-US" altLang="ko-KR" dirty="0"/>
              <a:t>Composite </a:t>
            </a:r>
            <a:r>
              <a:rPr lang="ko-KR" altLang="en-US" dirty="0"/>
              <a:t>측정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  <a:r>
              <a:rPr lang="en-US" altLang="ko-KR" dirty="0" err="1"/>
              <a:t>KpqC</a:t>
            </a:r>
            <a:r>
              <a:rPr lang="en-US" altLang="ko-KR" dirty="0"/>
              <a:t> </a:t>
            </a:r>
            <a:r>
              <a:rPr lang="ko-KR" altLang="en-US" dirty="0"/>
              <a:t>알고리즘인 </a:t>
            </a:r>
            <a:r>
              <a:rPr lang="en-US" altLang="ko-KR" dirty="0"/>
              <a:t>HAETAE, </a:t>
            </a:r>
            <a:r>
              <a:rPr lang="en-US" altLang="ko-KR" dirty="0" err="1"/>
              <a:t>AIMer</a:t>
            </a:r>
            <a:r>
              <a:rPr lang="en-US" altLang="ko-KR" dirty="0"/>
              <a:t> </a:t>
            </a:r>
            <a:r>
              <a:rPr lang="ko-KR" altLang="en-US" dirty="0"/>
              <a:t>등으로의 확장을 계획하고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이상으로 발표를 마치겠습니다</a:t>
            </a:r>
            <a:r>
              <a:rPr lang="en-US" altLang="ko-KR" dirty="0"/>
              <a:t>. </a:t>
            </a:r>
            <a:r>
              <a:rPr lang="ko-KR" altLang="en-US" dirty="0"/>
              <a:t>감사합니다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002C913-610E-4BF0-B55F-9CE65BBA65D1}" type="slidenum">
              <a:rPr lang="ko-KR" altLang="en-US" smtClean="0"/>
              <a:pPr lvl="0"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3800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이상으로 발표를 마치겠습니다</a:t>
            </a:r>
            <a:r>
              <a:rPr lang="en-US" altLang="ko-KR" dirty="0"/>
              <a:t>. </a:t>
            </a:r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예상 질문 및 답변</a:t>
            </a:r>
            <a:endParaRPr lang="en-US" altLang="ko-KR" dirty="0"/>
          </a:p>
          <a:p>
            <a:r>
              <a:rPr lang="en-US" altLang="ko-KR" b="1" dirty="0"/>
              <a:t>Q1. </a:t>
            </a:r>
            <a:r>
              <a:rPr lang="ko-KR" altLang="en-US" b="1" dirty="0"/>
              <a:t>가중치는 어떻게 결정했나요</a:t>
            </a:r>
            <a:r>
              <a:rPr lang="en-US" altLang="ko-KR" b="1" dirty="0"/>
              <a:t>?</a:t>
            </a:r>
          </a:p>
          <a:p>
            <a:r>
              <a:rPr lang="en-US" altLang="ko-KR" dirty="0"/>
              <a:t>"</a:t>
            </a:r>
            <a:r>
              <a:rPr lang="ko-KR" altLang="en-US" dirty="0"/>
              <a:t>환경별 운용 특성에서 어떤 축이 가장 중요한지를 정성적으로 판단해서 합이 </a:t>
            </a:r>
            <a:r>
              <a:rPr lang="en-US" altLang="ko-KR" dirty="0"/>
              <a:t>1</a:t>
            </a:r>
            <a:r>
              <a:rPr lang="ko-KR" altLang="en-US" dirty="0"/>
              <a:t>이 되도록 설정했습니다</a:t>
            </a:r>
            <a:r>
              <a:rPr lang="en-US" altLang="ko-KR" dirty="0"/>
              <a:t>. </a:t>
            </a:r>
            <a:r>
              <a:rPr lang="ko-KR" altLang="en-US" dirty="0" err="1"/>
              <a:t>서버팜은</a:t>
            </a:r>
            <a:r>
              <a:rPr lang="ko-KR" altLang="en-US" dirty="0"/>
              <a:t> 다양한 클라이언트 수용 때문에 호환성을 </a:t>
            </a:r>
            <a:r>
              <a:rPr lang="en-US" altLang="ko-KR" dirty="0"/>
              <a:t>0.5</a:t>
            </a:r>
            <a:r>
              <a:rPr lang="ko-KR" altLang="en-US" dirty="0"/>
              <a:t>로 가장 높게</a:t>
            </a:r>
            <a:r>
              <a:rPr lang="en-US" altLang="ko-KR" dirty="0"/>
              <a:t>, </a:t>
            </a:r>
            <a:r>
              <a:rPr lang="ko-KR" altLang="en-US" dirty="0"/>
              <a:t>모바일은 사용자 체감 지연이 핵심이라 </a:t>
            </a:r>
            <a:r>
              <a:rPr lang="ko-KR" altLang="en-US" dirty="0" err="1"/>
              <a:t>핸드셰이크</a:t>
            </a:r>
            <a:r>
              <a:rPr lang="ko-KR" altLang="en-US" dirty="0"/>
              <a:t> 비중을 </a:t>
            </a:r>
            <a:r>
              <a:rPr lang="en-US" altLang="ko-KR" dirty="0"/>
              <a:t>0.3</a:t>
            </a:r>
            <a:r>
              <a:rPr lang="ko-KR" altLang="en-US" dirty="0"/>
              <a:t>으로</a:t>
            </a:r>
            <a:r>
              <a:rPr lang="en-US" altLang="ko-KR" dirty="0"/>
              <a:t>, IoT</a:t>
            </a:r>
            <a:r>
              <a:rPr lang="ko-KR" altLang="en-US" dirty="0"/>
              <a:t>는 디바이스 자원 제약이 결정적이고 펌웨어를 직접 관리할 수 있어 크기와 검증 시간을 각각 </a:t>
            </a:r>
            <a:r>
              <a:rPr lang="en-US" altLang="ko-KR" dirty="0"/>
              <a:t>0.35</a:t>
            </a:r>
            <a:r>
              <a:rPr lang="ko-KR" altLang="en-US" dirty="0"/>
              <a:t>로</a:t>
            </a:r>
            <a:r>
              <a:rPr lang="en-US" altLang="ko-KR" dirty="0"/>
              <a:t>, </a:t>
            </a:r>
            <a:r>
              <a:rPr lang="ko-KR" altLang="en-US" dirty="0"/>
              <a:t>호환성은 </a:t>
            </a:r>
            <a:r>
              <a:rPr lang="en-US" altLang="ko-KR" dirty="0"/>
              <a:t>0.1</a:t>
            </a:r>
            <a:r>
              <a:rPr lang="ko-KR" altLang="en-US" dirty="0"/>
              <a:t>로 낮췄습니다</a:t>
            </a:r>
            <a:r>
              <a:rPr lang="en-US" altLang="ko-KR" dirty="0"/>
              <a:t>. </a:t>
            </a:r>
            <a:r>
              <a:rPr lang="ko-KR" altLang="en-US" dirty="0"/>
              <a:t>가중치가 정성적 판단에 기반하기 때문에</a:t>
            </a:r>
            <a:r>
              <a:rPr lang="en-US" altLang="ko-KR" dirty="0"/>
              <a:t>, </a:t>
            </a:r>
            <a:r>
              <a:rPr lang="ko-KR" altLang="en-US" dirty="0"/>
              <a:t>민감도 분석으로 </a:t>
            </a:r>
            <a:r>
              <a:rPr lang="en-US" altLang="ko-KR" dirty="0"/>
              <a:t>±0.1 </a:t>
            </a:r>
            <a:r>
              <a:rPr lang="ko-KR" altLang="en-US" dirty="0"/>
              <a:t>변동에도 </a:t>
            </a:r>
            <a:r>
              <a:rPr lang="en-US" altLang="ko-KR" dirty="0"/>
              <a:t>1</a:t>
            </a:r>
            <a:r>
              <a:rPr lang="ko-KR" altLang="en-US" dirty="0"/>
              <a:t>위가 유지되는 것을 확인했습니다</a:t>
            </a:r>
            <a:r>
              <a:rPr lang="en-US" altLang="ko-KR" dirty="0"/>
              <a:t>."</a:t>
            </a:r>
          </a:p>
          <a:p>
            <a:r>
              <a:rPr lang="en-US" altLang="ko-KR" b="1" dirty="0"/>
              <a:t>Q2. </a:t>
            </a:r>
            <a:r>
              <a:rPr lang="ko-KR" altLang="en-US" b="1" dirty="0"/>
              <a:t>왜 </a:t>
            </a:r>
            <a:r>
              <a:rPr lang="en-US" altLang="ko-KR" b="1" dirty="0"/>
              <a:t>Chameleon</a:t>
            </a:r>
            <a:r>
              <a:rPr lang="ko-KR" altLang="en-US" b="1" dirty="0"/>
              <a:t>과 </a:t>
            </a:r>
            <a:r>
              <a:rPr lang="en-US" altLang="ko-KR" b="1" dirty="0"/>
              <a:t>combiner</a:t>
            </a:r>
            <a:r>
              <a:rPr lang="ko-KR" altLang="en-US" b="1" dirty="0"/>
              <a:t>를 직접 측정하지 않았나요</a:t>
            </a:r>
            <a:r>
              <a:rPr lang="en-US" altLang="ko-KR" b="1" dirty="0"/>
              <a:t>?</a:t>
            </a:r>
          </a:p>
          <a:p>
            <a:r>
              <a:rPr lang="en-US" altLang="ko-KR" dirty="0"/>
              <a:t>"</a:t>
            </a:r>
            <a:r>
              <a:rPr lang="ko-KR" altLang="en-US" dirty="0"/>
              <a:t>현재 </a:t>
            </a:r>
            <a:r>
              <a:rPr lang="en-US" altLang="ko-KR" dirty="0" err="1"/>
              <a:t>oqsprovider</a:t>
            </a:r>
            <a:r>
              <a:rPr lang="ko-KR" altLang="en-US" dirty="0"/>
              <a:t>에 이 세 방식의 구현이 없어 직접 측정이 불가능했습니다</a:t>
            </a:r>
            <a:r>
              <a:rPr lang="en-US" altLang="ko-KR" dirty="0"/>
              <a:t>. </a:t>
            </a:r>
            <a:r>
              <a:rPr lang="ko-KR" altLang="en-US" dirty="0"/>
              <a:t>본 연구는 </a:t>
            </a:r>
            <a:r>
              <a:rPr lang="en-US" altLang="ko-KR" dirty="0"/>
              <a:t>5</a:t>
            </a:r>
            <a:r>
              <a:rPr lang="ko-KR" altLang="en-US" dirty="0"/>
              <a:t>가지 방식을 같은 기준으로 비교하는 평가 프레임워크 제안에 초점을 맞췄고</a:t>
            </a:r>
            <a:r>
              <a:rPr lang="en-US" altLang="ko-KR" dirty="0"/>
              <a:t>, </a:t>
            </a:r>
            <a:r>
              <a:rPr lang="ko-KR" altLang="en-US" dirty="0"/>
              <a:t>추정 방식의 신뢰성은 </a:t>
            </a:r>
            <a:r>
              <a:rPr lang="en-US" altLang="ko-KR" dirty="0"/>
              <a:t>Composite</a:t>
            </a:r>
            <a:r>
              <a:rPr lang="ko-KR" altLang="en-US" dirty="0"/>
              <a:t>에 동일한 합산 방법을 적용해 오차 </a:t>
            </a:r>
            <a:r>
              <a:rPr lang="en-US" altLang="ko-KR" dirty="0"/>
              <a:t>0.6%</a:t>
            </a:r>
            <a:r>
              <a:rPr lang="ko-KR" altLang="en-US" dirty="0"/>
              <a:t>를 확인했습니다</a:t>
            </a:r>
            <a:r>
              <a:rPr lang="en-US" altLang="ko-KR" dirty="0"/>
              <a:t>. </a:t>
            </a:r>
            <a:r>
              <a:rPr lang="ko-KR" altLang="en-US" dirty="0"/>
              <a:t>향후 연구에서 직접 구현 후 실측 검증을 진행할 계획입니다</a:t>
            </a:r>
            <a:r>
              <a:rPr lang="en-US" altLang="ko-KR" dirty="0"/>
              <a:t>."</a:t>
            </a:r>
          </a:p>
          <a:p>
            <a:r>
              <a:rPr lang="en-US" altLang="ko-KR" b="1" dirty="0"/>
              <a:t>Q3. P-256 </a:t>
            </a:r>
            <a:r>
              <a:rPr lang="ko-KR" altLang="en-US" b="1" dirty="0"/>
              <a:t>기반 </a:t>
            </a:r>
            <a:r>
              <a:rPr lang="en-US" altLang="ko-KR" b="1" dirty="0"/>
              <a:t>Composite </a:t>
            </a:r>
            <a:r>
              <a:rPr lang="ko-KR" altLang="en-US" b="1" dirty="0"/>
              <a:t>시나리오는 어떤 근거로 추정한 건가요</a:t>
            </a:r>
            <a:r>
              <a:rPr lang="en-US" altLang="ko-KR" b="1" dirty="0"/>
              <a:t>?</a:t>
            </a:r>
          </a:p>
          <a:p>
            <a:r>
              <a:rPr lang="en-US" altLang="ko-KR" dirty="0"/>
              <a:t>"Composite</a:t>
            </a:r>
            <a:r>
              <a:rPr lang="ko-KR" altLang="en-US" dirty="0"/>
              <a:t>는 클래식 </a:t>
            </a:r>
            <a:r>
              <a:rPr lang="en-US" altLang="ko-KR" dirty="0"/>
              <a:t>+ PQ </a:t>
            </a:r>
            <a:r>
              <a:rPr lang="ko-KR" altLang="en-US" dirty="0"/>
              <a:t>서명을 </a:t>
            </a:r>
            <a:r>
              <a:rPr lang="en-US" altLang="ko-KR" dirty="0"/>
              <a:t>OID</a:t>
            </a:r>
            <a:r>
              <a:rPr lang="ko-KR" altLang="en-US" dirty="0"/>
              <a:t>로 묶는 구조이므로</a:t>
            </a:r>
            <a:r>
              <a:rPr lang="en-US" altLang="ko-KR" dirty="0"/>
              <a:t>, </a:t>
            </a:r>
            <a:r>
              <a:rPr lang="ko-KR" altLang="en-US" dirty="0"/>
              <a:t>클래식 측 알고리즘을 </a:t>
            </a:r>
            <a:r>
              <a:rPr lang="en-US" altLang="ko-KR" dirty="0"/>
              <a:t>P-384</a:t>
            </a:r>
            <a:r>
              <a:rPr lang="ko-KR" altLang="en-US" dirty="0"/>
              <a:t>에서 </a:t>
            </a:r>
            <a:r>
              <a:rPr lang="en-US" altLang="ko-KR" dirty="0"/>
              <a:t>P-256</a:t>
            </a:r>
            <a:r>
              <a:rPr lang="ko-KR" altLang="en-US" dirty="0"/>
              <a:t>으로 바꾸면 두 서명의 합산 검증 시간이 그대로 변합니다</a:t>
            </a:r>
            <a:r>
              <a:rPr lang="en-US" altLang="ko-KR" dirty="0"/>
              <a:t>. P-256</a:t>
            </a:r>
            <a:r>
              <a:rPr lang="ko-KR" altLang="en-US" dirty="0"/>
              <a:t>과 </a:t>
            </a:r>
            <a:r>
              <a:rPr lang="en-US" altLang="ko-KR" dirty="0"/>
              <a:t>P-384</a:t>
            </a:r>
            <a:r>
              <a:rPr lang="ko-KR" altLang="en-US" dirty="0"/>
              <a:t>의 검증 속도 차이는 본 실험에서 측정된 </a:t>
            </a:r>
            <a:r>
              <a:rPr lang="en-US" altLang="ko-KR" dirty="0"/>
              <a:t>38.1 </a:t>
            </a:r>
            <a:r>
              <a:rPr lang="en-US" altLang="ko-KR" dirty="0" err="1"/>
              <a:t>μs</a:t>
            </a:r>
            <a:r>
              <a:rPr lang="en-US" altLang="ko-KR" dirty="0"/>
              <a:t> vs 385.7 </a:t>
            </a:r>
            <a:r>
              <a:rPr lang="en-US" altLang="ko-KR" dirty="0" err="1"/>
              <a:t>μs</a:t>
            </a:r>
            <a:r>
              <a:rPr lang="ko-KR" altLang="en-US" dirty="0"/>
              <a:t>라서</a:t>
            </a:r>
            <a:r>
              <a:rPr lang="en-US" altLang="ko-KR" dirty="0"/>
              <a:t>, </a:t>
            </a:r>
            <a:r>
              <a:rPr lang="ko-KR" altLang="en-US" dirty="0"/>
              <a:t>이를 반영하면 </a:t>
            </a:r>
            <a:r>
              <a:rPr lang="en-US" altLang="ko-KR" dirty="0"/>
              <a:t>Composite 1</a:t>
            </a:r>
            <a:r>
              <a:rPr lang="ko-KR" altLang="en-US" dirty="0"/>
              <a:t>회 검증이 </a:t>
            </a:r>
            <a:r>
              <a:rPr lang="en-US" altLang="ko-KR" dirty="0"/>
              <a:t>461.4 </a:t>
            </a:r>
            <a:r>
              <a:rPr lang="en-US" altLang="ko-KR" dirty="0" err="1"/>
              <a:t>μs</a:t>
            </a:r>
            <a:r>
              <a:rPr lang="en-US" altLang="ko-KR" dirty="0"/>
              <a:t> </a:t>
            </a:r>
            <a:r>
              <a:rPr lang="ko-KR" altLang="en-US" dirty="0"/>
              <a:t>수준이 됩니다</a:t>
            </a:r>
            <a:r>
              <a:rPr lang="en-US" altLang="ko-KR" dirty="0"/>
              <a:t>. </a:t>
            </a:r>
            <a:r>
              <a:rPr lang="en-US" altLang="ko-KR" dirty="0" err="1"/>
              <a:t>C_total</a:t>
            </a:r>
            <a:r>
              <a:rPr lang="en-US" altLang="ko-KR" dirty="0"/>
              <a:t> </a:t>
            </a:r>
            <a:r>
              <a:rPr lang="ko-KR" altLang="en-US" dirty="0"/>
              <a:t>계산에 이 값을 넣으면 </a:t>
            </a:r>
            <a:r>
              <a:rPr lang="ko-KR" altLang="en-US" dirty="0" err="1"/>
              <a:t>서버팜에서</a:t>
            </a:r>
            <a:r>
              <a:rPr lang="ko-KR" altLang="en-US" dirty="0"/>
              <a:t> 약 </a:t>
            </a:r>
            <a:r>
              <a:rPr lang="en-US" altLang="ko-KR" dirty="0"/>
              <a:t>0.50, </a:t>
            </a:r>
            <a:r>
              <a:rPr lang="ko-KR" altLang="en-US" dirty="0"/>
              <a:t>즉 </a:t>
            </a:r>
            <a:r>
              <a:rPr lang="en-US" altLang="ko-KR" dirty="0"/>
              <a:t>Catalyst</a:t>
            </a:r>
            <a:r>
              <a:rPr lang="ko-KR" altLang="en-US" dirty="0"/>
              <a:t>와 </a:t>
            </a:r>
            <a:r>
              <a:rPr lang="en-US" altLang="ko-KR" dirty="0"/>
              <a:t>Chameleon </a:t>
            </a:r>
            <a:r>
              <a:rPr lang="ko-KR" altLang="en-US" dirty="0"/>
              <a:t>사이가 됩니다</a:t>
            </a:r>
            <a:r>
              <a:rPr lang="en-US" altLang="ko-KR" dirty="0"/>
              <a:t>."</a:t>
            </a:r>
          </a:p>
          <a:p>
            <a:r>
              <a:rPr lang="en-US" altLang="ko-KR" b="1" dirty="0"/>
              <a:t>Q4. </a:t>
            </a:r>
            <a:r>
              <a:rPr lang="en-US" altLang="ko-KR" b="1" dirty="0" err="1"/>
              <a:t>KpqC</a:t>
            </a:r>
            <a:r>
              <a:rPr lang="en-US" altLang="ko-KR" b="1" dirty="0"/>
              <a:t> </a:t>
            </a:r>
            <a:r>
              <a:rPr lang="ko-KR" altLang="en-US" b="1" dirty="0"/>
              <a:t>확장은 어떻게 진행할 계획인가요</a:t>
            </a:r>
            <a:r>
              <a:rPr lang="en-US" altLang="ko-KR" b="1" dirty="0"/>
              <a:t>?</a:t>
            </a:r>
          </a:p>
          <a:p>
            <a:r>
              <a:rPr lang="en-US" altLang="ko-KR" dirty="0"/>
              <a:t>"</a:t>
            </a:r>
            <a:r>
              <a:rPr lang="ko-KR" altLang="en-US" dirty="0"/>
              <a:t>현재 본 연구는 </a:t>
            </a:r>
            <a:r>
              <a:rPr lang="en-US" altLang="ko-KR" dirty="0"/>
              <a:t>NIST </a:t>
            </a:r>
            <a:r>
              <a:rPr lang="ko-KR" altLang="en-US" dirty="0"/>
              <a:t>표준인 </a:t>
            </a:r>
            <a:r>
              <a:rPr lang="en-US" altLang="ko-KR" dirty="0"/>
              <a:t>ML-DSA-65 </a:t>
            </a:r>
            <a:r>
              <a:rPr lang="ko-KR" altLang="en-US" dirty="0"/>
              <a:t>기반으로 </a:t>
            </a:r>
            <a:r>
              <a:rPr lang="en-US" altLang="ko-KR" dirty="0"/>
              <a:t>5</a:t>
            </a:r>
            <a:r>
              <a:rPr lang="ko-KR" altLang="en-US" dirty="0"/>
              <a:t>가지 방식을 비교했습니다</a:t>
            </a:r>
            <a:r>
              <a:rPr lang="en-US" altLang="ko-KR" dirty="0"/>
              <a:t>. </a:t>
            </a:r>
            <a:r>
              <a:rPr lang="en-US" altLang="ko-KR" dirty="0" err="1"/>
              <a:t>KpqC</a:t>
            </a:r>
            <a:r>
              <a:rPr lang="ko-KR" altLang="en-US" dirty="0"/>
              <a:t>의 </a:t>
            </a:r>
            <a:r>
              <a:rPr lang="en-US" altLang="ko-KR" dirty="0"/>
              <a:t>HAETAE</a:t>
            </a:r>
            <a:r>
              <a:rPr lang="ko-KR" altLang="en-US" dirty="0"/>
              <a:t>는 격자 기반</a:t>
            </a:r>
            <a:r>
              <a:rPr lang="en-US" altLang="ko-KR" dirty="0"/>
              <a:t>, </a:t>
            </a:r>
            <a:r>
              <a:rPr lang="en-US" altLang="ko-KR" dirty="0" err="1"/>
              <a:t>AIMer</a:t>
            </a:r>
            <a:r>
              <a:rPr lang="ko-KR" altLang="en-US" dirty="0"/>
              <a:t>는 </a:t>
            </a:r>
            <a:r>
              <a:rPr lang="ko-KR" altLang="en-US" dirty="0" err="1"/>
              <a:t>대칭키</a:t>
            </a:r>
            <a:r>
              <a:rPr lang="ko-KR" altLang="en-US" dirty="0"/>
              <a:t> 기반 서명으로 </a:t>
            </a:r>
            <a:r>
              <a:rPr lang="en-US" altLang="ko-KR" dirty="0"/>
              <a:t>ML-DSA</a:t>
            </a:r>
            <a:r>
              <a:rPr lang="ko-KR" altLang="en-US" dirty="0"/>
              <a:t>와 다른 특성을 가지므로</a:t>
            </a:r>
            <a:r>
              <a:rPr lang="en-US" altLang="ko-KR" dirty="0"/>
              <a:t>, </a:t>
            </a:r>
            <a:r>
              <a:rPr lang="ko-KR" altLang="en-US" dirty="0"/>
              <a:t>이를 동일한 </a:t>
            </a:r>
            <a:r>
              <a:rPr lang="en-US" altLang="ko-KR" dirty="0"/>
              <a:t>4</a:t>
            </a:r>
            <a:r>
              <a:rPr lang="ko-KR" altLang="en-US" dirty="0"/>
              <a:t>축 모델에 넣었을 때 환경별 순위가 어떻게 달라지는지를 분석할 예정입니다</a:t>
            </a:r>
            <a:r>
              <a:rPr lang="en-US" altLang="ko-KR" dirty="0"/>
              <a:t>. </a:t>
            </a:r>
            <a:r>
              <a:rPr lang="ko-KR" altLang="en-US" dirty="0"/>
              <a:t>특히 </a:t>
            </a:r>
            <a:r>
              <a:rPr lang="en-US" altLang="ko-KR" dirty="0"/>
              <a:t>IoT </a:t>
            </a:r>
            <a:r>
              <a:rPr lang="ko-KR" altLang="en-US" dirty="0"/>
              <a:t>환경에서 </a:t>
            </a:r>
            <a:r>
              <a:rPr lang="en-US" altLang="ko-KR" dirty="0" err="1"/>
              <a:t>KpqC</a:t>
            </a:r>
            <a:r>
              <a:rPr lang="en-US" altLang="ko-KR" dirty="0"/>
              <a:t> </a:t>
            </a:r>
            <a:r>
              <a:rPr lang="ko-KR" altLang="en-US" dirty="0"/>
              <a:t>알고리즘의 적합성을 정량적으로 평가하는 게 목표입니다</a:t>
            </a:r>
            <a:r>
              <a:rPr lang="en-US" altLang="ko-KR" dirty="0"/>
              <a:t>."</a:t>
            </a:r>
          </a:p>
          <a:p>
            <a:r>
              <a:rPr lang="en-US" altLang="ko-KR" b="1" dirty="0"/>
              <a:t>Q5. </a:t>
            </a:r>
            <a:r>
              <a:rPr lang="ko-KR" altLang="en-US" b="1" dirty="0"/>
              <a:t>본 연구의 </a:t>
            </a:r>
            <a:r>
              <a:rPr lang="en-US" altLang="ko-KR" b="1" dirty="0"/>
              <a:t>4</a:t>
            </a:r>
            <a:r>
              <a:rPr lang="ko-KR" altLang="en-US" b="1" dirty="0"/>
              <a:t>축 모델은 다른 </a:t>
            </a:r>
            <a:r>
              <a:rPr lang="en-US" altLang="ko-KR" b="1" dirty="0"/>
              <a:t>PQC </a:t>
            </a:r>
            <a:r>
              <a:rPr lang="ko-KR" altLang="en-US" b="1" dirty="0"/>
              <a:t>마이그레이션 시나리오에도 적용 가능한가요</a:t>
            </a:r>
            <a:r>
              <a:rPr lang="en-US" altLang="ko-KR" b="1" dirty="0"/>
              <a:t>?</a:t>
            </a:r>
          </a:p>
          <a:p>
            <a:r>
              <a:rPr lang="en-US" altLang="ko-KR" dirty="0"/>
              <a:t>"</a:t>
            </a:r>
            <a:r>
              <a:rPr lang="ko-KR" altLang="en-US" dirty="0"/>
              <a:t>예</a:t>
            </a:r>
            <a:r>
              <a:rPr lang="en-US" altLang="ko-KR" dirty="0"/>
              <a:t>, </a:t>
            </a:r>
            <a:r>
              <a:rPr lang="ko-KR" altLang="en-US" dirty="0"/>
              <a:t>가능합니다</a:t>
            </a:r>
            <a:r>
              <a:rPr lang="en-US" altLang="ko-KR" dirty="0"/>
              <a:t>. </a:t>
            </a:r>
            <a:r>
              <a:rPr lang="ko-KR" altLang="en-US" dirty="0"/>
              <a:t>모델은 인증서 크기</a:t>
            </a:r>
            <a:r>
              <a:rPr lang="en-US" altLang="ko-KR" dirty="0"/>
              <a:t>, </a:t>
            </a:r>
            <a:r>
              <a:rPr lang="ko-KR" altLang="en-US" dirty="0" err="1"/>
              <a:t>핸드셰이크</a:t>
            </a:r>
            <a:r>
              <a:rPr lang="ko-KR" altLang="en-US" dirty="0"/>
              <a:t> 비용</a:t>
            </a:r>
            <a:r>
              <a:rPr lang="en-US" altLang="ko-KR" dirty="0"/>
              <a:t>, </a:t>
            </a:r>
            <a:r>
              <a:rPr lang="ko-KR" altLang="en-US" dirty="0"/>
              <a:t>검증 시간</a:t>
            </a:r>
            <a:r>
              <a:rPr lang="en-US" altLang="ko-KR" dirty="0"/>
              <a:t>, </a:t>
            </a:r>
            <a:r>
              <a:rPr lang="ko-KR" altLang="en-US" dirty="0"/>
              <a:t>호환성이라는 일반적인 축으로 구성되어 있어</a:t>
            </a:r>
            <a:r>
              <a:rPr lang="en-US" altLang="ko-KR" dirty="0"/>
              <a:t>, ML-DSA </a:t>
            </a:r>
            <a:r>
              <a:rPr lang="ko-KR" altLang="en-US" dirty="0"/>
              <a:t>외 다른 서명 알고리즘이나 </a:t>
            </a:r>
            <a:r>
              <a:rPr lang="en-US" altLang="ko-KR" dirty="0"/>
              <a:t>KEM </a:t>
            </a:r>
            <a:r>
              <a:rPr lang="ko-KR" altLang="en-US" dirty="0"/>
              <a:t>시나리오에도 적용 가능합니다</a:t>
            </a:r>
            <a:r>
              <a:rPr lang="en-US" altLang="ko-KR" dirty="0"/>
              <a:t>. </a:t>
            </a:r>
            <a:r>
              <a:rPr lang="ko-KR" altLang="en-US" dirty="0"/>
              <a:t>다만 가중치는 환경 특성에 따라 재조정해야 하고</a:t>
            </a:r>
            <a:r>
              <a:rPr lang="en-US" altLang="ko-KR" dirty="0"/>
              <a:t>, </a:t>
            </a:r>
            <a:r>
              <a:rPr lang="ko-KR" altLang="en-US" dirty="0"/>
              <a:t>호환성 점수도 해당 시나리오의 라이브러리 지원 현황을 반영해서 다시 산정해야 합니다</a:t>
            </a:r>
            <a:r>
              <a:rPr lang="en-US" altLang="ko-KR" dirty="0"/>
              <a:t>."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6002C913-610E-4BF0-B55F-9CE65BBA65D1}" type="slidenum">
              <a:rPr lang="ko-KR" altLang="en-US" smtClean="0"/>
              <a:pPr lvl="0"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55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30" t="65598" b="9375"/>
          <a:stretch/>
        </p:blipFill>
        <p:spPr>
          <a:xfrm>
            <a:off x="0" y="6646331"/>
            <a:ext cx="1809148" cy="16086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460" b="12513"/>
          <a:stretch/>
        </p:blipFill>
        <p:spPr>
          <a:xfrm>
            <a:off x="10880202" y="6675969"/>
            <a:ext cx="1311798" cy="16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6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2676048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2158084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3073925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993106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2158085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307068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999684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14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9438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제목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B68DAAC8-442A-4C15-9819-F07FF5E7315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</p:sldLayoutIdLst>
  <p:transition/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5400" dirty="0"/>
              <a:t>X.509 PQC </a:t>
            </a:r>
            <a:r>
              <a:rPr lang="ko-KR" altLang="en-US" sz="5400" dirty="0"/>
              <a:t>전환을 위한</a:t>
            </a:r>
            <a:br>
              <a:rPr lang="en-US" altLang="ko-KR" sz="5400" dirty="0"/>
            </a:br>
            <a:r>
              <a:rPr lang="ko-KR" altLang="en-US" sz="5400" dirty="0"/>
              <a:t>하이브리드 서명 전략 비교 분석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이민우</a:t>
            </a:r>
            <a:r>
              <a:rPr lang="en-US" altLang="ko-KR" dirty="0"/>
              <a:t>, </a:t>
            </a:r>
            <a:r>
              <a:rPr lang="ko-KR" altLang="en-US" dirty="0" err="1"/>
              <a:t>심민주</a:t>
            </a:r>
            <a:r>
              <a:rPr lang="en-US" altLang="ko-KR" dirty="0"/>
              <a:t>, </a:t>
            </a:r>
            <a:r>
              <a:rPr lang="ko-KR" altLang="en-US" dirty="0"/>
              <a:t>조수빈</a:t>
            </a:r>
            <a:r>
              <a:rPr lang="en-US" altLang="ko-KR" dirty="0"/>
              <a:t>, </a:t>
            </a:r>
            <a:r>
              <a:rPr lang="ko-KR" altLang="en-US" dirty="0" err="1"/>
              <a:t>형유림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서화정</a:t>
            </a:r>
            <a:br>
              <a:rPr lang="en-US" altLang="ko-KR" dirty="0"/>
            </a:br>
            <a:endParaRPr lang="en-US" altLang="ko-KR" dirty="0"/>
          </a:p>
          <a:p>
            <a:pPr lvl="0">
              <a:defRPr/>
            </a:pPr>
            <a:r>
              <a:rPr lang="ko-KR" altLang="en-US" b="1" dirty="0"/>
              <a:t>발표자</a:t>
            </a:r>
            <a:r>
              <a:rPr lang="en-US" altLang="ko-KR" b="1"/>
              <a:t>: </a:t>
            </a:r>
            <a:endParaRPr lang="ko-KR" altLang="en-US" b="1" dirty="0"/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07B787D9-C2DE-B7ED-8978-BF697C76EF75}"/>
              </a:ext>
            </a:extLst>
          </p:cNvPr>
          <p:cNvSpPr txBox="1">
            <a:spLocks/>
          </p:cNvSpPr>
          <p:nvPr/>
        </p:nvSpPr>
        <p:spPr>
          <a:xfrm>
            <a:off x="-3" y="4875738"/>
            <a:ext cx="12192001" cy="1655762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/>
              <a:t>유튜브 주소</a:t>
            </a:r>
            <a:r>
              <a:rPr lang="en-US" altLang="ko-KR" dirty="0"/>
              <a:t>: </a:t>
            </a:r>
            <a:endParaRPr lang="ko-KR" altLang="en-US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5E96B7-E929-FD5A-12B2-BBB81EC59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배경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77024F-B4E0-A345-C618-54E28AC18F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FF0000"/>
                </a:solidFill>
              </a:rPr>
              <a:t>X.509 PQC </a:t>
            </a:r>
            <a:r>
              <a:rPr lang="ko-KR" altLang="en-US" b="1" dirty="0">
                <a:solidFill>
                  <a:srgbClr val="FF0000"/>
                </a:solidFill>
              </a:rPr>
              <a:t>전환 필요성 대두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r>
              <a:rPr lang="en-US" altLang="ko-KR" dirty="0"/>
              <a:t>NIST: 2024</a:t>
            </a:r>
            <a:r>
              <a:rPr lang="ko-KR" altLang="en-US" dirty="0"/>
              <a:t>년 </a:t>
            </a:r>
            <a:r>
              <a:rPr lang="en-US" altLang="ko-KR" dirty="0"/>
              <a:t>ML-DSA(FIPS 204) </a:t>
            </a:r>
            <a:r>
              <a:rPr lang="ko-KR" altLang="en-US" dirty="0"/>
              <a:t>표준화 완료</a:t>
            </a:r>
            <a:endParaRPr lang="en-US" altLang="ko-KR" dirty="0"/>
          </a:p>
          <a:p>
            <a:pPr lvl="1"/>
            <a:r>
              <a:rPr lang="en-US" altLang="ko-KR" b="1" dirty="0">
                <a:solidFill>
                  <a:srgbClr val="0070C0"/>
                </a:solidFill>
              </a:rPr>
              <a:t>TLS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1.3</a:t>
            </a:r>
            <a:r>
              <a:rPr lang="ko-KR" altLang="en-US" b="1" dirty="0">
                <a:solidFill>
                  <a:srgbClr val="0070C0"/>
                </a:solidFill>
              </a:rPr>
              <a:t>의 </a:t>
            </a:r>
            <a:r>
              <a:rPr lang="en-US" altLang="ko-KR" b="1" dirty="0">
                <a:solidFill>
                  <a:srgbClr val="0070C0"/>
                </a:solidFill>
              </a:rPr>
              <a:t>X.509 </a:t>
            </a:r>
            <a:r>
              <a:rPr lang="ko-KR" altLang="en-US" b="1" dirty="0">
                <a:solidFill>
                  <a:srgbClr val="0070C0"/>
                </a:solidFill>
              </a:rPr>
              <a:t>인증서 공개키</a:t>
            </a:r>
            <a:r>
              <a:rPr lang="en-US" altLang="ko-KR" b="1" dirty="0">
                <a:solidFill>
                  <a:srgbClr val="0070C0"/>
                </a:solidFill>
              </a:rPr>
              <a:t>·</a:t>
            </a:r>
            <a:r>
              <a:rPr lang="ko-KR" altLang="en-US" b="1" dirty="0">
                <a:solidFill>
                  <a:srgbClr val="0070C0"/>
                </a:solidFill>
              </a:rPr>
              <a:t>서명 체계 전환 시기 도래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2"/>
            <a:r>
              <a:rPr lang="en-US" altLang="ko-KR" dirty="0"/>
              <a:t>ECDSA -&gt; ML-DSA</a:t>
            </a:r>
          </a:p>
          <a:p>
            <a:pPr lvl="1"/>
            <a:r>
              <a:rPr lang="ko-KR" altLang="en-US" b="1" dirty="0">
                <a:solidFill>
                  <a:srgbClr val="0070C0"/>
                </a:solidFill>
              </a:rPr>
              <a:t>기존 알고리즘과의 공존이 필요한 전환기 직면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2"/>
            <a:r>
              <a:rPr lang="ko-KR" altLang="en-US" dirty="0"/>
              <a:t>암호 민첩성</a:t>
            </a:r>
            <a:r>
              <a:rPr lang="en-US" altLang="ko-KR" dirty="0"/>
              <a:t>(crypto agility)</a:t>
            </a:r>
            <a:r>
              <a:rPr lang="ko-KR" altLang="en-US" dirty="0"/>
              <a:t> 확보가 핵심</a:t>
            </a:r>
            <a:endParaRPr lang="en-US" altLang="ko-KR" dirty="0"/>
          </a:p>
          <a:p>
            <a:r>
              <a:rPr lang="en-US" altLang="ko-KR" b="1" dirty="0">
                <a:solidFill>
                  <a:srgbClr val="FF0000"/>
                </a:solidFill>
              </a:rPr>
              <a:t>X.509 PQC </a:t>
            </a:r>
            <a:r>
              <a:rPr lang="ko-KR" altLang="en-US" b="1" dirty="0">
                <a:solidFill>
                  <a:srgbClr val="FF0000"/>
                </a:solidFill>
              </a:rPr>
              <a:t>전환 시 발생 문제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r>
              <a:rPr lang="ko-KR" altLang="en-US" dirty="0"/>
              <a:t>인증서 크기 증가 </a:t>
            </a:r>
            <a:r>
              <a:rPr lang="en-US" altLang="ko-KR" dirty="0"/>
              <a:t>-&gt; </a:t>
            </a:r>
            <a:r>
              <a:rPr lang="ko-KR" altLang="en-US" dirty="0"/>
              <a:t>모바일</a:t>
            </a:r>
            <a:r>
              <a:rPr lang="en-US" altLang="ko-KR" dirty="0"/>
              <a:t>·IoT </a:t>
            </a:r>
            <a:r>
              <a:rPr lang="ko-KR" altLang="en-US" dirty="0"/>
              <a:t>환경에서 </a:t>
            </a:r>
            <a:r>
              <a:rPr lang="ko-KR" altLang="en-US" dirty="0" err="1"/>
              <a:t>핸드셰이크</a:t>
            </a:r>
            <a:r>
              <a:rPr lang="ko-KR" altLang="en-US" dirty="0"/>
              <a:t> 지연 우려</a:t>
            </a:r>
            <a:endParaRPr lang="en-US" altLang="ko-KR" dirty="0"/>
          </a:p>
          <a:p>
            <a:pPr lvl="1"/>
            <a:r>
              <a:rPr lang="ko-KR" altLang="en-US" dirty="0"/>
              <a:t>단순 교체 시 비용 큼 </a:t>
            </a:r>
            <a:r>
              <a:rPr lang="en-US" altLang="ko-KR" dirty="0"/>
              <a:t>-&gt; </a:t>
            </a:r>
            <a:r>
              <a:rPr lang="ko-KR" altLang="en-US" b="1" dirty="0">
                <a:solidFill>
                  <a:srgbClr val="0070C0"/>
                </a:solidFill>
              </a:rPr>
              <a:t>하이브리드 전략 필요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55A3080-4D7B-B3C2-1771-407BADC60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542539"/>
              </p:ext>
            </p:extLst>
          </p:nvPr>
        </p:nvGraphicFramePr>
        <p:xfrm>
          <a:off x="1531034" y="4963795"/>
          <a:ext cx="912993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483">
                  <a:extLst>
                    <a:ext uri="{9D8B030D-6E8A-4147-A177-3AD203B41FA5}">
                      <a16:colId xmlns:a16="http://schemas.microsoft.com/office/drawing/2014/main" val="3077438628"/>
                    </a:ext>
                  </a:extLst>
                </a:gridCol>
                <a:gridCol w="2679309">
                  <a:extLst>
                    <a:ext uri="{9D8B030D-6E8A-4147-A177-3AD203B41FA5}">
                      <a16:colId xmlns:a16="http://schemas.microsoft.com/office/drawing/2014/main" val="3422649377"/>
                    </a:ext>
                  </a:extLst>
                </a:gridCol>
                <a:gridCol w="2679309">
                  <a:extLst>
                    <a:ext uri="{9D8B030D-6E8A-4147-A177-3AD203B41FA5}">
                      <a16:colId xmlns:a16="http://schemas.microsoft.com/office/drawing/2014/main" val="1492342445"/>
                    </a:ext>
                  </a:extLst>
                </a:gridCol>
                <a:gridCol w="1488831">
                  <a:extLst>
                    <a:ext uri="{9D8B030D-6E8A-4147-A177-3AD203B41FA5}">
                      <a16:colId xmlns:a16="http://schemas.microsoft.com/office/drawing/2014/main" val="34470059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ECDSA P-256 (Byte)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ML-DSA-65 (Byte)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차이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365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공개키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1,952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r>
                        <a:rPr lang="ko-KR" altLang="en-US" dirty="0"/>
                        <a:t>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137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서명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72 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3,309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46</a:t>
                      </a:r>
                      <a:r>
                        <a:rPr lang="ko-KR" altLang="en-US" dirty="0"/>
                        <a:t>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8619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인증서</a:t>
                      </a:r>
                      <a:r>
                        <a:rPr lang="en-US" altLang="ko-KR" dirty="0"/>
                        <a:t>(DER)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377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5,507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14.6</a:t>
                      </a:r>
                      <a:r>
                        <a:rPr lang="ko-KR" altLang="en-US" dirty="0"/>
                        <a:t>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7743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51654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32041-16E9-AA77-DD18-7E0F15ECB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01FCD6-A250-C471-03E2-479A6CE74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기존 연구 한계 및 본 연구 기여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B0CE41-F981-664A-C324-2A78BB032B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rgbClr val="FF0000"/>
                </a:solidFill>
              </a:rPr>
              <a:t>기존 연구 및 한계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r>
              <a:rPr lang="en-US" altLang="ko-KR" dirty="0"/>
              <a:t>Chen[1]: </a:t>
            </a:r>
            <a:r>
              <a:rPr lang="ko-KR" altLang="en-US" dirty="0"/>
              <a:t>하이브리드 인증서 </a:t>
            </a:r>
            <a:r>
              <a:rPr lang="en-US" altLang="ko-KR" dirty="0"/>
              <a:t>3</a:t>
            </a:r>
            <a:r>
              <a:rPr lang="ko-KR" altLang="en-US" dirty="0"/>
              <a:t>종만 다뤘으며</a:t>
            </a:r>
            <a:r>
              <a:rPr lang="en-US" altLang="ko-KR" dirty="0"/>
              <a:t>, </a:t>
            </a:r>
            <a:r>
              <a:rPr lang="ko-KR" altLang="en-US" b="1" dirty="0">
                <a:solidFill>
                  <a:srgbClr val="0070C0"/>
                </a:solidFill>
              </a:rPr>
              <a:t>서명 결합기 미포함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1"/>
            <a:r>
              <a:rPr lang="en-US" altLang="ko-KR" dirty="0"/>
              <a:t>Janneck[2]: Combiner </a:t>
            </a:r>
            <a:r>
              <a:rPr lang="ko-KR" altLang="en-US" dirty="0"/>
              <a:t>보안성을 증명하였으나</a:t>
            </a:r>
            <a:r>
              <a:rPr lang="en-US" altLang="ko-KR" dirty="0"/>
              <a:t>, </a:t>
            </a:r>
            <a:r>
              <a:rPr lang="ko-KR" altLang="en-US" b="1" dirty="0">
                <a:solidFill>
                  <a:srgbClr val="0070C0"/>
                </a:solidFill>
              </a:rPr>
              <a:t>정량 비교 부재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1"/>
            <a:r>
              <a:rPr lang="en-US" altLang="ko-KR" dirty="0"/>
              <a:t>Sim et.al[3]: </a:t>
            </a:r>
            <a:r>
              <a:rPr lang="en-US" altLang="ko-KR" dirty="0" err="1"/>
              <a:t>KpqC</a:t>
            </a:r>
            <a:r>
              <a:rPr lang="ko-KR" altLang="en-US" dirty="0"/>
              <a:t>의 </a:t>
            </a:r>
            <a:r>
              <a:rPr lang="en-US" altLang="ko-KR" dirty="0"/>
              <a:t>TLS</a:t>
            </a:r>
            <a:r>
              <a:rPr lang="ko-KR" altLang="en-US" dirty="0"/>
              <a:t> 벤치마킹을 수행하였으나</a:t>
            </a:r>
            <a:r>
              <a:rPr lang="en-US" altLang="ko-KR" dirty="0"/>
              <a:t>, </a:t>
            </a:r>
            <a:r>
              <a:rPr lang="ko-KR" altLang="en-US" b="1" dirty="0">
                <a:solidFill>
                  <a:srgbClr val="0070C0"/>
                </a:solidFill>
              </a:rPr>
              <a:t>전환 방식 간 비교 </a:t>
            </a:r>
            <a:r>
              <a:rPr lang="en-US" altLang="ko-KR" b="1" dirty="0">
                <a:solidFill>
                  <a:srgbClr val="0070C0"/>
                </a:solidFill>
              </a:rPr>
              <a:t>X</a:t>
            </a:r>
          </a:p>
          <a:p>
            <a:endParaRPr lang="en-US" altLang="ko-KR" dirty="0"/>
          </a:p>
          <a:p>
            <a:r>
              <a:rPr lang="ko-KR" altLang="en-US" b="1" dirty="0">
                <a:solidFill>
                  <a:srgbClr val="FF0000"/>
                </a:solidFill>
              </a:rPr>
              <a:t>본 연구 기여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r>
              <a:rPr lang="en-US" altLang="ko-KR" b="1" dirty="0">
                <a:solidFill>
                  <a:srgbClr val="0070C0"/>
                </a:solidFill>
              </a:rPr>
              <a:t>4</a:t>
            </a:r>
            <a:r>
              <a:rPr lang="ko-KR" altLang="en-US" b="1" dirty="0">
                <a:solidFill>
                  <a:srgbClr val="0070C0"/>
                </a:solidFill>
              </a:rPr>
              <a:t>축 통합 평가 모델 제안</a:t>
            </a:r>
            <a:r>
              <a:rPr lang="en-US" altLang="ko-KR" dirty="0"/>
              <a:t>(</a:t>
            </a:r>
            <a:r>
              <a:rPr lang="ko-KR" altLang="en-US" dirty="0"/>
              <a:t>크기</a:t>
            </a:r>
            <a:r>
              <a:rPr lang="en-US" altLang="ko-KR" dirty="0"/>
              <a:t>·</a:t>
            </a:r>
            <a:r>
              <a:rPr lang="ko-KR" altLang="en-US" dirty="0" err="1"/>
              <a:t>핸드셰이크</a:t>
            </a:r>
            <a:r>
              <a:rPr lang="en-US" altLang="ko-KR" dirty="0"/>
              <a:t>·</a:t>
            </a:r>
            <a:r>
              <a:rPr lang="ko-KR" altLang="en-US" dirty="0"/>
              <a:t>검증 시간</a:t>
            </a:r>
            <a:r>
              <a:rPr lang="en-US" altLang="ko-KR" dirty="0"/>
              <a:t>·</a:t>
            </a:r>
            <a:r>
              <a:rPr lang="ko-KR" altLang="en-US" dirty="0"/>
              <a:t>호환성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b="1" dirty="0">
                <a:solidFill>
                  <a:srgbClr val="0070C0"/>
                </a:solidFill>
              </a:rPr>
              <a:t>5</a:t>
            </a:r>
            <a:r>
              <a:rPr lang="ko-KR" altLang="en-US" b="1" dirty="0">
                <a:solidFill>
                  <a:srgbClr val="0070C0"/>
                </a:solidFill>
              </a:rPr>
              <a:t>가지 전환 방식 통합 비교</a:t>
            </a:r>
            <a:r>
              <a:rPr lang="en-US" altLang="ko-KR" dirty="0"/>
              <a:t>(</a:t>
            </a:r>
            <a:r>
              <a:rPr lang="ko-KR" altLang="en-US" dirty="0"/>
              <a:t>인증서 </a:t>
            </a:r>
            <a:r>
              <a:rPr lang="en-US" altLang="ko-KR" dirty="0"/>
              <a:t>3</a:t>
            </a:r>
            <a:r>
              <a:rPr lang="ko-KR" altLang="en-US" dirty="0"/>
              <a:t>종 </a:t>
            </a:r>
            <a:r>
              <a:rPr lang="en-US" altLang="ko-KR" dirty="0"/>
              <a:t>+ </a:t>
            </a:r>
            <a:r>
              <a:rPr lang="ko-KR" altLang="en-US" dirty="0"/>
              <a:t>서명 결합기 </a:t>
            </a:r>
            <a:r>
              <a:rPr lang="en-US" altLang="ko-KR" dirty="0"/>
              <a:t>2</a:t>
            </a:r>
            <a:r>
              <a:rPr lang="ko-KR" altLang="en-US" dirty="0"/>
              <a:t>종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b="1" dirty="0">
                <a:solidFill>
                  <a:srgbClr val="0070C0"/>
                </a:solidFill>
              </a:rPr>
              <a:t>환경 별 적합성 정량 도출</a:t>
            </a:r>
            <a:r>
              <a:rPr lang="en-US" altLang="ko-KR" dirty="0"/>
              <a:t>(</a:t>
            </a:r>
            <a:r>
              <a:rPr lang="ko-KR" altLang="en-US" dirty="0" err="1"/>
              <a:t>서버팜</a:t>
            </a:r>
            <a:r>
              <a:rPr lang="en-US" altLang="ko-KR" dirty="0"/>
              <a:t>·</a:t>
            </a:r>
            <a:r>
              <a:rPr lang="ko-KR" altLang="en-US" dirty="0"/>
              <a:t>모바일</a:t>
            </a:r>
            <a:r>
              <a:rPr lang="en-US" altLang="ko-KR" dirty="0"/>
              <a:t>·IoT)</a:t>
            </a:r>
          </a:p>
          <a:p>
            <a:pPr lvl="1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F90046-037D-88DF-9AED-F1EA7E070EC1}"/>
              </a:ext>
            </a:extLst>
          </p:cNvPr>
          <p:cNvSpPr txBox="1"/>
          <p:nvPr/>
        </p:nvSpPr>
        <p:spPr>
          <a:xfrm>
            <a:off x="0" y="6210300"/>
            <a:ext cx="87326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[1] A. C. H. Chen, "A Comparative Study of Hybrid Post-Quantum Cryptographic X.509 Certificate Schemes," arXiv:2511.00111, 2025. </a:t>
            </a:r>
            <a:endParaRPr lang="ko-KR" alt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8A52EB-EA2A-C79E-3495-03454472EC72}"/>
              </a:ext>
            </a:extLst>
          </p:cNvPr>
          <p:cNvSpPr txBox="1"/>
          <p:nvPr/>
        </p:nvSpPr>
        <p:spPr>
          <a:xfrm>
            <a:off x="0" y="6392915"/>
            <a:ext cx="87326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[2] J. Janneck, "Bird of Prey: Practical Signature Combiners Preserving Strong Unforgeability," Cryptology </a:t>
            </a:r>
            <a:r>
              <a:rPr lang="en-US" altLang="ko-KR" sz="1000" dirty="0" err="1"/>
              <a:t>ePrint</a:t>
            </a:r>
            <a:r>
              <a:rPr lang="en-US" altLang="ko-KR" sz="1000" dirty="0"/>
              <a:t> Archive, Report 2025/1844, 2025.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2CF767-D76D-A5C6-4228-3D095A1D39B5}"/>
              </a:ext>
            </a:extLst>
          </p:cNvPr>
          <p:cNvSpPr txBox="1"/>
          <p:nvPr/>
        </p:nvSpPr>
        <p:spPr>
          <a:xfrm>
            <a:off x="0" y="6575530"/>
            <a:ext cx="97067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[3] M. Sim, G. Song, S. Eum, M. Lee, S. Yoon, A. Baksi, and H. Seo, "Integrating and Benchmarking </a:t>
            </a:r>
            <a:r>
              <a:rPr lang="en-US" altLang="ko-KR" sz="1000" dirty="0" err="1"/>
              <a:t>KpqC</a:t>
            </a:r>
            <a:r>
              <a:rPr lang="en-US" altLang="ko-KR" sz="1000" dirty="0"/>
              <a:t> in TLS/X.509," Electronics, Vol.14, No.18, pp.3717, 2025.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02809322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3813C-367B-607C-D17D-7D6D99D68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10E1EE-F132-0662-C329-94E4A5AD7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X.509 PQC </a:t>
            </a:r>
            <a:r>
              <a:rPr lang="ko-KR" altLang="en-US" dirty="0"/>
              <a:t>전환 전략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97BB3E-E57A-9560-0132-30103275EA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628103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하이브리드 인증서 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r>
              <a:rPr lang="en-US" altLang="ko-KR" b="1" dirty="0">
                <a:solidFill>
                  <a:srgbClr val="0070C0"/>
                </a:solidFill>
              </a:rPr>
              <a:t>X.509 </a:t>
            </a:r>
            <a:r>
              <a:rPr lang="ko-KR" altLang="en-US" b="1" dirty="0">
                <a:solidFill>
                  <a:srgbClr val="0070C0"/>
                </a:solidFill>
              </a:rPr>
              <a:t>포맷 자체 수정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1"/>
            <a:r>
              <a:rPr lang="en-US" altLang="ko-KR" b="1" dirty="0"/>
              <a:t>Catalyst:</a:t>
            </a:r>
            <a:r>
              <a:rPr lang="en-US" altLang="ko-KR" dirty="0"/>
              <a:t> PQ </a:t>
            </a:r>
            <a:r>
              <a:rPr lang="ko-KR" altLang="en-US" dirty="0"/>
              <a:t>데이터를 </a:t>
            </a:r>
            <a:r>
              <a:rPr lang="en-US" altLang="ko-KR" dirty="0"/>
              <a:t>non-critical extension</a:t>
            </a:r>
            <a:r>
              <a:rPr lang="ko-KR" altLang="en-US" dirty="0"/>
              <a:t>으로 추가</a:t>
            </a:r>
            <a:endParaRPr lang="en-US" altLang="ko-KR" dirty="0"/>
          </a:p>
          <a:p>
            <a:pPr lvl="2"/>
            <a:r>
              <a:rPr lang="ko-KR" altLang="en-US" dirty="0"/>
              <a:t>레거시 클라이언트는 </a:t>
            </a:r>
            <a:r>
              <a:rPr lang="en-US" altLang="ko-KR" dirty="0"/>
              <a:t>extension </a:t>
            </a:r>
            <a:r>
              <a:rPr lang="ko-KR" altLang="en-US" dirty="0"/>
              <a:t>무시하고 </a:t>
            </a:r>
            <a:r>
              <a:rPr lang="en-US" altLang="ko-KR" dirty="0"/>
              <a:t>ECDSA</a:t>
            </a:r>
            <a:r>
              <a:rPr lang="ko-KR" altLang="en-US" dirty="0"/>
              <a:t>만으로 검증 가능</a:t>
            </a:r>
            <a:endParaRPr lang="en-US" altLang="ko-KR" dirty="0"/>
          </a:p>
          <a:p>
            <a:pPr lvl="1"/>
            <a:r>
              <a:rPr lang="en-US" altLang="ko-KR" b="1" dirty="0"/>
              <a:t>Composite:</a:t>
            </a:r>
            <a:r>
              <a:rPr lang="en-US" altLang="ko-KR" dirty="0"/>
              <a:t> </a:t>
            </a:r>
            <a:r>
              <a:rPr lang="ko-KR" altLang="en-US" dirty="0"/>
              <a:t>레거시 </a:t>
            </a:r>
            <a:r>
              <a:rPr lang="en-US" altLang="ko-KR" dirty="0"/>
              <a:t>+ PQC </a:t>
            </a:r>
            <a:r>
              <a:rPr lang="ko-KR" altLang="en-US" dirty="0"/>
              <a:t>서명을 하나의 </a:t>
            </a:r>
            <a:r>
              <a:rPr lang="en-US" altLang="ko-KR" dirty="0"/>
              <a:t>OID</a:t>
            </a:r>
            <a:r>
              <a:rPr lang="ko-KR" altLang="en-US" dirty="0"/>
              <a:t>로 묶음</a:t>
            </a:r>
            <a:endParaRPr lang="en-US" altLang="ko-KR" dirty="0"/>
          </a:p>
          <a:p>
            <a:pPr lvl="2"/>
            <a:r>
              <a:rPr lang="ko-KR" altLang="en-US" dirty="0"/>
              <a:t>두 서명 모두 유효해야 통과</a:t>
            </a:r>
            <a:r>
              <a:rPr lang="en-US" altLang="ko-KR" dirty="0"/>
              <a:t>(AND </a:t>
            </a:r>
            <a:r>
              <a:rPr lang="ko-KR" altLang="en-US" dirty="0"/>
              <a:t>모델</a:t>
            </a:r>
            <a:r>
              <a:rPr lang="en-US" altLang="ko-KR" dirty="0"/>
              <a:t>), </a:t>
            </a:r>
            <a:r>
              <a:rPr lang="ko-KR" altLang="en-US" dirty="0"/>
              <a:t>레거시 호환 불가</a:t>
            </a:r>
            <a:endParaRPr lang="en-US" altLang="ko-KR" dirty="0"/>
          </a:p>
          <a:p>
            <a:pPr lvl="1"/>
            <a:r>
              <a:rPr lang="en-US" altLang="ko-KR" b="1" dirty="0"/>
              <a:t>Chameleon:</a:t>
            </a:r>
            <a:r>
              <a:rPr lang="en-US" altLang="ko-KR" dirty="0"/>
              <a:t> Base </a:t>
            </a:r>
            <a:r>
              <a:rPr lang="ko-KR" altLang="en-US" dirty="0"/>
              <a:t>인증서 안에 </a:t>
            </a:r>
            <a:r>
              <a:rPr lang="en-US" altLang="ko-KR" dirty="0"/>
              <a:t>Delta </a:t>
            </a:r>
            <a:r>
              <a:rPr lang="ko-KR" altLang="en-US" dirty="0"/>
              <a:t>인증서 내장</a:t>
            </a:r>
            <a:endParaRPr lang="en-US" altLang="ko-KR" dirty="0"/>
          </a:p>
          <a:p>
            <a:pPr lvl="2"/>
            <a:r>
              <a:rPr lang="ko-KR" altLang="en-US" dirty="0"/>
              <a:t>전환 완료 후 </a:t>
            </a:r>
            <a:r>
              <a:rPr lang="en-US" altLang="ko-KR" dirty="0"/>
              <a:t>Delta</a:t>
            </a:r>
            <a:r>
              <a:rPr lang="ko-KR" altLang="en-US" dirty="0"/>
              <a:t>를 독립 인증서로 분리 가능</a:t>
            </a:r>
            <a:endParaRPr lang="en-US" altLang="ko-KR" dirty="0"/>
          </a:p>
          <a:p>
            <a:r>
              <a:rPr lang="ko-KR" altLang="en-US" b="1" dirty="0">
                <a:solidFill>
                  <a:srgbClr val="FF0000"/>
                </a:solidFill>
              </a:rPr>
              <a:t>서명 결합기</a:t>
            </a:r>
            <a:r>
              <a:rPr lang="en-US" altLang="ko-KR" b="1" dirty="0">
                <a:solidFill>
                  <a:srgbClr val="FF0000"/>
                </a:solidFill>
              </a:rPr>
              <a:t>(Signature Combiner) </a:t>
            </a:r>
          </a:p>
          <a:p>
            <a:pPr lvl="1"/>
            <a:r>
              <a:rPr lang="en-US" altLang="ko-KR" b="1" dirty="0">
                <a:solidFill>
                  <a:srgbClr val="0070C0"/>
                </a:solidFill>
              </a:rPr>
              <a:t>X.509 </a:t>
            </a:r>
            <a:r>
              <a:rPr lang="ko-KR" altLang="en-US" b="1" dirty="0">
                <a:solidFill>
                  <a:srgbClr val="0070C0"/>
                </a:solidFill>
              </a:rPr>
              <a:t>포맷 유지하며 서명만 결합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1"/>
            <a:r>
              <a:rPr lang="en-US" altLang="ko-KR" b="1" dirty="0"/>
              <a:t>Naive Combiner: </a:t>
            </a:r>
            <a:r>
              <a:rPr lang="ko-KR" altLang="en-US" dirty="0"/>
              <a:t>두 서명 단순 연결</a:t>
            </a:r>
            <a:endParaRPr lang="en-US" altLang="ko-KR" dirty="0"/>
          </a:p>
          <a:p>
            <a:pPr lvl="2"/>
            <a:r>
              <a:rPr lang="ko-KR" altLang="en-US" dirty="0"/>
              <a:t>구현은 간단하나 </a:t>
            </a:r>
            <a:r>
              <a:rPr lang="en-US" altLang="ko-KR" dirty="0"/>
              <a:t>SUF(Strong Unforgeability) </a:t>
            </a:r>
            <a:r>
              <a:rPr lang="ko-KR" altLang="en-US" dirty="0" err="1"/>
              <a:t>미보존</a:t>
            </a:r>
            <a:endParaRPr lang="en-US" altLang="ko-KR" dirty="0"/>
          </a:p>
          <a:p>
            <a:pPr lvl="1"/>
            <a:r>
              <a:rPr lang="en-US" altLang="ko-KR" b="1" dirty="0"/>
              <a:t>Compact Combiner: </a:t>
            </a:r>
            <a:r>
              <a:rPr lang="en-US" altLang="ko-KR" dirty="0" err="1"/>
              <a:t>EdDSA</a:t>
            </a:r>
            <a:r>
              <a:rPr lang="en-US" altLang="ko-KR" dirty="0"/>
              <a:t> Fiat-Shamir </a:t>
            </a:r>
            <a:r>
              <a:rPr lang="ko-KR" altLang="en-US" dirty="0"/>
              <a:t>활용</a:t>
            </a:r>
            <a:r>
              <a:rPr lang="en-US" altLang="ko-KR" dirty="0"/>
              <a:t>, commitment 32B </a:t>
            </a:r>
            <a:r>
              <a:rPr lang="ko-KR" altLang="en-US" dirty="0"/>
              <a:t>생략</a:t>
            </a:r>
            <a:endParaRPr lang="en-US" altLang="ko-KR" dirty="0"/>
          </a:p>
          <a:p>
            <a:pPr lvl="2"/>
            <a:r>
              <a:rPr lang="en-US" altLang="ko-KR" dirty="0"/>
              <a:t>SUF </a:t>
            </a:r>
            <a:r>
              <a:rPr lang="ko-KR" altLang="en-US" dirty="0"/>
              <a:t>보존</a:t>
            </a:r>
            <a:r>
              <a:rPr lang="en-US" altLang="ko-KR" dirty="0"/>
              <a:t>, </a:t>
            </a:r>
            <a:r>
              <a:rPr lang="ko-KR" altLang="en-US" dirty="0"/>
              <a:t>단 </a:t>
            </a:r>
            <a:r>
              <a:rPr lang="en-US" altLang="ko-KR" dirty="0" err="1"/>
              <a:t>EdDSA</a:t>
            </a:r>
            <a:r>
              <a:rPr lang="en-US" altLang="ko-KR" dirty="0"/>
              <a:t> </a:t>
            </a:r>
            <a:r>
              <a:rPr lang="ko-KR" altLang="en-US" dirty="0"/>
              <a:t>기반에서만 적용 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7364835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3AFD8-7865-BBC7-F26D-EDD6C7E65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TLS</a:t>
            </a:r>
            <a:r>
              <a:rPr lang="ko-KR" altLang="en-US" dirty="0"/>
              <a:t> </a:t>
            </a:r>
            <a:r>
              <a:rPr lang="en-US" altLang="ko-KR" dirty="0"/>
              <a:t>1.3</a:t>
            </a:r>
            <a:r>
              <a:rPr lang="ko-KR" altLang="en-US" dirty="0"/>
              <a:t> 서명 구조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744D52-4AE3-C813-B739-8E396C8720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rgbClr val="FF0000"/>
                </a:solidFill>
              </a:rPr>
              <a:t>TLS 1.3 </a:t>
            </a:r>
            <a:r>
              <a:rPr lang="ko-KR" altLang="en-US" b="1" dirty="0" err="1">
                <a:solidFill>
                  <a:srgbClr val="FF0000"/>
                </a:solidFill>
              </a:rPr>
              <a:t>핸드셰이크</a:t>
            </a:r>
            <a:r>
              <a:rPr lang="ko-KR" altLang="en-US" b="1" dirty="0">
                <a:solidFill>
                  <a:srgbClr val="FF0000"/>
                </a:solidFill>
              </a:rPr>
              <a:t> 시 사용되는 전자서명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r>
              <a:rPr lang="en-US" altLang="ko-KR" b="1" dirty="0">
                <a:solidFill>
                  <a:srgbClr val="0070C0"/>
                </a:solidFill>
              </a:rPr>
              <a:t>CA </a:t>
            </a:r>
            <a:r>
              <a:rPr lang="ko-KR" altLang="en-US" b="1" dirty="0">
                <a:solidFill>
                  <a:srgbClr val="0070C0"/>
                </a:solidFill>
              </a:rPr>
              <a:t>서명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2"/>
            <a:r>
              <a:rPr lang="ko-KR" altLang="en-US" dirty="0"/>
              <a:t>인증서 발급 시 포함되는 서명</a:t>
            </a:r>
            <a:endParaRPr lang="en-US" altLang="ko-KR" dirty="0"/>
          </a:p>
          <a:p>
            <a:pPr lvl="1"/>
            <a:r>
              <a:rPr lang="en-US" altLang="ko-KR" b="1" dirty="0" err="1">
                <a:solidFill>
                  <a:srgbClr val="0070C0"/>
                </a:solidFill>
              </a:rPr>
              <a:t>CertificateVerify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2"/>
            <a:r>
              <a:rPr lang="ko-KR" altLang="en-US" dirty="0"/>
              <a:t>서버가 </a:t>
            </a:r>
            <a:r>
              <a:rPr lang="ko-KR" altLang="en-US" dirty="0" err="1"/>
              <a:t>핸드셰이크</a:t>
            </a:r>
            <a:r>
              <a:rPr lang="ko-KR" altLang="en-US" dirty="0"/>
              <a:t> 중 생성하는 서명</a:t>
            </a:r>
            <a:endParaRPr lang="en-US" altLang="ko-KR" dirty="0"/>
          </a:p>
          <a:p>
            <a:endParaRPr lang="en-US" altLang="ko-KR" b="1" dirty="0">
              <a:solidFill>
                <a:srgbClr val="FF0000"/>
              </a:solidFill>
            </a:endParaRPr>
          </a:p>
          <a:p>
            <a:r>
              <a:rPr lang="ko-KR" altLang="en-US" b="1" dirty="0" err="1">
                <a:solidFill>
                  <a:srgbClr val="FF0000"/>
                </a:solidFill>
              </a:rPr>
              <a:t>핸드셰이크</a:t>
            </a:r>
            <a:r>
              <a:rPr lang="ko-KR" altLang="en-US" b="1" dirty="0">
                <a:solidFill>
                  <a:srgbClr val="FF0000"/>
                </a:solidFill>
              </a:rPr>
              <a:t> 과정</a:t>
            </a:r>
            <a:r>
              <a:rPr lang="en-US" altLang="ko-KR" dirty="0"/>
              <a:t>(</a:t>
            </a:r>
            <a:r>
              <a:rPr lang="ko-KR" altLang="en-US" dirty="0"/>
              <a:t>체인 길이 </a:t>
            </a:r>
            <a:r>
              <a:rPr lang="en-US" altLang="ko-KR" dirty="0"/>
              <a:t>2)</a:t>
            </a:r>
          </a:p>
          <a:p>
            <a:pPr lvl="1"/>
            <a:r>
              <a:rPr lang="en-US" altLang="ko-KR" dirty="0"/>
              <a:t>1.</a:t>
            </a:r>
            <a:r>
              <a:rPr lang="ko-KR" altLang="en-US" dirty="0"/>
              <a:t> </a:t>
            </a:r>
            <a:r>
              <a:rPr lang="en-US" altLang="ko-KR" dirty="0"/>
              <a:t>CA -&gt; Intermediate</a:t>
            </a:r>
            <a:r>
              <a:rPr lang="ko-KR" altLang="en-US" dirty="0"/>
              <a:t> 인증서 검증</a:t>
            </a:r>
            <a:endParaRPr lang="en-US" altLang="ko-KR" dirty="0"/>
          </a:p>
          <a:p>
            <a:pPr lvl="1"/>
            <a:r>
              <a:rPr lang="en-US" altLang="ko-KR" dirty="0"/>
              <a:t>2. Intermediate -&gt; </a:t>
            </a:r>
            <a:r>
              <a:rPr lang="ko-KR" altLang="en-US" dirty="0"/>
              <a:t>서버 인증서 검증</a:t>
            </a:r>
            <a:endParaRPr lang="en-US" altLang="ko-KR" dirty="0"/>
          </a:p>
          <a:p>
            <a:pPr lvl="1"/>
            <a:r>
              <a:rPr lang="en-US" altLang="ko-KR" dirty="0"/>
              <a:t>3. </a:t>
            </a:r>
            <a:r>
              <a:rPr lang="en-US" altLang="ko-KR" dirty="0" err="1"/>
              <a:t>CertificateVerify</a:t>
            </a:r>
            <a:r>
              <a:rPr lang="en-US" altLang="ko-KR" dirty="0"/>
              <a:t> </a:t>
            </a:r>
            <a:r>
              <a:rPr lang="ko-KR" altLang="en-US" dirty="0"/>
              <a:t>검증</a:t>
            </a:r>
            <a:endParaRPr lang="en-US" altLang="ko-KR" dirty="0"/>
          </a:p>
          <a:p>
            <a:pPr lvl="1"/>
            <a:r>
              <a:rPr lang="en-US" altLang="ko-KR" b="1" dirty="0">
                <a:solidFill>
                  <a:srgbClr val="0070C0"/>
                </a:solidFill>
              </a:rPr>
              <a:t>PQC</a:t>
            </a:r>
            <a:r>
              <a:rPr lang="ko-KR" altLang="en-US" b="1" dirty="0">
                <a:solidFill>
                  <a:srgbClr val="0070C0"/>
                </a:solidFill>
              </a:rPr>
              <a:t> 전환 시 위 </a:t>
            </a:r>
            <a:r>
              <a:rPr lang="en-US" altLang="ko-KR" b="1" dirty="0">
                <a:solidFill>
                  <a:srgbClr val="0070C0"/>
                </a:solidFill>
              </a:rPr>
              <a:t>3</a:t>
            </a:r>
            <a:r>
              <a:rPr lang="ko-KR" altLang="en-US" b="1" dirty="0">
                <a:solidFill>
                  <a:srgbClr val="0070C0"/>
                </a:solidFill>
              </a:rPr>
              <a:t>회 모두 교체 대상</a:t>
            </a:r>
            <a:endParaRPr lang="en-US" altLang="ko-KR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48DE00-6A10-4174-A9B8-D184F3D40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745" y="1994581"/>
            <a:ext cx="4994335" cy="399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32353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3AFB0C-ACE2-BCE0-69E2-E2252E033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전환 비용 평가 모델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496E3D-9C64-221B-A52C-C1C115F0AB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649204"/>
          </a:xfrm>
        </p:spPr>
        <p:txBody>
          <a:bodyPr>
            <a:norm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4</a:t>
            </a:r>
            <a:r>
              <a:rPr lang="ko-KR" altLang="en-US" b="1" dirty="0">
                <a:solidFill>
                  <a:srgbClr val="FF0000"/>
                </a:solidFill>
              </a:rPr>
              <a:t>축 통합 평가 모델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r>
              <a:rPr lang="en-US" altLang="ko-KR" dirty="0" err="1"/>
              <a:t>C_size</a:t>
            </a:r>
            <a:r>
              <a:rPr lang="en-US" altLang="ko-KR" dirty="0"/>
              <a:t>: </a:t>
            </a:r>
            <a:r>
              <a:rPr lang="ko-KR" altLang="en-US" dirty="0"/>
              <a:t>인증서 </a:t>
            </a:r>
            <a:r>
              <a:rPr lang="en-US" altLang="ko-KR" dirty="0"/>
              <a:t>DER </a:t>
            </a:r>
            <a:r>
              <a:rPr lang="ko-KR" altLang="en-US" dirty="0"/>
              <a:t>크기</a:t>
            </a:r>
            <a:r>
              <a:rPr lang="en-US" altLang="ko-KR" dirty="0"/>
              <a:t>(Bytes)</a:t>
            </a:r>
          </a:p>
          <a:p>
            <a:pPr lvl="1"/>
            <a:r>
              <a:rPr lang="en-US" altLang="ko-KR" dirty="0" err="1"/>
              <a:t>C_hs</a:t>
            </a:r>
            <a:r>
              <a:rPr lang="en-US" altLang="ko-KR" dirty="0"/>
              <a:t>: </a:t>
            </a:r>
            <a:r>
              <a:rPr lang="ko-KR" altLang="en-US" dirty="0" err="1"/>
              <a:t>핸드셰이크</a:t>
            </a:r>
            <a:r>
              <a:rPr lang="ko-KR" altLang="en-US" dirty="0"/>
              <a:t> 비용 </a:t>
            </a:r>
            <a:r>
              <a:rPr lang="en-US" altLang="ko-KR" dirty="0"/>
              <a:t>= </a:t>
            </a:r>
            <a:r>
              <a:rPr lang="ko-KR" altLang="en-US" dirty="0"/>
              <a:t>체인 </a:t>
            </a:r>
            <a:r>
              <a:rPr lang="ko-KR" altLang="en-US" dirty="0" err="1"/>
              <a:t>전송량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서명 크기</a:t>
            </a:r>
            <a:r>
              <a:rPr lang="en-US" altLang="ko-KR" dirty="0"/>
              <a:t>(Bytes)</a:t>
            </a:r>
          </a:p>
          <a:p>
            <a:pPr lvl="1"/>
            <a:r>
              <a:rPr lang="en-US" altLang="ko-KR" dirty="0" err="1"/>
              <a:t>C_verify</a:t>
            </a:r>
            <a:r>
              <a:rPr lang="en-US" altLang="ko-KR" dirty="0"/>
              <a:t>: </a:t>
            </a:r>
            <a:r>
              <a:rPr lang="ko-KR" altLang="en-US" dirty="0"/>
              <a:t>체인 전체 검증 시간</a:t>
            </a:r>
            <a:r>
              <a:rPr lang="en-US" altLang="ko-KR" dirty="0"/>
              <a:t>(</a:t>
            </a:r>
            <a:r>
              <a:rPr lang="en-US" altLang="ko-KR" dirty="0" err="1"/>
              <a:t>μs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 err="1"/>
              <a:t>C_compat</a:t>
            </a:r>
            <a:r>
              <a:rPr lang="en-US" altLang="ko-KR" dirty="0"/>
              <a:t>: </a:t>
            </a:r>
            <a:r>
              <a:rPr lang="ko-KR" altLang="en-US" dirty="0"/>
              <a:t>레거시 호환성</a:t>
            </a:r>
            <a:r>
              <a:rPr lang="en-US" altLang="ko-KR" dirty="0"/>
              <a:t>(0</a:t>
            </a:r>
            <a:r>
              <a:rPr lang="ko-KR" altLang="en-US" dirty="0"/>
              <a:t>에 가까울수록 우수</a:t>
            </a:r>
            <a:r>
              <a:rPr lang="en-US" altLang="ko-KR" dirty="0"/>
              <a:t>)</a:t>
            </a:r>
          </a:p>
          <a:p>
            <a:r>
              <a:rPr lang="ko-KR" altLang="en-US" b="1" dirty="0">
                <a:solidFill>
                  <a:srgbClr val="FF0000"/>
                </a:solidFill>
              </a:rPr>
              <a:t>총 비용 </a:t>
            </a:r>
            <a:r>
              <a:rPr lang="ko-KR" altLang="en-US" b="1" dirty="0" err="1">
                <a:solidFill>
                  <a:srgbClr val="FF0000"/>
                </a:solidFill>
              </a:rPr>
              <a:t>산출식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r>
              <a:rPr lang="en-US" altLang="ko-KR" b="1" dirty="0" err="1">
                <a:solidFill>
                  <a:srgbClr val="0070C0"/>
                </a:solidFill>
              </a:rPr>
              <a:t>C_total</a:t>
            </a:r>
            <a:r>
              <a:rPr lang="en-US" altLang="ko-KR" b="1" dirty="0">
                <a:solidFill>
                  <a:srgbClr val="0070C0"/>
                </a:solidFill>
              </a:rPr>
              <a:t>(S, E) </a:t>
            </a:r>
            <a:r>
              <a:rPr lang="en-US" altLang="ko-KR" dirty="0"/>
              <a:t>= w₁·</a:t>
            </a:r>
            <a:r>
              <a:rPr lang="en-US" altLang="ko-KR" dirty="0" err="1"/>
              <a:t>Ĉ_size</a:t>
            </a:r>
            <a:r>
              <a:rPr lang="en-US" altLang="ko-KR" dirty="0"/>
              <a:t> + w₂·</a:t>
            </a:r>
            <a:r>
              <a:rPr lang="en-US" altLang="ko-KR" dirty="0" err="1"/>
              <a:t>Ĉ_hs</a:t>
            </a:r>
            <a:r>
              <a:rPr lang="en-US" altLang="ko-KR" dirty="0"/>
              <a:t> + w₃·</a:t>
            </a:r>
            <a:r>
              <a:rPr lang="en-US" altLang="ko-KR" dirty="0" err="1"/>
              <a:t>Ĉ_verify</a:t>
            </a:r>
            <a:r>
              <a:rPr lang="en-US" altLang="ko-KR" dirty="0"/>
              <a:t> + w₄·</a:t>
            </a:r>
            <a:r>
              <a:rPr lang="en-US" altLang="ko-KR" dirty="0" err="1"/>
              <a:t>C_compat</a:t>
            </a:r>
            <a:endParaRPr lang="en-US" altLang="ko-KR" dirty="0"/>
          </a:p>
          <a:p>
            <a:pPr lvl="1"/>
            <a:r>
              <a:rPr lang="ko-KR" altLang="en-US" dirty="0"/>
              <a:t>각 축은 정규화</a:t>
            </a:r>
            <a:r>
              <a:rPr lang="en-US" altLang="ko-KR" dirty="0"/>
              <a:t>(Ĉ) </a:t>
            </a:r>
            <a:r>
              <a:rPr lang="ko-KR" altLang="en-US" dirty="0"/>
              <a:t>후 환경별 가중치</a:t>
            </a:r>
            <a:r>
              <a:rPr lang="en-US" altLang="ko-KR" dirty="0"/>
              <a:t>(w) </a:t>
            </a:r>
            <a:r>
              <a:rPr lang="ko-KR" altLang="en-US" dirty="0"/>
              <a:t>적용</a:t>
            </a:r>
            <a:endParaRPr lang="en-US" altLang="ko-KR" dirty="0"/>
          </a:p>
          <a:p>
            <a:pPr lvl="1"/>
            <a:r>
              <a:rPr lang="en-US" altLang="ko-KR" b="1" dirty="0" err="1">
                <a:solidFill>
                  <a:srgbClr val="0070C0"/>
                </a:solidFill>
              </a:rPr>
              <a:t>C_total</a:t>
            </a:r>
            <a:r>
              <a:rPr lang="ko-KR" altLang="en-US" b="1" dirty="0">
                <a:solidFill>
                  <a:srgbClr val="0070C0"/>
                </a:solidFill>
              </a:rPr>
              <a:t>이 낮을수록 해당 방식이 유리</a:t>
            </a:r>
            <a:endParaRPr lang="en-US" altLang="ko-KR" b="1" dirty="0">
              <a:solidFill>
                <a:srgbClr val="0070C0"/>
              </a:solidFill>
            </a:endParaRPr>
          </a:p>
          <a:p>
            <a:r>
              <a:rPr lang="ko-KR" altLang="en-US" b="1" dirty="0">
                <a:solidFill>
                  <a:srgbClr val="FF0000"/>
                </a:solidFill>
              </a:rPr>
              <a:t>환경별 가중치</a:t>
            </a:r>
            <a:r>
              <a:rPr lang="en-US" altLang="ko-KR" dirty="0"/>
              <a:t>(w₁, w₂, w₃, w₄)</a:t>
            </a:r>
          </a:p>
          <a:p>
            <a:pPr lvl="1"/>
            <a:r>
              <a:rPr lang="ko-KR" altLang="en-US" b="1" dirty="0" err="1">
                <a:solidFill>
                  <a:srgbClr val="0070C0"/>
                </a:solidFill>
              </a:rPr>
              <a:t>서버팜</a:t>
            </a:r>
            <a:r>
              <a:rPr lang="en-US" altLang="ko-KR" b="1" dirty="0">
                <a:solidFill>
                  <a:srgbClr val="0070C0"/>
                </a:solidFill>
              </a:rPr>
              <a:t>:</a:t>
            </a:r>
            <a:r>
              <a:rPr lang="en-US" altLang="ko-KR" dirty="0"/>
              <a:t> (0.10, 0.20, 0.20, </a:t>
            </a:r>
            <a:r>
              <a:rPr lang="en-US" altLang="ko-KR" b="1" dirty="0"/>
              <a:t>0.50</a:t>
            </a:r>
            <a:r>
              <a:rPr lang="en-US" altLang="ko-KR" dirty="0"/>
              <a:t>) - </a:t>
            </a:r>
            <a:r>
              <a:rPr lang="ko-KR" altLang="en-US" dirty="0"/>
              <a:t>호환성 우선</a:t>
            </a:r>
            <a:endParaRPr lang="en-US" altLang="ko-KR" dirty="0"/>
          </a:p>
          <a:p>
            <a:pPr lvl="1"/>
            <a:r>
              <a:rPr lang="ko-KR" altLang="en-US" b="1" dirty="0">
                <a:solidFill>
                  <a:srgbClr val="0070C0"/>
                </a:solidFill>
              </a:rPr>
              <a:t>모바일</a:t>
            </a:r>
            <a:r>
              <a:rPr lang="en-US" altLang="ko-KR" b="1" dirty="0">
                <a:solidFill>
                  <a:srgbClr val="0070C0"/>
                </a:solidFill>
              </a:rPr>
              <a:t>:</a:t>
            </a:r>
            <a:r>
              <a:rPr lang="en-US" altLang="ko-KR" dirty="0"/>
              <a:t> (0.20, </a:t>
            </a:r>
            <a:r>
              <a:rPr lang="en-US" altLang="ko-KR" b="1" dirty="0"/>
              <a:t>0.30</a:t>
            </a:r>
            <a:r>
              <a:rPr lang="en-US" altLang="ko-KR" dirty="0"/>
              <a:t>, 0.20, </a:t>
            </a:r>
            <a:r>
              <a:rPr lang="en-US" altLang="ko-KR" b="1" dirty="0"/>
              <a:t>0.30</a:t>
            </a:r>
            <a:r>
              <a:rPr lang="en-US" altLang="ko-KR" dirty="0"/>
              <a:t>) - </a:t>
            </a:r>
            <a:r>
              <a:rPr lang="ko-KR" altLang="en-US" dirty="0" err="1"/>
              <a:t>핸드셰이크</a:t>
            </a:r>
            <a:r>
              <a:rPr lang="ko-KR" altLang="en-US" dirty="0"/>
              <a:t> 부담 고려</a:t>
            </a:r>
            <a:endParaRPr lang="en-US" altLang="ko-KR" dirty="0"/>
          </a:p>
          <a:p>
            <a:pPr lvl="1"/>
            <a:r>
              <a:rPr lang="en-US" altLang="ko-KR" b="1" dirty="0">
                <a:solidFill>
                  <a:srgbClr val="0070C0"/>
                </a:solidFill>
              </a:rPr>
              <a:t>IoT:    </a:t>
            </a:r>
            <a:r>
              <a:rPr lang="en-US" altLang="ko-KR" dirty="0"/>
              <a:t>(</a:t>
            </a:r>
            <a:r>
              <a:rPr lang="en-US" altLang="ko-KR" b="1" dirty="0"/>
              <a:t>0.35</a:t>
            </a:r>
            <a:r>
              <a:rPr lang="en-US" altLang="ko-KR" dirty="0"/>
              <a:t>, 0.20, </a:t>
            </a:r>
            <a:r>
              <a:rPr lang="en-US" altLang="ko-KR" b="1" dirty="0"/>
              <a:t>0.35</a:t>
            </a:r>
            <a:r>
              <a:rPr lang="en-US" altLang="ko-KR" dirty="0"/>
              <a:t>, 0.10) - </a:t>
            </a:r>
            <a:r>
              <a:rPr lang="ko-KR" altLang="en-US" dirty="0"/>
              <a:t>크기</a:t>
            </a:r>
            <a:r>
              <a:rPr lang="en-US" altLang="ko-KR" dirty="0"/>
              <a:t>·</a:t>
            </a:r>
            <a:r>
              <a:rPr lang="ko-KR" altLang="en-US" dirty="0"/>
              <a:t>검증 비중 높음</a:t>
            </a:r>
            <a:r>
              <a:rPr lang="en-US" altLang="ko-KR" dirty="0"/>
              <a:t>(</a:t>
            </a:r>
            <a:r>
              <a:rPr lang="ko-KR" altLang="en-US" dirty="0"/>
              <a:t>자원 제약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104241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D975D-6373-B6F4-8F33-9503852EB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DD652F-57DA-8666-C520-E249FB47C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환경 및 측정 방식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E03876-7C7D-C898-ADF9-DC0208D014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504172" cy="5705475"/>
          </a:xfrm>
        </p:spPr>
        <p:txBody>
          <a:bodyPr>
            <a:norm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실험 환경</a:t>
            </a:r>
            <a:endParaRPr lang="en-US" altLang="ko-KR" sz="2400" b="1" dirty="0">
              <a:solidFill>
                <a:srgbClr val="FF0000"/>
              </a:solidFill>
            </a:endParaRPr>
          </a:p>
          <a:p>
            <a:pPr lvl="1"/>
            <a:r>
              <a:rPr lang="en-US" altLang="ko-KR" sz="2000" dirty="0"/>
              <a:t>OQS Docker </a:t>
            </a:r>
            <a:r>
              <a:rPr lang="ko-KR" altLang="en-US" sz="2000" dirty="0"/>
              <a:t>활용</a:t>
            </a:r>
            <a:r>
              <a:rPr lang="en-US" altLang="ko-KR" sz="2000" dirty="0"/>
              <a:t>(</a:t>
            </a:r>
            <a:r>
              <a:rPr lang="en-US" altLang="ko-KR" sz="2000" dirty="0" err="1"/>
              <a:t>openquantumsafe</a:t>
            </a:r>
            <a:r>
              <a:rPr lang="en-US" altLang="ko-KR" sz="2000" dirty="0"/>
              <a:t>/oqs-ossl3)</a:t>
            </a:r>
          </a:p>
          <a:p>
            <a:pPr lvl="1"/>
            <a:r>
              <a:rPr lang="en-US" altLang="ko-KR" sz="2000" dirty="0"/>
              <a:t>PQC </a:t>
            </a:r>
            <a:r>
              <a:rPr lang="ko-KR" altLang="en-US" sz="2000" dirty="0"/>
              <a:t>라이브러리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liboqs</a:t>
            </a:r>
            <a:r>
              <a:rPr lang="en-US" altLang="ko-KR" sz="2000" dirty="0"/>
              <a:t> 0.11.0</a:t>
            </a:r>
          </a:p>
          <a:p>
            <a:pPr lvl="1"/>
            <a:r>
              <a:rPr lang="en-US" altLang="ko-KR" sz="2000" dirty="0"/>
              <a:t>TLS </a:t>
            </a:r>
            <a:r>
              <a:rPr lang="ko-KR" altLang="en-US" sz="2000" dirty="0"/>
              <a:t>라이브러리</a:t>
            </a:r>
            <a:r>
              <a:rPr lang="en-US" altLang="ko-KR" sz="2000" dirty="0"/>
              <a:t>: OpenSSL</a:t>
            </a:r>
            <a:r>
              <a:rPr lang="ko-KR" altLang="en-US" sz="2000" dirty="0"/>
              <a:t> </a:t>
            </a:r>
            <a:r>
              <a:rPr lang="en-US" altLang="ko-KR" sz="2000" dirty="0"/>
              <a:t>3.6.0</a:t>
            </a:r>
          </a:p>
          <a:p>
            <a:pPr lvl="1"/>
            <a:r>
              <a:rPr lang="ko-KR" altLang="en-US" sz="2000" dirty="0"/>
              <a:t>서명 성능 측정</a:t>
            </a:r>
            <a:r>
              <a:rPr lang="en-US" altLang="ko-KR" sz="2000" dirty="0"/>
              <a:t>: OpenSSL</a:t>
            </a:r>
            <a:r>
              <a:rPr lang="ko-KR" altLang="en-US" sz="2000" dirty="0"/>
              <a:t> </a:t>
            </a:r>
            <a:r>
              <a:rPr lang="en-US" altLang="ko-KR" sz="2000" dirty="0"/>
              <a:t>speed(3</a:t>
            </a:r>
            <a:r>
              <a:rPr lang="ko-KR" altLang="en-US" sz="2000" dirty="0"/>
              <a:t>초</a:t>
            </a:r>
            <a:r>
              <a:rPr lang="en-US" altLang="ko-KR" sz="2000" dirty="0"/>
              <a:t>)</a:t>
            </a:r>
          </a:p>
          <a:p>
            <a:pPr lvl="1"/>
            <a:r>
              <a:rPr lang="ko-KR" altLang="en-US" sz="2000" dirty="0"/>
              <a:t>인증서 크기</a:t>
            </a:r>
            <a:r>
              <a:rPr lang="en-US" altLang="ko-KR" sz="2000" dirty="0"/>
              <a:t>: ASN.1/DER </a:t>
            </a:r>
            <a:r>
              <a:rPr lang="ko-KR" altLang="en-US" sz="2000" dirty="0"/>
              <a:t>인코딩 포함</a:t>
            </a:r>
            <a:endParaRPr lang="en-US" altLang="ko-KR" sz="2000" dirty="0"/>
          </a:p>
          <a:p>
            <a:r>
              <a:rPr lang="ko-KR" altLang="en-US" sz="2400" b="1" dirty="0">
                <a:solidFill>
                  <a:srgbClr val="FF0000"/>
                </a:solidFill>
              </a:rPr>
              <a:t>측정 방식</a:t>
            </a:r>
            <a:endParaRPr lang="en-US" altLang="ko-KR" sz="2400" b="1" dirty="0">
              <a:solidFill>
                <a:srgbClr val="FF0000"/>
              </a:solidFill>
            </a:endParaRPr>
          </a:p>
          <a:p>
            <a:pPr lvl="1"/>
            <a:r>
              <a:rPr lang="en-US" altLang="ko-KR" sz="2000" dirty="0"/>
              <a:t>Catalyst, Composite: </a:t>
            </a:r>
            <a:r>
              <a:rPr lang="ko-KR" altLang="en-US" sz="2000" dirty="0"/>
              <a:t>직접 측정</a:t>
            </a:r>
            <a:endParaRPr lang="en-US" altLang="ko-KR" sz="2000" dirty="0"/>
          </a:p>
          <a:p>
            <a:pPr lvl="1"/>
            <a:r>
              <a:rPr lang="en-US" altLang="ko-KR" sz="2000" dirty="0"/>
              <a:t>Chameleon: ASN.1</a:t>
            </a:r>
            <a:r>
              <a:rPr lang="ko-KR" altLang="en-US" sz="2000" dirty="0"/>
              <a:t> 구조 분석</a:t>
            </a:r>
            <a:r>
              <a:rPr lang="en-US" altLang="ko-KR" sz="2000" dirty="0"/>
              <a:t>(</a:t>
            </a:r>
            <a:r>
              <a:rPr lang="ko-KR" altLang="en-US" sz="2000" dirty="0"/>
              <a:t>추정</a:t>
            </a:r>
            <a:r>
              <a:rPr lang="en-US" altLang="ko-KR" sz="2000" dirty="0"/>
              <a:t>)</a:t>
            </a:r>
          </a:p>
          <a:p>
            <a:pPr lvl="1"/>
            <a:r>
              <a:rPr lang="en-US" altLang="ko-KR" sz="2000" dirty="0"/>
              <a:t>Combiner 2</a:t>
            </a:r>
            <a:r>
              <a:rPr lang="ko-KR" altLang="en-US" sz="2000" dirty="0"/>
              <a:t>종</a:t>
            </a:r>
            <a:r>
              <a:rPr lang="en-US" altLang="ko-KR" sz="2000" dirty="0"/>
              <a:t>: </a:t>
            </a:r>
            <a:r>
              <a:rPr lang="ko-KR" altLang="en-US" sz="2000" dirty="0"/>
              <a:t>구성</a:t>
            </a:r>
            <a:r>
              <a:rPr lang="en-US" altLang="ko-KR" sz="2000" dirty="0"/>
              <a:t> </a:t>
            </a:r>
            <a:r>
              <a:rPr lang="ko-KR" altLang="en-US" sz="2000" dirty="0"/>
              <a:t>요소 합산</a:t>
            </a:r>
            <a:r>
              <a:rPr lang="en-US" altLang="ko-KR" sz="2000" dirty="0"/>
              <a:t>(</a:t>
            </a:r>
            <a:r>
              <a:rPr lang="ko-KR" altLang="en-US" sz="2000" dirty="0"/>
              <a:t>추정</a:t>
            </a:r>
            <a:r>
              <a:rPr lang="en-US" altLang="ko-KR" sz="2000" dirty="0"/>
              <a:t>)</a:t>
            </a:r>
          </a:p>
          <a:p>
            <a:pPr lvl="1"/>
            <a:r>
              <a:rPr lang="ko-KR" altLang="en-US" sz="2000" b="1" dirty="0">
                <a:solidFill>
                  <a:srgbClr val="0070C0"/>
                </a:solidFill>
              </a:rPr>
              <a:t>추정 모델 검증</a:t>
            </a:r>
            <a:r>
              <a:rPr lang="en-US" altLang="ko-KR" sz="2000" b="1" dirty="0">
                <a:solidFill>
                  <a:srgbClr val="0070C0"/>
                </a:solidFill>
              </a:rPr>
              <a:t>: Composite </a:t>
            </a:r>
            <a:r>
              <a:rPr lang="ko-KR" altLang="en-US" sz="2000" b="1" dirty="0" err="1">
                <a:solidFill>
                  <a:srgbClr val="0070C0"/>
                </a:solidFill>
              </a:rPr>
              <a:t>합산값</a:t>
            </a:r>
            <a:r>
              <a:rPr lang="ko-KR" altLang="en-US" sz="2000" b="1" dirty="0">
                <a:solidFill>
                  <a:srgbClr val="0070C0"/>
                </a:solidFill>
              </a:rPr>
              <a:t> </a:t>
            </a:r>
            <a:r>
              <a:rPr lang="en-US" altLang="ko-KR" sz="2000" b="1" dirty="0">
                <a:solidFill>
                  <a:srgbClr val="0070C0"/>
                </a:solidFill>
              </a:rPr>
              <a:t>vs </a:t>
            </a:r>
            <a:r>
              <a:rPr lang="ko-KR" altLang="en-US" sz="2000" b="1" dirty="0" err="1">
                <a:solidFill>
                  <a:srgbClr val="0070C0"/>
                </a:solidFill>
              </a:rPr>
              <a:t>실측값</a:t>
            </a:r>
            <a:r>
              <a:rPr lang="ko-KR" altLang="en-US" sz="2000" b="1" dirty="0">
                <a:solidFill>
                  <a:srgbClr val="0070C0"/>
                </a:solidFill>
              </a:rPr>
              <a:t> </a:t>
            </a:r>
            <a:r>
              <a:rPr lang="en-US" altLang="ko-KR" sz="2000" b="1" dirty="0">
                <a:solidFill>
                  <a:srgbClr val="0070C0"/>
                </a:solidFill>
              </a:rPr>
              <a:t>-&gt;</a:t>
            </a:r>
            <a:r>
              <a:rPr lang="en-US" altLang="ko-KR" sz="2000" dirty="0"/>
              <a:t> </a:t>
            </a:r>
            <a:r>
              <a:rPr lang="ko-KR" altLang="en-US" sz="2000" b="1" dirty="0">
                <a:solidFill>
                  <a:srgbClr val="FF0000"/>
                </a:solidFill>
              </a:rPr>
              <a:t>오차 </a:t>
            </a:r>
            <a:r>
              <a:rPr lang="en-US" altLang="ko-KR" sz="2000" b="1" dirty="0">
                <a:solidFill>
                  <a:srgbClr val="FF0000"/>
                </a:solidFill>
              </a:rPr>
              <a:t>0.6%</a:t>
            </a:r>
          </a:p>
          <a:p>
            <a:pPr lvl="2"/>
            <a:r>
              <a:rPr lang="ko-KR" altLang="en-US" sz="1600" dirty="0"/>
              <a:t>추정 모델의 경우 </a:t>
            </a:r>
            <a:r>
              <a:rPr lang="en-US" altLang="ko-KR" sz="1600" dirty="0" err="1"/>
              <a:t>oqsprovider</a:t>
            </a:r>
            <a:r>
              <a:rPr lang="en-US" altLang="ko-KR" sz="1600" dirty="0"/>
              <a:t> </a:t>
            </a:r>
            <a:r>
              <a:rPr lang="ko-KR" altLang="en-US" sz="1600" dirty="0" err="1"/>
              <a:t>미구현</a:t>
            </a:r>
            <a:r>
              <a:rPr lang="ko-KR" altLang="en-US" sz="1600" dirty="0"/>
              <a:t> </a:t>
            </a:r>
            <a:r>
              <a:rPr lang="en-US" altLang="ko-KR" sz="1600" dirty="0"/>
              <a:t>-&gt; composite</a:t>
            </a:r>
            <a:r>
              <a:rPr lang="ko-KR" altLang="en-US" sz="1600" dirty="0"/>
              <a:t>의 </a:t>
            </a:r>
            <a:r>
              <a:rPr lang="ko-KR" altLang="en-US" sz="1600" dirty="0" err="1"/>
              <a:t>추정값</a:t>
            </a:r>
            <a:r>
              <a:rPr lang="ko-KR" altLang="en-US" sz="1600" dirty="0"/>
              <a:t> </a:t>
            </a:r>
            <a:r>
              <a:rPr lang="en-US" altLang="ko-KR" sz="1600" dirty="0"/>
              <a:t>vs </a:t>
            </a:r>
            <a:r>
              <a:rPr lang="ko-KR" altLang="en-US" sz="1600" dirty="0" err="1"/>
              <a:t>실측값</a:t>
            </a:r>
            <a:r>
              <a:rPr lang="ko-KR" altLang="en-US" sz="1600" dirty="0"/>
              <a:t> 오차 측정 </a:t>
            </a:r>
            <a:r>
              <a:rPr lang="en-US" altLang="ko-KR" sz="1600" dirty="0"/>
              <a:t>-&gt; 0.6%</a:t>
            </a:r>
            <a:r>
              <a:rPr lang="ko-KR" altLang="en-US" sz="1600" dirty="0"/>
              <a:t>로 미미 </a:t>
            </a:r>
            <a:r>
              <a:rPr lang="en-US" altLang="ko-KR" sz="1600" dirty="0"/>
              <a:t>-&gt; </a:t>
            </a:r>
            <a:r>
              <a:rPr lang="ko-KR" altLang="en-US" sz="1600" dirty="0"/>
              <a:t>신뢰도 확보</a:t>
            </a:r>
            <a:endParaRPr lang="en-US" altLang="ko-KR" sz="1600" dirty="0"/>
          </a:p>
          <a:p>
            <a:r>
              <a:rPr lang="en-US" altLang="ko-KR" sz="2400" b="1" dirty="0">
                <a:solidFill>
                  <a:srgbClr val="FF0000"/>
                </a:solidFill>
              </a:rPr>
              <a:t>Composite</a:t>
            </a:r>
            <a:r>
              <a:rPr lang="ko-KR" altLang="en-US" sz="2400" b="1" dirty="0">
                <a:solidFill>
                  <a:srgbClr val="FF0000"/>
                </a:solidFill>
              </a:rPr>
              <a:t>의 </a:t>
            </a:r>
            <a:r>
              <a:rPr lang="en-US" altLang="ko-KR" sz="2400" b="1" dirty="0">
                <a:solidFill>
                  <a:srgbClr val="FF0000"/>
                </a:solidFill>
              </a:rPr>
              <a:t>P-384 </a:t>
            </a:r>
            <a:r>
              <a:rPr lang="ko-KR" altLang="en-US" sz="2400" b="1" dirty="0">
                <a:solidFill>
                  <a:srgbClr val="FF0000"/>
                </a:solidFill>
              </a:rPr>
              <a:t>이슈</a:t>
            </a:r>
            <a:endParaRPr lang="en-US" altLang="ko-KR" sz="2400" b="1" dirty="0">
              <a:solidFill>
                <a:srgbClr val="FF0000"/>
              </a:solidFill>
            </a:endParaRPr>
          </a:p>
          <a:p>
            <a:pPr lvl="1"/>
            <a:r>
              <a:rPr lang="en-US" altLang="ko-KR" sz="2000" b="1" dirty="0">
                <a:solidFill>
                  <a:srgbClr val="0070C0"/>
                </a:solidFill>
              </a:rPr>
              <a:t>P-384</a:t>
            </a:r>
            <a:r>
              <a:rPr lang="ko-KR" altLang="en-US" sz="2000" b="1" dirty="0">
                <a:solidFill>
                  <a:srgbClr val="0070C0"/>
                </a:solidFill>
              </a:rPr>
              <a:t>의 검증 속도는 </a:t>
            </a:r>
            <a:r>
              <a:rPr lang="en-US" altLang="ko-KR" sz="2000" b="1" dirty="0">
                <a:solidFill>
                  <a:srgbClr val="0070C0"/>
                </a:solidFill>
              </a:rPr>
              <a:t>P-256 </a:t>
            </a:r>
            <a:r>
              <a:rPr lang="ko-KR" altLang="en-US" sz="2000" b="1" dirty="0">
                <a:solidFill>
                  <a:srgbClr val="0070C0"/>
                </a:solidFill>
              </a:rPr>
              <a:t>대비 약 </a:t>
            </a:r>
            <a:r>
              <a:rPr lang="en-US" altLang="ko-KR" sz="2000" b="1" dirty="0">
                <a:solidFill>
                  <a:srgbClr val="0070C0"/>
                </a:solidFill>
              </a:rPr>
              <a:t>10</a:t>
            </a:r>
            <a:r>
              <a:rPr lang="ko-KR" altLang="en-US" sz="2000" b="1" dirty="0">
                <a:solidFill>
                  <a:srgbClr val="0070C0"/>
                </a:solidFill>
              </a:rPr>
              <a:t>배 느림</a:t>
            </a:r>
            <a:r>
              <a:rPr lang="el-GR" altLang="ko-KR" sz="2000" dirty="0"/>
              <a:t>(385.7 μ</a:t>
            </a:r>
            <a:r>
              <a:rPr lang="en-US" altLang="ko-KR" sz="2000" dirty="0"/>
              <a:t>s vs 38.1 </a:t>
            </a:r>
            <a:r>
              <a:rPr lang="el-GR" altLang="ko-KR" sz="2000" dirty="0"/>
              <a:t>μ</a:t>
            </a:r>
            <a:r>
              <a:rPr lang="en-US" altLang="ko-KR" sz="2000" dirty="0"/>
              <a:t>s)</a:t>
            </a:r>
          </a:p>
          <a:p>
            <a:pPr lvl="1"/>
            <a:r>
              <a:rPr lang="ko-KR" altLang="en-US" sz="2000" dirty="0"/>
              <a:t>결과 분석 시 </a:t>
            </a:r>
            <a:r>
              <a:rPr lang="en-US" altLang="ko-KR" sz="2000" dirty="0"/>
              <a:t>P-256 </a:t>
            </a:r>
            <a:r>
              <a:rPr lang="ko-KR" altLang="en-US" sz="2000" dirty="0"/>
              <a:t>추정 시나리오 별도 제시</a:t>
            </a:r>
            <a:endParaRPr lang="en-US" altLang="ko-KR" sz="20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4B5307E-7A4E-DF1E-5A7F-6787B7D08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698208"/>
              </p:ext>
            </p:extLst>
          </p:nvPr>
        </p:nvGraphicFramePr>
        <p:xfrm>
          <a:off x="7160456" y="2106636"/>
          <a:ext cx="450166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0831">
                  <a:extLst>
                    <a:ext uri="{9D8B030D-6E8A-4147-A177-3AD203B41FA5}">
                      <a16:colId xmlns:a16="http://schemas.microsoft.com/office/drawing/2014/main" val="2171237828"/>
                    </a:ext>
                  </a:extLst>
                </a:gridCol>
                <a:gridCol w="2250831">
                  <a:extLst>
                    <a:ext uri="{9D8B030D-6E8A-4147-A177-3AD203B41FA5}">
                      <a16:colId xmlns:a16="http://schemas.microsoft.com/office/drawing/2014/main" val="1592891775"/>
                    </a:ext>
                  </a:extLst>
                </a:gridCol>
              </a:tblGrid>
              <a:tr h="278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방식</a:t>
                      </a:r>
                      <a:r>
                        <a:rPr lang="en-US" altLang="ko-KR" sz="1600" dirty="0"/>
                        <a:t>(ML-DSA-65)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레거시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1965884"/>
                  </a:ext>
                </a:extLst>
              </a:tr>
              <a:tr h="2787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Catalyst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ECDSA P-256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9265973"/>
                  </a:ext>
                </a:extLst>
              </a:tr>
              <a:tr h="2787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Composite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ECDSA P-384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2880513"/>
                  </a:ext>
                </a:extLst>
              </a:tr>
              <a:tr h="2787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Chameleon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ECDSA P-256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5651001"/>
                  </a:ext>
                </a:extLst>
              </a:tr>
              <a:tr h="2787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Naive Combiner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ECDSA P-256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694428"/>
                  </a:ext>
                </a:extLst>
              </a:tr>
              <a:tr h="2787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Compact Combiner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Ed25519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915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698373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700F2-B85C-3F77-6FF3-AD1394770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1A5DB7-E89F-5CC1-127F-B89C633B9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인증서</a:t>
            </a:r>
            <a:r>
              <a:rPr lang="en-US" altLang="ko-KR" dirty="0"/>
              <a:t> DER </a:t>
            </a:r>
            <a:r>
              <a:rPr lang="ko-KR" altLang="en-US" dirty="0"/>
              <a:t>크기 비교</a:t>
            </a:r>
            <a:r>
              <a:rPr lang="en-US" altLang="ko-KR" dirty="0"/>
              <a:t>(ML-DSA-65 </a:t>
            </a:r>
            <a:r>
              <a:rPr lang="ko-KR" altLang="en-US" dirty="0"/>
              <a:t>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740F78-DAD7-F068-B2C9-A9C69775ED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b="1" dirty="0">
              <a:solidFill>
                <a:srgbClr val="FF0000"/>
              </a:solidFill>
            </a:endParaRPr>
          </a:p>
          <a:p>
            <a:r>
              <a:rPr lang="ko-KR" altLang="en-US" b="1" dirty="0">
                <a:solidFill>
                  <a:srgbClr val="FF0000"/>
                </a:solidFill>
              </a:rPr>
              <a:t>결과 및 분석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r>
              <a:rPr lang="en-US" altLang="ko-KR" dirty="0"/>
              <a:t>5</a:t>
            </a:r>
            <a:r>
              <a:rPr lang="ko-KR" altLang="en-US" dirty="0"/>
              <a:t>가지 방식의 크기 범위</a:t>
            </a:r>
            <a:r>
              <a:rPr lang="en-US" altLang="ko-KR" dirty="0"/>
              <a:t>: 5,579Byte ~ 5,823Byte</a:t>
            </a:r>
          </a:p>
          <a:p>
            <a:pPr lvl="1"/>
            <a:r>
              <a:rPr lang="ko-KR" altLang="en-US" b="1" dirty="0">
                <a:solidFill>
                  <a:srgbClr val="0070C0"/>
                </a:solidFill>
              </a:rPr>
              <a:t>최대 차이 </a:t>
            </a:r>
            <a:r>
              <a:rPr lang="en-US" altLang="ko-KR" b="1" dirty="0">
                <a:solidFill>
                  <a:srgbClr val="0070C0"/>
                </a:solidFill>
              </a:rPr>
              <a:t>244 Byte(4.4%)</a:t>
            </a:r>
          </a:p>
          <a:p>
            <a:pPr lvl="1"/>
            <a:r>
              <a:rPr lang="en-US" altLang="ko-KR" dirty="0"/>
              <a:t>ML-DSA-65 </a:t>
            </a:r>
            <a:r>
              <a:rPr lang="ko-KR" altLang="en-US" dirty="0"/>
              <a:t>공개키</a:t>
            </a:r>
            <a:r>
              <a:rPr lang="en-US" altLang="ko-KR" dirty="0"/>
              <a:t>(1,974Byte)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서명</a:t>
            </a:r>
            <a:r>
              <a:rPr lang="en-US" altLang="ko-KR" dirty="0"/>
              <a:t>(3,309Byte)</a:t>
            </a:r>
            <a:r>
              <a:rPr lang="ko-KR" altLang="en-US" dirty="0"/>
              <a:t>이 인증서 대부분 차지</a:t>
            </a:r>
            <a:endParaRPr lang="en-US" altLang="ko-KR" dirty="0"/>
          </a:p>
          <a:p>
            <a:pPr lvl="2"/>
            <a:r>
              <a:rPr lang="ko-KR" altLang="en-US" dirty="0"/>
              <a:t>본질적인 방식 간 크기 차이는 적음</a:t>
            </a:r>
            <a:endParaRPr lang="en-US" altLang="ko-KR" dirty="0"/>
          </a:p>
          <a:p>
            <a:pPr lvl="1"/>
            <a:r>
              <a:rPr lang="ko-KR" altLang="en-US" b="1" dirty="0">
                <a:solidFill>
                  <a:srgbClr val="0070C0"/>
                </a:solidFill>
              </a:rPr>
              <a:t>최소</a:t>
            </a:r>
            <a:r>
              <a:rPr lang="en-US" altLang="ko-KR" b="1" dirty="0">
                <a:solidFill>
                  <a:srgbClr val="0070C0"/>
                </a:solidFill>
              </a:rPr>
              <a:t>: Compact Combiner</a:t>
            </a:r>
            <a:r>
              <a:rPr lang="en-US" altLang="ko-KR" dirty="0"/>
              <a:t> (Ed25519 + commitment 32Byte</a:t>
            </a:r>
            <a:r>
              <a:rPr lang="ko-KR" altLang="en-US" dirty="0"/>
              <a:t> 생략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b="1" dirty="0">
                <a:solidFill>
                  <a:srgbClr val="0070C0"/>
                </a:solidFill>
              </a:rPr>
              <a:t>최대</a:t>
            </a:r>
            <a:r>
              <a:rPr lang="en-US" altLang="ko-KR" b="1" dirty="0">
                <a:solidFill>
                  <a:srgbClr val="0070C0"/>
                </a:solidFill>
              </a:rPr>
              <a:t>: Chameleon</a:t>
            </a:r>
            <a:r>
              <a:rPr lang="en-US" altLang="ko-KR" dirty="0"/>
              <a:t>(Delta </a:t>
            </a:r>
            <a:r>
              <a:rPr lang="ko-KR" altLang="en-US" dirty="0"/>
              <a:t>구조 오버헤드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8567E7A-27FD-6E80-95C8-EFA0A6661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120951"/>
              </p:ext>
            </p:extLst>
          </p:nvPr>
        </p:nvGraphicFramePr>
        <p:xfrm>
          <a:off x="694736" y="1296442"/>
          <a:ext cx="11085344" cy="1629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5668">
                  <a:extLst>
                    <a:ext uri="{9D8B030D-6E8A-4147-A177-3AD203B41FA5}">
                      <a16:colId xmlns:a16="http://schemas.microsoft.com/office/drawing/2014/main" val="1712079297"/>
                    </a:ext>
                  </a:extLst>
                </a:gridCol>
                <a:gridCol w="1385668">
                  <a:extLst>
                    <a:ext uri="{9D8B030D-6E8A-4147-A177-3AD203B41FA5}">
                      <a16:colId xmlns:a16="http://schemas.microsoft.com/office/drawing/2014/main" val="2803445922"/>
                    </a:ext>
                  </a:extLst>
                </a:gridCol>
                <a:gridCol w="1385668">
                  <a:extLst>
                    <a:ext uri="{9D8B030D-6E8A-4147-A177-3AD203B41FA5}">
                      <a16:colId xmlns:a16="http://schemas.microsoft.com/office/drawing/2014/main" val="3637591243"/>
                    </a:ext>
                  </a:extLst>
                </a:gridCol>
                <a:gridCol w="1385668">
                  <a:extLst>
                    <a:ext uri="{9D8B030D-6E8A-4147-A177-3AD203B41FA5}">
                      <a16:colId xmlns:a16="http://schemas.microsoft.com/office/drawing/2014/main" val="3729957852"/>
                    </a:ext>
                  </a:extLst>
                </a:gridCol>
                <a:gridCol w="1385668">
                  <a:extLst>
                    <a:ext uri="{9D8B030D-6E8A-4147-A177-3AD203B41FA5}">
                      <a16:colId xmlns:a16="http://schemas.microsoft.com/office/drawing/2014/main" val="225377011"/>
                    </a:ext>
                  </a:extLst>
                </a:gridCol>
                <a:gridCol w="1385668">
                  <a:extLst>
                    <a:ext uri="{9D8B030D-6E8A-4147-A177-3AD203B41FA5}">
                      <a16:colId xmlns:a16="http://schemas.microsoft.com/office/drawing/2014/main" val="1060028323"/>
                    </a:ext>
                  </a:extLst>
                </a:gridCol>
                <a:gridCol w="1385668">
                  <a:extLst>
                    <a:ext uri="{9D8B030D-6E8A-4147-A177-3AD203B41FA5}">
                      <a16:colId xmlns:a16="http://schemas.microsoft.com/office/drawing/2014/main" val="1907353116"/>
                    </a:ext>
                  </a:extLst>
                </a:gridCol>
                <a:gridCol w="1385668">
                  <a:extLst>
                    <a:ext uri="{9D8B030D-6E8A-4147-A177-3AD203B41FA5}">
                      <a16:colId xmlns:a16="http://schemas.microsoft.com/office/drawing/2014/main" val="1153804166"/>
                    </a:ext>
                  </a:extLst>
                </a:gridCol>
              </a:tblGrid>
              <a:tr h="7045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방식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ECDSA </a:t>
                      </a:r>
                    </a:p>
                    <a:p>
                      <a:pPr algn="ctr" latinLnBrk="1"/>
                      <a:r>
                        <a:rPr lang="en-US" altLang="ko-KR" sz="1600" dirty="0"/>
                        <a:t>P-256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ML-DSA-65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Compact Combiner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Naive Combiner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Composite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Catalyst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Chameleon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5943711"/>
                  </a:ext>
                </a:extLst>
              </a:tr>
              <a:tr h="4625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크기</a:t>
                      </a:r>
                      <a:r>
                        <a:rPr lang="en-US" altLang="ko-KR" sz="1600" b="1" dirty="0"/>
                        <a:t>(Byte)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377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5,507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5,579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5,660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5,706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5,749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5,823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7089405"/>
                  </a:ext>
                </a:extLst>
              </a:tr>
              <a:tr h="4625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vs ECDSA</a:t>
                      </a:r>
                      <a:endParaRPr lang="ko-KR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1.0x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14.6x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14.8x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15.0x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15.1x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15.2x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15.4x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6429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168335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3430F-22B1-1F94-2352-16CC30358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검증</a:t>
            </a:r>
            <a:r>
              <a:rPr lang="en-US" altLang="ko-KR" dirty="0"/>
              <a:t> </a:t>
            </a:r>
            <a:r>
              <a:rPr lang="ko-KR" altLang="en-US" dirty="0"/>
              <a:t>시간 비교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0958A4-CE1B-417D-D32E-39F84E467C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656238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측정 조건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r>
              <a:rPr lang="ko-KR" altLang="en-US" dirty="0"/>
              <a:t>체인 길이 </a:t>
            </a:r>
            <a:r>
              <a:rPr lang="en-US" altLang="ko-KR" dirty="0"/>
              <a:t>2 -&gt; 3</a:t>
            </a:r>
            <a:r>
              <a:rPr lang="ko-KR" altLang="en-US" dirty="0"/>
              <a:t>회 검증</a:t>
            </a:r>
            <a:r>
              <a:rPr lang="en-US" altLang="ko-KR" dirty="0"/>
              <a:t>(CA </a:t>
            </a:r>
            <a:r>
              <a:rPr lang="ko-KR" altLang="en-US" dirty="0"/>
              <a:t>서명 </a:t>
            </a:r>
            <a:r>
              <a:rPr lang="en-US" altLang="ko-KR" dirty="0"/>
              <a:t>2</a:t>
            </a:r>
            <a:r>
              <a:rPr lang="ko-KR" altLang="en-US" dirty="0"/>
              <a:t>회 </a:t>
            </a:r>
            <a:r>
              <a:rPr lang="en-US" altLang="ko-KR" dirty="0"/>
              <a:t>+ </a:t>
            </a:r>
            <a:r>
              <a:rPr lang="en-US" altLang="ko-KR" dirty="0" err="1"/>
              <a:t>CertificateVerify</a:t>
            </a:r>
            <a:r>
              <a:rPr lang="en-US" altLang="ko-KR" dirty="0"/>
              <a:t> 1</a:t>
            </a:r>
            <a:r>
              <a:rPr lang="ko-KR" altLang="en-US" dirty="0"/>
              <a:t>회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 err="1"/>
              <a:t>CertificateVerify</a:t>
            </a:r>
            <a:r>
              <a:rPr lang="ko-KR" altLang="en-US" dirty="0"/>
              <a:t>도 양쪽 서명</a:t>
            </a:r>
            <a:r>
              <a:rPr lang="en-US" altLang="ko-KR" dirty="0"/>
              <a:t>(</a:t>
            </a:r>
            <a:r>
              <a:rPr lang="ko-KR" altLang="en-US" dirty="0"/>
              <a:t>레거시 </a:t>
            </a:r>
            <a:r>
              <a:rPr lang="en-US" altLang="ko-KR" dirty="0"/>
              <a:t>+ PQC)</a:t>
            </a:r>
            <a:r>
              <a:rPr lang="ko-KR" altLang="en-US" dirty="0"/>
              <a:t> 모두 포함 가정</a:t>
            </a:r>
            <a:endParaRPr lang="en-US" altLang="ko-KR" dirty="0"/>
          </a:p>
          <a:p>
            <a:r>
              <a:rPr lang="en-US" altLang="ko-KR" b="1" dirty="0">
                <a:solidFill>
                  <a:srgbClr val="FF0000"/>
                </a:solidFill>
              </a:rPr>
              <a:t>1</a:t>
            </a:r>
            <a:r>
              <a:rPr lang="ko-KR" altLang="en-US" b="1" dirty="0">
                <a:solidFill>
                  <a:srgbClr val="FF0000"/>
                </a:solidFill>
              </a:rPr>
              <a:t>회 검증 시간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r>
              <a:rPr lang="en-US" altLang="ko-KR" b="1" dirty="0" err="1">
                <a:solidFill>
                  <a:srgbClr val="0070C0"/>
                </a:solidFill>
              </a:rPr>
              <a:t>Catalyst·Chameleon·Naive</a:t>
            </a:r>
            <a:r>
              <a:rPr lang="en-US" altLang="ko-KR" b="1" dirty="0">
                <a:solidFill>
                  <a:srgbClr val="0070C0"/>
                </a:solidFill>
              </a:rPr>
              <a:t>: 153.8 </a:t>
            </a:r>
            <a:r>
              <a:rPr lang="el-GR" altLang="ko-KR" b="1" dirty="0">
                <a:solidFill>
                  <a:srgbClr val="0070C0"/>
                </a:solidFill>
              </a:rPr>
              <a:t>μ</a:t>
            </a:r>
            <a:r>
              <a:rPr lang="en-US" altLang="ko-KR" b="1" dirty="0">
                <a:solidFill>
                  <a:srgbClr val="0070C0"/>
                </a:solidFill>
              </a:rPr>
              <a:t>s </a:t>
            </a:r>
          </a:p>
          <a:p>
            <a:pPr lvl="2"/>
            <a:r>
              <a:rPr lang="en-US" altLang="ko-KR" sz="1800" dirty="0"/>
              <a:t>ECDSA P-256(38.1) + ML-DSA-65(115.7) = 153.8 </a:t>
            </a:r>
          </a:p>
          <a:p>
            <a:pPr lvl="1"/>
            <a:r>
              <a:rPr lang="it-IT" altLang="ko-KR" b="1" dirty="0">
                <a:solidFill>
                  <a:srgbClr val="0070C0"/>
                </a:solidFill>
              </a:rPr>
              <a:t>Compact: 168.8 μs </a:t>
            </a:r>
          </a:p>
          <a:p>
            <a:pPr lvl="2"/>
            <a:r>
              <a:rPr lang="it-IT" altLang="ko-KR" sz="1800" dirty="0"/>
              <a:t>Ed25519(53.1) + ML-DSA-65(115.7) = 168.8</a:t>
            </a:r>
            <a:endParaRPr lang="en-US" altLang="ko-KR" sz="1800" dirty="0"/>
          </a:p>
          <a:p>
            <a:r>
              <a:rPr lang="ko-KR" altLang="en-US" b="1" dirty="0">
                <a:solidFill>
                  <a:srgbClr val="FF0000"/>
                </a:solidFill>
              </a:rPr>
              <a:t>결과 및 분석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r>
              <a:rPr lang="en-US" altLang="ko-KR" b="1" dirty="0">
                <a:solidFill>
                  <a:srgbClr val="0070C0"/>
                </a:solidFill>
              </a:rPr>
              <a:t>Composite(P-384): 1,207.2 </a:t>
            </a:r>
            <a:r>
              <a:rPr lang="el-GR" altLang="ko-KR" b="1" dirty="0">
                <a:solidFill>
                  <a:srgbClr val="0070C0"/>
                </a:solidFill>
              </a:rPr>
              <a:t>μ</a:t>
            </a:r>
            <a:r>
              <a:rPr lang="en-US" altLang="ko-KR" b="1" dirty="0">
                <a:solidFill>
                  <a:srgbClr val="0070C0"/>
                </a:solidFill>
              </a:rPr>
              <a:t>s</a:t>
            </a:r>
            <a:r>
              <a:rPr lang="ko-KR" altLang="en-US" b="1" dirty="0">
                <a:solidFill>
                  <a:srgbClr val="0070C0"/>
                </a:solidFill>
              </a:rPr>
              <a:t>로 가장 느림 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2"/>
            <a:r>
              <a:rPr lang="ko-KR" altLang="en-US" sz="1800" dirty="0"/>
              <a:t>원인</a:t>
            </a:r>
            <a:r>
              <a:rPr lang="en-US" altLang="ko-KR" sz="1800" dirty="0"/>
              <a:t>: ECDSA P-384 </a:t>
            </a:r>
            <a:r>
              <a:rPr lang="ko-KR" altLang="en-US" sz="1800" dirty="0"/>
              <a:t>검증 속도 자체가 </a:t>
            </a:r>
            <a:r>
              <a:rPr lang="en-US" altLang="ko-KR" sz="1800" dirty="0"/>
              <a:t>P-256 </a:t>
            </a:r>
            <a:r>
              <a:rPr lang="ko-KR" altLang="en-US" sz="1800" dirty="0"/>
              <a:t>대비 약 </a:t>
            </a:r>
            <a:r>
              <a:rPr lang="en-US" altLang="ko-KR" sz="1800" dirty="0"/>
              <a:t>10</a:t>
            </a:r>
            <a:r>
              <a:rPr lang="ko-KR" altLang="en-US" sz="1800" dirty="0"/>
              <a:t>배 느림</a:t>
            </a:r>
            <a:endParaRPr lang="en-US" altLang="ko-KR" sz="1800" dirty="0"/>
          </a:p>
          <a:p>
            <a:pPr lvl="2"/>
            <a:r>
              <a:rPr lang="en-US" altLang="ko-KR" dirty="0"/>
              <a:t>P-256 </a:t>
            </a:r>
            <a:r>
              <a:rPr lang="ko-KR" altLang="en-US" dirty="0"/>
              <a:t>사용 가능 시 </a:t>
            </a:r>
            <a:r>
              <a:rPr lang="en-US" altLang="ko-KR" dirty="0"/>
              <a:t>461.4 </a:t>
            </a:r>
            <a:r>
              <a:rPr lang="en-US" altLang="ko-KR" dirty="0" err="1"/>
              <a:t>μs</a:t>
            </a:r>
            <a:r>
              <a:rPr lang="ko-KR" altLang="en-US" dirty="0"/>
              <a:t>로 다른 방식과 동등 </a:t>
            </a:r>
            <a:endParaRPr lang="en-US" altLang="ko-KR" dirty="0"/>
          </a:p>
          <a:p>
            <a:pPr lvl="1"/>
            <a:r>
              <a:rPr lang="en-US" altLang="ko-KR" dirty="0"/>
              <a:t>ML-DSA-65 </a:t>
            </a:r>
            <a:r>
              <a:rPr lang="ko-KR" altLang="en-US" dirty="0"/>
              <a:t>단독</a:t>
            </a:r>
            <a:r>
              <a:rPr lang="en-US" altLang="ko-KR" dirty="0"/>
              <a:t>(347.1 </a:t>
            </a:r>
            <a:r>
              <a:rPr lang="en-US" altLang="ko-KR" dirty="0" err="1"/>
              <a:t>μs</a:t>
            </a:r>
            <a:r>
              <a:rPr lang="en-US" altLang="ko-KR" dirty="0"/>
              <a:t>)</a:t>
            </a:r>
            <a:r>
              <a:rPr lang="ko-KR" altLang="en-US" dirty="0"/>
              <a:t>은 </a:t>
            </a:r>
            <a:r>
              <a:rPr lang="en-US" altLang="ko-KR" dirty="0"/>
              <a:t>ECDSA(114.3 </a:t>
            </a:r>
            <a:r>
              <a:rPr lang="en-US" altLang="ko-KR" dirty="0" err="1"/>
              <a:t>μs</a:t>
            </a:r>
            <a:r>
              <a:rPr lang="en-US" altLang="ko-KR" dirty="0"/>
              <a:t>)</a:t>
            </a:r>
            <a:r>
              <a:rPr lang="ko-KR" altLang="en-US" dirty="0"/>
              <a:t>의 </a:t>
            </a:r>
            <a:r>
              <a:rPr lang="en-US" altLang="ko-KR" dirty="0"/>
              <a:t>3.0</a:t>
            </a:r>
            <a:r>
              <a:rPr lang="ko-KR" altLang="en-US" dirty="0"/>
              <a:t>배 </a:t>
            </a:r>
            <a:endParaRPr lang="en-US" altLang="ko-KR" dirty="0"/>
          </a:p>
          <a:p>
            <a:pPr lvl="1"/>
            <a:r>
              <a:rPr lang="ko-KR" altLang="en-US" dirty="0"/>
              <a:t>서명 크기 증가</a:t>
            </a:r>
            <a:r>
              <a:rPr lang="en-US" altLang="ko-KR" dirty="0"/>
              <a:t>(46</a:t>
            </a:r>
            <a:r>
              <a:rPr lang="ko-KR" altLang="en-US" dirty="0"/>
              <a:t>배</a:t>
            </a:r>
            <a:r>
              <a:rPr lang="en-US" altLang="ko-KR" dirty="0"/>
              <a:t>)</a:t>
            </a:r>
            <a:r>
              <a:rPr lang="ko-KR" altLang="en-US" dirty="0"/>
              <a:t>에 비해</a:t>
            </a:r>
            <a:r>
              <a:rPr lang="en-US" altLang="ko-KR" dirty="0"/>
              <a:t>, </a:t>
            </a:r>
            <a:r>
              <a:rPr lang="ko-KR" altLang="en-US" dirty="0"/>
              <a:t>검증 속도 저하는 상대적으로 완만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9AAA1E-FD36-E6BB-3DE9-6666073DD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604" y="2489747"/>
            <a:ext cx="4070040" cy="263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4580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F4935D-13BF-E094-4E0E-CC5FE9B6D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환경별 적합성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6B950F-E755-61A6-BCEC-222B0252DB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705475"/>
          </a:xfrm>
        </p:spPr>
        <p:txBody>
          <a:bodyPr>
            <a:norm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환경별 </a:t>
            </a:r>
            <a:r>
              <a:rPr lang="en-US" altLang="ko-KR" sz="2400" b="1" dirty="0" err="1">
                <a:solidFill>
                  <a:srgbClr val="FF0000"/>
                </a:solidFill>
              </a:rPr>
              <a:t>C_total</a:t>
            </a:r>
            <a:r>
              <a:rPr lang="en-US" altLang="ko-KR" sz="2400" b="1" dirty="0">
                <a:solidFill>
                  <a:srgbClr val="FF0000"/>
                </a:solidFill>
              </a:rPr>
              <a:t> </a:t>
            </a:r>
            <a:r>
              <a:rPr lang="ko-KR" altLang="en-US" sz="2400" b="1" dirty="0">
                <a:solidFill>
                  <a:srgbClr val="FF0000"/>
                </a:solidFill>
              </a:rPr>
              <a:t>순위</a:t>
            </a:r>
            <a:r>
              <a:rPr lang="en-US" altLang="ko-KR" sz="2400" b="1" dirty="0">
                <a:solidFill>
                  <a:srgbClr val="FF0000"/>
                </a:solidFill>
              </a:rPr>
              <a:t>(</a:t>
            </a:r>
            <a:r>
              <a:rPr lang="ko-KR" altLang="en-US" sz="2400" b="1" dirty="0">
                <a:solidFill>
                  <a:srgbClr val="FF0000"/>
                </a:solidFill>
              </a:rPr>
              <a:t>낮을수록 유리</a:t>
            </a:r>
            <a:r>
              <a:rPr lang="en-US" altLang="ko-KR" sz="2400" b="1" dirty="0">
                <a:solidFill>
                  <a:srgbClr val="FF0000"/>
                </a:solidFill>
              </a:rPr>
              <a:t>)</a:t>
            </a:r>
          </a:p>
          <a:p>
            <a:endParaRPr lang="en-US" altLang="ko-KR" sz="2400" b="1" dirty="0">
              <a:solidFill>
                <a:srgbClr val="FF0000"/>
              </a:solidFill>
            </a:endParaRPr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b="1" dirty="0">
                <a:solidFill>
                  <a:srgbClr val="FF0000"/>
                </a:solidFill>
              </a:rPr>
              <a:t>환경별 </a:t>
            </a:r>
            <a:r>
              <a:rPr lang="en-US" altLang="ko-KR" sz="2400" b="1" dirty="0">
                <a:solidFill>
                  <a:srgbClr val="FF0000"/>
                </a:solidFill>
              </a:rPr>
              <a:t>1</a:t>
            </a:r>
            <a:r>
              <a:rPr lang="ko-KR" altLang="en-US" sz="2400" b="1" dirty="0">
                <a:solidFill>
                  <a:srgbClr val="FF0000"/>
                </a:solidFill>
              </a:rPr>
              <a:t>위 분석</a:t>
            </a:r>
            <a:endParaRPr lang="en-US" altLang="ko-KR" sz="2400" b="1" dirty="0">
              <a:solidFill>
                <a:srgbClr val="FF0000"/>
              </a:solidFill>
            </a:endParaRPr>
          </a:p>
          <a:p>
            <a:pPr lvl="1"/>
            <a:r>
              <a:rPr lang="ko-KR" altLang="en-US" sz="2000" b="1" dirty="0" err="1">
                <a:solidFill>
                  <a:srgbClr val="0070C0"/>
                </a:solidFill>
              </a:rPr>
              <a:t>서버팜</a:t>
            </a:r>
            <a:r>
              <a:rPr lang="en-US" altLang="ko-KR" sz="2000" b="1" dirty="0">
                <a:solidFill>
                  <a:srgbClr val="0070C0"/>
                </a:solidFill>
              </a:rPr>
              <a:t>·</a:t>
            </a:r>
            <a:r>
              <a:rPr lang="ko-KR" altLang="en-US" sz="2000" b="1" dirty="0">
                <a:solidFill>
                  <a:srgbClr val="0070C0"/>
                </a:solidFill>
              </a:rPr>
              <a:t>모바일</a:t>
            </a:r>
            <a:r>
              <a:rPr lang="en-US" altLang="ko-KR" sz="2000" b="1" dirty="0">
                <a:solidFill>
                  <a:srgbClr val="0070C0"/>
                </a:solidFill>
              </a:rPr>
              <a:t>: Catalyst </a:t>
            </a:r>
            <a:r>
              <a:rPr lang="en-US" altLang="ko-KR" sz="2000" dirty="0"/>
              <a:t>-&gt; </a:t>
            </a:r>
            <a:r>
              <a:rPr lang="ko-KR" altLang="en-US" sz="2000" dirty="0"/>
              <a:t>호환성 가중치 영향</a:t>
            </a:r>
            <a:endParaRPr lang="en-US" altLang="ko-KR" sz="2000" dirty="0"/>
          </a:p>
          <a:p>
            <a:pPr lvl="2"/>
            <a:r>
              <a:rPr lang="en-US" altLang="ko-KR" sz="1600" dirty="0"/>
              <a:t>Chameleon</a:t>
            </a:r>
            <a:r>
              <a:rPr lang="ko-KR" altLang="en-US" sz="1600" dirty="0"/>
              <a:t>은 </a:t>
            </a:r>
            <a:r>
              <a:rPr lang="en-US" altLang="ko-KR" sz="1600" dirty="0"/>
              <a:t>Catalyst</a:t>
            </a:r>
            <a:r>
              <a:rPr lang="ko-KR" altLang="en-US" sz="1600" dirty="0"/>
              <a:t>와 유사한 호환 특성으로 </a:t>
            </a:r>
            <a:r>
              <a:rPr lang="en-US" altLang="ko-KR" sz="1600" dirty="0"/>
              <a:t>2</a:t>
            </a:r>
            <a:r>
              <a:rPr lang="ko-KR" altLang="en-US" sz="1600" dirty="0"/>
              <a:t>위</a:t>
            </a:r>
            <a:endParaRPr lang="en-US" altLang="ko-KR" sz="1600" dirty="0"/>
          </a:p>
          <a:p>
            <a:pPr lvl="1"/>
            <a:r>
              <a:rPr lang="en-US" altLang="ko-KR" sz="2000" b="1" dirty="0">
                <a:solidFill>
                  <a:srgbClr val="0070C0"/>
                </a:solidFill>
              </a:rPr>
              <a:t>IoT: Naive Combiner </a:t>
            </a:r>
            <a:r>
              <a:rPr lang="en-US" altLang="ko-KR" sz="2000" dirty="0"/>
              <a:t>-&gt; </a:t>
            </a:r>
            <a:r>
              <a:rPr lang="ko-KR" altLang="en-US" sz="2000" dirty="0"/>
              <a:t>호환성 부담 적음</a:t>
            </a:r>
            <a:r>
              <a:rPr lang="en-US" altLang="ko-KR" sz="2000" dirty="0"/>
              <a:t>(</a:t>
            </a:r>
            <a:r>
              <a:rPr lang="ko-KR" altLang="en-US" sz="2000" dirty="0"/>
              <a:t>단</a:t>
            </a:r>
            <a:r>
              <a:rPr lang="en-US" altLang="ko-KR" sz="2000" dirty="0"/>
              <a:t>, 1~4</a:t>
            </a:r>
            <a:r>
              <a:rPr lang="ko-KR" altLang="en-US" sz="2000" dirty="0"/>
              <a:t>위 차이 </a:t>
            </a:r>
            <a:r>
              <a:rPr lang="en-US" altLang="ko-KR" sz="2000" dirty="0"/>
              <a:t>0.018 </a:t>
            </a:r>
            <a:r>
              <a:rPr lang="ko-KR" altLang="en-US" sz="2000" dirty="0"/>
              <a:t>이내</a:t>
            </a:r>
            <a:r>
              <a:rPr lang="en-US" altLang="ko-KR" sz="2000" dirty="0"/>
              <a:t>)</a:t>
            </a:r>
          </a:p>
          <a:p>
            <a:r>
              <a:rPr lang="en-US" altLang="ko-KR" sz="2400" b="1" dirty="0">
                <a:solidFill>
                  <a:srgbClr val="FF0000"/>
                </a:solidFill>
              </a:rPr>
              <a:t>Composite</a:t>
            </a:r>
            <a:r>
              <a:rPr lang="ko-KR" altLang="en-US" sz="2400" b="1" dirty="0">
                <a:solidFill>
                  <a:srgbClr val="FF0000"/>
                </a:solidFill>
              </a:rPr>
              <a:t>의 한계 및 </a:t>
            </a:r>
            <a:r>
              <a:rPr lang="en-US" altLang="ko-KR" sz="2400" b="1" dirty="0">
                <a:solidFill>
                  <a:srgbClr val="FF0000"/>
                </a:solidFill>
              </a:rPr>
              <a:t>P-256 </a:t>
            </a:r>
            <a:r>
              <a:rPr lang="ko-KR" altLang="en-US" sz="2400" b="1" dirty="0">
                <a:solidFill>
                  <a:srgbClr val="FF0000"/>
                </a:solidFill>
              </a:rPr>
              <a:t>시나리오</a:t>
            </a:r>
            <a:endParaRPr lang="en-US" altLang="ko-KR" sz="2400" b="1" dirty="0">
              <a:solidFill>
                <a:srgbClr val="FF0000"/>
              </a:solidFill>
            </a:endParaRPr>
          </a:p>
          <a:p>
            <a:pPr lvl="1"/>
            <a:r>
              <a:rPr lang="ko-KR" altLang="en-US" sz="2000" b="1" dirty="0">
                <a:solidFill>
                  <a:srgbClr val="0070C0"/>
                </a:solidFill>
              </a:rPr>
              <a:t>모든 환경에서 </a:t>
            </a:r>
            <a:r>
              <a:rPr lang="en-US" altLang="ko-KR" sz="2000" b="1" dirty="0">
                <a:solidFill>
                  <a:srgbClr val="0070C0"/>
                </a:solidFill>
              </a:rPr>
              <a:t>5</a:t>
            </a:r>
            <a:r>
              <a:rPr lang="ko-KR" altLang="en-US" sz="2000" b="1" dirty="0">
                <a:solidFill>
                  <a:srgbClr val="0070C0"/>
                </a:solidFill>
              </a:rPr>
              <a:t>위</a:t>
            </a:r>
            <a:r>
              <a:rPr lang="en-US" altLang="ko-KR" sz="2000" dirty="0"/>
              <a:t>(P-384 </a:t>
            </a:r>
            <a:r>
              <a:rPr lang="ko-KR" altLang="en-US" sz="2000" dirty="0"/>
              <a:t>검증 시간 이슈</a:t>
            </a:r>
            <a:r>
              <a:rPr lang="en-US" altLang="ko-KR" sz="2000" dirty="0"/>
              <a:t>)</a:t>
            </a:r>
          </a:p>
          <a:p>
            <a:pPr lvl="1"/>
            <a:r>
              <a:rPr lang="en-US" altLang="ko-KR" sz="2000" b="1" dirty="0">
                <a:solidFill>
                  <a:srgbClr val="0070C0"/>
                </a:solidFill>
              </a:rPr>
              <a:t>P-256 </a:t>
            </a:r>
            <a:r>
              <a:rPr lang="ko-KR" altLang="en-US" sz="2000" b="1" dirty="0">
                <a:solidFill>
                  <a:srgbClr val="0070C0"/>
                </a:solidFill>
              </a:rPr>
              <a:t>적용 시</a:t>
            </a:r>
            <a:r>
              <a:rPr lang="en-US" altLang="ko-KR" sz="2000" b="1" dirty="0">
                <a:solidFill>
                  <a:srgbClr val="0070C0"/>
                </a:solidFill>
              </a:rPr>
              <a:t> </a:t>
            </a:r>
            <a:r>
              <a:rPr lang="ko-KR" altLang="en-US" sz="2000" b="1" dirty="0" err="1">
                <a:solidFill>
                  <a:srgbClr val="0070C0"/>
                </a:solidFill>
              </a:rPr>
              <a:t>서버팜</a:t>
            </a:r>
            <a:r>
              <a:rPr lang="ko-KR" altLang="en-US" sz="2000" b="1" dirty="0">
                <a:solidFill>
                  <a:srgbClr val="0070C0"/>
                </a:solidFill>
              </a:rPr>
              <a:t> </a:t>
            </a:r>
            <a:r>
              <a:rPr lang="en-US" altLang="ko-KR" sz="2000" b="1" dirty="0" err="1">
                <a:solidFill>
                  <a:srgbClr val="0070C0"/>
                </a:solidFill>
              </a:rPr>
              <a:t>C_total</a:t>
            </a:r>
            <a:r>
              <a:rPr lang="en-US" altLang="ko-KR" sz="2000" b="1" dirty="0">
                <a:solidFill>
                  <a:srgbClr val="0070C0"/>
                </a:solidFill>
              </a:rPr>
              <a:t> ≈ 0.50(2~3</a:t>
            </a:r>
            <a:r>
              <a:rPr lang="ko-KR" altLang="en-US" sz="2000" b="1" dirty="0">
                <a:solidFill>
                  <a:srgbClr val="0070C0"/>
                </a:solidFill>
              </a:rPr>
              <a:t>위권 상승</a:t>
            </a:r>
            <a:r>
              <a:rPr lang="en-US" altLang="ko-KR" sz="2000" b="1" dirty="0">
                <a:solidFill>
                  <a:srgbClr val="0070C0"/>
                </a:solidFill>
              </a:rPr>
              <a:t>)</a:t>
            </a:r>
          </a:p>
          <a:p>
            <a:pPr lvl="1"/>
            <a:r>
              <a:rPr lang="en-US" altLang="ko-KR" sz="2000" dirty="0"/>
              <a:t>AND </a:t>
            </a:r>
            <a:r>
              <a:rPr lang="ko-KR" altLang="en-US" sz="2000" dirty="0"/>
              <a:t>모델 보안 이점</a:t>
            </a:r>
            <a:r>
              <a:rPr lang="en-US" altLang="ko-KR" sz="2000" dirty="0"/>
              <a:t>:</a:t>
            </a:r>
            <a:r>
              <a:rPr lang="ko-KR" altLang="en-US" sz="2000" dirty="0"/>
              <a:t> 높은 보안 환경에서 경쟁력 확보 가능</a:t>
            </a:r>
            <a:endParaRPr lang="en-US" altLang="ko-KR" sz="2000" dirty="0"/>
          </a:p>
          <a:p>
            <a:r>
              <a:rPr lang="ko-KR" altLang="en-US" sz="2400" dirty="0"/>
              <a:t>민감도 분석</a:t>
            </a:r>
            <a:r>
              <a:rPr lang="en-US" altLang="ko-KR" sz="2400" dirty="0"/>
              <a:t>: </a:t>
            </a:r>
            <a:r>
              <a:rPr lang="ko-KR" altLang="en-US" sz="2400" dirty="0"/>
              <a:t>가중치 </a:t>
            </a:r>
            <a:r>
              <a:rPr lang="en-US" altLang="ko-KR" sz="2400" dirty="0"/>
              <a:t>±0.1 </a:t>
            </a:r>
            <a:r>
              <a:rPr lang="ko-KR" altLang="en-US" sz="2400" dirty="0"/>
              <a:t>변동 시에도 세 환경 모두 </a:t>
            </a:r>
            <a:r>
              <a:rPr lang="en-US" altLang="ko-KR" sz="2400" dirty="0"/>
              <a:t>1</a:t>
            </a:r>
            <a:r>
              <a:rPr lang="ko-KR" altLang="en-US" sz="2400" dirty="0"/>
              <a:t>위 유지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AC1D842-0D3E-E967-91BC-4AFF614EE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11598"/>
              </p:ext>
            </p:extLst>
          </p:nvPr>
        </p:nvGraphicFramePr>
        <p:xfrm>
          <a:off x="632264" y="1586132"/>
          <a:ext cx="1080477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078">
                  <a:extLst>
                    <a:ext uri="{9D8B030D-6E8A-4147-A177-3AD203B41FA5}">
                      <a16:colId xmlns:a16="http://schemas.microsoft.com/office/drawing/2014/main" val="2973725860"/>
                    </a:ext>
                  </a:extLst>
                </a:gridCol>
                <a:gridCol w="1582616">
                  <a:extLst>
                    <a:ext uri="{9D8B030D-6E8A-4147-A177-3AD203B41FA5}">
                      <a16:colId xmlns:a16="http://schemas.microsoft.com/office/drawing/2014/main" val="982047299"/>
                    </a:ext>
                  </a:extLst>
                </a:gridCol>
                <a:gridCol w="1582616">
                  <a:extLst>
                    <a:ext uri="{9D8B030D-6E8A-4147-A177-3AD203B41FA5}">
                      <a16:colId xmlns:a16="http://schemas.microsoft.com/office/drawing/2014/main" val="3445506532"/>
                    </a:ext>
                  </a:extLst>
                </a:gridCol>
                <a:gridCol w="1582616">
                  <a:extLst>
                    <a:ext uri="{9D8B030D-6E8A-4147-A177-3AD203B41FA5}">
                      <a16:colId xmlns:a16="http://schemas.microsoft.com/office/drawing/2014/main" val="4215603314"/>
                    </a:ext>
                  </a:extLst>
                </a:gridCol>
                <a:gridCol w="1582616">
                  <a:extLst>
                    <a:ext uri="{9D8B030D-6E8A-4147-A177-3AD203B41FA5}">
                      <a16:colId xmlns:a16="http://schemas.microsoft.com/office/drawing/2014/main" val="3412470842"/>
                    </a:ext>
                  </a:extLst>
                </a:gridCol>
                <a:gridCol w="1582616">
                  <a:extLst>
                    <a:ext uri="{9D8B030D-6E8A-4147-A177-3AD203B41FA5}">
                      <a16:colId xmlns:a16="http://schemas.microsoft.com/office/drawing/2014/main" val="3319467600"/>
                    </a:ext>
                  </a:extLst>
                </a:gridCol>
                <a:gridCol w="1582616">
                  <a:extLst>
                    <a:ext uri="{9D8B030D-6E8A-4147-A177-3AD203B41FA5}">
                      <a16:colId xmlns:a16="http://schemas.microsoft.com/office/drawing/2014/main" val="3580168015"/>
                    </a:ext>
                  </a:extLst>
                </a:gridCol>
              </a:tblGrid>
              <a:tr h="2845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순위</a:t>
                      </a:r>
                      <a:endParaRPr lang="ko-KR" altLang="en-US" sz="14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서버팜</a:t>
                      </a:r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모바일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IoT</a:t>
                      </a:r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969090"/>
                  </a:ext>
                </a:extLst>
              </a:tr>
              <a:tr h="2845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1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Catalyst 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0.465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Catalyst 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0.702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Naive C.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0.682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7192000"/>
                  </a:ext>
                </a:extLst>
              </a:tr>
              <a:tr h="2845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Chameleon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0.520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Chameleon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0.740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Catalyst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0.692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3616288"/>
                  </a:ext>
                </a:extLst>
              </a:tr>
              <a:tr h="2845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3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Naive C.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0.810 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Naive C.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0.933 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Compact C.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0.694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342924"/>
                  </a:ext>
                </a:extLst>
              </a:tr>
              <a:tr h="2845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4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Compact C.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0.816 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Compact C.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0.936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Chameleon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0.700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40043"/>
                  </a:ext>
                </a:extLst>
              </a:tr>
              <a:tr h="2845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5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Composite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0.963 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Composite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1.108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Composite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1.047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22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420447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E9E48F-CF7D-B145-D67A-E5F5B9E85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 및 향후 연구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B0ABE0-FDB8-ECD7-3CA6-EAF87DD1CE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4"/>
            <a:ext cx="11369675" cy="5705476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핵심 수행 연구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r>
              <a:rPr lang="en-US" altLang="ko-KR" dirty="0"/>
              <a:t>X.509 PQC </a:t>
            </a:r>
            <a:r>
              <a:rPr lang="ko-KR" altLang="en-US" dirty="0"/>
              <a:t>전환 비용을 평가하는 </a:t>
            </a:r>
            <a:r>
              <a:rPr lang="en-US" altLang="ko-KR" dirty="0"/>
              <a:t>4</a:t>
            </a:r>
            <a:r>
              <a:rPr lang="ko-KR" altLang="en-US" dirty="0"/>
              <a:t>축 통합 모델 제안</a:t>
            </a:r>
            <a:endParaRPr lang="en-US" altLang="ko-KR" dirty="0"/>
          </a:p>
          <a:p>
            <a:pPr lvl="1"/>
            <a:r>
              <a:rPr lang="en-US" altLang="ko-KR" dirty="0"/>
              <a:t>5</a:t>
            </a:r>
            <a:r>
              <a:rPr lang="ko-KR" altLang="en-US" dirty="0"/>
              <a:t>가지 전환 방식 통합 비교</a:t>
            </a:r>
            <a:r>
              <a:rPr lang="en-US" altLang="ko-KR" dirty="0"/>
              <a:t>(</a:t>
            </a:r>
            <a:r>
              <a:rPr lang="ko-KR" altLang="en-US" dirty="0"/>
              <a:t>인증서 </a:t>
            </a:r>
            <a:r>
              <a:rPr lang="en-US" altLang="ko-KR" dirty="0"/>
              <a:t>3</a:t>
            </a:r>
            <a:r>
              <a:rPr lang="ko-KR" altLang="en-US" dirty="0"/>
              <a:t>종 </a:t>
            </a:r>
            <a:r>
              <a:rPr lang="en-US" altLang="ko-KR" dirty="0"/>
              <a:t>+ </a:t>
            </a:r>
            <a:r>
              <a:rPr lang="ko-KR" altLang="en-US" dirty="0"/>
              <a:t>결합기</a:t>
            </a:r>
            <a:r>
              <a:rPr lang="en-US" altLang="ko-KR" dirty="0"/>
              <a:t> 2</a:t>
            </a:r>
            <a:r>
              <a:rPr lang="ko-KR" altLang="en-US" dirty="0"/>
              <a:t>종</a:t>
            </a:r>
            <a:r>
              <a:rPr lang="en-US" altLang="ko-KR" dirty="0"/>
              <a:t>)</a:t>
            </a:r>
          </a:p>
          <a:p>
            <a:r>
              <a:rPr lang="ko-KR" altLang="en-US" b="1" dirty="0">
                <a:solidFill>
                  <a:srgbClr val="FF0000"/>
                </a:solidFill>
              </a:rPr>
              <a:t>주요 결과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r>
              <a:rPr lang="en-US" altLang="ko-KR" dirty="0"/>
              <a:t>5</a:t>
            </a:r>
            <a:r>
              <a:rPr lang="ko-KR" altLang="en-US" dirty="0"/>
              <a:t>종 인증서 크기 차이 </a:t>
            </a:r>
            <a:r>
              <a:rPr lang="en-US" altLang="ko-KR" dirty="0"/>
              <a:t>4.4% </a:t>
            </a:r>
            <a:r>
              <a:rPr lang="ko-KR" altLang="en-US" dirty="0"/>
              <a:t>이내 확인</a:t>
            </a:r>
            <a:endParaRPr lang="en-US" altLang="ko-KR" dirty="0"/>
          </a:p>
          <a:p>
            <a:pPr lvl="1"/>
            <a:r>
              <a:rPr lang="ko-KR" altLang="en-US" dirty="0"/>
              <a:t>환경별 최적 방식 도출</a:t>
            </a:r>
            <a:endParaRPr lang="en-US" altLang="ko-KR" dirty="0"/>
          </a:p>
          <a:p>
            <a:pPr lvl="2"/>
            <a:r>
              <a:rPr lang="ko-KR" altLang="en-US" dirty="0" err="1"/>
              <a:t>서버팜</a:t>
            </a:r>
            <a:r>
              <a:rPr lang="en-US" altLang="ko-KR" dirty="0"/>
              <a:t>·</a:t>
            </a:r>
            <a:r>
              <a:rPr lang="ko-KR" altLang="en-US" dirty="0"/>
              <a:t>모바일은 </a:t>
            </a:r>
            <a:r>
              <a:rPr lang="en-US" altLang="ko-KR" dirty="0"/>
              <a:t>Catalyst, IoT</a:t>
            </a:r>
            <a:r>
              <a:rPr lang="ko-KR" altLang="en-US" dirty="0"/>
              <a:t>는 </a:t>
            </a:r>
            <a:r>
              <a:rPr lang="en-US" altLang="ko-KR" dirty="0"/>
              <a:t>Naive Combiner</a:t>
            </a:r>
          </a:p>
          <a:p>
            <a:pPr lvl="1"/>
            <a:r>
              <a:rPr lang="ko-KR" altLang="en-US" b="1" dirty="0">
                <a:solidFill>
                  <a:srgbClr val="0070C0"/>
                </a:solidFill>
              </a:rPr>
              <a:t>호환성과 보안 모델이 핵심 선택 기준임을 확인</a:t>
            </a:r>
            <a:endParaRPr lang="en-US" altLang="ko-KR" dirty="0"/>
          </a:p>
          <a:p>
            <a:r>
              <a:rPr lang="ko-KR" altLang="en-US" b="1" dirty="0">
                <a:solidFill>
                  <a:srgbClr val="FF0000"/>
                </a:solidFill>
              </a:rPr>
              <a:t>향후 연구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1"/>
            <a:r>
              <a:rPr lang="en-US" altLang="ko-KR" dirty="0" err="1"/>
              <a:t>Chameleon·Combiner</a:t>
            </a:r>
            <a:r>
              <a:rPr lang="ko-KR" altLang="en-US" dirty="0"/>
              <a:t>의 실측 검증 </a:t>
            </a:r>
            <a:r>
              <a:rPr lang="en-US" altLang="ko-KR" dirty="0"/>
              <a:t>(</a:t>
            </a:r>
            <a:r>
              <a:rPr lang="ko-KR" altLang="en-US" dirty="0"/>
              <a:t>현재는 추정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ECDSA P-256 </a:t>
            </a:r>
            <a:r>
              <a:rPr lang="ko-KR" altLang="en-US" dirty="0"/>
              <a:t>기반 </a:t>
            </a:r>
            <a:r>
              <a:rPr lang="en-US" altLang="ko-KR" dirty="0"/>
              <a:t>Composite </a:t>
            </a:r>
            <a:r>
              <a:rPr lang="ko-KR" altLang="en-US" dirty="0"/>
              <a:t>측정</a:t>
            </a:r>
            <a:endParaRPr lang="en-US" altLang="ko-KR" dirty="0"/>
          </a:p>
          <a:p>
            <a:pPr lvl="1"/>
            <a:r>
              <a:rPr lang="en-US" altLang="ko-KR" dirty="0" err="1"/>
              <a:t>KpqC</a:t>
            </a:r>
            <a:r>
              <a:rPr lang="en-US" altLang="ko-KR" dirty="0"/>
              <a:t> </a:t>
            </a:r>
            <a:r>
              <a:rPr lang="ko-KR" altLang="en-US" dirty="0"/>
              <a:t>알고리즘</a:t>
            </a:r>
            <a:r>
              <a:rPr lang="en-US" altLang="ko-KR" dirty="0"/>
              <a:t>(HAETAE, </a:t>
            </a:r>
            <a:r>
              <a:rPr lang="en-US" altLang="ko-KR" dirty="0" err="1"/>
              <a:t>AIMer</a:t>
            </a:r>
            <a:r>
              <a:rPr lang="en-US" altLang="ko-KR" dirty="0"/>
              <a:t>)</a:t>
            </a:r>
            <a:r>
              <a:rPr lang="ko-KR" altLang="en-US" dirty="0"/>
              <a:t>으로 확장</a:t>
            </a:r>
          </a:p>
        </p:txBody>
      </p:sp>
    </p:spTree>
    <p:extLst>
      <p:ext uri="{BB962C8B-B14F-4D97-AF65-F5344CB8AC3E}">
        <p14:creationId xmlns:p14="http://schemas.microsoft.com/office/powerpoint/2010/main" val="276281461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297C38-8880-118A-409A-10378A9ADCA9}"/>
              </a:ext>
            </a:extLst>
          </p:cNvPr>
          <p:cNvSpPr txBox="1"/>
          <p:nvPr/>
        </p:nvSpPr>
        <p:spPr>
          <a:xfrm>
            <a:off x="4414910" y="4374466"/>
            <a:ext cx="34606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minunejip@gmail.com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34499981"/>
      </p:ext>
    </p:extLst>
  </p:cSld>
  <p:clrMapOvr>
    <a:masterClrMapping/>
  </p:clrMapOvr>
</p:sld>
</file>

<file path=ppt/theme/theme1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1437</TotalTime>
  <Words>3333</Words>
  <Application>Microsoft Office PowerPoint</Application>
  <PresentationFormat>와이드스크린</PresentationFormat>
  <Paragraphs>378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제목 테마</vt:lpstr>
      <vt:lpstr>X.509 PQC 전환을 위한 하이브리드 서명 전략 비교 분석</vt:lpstr>
      <vt:lpstr>연구 배경</vt:lpstr>
      <vt:lpstr>기존 연구 한계 및 본 연구 기여</vt:lpstr>
      <vt:lpstr>X.509 PQC 전환 전략</vt:lpstr>
      <vt:lpstr>TLS 1.3 서명 구조</vt:lpstr>
      <vt:lpstr>전환 비용 평가 모델</vt:lpstr>
      <vt:lpstr>실험 환경 및 측정 방식</vt:lpstr>
      <vt:lpstr>인증서 DER 크기 비교(ML-DSA-65 기준)</vt:lpstr>
      <vt:lpstr>검증 시간 비교</vt:lpstr>
      <vt:lpstr>환경별 적합성</vt:lpstr>
      <vt:lpstr>결론 및 향후 연구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HD</dc:creator>
  <cp:lastModifiedBy>Minwoo Lee</cp:lastModifiedBy>
  <cp:revision>251</cp:revision>
  <dcterms:created xsi:type="dcterms:W3CDTF">2019-03-05T04:29:07Z</dcterms:created>
  <dcterms:modified xsi:type="dcterms:W3CDTF">2026-04-30T12:27:53Z</dcterms:modified>
  <cp:version>1000.0000.01</cp:version>
</cp:coreProperties>
</file>