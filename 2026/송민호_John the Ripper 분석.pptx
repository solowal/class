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14"/>
  </p:notesMasterIdLst>
  <p:handoutMasterIdLst>
    <p:handoutMasterId r:id="rId15"/>
  </p:handoutMasterIdLst>
  <p:sldIdLst>
    <p:sldId id="269" r:id="rId3"/>
    <p:sldId id="292" r:id="rId4"/>
    <p:sldId id="339" r:id="rId5"/>
    <p:sldId id="331" r:id="rId6"/>
    <p:sldId id="332" r:id="rId7"/>
    <p:sldId id="337" r:id="rId8"/>
    <p:sldId id="334" r:id="rId9"/>
    <p:sldId id="335" r:id="rId10"/>
    <p:sldId id="338" r:id="rId11"/>
    <p:sldId id="295" r:id="rId12"/>
    <p:sldId id="27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2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2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0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52845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0" r:id="rId2"/>
    <p:sldLayoutId id="2147483671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ore-KR" dirty="0"/>
              <a:t>John the Ripper </a:t>
            </a:r>
            <a:r>
              <a:rPr lang="ko-Kore-KR" altLang="en-US" dirty="0"/>
              <a:t>분석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ore-KR" altLang="en-US" dirty="0"/>
              <a:t>송민호</a:t>
            </a:r>
            <a:endParaRPr lang="en-US" altLang="ko-Kore-KR" dirty="0"/>
          </a:p>
          <a:p>
            <a:r>
              <a:rPr lang="ko-Kore-KR" altLang="en-US" dirty="0"/>
              <a:t>유튜브</a:t>
            </a:r>
            <a:r>
              <a:rPr lang="en-US" altLang="ko-Kore-KR"/>
              <a:t>: https://youtu.be/q20tJEpB9PQ</a:t>
            </a:r>
            <a:endParaRPr lang="en-US" altLang="ko-Kore-KR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388C0-8AF9-949F-0D43-F4A027B7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0D46C-C9C3-8CF0-99D7-E0CFD56D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John the Ripper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8DF7B-1C8D-58B3-9384-CE2C678321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패스워드 크래킹 도구는 공격 방식과 사용 목적에 따라 다양한 형태로 존재함</a:t>
            </a:r>
            <a:endParaRPr lang="en-US" altLang="ko-KR" sz="2400" dirty="0"/>
          </a:p>
          <a:p>
            <a:pPr lvl="1"/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John the Ripper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는 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GPU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및 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SIMD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기반 연산 가속기를 적극 활용하는 해시 크래킹 도구</a:t>
            </a:r>
            <a:endParaRPr lang="ko-KR" altLang="en-US" sz="2000" dirty="0"/>
          </a:p>
        </p:txBody>
      </p:sp>
      <p:graphicFrame>
        <p:nvGraphicFramePr>
          <p:cNvPr id="4" name="Google Shape;95;p14">
            <a:extLst>
              <a:ext uri="{FF2B5EF4-FFF2-40B4-BE49-F238E27FC236}">
                <a16:creationId xmlns:a16="http://schemas.microsoft.com/office/drawing/2014/main" id="{F6572E07-AB30-554F-63FA-23A46BAD4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5120141"/>
              </p:ext>
            </p:extLst>
          </p:nvPr>
        </p:nvGraphicFramePr>
        <p:xfrm>
          <a:off x="498765" y="2938677"/>
          <a:ext cx="11281316" cy="14854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0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48">
                  <a:extLst>
                    <a:ext uri="{9D8B030D-6E8A-4147-A177-3AD203B41FA5}">
                      <a16:colId xmlns:a16="http://schemas.microsoft.com/office/drawing/2014/main" val="2930815264"/>
                    </a:ext>
                  </a:extLst>
                </a:gridCol>
                <a:gridCol w="1659831">
                  <a:extLst>
                    <a:ext uri="{9D8B030D-6E8A-4147-A177-3AD203B41FA5}">
                      <a16:colId xmlns:a16="http://schemas.microsoft.com/office/drawing/2014/main" val="2772601232"/>
                    </a:ext>
                  </a:extLst>
                </a:gridCol>
                <a:gridCol w="1935678">
                  <a:extLst>
                    <a:ext uri="{9D8B030D-6E8A-4147-A177-3AD203B41FA5}">
                      <a16:colId xmlns:a16="http://schemas.microsoft.com/office/drawing/2014/main" val="2057923104"/>
                    </a:ext>
                  </a:extLst>
                </a:gridCol>
                <a:gridCol w="284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4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도구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주요</a:t>
                      </a: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목적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dirty="0">
                          <a:solidFill>
                            <a:schemeClr val="tx1"/>
                          </a:solidFill>
                          <a:latin typeface="+mn-lt"/>
                        </a:rPr>
                        <a:t>공격 대상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dirty="0">
                          <a:solidFill>
                            <a:schemeClr val="tx1"/>
                          </a:solidFill>
                          <a:latin typeface="+mn-lt"/>
                        </a:rPr>
                        <a:t>공격 방식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dirty="0">
                          <a:solidFill>
                            <a:schemeClr val="tx1"/>
                          </a:solidFill>
                          <a:latin typeface="+mn-lt"/>
                        </a:rPr>
                        <a:t>특징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가속기 지원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992">
                <a:tc>
                  <a:txBody>
                    <a:bodyPr/>
                    <a:lstStyle/>
                    <a:p>
                      <a:pPr algn="ctr"/>
                      <a:r>
                        <a:rPr lang="en-US" sz="1350" dirty="0">
                          <a:latin typeface="+mn-lt"/>
                        </a:rPr>
                        <a:t>John the Ripper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password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hash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cracking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Unix password hash,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ko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다양한 </a:t>
                      </a: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Dictionary,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incremental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brute-force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오래된 전통적인 </a:t>
                      </a:r>
                      <a:r>
                        <a:rPr lang="en-US" altLang="ko-KR" sz="1350" dirty="0">
                          <a:latin typeface="+mn-lt"/>
                          <a:ea typeface="G마켓 산스 TTF Medium" panose="02000000000000000000" pitchFamily="2" charset="-127"/>
                        </a:rPr>
                        <a:t>cracking tool, </a:t>
                      </a:r>
                      <a:br>
                        <a:rPr lang="en-US" altLang="ko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ko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확장성 좋음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SIMD / OpenMP </a:t>
                      </a:r>
                      <a:r>
                        <a:rPr lang="ko-KR" alt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기반 </a:t>
                      </a:r>
                      <a:r>
                        <a:rPr 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CPU </a:t>
                      </a:r>
                      <a:r>
                        <a:rPr lang="ko-KR" alt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최적화</a:t>
                      </a:r>
                      <a:r>
                        <a:rPr lang="en-US" altLang="ko-KR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일부 </a:t>
                      </a:r>
                      <a:r>
                        <a:rPr 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GPU </a:t>
                      </a:r>
                      <a:r>
                        <a:rPr lang="ko-KR" altLang="en-US" sz="1350" b="1" dirty="0">
                          <a:solidFill>
                            <a:srgbClr val="FF0000"/>
                          </a:solidFill>
                          <a:latin typeface="+mn-lt"/>
                        </a:rPr>
                        <a:t>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790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92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0706-6884-FE13-AB61-F238721B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682C3-D4DC-10CE-24CE-D014D283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John the Ripper </a:t>
            </a:r>
            <a:r>
              <a:rPr lang="ko-Kore-KR" altLang="en-US" dirty="0"/>
              <a:t>동작 흐름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1BA2A6-F9A3-B40D-C412-63457C53D4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848" y="1152526"/>
            <a:ext cx="5939205" cy="3906618"/>
          </a:xfrm>
        </p:spPr>
        <p:txBody>
          <a:bodyPr>
            <a:normAutofit/>
          </a:bodyPr>
          <a:lstStyle/>
          <a:p>
            <a:r>
              <a:rPr lang="en-US" altLang="ko-Kore-KR" sz="1800" b="0" i="0" u="none" strike="noStrike" dirty="0">
                <a:solidFill>
                  <a:srgbClr val="000000"/>
                </a:solidFill>
                <a:effectLst/>
              </a:rPr>
              <a:t>CPU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</a:rPr>
              <a:t>에서 후보 패스워드를 생성 후 선택한 포맷에 전달</a:t>
            </a:r>
            <a:endParaRPr lang="en-US" altLang="ko-KR" sz="18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ko-KR" altLang="en-US" sz="1400" dirty="0">
                <a:solidFill>
                  <a:srgbClr val="000000"/>
                </a:solidFill>
              </a:rPr>
              <a:t>포맷</a:t>
            </a:r>
            <a:r>
              <a:rPr lang="en-US" altLang="ko-KR" sz="1400" dirty="0">
                <a:solidFill>
                  <a:srgbClr val="000000"/>
                </a:solidFill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</a:rPr>
              <a:t>해시 알고리즘별 플러그인</a:t>
            </a:r>
            <a:r>
              <a:rPr lang="en-US" altLang="ko-KR" sz="1400" dirty="0">
                <a:solidFill>
                  <a:srgbClr val="000000"/>
                </a:solidFill>
              </a:rPr>
              <a:t>.</a:t>
            </a:r>
            <a:r>
              <a:rPr lang="ko-Kore-KR" altLang="en-US" sz="1400" dirty="0">
                <a:solidFill>
                  <a:srgbClr val="000000"/>
                </a:solidFill>
              </a:rPr>
              <a:t> </a:t>
            </a:r>
            <a:r>
              <a:rPr lang="en-US" altLang="ko-Kore-KR" sz="1400" dirty="0">
                <a:solidFill>
                  <a:srgbClr val="000000"/>
                </a:solidFill>
              </a:rPr>
              <a:t>CPU </a:t>
            </a:r>
            <a:r>
              <a:rPr lang="ko-Kore-KR" altLang="en-US" sz="1400" dirty="0">
                <a:solidFill>
                  <a:srgbClr val="000000"/>
                </a:solidFill>
              </a:rPr>
              <a:t>구현과</a:t>
            </a:r>
            <a:br>
              <a:rPr lang="en-US" altLang="ko-Kore-KR" sz="1400" dirty="0">
                <a:solidFill>
                  <a:srgbClr val="000000"/>
                </a:solidFill>
              </a:rPr>
            </a:br>
            <a:r>
              <a:rPr lang="en-US" altLang="ko-Kore-KR" sz="1400" dirty="0">
                <a:solidFill>
                  <a:srgbClr val="000000"/>
                </a:solidFill>
              </a:rPr>
              <a:t>OpenCL </a:t>
            </a:r>
            <a:r>
              <a:rPr lang="ko-Kore-KR" altLang="en-US" sz="1400" dirty="0">
                <a:solidFill>
                  <a:srgbClr val="000000"/>
                </a:solidFill>
              </a:rPr>
              <a:t>구현으로 나뉘는 경우가 많음</a:t>
            </a:r>
            <a:endParaRPr lang="en-US" altLang="ko-Kore-KR" sz="1400" dirty="0">
              <a:solidFill>
                <a:srgbClr val="000000"/>
              </a:solidFill>
            </a:endParaRPr>
          </a:p>
          <a:p>
            <a:pPr lvl="1"/>
            <a:endParaRPr lang="en-US" altLang="ko-KR" sz="1000" dirty="0"/>
          </a:p>
          <a:p>
            <a:r>
              <a:rPr lang="ko-Kore-KR" altLang="en-US" sz="1800" dirty="0"/>
              <a:t>선택한 포맷에 따라 해시 연산 수행</a:t>
            </a:r>
            <a:endParaRPr lang="en-US" altLang="ko-Kore-KR" sz="1800" dirty="0"/>
          </a:p>
          <a:p>
            <a:pPr lvl="1"/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</a:rPr>
              <a:t>CPU </a:t>
            </a:r>
            <a:r>
              <a:rPr lang="ko-KR" altLang="en-US" sz="1400" dirty="0">
                <a:solidFill>
                  <a:srgbClr val="000000"/>
                </a:solidFill>
              </a:rPr>
              <a:t>포맷</a:t>
            </a:r>
            <a:r>
              <a:rPr lang="en-US" altLang="ko-KR" sz="1400" dirty="0">
                <a:solidFill>
                  <a:srgbClr val="000000"/>
                </a:solidFill>
              </a:rPr>
              <a:t>: CPU </a:t>
            </a:r>
            <a:r>
              <a:rPr lang="ko-KR" altLang="en-US" sz="1400" dirty="0">
                <a:solidFill>
                  <a:srgbClr val="000000"/>
                </a:solidFill>
              </a:rPr>
              <a:t>기반 해시 연산 수행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 lvl="1"/>
            <a:r>
              <a:rPr lang="en-US" altLang="ko-Kore-KR" sz="1400" b="0" i="0" u="none" strike="noStrike" dirty="0">
                <a:solidFill>
                  <a:srgbClr val="000000"/>
                </a:solidFill>
                <a:effectLst/>
              </a:rPr>
              <a:t>OpenCL </a:t>
            </a: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</a:rPr>
              <a:t>포맷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ko-Kore-KR" sz="1400" b="0" i="0" u="none" strike="noStrike" dirty="0">
                <a:solidFill>
                  <a:srgbClr val="000000"/>
                </a:solidFill>
                <a:effectLst/>
              </a:rPr>
              <a:t>GPU kernel </a:t>
            </a: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</a:rPr>
              <a:t>기반 해시 연산 수행</a:t>
            </a:r>
            <a:endParaRPr lang="en-US" altLang="ko-KR" sz="14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endParaRPr lang="en-US" altLang="ko-KR" sz="1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ko-Kore-KR" altLang="en-US" sz="1800" dirty="0">
                <a:solidFill>
                  <a:srgbClr val="000000"/>
                </a:solidFill>
              </a:rPr>
              <a:t>목표 해시 비교 수행</a:t>
            </a:r>
            <a:endParaRPr lang="en-US" altLang="ko-Kore-KR" sz="1800" dirty="0">
              <a:solidFill>
                <a:srgbClr val="000000"/>
              </a:solidFill>
            </a:endParaRPr>
          </a:p>
          <a:p>
            <a:pPr lvl="1"/>
            <a:r>
              <a:rPr lang="ko-Kore-KR" altLang="en-US" sz="1400" b="0" i="0" u="none" strike="noStrike" dirty="0">
                <a:solidFill>
                  <a:srgbClr val="000000"/>
                </a:solidFill>
                <a:effectLst/>
              </a:rPr>
              <a:t>해시 비교는 </a:t>
            </a:r>
            <a:r>
              <a:rPr lang="en-US" altLang="ko-Kore-KR" sz="1400" b="0" i="0" u="none" strike="noStrike" dirty="0">
                <a:solidFill>
                  <a:srgbClr val="000000"/>
                </a:solidFill>
                <a:effectLst/>
              </a:rPr>
              <a:t>CPU</a:t>
            </a:r>
            <a:r>
              <a:rPr lang="ko-Kore-KR" altLang="en-US" sz="1400" b="0" i="0" u="none" strike="noStrike" dirty="0">
                <a:solidFill>
                  <a:srgbClr val="000000"/>
                </a:solidFill>
                <a:effectLst/>
              </a:rPr>
              <a:t>에서 진행</a:t>
            </a:r>
            <a:endParaRPr lang="en-US" altLang="ko-Kore-KR" sz="14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altLang="ko-KR" sz="1400" dirty="0">
                <a:solidFill>
                  <a:srgbClr val="000000"/>
                </a:solidFill>
              </a:rPr>
              <a:t>GPU </a:t>
            </a:r>
            <a:r>
              <a:rPr lang="ko-KR" altLang="en-US" sz="1400" dirty="0" err="1">
                <a:solidFill>
                  <a:srgbClr val="000000"/>
                </a:solidFill>
              </a:rPr>
              <a:t>스크리닝</a:t>
            </a:r>
            <a:r>
              <a:rPr lang="en-US" altLang="ko-KR" sz="1400" dirty="0">
                <a:solidFill>
                  <a:srgbClr val="000000"/>
                </a:solidFill>
              </a:rPr>
              <a:t>: </a:t>
            </a:r>
            <a:r>
              <a:rPr lang="ko-KR" altLang="en-US" sz="1400" dirty="0">
                <a:solidFill>
                  <a:srgbClr val="000000"/>
                </a:solidFill>
              </a:rPr>
              <a:t>일부 포맷은 커널 안에서 비트맵</a:t>
            </a:r>
            <a:r>
              <a:rPr lang="en-US" altLang="ko-KR" sz="1400" dirty="0">
                <a:solidFill>
                  <a:srgbClr val="000000"/>
                </a:solidFill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</a:rPr>
              <a:t>부분 일치 </a:t>
            </a:r>
            <a:br>
              <a:rPr lang="en-US" altLang="ko-KR" sz="1400" dirty="0">
                <a:solidFill>
                  <a:srgbClr val="000000"/>
                </a:solidFill>
              </a:rPr>
            </a:br>
            <a:r>
              <a:rPr lang="ko-KR" altLang="en-US" sz="1400" dirty="0">
                <a:solidFill>
                  <a:srgbClr val="000000"/>
                </a:solidFill>
              </a:rPr>
              <a:t>등으로 후보를 줄인 뒤 </a:t>
            </a:r>
            <a:r>
              <a:rPr lang="en-US" altLang="ko-KR" sz="1400" dirty="0">
                <a:solidFill>
                  <a:srgbClr val="000000"/>
                </a:solidFill>
              </a:rPr>
              <a:t>CPU</a:t>
            </a:r>
            <a:r>
              <a:rPr lang="ko-KR" altLang="en-US" sz="1400" dirty="0" err="1">
                <a:solidFill>
                  <a:srgbClr val="000000"/>
                </a:solidFill>
              </a:rPr>
              <a:t>에</a:t>
            </a:r>
            <a:r>
              <a:rPr lang="ko-KR" altLang="en-US" sz="1400" dirty="0">
                <a:solidFill>
                  <a:srgbClr val="000000"/>
                </a:solidFill>
              </a:rPr>
              <a:t> 넘겨 비교 수행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 lvl="1"/>
            <a:endParaRPr lang="en-US" altLang="ko-KR" sz="1400" dirty="0">
              <a:solidFill>
                <a:srgbClr val="000000"/>
              </a:solidFill>
            </a:endParaRPr>
          </a:p>
          <a:p>
            <a:r>
              <a:rPr lang="ko-KR" altLang="en-US" sz="1800" dirty="0">
                <a:solidFill>
                  <a:srgbClr val="000000"/>
                </a:solidFill>
              </a:rPr>
              <a:t>일치한 결과 기록 및 출력 수행</a:t>
            </a:r>
            <a:endParaRPr lang="en-US" altLang="ko-KR" sz="1800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3C865-7869-BB7E-68A7-0BA85BDD0F90}"/>
              </a:ext>
            </a:extLst>
          </p:cNvPr>
          <p:cNvSpPr txBox="1"/>
          <p:nvPr/>
        </p:nvSpPr>
        <p:spPr>
          <a:xfrm>
            <a:off x="6042682" y="5201110"/>
            <a:ext cx="569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ore-KR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John the Ripper</a:t>
            </a:r>
            <a:r>
              <a:rPr lang="ko-KR" altLang="en-US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는 포맷 기반 구조를 사용하여</a:t>
            </a:r>
            <a:br>
              <a:rPr lang="ko-KR" altLang="en-US" b="1" dirty="0">
                <a:solidFill>
                  <a:srgbClr val="2E75B6"/>
                </a:solidFill>
              </a:rPr>
            </a:br>
            <a:r>
              <a:rPr lang="en-US" altLang="ko-Kore-KR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CPU</a:t>
            </a:r>
            <a:r>
              <a:rPr lang="ko-KR" altLang="en-US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와 </a:t>
            </a:r>
            <a:r>
              <a:rPr lang="en-US" altLang="ko-Kore-KR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GPU </a:t>
            </a:r>
            <a:r>
              <a:rPr lang="ko-KR" altLang="en-US" b="1" i="0" u="none" strike="noStrike" dirty="0">
                <a:solidFill>
                  <a:srgbClr val="2E75B6"/>
                </a:solidFill>
                <a:effectLst/>
                <a:latin typeface="-webkit-standard"/>
              </a:rPr>
              <a:t>역할이 포맷에 따라 달라질 수 있음</a:t>
            </a:r>
            <a:endParaRPr kumimoji="1" lang="ko-Kore-KR" altLang="en-US" b="1" dirty="0">
              <a:solidFill>
                <a:srgbClr val="2E75B6"/>
              </a:solidFill>
            </a:endParaRPr>
          </a:p>
        </p:txBody>
      </p:sp>
      <p:graphicFrame>
        <p:nvGraphicFramePr>
          <p:cNvPr id="9" name="Google Shape;95;p14">
            <a:extLst>
              <a:ext uri="{FF2B5EF4-FFF2-40B4-BE49-F238E27FC236}">
                <a16:creationId xmlns:a16="http://schemas.microsoft.com/office/drawing/2014/main" id="{0F089954-41BE-EEF2-3A5A-1D5C7C878B2E}"/>
              </a:ext>
            </a:extLst>
          </p:cNvPr>
          <p:cNvGraphicFramePr/>
          <p:nvPr/>
        </p:nvGraphicFramePr>
        <p:xfrm>
          <a:off x="892845" y="5073242"/>
          <a:ext cx="4600224" cy="170150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30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30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CPU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역할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GPU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역할</a:t>
                      </a:r>
                      <a:b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</a:b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(OpenCL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포맷</a:t>
                      </a: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사용</a:t>
                      </a: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시</a:t>
                      </a:r>
                      <a:r>
                        <a:rPr lang="en-US" altLang="ko-KR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)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0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패스워드 생성</a:t>
                      </a:r>
                      <a:endParaRPr sz="1350" b="0" dirty="0">
                        <a:latin typeface="+mn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병렬 해시 계산</a:t>
                      </a: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0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 err="1">
                          <a:latin typeface="+mn-lt"/>
                        </a:rPr>
                        <a:t>포맷</a:t>
                      </a:r>
                      <a:r>
                        <a:rPr lang="en-US" sz="1350" b="0" dirty="0">
                          <a:latin typeface="+mn-lt"/>
                        </a:rPr>
                        <a:t> </a:t>
                      </a:r>
                      <a:r>
                        <a:rPr lang="en-US" sz="1350" b="0" dirty="0" err="1">
                          <a:latin typeface="+mn-lt"/>
                        </a:rPr>
                        <a:t>제어</a:t>
                      </a:r>
                      <a:r>
                        <a:rPr lang="en-US" sz="1350" b="0" dirty="0">
                          <a:latin typeface="+mn-lt"/>
                        </a:rPr>
                        <a:t> </a:t>
                      </a:r>
                      <a:r>
                        <a:rPr lang="en-US" sz="1350" b="0" dirty="0" err="1">
                          <a:latin typeface="+mn-lt"/>
                        </a:rPr>
                        <a:t>및</a:t>
                      </a:r>
                      <a:r>
                        <a:rPr lang="en-US" sz="1350" b="0" dirty="0">
                          <a:latin typeface="+mn-lt"/>
                        </a:rPr>
                        <a:t> </a:t>
                      </a:r>
                      <a:r>
                        <a:rPr lang="en-US" sz="1350" b="0" dirty="0" err="1">
                          <a:latin typeface="+mn-lt"/>
                        </a:rPr>
                        <a:t>결과</a:t>
                      </a:r>
                      <a:r>
                        <a:rPr lang="en-US" sz="1350" b="0" dirty="0">
                          <a:latin typeface="+mn-lt"/>
                        </a:rPr>
                        <a:t> </a:t>
                      </a:r>
                      <a:r>
                        <a:rPr lang="en-US" sz="1350" b="0" dirty="0" err="1">
                          <a:latin typeface="+mn-lt"/>
                        </a:rPr>
                        <a:t>검증</a:t>
                      </a:r>
                      <a:endParaRPr sz="1350" b="0" dirty="0">
                        <a:latin typeface="+mn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GPU</a:t>
                      </a: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 스크리닝 수행 가능</a:t>
                      </a:r>
                      <a:endParaRPr lang="en-US" altLang="ko-Kore-KR" sz="1350" dirty="0">
                        <a:latin typeface="+mn-lt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099659"/>
                  </a:ext>
                </a:extLst>
              </a:tr>
              <a:tr h="413076">
                <a:tc>
                  <a:txBody>
                    <a:bodyPr/>
                    <a:lstStyle/>
                    <a:p>
                      <a:pPr algn="ctr"/>
                      <a:r>
                        <a:rPr lang="en-US" sz="1350" dirty="0" err="1">
                          <a:latin typeface="+mn-lt"/>
                        </a:rPr>
                        <a:t>결과</a:t>
                      </a:r>
                      <a:r>
                        <a:rPr lang="en-US" sz="1350" dirty="0">
                          <a:latin typeface="+mn-lt"/>
                        </a:rPr>
                        <a:t> </a:t>
                      </a:r>
                      <a:r>
                        <a:rPr lang="en-US" sz="1350" dirty="0" err="1">
                          <a:latin typeface="+mn-lt"/>
                        </a:rPr>
                        <a:t>기록</a:t>
                      </a:r>
                      <a:r>
                        <a:rPr lang="en-US" sz="1350" dirty="0">
                          <a:latin typeface="+mn-lt"/>
                        </a:rPr>
                        <a:t> </a:t>
                      </a:r>
                      <a:r>
                        <a:rPr lang="en-US" sz="1350" dirty="0" err="1">
                          <a:latin typeface="+mn-lt"/>
                        </a:rPr>
                        <a:t>및</a:t>
                      </a:r>
                      <a:r>
                        <a:rPr lang="en-US" sz="1350" dirty="0">
                          <a:latin typeface="+mn-lt"/>
                        </a:rPr>
                        <a:t> </a:t>
                      </a:r>
                      <a:r>
                        <a:rPr lang="en-US" sz="1350" dirty="0" err="1">
                          <a:latin typeface="+mn-lt"/>
                        </a:rPr>
                        <a:t>출력</a:t>
                      </a:r>
                      <a:endParaRPr lang="en-US" sz="135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대량 병렬 처리</a:t>
                      </a:r>
                      <a:endParaRPr lang="en-US" altLang="ko-Kore-KR" sz="1350" dirty="0">
                        <a:latin typeface="+mn-lt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790963"/>
                  </a:ext>
                </a:extLst>
              </a:tr>
            </a:tbl>
          </a:graphicData>
        </a:graphic>
      </p:graphicFrame>
      <p:pic>
        <p:nvPicPr>
          <p:cNvPr id="5" name="그림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9105725-B19A-C78B-B540-63CA857BB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667" y="1597406"/>
            <a:ext cx="5336248" cy="297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7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66BF-4083-93B1-7E44-D6038042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9781F-882F-900F-5BFC-6EB49E39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John the Ripper</a:t>
            </a:r>
            <a:r>
              <a:rPr lang="ko-KR" altLang="en-US" dirty="0"/>
              <a:t>의 연산 검증 구조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E5466852-84C3-2AE8-0D16-B7359351DC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>
            <a:normAutofit/>
          </a:bodyPr>
          <a:lstStyle/>
          <a:p>
            <a:r>
              <a:rPr lang="ko-Kore-KR" altLang="en-US" sz="2400" b="1" dirty="0"/>
              <a:t>런타임 전</a:t>
            </a:r>
            <a:endParaRPr lang="en-US" altLang="ko-Kore-KR" sz="2400" b="1" dirty="0"/>
          </a:p>
          <a:p>
            <a:pPr lvl="1"/>
            <a:r>
              <a:rPr lang="en-US" altLang="ko-KR" sz="2000" b="1" dirty="0">
                <a:solidFill>
                  <a:srgbClr val="2E75B6"/>
                </a:solidFill>
              </a:rPr>
              <a:t>Self-test(KAT) </a:t>
            </a:r>
            <a:r>
              <a:rPr lang="ko-KR" altLang="en-US" sz="2000" b="1" dirty="0">
                <a:solidFill>
                  <a:srgbClr val="2E75B6"/>
                </a:solidFill>
              </a:rPr>
              <a:t>수행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pPr lvl="2"/>
            <a:r>
              <a:rPr lang="ko-KR" altLang="en-US" sz="1600" dirty="0"/>
              <a:t>포맷 공통 </a:t>
            </a:r>
            <a:r>
              <a:rPr lang="en-US" altLang="ko-KR" sz="1600" dirty="0"/>
              <a:t>Self-test </a:t>
            </a:r>
            <a:r>
              <a:rPr lang="ko-Kore-KR" altLang="en-US" sz="1600" dirty="0"/>
              <a:t>구조 사용</a:t>
            </a:r>
            <a:endParaRPr lang="en-US" altLang="ko-Kore-KR" sz="1600" dirty="0"/>
          </a:p>
          <a:p>
            <a:pPr lvl="1"/>
            <a:r>
              <a:rPr lang="ko-KR" altLang="en-US" sz="2000" dirty="0"/>
              <a:t>미리 정의된 </a:t>
            </a:r>
            <a:r>
              <a:rPr lang="ko-Kore-KR" altLang="en-US" sz="2000" dirty="0"/>
              <a:t>입력</a:t>
            </a:r>
            <a:r>
              <a:rPr lang="en-US" altLang="ko-Kore-KR" sz="2000" dirty="0"/>
              <a:t>, </a:t>
            </a:r>
            <a:r>
              <a:rPr lang="ko-Kore-KR" altLang="en-US" sz="2000" dirty="0"/>
              <a:t>해시값 </a:t>
            </a:r>
            <a:r>
              <a:rPr lang="ko-KR" altLang="en-US" sz="2000" dirty="0"/>
              <a:t>비교를 통해 정상 동작 여부 확인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2400" b="1" dirty="0"/>
              <a:t>런타임 중</a:t>
            </a:r>
            <a:endParaRPr lang="en-US" altLang="ko-KR" sz="2400" b="1" dirty="0"/>
          </a:p>
          <a:p>
            <a:pPr lvl="1"/>
            <a:r>
              <a:rPr lang="ko-KR" altLang="en-US" sz="2000" i="0" u="none" strike="noStrike" dirty="0">
                <a:solidFill>
                  <a:srgbClr val="000000"/>
                </a:solidFill>
                <a:effectLst/>
              </a:rPr>
              <a:t>해시 계산 과정에 대한 </a:t>
            </a:r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무결성 검증 없음</a:t>
            </a:r>
          </a:p>
          <a:p>
            <a:pPr lvl="1"/>
            <a:r>
              <a:rPr lang="ko-Kore-KR" altLang="en-US" sz="2000" i="0" u="none" strike="noStrike" dirty="0">
                <a:solidFill>
                  <a:srgbClr val="000000"/>
                </a:solidFill>
                <a:effectLst/>
              </a:rPr>
              <a:t>포맷이 반환한 </a:t>
            </a:r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연산 결과로 정답 여부 확인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pPr lvl="1"/>
            <a:endParaRPr lang="en-US" altLang="ko-KR" sz="200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ko-KR" altLang="en-US" sz="2400" b="1" i="0" u="none" strike="noStrike" dirty="0">
                <a:solidFill>
                  <a:srgbClr val="000000"/>
                </a:solidFill>
                <a:effectLst/>
              </a:rPr>
              <a:t>런타임 후</a:t>
            </a:r>
          </a:p>
          <a:p>
            <a:pPr lvl="1"/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결과 재계산</a:t>
            </a:r>
            <a:r>
              <a:rPr lang="en-US" altLang="ko-KR" sz="2000" b="1" i="0" u="none" strike="noStrike" dirty="0">
                <a:solidFill>
                  <a:srgbClr val="2E75B6"/>
                </a:solidFill>
                <a:effectLst/>
              </a:rPr>
              <a:t>·</a:t>
            </a:r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교차 검증 미수행</a:t>
            </a:r>
          </a:p>
          <a:p>
            <a:pPr lvl="1"/>
            <a:r>
              <a:rPr lang="ko-KR" altLang="en-US" sz="2000" i="0" u="none" strike="noStrike" dirty="0">
                <a:solidFill>
                  <a:srgbClr val="000000"/>
                </a:solidFill>
                <a:effectLst/>
              </a:rPr>
              <a:t>일치한 결과를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</a:rPr>
              <a:t>potfile</a:t>
            </a:r>
            <a:r>
              <a:rPr lang="en-US" altLang="ko-KR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>
                <a:solidFill>
                  <a:srgbClr val="000000"/>
                </a:solidFill>
              </a:rPr>
              <a:t>및 </a:t>
            </a:r>
            <a:r>
              <a:rPr lang="ko-KR" altLang="en-US" sz="2000" i="0" u="none" strike="noStrike" dirty="0">
                <a:solidFill>
                  <a:srgbClr val="000000"/>
                </a:solidFill>
                <a:effectLst/>
              </a:rPr>
              <a:t>출력으로 기록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graphicFrame>
        <p:nvGraphicFramePr>
          <p:cNvPr id="6" name="Google Shape;95;p14">
            <a:extLst>
              <a:ext uri="{FF2B5EF4-FFF2-40B4-BE49-F238E27FC236}">
                <a16:creationId xmlns:a16="http://schemas.microsoft.com/office/drawing/2014/main" id="{7768F027-AA3D-8D79-E83D-5FC2462B2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26633"/>
              </p:ext>
            </p:extLst>
          </p:nvPr>
        </p:nvGraphicFramePr>
        <p:xfrm>
          <a:off x="6293923" y="2822430"/>
          <a:ext cx="5486157" cy="207422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2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441">
                  <a:extLst>
                    <a:ext uri="{9D8B030D-6E8A-4147-A177-3AD203B41FA5}">
                      <a16:colId xmlns:a16="http://schemas.microsoft.com/office/drawing/2014/main" val="3499902179"/>
                    </a:ext>
                  </a:extLst>
                </a:gridCol>
              </a:tblGrid>
              <a:tr h="5185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단계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검증</a:t>
                      </a:r>
                      <a:r>
                        <a:rPr lang="en-US" sz="1350" b="1" u="none" strike="noStrike" cap="none" dirty="0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 </a:t>
                      </a:r>
                      <a:r>
                        <a:rPr lang="en-US" sz="1350" b="1" u="none" strike="noStrike" cap="none" dirty="0" err="1">
                          <a:solidFill>
                            <a:schemeClr val="tx1"/>
                          </a:solidFill>
                          <a:latin typeface="+mn-lt"/>
                          <a:sym typeface="Arial"/>
                        </a:rPr>
                        <a:t>여부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dirty="0">
                          <a:solidFill>
                            <a:schemeClr val="tx1"/>
                          </a:solidFill>
                          <a:latin typeface="+mn-lt"/>
                        </a:rPr>
                        <a:t>내용</a:t>
                      </a:r>
                      <a:endParaRPr sz="13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5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ore-KR" altLang="en-US" sz="13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런타임 전</a:t>
                      </a:r>
                      <a:endParaRPr sz="1350" b="0" dirty="0">
                        <a:latin typeface="+mn-lt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Self-test(KAT)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556">
                <a:tc>
                  <a:txBody>
                    <a:bodyPr/>
                    <a:lstStyle/>
                    <a:p>
                      <a:pPr algn="ctr"/>
                      <a:r>
                        <a:rPr lang="en-US" sz="1350" dirty="0" err="1">
                          <a:latin typeface="+mn-lt"/>
                        </a:rPr>
                        <a:t>런타임</a:t>
                      </a:r>
                      <a:r>
                        <a:rPr lang="en-US" sz="1350" dirty="0">
                          <a:latin typeface="+mn-lt"/>
                        </a:rPr>
                        <a:t> </a:t>
                      </a:r>
                      <a:r>
                        <a:rPr lang="en-US" sz="1350" dirty="0" err="1">
                          <a:latin typeface="+mn-lt"/>
                        </a:rPr>
                        <a:t>중</a:t>
                      </a:r>
                      <a:endParaRPr lang="en-US" sz="135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추가 무결성 검증 없이 </a:t>
                      </a:r>
                      <a:b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</a:b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결과 사용</a:t>
                      </a:r>
                      <a:endParaRPr lang="en-US" altLang="ko-Kore-KR" sz="1350" dirty="0">
                        <a:latin typeface="+mn-lt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790963"/>
                  </a:ext>
                </a:extLst>
              </a:tr>
              <a:tr h="518556">
                <a:tc>
                  <a:txBody>
                    <a:bodyPr/>
                    <a:lstStyle/>
                    <a:p>
                      <a:pPr algn="ctr"/>
                      <a:r>
                        <a:rPr lang="en-US" sz="1350" dirty="0" err="1">
                          <a:latin typeface="+mn-lt"/>
                        </a:rPr>
                        <a:t>런타임</a:t>
                      </a:r>
                      <a:r>
                        <a:rPr lang="en-US" sz="1350" dirty="0">
                          <a:latin typeface="+mn-lt"/>
                        </a:rPr>
                        <a:t> </a:t>
                      </a:r>
                      <a:r>
                        <a:rPr lang="en-US" sz="1350" dirty="0" err="1">
                          <a:latin typeface="+mn-lt"/>
                        </a:rPr>
                        <a:t>후</a:t>
                      </a:r>
                      <a:endParaRPr lang="en-US" sz="135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ore-KR" sz="1350" dirty="0">
                          <a:latin typeface="+mn-lt"/>
                          <a:ea typeface="G마켓 산스 TTF Medium" panose="02000000000000000000" pitchFamily="2" charset="-127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ore-KR" altLang="en-US" sz="1350" dirty="0">
                          <a:latin typeface="+mn-lt"/>
                          <a:ea typeface="G마켓 산스 TTF Medium" panose="02000000000000000000" pitchFamily="2" charset="-127"/>
                        </a:rPr>
                        <a:t>결과 재검증 없음</a:t>
                      </a:r>
                      <a:endParaRPr lang="en-US" altLang="ko-Kore-KR" sz="1350" dirty="0">
                        <a:latin typeface="+mn-lt"/>
                        <a:ea typeface="G마켓 산스 TTF Medium" panose="020000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7621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1A7D38-3AC8-FCE4-3C7A-B5ADBA44A82E}"/>
              </a:ext>
            </a:extLst>
          </p:cNvPr>
          <p:cNvSpPr txBox="1"/>
          <p:nvPr/>
        </p:nvSpPr>
        <p:spPr>
          <a:xfrm>
            <a:off x="2224644" y="5563969"/>
            <a:ext cx="7742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ore-KR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John the Ripper</a:t>
            </a:r>
            <a:r>
              <a:rPr lang="ko-KR" altLang="en-US" sz="2200" b="1" dirty="0">
                <a:highlight>
                  <a:srgbClr val="FFFF00"/>
                </a:highlight>
                <a:latin typeface="-webkit-standard"/>
              </a:rPr>
              <a:t>는 포맷별로</a:t>
            </a:r>
            <a:r>
              <a:rPr lang="ko-KR" altLang="en-US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 실행 전 정상 동작을 </a:t>
            </a:r>
            <a:r>
              <a:rPr lang="en-US" altLang="ko-KR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Self-test</a:t>
            </a:r>
            <a:r>
              <a:rPr lang="ko-KR" altLang="en-US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로 </a:t>
            </a:r>
            <a:br>
              <a:rPr lang="en-US" altLang="ko-KR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</a:br>
            <a:r>
              <a:rPr lang="ko-KR" altLang="en-US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확인하지만 런타임 중</a:t>
            </a:r>
            <a:r>
              <a:rPr lang="en-US" altLang="ko-KR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·</a:t>
            </a:r>
            <a:r>
              <a:rPr lang="ko-KR" altLang="en-US" sz="2200" b="1" i="0" u="none" strike="noStrike" dirty="0">
                <a:effectLst/>
                <a:highlight>
                  <a:srgbClr val="FFFF00"/>
                </a:highlight>
                <a:latin typeface="-webkit-standard"/>
              </a:rPr>
              <a:t>후의 연산 무결성 검증은 수행하지 않음</a:t>
            </a:r>
            <a:endParaRPr kumimoji="1" lang="ko-Kore-KR" altLang="en-US" sz="2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8714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80C-66A5-4CE1-42F3-D1682A26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1BE5E-61A6-03CF-824A-5DA5B043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John the Ripper</a:t>
            </a:r>
            <a:r>
              <a:rPr lang="ko-KR" altLang="en-US" dirty="0"/>
              <a:t>의 사전 연산 검증</a:t>
            </a:r>
            <a:r>
              <a:rPr lang="en-US" altLang="ko-KR" dirty="0"/>
              <a:t>: Self-test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4A9D58-0FAF-45C5-3D03-A8DC78F2BF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ore-KR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Self-test</a:t>
            </a:r>
            <a:r>
              <a:rPr lang="ko-KR" altLang="en-US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는 </a:t>
            </a:r>
            <a:r>
              <a:rPr lang="ko-Kore-KR" altLang="en-US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선택된 포맷의 </a:t>
            </a:r>
            <a:r>
              <a:rPr lang="ko-KR" altLang="en-US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해시 연산의 정상 동작 여부를 확인하기 위한 </a:t>
            </a:r>
            <a:r>
              <a:rPr lang="en-US" altLang="ko-Kore-KR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KAT(Known </a:t>
            </a:r>
            <a:br>
              <a:rPr lang="en-US" altLang="ko-Kore-KR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r>
              <a:rPr lang="en-US" altLang="ko-Kore-KR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Answer Test) </a:t>
            </a:r>
            <a:r>
              <a:rPr lang="ko-KR" altLang="en-US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기반 검증 과정</a:t>
            </a:r>
            <a:endParaRPr lang="en-US" altLang="ko-KR" sz="2400" b="1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lvl="1"/>
            <a:r>
              <a:rPr lang="en-US" altLang="ko-KR" sz="2000" dirty="0"/>
              <a:t>John/</a:t>
            </a:r>
            <a:r>
              <a:rPr lang="en-US" altLang="ko-KR" sz="2000" dirty="0" err="1"/>
              <a:t>src</a:t>
            </a:r>
            <a:r>
              <a:rPr lang="en-US" altLang="ko-KR" sz="2000" dirty="0"/>
              <a:t>/</a:t>
            </a:r>
            <a:r>
              <a:rPr lang="en-US" altLang="ko-KR" sz="2000" dirty="0" err="1"/>
              <a:t>formats.c</a:t>
            </a:r>
            <a:r>
              <a:rPr lang="ko-KR" altLang="en-US" sz="2000" dirty="0"/>
              <a:t>에서 진행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ore-KR" altLang="en-US" sz="2400" dirty="0"/>
              <a:t>실제 크래킹 작업 수행 전에 </a:t>
            </a:r>
            <a:r>
              <a:rPr lang="en-US" altLang="ko-Kore-KR" sz="2400" dirty="0"/>
              <a:t>Self-test </a:t>
            </a:r>
            <a:r>
              <a:rPr lang="ko-Kore-KR" altLang="en-US" sz="2400" dirty="0"/>
              <a:t>진행</a:t>
            </a:r>
            <a:endParaRPr lang="en-US" altLang="ko-KR" sz="2400" dirty="0"/>
          </a:p>
          <a:p>
            <a:pPr lvl="1"/>
            <a:r>
              <a:rPr lang="en-US" altLang="ko-Kore-KR" sz="2000" dirty="0"/>
              <a:t>Tests[]: </a:t>
            </a:r>
            <a:r>
              <a:rPr lang="ko-Kore-KR" altLang="en-US" sz="2000" dirty="0"/>
              <a:t>포맷별로 정의된 기준 평문</a:t>
            </a:r>
            <a:r>
              <a:rPr lang="en-US" altLang="ko-Kore-KR" sz="2000" dirty="0"/>
              <a:t>, </a:t>
            </a:r>
            <a:r>
              <a:rPr lang="ko-Kore-KR" altLang="en-US" sz="2000" dirty="0"/>
              <a:t>해시값</a:t>
            </a:r>
            <a:endParaRPr lang="en-US" altLang="ko-Kore-KR" sz="2000" dirty="0"/>
          </a:p>
          <a:p>
            <a:pPr lvl="1"/>
            <a:r>
              <a:rPr lang="ko-KR" altLang="en-US" sz="2000" dirty="0"/>
              <a:t>미리 정의된 </a:t>
            </a:r>
            <a:r>
              <a:rPr lang="ko-KR" altLang="en-US" sz="2000" dirty="0" err="1"/>
              <a:t>입력값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해시값</a:t>
            </a:r>
            <a:r>
              <a:rPr lang="ko-KR" altLang="en-US" sz="2000" dirty="0"/>
              <a:t> 비교를 통해</a:t>
            </a:r>
            <a:br>
              <a:rPr lang="en-US" altLang="ko-KR" sz="2000" dirty="0"/>
            </a:br>
            <a:r>
              <a:rPr lang="ko-KR" altLang="en-US" sz="2000" dirty="0"/>
              <a:t>연산 정상 동작 여부 확인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ore-KR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CPU </a:t>
            </a:r>
            <a:r>
              <a:rPr lang="ko-KR" alt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포맷과 </a:t>
            </a:r>
            <a:r>
              <a:rPr lang="en-US" altLang="ko-Kore-KR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OpenCL </a:t>
            </a:r>
            <a:r>
              <a:rPr lang="ko-KR" alt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포맷은 </a:t>
            </a:r>
            <a:br>
              <a:rPr lang="en-US" altLang="ko-KR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r>
              <a:rPr lang="ko-KR" alt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동일한 </a:t>
            </a:r>
            <a:r>
              <a:rPr lang="en-US" altLang="ko-Kore-KR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Self-test </a:t>
            </a:r>
            <a:r>
              <a:rPr lang="ko-KR" altLang="en-U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프레임워크 사용</a:t>
            </a:r>
            <a:endParaRPr lang="en-US" altLang="ko-KR" sz="2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lvl="1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검증 대상이 되는 해시 연산 구현은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</a:b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포맷마다 상이함</a:t>
            </a: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496108-F761-BCCA-0FF7-05B20EDD6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78" y="1650117"/>
            <a:ext cx="3663082" cy="2384254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A09BAC-52B0-32A2-2281-78188FC333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279" y="4282042"/>
            <a:ext cx="3663082" cy="2153054"/>
          </a:xfrm>
          <a:prstGeom prst="rect">
            <a:avLst/>
          </a:prstGeom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E770FA1-5B4A-34A8-0276-2BF69B96F1A9}"/>
              </a:ext>
            </a:extLst>
          </p:cNvPr>
          <p:cNvSpPr/>
          <p:nvPr/>
        </p:nvSpPr>
        <p:spPr>
          <a:xfrm>
            <a:off x="7517279" y="2259685"/>
            <a:ext cx="3663082" cy="177468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5961482-C95A-0A0A-1B4B-57714A223866}"/>
              </a:ext>
            </a:extLst>
          </p:cNvPr>
          <p:cNvSpPr/>
          <p:nvPr/>
        </p:nvSpPr>
        <p:spPr>
          <a:xfrm>
            <a:off x="7517279" y="5456097"/>
            <a:ext cx="3663082" cy="93681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615607DF-00D4-F8F8-BE28-79C20E05678A}"/>
              </a:ext>
            </a:extLst>
          </p:cNvPr>
          <p:cNvCxnSpPr>
            <a:endCxn id="7" idx="1"/>
          </p:cNvCxnSpPr>
          <p:nvPr/>
        </p:nvCxnSpPr>
        <p:spPr>
          <a:xfrm flipV="1">
            <a:off x="6096000" y="2842244"/>
            <a:ext cx="1421278" cy="655237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2A7D4FC8-1084-6D0C-D512-F33115025A4D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5807873" y="4215099"/>
            <a:ext cx="2427025" cy="991788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97EA903-7A31-AB19-777B-33311BCD3166}"/>
              </a:ext>
            </a:extLst>
          </p:cNvPr>
          <p:cNvSpPr txBox="1"/>
          <p:nvPr/>
        </p:nvSpPr>
        <p:spPr>
          <a:xfrm>
            <a:off x="8309729" y="4025280"/>
            <a:ext cx="20781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100" dirty="0"/>
              <a:t>CPU </a:t>
            </a:r>
            <a:r>
              <a:rPr kumimoji="1" lang="ko-Kore-KR" altLang="en-US" sz="1100" dirty="0"/>
              <a:t>기반 </a:t>
            </a:r>
            <a:r>
              <a:rPr kumimoji="1" lang="en-US" altLang="ko-KR" sz="1100" dirty="0"/>
              <a:t>MD5</a:t>
            </a:r>
            <a:endParaRPr kumimoji="1" lang="ko-Kore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983D4-AABD-E9BB-DB02-032D21D8DED2}"/>
              </a:ext>
            </a:extLst>
          </p:cNvPr>
          <p:cNvSpPr txBox="1"/>
          <p:nvPr/>
        </p:nvSpPr>
        <p:spPr>
          <a:xfrm>
            <a:off x="8309728" y="6446282"/>
            <a:ext cx="20781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100" dirty="0"/>
              <a:t>OpenCL </a:t>
            </a:r>
            <a:r>
              <a:rPr kumimoji="1" lang="ko-Kore-KR" altLang="en-US" sz="1100" dirty="0"/>
              <a:t>기반 </a:t>
            </a:r>
            <a:r>
              <a:rPr kumimoji="1" lang="en-US" altLang="ko-KR" sz="1100" dirty="0"/>
              <a:t>MD5</a:t>
            </a:r>
            <a:endParaRPr kumimoji="1" lang="ko-Kore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9784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01FC-187C-C39E-EC83-1AA2885D4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CFCFB-96A7-3F1D-D237-FE3F0D4A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John the Ripper Self-test </a:t>
            </a:r>
            <a:r>
              <a:rPr lang="ko-KR" altLang="en-US" dirty="0"/>
              <a:t>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97125-01C7-0350-0F43-E579B75604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/>
          </a:bodyPr>
          <a:lstStyle/>
          <a:p>
            <a:r>
              <a:rPr lang="en-US" altLang="ko-Kore-KR" sz="2000" b="1" i="0" u="none" strike="noStrike" dirty="0">
                <a:solidFill>
                  <a:srgbClr val="000000"/>
                </a:solidFill>
                <a:effectLst/>
              </a:rPr>
              <a:t>Self-test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는 실제 크래킹과 </a:t>
            </a:r>
            <a:r>
              <a:rPr lang="ko-KR" altLang="en-US" sz="2000" b="1" dirty="0">
                <a:solidFill>
                  <a:srgbClr val="000000"/>
                </a:solidFill>
              </a:rPr>
              <a:t>동일한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 포맷 </a:t>
            </a:r>
            <a:r>
              <a:rPr lang="ko-KR" altLang="en-US" sz="2000" b="1" dirty="0">
                <a:solidFill>
                  <a:srgbClr val="000000"/>
                </a:solidFill>
              </a:rPr>
              <a:t>함수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 흐름으로 수행</a:t>
            </a:r>
            <a:endParaRPr lang="en-US" altLang="ko-KR" sz="2000" b="1" dirty="0"/>
          </a:p>
          <a:p>
            <a:pPr lvl="1"/>
            <a:endParaRPr lang="en-US" altLang="ko-KR" sz="1600" dirty="0"/>
          </a:p>
          <a:p>
            <a:r>
              <a:rPr lang="en-US" altLang="ko-Kore-KR" sz="2000" b="1" i="0" u="none" strike="noStrike" dirty="0" err="1">
                <a:solidFill>
                  <a:srgbClr val="000000"/>
                </a:solidFill>
                <a:effectLst/>
              </a:rPr>
              <a:t>fmt_self_test</a:t>
            </a:r>
            <a:r>
              <a:rPr lang="en-US" altLang="ko-Kore-KR" sz="2000" b="1" i="0" u="none" strike="noStrike" dirty="0">
                <a:solidFill>
                  <a:srgbClr val="000000"/>
                </a:solidFill>
                <a:effectLst/>
              </a:rPr>
              <a:t>()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에서 </a:t>
            </a:r>
            <a:r>
              <a:rPr lang="en-US" altLang="ko-Kore-KR" sz="2000" b="1" i="0" u="none" strike="noStrike" dirty="0">
                <a:solidFill>
                  <a:srgbClr val="000000"/>
                </a:solidFill>
                <a:effectLst/>
              </a:rPr>
              <a:t>Self-test 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수행</a:t>
            </a:r>
            <a:endParaRPr lang="en-US" altLang="ko-KR" sz="2000" b="1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</a:rPr>
              <a:t>Self-test </a:t>
            </a:r>
            <a:r>
              <a:rPr lang="ko-KR" altLang="en-US" sz="1600" dirty="0">
                <a:solidFill>
                  <a:srgbClr val="000000"/>
                </a:solidFill>
              </a:rPr>
              <a:t>진입 함수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lvl="1"/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테스트용 버퍼 및 상태 초기화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altLang="ko-Kore-KR" sz="1600" dirty="0" err="1"/>
              <a:t>fmt_self_test_body</a:t>
            </a:r>
            <a:r>
              <a:rPr lang="en-US" altLang="ko-Kore-KR" sz="1600" dirty="0"/>
              <a:t>()</a:t>
            </a:r>
            <a:r>
              <a:rPr lang="en-US" altLang="ko-Kore-KR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호출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</a:endParaRPr>
          </a:p>
          <a:p>
            <a:r>
              <a:rPr lang="en-US" altLang="ko-KR" sz="2000" b="1" dirty="0" err="1">
                <a:solidFill>
                  <a:srgbClr val="000000"/>
                </a:solidFill>
              </a:rPr>
              <a:t>f</a:t>
            </a:r>
            <a:r>
              <a:rPr lang="en-US" altLang="ko-KR" sz="2000" b="1" i="0" u="none" strike="noStrike" dirty="0" err="1">
                <a:solidFill>
                  <a:srgbClr val="000000"/>
                </a:solidFill>
                <a:effectLst/>
              </a:rPr>
              <a:t>mt_self_test_body</a:t>
            </a:r>
            <a:r>
              <a:rPr lang="en-US" altLang="ko-KR" sz="2000" b="1" i="0" u="none" strike="noStrike" dirty="0">
                <a:solidFill>
                  <a:srgbClr val="000000"/>
                </a:solidFill>
                <a:effectLst/>
              </a:rPr>
              <a:t>()</a:t>
            </a:r>
          </a:p>
          <a:p>
            <a:pPr lvl="1"/>
            <a:r>
              <a:rPr lang="en-US" altLang="ko-Kore-KR" sz="1600" dirty="0"/>
              <a:t>tests[]</a:t>
            </a:r>
            <a:r>
              <a:rPr lang="en-US" altLang="ko-Kore-KR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기반 테스트 벡터 순회</a:t>
            </a:r>
            <a:endParaRPr lang="en-US" altLang="ko-KR" sz="1600" dirty="0">
              <a:solidFill>
                <a:srgbClr val="000000"/>
              </a:solidFill>
            </a:endParaRPr>
          </a:p>
          <a:p>
            <a:pPr lvl="1"/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실제 포맷 함수</a:t>
            </a:r>
            <a:r>
              <a:rPr lang="en-US" altLang="ko-KR" sz="1600" dirty="0">
                <a:solidFill>
                  <a:srgbClr val="000000"/>
                </a:solidFill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</a:rPr>
              <a:t>crypt_all</a:t>
            </a:r>
            <a:r>
              <a:rPr lang="en-US" altLang="ko-KR" sz="1600" dirty="0">
                <a:solidFill>
                  <a:srgbClr val="000000"/>
                </a:solidFill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</a:rPr>
              <a:t>cmp</a:t>
            </a:r>
            <a:r>
              <a:rPr lang="en-US" altLang="ko-KR" sz="1600" dirty="0">
                <a:solidFill>
                  <a:srgbClr val="000000"/>
                </a:solidFill>
              </a:rPr>
              <a:t>_*)</a:t>
            </a:r>
            <a:r>
              <a:rPr lang="ko-KR" altLang="en-US" sz="1600" dirty="0">
                <a:solidFill>
                  <a:srgbClr val="000000"/>
                </a:solidFill>
              </a:rPr>
              <a:t> 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사용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</a:endParaRPr>
          </a:p>
          <a:p>
            <a:pPr lvl="1"/>
            <a:r>
              <a:rPr lang="en-US" altLang="ko-Kore-KR" sz="1600" dirty="0" err="1"/>
              <a:t>crypt_all</a:t>
            </a:r>
            <a:r>
              <a:rPr lang="en-US" altLang="ko-Kore-KR" sz="1600" dirty="0"/>
              <a:t>()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을 통해 테스트 벡터 기반 해시 연산 수행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altLang="ko-Kore-KR" sz="1600" dirty="0" err="1"/>
              <a:t>cmp</a:t>
            </a:r>
            <a:r>
              <a:rPr lang="en-US" altLang="ko-Kore-KR" sz="1600" dirty="0"/>
              <a:t>_*()</a:t>
            </a:r>
            <a:r>
              <a:rPr lang="ko-KR" altLang="en-US" sz="1600" b="0" i="0" u="none" strike="noStrike" dirty="0" err="1">
                <a:solidFill>
                  <a:srgbClr val="000000"/>
                </a:solidFill>
                <a:effectLst/>
              </a:rPr>
              <a:t>를</a:t>
            </a:r>
            <a:r>
              <a:rPr lang="ko-KR" altLang="en-US" sz="1600" b="0" i="0" u="none" strike="noStrike" dirty="0">
                <a:solidFill>
                  <a:srgbClr val="000000"/>
                </a:solidFill>
                <a:effectLst/>
              </a:rPr>
              <a:t> 통해 계산 결과 비교 수행</a:t>
            </a:r>
            <a:endParaRPr lang="en-US" altLang="ko-KR" sz="16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2C25C0-CBDA-AD5E-5638-93886BBB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049" y="1793173"/>
            <a:ext cx="4217883" cy="252948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ECD1A9-DCA8-FF28-51CC-608D71706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948" y="4657475"/>
            <a:ext cx="4220433" cy="611657"/>
          </a:xfrm>
          <a:prstGeom prst="rect">
            <a:avLst/>
          </a:prstGeom>
        </p:spPr>
      </p:pic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B81CD92-38AC-2D9A-5421-16079E10D1B2}"/>
              </a:ext>
            </a:extLst>
          </p:cNvPr>
          <p:cNvSpPr/>
          <p:nvPr/>
        </p:nvSpPr>
        <p:spPr>
          <a:xfrm>
            <a:off x="7136526" y="3237187"/>
            <a:ext cx="3846786" cy="20232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FCD80-EFC8-CCF8-1718-9798DA2DA2A5}"/>
              </a:ext>
            </a:extLst>
          </p:cNvPr>
          <p:cNvSpPr txBox="1"/>
          <p:nvPr/>
        </p:nvSpPr>
        <p:spPr>
          <a:xfrm>
            <a:off x="0" y="5451747"/>
            <a:ext cx="774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ore-KR" sz="1600" b="1" dirty="0">
                <a:solidFill>
                  <a:srgbClr val="2E75B6"/>
                </a:solidFill>
              </a:rPr>
              <a:t>OpenCL </a:t>
            </a:r>
            <a:r>
              <a:rPr lang="ko-KR" altLang="en-US" sz="1600" b="1" dirty="0">
                <a:solidFill>
                  <a:srgbClr val="2E75B6"/>
                </a:solidFill>
              </a:rPr>
              <a:t>포맷의 경우 </a:t>
            </a:r>
            <a:r>
              <a:rPr lang="en-US" altLang="ko-Kore-KR" sz="1600" b="1" dirty="0" err="1">
                <a:solidFill>
                  <a:srgbClr val="2E75B6"/>
                </a:solidFill>
              </a:rPr>
              <a:t>crypt_all</a:t>
            </a:r>
            <a:r>
              <a:rPr lang="en-US" altLang="ko-Kore-KR" sz="1600" b="1" dirty="0">
                <a:solidFill>
                  <a:srgbClr val="2E75B6"/>
                </a:solidFill>
              </a:rPr>
              <a:t>() </a:t>
            </a:r>
            <a:r>
              <a:rPr lang="ko-KR" altLang="en-US" sz="1600" b="1" dirty="0">
                <a:solidFill>
                  <a:srgbClr val="2E75B6"/>
                </a:solidFill>
              </a:rPr>
              <a:t>내부에서 실제 </a:t>
            </a:r>
            <a:r>
              <a:rPr lang="en-US" altLang="ko-Kore-KR" sz="1600" b="1" dirty="0">
                <a:solidFill>
                  <a:srgbClr val="2E75B6"/>
                </a:solidFill>
              </a:rPr>
              <a:t>GPU backend </a:t>
            </a:r>
            <a:r>
              <a:rPr lang="ko-KR" altLang="en-US" sz="1600" b="1" dirty="0">
                <a:solidFill>
                  <a:srgbClr val="2E75B6"/>
                </a:solidFill>
              </a:rPr>
              <a:t>사용 가능</a:t>
            </a:r>
          </a:p>
        </p:txBody>
      </p:sp>
    </p:spTree>
    <p:extLst>
      <p:ext uri="{BB962C8B-B14F-4D97-AF65-F5344CB8AC3E}">
        <p14:creationId xmlns:p14="http://schemas.microsoft.com/office/powerpoint/2010/main" val="3788402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4635-462E-B345-3638-65BA7210A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623D04A0-722E-223B-B6D5-28F3B5C4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166" y="4478861"/>
            <a:ext cx="5197346" cy="128926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569E15A-DA36-FBF8-FBC9-FA7A3D1FF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66" y="2526583"/>
            <a:ext cx="5197346" cy="6853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5540C42-005D-0D36-31FE-ED4E052BA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44" y="2597757"/>
            <a:ext cx="5333992" cy="34896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D16BE7-DC8C-005F-32CD-F04D473A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/>
              <a:t>실패 동작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47A171-5F42-64D8-55D6-9F681F61F6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Self-test</a:t>
            </a:r>
            <a:r>
              <a:rPr lang="ko-KR" altLang="en-US" sz="2400" b="1" dirty="0"/>
              <a:t>용 기준 </a:t>
            </a:r>
            <a:r>
              <a:rPr lang="ko-KR" altLang="en-US" sz="2400" b="1" dirty="0" err="1"/>
              <a:t>해시값을</a:t>
            </a:r>
            <a:r>
              <a:rPr lang="ko-KR" altLang="en-US" sz="2400" b="1" dirty="0"/>
              <a:t> 비정상 값으로 수정할 경우</a:t>
            </a:r>
            <a:endParaRPr lang="en-US" altLang="ko-KR" sz="2400" b="1" dirty="0"/>
          </a:p>
          <a:p>
            <a:pPr lvl="1"/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“FAILED (valid (</a:t>
            </a:r>
            <a:r>
              <a:rPr lang="en-US" altLang="ko-Kore-KR" sz="2000" dirty="0">
                <a:solidFill>
                  <a:srgbClr val="000000"/>
                </a:solidFill>
              </a:rPr>
              <a:t>b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efore </a:t>
            </a:r>
            <a:r>
              <a:rPr lang="en-US" altLang="ko-Kore-KR" sz="2000" b="0" i="0" u="none" strike="noStrike" dirty="0" err="1">
                <a:solidFill>
                  <a:srgbClr val="000000"/>
                </a:solidFill>
                <a:effectLst/>
              </a:rPr>
              <a:t>init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))”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발생 후 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John the Ripper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실행 중단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/>
            <a:r>
              <a:rPr lang="en-US" altLang="ko-KR" sz="2000" b="1" dirty="0">
                <a:solidFill>
                  <a:srgbClr val="2E75B6"/>
                </a:solidFill>
              </a:rPr>
              <a:t>CPU </a:t>
            </a:r>
            <a:r>
              <a:rPr lang="ko-KR" altLang="en-US" sz="2000" b="1" dirty="0">
                <a:solidFill>
                  <a:srgbClr val="2E75B6"/>
                </a:solidFill>
              </a:rPr>
              <a:t>및 </a:t>
            </a:r>
            <a:r>
              <a:rPr lang="en-US" altLang="ko-KR" sz="2000" b="1" dirty="0">
                <a:solidFill>
                  <a:srgbClr val="2E75B6"/>
                </a:solidFill>
              </a:rPr>
              <a:t>OpenCL </a:t>
            </a:r>
            <a:r>
              <a:rPr lang="ko-KR" altLang="en-US" sz="2000" b="1" dirty="0">
                <a:solidFill>
                  <a:srgbClr val="2E75B6"/>
                </a:solidFill>
              </a:rPr>
              <a:t>포맷에서 동일하게 </a:t>
            </a:r>
            <a:r>
              <a:rPr lang="en-US" altLang="ko-KR" sz="2000" b="1" dirty="0">
                <a:solidFill>
                  <a:srgbClr val="2E75B6"/>
                </a:solidFill>
              </a:rPr>
              <a:t>Self-test </a:t>
            </a:r>
            <a:r>
              <a:rPr lang="ko-KR" altLang="en-US" sz="2000" b="1" dirty="0">
                <a:solidFill>
                  <a:srgbClr val="2E75B6"/>
                </a:solidFill>
              </a:rPr>
              <a:t>실패 확인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8EC0279-B92C-2425-82BD-34858ECB89AC}"/>
              </a:ext>
            </a:extLst>
          </p:cNvPr>
          <p:cNvSpPr/>
          <p:nvPr/>
        </p:nvSpPr>
        <p:spPr>
          <a:xfrm>
            <a:off x="6886407" y="2789349"/>
            <a:ext cx="3936416" cy="20916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D2027A85-49CC-2216-6A33-3EC5231B3D82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 flipV="1">
            <a:off x="4227616" y="2893930"/>
            <a:ext cx="2658791" cy="100279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7A7C6F2-2FCD-56B3-54E8-3C8CF8ACCB13}"/>
              </a:ext>
            </a:extLst>
          </p:cNvPr>
          <p:cNvSpPr/>
          <p:nvPr/>
        </p:nvSpPr>
        <p:spPr>
          <a:xfrm>
            <a:off x="746482" y="3779582"/>
            <a:ext cx="3481134" cy="23427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245A8-CFAC-9CC3-A7EA-4B722C827A6F}"/>
              </a:ext>
            </a:extLst>
          </p:cNvPr>
          <p:cNvSpPr txBox="1"/>
          <p:nvPr/>
        </p:nvSpPr>
        <p:spPr>
          <a:xfrm>
            <a:off x="7014912" y="3231274"/>
            <a:ext cx="4441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sz="1400" dirty="0"/>
              <a:t>해시 문자열 뒤에 </a:t>
            </a:r>
            <a:r>
              <a:rPr kumimoji="1" lang="en-US" altLang="ko-Kore-KR" sz="1400" dirty="0"/>
              <a:t>“</a:t>
            </a:r>
            <a:r>
              <a:rPr kumimoji="1" lang="en-US" altLang="ko-KR" sz="1400" dirty="0"/>
              <a:t>.” </a:t>
            </a:r>
            <a:r>
              <a:rPr kumimoji="1" lang="ko-KR" altLang="en-US" sz="1400" dirty="0"/>
              <a:t>추가</a:t>
            </a:r>
            <a:endParaRPr kumimoji="1" lang="en-US" altLang="ko-KR" sz="1400" dirty="0"/>
          </a:p>
          <a:p>
            <a:pPr algn="ctr"/>
            <a:r>
              <a:rPr lang="ko-KR" altLang="en-US" sz="1400" dirty="0">
                <a:ea typeface="맑은 고딕"/>
              </a:rPr>
              <a:t>→ </a:t>
            </a:r>
            <a:r>
              <a:rPr kumimoji="1" lang="ko-KR" altLang="en-US" sz="1400" dirty="0"/>
              <a:t>비정상 형식으로 변경</a:t>
            </a:r>
            <a:endParaRPr kumimoji="1" lang="ko-Kore-KR" altLang="en-US" sz="1400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1FDF5F6-C98E-4DDD-DB75-E7C8D27EDF00}"/>
              </a:ext>
            </a:extLst>
          </p:cNvPr>
          <p:cNvSpPr/>
          <p:nvPr/>
        </p:nvSpPr>
        <p:spPr>
          <a:xfrm>
            <a:off x="6471211" y="5585359"/>
            <a:ext cx="5197346" cy="177592"/>
          </a:xfrm>
          <a:prstGeom prst="roundRect">
            <a:avLst/>
          </a:prstGeom>
          <a:noFill/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2E75B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80FB3-C43A-D508-556B-E359643C196F}"/>
              </a:ext>
            </a:extLst>
          </p:cNvPr>
          <p:cNvSpPr txBox="1"/>
          <p:nvPr/>
        </p:nvSpPr>
        <p:spPr>
          <a:xfrm>
            <a:off x="7615157" y="5902523"/>
            <a:ext cx="2909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dirty="0"/>
              <a:t>John the Ripper </a:t>
            </a:r>
            <a:r>
              <a:rPr kumimoji="1" lang="ko-Kore-KR" altLang="en-US" sz="1400" dirty="0"/>
              <a:t>실행 중단 확인</a:t>
            </a: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7175807E-303F-F896-087E-6EEFAD3AD31F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H="1" flipV="1">
            <a:off x="6471210" y="5674155"/>
            <a:ext cx="1288413" cy="382256"/>
          </a:xfrm>
          <a:prstGeom prst="bentConnector3">
            <a:avLst>
              <a:gd name="adj1" fmla="val -17743"/>
            </a:avLst>
          </a:prstGeom>
          <a:ln w="19050">
            <a:solidFill>
              <a:srgbClr val="2E75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78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2780-871C-D91E-CFD4-224A3AC6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7D154F1-7A6B-0146-447E-3F32D75EB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643" y="4277051"/>
            <a:ext cx="5833254" cy="162547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6DD3FB9-62D2-96B9-47CC-2845842F5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4" y="2597757"/>
            <a:ext cx="5333992" cy="34896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4FF5208-00B1-DF8B-A3CA-71741FCEA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12031"/>
            <a:ext cx="5833254" cy="78622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210959-3E74-F447-A934-D0FD3B73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 </a:t>
            </a:r>
            <a:r>
              <a:rPr lang="ko-KR" altLang="en-US" dirty="0"/>
              <a:t>실패 동작 분석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88A0F2-E42A-3BE5-7CE1-9883BE18C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400" b="1" dirty="0"/>
              <a:t>Self-test</a:t>
            </a:r>
            <a:r>
              <a:rPr lang="ko-KR" altLang="en-US" sz="2400" b="1" dirty="0"/>
              <a:t>용 기준 </a:t>
            </a:r>
            <a:r>
              <a:rPr lang="ko-KR" altLang="en-US" sz="2400" b="1" dirty="0" err="1"/>
              <a:t>해시값을</a:t>
            </a:r>
            <a:r>
              <a:rPr lang="ko-KR" altLang="en-US" sz="2400" b="1" dirty="0"/>
              <a:t> 실제 계산 결과와 일치하지 않는 값으로 수정할 경우</a:t>
            </a:r>
            <a:endParaRPr lang="en-US" altLang="ko-KR" sz="2400" b="1" dirty="0"/>
          </a:p>
          <a:p>
            <a:pPr lvl="1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</a:rPr>
              <a:t>“</a:t>
            </a:r>
            <a:r>
              <a:rPr lang="en-US" altLang="ko-KR" sz="2000" dirty="0">
                <a:solidFill>
                  <a:srgbClr val="000000"/>
                </a:solidFill>
              </a:rPr>
              <a:t>FAILED (</a:t>
            </a:r>
            <a:r>
              <a:rPr lang="en-US" altLang="ko-KR" sz="2000" dirty="0" err="1">
                <a:solidFill>
                  <a:srgbClr val="000000"/>
                </a:solidFill>
              </a:rPr>
              <a:t>cmp_exact</a:t>
            </a:r>
            <a:r>
              <a:rPr lang="en-US" altLang="ko-KR" sz="2000" dirty="0">
                <a:solidFill>
                  <a:srgbClr val="000000"/>
                </a:solidFill>
              </a:rPr>
              <a:t>())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”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발생 후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</a:rPr>
              <a:t>John the Ripper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실행 중단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altLang="ko-KR" sz="2000" b="1" dirty="0">
                <a:solidFill>
                  <a:srgbClr val="2E75B6"/>
                </a:solidFill>
              </a:rPr>
              <a:t>CPU </a:t>
            </a:r>
            <a:r>
              <a:rPr lang="ko-KR" altLang="en-US" sz="2000" b="1" dirty="0">
                <a:solidFill>
                  <a:srgbClr val="2E75B6"/>
                </a:solidFill>
              </a:rPr>
              <a:t>및 </a:t>
            </a:r>
            <a:r>
              <a:rPr lang="en-US" altLang="ko-KR" sz="2000" b="1" dirty="0">
                <a:solidFill>
                  <a:srgbClr val="2E75B6"/>
                </a:solidFill>
              </a:rPr>
              <a:t>OpenCL </a:t>
            </a:r>
            <a:r>
              <a:rPr lang="ko-KR" altLang="en-US" sz="2000" b="1" dirty="0">
                <a:solidFill>
                  <a:srgbClr val="2E75B6"/>
                </a:solidFill>
              </a:rPr>
              <a:t>포맷에서 동일하게 </a:t>
            </a:r>
            <a:r>
              <a:rPr lang="en-US" altLang="ko-KR" sz="2000" b="1" dirty="0">
                <a:solidFill>
                  <a:srgbClr val="2E75B6"/>
                </a:solidFill>
              </a:rPr>
              <a:t>Self-test </a:t>
            </a:r>
            <a:r>
              <a:rPr lang="ko-KR" altLang="en-US" sz="2000" b="1" dirty="0">
                <a:solidFill>
                  <a:srgbClr val="2E75B6"/>
                </a:solidFill>
              </a:rPr>
              <a:t>실패 확인</a:t>
            </a:r>
          </a:p>
          <a:p>
            <a:pPr lvl="1"/>
            <a:endParaRPr lang="ko-KR" altLang="en-US" sz="2000" b="1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47A5B2-06E1-A0BF-E196-FF5EAA6DCF6B}"/>
              </a:ext>
            </a:extLst>
          </p:cNvPr>
          <p:cNvSpPr/>
          <p:nvPr/>
        </p:nvSpPr>
        <p:spPr>
          <a:xfrm>
            <a:off x="6575144" y="2677776"/>
            <a:ext cx="4274268" cy="25313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450ADA7-D2DF-48B2-749D-32B6D3B817B5}"/>
              </a:ext>
            </a:extLst>
          </p:cNvPr>
          <p:cNvSpPr/>
          <p:nvPr/>
        </p:nvSpPr>
        <p:spPr>
          <a:xfrm>
            <a:off x="765626" y="3785663"/>
            <a:ext cx="3473865" cy="21632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0FF42-8063-BE47-4340-E30FB387533D}"/>
              </a:ext>
            </a:extLst>
          </p:cNvPr>
          <p:cNvSpPr txBox="1"/>
          <p:nvPr/>
        </p:nvSpPr>
        <p:spPr>
          <a:xfrm>
            <a:off x="6879246" y="3238693"/>
            <a:ext cx="4441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sz="1400" dirty="0"/>
              <a:t>해시 문자열 마지막을 </a:t>
            </a:r>
            <a:r>
              <a:rPr kumimoji="1" lang="en-US" altLang="ko-KR" sz="1400" dirty="0"/>
              <a:t>“a”</a:t>
            </a:r>
            <a:r>
              <a:rPr kumimoji="1" lang="ko-KR" altLang="en-US" sz="1400" dirty="0"/>
              <a:t>에서 </a:t>
            </a:r>
            <a:r>
              <a:rPr kumimoji="1" lang="en-US" altLang="ko-KR" sz="1400" dirty="0"/>
              <a:t>“b”</a:t>
            </a:r>
            <a:r>
              <a:rPr kumimoji="1" lang="ko-KR" altLang="en-US" sz="1400" dirty="0"/>
              <a:t>로 수정</a:t>
            </a:r>
            <a:endParaRPr kumimoji="1" lang="en-US" altLang="ko-KR" sz="1400" dirty="0"/>
          </a:p>
          <a:p>
            <a:pPr algn="ctr"/>
            <a:r>
              <a:rPr lang="ko-KR" altLang="en-US" sz="1400" dirty="0">
                <a:ea typeface="맑은 고딕"/>
              </a:rPr>
              <a:t>→ </a:t>
            </a:r>
            <a:r>
              <a:rPr kumimoji="1" lang="ko-KR" altLang="en-US" sz="1400" dirty="0">
                <a:ea typeface="맑은 고딕"/>
              </a:rPr>
              <a:t>일치하지 않는 값으로</a:t>
            </a:r>
            <a:r>
              <a:rPr kumimoji="1" lang="ko-KR" altLang="en-US" sz="1400" dirty="0"/>
              <a:t> 변경</a:t>
            </a:r>
            <a:endParaRPr kumimoji="1" lang="ko-Kore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20132-6E20-9336-2C17-AD9025C7524D}"/>
              </a:ext>
            </a:extLst>
          </p:cNvPr>
          <p:cNvSpPr txBox="1"/>
          <p:nvPr/>
        </p:nvSpPr>
        <p:spPr>
          <a:xfrm>
            <a:off x="7645205" y="6039822"/>
            <a:ext cx="29094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400" dirty="0"/>
              <a:t>John the Ripper </a:t>
            </a:r>
            <a:r>
              <a:rPr kumimoji="1" lang="ko-Kore-KR" altLang="en-US" sz="1400" dirty="0"/>
              <a:t>실행 중단 확인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5143E26-7B42-B6E8-15C6-B9853031AF13}"/>
              </a:ext>
            </a:extLst>
          </p:cNvPr>
          <p:cNvSpPr/>
          <p:nvPr/>
        </p:nvSpPr>
        <p:spPr>
          <a:xfrm>
            <a:off x="6116643" y="5686950"/>
            <a:ext cx="5333991" cy="215573"/>
          </a:xfrm>
          <a:prstGeom prst="roundRect">
            <a:avLst/>
          </a:prstGeom>
          <a:noFill/>
          <a:ln w="1905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B7216D9B-4A8D-1788-9D59-644E2DB86A80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H="1" flipV="1">
            <a:off x="6116642" y="5794736"/>
            <a:ext cx="1685445" cy="415563"/>
          </a:xfrm>
          <a:prstGeom prst="bentConnector3">
            <a:avLst>
              <a:gd name="adj1" fmla="val -13563"/>
            </a:avLst>
          </a:prstGeom>
          <a:ln w="19050">
            <a:solidFill>
              <a:srgbClr val="2E75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88754BAE-F958-0F79-369A-CF3D8969C650}"/>
              </a:ext>
            </a:extLst>
          </p:cNvPr>
          <p:cNvCxnSpPr>
            <a:cxnSpLocks/>
          </p:cNvCxnSpPr>
          <p:nvPr/>
        </p:nvCxnSpPr>
        <p:spPr>
          <a:xfrm flipV="1">
            <a:off x="4275117" y="2814452"/>
            <a:ext cx="2202049" cy="1092530"/>
          </a:xfrm>
          <a:prstGeom prst="bentConnector3">
            <a:avLst>
              <a:gd name="adj1" fmla="val 6941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9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8763-57A7-CD6E-0DA2-45DAB8F3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11B8-2817-12AA-92BC-8F8EEA1E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John the Ripper </a:t>
            </a:r>
            <a:r>
              <a:rPr lang="ko-KR" altLang="en-US" dirty="0"/>
              <a:t>결과 처리 구조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4AD2D8-F1E7-9929-91D7-C922028836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8160" cy="5057775"/>
          </a:xfrm>
        </p:spPr>
        <p:txBody>
          <a:bodyPr>
            <a:normAutofit/>
          </a:bodyPr>
          <a:lstStyle/>
          <a:p>
            <a:r>
              <a:rPr lang="en-US" altLang="ko-Kore-KR" sz="2000" b="1" i="0" u="none" strike="noStrike" dirty="0">
                <a:solidFill>
                  <a:srgbClr val="000000"/>
                </a:solidFill>
                <a:effectLst/>
              </a:rPr>
              <a:t>John the Ripper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는 단계별 비교 </a:t>
            </a:r>
            <a:r>
              <a:rPr lang="ko-KR" altLang="en-US" sz="2000" b="1" dirty="0">
                <a:solidFill>
                  <a:srgbClr val="000000"/>
                </a:solidFill>
              </a:rPr>
              <a:t>함수</a:t>
            </a:r>
            <a:r>
              <a:rPr lang="ko-KR" altLang="en-US" sz="2000" b="1" i="0" u="none" strike="noStrike" dirty="0">
                <a:solidFill>
                  <a:srgbClr val="000000"/>
                </a:solidFill>
                <a:effectLst/>
              </a:rPr>
              <a:t>를 통해 후보를 점진적으로 필터링하며 최종 일치 여부를 판단함</a:t>
            </a:r>
            <a:endParaRPr lang="en-US" altLang="ko-Kore-KR" sz="2000" b="1" dirty="0"/>
          </a:p>
          <a:p>
            <a:pPr lvl="1"/>
            <a:endParaRPr lang="en-US" altLang="ko-Kore-KR" sz="1600" b="1" dirty="0"/>
          </a:p>
          <a:p>
            <a:r>
              <a:rPr lang="en-US" altLang="ko-Kore-KR" sz="2000" b="1" dirty="0" err="1"/>
              <a:t>cmp_all</a:t>
            </a:r>
            <a:r>
              <a:rPr lang="en-US" altLang="ko-Kore-KR" sz="2000" b="1" dirty="0"/>
              <a:t>()</a:t>
            </a:r>
          </a:p>
          <a:p>
            <a:pPr lvl="1"/>
            <a:r>
              <a:rPr lang="ko-KR" altLang="en-US" sz="1600" dirty="0"/>
              <a:t>여러 후보 결과를 빠르게 확인하는 </a:t>
            </a:r>
            <a:r>
              <a:rPr lang="en-US" altLang="ko-KR" sz="1600" dirty="0"/>
              <a:t>1</a:t>
            </a:r>
            <a:r>
              <a:rPr lang="ko-KR" altLang="en-US" sz="1600" dirty="0"/>
              <a:t>차 </a:t>
            </a:r>
            <a:r>
              <a:rPr lang="ko-KR" altLang="en-US" sz="1600" dirty="0" err="1"/>
              <a:t>스크리닝</a:t>
            </a:r>
            <a:endParaRPr lang="en-US" altLang="ko-KR" sz="1600" dirty="0"/>
          </a:p>
          <a:p>
            <a:pPr lvl="1"/>
            <a:r>
              <a:rPr lang="ko-KR" altLang="en-US" sz="1600" dirty="0"/>
              <a:t>목표 해시와 일치 가능성이 있는 후보 존재 여부 확인</a:t>
            </a:r>
            <a:endParaRPr lang="en-US" altLang="ko-KR" sz="1600" dirty="0"/>
          </a:p>
          <a:p>
            <a:pPr lvl="2"/>
            <a:r>
              <a:rPr lang="ko-KR" altLang="en-US" sz="1200" dirty="0"/>
              <a:t>포맷 별로 목표 전체 또는 일부 워드를 비교하여 다음 단계로 넘길지 판단함</a:t>
            </a:r>
            <a:endParaRPr lang="en-US" altLang="ko-KR" sz="1200" dirty="0"/>
          </a:p>
          <a:p>
            <a:pPr lvl="2"/>
            <a:endParaRPr lang="en-US" altLang="ko-KR" sz="1200" dirty="0"/>
          </a:p>
          <a:p>
            <a:r>
              <a:rPr lang="en-US" altLang="ko-Kore-KR" sz="2000" b="1" dirty="0" err="1"/>
              <a:t>cmp</a:t>
            </a:r>
            <a:r>
              <a:rPr lang="en-US" altLang="ko-KR" sz="2000" b="1" dirty="0" err="1"/>
              <a:t>_one</a:t>
            </a:r>
            <a:r>
              <a:rPr lang="en-US" altLang="ko-KR" sz="2000" b="1" dirty="0"/>
              <a:t>()</a:t>
            </a:r>
          </a:p>
          <a:p>
            <a:pPr lvl="1"/>
            <a:r>
              <a:rPr lang="en-US" altLang="ko-Kore-KR" sz="1600" dirty="0" err="1"/>
              <a:t>cmp_all</a:t>
            </a:r>
            <a:r>
              <a:rPr lang="en-US" altLang="ko-Kore-KR" sz="1600" dirty="0"/>
              <a:t>() </a:t>
            </a:r>
            <a:r>
              <a:rPr lang="ko-KR" altLang="en-US" sz="1600" dirty="0"/>
              <a:t>통과 후 후보 값들의 인덱스 단위로 비교 수행</a:t>
            </a:r>
            <a:endParaRPr lang="en-US" altLang="ko-KR" sz="1600" dirty="0"/>
          </a:p>
          <a:p>
            <a:pPr lvl="1"/>
            <a:r>
              <a:rPr lang="ko-KR" altLang="en-US" sz="1600" dirty="0"/>
              <a:t>특정 후보 인덱스가 목표 해시와 일치하는지 확인</a:t>
            </a:r>
            <a:endParaRPr lang="en-US" altLang="ko-KR" sz="1600" dirty="0"/>
          </a:p>
          <a:p>
            <a:pPr lvl="2"/>
            <a:endParaRPr lang="en-US" altLang="ko-KR" sz="1200" dirty="0"/>
          </a:p>
          <a:p>
            <a:r>
              <a:rPr lang="en-US" altLang="ko-Kore-KR" sz="2000" b="1" dirty="0" err="1"/>
              <a:t>cmp_exact</a:t>
            </a:r>
            <a:r>
              <a:rPr lang="en-US" altLang="ko-Kore-KR" sz="2000" b="1" dirty="0"/>
              <a:t>()</a:t>
            </a:r>
          </a:p>
          <a:p>
            <a:pPr lvl="1"/>
            <a:r>
              <a:rPr lang="ko-Kore-KR" altLang="en-US" sz="1600" dirty="0"/>
              <a:t>최종 완전 일치 여부 검증</a:t>
            </a:r>
            <a:endParaRPr lang="en-US" altLang="ko-Kore-KR" sz="1600" dirty="0"/>
          </a:p>
          <a:p>
            <a:pPr lvl="1"/>
            <a:r>
              <a:rPr lang="ko-KR" altLang="en-US" sz="1600" dirty="0"/>
              <a:t>이전 단계에서 일부만 비교한 포맷은 여기서 추가 확인 수행 가능</a:t>
            </a:r>
            <a:endParaRPr lang="ko-Kore-KR" altLang="en-US" sz="1600" dirty="0"/>
          </a:p>
          <a:p>
            <a:pPr lvl="1"/>
            <a:endParaRPr lang="en-US" altLang="ko-Kore-KR" sz="1600" b="1" dirty="0"/>
          </a:p>
          <a:p>
            <a:endParaRPr lang="en-US" altLang="ko-Kore-KR" sz="1600" b="1" dirty="0"/>
          </a:p>
          <a:p>
            <a:endParaRPr lang="ko-Kore-KR" altLang="en-US" sz="1600" dirty="0"/>
          </a:p>
        </p:txBody>
      </p:sp>
      <p:pic>
        <p:nvPicPr>
          <p:cNvPr id="10" name="그림 9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80E7E11-3B8D-842B-C967-C5EB59D7EF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165" y="3423865"/>
            <a:ext cx="3323216" cy="1187679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EFBBF6-70F8-4024-4894-B9A1910A66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213" y="4830199"/>
            <a:ext cx="3747119" cy="833379"/>
          </a:xfrm>
          <a:prstGeom prst="rect">
            <a:avLst/>
          </a:prstGeom>
        </p:spPr>
      </p:pic>
      <p:pic>
        <p:nvPicPr>
          <p:cNvPr id="17" name="그림 1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84AA96B-2C3E-DC92-4755-AB1ADEB72A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599" y="2144026"/>
            <a:ext cx="4126051" cy="106118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5EDB6D-6721-50A6-3614-39EA9CE4C150}"/>
              </a:ext>
            </a:extLst>
          </p:cNvPr>
          <p:cNvSpPr txBox="1"/>
          <p:nvPr/>
        </p:nvSpPr>
        <p:spPr>
          <a:xfrm>
            <a:off x="2650953" y="6023583"/>
            <a:ext cx="6888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John the Ripper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는 런타임 후 </a:t>
            </a:r>
            <a:r>
              <a:rPr lang="ko-Kore-KR" altLang="en-US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무결성 검증은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webkit-standard"/>
              </a:rPr>
              <a:t> 수행하지 않음</a:t>
            </a:r>
            <a:endParaRPr kumimoji="1" lang="ko-Kore-KR" alt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6441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0261-E2ED-3BA0-3DA3-E205134A9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4F259-61FE-3436-A68B-52E38B1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크래킹 툴 연산 검증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5C8A77-654F-1789-F870-9AEFEE224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/>
              <a:t>Self-test </a:t>
            </a:r>
            <a:r>
              <a:rPr lang="ko-KR" altLang="en-US" sz="2400" b="1" dirty="0"/>
              <a:t>기반 검증</a:t>
            </a:r>
            <a:endParaRPr lang="en-US" altLang="ko-KR" sz="2400" b="1" dirty="0"/>
          </a:p>
          <a:p>
            <a:pPr lvl="1"/>
            <a:r>
              <a:rPr lang="en-US" altLang="ko-Kore-KR" sz="2000" b="0" i="0" u="none" strike="noStrike" dirty="0" err="1">
                <a:solidFill>
                  <a:srgbClr val="000000"/>
                </a:solidFill>
                <a:effectLst/>
              </a:rPr>
              <a:t>Hashcat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과 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John the Ripper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모두 실행 전 </a:t>
            </a:r>
            <a:r>
              <a:rPr lang="en-US" altLang="ko-Kore-KR" sz="2000" b="1" i="0" u="none" strike="noStrike" dirty="0">
                <a:solidFill>
                  <a:srgbClr val="2E75B6"/>
                </a:solidFill>
                <a:effectLst/>
              </a:rPr>
              <a:t>Self-test(KAT)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</a:rPr>
              <a:t>를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 통해 </a:t>
            </a:r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정상 동작 여부 확인</a:t>
            </a:r>
            <a:endParaRPr lang="en-US" altLang="ko-KR" sz="2000" b="1" dirty="0">
              <a:solidFill>
                <a:srgbClr val="2E75B6"/>
              </a:solidFill>
            </a:endParaRPr>
          </a:p>
          <a:p>
            <a:pPr lvl="1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실제 크랙과 동일한 연산 경로를 사용하여 기준 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</a:rPr>
              <a:t>입력</a:t>
            </a:r>
            <a:r>
              <a:rPr lang="ko-KR" altLang="en-US" sz="2000" dirty="0" err="1">
                <a:solidFill>
                  <a:srgbClr val="000000"/>
                </a:solidFill>
              </a:rPr>
              <a:t>값과</a:t>
            </a:r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ko-KR" altLang="en-US" sz="2000" dirty="0" err="1">
                <a:solidFill>
                  <a:srgbClr val="000000"/>
                </a:solidFill>
              </a:rPr>
              <a:t>해시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</a:rPr>
              <a:t>값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 비교 수행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ore-KR" altLang="en-US" sz="2400" b="1" dirty="0"/>
              <a:t>한계점</a:t>
            </a:r>
            <a:endParaRPr lang="en-US" altLang="ko-Kore-KR" sz="2400" b="1" dirty="0"/>
          </a:p>
          <a:p>
            <a:pPr lvl="1"/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Self-test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는 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</a:rPr>
              <a:t>실행 전 정상 동작 여부만 확인</a:t>
            </a:r>
            <a:endParaRPr lang="en-US" altLang="ko-KR" sz="2000" b="1" i="0" u="none" strike="noStrike" dirty="0">
              <a:solidFill>
                <a:srgbClr val="FF0000"/>
              </a:solidFill>
              <a:effectLst/>
            </a:endParaRPr>
          </a:p>
          <a:p>
            <a:pPr lvl="1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런타임 중 발생 가능한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 Bit-flip, fault injection,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메모리 </a:t>
            </a:r>
            <a:r>
              <a:rPr lang="ko-KR" altLang="en-US" sz="2000" dirty="0">
                <a:solidFill>
                  <a:srgbClr val="000000"/>
                </a:solidFill>
              </a:rPr>
              <a:t>오류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등에 대한 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</a:rPr>
              <a:t>지속적 무결성 검증 구조는 제한적</a:t>
            </a:r>
            <a:endParaRPr lang="en-US" altLang="ko-KR" sz="2000" b="1" i="0" u="none" strike="noStrike" dirty="0">
              <a:solidFill>
                <a:srgbClr val="FF0000"/>
              </a:solidFill>
              <a:effectLst/>
            </a:endParaRPr>
          </a:p>
          <a:p>
            <a:pPr lvl="1"/>
            <a:r>
              <a:rPr lang="en-US" altLang="ko-Kore-KR" sz="2000" b="0" i="0" u="none" strike="noStrike" dirty="0" err="1">
                <a:solidFill>
                  <a:srgbClr val="000000"/>
                </a:solidFill>
                <a:effectLst/>
              </a:rPr>
              <a:t>Hashcat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과 </a:t>
            </a:r>
            <a:r>
              <a:rPr lang="en-US" altLang="ko-Kore-KR" sz="2000" b="0" i="0" u="none" strike="noStrike" dirty="0">
                <a:solidFill>
                  <a:srgbClr val="000000"/>
                </a:solidFill>
                <a:effectLst/>
              </a:rPr>
              <a:t>John the Ripper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모두 </a:t>
            </a:r>
            <a:r>
              <a:rPr lang="ko-KR" altLang="en-US" sz="2000" b="1" i="0" u="none" strike="noStrike" dirty="0">
                <a:solidFill>
                  <a:srgbClr val="2E75B6"/>
                </a:solidFill>
                <a:effectLst/>
              </a:rPr>
              <a:t>해시 비교를 수행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하지만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연산 과정 자체의 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</a:rPr>
              <a:t>무결성을 </a:t>
            </a:r>
            <a:r>
              <a:rPr lang="ko-KR" altLang="en-US" sz="2000" b="1" i="0" u="none" strike="noStrike" dirty="0" err="1">
                <a:solidFill>
                  <a:srgbClr val="FF0000"/>
                </a:solidFill>
                <a:effectLst/>
              </a:rPr>
              <a:t>재검증하는</a:t>
            </a:r>
            <a:r>
              <a:rPr lang="ko-KR" altLang="en-US" sz="2000" b="1" i="0" u="none" strike="noStrike" dirty="0">
                <a:solidFill>
                  <a:srgbClr val="FF0000"/>
                </a:solidFill>
                <a:effectLst/>
              </a:rPr>
              <a:t> 구조는 아님</a:t>
            </a:r>
            <a:endParaRPr lang="en-US" altLang="ko-KR" sz="2000" b="1" i="0" u="none" strike="noStrike" dirty="0">
              <a:solidFill>
                <a:srgbClr val="FF0000"/>
              </a:solidFill>
              <a:effectLst/>
            </a:endParaRPr>
          </a:p>
          <a:p>
            <a:pPr lvl="1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런타임 중 연산 오류 발생 시 정상 결과가 실패로 판단되거나</a:t>
            </a:r>
            <a:r>
              <a:rPr lang="en-US" altLang="ko-KR" sz="2000" b="1" i="0" u="none" strike="noStrike" dirty="0">
                <a:solidFill>
                  <a:srgbClr val="FF0000"/>
                </a:solidFill>
                <a:effectLst/>
              </a:rPr>
              <a:t>(</a:t>
            </a:r>
            <a:r>
              <a:rPr lang="en-US" altLang="ko-Kore-KR" sz="2000" b="1" i="0" u="none" strike="noStrike" dirty="0">
                <a:solidFill>
                  <a:srgbClr val="FF0000"/>
                </a:solidFill>
                <a:effectLst/>
              </a:rPr>
              <a:t>False Negative)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비정상 결과가 일치로 판단될</a:t>
            </a:r>
            <a:r>
              <a:rPr lang="en-US" altLang="ko-KR" sz="2000" b="1" i="0" u="none" strike="noStrike" dirty="0">
                <a:solidFill>
                  <a:srgbClr val="FF0000"/>
                </a:solidFill>
                <a:effectLst/>
              </a:rPr>
              <a:t>(</a:t>
            </a:r>
            <a:r>
              <a:rPr lang="en-US" altLang="ko-Kore-KR" sz="2000" b="1" i="0" u="none" strike="noStrike" dirty="0">
                <a:solidFill>
                  <a:srgbClr val="FF0000"/>
                </a:solidFill>
                <a:effectLst/>
              </a:rPr>
              <a:t>False Positive)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</a:rPr>
              <a:t>가능성 존재</a:t>
            </a:r>
          </a:p>
        </p:txBody>
      </p:sp>
    </p:spTree>
    <p:extLst>
      <p:ext uri="{BB962C8B-B14F-4D97-AF65-F5344CB8AC3E}">
        <p14:creationId xmlns:p14="http://schemas.microsoft.com/office/powerpoint/2010/main" val="504267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17085</TotalTime>
  <Words>850</Words>
  <Application>Microsoft Office PowerPoint</Application>
  <PresentationFormat>와이드스크린</PresentationFormat>
  <Paragraphs>135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-webkit-standard</vt:lpstr>
      <vt:lpstr>맑은 고딕</vt:lpstr>
      <vt:lpstr>Arial</vt:lpstr>
      <vt:lpstr>CryptoCraft 테마</vt:lpstr>
      <vt:lpstr>제목 테마</vt:lpstr>
      <vt:lpstr>John the Ripper 분석</vt:lpstr>
      <vt:lpstr>John the Ripper</vt:lpstr>
      <vt:lpstr>John the Ripper 동작 흐름</vt:lpstr>
      <vt:lpstr>John the Ripper의 연산 검증 구조</vt:lpstr>
      <vt:lpstr>John the Ripper의 사전 연산 검증: Self-test</vt:lpstr>
      <vt:lpstr>John the Ripper Self-test 구조</vt:lpstr>
      <vt:lpstr>Self-test 실패 동작 분석</vt:lpstr>
      <vt:lpstr>Self-test 실패 동작 분석</vt:lpstr>
      <vt:lpstr>John the Ripper 결과 처리 구조</vt:lpstr>
      <vt:lpstr>크래킹 툴 연산 검증 비교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송민호</cp:lastModifiedBy>
  <cp:revision>589</cp:revision>
  <dcterms:created xsi:type="dcterms:W3CDTF">2019-03-05T04:29:07Z</dcterms:created>
  <dcterms:modified xsi:type="dcterms:W3CDTF">2026-05-27T16:13:02Z</dcterms:modified>
</cp:coreProperties>
</file>