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2" r:id="rId1"/>
    <p:sldMasterId id="2147483733" r:id="rId2"/>
  </p:sldMasterIdLst>
  <p:notesMasterIdLst>
    <p:notesMasterId r:id="rId13"/>
  </p:notesMasterIdLst>
  <p:handoutMasterIdLst>
    <p:handoutMasterId r:id="rId14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6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="" xmlns:c="http://schemas.openxmlformats.org/drawingml/2006/chart" xmlns:dgm="http://schemas.openxmlformats.org/drawingml/2006/diagram" xmlns:dsp="http://schemas.microsoft.com/office/drawing/2008/diagram"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063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688" y="184"/>
      </p:cViewPr>
      <p:guideLst>
        <p:guide orient="horz" pos="2156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3730" y="91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45546E7E-6CE1-4F62-BC39-1BE7148D0D0D}" type="datetime1">
              <a:rPr lang="ko-KR" altLang="en-US"/>
              <a:pPr lvl="0">
                <a:defRPr/>
              </a:pPr>
              <a:t>2026. 1. 12.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42F56489-CFDC-4DF4-92D1-C366C0FB1731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6B8A1C54-2D0D-48EB-888A-9786B070F533}" type="datetime1">
              <a:rPr lang="ko-KR" altLang="en-US"/>
              <a:pPr lvl="0">
                <a:defRPr/>
              </a:pPr>
              <a:t>2026. 1. 12.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6002C913-610E-4BF0-B55F-9CE65BBA65D1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11920" y="207747"/>
            <a:ext cx="11368160" cy="76216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0" name="모서리가 둥근 직사각형 19"/>
          <p:cNvSpPr/>
          <p:nvPr userDrawn="1"/>
        </p:nvSpPr>
        <p:spPr>
          <a:xfrm>
            <a:off x="411920" y="207747"/>
            <a:ext cx="11368160" cy="762163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0"/>
          </p:nvPr>
        </p:nvSpPr>
        <p:spPr>
          <a:xfrm>
            <a:off x="411163" y="1152525"/>
            <a:ext cx="11369675" cy="560387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819850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0" y="1223120"/>
            <a:ext cx="12192000" cy="2387600"/>
          </a:xfrm>
        </p:spPr>
        <p:txBody>
          <a:bodyPr anchor="ctr"/>
          <a:lstStyle>
            <a:lvl1pPr algn="ctr">
              <a:defRPr sz="6000" b="0">
                <a:latin typeface="+mj-ea"/>
                <a:ea typeface="+mj-ea"/>
                <a:cs typeface="함초롬돋움" panose="020B060400010101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-2" y="3794871"/>
            <a:ext cx="12192001" cy="1655762"/>
          </a:xfrm>
        </p:spPr>
        <p:txBody>
          <a:bodyPr anchor="ctr"/>
          <a:lstStyle>
            <a:lvl1pPr marL="0" indent="0" algn="ctr">
              <a:buNone/>
              <a:defRPr sz="2400">
                <a:latin typeface="+mn-ea"/>
                <a:ea typeface="+mn-ea"/>
                <a:cs typeface="함초롬돋움" panose="020B0604000101010101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230" t="65598" b="9375"/>
          <a:stretch/>
        </p:blipFill>
        <p:spPr>
          <a:xfrm>
            <a:off x="0" y="6646331"/>
            <a:ext cx="1809148" cy="160867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460" b="12513"/>
          <a:stretch/>
        </p:blipFill>
        <p:spPr>
          <a:xfrm>
            <a:off x="10880202" y="6675969"/>
            <a:ext cx="1311798" cy="160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2633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연결선 8"/>
          <p:cNvCxnSpPr>
            <a:cxnSpLocks/>
          </p:cNvCxnSpPr>
          <p:nvPr userDrawn="1"/>
        </p:nvCxnSpPr>
        <p:spPr>
          <a:xfrm>
            <a:off x="4863597" y="2676048"/>
            <a:ext cx="199407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텍스트 개체 틀 4"/>
          <p:cNvSpPr>
            <a:spLocks noGrp="1"/>
          </p:cNvSpPr>
          <p:nvPr>
            <p:ph type="body" sz="quarter" idx="11" hasCustomPrompt="1"/>
          </p:nvPr>
        </p:nvSpPr>
        <p:spPr>
          <a:xfrm>
            <a:off x="1055592" y="2158084"/>
            <a:ext cx="10071852" cy="718952"/>
          </a:xfrm>
          <a:ln w="28575">
            <a:noFill/>
          </a:ln>
        </p:spPr>
        <p:txBody>
          <a:bodyPr anchor="ctr">
            <a:normAutofit/>
          </a:bodyPr>
          <a:lstStyle>
            <a:lvl1pPr marL="0" indent="0">
              <a:buNone/>
              <a:defRPr sz="2800" b="0" baseline="0">
                <a:ln>
                  <a:solidFill>
                    <a:schemeClr val="bg2">
                      <a:lumMod val="25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ko-KR" altLang="en-US" dirty="0"/>
              <a:t>제목</a:t>
            </a:r>
          </a:p>
        </p:txBody>
      </p:sp>
      <p:sp>
        <p:nvSpPr>
          <p:cNvPr id="70" name="텍스트 개체 틀 4"/>
          <p:cNvSpPr>
            <a:spLocks noGrp="1"/>
          </p:cNvSpPr>
          <p:nvPr>
            <p:ph type="body" sz="quarter" idx="25" hasCustomPrompt="1"/>
          </p:nvPr>
        </p:nvSpPr>
        <p:spPr>
          <a:xfrm>
            <a:off x="1055592" y="3073925"/>
            <a:ext cx="10071850" cy="718952"/>
          </a:xfrm>
          <a:ln w="28575">
            <a:noFill/>
          </a:ln>
        </p:spPr>
        <p:txBody>
          <a:bodyPr anchor="ctr">
            <a:normAutofit/>
          </a:bodyPr>
          <a:lstStyle>
            <a:lvl1pPr marL="0" indent="0">
              <a:buNone/>
              <a:defRPr sz="2800" b="0" baseline="0">
                <a:ln>
                  <a:solidFill>
                    <a:schemeClr val="bg2">
                      <a:lumMod val="25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ko-KR" altLang="en-US" dirty="0"/>
              <a:t>제목</a:t>
            </a:r>
          </a:p>
        </p:txBody>
      </p:sp>
      <p:sp>
        <p:nvSpPr>
          <p:cNvPr id="76" name="텍스트 개체 틀 4"/>
          <p:cNvSpPr>
            <a:spLocks noGrp="1"/>
          </p:cNvSpPr>
          <p:nvPr>
            <p:ph type="body" sz="quarter" idx="27" hasCustomPrompt="1"/>
          </p:nvPr>
        </p:nvSpPr>
        <p:spPr>
          <a:xfrm>
            <a:off x="1055592" y="3993106"/>
            <a:ext cx="10071850" cy="718952"/>
          </a:xfrm>
          <a:ln w="28575">
            <a:noFill/>
          </a:ln>
        </p:spPr>
        <p:txBody>
          <a:bodyPr anchor="ctr">
            <a:normAutofit/>
          </a:bodyPr>
          <a:lstStyle>
            <a:lvl1pPr marL="0" indent="0">
              <a:buNone/>
              <a:defRPr sz="2800" b="0" baseline="0">
                <a:ln>
                  <a:solidFill>
                    <a:schemeClr val="bg2">
                      <a:lumMod val="25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ko-KR" altLang="en-US" dirty="0"/>
              <a:t>제목</a:t>
            </a:r>
          </a:p>
        </p:txBody>
      </p:sp>
      <p:sp>
        <p:nvSpPr>
          <p:cNvPr id="11" name="모서리가 둥근 직사각형 19">
            <a:extLst>
              <a:ext uri="{FF2B5EF4-FFF2-40B4-BE49-F238E27FC236}">
                <a16:creationId xmlns:a16="http://schemas.microsoft.com/office/drawing/2014/main" id="{9A1001AF-7C71-4701-94B0-3772F84D3418}"/>
              </a:ext>
            </a:extLst>
          </p:cNvPr>
          <p:cNvSpPr/>
          <p:nvPr userDrawn="1"/>
        </p:nvSpPr>
        <p:spPr>
          <a:xfrm>
            <a:off x="1064556" y="2158085"/>
            <a:ext cx="10062886" cy="715612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모서리가 둥근 직사각형 19">
            <a:extLst>
              <a:ext uri="{FF2B5EF4-FFF2-40B4-BE49-F238E27FC236}">
                <a16:creationId xmlns:a16="http://schemas.microsoft.com/office/drawing/2014/main" id="{D9E18A4C-9D39-4312-9D41-EA0FA0703DAD}"/>
              </a:ext>
            </a:extLst>
          </p:cNvPr>
          <p:cNvSpPr/>
          <p:nvPr userDrawn="1"/>
        </p:nvSpPr>
        <p:spPr>
          <a:xfrm>
            <a:off x="1064556" y="3070687"/>
            <a:ext cx="10062886" cy="715612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모서리가 둥근 직사각형 19">
            <a:extLst>
              <a:ext uri="{FF2B5EF4-FFF2-40B4-BE49-F238E27FC236}">
                <a16:creationId xmlns:a16="http://schemas.microsoft.com/office/drawing/2014/main" id="{DD43020D-DDFD-4ED7-A112-51545002358E}"/>
              </a:ext>
            </a:extLst>
          </p:cNvPr>
          <p:cNvSpPr/>
          <p:nvPr userDrawn="1"/>
        </p:nvSpPr>
        <p:spPr>
          <a:xfrm>
            <a:off x="1064556" y="3999684"/>
            <a:ext cx="10062886" cy="715612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91475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종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 userDrawn="1"/>
        </p:nvSpPr>
        <p:spPr>
          <a:xfrm>
            <a:off x="0" y="2767280"/>
            <a:ext cx="1219199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8000" dirty="0">
                <a:latin typeface="+mj-lt"/>
              </a:rPr>
              <a:t>Q &amp; A</a:t>
            </a:r>
            <a:endParaRPr lang="ko-KR" altLang="en-US" sz="8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3294381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9867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0" name="직사각형 9"/>
          <p:cNvSpPr/>
          <p:nvPr userDrawn="1"/>
        </p:nvSpPr>
        <p:spPr>
          <a:xfrm>
            <a:off x="8623390" y="6412231"/>
            <a:ext cx="356861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fld id="{86B743E8-9D27-4F69-87ED-4623B89CBF9F}" type="slidenum">
              <a:rPr lang="ko-KR" altLang="en-US" sz="2000" smtClean="0">
                <a:solidFill>
                  <a:schemeClr val="tx1"/>
                </a:solidFill>
                <a:latin typeface="+mn-lt"/>
              </a:rPr>
              <a:t>‹#›</a:t>
            </a:fld>
            <a:endParaRPr lang="ko-KR" altLang="en-US" sz="2000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06993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8DAAC8-442A-4C15-9819-F07FF5E7315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96665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9" r:id="rId3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vab7CW79TxY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ko-KR" sz="5400" dirty="0" err="1"/>
              <a:t>Dilithium</a:t>
            </a:r>
            <a:r>
              <a:rPr lang="ko-KR" altLang="ko-KR" sz="5400" dirty="0"/>
              <a:t> 메모리 최적 구현 </a:t>
            </a:r>
          </a:p>
          <a:p>
            <a:pPr lvl="0">
              <a:defRPr/>
            </a:pPr>
            <a:r>
              <a:rPr lang="ko-KR" altLang="ko-KR" sz="5400" dirty="0"/>
              <a:t>코드 분석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유튜브 주소 </a:t>
            </a:r>
            <a:r>
              <a:rPr lang="en-US" altLang="ko-KR" dirty="0"/>
              <a:t>: </a:t>
            </a:r>
            <a:r>
              <a:rPr lang="en-US" altLang="ko-KR" dirty="0">
                <a:hlinkClick r:id="rId2"/>
              </a:rPr>
              <a:t>https://</a:t>
            </a:r>
            <a:r>
              <a:rPr lang="en-US" altLang="ko-KR" dirty="0" err="1">
                <a:hlinkClick r:id="rId2"/>
              </a:rPr>
              <a:t>youtu.be</a:t>
            </a:r>
            <a:r>
              <a:rPr lang="en-US" altLang="ko-KR" dirty="0">
                <a:hlinkClick r:id="rId2"/>
              </a:rPr>
              <a:t>/vab7CW79TxY</a:t>
            </a:r>
            <a:endParaRPr lang="ko-KR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kumimoji="1" lang="en-US" altLang="ko-KR"/>
              <a:t>Dilithium </a:t>
            </a:r>
            <a:r>
              <a:rPr kumimoji="1" lang="ko-KR" altLang="en-US"/>
              <a:t>개요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>
              <a:defRPr/>
            </a:pPr>
            <a:r>
              <a:rPr kumimoji="1" lang="en-US" altLang="ko-KR"/>
              <a:t>Dilithium: NIST</a:t>
            </a:r>
            <a:r>
              <a:rPr kumimoji="1" lang="ko-KR" altLang="en-US"/>
              <a:t> 공모전에 제출된 </a:t>
            </a:r>
            <a:r>
              <a:rPr kumimoji="1" lang="en-US" altLang="ko-KR"/>
              <a:t>PQC </a:t>
            </a:r>
            <a:r>
              <a:rPr kumimoji="1" lang="ko-KR" altLang="en-US"/>
              <a:t>전자서명 알고리즘</a:t>
            </a:r>
          </a:p>
          <a:p>
            <a:pPr lvl="0">
              <a:defRPr/>
            </a:pPr>
            <a:r>
              <a:rPr kumimoji="1" lang="en-US" altLang="ko-KR"/>
              <a:t>NIST </a:t>
            </a:r>
            <a:r>
              <a:rPr kumimoji="1" lang="ko-KR" altLang="en-US"/>
              <a:t>공모전</a:t>
            </a:r>
            <a:r>
              <a:rPr kumimoji="1" lang="en-US" altLang="ko-KR"/>
              <a:t>:</a:t>
            </a:r>
            <a:r>
              <a:rPr kumimoji="1" lang="ko-KR" altLang="en-US"/>
              <a:t> </a:t>
            </a:r>
            <a:r>
              <a:rPr kumimoji="1" lang="en-US" altLang="ko-KR"/>
              <a:t>PQC </a:t>
            </a:r>
            <a:r>
              <a:rPr kumimoji="1" lang="ko-KR" altLang="en-US"/>
              <a:t>알고리즘을 평가해 표준을 선정하는 공모전</a:t>
            </a:r>
          </a:p>
          <a:p>
            <a:pPr lvl="1">
              <a:defRPr/>
            </a:pPr>
            <a:r>
              <a:rPr kumimoji="1" lang="en-US" altLang="ko-KR"/>
              <a:t>ML-KEM(FIPS203): </a:t>
            </a:r>
            <a:r>
              <a:rPr kumimoji="1" lang="ko-KR" altLang="en-US"/>
              <a:t>키교환</a:t>
            </a:r>
            <a:r>
              <a:rPr kumimoji="1" lang="en-US" altLang="ko-KR"/>
              <a:t>/</a:t>
            </a:r>
            <a:r>
              <a:rPr kumimoji="1" lang="ko-KR" altLang="en-US"/>
              <a:t>키캡슐화 표준</a:t>
            </a:r>
            <a:r>
              <a:rPr kumimoji="1" lang="en-US" altLang="ko-KR"/>
              <a:t>(Kyber-</a:t>
            </a:r>
            <a:r>
              <a:rPr kumimoji="1" lang="ko-KR" altLang="en-US"/>
              <a:t>격자기반</a:t>
            </a:r>
            <a:r>
              <a:rPr kumimoji="1" lang="en-US" altLang="ko-KR"/>
              <a:t>)</a:t>
            </a:r>
          </a:p>
          <a:p>
            <a:pPr lvl="1">
              <a:defRPr/>
            </a:pPr>
            <a:r>
              <a:rPr kumimoji="1" lang="en-US" altLang="ko-KR" b="1">
                <a:solidFill>
                  <a:schemeClr val="accent1"/>
                </a:solidFill>
              </a:rPr>
              <a:t>ML-DSA(FIPS204): </a:t>
            </a:r>
            <a:r>
              <a:rPr kumimoji="1" lang="ko-KR" altLang="en-US" b="1">
                <a:solidFill>
                  <a:schemeClr val="accent1"/>
                </a:solidFill>
              </a:rPr>
              <a:t>전자서명 표준</a:t>
            </a:r>
            <a:r>
              <a:rPr kumimoji="1" lang="en-US" altLang="ko-KR" b="1">
                <a:solidFill>
                  <a:schemeClr val="accent1"/>
                </a:solidFill>
              </a:rPr>
              <a:t>(Dilithium-</a:t>
            </a:r>
            <a:r>
              <a:rPr kumimoji="1" lang="ko-KR" altLang="en-US" b="1">
                <a:solidFill>
                  <a:schemeClr val="accent1"/>
                </a:solidFill>
              </a:rPr>
              <a:t>격자기반</a:t>
            </a:r>
            <a:r>
              <a:rPr kumimoji="1" lang="en-US" altLang="ko-KR" b="1">
                <a:solidFill>
                  <a:schemeClr val="accent1"/>
                </a:solidFill>
              </a:rPr>
              <a:t>)</a:t>
            </a:r>
            <a:endParaRPr kumimoji="1" lang="en-US" altLang="ko-KR"/>
          </a:p>
          <a:p>
            <a:pPr lvl="1">
              <a:defRPr/>
            </a:pPr>
            <a:r>
              <a:rPr kumimoji="1" lang="en-US" altLang="ko-KR"/>
              <a:t>SLH-DSA(FIPS205): </a:t>
            </a:r>
            <a:r>
              <a:rPr kumimoji="1" lang="ko-KR" altLang="en-US"/>
              <a:t>전자서명 표준</a:t>
            </a:r>
            <a:r>
              <a:rPr kumimoji="1" lang="en-US" altLang="ko-KR"/>
              <a:t>(SPHINCS+-</a:t>
            </a:r>
            <a:r>
              <a:rPr kumimoji="1" lang="ko-KR" altLang="en-US"/>
              <a:t>해시기반</a:t>
            </a:r>
            <a:r>
              <a:rPr kumimoji="1" lang="en-US" altLang="ko-KR"/>
              <a:t>)</a:t>
            </a:r>
          </a:p>
          <a:p>
            <a:pPr lvl="1">
              <a:defRPr/>
            </a:pPr>
            <a:r>
              <a:rPr kumimoji="1" lang="ko-KR" altLang="en-US"/>
              <a:t>이외 </a:t>
            </a:r>
            <a:r>
              <a:rPr kumimoji="1" lang="en-US" altLang="ko-KR"/>
              <a:t>FALCON(</a:t>
            </a:r>
            <a:r>
              <a:rPr kumimoji="1" lang="ko-KR" altLang="en-US"/>
              <a:t>격자기반</a:t>
            </a:r>
            <a:r>
              <a:rPr kumimoji="1" lang="en-US" altLang="ko-KR"/>
              <a:t>),</a:t>
            </a:r>
            <a:r>
              <a:rPr kumimoji="1" lang="ko-KR" altLang="en-US"/>
              <a:t> </a:t>
            </a:r>
            <a:r>
              <a:rPr kumimoji="1" lang="en-US" altLang="ko-KR"/>
              <a:t>HQC(</a:t>
            </a:r>
            <a:r>
              <a:rPr kumimoji="1" lang="ko-KR" altLang="en-US"/>
              <a:t>코드기반</a:t>
            </a:r>
            <a:r>
              <a:rPr kumimoji="1" lang="en-US" altLang="ko-KR"/>
              <a:t>)</a:t>
            </a:r>
            <a:r>
              <a:rPr kumimoji="1" lang="ko-KR" altLang="en-US"/>
              <a:t> 알고리즘이 표준화 진행 중</a:t>
            </a:r>
          </a:p>
          <a:p>
            <a:pPr lvl="0">
              <a:defRPr/>
            </a:pPr>
            <a:r>
              <a:rPr kumimoji="1" lang="en-US" altLang="ko-KR" b="1">
                <a:solidFill>
                  <a:srgbClr val="FF0000"/>
                </a:solidFill>
              </a:rPr>
              <a:t>Dilithium</a:t>
            </a:r>
            <a:r>
              <a:rPr kumimoji="1" lang="ko-KR" altLang="en-US" b="1">
                <a:solidFill>
                  <a:srgbClr val="FF0000"/>
                </a:solidFill>
              </a:rPr>
              <a:t>의 기반 난제</a:t>
            </a:r>
            <a:r>
              <a:rPr kumimoji="1" lang="en-US" altLang="ko-KR" b="1">
                <a:solidFill>
                  <a:srgbClr val="FF0000"/>
                </a:solidFill>
              </a:rPr>
              <a:t>:</a:t>
            </a:r>
            <a:r>
              <a:rPr kumimoji="1" lang="ko-KR" altLang="en-US" b="1">
                <a:solidFill>
                  <a:srgbClr val="FF0000"/>
                </a:solidFill>
              </a:rPr>
              <a:t> 격자</a:t>
            </a:r>
            <a:r>
              <a:rPr kumimoji="1" lang="en-US" altLang="ko-KR" b="1">
                <a:solidFill>
                  <a:srgbClr val="FF0000"/>
                </a:solidFill>
              </a:rPr>
              <a:t>(module-lattice)</a:t>
            </a:r>
            <a:endParaRPr kumimoji="1" lang="en-US" altLang="ko-KR"/>
          </a:p>
          <a:p>
            <a:pPr lvl="1">
              <a:defRPr/>
            </a:pPr>
            <a:r>
              <a:rPr kumimoji="1" lang="ko-KR" altLang="en-US"/>
              <a:t>격자기반</a:t>
            </a:r>
            <a:r>
              <a:rPr kumimoji="1" lang="en-US" altLang="ko-KR"/>
              <a:t>:</a:t>
            </a:r>
            <a:r>
              <a:rPr kumimoji="1" lang="ko-KR" altLang="en-US"/>
              <a:t> 보통 성능</a:t>
            </a:r>
            <a:r>
              <a:rPr kumimoji="1" lang="en-US" altLang="ko-KR"/>
              <a:t>/</a:t>
            </a:r>
            <a:r>
              <a:rPr kumimoji="1" lang="ko-KR" altLang="en-US"/>
              <a:t>구현 효율이 좋음 </a:t>
            </a:r>
            <a:r>
              <a:rPr kumimoji="1" lang="en-US" altLang="ko-KR"/>
              <a:t>-&gt;</a:t>
            </a:r>
            <a:r>
              <a:rPr kumimoji="1" lang="ko-KR" altLang="en-US"/>
              <a:t> 대부분 표준 후보가 격자 기반</a:t>
            </a:r>
          </a:p>
          <a:p>
            <a:pPr lvl="1">
              <a:defRPr/>
            </a:pPr>
            <a:r>
              <a:rPr kumimoji="1" lang="en-US" altLang="ko-KR" b="1">
                <a:solidFill>
                  <a:schemeClr val="accent1"/>
                </a:solidFill>
              </a:rPr>
              <a:t>NTT</a:t>
            </a:r>
            <a:r>
              <a:rPr kumimoji="1" lang="ko-KR" altLang="en-US" b="1">
                <a:solidFill>
                  <a:schemeClr val="accent1"/>
                </a:solidFill>
              </a:rPr>
              <a:t>를 이용해 빠른 다항식 연산이 가능함	</a:t>
            </a:r>
          </a:p>
          <a:p>
            <a:pPr lvl="1">
              <a:defRPr/>
            </a:pPr>
            <a:r>
              <a:rPr kumimoji="1" lang="ko-KR" altLang="en-US">
                <a:solidFill>
                  <a:schemeClr val="dk1"/>
                </a:solidFill>
              </a:rPr>
              <a:t>보통 성능 병목이 </a:t>
            </a:r>
            <a:r>
              <a:rPr kumimoji="1" lang="en-US" altLang="ko-KR">
                <a:solidFill>
                  <a:schemeClr val="dk1"/>
                </a:solidFill>
              </a:rPr>
              <a:t>NTT</a:t>
            </a:r>
            <a:r>
              <a:rPr kumimoji="1" lang="ko-KR" altLang="en-US">
                <a:solidFill>
                  <a:schemeClr val="dk1"/>
                </a:solidFill>
              </a:rPr>
              <a:t>에서 발생</a:t>
            </a:r>
          </a:p>
          <a:p>
            <a:pPr lvl="1">
              <a:defRPr/>
            </a:pPr>
            <a:r>
              <a:rPr kumimoji="1" lang="ko-KR" altLang="en-US" b="1">
                <a:solidFill>
                  <a:schemeClr val="accent1"/>
                </a:solidFill>
              </a:rPr>
              <a:t>성능 상 병목은 </a:t>
            </a:r>
            <a:r>
              <a:rPr kumimoji="1" lang="en-US" altLang="ko-KR" b="1">
                <a:solidFill>
                  <a:schemeClr val="accent1"/>
                </a:solidFill>
              </a:rPr>
              <a:t>NTT</a:t>
            </a:r>
            <a:r>
              <a:rPr kumimoji="1" lang="ko-KR" altLang="en-US" b="1">
                <a:solidFill>
                  <a:schemeClr val="accent1"/>
                </a:solidFill>
              </a:rPr>
              <a:t>가 주요 파트이나</a:t>
            </a:r>
            <a:r>
              <a:rPr kumimoji="1" lang="en-US" altLang="ko-KR" b="1">
                <a:solidFill>
                  <a:schemeClr val="accent1"/>
                </a:solidFill>
              </a:rPr>
              <a:t>,</a:t>
            </a:r>
            <a:r>
              <a:rPr kumimoji="1" lang="ko-KR" altLang="en-US" b="1">
                <a:solidFill>
                  <a:schemeClr val="accent1"/>
                </a:solidFill>
              </a:rPr>
              <a:t> </a:t>
            </a:r>
            <a:r>
              <a:rPr kumimoji="1" lang="en-US" altLang="ko-KR" b="1">
                <a:solidFill>
                  <a:schemeClr val="accent1"/>
                </a:solidFill>
              </a:rPr>
              <a:t>NTT</a:t>
            </a:r>
            <a:r>
              <a:rPr kumimoji="1" lang="ko-KR" altLang="en-US" b="1">
                <a:solidFill>
                  <a:schemeClr val="accent1"/>
                </a:solidFill>
              </a:rPr>
              <a:t>의 </a:t>
            </a:r>
            <a:r>
              <a:rPr kumimoji="1" lang="en-US" altLang="ko-KR" b="1">
                <a:solidFill>
                  <a:schemeClr val="accent1"/>
                </a:solidFill>
              </a:rPr>
              <a:t>RAM Peak</a:t>
            </a:r>
            <a:r>
              <a:rPr kumimoji="1" lang="ko-KR" altLang="en-US" b="1">
                <a:solidFill>
                  <a:schemeClr val="accent1"/>
                </a:solidFill>
              </a:rPr>
              <a:t>는 높지 않음</a:t>
            </a:r>
            <a:endParaRPr kumimoji="1" lang="ko-KR" altLang="en-US">
              <a:solidFill>
                <a:schemeClr val="dk1"/>
              </a:solidFill>
            </a:endParaRPr>
          </a:p>
          <a:p>
            <a:pPr lvl="1">
              <a:defRPr/>
            </a:pPr>
            <a:endParaRPr kumimoji="1" lang="ko-KR" altLang="en-US">
              <a:solidFill>
                <a:schemeClr val="dk1"/>
              </a:solidFill>
            </a:endParaRPr>
          </a:p>
          <a:p>
            <a:pPr lvl="0">
              <a:defRPr/>
            </a:pPr>
            <a:endParaRPr kumimoji="1"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9819462" y="0"/>
            <a:ext cx="2372537" cy="12070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메모리 최적 구현 분석 대상</a:t>
            </a:r>
          </a:p>
        </p:txBody>
      </p:sp>
      <p:sp>
        <p:nvSpPr>
          <p:cNvPr id="3" name="텍스트 개체 틀 8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b="1" dirty="0">
                <a:solidFill>
                  <a:srgbClr val="FF0000"/>
                </a:solidFill>
              </a:rPr>
              <a:t>연구 목적</a:t>
            </a:r>
            <a:r>
              <a:rPr lang="en-US" altLang="ko-KR" b="1" dirty="0">
                <a:solidFill>
                  <a:srgbClr val="FF0000"/>
                </a:solidFill>
              </a:rPr>
              <a:t>:</a:t>
            </a:r>
            <a:r>
              <a:rPr lang="ko-KR" altLang="en-US" b="1" dirty="0">
                <a:solidFill>
                  <a:srgbClr val="FF0000"/>
                </a:solidFill>
              </a:rPr>
              <a:t> </a:t>
            </a:r>
            <a:r>
              <a:rPr lang="en-US" altLang="ko-KR" b="1" dirty="0" err="1">
                <a:solidFill>
                  <a:srgbClr val="FF0000"/>
                </a:solidFill>
              </a:rPr>
              <a:t>Dilithium</a:t>
            </a:r>
            <a:r>
              <a:rPr lang="ko-KR" altLang="en-US" b="1" dirty="0">
                <a:solidFill>
                  <a:srgbClr val="FF0000"/>
                </a:solidFill>
              </a:rPr>
              <a:t>의 </a:t>
            </a:r>
            <a:r>
              <a:rPr lang="en-US" altLang="ko-KR" b="1" dirty="0">
                <a:solidFill>
                  <a:srgbClr val="FF0000"/>
                </a:solidFill>
              </a:rPr>
              <a:t>RAM peak </a:t>
            </a:r>
            <a:r>
              <a:rPr lang="ko-KR" altLang="en-US" b="1" dirty="0">
                <a:solidFill>
                  <a:srgbClr val="FF0000"/>
                </a:solidFill>
              </a:rPr>
              <a:t>감소</a:t>
            </a:r>
          </a:p>
          <a:p>
            <a:pPr lvl="0">
              <a:defRPr/>
            </a:pPr>
            <a:r>
              <a:rPr lang="ko-KR" altLang="en-US" dirty="0"/>
              <a:t>메모리 점유의 가장 큰 원인은 </a:t>
            </a:r>
            <a:r>
              <a:rPr lang="en-US" altLang="ko-KR" dirty="0"/>
              <a:t>NTT</a:t>
            </a:r>
            <a:r>
              <a:rPr lang="ko-KR" altLang="en-US" dirty="0"/>
              <a:t>가 아님</a:t>
            </a:r>
          </a:p>
          <a:p>
            <a:pPr lvl="1">
              <a:defRPr/>
            </a:pPr>
            <a:r>
              <a:rPr lang="ko-KR" altLang="en-US" dirty="0"/>
              <a:t>공개 행렬과 다항식 벡터의 곱</a:t>
            </a:r>
            <a:r>
              <a:rPr lang="en-US" altLang="ko-KR" dirty="0"/>
              <a:t>(A*v)</a:t>
            </a:r>
            <a:r>
              <a:rPr lang="ko-KR" altLang="en-US" dirty="0"/>
              <a:t> 상에서 발생</a:t>
            </a:r>
          </a:p>
          <a:p>
            <a:pPr lvl="1">
              <a:defRPr/>
            </a:pPr>
            <a:r>
              <a:rPr lang="ko-KR" altLang="en-US" b="1" dirty="0">
                <a:solidFill>
                  <a:schemeClr val="accent1"/>
                </a:solidFill>
              </a:rPr>
              <a:t>공개 행렬인 </a:t>
            </a:r>
            <a:r>
              <a:rPr lang="en-US" altLang="ko-KR" b="1" dirty="0">
                <a:solidFill>
                  <a:schemeClr val="accent1"/>
                </a:solidFill>
              </a:rPr>
              <a:t>A</a:t>
            </a:r>
            <a:r>
              <a:rPr lang="ko-KR" altLang="en-US" b="1" dirty="0" err="1">
                <a:solidFill>
                  <a:schemeClr val="accent1"/>
                </a:solidFill>
              </a:rPr>
              <a:t>를</a:t>
            </a:r>
            <a:r>
              <a:rPr lang="ko-KR" altLang="en-US" b="1" dirty="0">
                <a:solidFill>
                  <a:schemeClr val="accent1"/>
                </a:solidFill>
              </a:rPr>
              <a:t> 메모리에 보관할 때가 </a:t>
            </a:r>
            <a:r>
              <a:rPr lang="en-US" altLang="ko-KR" b="1" dirty="0">
                <a:solidFill>
                  <a:schemeClr val="accent1"/>
                </a:solidFill>
              </a:rPr>
              <a:t>RAM peak</a:t>
            </a:r>
          </a:p>
          <a:p>
            <a:pPr lvl="0">
              <a:defRPr/>
            </a:pPr>
            <a:r>
              <a:rPr lang="ko-KR" altLang="en-US" dirty="0"/>
              <a:t>메모리 최적화가 필요한 이유</a:t>
            </a:r>
            <a:r>
              <a:rPr lang="en-US" altLang="ko-KR" dirty="0"/>
              <a:t>?</a:t>
            </a:r>
          </a:p>
          <a:p>
            <a:pPr lvl="1">
              <a:defRPr/>
            </a:pPr>
            <a:r>
              <a:rPr lang="en-US" altLang="ko-KR" b="1" dirty="0">
                <a:solidFill>
                  <a:schemeClr val="accent1"/>
                </a:solidFill>
              </a:rPr>
              <a:t>IOT/</a:t>
            </a:r>
            <a:r>
              <a:rPr lang="ko-KR" altLang="en-US" b="1" dirty="0">
                <a:solidFill>
                  <a:schemeClr val="accent1"/>
                </a:solidFill>
              </a:rPr>
              <a:t>임베디드 환경에선 </a:t>
            </a:r>
            <a:r>
              <a:rPr lang="en-US" altLang="ko-KR" b="1" dirty="0">
                <a:solidFill>
                  <a:schemeClr val="accent1"/>
                </a:solidFill>
              </a:rPr>
              <a:t>RAM</a:t>
            </a:r>
            <a:r>
              <a:rPr lang="ko-KR" altLang="en-US" b="1" dirty="0">
                <a:solidFill>
                  <a:schemeClr val="accent1"/>
                </a:solidFill>
              </a:rPr>
              <a:t>이 제한됨</a:t>
            </a:r>
          </a:p>
          <a:p>
            <a:pPr lvl="2">
              <a:defRPr/>
            </a:pPr>
            <a:r>
              <a:rPr lang="ko-KR" altLang="en-US" dirty="0"/>
              <a:t>수십</a:t>
            </a:r>
            <a:r>
              <a:rPr lang="en-US" altLang="ko-KR" dirty="0"/>
              <a:t>KB~</a:t>
            </a:r>
            <a:r>
              <a:rPr lang="ko-KR" altLang="en-US" dirty="0"/>
              <a:t>수</a:t>
            </a:r>
            <a:r>
              <a:rPr lang="en-US" altLang="ko-KR" dirty="0"/>
              <a:t>KB</a:t>
            </a:r>
            <a:r>
              <a:rPr lang="ko-KR" altLang="en-US" dirty="0"/>
              <a:t> 정도로 제한</a:t>
            </a:r>
          </a:p>
          <a:p>
            <a:pPr lvl="1">
              <a:defRPr/>
            </a:pPr>
            <a:r>
              <a:rPr lang="en-US" altLang="ko-KR" dirty="0"/>
              <a:t>ML-DSA </a:t>
            </a:r>
            <a:r>
              <a:rPr lang="ko-KR" altLang="en-US" dirty="0"/>
              <a:t>레퍼런스 구현의 경우 </a:t>
            </a:r>
            <a:r>
              <a:rPr lang="en-US" altLang="ko-KR" dirty="0"/>
              <a:t>Sign</a:t>
            </a:r>
            <a:r>
              <a:rPr lang="ko-KR" altLang="en-US" dirty="0"/>
              <a:t> 시 </a:t>
            </a:r>
            <a:r>
              <a:rPr lang="en-US" altLang="ko-KR" dirty="0"/>
              <a:t>87KB</a:t>
            </a:r>
            <a:r>
              <a:rPr lang="ko-KR" altLang="en-US" dirty="0"/>
              <a:t> 이상 사용</a:t>
            </a:r>
          </a:p>
          <a:p>
            <a:pPr lvl="2">
              <a:defRPr/>
            </a:pPr>
            <a:r>
              <a:rPr lang="ko-KR" altLang="en-US" dirty="0"/>
              <a:t>이 중 행렬 </a:t>
            </a:r>
            <a:r>
              <a:rPr lang="en-US" altLang="ko-KR" dirty="0"/>
              <a:t>A</a:t>
            </a:r>
            <a:r>
              <a:rPr lang="ko-KR" altLang="en-US" dirty="0"/>
              <a:t>만해도 약 </a:t>
            </a:r>
            <a:r>
              <a:rPr lang="en-US" altLang="ko-KR" dirty="0"/>
              <a:t>30KB </a:t>
            </a:r>
            <a:r>
              <a:rPr lang="ko-KR" altLang="en-US" dirty="0"/>
              <a:t>차지</a:t>
            </a:r>
            <a:r>
              <a:rPr lang="en-US" altLang="ko-KR" dirty="0"/>
              <a:t>(Dilithium3 </a:t>
            </a:r>
            <a:r>
              <a:rPr lang="ko-KR" altLang="en-US" dirty="0"/>
              <a:t>기준</a:t>
            </a:r>
            <a:r>
              <a:rPr lang="en-US" altLang="ko-KR" dirty="0"/>
              <a:t>)</a:t>
            </a:r>
          </a:p>
          <a:p>
            <a:pPr lvl="0">
              <a:defRPr/>
            </a:pPr>
            <a:r>
              <a:rPr lang="ko-KR" altLang="en-US" b="1" dirty="0">
                <a:solidFill>
                  <a:srgbClr val="FF0000"/>
                </a:solidFill>
              </a:rPr>
              <a:t>즉</a:t>
            </a:r>
            <a:r>
              <a:rPr lang="en-US" altLang="ko-KR" b="1" dirty="0">
                <a:solidFill>
                  <a:srgbClr val="FF0000"/>
                </a:solidFill>
              </a:rPr>
              <a:t>,</a:t>
            </a:r>
            <a:r>
              <a:rPr lang="ko-KR" altLang="en-US" b="1" dirty="0">
                <a:solidFill>
                  <a:srgbClr val="FF0000"/>
                </a:solidFill>
              </a:rPr>
              <a:t> 타겟 연구는 행렬 </a:t>
            </a:r>
            <a:r>
              <a:rPr lang="en-US" altLang="ko-KR" b="1" dirty="0">
                <a:solidFill>
                  <a:srgbClr val="FF0000"/>
                </a:solidFill>
              </a:rPr>
              <a:t>A</a:t>
            </a:r>
            <a:r>
              <a:rPr lang="ko-KR" altLang="en-US" b="1" dirty="0" err="1">
                <a:solidFill>
                  <a:srgbClr val="FF0000"/>
                </a:solidFill>
              </a:rPr>
              <a:t>를</a:t>
            </a:r>
            <a:r>
              <a:rPr lang="ko-KR" altLang="en-US" b="1" dirty="0">
                <a:solidFill>
                  <a:srgbClr val="FF0000"/>
                </a:solidFill>
              </a:rPr>
              <a:t> </a:t>
            </a:r>
            <a:r>
              <a:rPr lang="ko-KR" altLang="en-US" b="1" dirty="0" err="1">
                <a:solidFill>
                  <a:srgbClr val="FF0000"/>
                </a:solidFill>
              </a:rPr>
              <a:t>줄이는데만</a:t>
            </a:r>
            <a:r>
              <a:rPr lang="ko-KR" altLang="en-US" b="1" dirty="0">
                <a:solidFill>
                  <a:srgbClr val="FF0000"/>
                </a:solidFill>
              </a:rPr>
              <a:t> 초점을 맞춤 </a:t>
            </a:r>
          </a:p>
          <a:p>
            <a:pPr lvl="1">
              <a:defRPr/>
            </a:pPr>
            <a:r>
              <a:rPr lang="en-US" altLang="ko-KR" dirty="0"/>
              <a:t>NTT</a:t>
            </a:r>
            <a:r>
              <a:rPr lang="ko-KR" altLang="en-US" dirty="0"/>
              <a:t>의 최적화는 향후 연구로만 언급</a:t>
            </a:r>
          </a:p>
          <a:p>
            <a:pPr lvl="1">
              <a:defRPr/>
            </a:pPr>
            <a:r>
              <a:rPr lang="en-US" altLang="ko-KR" dirty="0"/>
              <a:t>ROM </a:t>
            </a:r>
            <a:r>
              <a:rPr lang="ko-KR" altLang="en-US" dirty="0"/>
              <a:t>최적화도 수행하지 않음</a:t>
            </a:r>
            <a:r>
              <a:rPr lang="en-US" altLang="ko-KR" dirty="0"/>
              <a:t>,</a:t>
            </a:r>
            <a:r>
              <a:rPr lang="ko-KR" altLang="en-US" dirty="0"/>
              <a:t> 오직 </a:t>
            </a:r>
            <a:r>
              <a:rPr lang="en-US" altLang="ko-KR" dirty="0"/>
              <a:t>RAM Peak</a:t>
            </a:r>
            <a:r>
              <a:rPr lang="ko-KR" altLang="en-US" dirty="0"/>
              <a:t> 절감이 목표</a:t>
            </a:r>
          </a:p>
          <a:p>
            <a:pPr lvl="0">
              <a:defRPr/>
            </a:pPr>
            <a:r>
              <a:rPr lang="en-US" altLang="ko-KR" dirty="0"/>
              <a:t>Pure C</a:t>
            </a:r>
            <a:r>
              <a:rPr lang="ko-KR" altLang="en-US" dirty="0"/>
              <a:t>로만 최적 구현을 수행하였기에</a:t>
            </a:r>
            <a:r>
              <a:rPr lang="en-US" altLang="ko-KR" dirty="0"/>
              <a:t>,</a:t>
            </a:r>
            <a:r>
              <a:rPr lang="ko-KR" altLang="en-US" dirty="0"/>
              <a:t> 타겟 연구로 적합했음</a:t>
            </a: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8678812" y="19050"/>
            <a:ext cx="3484612" cy="5216887"/>
          </a:xfrm>
          <a:prstGeom prst="rect">
            <a:avLst/>
          </a:prstGeom>
          <a:ln w="25400">
            <a:solidFill>
              <a:schemeClr val="dk1"/>
            </a:solidFill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적용된 메모리 최적화 기법</a:t>
            </a:r>
          </a:p>
        </p:txBody>
      </p:sp>
      <p:sp>
        <p:nvSpPr>
          <p:cNvPr id="3" name="텍스트 개체 틀 8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b="1">
                <a:solidFill>
                  <a:srgbClr val="FF0000"/>
                </a:solidFill>
              </a:rPr>
              <a:t>메모리 최적 구현</a:t>
            </a:r>
            <a:r>
              <a:rPr lang="en-US" altLang="ko-KR" b="1">
                <a:solidFill>
                  <a:srgbClr val="FF0000"/>
                </a:solidFill>
              </a:rPr>
              <a:t> </a:t>
            </a:r>
            <a:r>
              <a:rPr lang="ko-KR" altLang="en-US" b="1">
                <a:solidFill>
                  <a:srgbClr val="FF0000"/>
                </a:solidFill>
              </a:rPr>
              <a:t>핵심 전략</a:t>
            </a:r>
            <a:r>
              <a:rPr lang="en-US" altLang="ko-KR" b="1">
                <a:solidFill>
                  <a:srgbClr val="FF0000"/>
                </a:solidFill>
              </a:rPr>
              <a:t>:</a:t>
            </a:r>
            <a:r>
              <a:rPr lang="ko-KR" altLang="en-US" b="1">
                <a:solidFill>
                  <a:srgbClr val="FF0000"/>
                </a:solidFill>
              </a:rPr>
              <a:t> </a:t>
            </a:r>
            <a:r>
              <a:rPr lang="en-US" altLang="ko-KR" b="1">
                <a:solidFill>
                  <a:srgbClr val="FF0000"/>
                </a:solidFill>
              </a:rPr>
              <a:t>on-the-fly(</a:t>
            </a:r>
            <a:r>
              <a:rPr lang="en-US" altLang="en-US" b="1">
                <a:solidFill>
                  <a:srgbClr val="FF0000"/>
                </a:solidFill>
              </a:rPr>
              <a:t>행렬 A 비물질화</a:t>
            </a:r>
            <a:r>
              <a:rPr lang="en-US" altLang="ko-KR" b="1">
                <a:solidFill>
                  <a:srgbClr val="FF0000"/>
                </a:solidFill>
              </a:rPr>
              <a:t>)</a:t>
            </a:r>
            <a:endParaRPr lang="en-US" altLang="ko-KR"/>
          </a:p>
          <a:p>
            <a:pPr lvl="1">
              <a:defRPr/>
            </a:pPr>
            <a:r>
              <a:rPr lang="ko-KR" altLang="en-US"/>
              <a:t>행렬</a:t>
            </a:r>
            <a:r>
              <a:rPr lang="en-US" altLang="ko-KR"/>
              <a:t> A</a:t>
            </a:r>
            <a:r>
              <a:rPr lang="ko-KR" altLang="en-US"/>
              <a:t>는 </a:t>
            </a:r>
            <a:r>
              <a:rPr lang="en-US" altLang="ko-KR"/>
              <a:t>seed(ρ)</a:t>
            </a:r>
            <a:r>
              <a:rPr lang="ko-KR" altLang="en-US"/>
              <a:t>로부터 생성 가능 </a:t>
            </a:r>
            <a:r>
              <a:rPr lang="en-US" altLang="ko-KR"/>
              <a:t>-</a:t>
            </a:r>
            <a:r>
              <a:rPr lang="ko-KR" altLang="en-US"/>
              <a:t> </a:t>
            </a:r>
            <a:r>
              <a:rPr lang="en-US" altLang="ko-KR"/>
              <a:t>SHAKE128</a:t>
            </a:r>
            <a:r>
              <a:rPr lang="ko-KR" altLang="en-US"/>
              <a:t>을 통해 생성됨</a:t>
            </a:r>
          </a:p>
          <a:p>
            <a:pPr lvl="2">
              <a:defRPr/>
            </a:pPr>
            <a:r>
              <a:rPr lang="ko-KR" altLang="en-US"/>
              <a:t>시드만 있으면 같은 행렬을 언제든 다시 만들 수 있음 </a:t>
            </a:r>
            <a:r>
              <a:rPr lang="en-US" altLang="ko-KR"/>
              <a:t>-&gt;</a:t>
            </a:r>
            <a:r>
              <a:rPr lang="ko-KR" altLang="en-US"/>
              <a:t> </a:t>
            </a:r>
            <a:r>
              <a:rPr lang="en-US" altLang="ko-KR"/>
              <a:t>RAM</a:t>
            </a:r>
            <a:r>
              <a:rPr lang="ko-KR" altLang="en-US"/>
              <a:t>에 전체를 저장할 필요 </a:t>
            </a:r>
            <a:r>
              <a:rPr lang="en-US" altLang="ko-KR"/>
              <a:t>X</a:t>
            </a:r>
          </a:p>
          <a:p>
            <a:pPr lvl="1">
              <a:defRPr/>
            </a:pPr>
            <a:r>
              <a:rPr lang="ko-KR" altLang="en-US" b="1">
                <a:solidFill>
                  <a:schemeClr val="accent1"/>
                </a:solidFill>
              </a:rPr>
              <a:t>행렬 </a:t>
            </a:r>
            <a:r>
              <a:rPr lang="en-US" altLang="ko-KR" b="1">
                <a:solidFill>
                  <a:schemeClr val="accent1"/>
                </a:solidFill>
              </a:rPr>
              <a:t>A</a:t>
            </a:r>
            <a:r>
              <a:rPr lang="ko-KR" altLang="en-US" b="1">
                <a:solidFill>
                  <a:schemeClr val="accent1"/>
                </a:solidFill>
              </a:rPr>
              <a:t> 전체를 </a:t>
            </a:r>
            <a:r>
              <a:rPr lang="en-US" altLang="ko-KR" b="1">
                <a:solidFill>
                  <a:schemeClr val="accent1"/>
                </a:solidFill>
              </a:rPr>
              <a:t>RAM</a:t>
            </a:r>
            <a:r>
              <a:rPr lang="ko-KR" altLang="en-US" b="1">
                <a:solidFill>
                  <a:schemeClr val="accent1"/>
                </a:solidFill>
              </a:rPr>
              <a:t>에 저장하지 않고</a:t>
            </a:r>
            <a:r>
              <a:rPr lang="en-US" altLang="ko-KR" b="1">
                <a:solidFill>
                  <a:schemeClr val="accent1"/>
                </a:solidFill>
              </a:rPr>
              <a:t>,</a:t>
            </a:r>
            <a:r>
              <a:rPr lang="ko-KR" altLang="en-US" b="1">
                <a:solidFill>
                  <a:schemeClr val="accent1"/>
                </a:solidFill>
              </a:rPr>
              <a:t> 필요할 때마다 생성하여 사용 후 버림</a:t>
            </a:r>
          </a:p>
          <a:p>
            <a:pPr lvl="0">
              <a:defRPr/>
            </a:pPr>
            <a:r>
              <a:rPr lang="ko-KR" altLang="en-US" b="1">
                <a:solidFill>
                  <a:srgbClr val="FF0000"/>
                </a:solidFill>
              </a:rPr>
              <a:t>위 전략을 구현하기 위해 </a:t>
            </a:r>
            <a:r>
              <a:rPr lang="en-US" altLang="ko-KR" b="1">
                <a:solidFill>
                  <a:srgbClr val="FF0000"/>
                </a:solidFill>
              </a:rPr>
              <a:t>3</a:t>
            </a:r>
            <a:r>
              <a:rPr lang="ko-KR" altLang="en-US" b="1">
                <a:solidFill>
                  <a:srgbClr val="FF0000"/>
                </a:solidFill>
              </a:rPr>
              <a:t>가지 기법이 사용됨</a:t>
            </a:r>
          </a:p>
          <a:p>
            <a:pPr lvl="1">
              <a:defRPr/>
            </a:pPr>
            <a:r>
              <a:rPr lang="ko-KR" altLang="en-US" b="1">
                <a:solidFill>
                  <a:schemeClr val="accent1"/>
                </a:solidFill>
              </a:rPr>
              <a:t>기법</a:t>
            </a:r>
            <a:r>
              <a:rPr lang="en-US" altLang="ko-KR" b="1">
                <a:solidFill>
                  <a:schemeClr val="accent1"/>
                </a:solidFill>
              </a:rPr>
              <a:t>1:</a:t>
            </a:r>
            <a:r>
              <a:rPr lang="ko-KR" altLang="en-US" b="1">
                <a:solidFill>
                  <a:schemeClr val="accent1"/>
                </a:solidFill>
              </a:rPr>
              <a:t> 커널 융합</a:t>
            </a:r>
          </a:p>
          <a:p>
            <a:pPr lvl="2">
              <a:defRPr/>
            </a:pPr>
            <a:r>
              <a:rPr lang="ko-KR" altLang="en-US">
                <a:solidFill>
                  <a:schemeClr val="dk1"/>
                </a:solidFill>
              </a:rPr>
              <a:t>행렬을 먼저 생성하고 곱셈을 수행하는게 아닌</a:t>
            </a:r>
            <a:r>
              <a:rPr lang="en-US" altLang="ko-KR">
                <a:solidFill>
                  <a:schemeClr val="dk1"/>
                </a:solidFill>
              </a:rPr>
              <a:t>,</a:t>
            </a:r>
            <a:r>
              <a:rPr lang="ko-KR" altLang="en-US">
                <a:solidFill>
                  <a:schemeClr val="dk1"/>
                </a:solidFill>
              </a:rPr>
              <a:t> 생성과 동시에 곱셈 수행</a:t>
            </a:r>
          </a:p>
          <a:p>
            <a:pPr lvl="1">
              <a:defRPr/>
            </a:pPr>
            <a:r>
              <a:rPr lang="ko-KR" altLang="en-US" b="1">
                <a:solidFill>
                  <a:schemeClr val="accent1"/>
                </a:solidFill>
              </a:rPr>
              <a:t>기법</a:t>
            </a:r>
            <a:r>
              <a:rPr lang="en-US" altLang="ko-KR" b="1">
                <a:solidFill>
                  <a:schemeClr val="accent1"/>
                </a:solidFill>
              </a:rPr>
              <a:t>2:</a:t>
            </a:r>
            <a:r>
              <a:rPr lang="ko-KR" altLang="en-US" b="1">
                <a:solidFill>
                  <a:schemeClr val="accent1"/>
                </a:solidFill>
              </a:rPr>
              <a:t> 스트리밍 단위 축소</a:t>
            </a:r>
          </a:p>
          <a:p>
            <a:pPr lvl="2">
              <a:defRPr/>
            </a:pPr>
            <a:r>
              <a:rPr lang="ko-KR" altLang="en-US">
                <a:solidFill>
                  <a:schemeClr val="dk1"/>
                </a:solidFill>
              </a:rPr>
              <a:t>여러 다항식을 한 번에 생성하는게 아닌</a:t>
            </a:r>
            <a:r>
              <a:rPr lang="en-US" altLang="ko-KR">
                <a:solidFill>
                  <a:schemeClr val="dk1"/>
                </a:solidFill>
              </a:rPr>
              <a:t>,</a:t>
            </a:r>
            <a:r>
              <a:rPr lang="ko-KR" altLang="en-US">
                <a:solidFill>
                  <a:schemeClr val="dk1"/>
                </a:solidFill>
              </a:rPr>
              <a:t> 다항식 </a:t>
            </a:r>
            <a:r>
              <a:rPr lang="en-US" altLang="ko-KR">
                <a:solidFill>
                  <a:schemeClr val="dk1"/>
                </a:solidFill>
              </a:rPr>
              <a:t>1</a:t>
            </a:r>
            <a:r>
              <a:rPr lang="ko-KR" altLang="en-US">
                <a:solidFill>
                  <a:schemeClr val="dk1"/>
                </a:solidFill>
              </a:rPr>
              <a:t>개 단위로 생성 </a:t>
            </a:r>
            <a:r>
              <a:rPr lang="en-US" altLang="ko-KR">
                <a:solidFill>
                  <a:schemeClr val="dk1"/>
                </a:solidFill>
              </a:rPr>
              <a:t>-&gt;</a:t>
            </a:r>
            <a:r>
              <a:rPr lang="ko-KR" altLang="en-US">
                <a:solidFill>
                  <a:schemeClr val="dk1"/>
                </a:solidFill>
              </a:rPr>
              <a:t> 임시 버퍼 크기 감소</a:t>
            </a:r>
          </a:p>
          <a:p>
            <a:pPr lvl="2">
              <a:defRPr/>
            </a:pPr>
            <a:r>
              <a:rPr lang="ko-KR" altLang="en-US">
                <a:solidFill>
                  <a:schemeClr val="dk1"/>
                </a:solidFill>
              </a:rPr>
              <a:t>블록 크기가 줄어 </a:t>
            </a:r>
            <a:r>
              <a:rPr lang="en-US" altLang="ko-KR">
                <a:solidFill>
                  <a:schemeClr val="dk1"/>
                </a:solidFill>
              </a:rPr>
              <a:t>RAM peak</a:t>
            </a:r>
            <a:r>
              <a:rPr lang="ko-KR" altLang="en-US">
                <a:solidFill>
                  <a:schemeClr val="dk1"/>
                </a:solidFill>
              </a:rPr>
              <a:t>는 줄어드나</a:t>
            </a:r>
            <a:r>
              <a:rPr lang="en-US" altLang="ko-KR">
                <a:solidFill>
                  <a:schemeClr val="dk1"/>
                </a:solidFill>
              </a:rPr>
              <a:t>,</a:t>
            </a:r>
            <a:r>
              <a:rPr lang="ko-KR" altLang="en-US">
                <a:solidFill>
                  <a:schemeClr val="dk1"/>
                </a:solidFill>
              </a:rPr>
              <a:t> 성능은 느려짐</a:t>
            </a:r>
          </a:p>
          <a:p>
            <a:pPr lvl="1">
              <a:defRPr/>
            </a:pPr>
            <a:r>
              <a:rPr lang="ko-KR" altLang="en-US" b="1">
                <a:solidFill>
                  <a:schemeClr val="accent1"/>
                </a:solidFill>
              </a:rPr>
              <a:t>기법</a:t>
            </a:r>
            <a:r>
              <a:rPr lang="en-US" altLang="ko-KR" b="1">
                <a:solidFill>
                  <a:schemeClr val="accent1"/>
                </a:solidFill>
              </a:rPr>
              <a:t>3:</a:t>
            </a:r>
            <a:r>
              <a:rPr lang="ko-KR" altLang="en-US" b="1">
                <a:solidFill>
                  <a:schemeClr val="accent1"/>
                </a:solidFill>
              </a:rPr>
              <a:t> 버퍼 재사용</a:t>
            </a:r>
          </a:p>
          <a:p>
            <a:pPr lvl="2">
              <a:defRPr/>
            </a:pPr>
            <a:r>
              <a:rPr lang="ko-KR" altLang="en-US">
                <a:solidFill>
                  <a:schemeClr val="dk1"/>
                </a:solidFill>
              </a:rPr>
              <a:t>지역 변수</a:t>
            </a:r>
            <a:r>
              <a:rPr lang="en-US" altLang="ko-KR">
                <a:solidFill>
                  <a:schemeClr val="dk1"/>
                </a:solidFill>
              </a:rPr>
              <a:t>(mat[K])</a:t>
            </a:r>
            <a:r>
              <a:rPr lang="ko-KR" altLang="en-US">
                <a:solidFill>
                  <a:schemeClr val="dk1"/>
                </a:solidFill>
              </a:rPr>
              <a:t> 대신 작은 버퍼</a:t>
            </a:r>
            <a:r>
              <a:rPr lang="en-US" altLang="ko-KR">
                <a:solidFill>
                  <a:schemeClr val="dk1"/>
                </a:solidFill>
              </a:rPr>
              <a:t>(scratch </a:t>
            </a:r>
            <a:r>
              <a:rPr lang="ko-KR" altLang="en-US">
                <a:solidFill>
                  <a:schemeClr val="dk1"/>
                </a:solidFill>
              </a:rPr>
              <a:t>버퍼</a:t>
            </a:r>
            <a:r>
              <a:rPr lang="en-US" altLang="ko-KR">
                <a:solidFill>
                  <a:schemeClr val="dk1"/>
                </a:solidFill>
              </a:rPr>
              <a:t> - poly p)</a:t>
            </a:r>
            <a:r>
              <a:rPr lang="ko-KR" altLang="en-US">
                <a:solidFill>
                  <a:schemeClr val="dk1"/>
                </a:solidFill>
              </a:rPr>
              <a:t>를 선언</a:t>
            </a:r>
            <a:r>
              <a:rPr lang="en-US" altLang="ko-KR">
                <a:solidFill>
                  <a:schemeClr val="dk1"/>
                </a:solidFill>
              </a:rPr>
              <a:t> </a:t>
            </a:r>
            <a:r>
              <a:rPr lang="ko-KR" altLang="en-US">
                <a:solidFill>
                  <a:schemeClr val="dk1"/>
                </a:solidFill>
              </a:rPr>
              <a:t>후 반복하여 재사용</a:t>
            </a:r>
          </a:p>
          <a:p>
            <a:pPr lvl="0">
              <a:defRPr/>
            </a:pPr>
            <a:r>
              <a:rPr lang="ko-KR" altLang="en-US">
                <a:solidFill>
                  <a:schemeClr val="dk1"/>
                </a:solidFill>
              </a:rPr>
              <a:t>메모리 </a:t>
            </a:r>
            <a:r>
              <a:rPr lang="en-US" altLang="ko-KR">
                <a:solidFill>
                  <a:schemeClr val="dk1"/>
                </a:solidFill>
              </a:rPr>
              <a:t>-</a:t>
            </a:r>
            <a:r>
              <a:rPr lang="ko-KR" altLang="en-US">
                <a:solidFill>
                  <a:schemeClr val="dk1"/>
                </a:solidFill>
              </a:rPr>
              <a:t> 성능 간 </a:t>
            </a:r>
            <a:r>
              <a:rPr lang="en-US" altLang="ko-KR">
                <a:solidFill>
                  <a:schemeClr val="dk1"/>
                </a:solidFill>
              </a:rPr>
              <a:t>trade-off </a:t>
            </a:r>
            <a:r>
              <a:rPr lang="ko-KR" altLang="en-US">
                <a:solidFill>
                  <a:schemeClr val="dk1"/>
                </a:solidFill>
              </a:rPr>
              <a:t>존재</a:t>
            </a:r>
            <a:r>
              <a:rPr lang="en-US" altLang="ko-KR">
                <a:solidFill>
                  <a:schemeClr val="dk1"/>
                </a:solidFill>
              </a:rPr>
              <a:t>(Sign</a:t>
            </a:r>
            <a:r>
              <a:rPr lang="ko-KR" altLang="en-US">
                <a:solidFill>
                  <a:schemeClr val="dk1"/>
                </a:solidFill>
              </a:rPr>
              <a:t> 사이클 약 </a:t>
            </a:r>
            <a:r>
              <a:rPr lang="en-US" altLang="ko-KR">
                <a:solidFill>
                  <a:schemeClr val="dk1"/>
                </a:solidFill>
              </a:rPr>
              <a:t>47%</a:t>
            </a:r>
            <a:r>
              <a:rPr lang="ko-KR" altLang="en-US">
                <a:solidFill>
                  <a:schemeClr val="dk1"/>
                </a:solidFill>
              </a:rPr>
              <a:t> 증가</a:t>
            </a:r>
            <a:r>
              <a:rPr lang="en-US" altLang="ko-KR">
                <a:solidFill>
                  <a:schemeClr val="dk1"/>
                </a:solidFill>
              </a:rPr>
              <a:t>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기법1: 커널 융합</a:t>
            </a:r>
          </a:p>
        </p:txBody>
      </p:sp>
      <p:sp>
        <p:nvSpPr>
          <p:cNvPr id="3" name="텍스트 개체 틀 8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b="1">
                <a:solidFill>
                  <a:srgbClr val="FF0000"/>
                </a:solidFill>
              </a:rPr>
              <a:t>생성</a:t>
            </a:r>
            <a:r>
              <a:rPr lang="en-US" altLang="ko-KR" b="1">
                <a:solidFill>
                  <a:srgbClr val="FF0000"/>
                </a:solidFill>
              </a:rPr>
              <a:t>(expand)</a:t>
            </a:r>
            <a:r>
              <a:rPr lang="ko-KR" altLang="en-US" b="1">
                <a:solidFill>
                  <a:srgbClr val="FF0000"/>
                </a:solidFill>
              </a:rPr>
              <a:t>과 곱셈</a:t>
            </a:r>
            <a:r>
              <a:rPr lang="en-US" altLang="ko-KR" b="1">
                <a:solidFill>
                  <a:srgbClr val="FF0000"/>
                </a:solidFill>
              </a:rPr>
              <a:t>(pointwise)</a:t>
            </a:r>
            <a:r>
              <a:rPr lang="ko-KR" altLang="en-US" b="1">
                <a:solidFill>
                  <a:srgbClr val="FF0000"/>
                </a:solidFill>
              </a:rPr>
              <a:t>를 분리하던 구조 </a:t>
            </a:r>
            <a:r>
              <a:rPr lang="en-US" altLang="ko-KR" b="1">
                <a:solidFill>
                  <a:srgbClr val="FF0000"/>
                </a:solidFill>
              </a:rPr>
              <a:t>-&gt;</a:t>
            </a:r>
            <a:r>
              <a:rPr lang="ko-KR" altLang="en-US" b="1">
                <a:solidFill>
                  <a:srgbClr val="FF0000"/>
                </a:solidFill>
              </a:rPr>
              <a:t> 한 함수로 합침</a:t>
            </a:r>
            <a:endParaRPr lang="ko-KR" altLang="en-US"/>
          </a:p>
          <a:p>
            <a:pPr lvl="1">
              <a:defRPr/>
            </a:pPr>
            <a:r>
              <a:rPr lang="en-US" altLang="ko-KR"/>
              <a:t>expand </a:t>
            </a:r>
            <a:r>
              <a:rPr lang="ko-KR" altLang="en-US"/>
              <a:t>직후 </a:t>
            </a:r>
            <a:r>
              <a:rPr lang="en-US" altLang="ko-KR"/>
              <a:t>pointwise</a:t>
            </a:r>
            <a:r>
              <a:rPr lang="ko-KR" altLang="en-US"/>
              <a:t> 곱셈 및 누적까지 한 루프에서 처리</a:t>
            </a:r>
            <a:endParaRPr lang="en-US" altLang="ko-KR"/>
          </a:p>
          <a:p>
            <a:pPr marL="457200" lvl="1" indent="0">
              <a:buNone/>
              <a:defRPr/>
            </a:pPr>
            <a:r>
              <a:rPr lang="en-US" altLang="ko-KR"/>
              <a:t>-&gt;</a:t>
            </a:r>
            <a:r>
              <a:rPr lang="ko-KR" altLang="en-US"/>
              <a:t> 중간 저장</a:t>
            </a:r>
            <a:r>
              <a:rPr lang="en-US" altLang="ko-KR"/>
              <a:t>(K*L</a:t>
            </a:r>
            <a:r>
              <a:rPr lang="ko-KR" altLang="en-US"/>
              <a:t> 다항식</a:t>
            </a:r>
            <a:r>
              <a:rPr lang="en-US" altLang="ko-KR"/>
              <a:t>-mat) </a:t>
            </a:r>
            <a:r>
              <a:rPr lang="ko-KR" altLang="en-US"/>
              <a:t>제거</a:t>
            </a:r>
          </a:p>
          <a:p>
            <a:pPr>
              <a:defRPr/>
            </a:pPr>
            <a:r>
              <a:rPr lang="ko-KR" altLang="en-US"/>
              <a:t>기존 구현</a:t>
            </a:r>
            <a:r>
              <a:rPr lang="en-US" altLang="ko-KR"/>
              <a:t>:</a:t>
            </a:r>
            <a:r>
              <a:rPr lang="ko-KR" altLang="en-US"/>
              <a:t> </a:t>
            </a:r>
            <a:r>
              <a:rPr lang="en-US" altLang="ko-KR"/>
              <a:t>2</a:t>
            </a:r>
            <a:r>
              <a:rPr lang="ko-KR" altLang="en-US"/>
              <a:t>개 함수</a:t>
            </a:r>
          </a:p>
          <a:p>
            <a:pPr lvl="1">
              <a:defRPr/>
            </a:pPr>
            <a:r>
              <a:rPr lang="en-US" altLang="ko-KR"/>
              <a:t>polyvec_matrix_expand</a:t>
            </a:r>
          </a:p>
          <a:p>
            <a:pPr lvl="1">
              <a:defRPr/>
            </a:pPr>
            <a:r>
              <a:rPr lang="en-US" altLang="ko-KR"/>
              <a:t>...pointwise_montgomery</a:t>
            </a:r>
          </a:p>
          <a:p>
            <a:pPr lvl="1">
              <a:defRPr/>
            </a:pPr>
            <a:r>
              <a:rPr lang="en-US" altLang="ko-KR" b="1">
                <a:solidFill>
                  <a:schemeClr val="accent1"/>
                </a:solidFill>
              </a:rPr>
              <a:t>mat[K] </a:t>
            </a:r>
            <a:r>
              <a:rPr lang="ko-KR" altLang="en-US" b="1">
                <a:solidFill>
                  <a:schemeClr val="accent1"/>
                </a:solidFill>
              </a:rPr>
              <a:t>필요</a:t>
            </a:r>
          </a:p>
          <a:p>
            <a:pPr>
              <a:defRPr/>
            </a:pPr>
            <a:r>
              <a:rPr lang="ko-KR" altLang="en-US"/>
              <a:t>최적 구현</a:t>
            </a:r>
            <a:r>
              <a:rPr lang="en-US" altLang="ko-KR"/>
              <a:t>:</a:t>
            </a:r>
            <a:r>
              <a:rPr lang="ko-KR" altLang="en-US"/>
              <a:t> </a:t>
            </a:r>
            <a:r>
              <a:rPr lang="en-US" altLang="ko-KR"/>
              <a:t>1</a:t>
            </a:r>
            <a:r>
              <a:rPr lang="ko-KR" altLang="en-US"/>
              <a:t>개 함수</a:t>
            </a:r>
          </a:p>
          <a:p>
            <a:pPr lvl="1">
              <a:defRPr/>
            </a:pPr>
            <a:r>
              <a:rPr lang="en-US" altLang="ko-KR"/>
              <a:t>...expand_and_multiply</a:t>
            </a:r>
          </a:p>
          <a:p>
            <a:pPr lvl="1">
              <a:defRPr/>
            </a:pPr>
            <a:r>
              <a:rPr lang="en-US" altLang="ko-KR" b="1">
                <a:solidFill>
                  <a:schemeClr val="accent1"/>
                </a:solidFill>
              </a:rPr>
              <a:t>mat[K] </a:t>
            </a:r>
            <a:r>
              <a:rPr lang="ko-KR" altLang="en-US" b="1">
                <a:solidFill>
                  <a:schemeClr val="accent1"/>
                </a:solidFill>
              </a:rPr>
              <a:t>제거</a:t>
            </a:r>
          </a:p>
          <a:p>
            <a:pPr lvl="1">
              <a:defRPr/>
            </a:pPr>
            <a:r>
              <a:rPr lang="ko-KR" altLang="en-US" b="1">
                <a:solidFill>
                  <a:schemeClr val="accent1"/>
                </a:solidFill>
              </a:rPr>
              <a:t>최적구현은 모두 오른쪽 모듈</a:t>
            </a:r>
          </a:p>
          <a:p>
            <a:pPr lvl="1">
              <a:defRPr/>
            </a:pPr>
            <a:r>
              <a:rPr lang="ko-KR" altLang="en-US" b="1">
                <a:solidFill>
                  <a:schemeClr val="accent1"/>
                </a:solidFill>
              </a:rPr>
              <a:t>내에서 </a:t>
            </a:r>
            <a:r>
              <a:rPr lang="en-US" altLang="ko-KR" b="1">
                <a:solidFill>
                  <a:schemeClr val="accent1"/>
                </a:solidFill>
              </a:rPr>
              <a:t>3</a:t>
            </a:r>
            <a:r>
              <a:rPr lang="ko-KR" altLang="en-US" b="1">
                <a:solidFill>
                  <a:schemeClr val="accent1"/>
                </a:solidFill>
              </a:rPr>
              <a:t>가지 기법 모두 사용된다</a:t>
            </a:r>
          </a:p>
          <a:p>
            <a:pPr lvl="1">
              <a:defRPr/>
            </a:pPr>
            <a:r>
              <a:rPr lang="ko-KR" altLang="en-US" b="1">
                <a:solidFill>
                  <a:schemeClr val="accent1"/>
                </a:solidFill>
              </a:rPr>
              <a:t>고 말할것</a:t>
            </a:r>
          </a:p>
          <a:p>
            <a:pPr lvl="0">
              <a:defRPr/>
            </a:pPr>
            <a:endParaRPr lang="en-US" altLang="ko-KR"/>
          </a:p>
          <a:p>
            <a:pPr lvl="1">
              <a:defRPr/>
            </a:pPr>
            <a:endParaRPr lang="en-US" altLang="ko-KR"/>
          </a:p>
          <a:p>
            <a:pPr marL="457200" lvl="1" indent="0">
              <a:buNone/>
              <a:defRPr/>
            </a:pPr>
            <a:endParaRPr lang="en-US" altLang="ko-KR"/>
          </a:p>
        </p:txBody>
      </p:sp>
      <p:grpSp>
        <p:nvGrpSpPr>
          <p:cNvPr id="14" name="그룹 13"/>
          <p:cNvGrpSpPr/>
          <p:nvPr/>
        </p:nvGrpSpPr>
        <p:grpSpPr>
          <a:xfrm>
            <a:off x="5789180" y="2326128"/>
            <a:ext cx="6402819" cy="4531872"/>
            <a:chOff x="5856231" y="1743708"/>
            <a:chExt cx="7058041" cy="5114292"/>
          </a:xfrm>
        </p:grpSpPr>
        <p:pic>
          <p:nvPicPr>
            <p:cNvPr id="5" name="그림 4"/>
            <p:cNvPicPr>
              <a:picLocks noChangeAspect="1"/>
            </p:cNvPicPr>
            <p:nvPr/>
          </p:nvPicPr>
          <p:blipFill rotWithShape="1">
            <a:blip r:embed="rId2"/>
            <a:stretch>
              <a:fillRect/>
            </a:stretch>
          </p:blipFill>
          <p:spPr>
            <a:xfrm>
              <a:off x="5856231" y="1743708"/>
              <a:ext cx="7058041" cy="5114292"/>
            </a:xfrm>
            <a:prstGeom prst="rect">
              <a:avLst/>
            </a:prstGeom>
          </p:spPr>
        </p:pic>
        <p:sp>
          <p:nvSpPr>
            <p:cNvPr id="6" name="왼쪽 중괄호[L] 5"/>
            <p:cNvSpPr/>
            <p:nvPr/>
          </p:nvSpPr>
          <p:spPr>
            <a:xfrm rot="10800000">
              <a:off x="9460357" y="2348079"/>
              <a:ext cx="569176" cy="2044611"/>
            </a:xfrm>
            <a:prstGeom prst="leftBrace">
              <a:avLst>
                <a:gd name="adj1" fmla="val 8333"/>
                <a:gd name="adj2" fmla="val 50390"/>
              </a:avLst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 altLang="ko-KR">
                <a:solidFill>
                  <a:schemeClr val="tx1"/>
                </a:solidFill>
              </a:endParaRPr>
            </a:p>
          </p:txBody>
        </p:sp>
        <p:sp>
          <p:nvSpPr>
            <p:cNvPr id="7" name="왼쪽 중괄호[L] 6"/>
            <p:cNvSpPr/>
            <p:nvPr/>
          </p:nvSpPr>
          <p:spPr>
            <a:xfrm rot="10800000">
              <a:off x="10665228" y="4637295"/>
              <a:ext cx="569176" cy="2056005"/>
            </a:xfrm>
            <a:prstGeom prst="leftBrace">
              <a:avLst>
                <a:gd name="adj1" fmla="val 18579"/>
                <a:gd name="adj2" fmla="val 50000"/>
              </a:avLst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 altLang="ko-KR">
                <a:solidFill>
                  <a:schemeClr val="tx1"/>
                </a:solidFill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0232331" y="3176331"/>
              <a:ext cx="1317415" cy="41370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>
                  <a:solidFill>
                    <a:schemeClr val="lt1"/>
                  </a:solidFill>
                </a:rPr>
                <a:t>최적 구현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1427137" y="5469670"/>
              <a:ext cx="1337477" cy="4080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>
                  <a:solidFill>
                    <a:schemeClr val="lt1"/>
                  </a:solidFill>
                </a:rPr>
                <a:t>기존 구현</a:t>
              </a:r>
            </a:p>
          </p:txBody>
        </p:sp>
      </p:grpSp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7762256" y="0"/>
            <a:ext cx="4429743" cy="1009790"/>
          </a:xfrm>
          <a:prstGeom prst="rect">
            <a:avLst/>
          </a:prstGeom>
        </p:spPr>
      </p:pic>
      <p:sp>
        <p:nvSpPr>
          <p:cNvPr id="11" name="직사각형 10"/>
          <p:cNvSpPr/>
          <p:nvPr/>
        </p:nvSpPr>
        <p:spPr>
          <a:xfrm>
            <a:off x="7763966" y="758238"/>
            <a:ext cx="4418508" cy="23054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2" name="왼쪽 중괄호[L] 11"/>
          <p:cNvSpPr/>
          <p:nvPr/>
        </p:nvSpPr>
        <p:spPr>
          <a:xfrm>
            <a:off x="7447616" y="72338"/>
            <a:ext cx="217297" cy="861570"/>
          </a:xfrm>
          <a:prstGeom prst="leftBrace">
            <a:avLst>
              <a:gd name="adj1" fmla="val 8333"/>
              <a:gd name="adj2" fmla="val 50390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 altLang="ko-KR">
              <a:solidFill>
                <a:schemeClr val="tx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937595" y="360698"/>
            <a:ext cx="1595589" cy="3657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>
                <a:solidFill>
                  <a:schemeClr val="dk1"/>
                </a:solidFill>
              </a:rPr>
              <a:t>호출부 변화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기법</a:t>
            </a:r>
            <a:r>
              <a:rPr lang="en-US" altLang="ko-KR"/>
              <a:t>2</a:t>
            </a:r>
            <a:r>
              <a:rPr lang="ko-KR" altLang="en-US"/>
              <a:t>: 스트리밍 단위 축소</a:t>
            </a:r>
          </a:p>
        </p:txBody>
      </p:sp>
      <p:sp>
        <p:nvSpPr>
          <p:cNvPr id="3" name="텍스트 개체 틀 8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b="1">
                <a:solidFill>
                  <a:srgbClr val="FF0000"/>
                </a:solidFill>
              </a:rPr>
              <a:t>여러 다항식을 한 번에 생성하는게 아닌, 다항식 1개 단위로 생성 </a:t>
            </a:r>
            <a:endParaRPr lang="ko-KR" altLang="en-US"/>
          </a:p>
          <a:p>
            <a:pPr lvl="1">
              <a:defRPr/>
            </a:pPr>
            <a:r>
              <a:rPr lang="en-US" altLang="ko-KR" b="1">
                <a:solidFill>
                  <a:schemeClr val="accent1"/>
                </a:solidFill>
              </a:rPr>
              <a:t>RAM</a:t>
            </a:r>
            <a:r>
              <a:rPr lang="ko-KR" altLang="en-US" b="1">
                <a:solidFill>
                  <a:schemeClr val="accent1"/>
                </a:solidFill>
              </a:rPr>
              <a:t>에 올라가는 다항식이 </a:t>
            </a:r>
            <a:r>
              <a:rPr lang="en-US" altLang="ko-KR" b="1">
                <a:solidFill>
                  <a:schemeClr val="accent1"/>
                </a:solidFill>
              </a:rPr>
              <a:t>30</a:t>
            </a:r>
            <a:r>
              <a:rPr lang="ko-KR" altLang="en-US" b="1">
                <a:solidFill>
                  <a:schemeClr val="accent1"/>
                </a:solidFill>
              </a:rPr>
              <a:t>개에서 </a:t>
            </a:r>
            <a:r>
              <a:rPr lang="en-US" altLang="ko-KR" b="1">
                <a:solidFill>
                  <a:schemeClr val="accent1"/>
                </a:solidFill>
              </a:rPr>
              <a:t>1</a:t>
            </a:r>
            <a:r>
              <a:rPr lang="ko-KR" altLang="en-US" b="1">
                <a:solidFill>
                  <a:schemeClr val="accent1"/>
                </a:solidFill>
              </a:rPr>
              <a:t>개로 줄어듦</a:t>
            </a:r>
          </a:p>
          <a:p>
            <a:pPr lvl="0">
              <a:defRPr/>
            </a:pPr>
            <a:r>
              <a:rPr lang="ko-KR" altLang="en-US"/>
              <a:t>기존 구현</a:t>
            </a:r>
            <a:r>
              <a:rPr lang="en-US" altLang="ko-KR"/>
              <a:t>:</a:t>
            </a:r>
            <a:r>
              <a:rPr lang="ko-KR" altLang="en-US"/>
              <a:t> 행렬 </a:t>
            </a:r>
            <a:r>
              <a:rPr lang="en-US" altLang="ko-KR"/>
              <a:t>A </a:t>
            </a:r>
            <a:r>
              <a:rPr lang="ko-KR" altLang="en-US"/>
              <a:t>전체 생성</a:t>
            </a:r>
          </a:p>
          <a:p>
            <a:pPr lvl="1">
              <a:defRPr/>
            </a:pPr>
            <a:r>
              <a:rPr lang="en-US" altLang="ko-KR"/>
              <a:t>K*L(6*5)</a:t>
            </a:r>
            <a:r>
              <a:rPr lang="ko-KR" altLang="en-US"/>
              <a:t>개 한 번에 생성 후 유지</a:t>
            </a:r>
          </a:p>
          <a:p>
            <a:pPr lvl="0">
              <a:defRPr/>
            </a:pPr>
            <a:r>
              <a:rPr lang="ko-KR" altLang="en-US"/>
              <a:t>최적 구현</a:t>
            </a:r>
            <a:r>
              <a:rPr lang="en-US" altLang="ko-KR"/>
              <a:t>:</a:t>
            </a:r>
            <a:r>
              <a:rPr lang="ko-KR" altLang="en-US"/>
              <a:t> </a:t>
            </a:r>
            <a:r>
              <a:rPr lang="en-US" altLang="ko-KR"/>
              <a:t>1</a:t>
            </a:r>
            <a:r>
              <a:rPr lang="ko-KR" altLang="en-US"/>
              <a:t>개씩 생성</a:t>
            </a:r>
          </a:p>
          <a:p>
            <a:pPr lvl="1">
              <a:defRPr/>
            </a:pPr>
            <a:r>
              <a:rPr lang="en-US" altLang="ko-KR"/>
              <a:t>1</a:t>
            </a:r>
            <a:r>
              <a:rPr lang="ko-KR" altLang="en-US"/>
              <a:t>개 다항식</a:t>
            </a:r>
            <a:r>
              <a:rPr lang="en-US" altLang="ko-KR"/>
              <a:t>(p)</a:t>
            </a:r>
            <a:r>
              <a:rPr lang="ko-KR" altLang="en-US"/>
              <a:t> 생성</a:t>
            </a:r>
          </a:p>
          <a:p>
            <a:pPr lvl="1">
              <a:defRPr/>
            </a:pPr>
            <a:r>
              <a:rPr lang="ko-KR" altLang="en-US"/>
              <a:t>이후 바로 곱셈</a:t>
            </a:r>
            <a:r>
              <a:rPr lang="en-US" altLang="ko-KR"/>
              <a:t>(pointwise)</a:t>
            </a:r>
          </a:p>
          <a:p>
            <a:pPr lvl="1">
              <a:defRPr/>
            </a:pPr>
            <a:r>
              <a:rPr lang="ko-KR" altLang="en-US"/>
              <a:t>이후 누산</a:t>
            </a:r>
            <a:r>
              <a:rPr lang="en-US" altLang="ko-KR"/>
              <a:t>(add)</a:t>
            </a:r>
          </a:p>
          <a:p>
            <a:pPr marL="0" lvl="0" indent="0">
              <a:buNone/>
              <a:defRPr/>
            </a:pPr>
            <a:endParaRPr lang="en-US" altLang="ko-KR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5789180" y="2218485"/>
            <a:ext cx="6402819" cy="463951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073697" y="3700144"/>
            <a:ext cx="1195115" cy="9080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>
                <a:solidFill>
                  <a:schemeClr val="lt1"/>
                </a:solidFill>
              </a:rPr>
              <a:t>1</a:t>
            </a:r>
            <a:r>
              <a:rPr lang="ko-KR" altLang="en-US">
                <a:solidFill>
                  <a:schemeClr val="lt1"/>
                </a:solidFill>
              </a:rPr>
              <a:t>개 생성</a:t>
            </a:r>
          </a:p>
          <a:p>
            <a:pPr>
              <a:defRPr/>
            </a:pPr>
            <a:r>
              <a:rPr lang="ko-KR" altLang="en-US">
                <a:solidFill>
                  <a:schemeClr val="lt1"/>
                </a:solidFill>
              </a:rPr>
              <a:t>바로 곱셈</a:t>
            </a:r>
          </a:p>
          <a:p>
            <a:pPr>
              <a:defRPr/>
            </a:pPr>
            <a:r>
              <a:rPr lang="ko-KR" altLang="en-US">
                <a:solidFill>
                  <a:schemeClr val="lt1"/>
                </a:solidFill>
              </a:rPr>
              <a:t>이후 누적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65694" y="5372226"/>
            <a:ext cx="2816303" cy="3599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>
                <a:solidFill>
                  <a:schemeClr val="lt1"/>
                </a:solidFill>
              </a:rPr>
              <a:t>30</a:t>
            </a:r>
            <a:r>
              <a:rPr lang="ko-KR" altLang="en-US">
                <a:solidFill>
                  <a:schemeClr val="lt1"/>
                </a:solidFill>
              </a:rPr>
              <a:t>개 다항식 동시 생성</a:t>
            </a:r>
          </a:p>
        </p:txBody>
      </p:sp>
      <p:sp>
        <p:nvSpPr>
          <p:cNvPr id="15" name="직사각형 14"/>
          <p:cNvSpPr/>
          <p:nvPr/>
        </p:nvSpPr>
        <p:spPr>
          <a:xfrm>
            <a:off x="5772776" y="5254968"/>
            <a:ext cx="3187229" cy="61386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6096000" y="3897308"/>
            <a:ext cx="2734210" cy="48609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그림 30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053302" y="2130596"/>
            <a:ext cx="6138698" cy="4727404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기법</a:t>
            </a:r>
            <a:r>
              <a:rPr lang="en-US" altLang="ko-KR"/>
              <a:t>3</a:t>
            </a:r>
            <a:r>
              <a:rPr lang="ko-KR" altLang="en-US"/>
              <a:t>: 버퍼 재사용</a:t>
            </a:r>
          </a:p>
        </p:txBody>
      </p:sp>
      <p:sp>
        <p:nvSpPr>
          <p:cNvPr id="3" name="텍스트 개체 틀 8"/>
          <p:cNvSpPr>
            <a:spLocks noGrp="1"/>
          </p:cNvSpPr>
          <p:nvPr>
            <p:ph type="body" sz="quarter" idx="10"/>
          </p:nvPr>
        </p:nvSpPr>
        <p:spPr>
          <a:xfrm>
            <a:off x="411162" y="988973"/>
            <a:ext cx="11369675" cy="5603875"/>
          </a:xfrm>
        </p:spPr>
        <p:txBody>
          <a:bodyPr/>
          <a:lstStyle/>
          <a:p>
            <a:pPr>
              <a:defRPr/>
            </a:pPr>
            <a:r>
              <a:rPr lang="ko-KR" altLang="en-US" b="1">
                <a:solidFill>
                  <a:srgbClr val="FF0000"/>
                </a:solidFill>
              </a:rPr>
              <a:t>지역 변수(mat[K]) 대신 작은 버퍼(scratch 버퍼 - poly p)를 선언 </a:t>
            </a:r>
            <a:endParaRPr lang="ko-KR" altLang="en-US"/>
          </a:p>
          <a:p>
            <a:pPr lvl="1">
              <a:defRPr/>
            </a:pPr>
            <a:r>
              <a:rPr lang="ko-KR" altLang="en-US" b="1">
                <a:solidFill>
                  <a:schemeClr val="accent1"/>
                </a:solidFill>
              </a:rPr>
              <a:t>이후 </a:t>
            </a:r>
            <a:r>
              <a:rPr lang="en-US" altLang="ko-KR" b="1">
                <a:solidFill>
                  <a:schemeClr val="accent1"/>
                </a:solidFill>
              </a:rPr>
              <a:t>p</a:t>
            </a:r>
            <a:r>
              <a:rPr lang="ko-KR" altLang="en-US" b="1">
                <a:solidFill>
                  <a:schemeClr val="accent1"/>
                </a:solidFill>
              </a:rPr>
              <a:t>를 반복하여 재사용</a:t>
            </a:r>
            <a:r>
              <a:rPr lang="en-US" altLang="ko-KR" b="1">
                <a:solidFill>
                  <a:schemeClr val="accent1"/>
                </a:solidFill>
              </a:rPr>
              <a:t>(</a:t>
            </a:r>
            <a:r>
              <a:rPr lang="ko-KR" altLang="en-US" b="1">
                <a:solidFill>
                  <a:schemeClr val="accent1"/>
                </a:solidFill>
              </a:rPr>
              <a:t>덮어쓰며</a:t>
            </a:r>
            <a:r>
              <a:rPr lang="en-US" altLang="ko-KR" b="1">
                <a:solidFill>
                  <a:schemeClr val="accent1"/>
                </a:solidFill>
              </a:rPr>
              <a:t>)</a:t>
            </a:r>
            <a:endParaRPr lang="en-US" altLang="ko-KR" b="1"/>
          </a:p>
          <a:p>
            <a:pPr lvl="0">
              <a:defRPr/>
            </a:pPr>
            <a:endParaRPr lang="en-US" altLang="ko-KR" b="1"/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2126251"/>
            <a:ext cx="5663389" cy="473174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511775" y="2736028"/>
            <a:ext cx="2716792" cy="3672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>
                <a:solidFill>
                  <a:schemeClr val="lt1"/>
                </a:solidFill>
              </a:rPr>
              <a:t>함수 시작 시 </a:t>
            </a:r>
            <a:r>
              <a:rPr lang="en-US" altLang="ko-KR">
                <a:solidFill>
                  <a:schemeClr val="lt1"/>
                </a:solidFill>
              </a:rPr>
              <a:t>30KB </a:t>
            </a:r>
            <a:r>
              <a:rPr lang="ko-KR" altLang="en-US">
                <a:solidFill>
                  <a:schemeClr val="lt1"/>
                </a:solidFill>
              </a:rPr>
              <a:t>할당</a:t>
            </a:r>
          </a:p>
        </p:txBody>
      </p:sp>
      <p:sp>
        <p:nvSpPr>
          <p:cNvPr id="19" name="직사각형 18"/>
          <p:cNvSpPr/>
          <p:nvPr/>
        </p:nvSpPr>
        <p:spPr>
          <a:xfrm>
            <a:off x="238287" y="2780287"/>
            <a:ext cx="1235765" cy="18407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2082525" y="1828044"/>
            <a:ext cx="1595589" cy="3619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>
                <a:solidFill>
                  <a:schemeClr val="dk1"/>
                </a:solidFill>
              </a:rPr>
              <a:t>기존 구현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188" y="1798539"/>
            <a:ext cx="1595589" cy="3670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>
                <a:solidFill>
                  <a:schemeClr val="dk1"/>
                </a:solidFill>
              </a:rPr>
              <a:t>최적 구현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86887" y="4410105"/>
            <a:ext cx="3529902" cy="3641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>
                <a:solidFill>
                  <a:schemeClr val="lt1"/>
                </a:solidFill>
              </a:rPr>
              <a:t>mat</a:t>
            </a:r>
            <a:r>
              <a:rPr lang="ko-KR" altLang="en-US">
                <a:solidFill>
                  <a:schemeClr val="lt1"/>
                </a:solidFill>
              </a:rPr>
              <a:t>은 함수 끝까지 </a:t>
            </a:r>
            <a:r>
              <a:rPr lang="en-US" altLang="ko-KR">
                <a:solidFill>
                  <a:schemeClr val="lt1"/>
                </a:solidFill>
              </a:rPr>
              <a:t>RAM</a:t>
            </a:r>
            <a:r>
              <a:rPr lang="ko-KR" altLang="en-US">
                <a:solidFill>
                  <a:schemeClr val="lt1"/>
                </a:solidFill>
              </a:rPr>
              <a:t>에 상주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13524" y="5863478"/>
            <a:ext cx="3204659" cy="3639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>
                <a:solidFill>
                  <a:schemeClr val="lt1"/>
                </a:solidFill>
              </a:rPr>
              <a:t>함수 종료 시 </a:t>
            </a:r>
            <a:r>
              <a:rPr lang="en-US" altLang="ko-KR">
                <a:solidFill>
                  <a:schemeClr val="lt1"/>
                </a:solidFill>
              </a:rPr>
              <a:t>mat </a:t>
            </a:r>
            <a:r>
              <a:rPr lang="ko-KR" altLang="en-US">
                <a:solidFill>
                  <a:schemeClr val="lt1"/>
                </a:solidFill>
              </a:rPr>
              <a:t>할당 해제</a:t>
            </a:r>
          </a:p>
        </p:txBody>
      </p:sp>
      <p:sp>
        <p:nvSpPr>
          <p:cNvPr id="25" name="직사각형 24"/>
          <p:cNvSpPr/>
          <p:nvPr/>
        </p:nvSpPr>
        <p:spPr>
          <a:xfrm>
            <a:off x="6191250" y="3002382"/>
            <a:ext cx="1595856" cy="18407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6" name="TextBox 25"/>
          <p:cNvSpPr txBox="1"/>
          <p:nvPr/>
        </p:nvSpPr>
        <p:spPr>
          <a:xfrm>
            <a:off x="7815233" y="2934008"/>
            <a:ext cx="4075849" cy="3597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>
                <a:solidFill>
                  <a:schemeClr val="lt1"/>
                </a:solidFill>
              </a:rPr>
              <a:t>함수 시작 시 </a:t>
            </a:r>
            <a:r>
              <a:rPr lang="en-US" altLang="ko-KR">
                <a:solidFill>
                  <a:schemeClr val="lt1"/>
                </a:solidFill>
              </a:rPr>
              <a:t>1KB </a:t>
            </a:r>
            <a:r>
              <a:rPr lang="ko-KR" altLang="en-US">
                <a:solidFill>
                  <a:schemeClr val="lt1"/>
                </a:solidFill>
              </a:rPr>
              <a:t>할당</a:t>
            </a:r>
            <a:r>
              <a:rPr lang="en-US" altLang="ko-KR">
                <a:solidFill>
                  <a:schemeClr val="lt1"/>
                </a:solidFill>
              </a:rPr>
              <a:t>(</a:t>
            </a:r>
            <a:r>
              <a:rPr lang="ko-KR" altLang="en-US">
                <a:solidFill>
                  <a:schemeClr val="lt1"/>
                </a:solidFill>
              </a:rPr>
              <a:t>이후 값만 교체</a:t>
            </a:r>
            <a:r>
              <a:rPr lang="en-US" altLang="ko-KR">
                <a:solidFill>
                  <a:schemeClr val="lt1"/>
                </a:solidFill>
              </a:rPr>
              <a:t>)</a:t>
            </a:r>
          </a:p>
        </p:txBody>
      </p:sp>
      <p:pic>
        <p:nvPicPr>
          <p:cNvPr id="28" name="그림 27"/>
          <p:cNvPicPr>
            <a:picLocks noChangeAspect="1"/>
          </p:cNvPicPr>
          <p:nvPr/>
        </p:nvPicPr>
        <p:blipFill rotWithShape="1">
          <a:blip r:embed="rId4"/>
          <a:srcRect t="28790" b="53330"/>
          <a:stretch>
            <a:fillRect/>
          </a:stretch>
        </p:blipFill>
        <p:spPr>
          <a:xfrm>
            <a:off x="5251220" y="0"/>
            <a:ext cx="6940780" cy="899209"/>
          </a:xfrm>
          <a:prstGeom prst="rect">
            <a:avLst/>
          </a:prstGeom>
        </p:spPr>
      </p:pic>
      <p:sp>
        <p:nvSpPr>
          <p:cNvPr id="29" name="직사각형 28"/>
          <p:cNvSpPr/>
          <p:nvPr/>
        </p:nvSpPr>
        <p:spPr>
          <a:xfrm>
            <a:off x="5569963" y="657442"/>
            <a:ext cx="2920062" cy="19569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30" name="직선 화살표 연결선 29"/>
          <p:cNvCxnSpPr/>
          <p:nvPr/>
        </p:nvCxnSpPr>
        <p:spPr>
          <a:xfrm rot="16200000" flipV="1">
            <a:off x="5894464" y="3165902"/>
            <a:ext cx="5769594" cy="1126734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550982" y="479453"/>
            <a:ext cx="1404200" cy="3663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>
                <a:solidFill>
                  <a:schemeClr val="lt1"/>
                </a:solidFill>
              </a:rPr>
              <a:t>p</a:t>
            </a:r>
            <a:r>
              <a:rPr lang="ko-KR" altLang="en-US">
                <a:solidFill>
                  <a:schemeClr val="lt1"/>
                </a:solidFill>
              </a:rPr>
              <a:t> 누적</a:t>
            </a:r>
            <a:r>
              <a:rPr lang="en-US" altLang="ko-KR">
                <a:solidFill>
                  <a:schemeClr val="lt1"/>
                </a:solidFill>
              </a:rPr>
              <a:t>(add)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88718" y="5986762"/>
            <a:ext cx="2438011" cy="6430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>
                <a:solidFill>
                  <a:schemeClr val="lt1"/>
                </a:solidFill>
              </a:rPr>
              <a:t>p</a:t>
            </a:r>
            <a:r>
              <a:rPr lang="ko-KR" altLang="en-US">
                <a:solidFill>
                  <a:schemeClr val="lt1"/>
                </a:solidFill>
              </a:rPr>
              <a:t>는 루프 내에서 계속 덮어쓰며 재사용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Peak RAM </a:t>
            </a:r>
            <a:r>
              <a:rPr lang="ko-KR" altLang="en-US"/>
              <a:t>측정 결과</a:t>
            </a:r>
          </a:p>
        </p:txBody>
      </p:sp>
      <p:sp>
        <p:nvSpPr>
          <p:cNvPr id="3" name="텍스트 개체 틀 8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Peak RAM </a:t>
            </a:r>
            <a:r>
              <a:rPr lang="ko-KR" altLang="en-US"/>
              <a:t>비교</a:t>
            </a:r>
          </a:p>
          <a:p>
            <a:pPr lvl="0">
              <a:defRPr/>
            </a:pPr>
            <a:r>
              <a:rPr lang="en-US" altLang="ko-KR"/>
              <a:t>ML-DSA-65(Dilithium3) </a:t>
            </a:r>
            <a:r>
              <a:rPr lang="ko-KR" altLang="en-US"/>
              <a:t>기준</a:t>
            </a:r>
          </a:p>
          <a:p>
            <a:pPr lvl="0">
              <a:defRPr/>
            </a:pPr>
            <a:r>
              <a:rPr lang="en-US" altLang="ko-KR"/>
              <a:t>Valgrind massif</a:t>
            </a:r>
            <a:r>
              <a:rPr lang="ko-KR" altLang="en-US"/>
              <a:t> 기반</a:t>
            </a:r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endParaRPr lang="ko-KR" altLang="en-US"/>
          </a:p>
          <a:p>
            <a:pPr marL="0" lvl="0" indent="0">
              <a:buNone/>
              <a:defRPr/>
            </a:pPr>
            <a:endParaRPr lang="ko-KR" altLang="en-US"/>
          </a:p>
        </p:txBody>
      </p:sp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1880994" y="3147381"/>
          <a:ext cx="8430012" cy="2586865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21075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75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75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75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6716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/>
                        <a:t>동작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/>
                        <a:t>기존 구현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/>
                        <a:t>최적 구현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/>
                        <a:t>절감률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6716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b="1"/>
                        <a:t>키젠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/>
                        <a:t>68.9KiB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/>
                        <a:t>40.9 KiB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b="1">
                          <a:solidFill>
                            <a:srgbClr val="FF0000"/>
                          </a:solidFill>
                        </a:rPr>
                        <a:t>-40.6%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6716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b="1"/>
                        <a:t>서명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/>
                        <a:t>87.2KiB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/>
                        <a:t>59.3 KiB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b="1">
                          <a:solidFill>
                            <a:srgbClr val="FF0000"/>
                          </a:solidFill>
                        </a:rPr>
                        <a:t>-32.0%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6716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b="1"/>
                        <a:t>검증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/>
                        <a:t>65.8KiB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/>
                        <a:t>36.7 KiB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b="1">
                          <a:solidFill>
                            <a:srgbClr val="FF0000"/>
                          </a:solidFill>
                        </a:rPr>
                        <a:t>-44.2%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성능 측정 결과</a:t>
            </a:r>
          </a:p>
        </p:txBody>
      </p:sp>
      <p:sp>
        <p:nvSpPr>
          <p:cNvPr id="3" name="텍스트 개체 틀 8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CPU</a:t>
            </a:r>
            <a:r>
              <a:rPr lang="ko-KR" altLang="en-US"/>
              <a:t> </a:t>
            </a:r>
            <a:r>
              <a:rPr lang="en-US" altLang="ko-KR"/>
              <a:t>Cycles</a:t>
            </a:r>
            <a:r>
              <a:rPr lang="ko-KR" altLang="en-US"/>
              <a:t> 비교</a:t>
            </a:r>
          </a:p>
          <a:p>
            <a:pPr lvl="0">
              <a:defRPr/>
            </a:pPr>
            <a:r>
              <a:rPr lang="en-US" altLang="ko-KR"/>
              <a:t>ML-DSA-65(Dilithium3) </a:t>
            </a:r>
            <a:r>
              <a:rPr lang="ko-KR" altLang="en-US"/>
              <a:t>기준</a:t>
            </a:r>
          </a:p>
          <a:p>
            <a:pPr lvl="0">
              <a:defRPr/>
            </a:pPr>
            <a:r>
              <a:rPr lang="en-US" altLang="ko-KR"/>
              <a:t>15,000</a:t>
            </a:r>
            <a:r>
              <a:rPr lang="ko-KR" altLang="en-US"/>
              <a:t>회 반복 평균</a:t>
            </a:r>
          </a:p>
          <a:p>
            <a:pPr lvl="0">
              <a:defRPr/>
            </a:pPr>
            <a:r>
              <a:rPr lang="ko-KR" altLang="en-US"/>
              <a:t>서명 중 </a:t>
            </a:r>
            <a:r>
              <a:rPr lang="en-US" altLang="ko-KR"/>
              <a:t>Rejection sampling </a:t>
            </a:r>
            <a:r>
              <a:rPr lang="ko-KR" altLang="en-US"/>
              <a:t>발생 시 재시도 </a:t>
            </a:r>
            <a:endParaRPr lang="en-US" altLang="ko-KR"/>
          </a:p>
          <a:p>
            <a:pPr lvl="1">
              <a:defRPr/>
            </a:pPr>
            <a:r>
              <a:rPr lang="ko-KR" altLang="en-US"/>
              <a:t>재시도마다 </a:t>
            </a:r>
            <a:r>
              <a:rPr lang="en-US" altLang="ko-KR"/>
              <a:t>A</a:t>
            </a:r>
            <a:r>
              <a:rPr lang="ko-KR" altLang="en-US"/>
              <a:t> 재생성 필요 </a:t>
            </a:r>
            <a:r>
              <a:rPr lang="en-US" altLang="ko-KR"/>
              <a:t>-&gt;</a:t>
            </a:r>
            <a:r>
              <a:rPr lang="ko-KR" altLang="en-US"/>
              <a:t> 매번 </a:t>
            </a:r>
            <a:r>
              <a:rPr lang="en-US" altLang="ko-KR"/>
              <a:t>SHAKE128 </a:t>
            </a:r>
            <a:r>
              <a:rPr lang="ko-KR" altLang="en-US"/>
              <a:t>재호출 필요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1880994" y="3879180"/>
          <a:ext cx="8430012" cy="2586865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21075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75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75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75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6716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/>
                        <a:t>동작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/>
                        <a:t>기존 구현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/>
                        <a:t>최적 구현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/>
                        <a:t>증가율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6716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b="1"/>
                        <a:t>키젠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/>
                        <a:t>350 kcc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/>
                        <a:t>352 kcc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b="1">
                          <a:solidFill>
                            <a:srgbClr val="FF0000"/>
                          </a:solidFill>
                        </a:rPr>
                        <a:t>+0.6%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6716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b="1"/>
                        <a:t>서명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/>
                        <a:t>1,416 kcc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/>
                        <a:t>2,081 kcc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b="1">
                          <a:solidFill>
                            <a:srgbClr val="FF0000"/>
                          </a:solidFill>
                        </a:rPr>
                        <a:t>+47%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6716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b="1"/>
                        <a:t>검증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/>
                        <a:t>334 kcc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/>
                        <a:t>335 kcc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b="1">
                          <a:solidFill>
                            <a:srgbClr val="FF0000"/>
                          </a:solidFill>
                        </a:rPr>
                        <a:t>+0.3%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4499981"/>
      </p:ext>
    </p:extLst>
  </p:cSld>
  <p:clrMapOvr>
    <a:masterClrMapping/>
  </p:clrMapOvr>
</p:sld>
</file>

<file path=ppt/theme/theme1.xml><?xml version="1.0" encoding="utf-8"?>
<a:theme xmlns:a="http://schemas.openxmlformats.org/drawingml/2006/main" name="CryptoCraft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2">
      <a:majorFont>
        <a:latin typeface="Arial"/>
        <a:ea typeface="맑은 고딕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제목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2">
      <a:majorFont>
        <a:latin typeface="Arial"/>
        <a:ea typeface="맑은 고딕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20000000000000000000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20000000000000000000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20000000000000000000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20000000000000000000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768</Words>
  <Application>Microsoft Macintosh PowerPoint</Application>
  <PresentationFormat>와이드스크린</PresentationFormat>
  <Paragraphs>132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맑은 고딕</vt:lpstr>
      <vt:lpstr>Arial</vt:lpstr>
      <vt:lpstr>CryptoCraft 테마</vt:lpstr>
      <vt:lpstr>제목 테마</vt:lpstr>
      <vt:lpstr>Dilithium 메모리 최적 구현  코드 분석</vt:lpstr>
      <vt:lpstr>Dilithium 개요</vt:lpstr>
      <vt:lpstr>메모리 최적 구현 분석 대상</vt:lpstr>
      <vt:lpstr>적용된 메모리 최적화 기법</vt:lpstr>
      <vt:lpstr>기법1: 커널 융합</vt:lpstr>
      <vt:lpstr>기법2: 스트리밍 단위 축소</vt:lpstr>
      <vt:lpstr>기법3: 버퍼 재사용</vt:lpstr>
      <vt:lpstr>Peak RAM 측정 결과</vt:lpstr>
      <vt:lpstr>성능 측정 결과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HD</dc:creator>
  <cp:lastModifiedBy>Minwoo Lee</cp:lastModifiedBy>
  <cp:revision>135</cp:revision>
  <dcterms:created xsi:type="dcterms:W3CDTF">2019-03-05T04:29:07Z</dcterms:created>
  <dcterms:modified xsi:type="dcterms:W3CDTF">2026-01-12T06:55:00Z</dcterms:modified>
  <cp:version>1000.0000.01</cp:version>
</cp:coreProperties>
</file>