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5" r:id="rId2"/>
  </p:sldMasterIdLst>
  <p:notesMasterIdLst>
    <p:notesMasterId r:id="rId36"/>
  </p:notesMasterIdLst>
  <p:sldIdLst>
    <p:sldId id="257" r:id="rId3"/>
    <p:sldId id="266" r:id="rId4"/>
    <p:sldId id="269" r:id="rId5"/>
    <p:sldId id="278" r:id="rId6"/>
    <p:sldId id="274" r:id="rId7"/>
    <p:sldId id="280" r:id="rId8"/>
    <p:sldId id="281" r:id="rId9"/>
    <p:sldId id="282" r:id="rId10"/>
    <p:sldId id="284" r:id="rId11"/>
    <p:sldId id="299" r:id="rId12"/>
    <p:sldId id="272" r:id="rId13"/>
    <p:sldId id="286" r:id="rId14"/>
    <p:sldId id="273" r:id="rId15"/>
    <p:sldId id="298" r:id="rId16"/>
    <p:sldId id="287" r:id="rId17"/>
    <p:sldId id="301" r:id="rId18"/>
    <p:sldId id="288" r:id="rId19"/>
    <p:sldId id="289" r:id="rId20"/>
    <p:sldId id="293" r:id="rId21"/>
    <p:sldId id="290" r:id="rId22"/>
    <p:sldId id="302" r:id="rId23"/>
    <p:sldId id="303" r:id="rId24"/>
    <p:sldId id="297" r:id="rId25"/>
    <p:sldId id="306" r:id="rId26"/>
    <p:sldId id="304" r:id="rId27"/>
    <p:sldId id="307" r:id="rId28"/>
    <p:sldId id="279" r:id="rId29"/>
    <p:sldId id="305" r:id="rId30"/>
    <p:sldId id="308" r:id="rId31"/>
    <p:sldId id="311" r:id="rId32"/>
    <p:sldId id="309" r:id="rId33"/>
    <p:sldId id="310" r:id="rId34"/>
    <p:sldId id="259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ABA4"/>
    <a:srgbClr val="E8C5BF"/>
    <a:srgbClr val="DCADA0"/>
    <a:srgbClr val="E8B1A6"/>
    <a:srgbClr val="712B12"/>
    <a:srgbClr val="FAEDE8"/>
    <a:srgbClr val="424BF8"/>
    <a:srgbClr val="000000"/>
    <a:srgbClr val="C00000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58"/>
    <p:restoredTop sz="94634"/>
  </p:normalViewPr>
  <p:slideViewPr>
    <p:cSldViewPr snapToGrid="0" snapToObjects="1">
      <p:cViewPr varScale="1">
        <p:scale>
          <a:sx n="131" d="100"/>
          <a:sy n="131" d="100"/>
        </p:scale>
        <p:origin x="11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E67D3-7AC7-3741-AD63-2D8018731C77}" type="datetimeFigureOut">
              <a:rPr kumimoji="1" lang="ko-KR" altLang="en-US" smtClean="0"/>
              <a:t>2026. 4. 19.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26729-B2AC-DF4D-8092-F3CD4AAD30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0959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왜 </a:t>
            </a:r>
            <a:r>
              <a:rPr kumimoji="1" lang="ko-KR" altLang="en-US" dirty="0" err="1"/>
              <a:t>찾냐면</a:t>
            </a:r>
            <a:r>
              <a:rPr kumimoji="1" lang="ko-KR" altLang="en-US" dirty="0"/>
              <a:t> 그래야 나머지 부분들에 대해서는 방정식으로 풀 수 있다함 변수 개수가 맞아서 </a:t>
            </a:r>
            <a:r>
              <a:rPr kumimoji="1" lang="en-US" altLang="ko-KR" dirty="0"/>
              <a:t>=</a:t>
            </a:r>
            <a:r>
              <a:rPr kumimoji="1" lang="ko-KR" altLang="en-US" dirty="0"/>
              <a:t> 문제의 일부가 에러 없음 </a:t>
            </a:r>
            <a:r>
              <a:rPr kumimoji="1" lang="en-US" altLang="ko-KR" dirty="0"/>
              <a:t>(0)</a:t>
            </a:r>
            <a:r>
              <a:rPr kumimoji="1" lang="ko-KR" altLang="en-US" dirty="0"/>
              <a:t>으로 고정되어 선형적으로 남은 에러 복원이 </a:t>
            </a:r>
            <a:r>
              <a:rPr kumimoji="1" lang="ko-KR" altLang="en-US" dirty="0" err="1"/>
              <a:t>가능하다함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26729-B2AC-DF4D-8092-F3CD4AAD306F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3669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lee </a:t>
            </a:r>
            <a:r>
              <a:rPr lang="ko-KR" altLang="en-US" sz="1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방식은 유의미한 지수적 복잡도 개선은 없었음</a:t>
            </a:r>
            <a:endParaRPr lang="en-US" altLang="ko-KR" sz="12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r>
              <a:rPr lang="ko-KR" altLang="en-US" sz="12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시빙이랑</a:t>
            </a:r>
            <a:r>
              <a:rPr lang="ko-KR" altLang="en-US" sz="1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섞었더니 </a:t>
            </a:r>
            <a:r>
              <a:rPr lang="en-US" altLang="ko-KR" sz="12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prange</a:t>
            </a:r>
            <a:r>
              <a:rPr lang="ko-KR" altLang="en-US" sz="12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</a:t>
            </a:r>
            <a:r>
              <a:rPr lang="ko-KR" altLang="en-US" sz="1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비해 </a:t>
            </a:r>
            <a:r>
              <a:rPr lang="ko-KR" altLang="en-US" sz="12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어떤지</a:t>
            </a:r>
            <a:r>
              <a:rPr lang="en-US" altLang="ko-KR" sz="1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?</a:t>
            </a:r>
            <a:r>
              <a:rPr lang="ko-KR" altLang="en-US" sz="1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아예 구조적으로 다른 접근들도 제시되었지만</a:t>
            </a:r>
            <a:r>
              <a:rPr lang="en-US" altLang="ko-KR" sz="1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</a:t>
            </a:r>
            <a:r>
              <a:rPr lang="ko-KR" altLang="en-US" sz="1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일부만 가속되고 전체 성능은 </a:t>
            </a:r>
            <a:r>
              <a:rPr lang="ko-KR" altLang="en-US" sz="12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안좋음</a:t>
            </a:r>
            <a:r>
              <a:rPr lang="en-US" altLang="ko-KR" sz="1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</a:t>
            </a:r>
            <a:r>
              <a:rPr lang="ko-KR" altLang="en-US" sz="1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26729-B2AC-DF4D-8092-F3CD4AAD306F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12530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0FA8D-73CE-96BE-E420-3691499C7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7A4DA4-B5F4-210F-9AAB-376738659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15FD4B-E0E0-2987-D045-E47BA6EED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48C636-0E67-0BE9-357F-8154B184B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26729-B2AC-DF4D-8092-F3CD4AAD306F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65556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73DCB-996A-1C00-8E75-ED9BC08C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741481-AF6C-EE43-C428-F4900E8BD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45BA00-B507-0015-FE74-468288ACB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2113DF-9123-D8D4-FAB3-345B3EB9F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26729-B2AC-DF4D-8092-F3CD4AAD306F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4894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C4C8D-5352-123D-ED32-FC788460B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0EEB5E-F688-7F26-C9D7-9DB0792A8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3AD2B5-52C1-763C-4447-191D9CF16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C115A-6AD7-F514-535D-1101BE819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26729-B2AC-DF4D-8092-F3CD4AAD306F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87412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56534-0240-A5C2-E870-FCDDA0A02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ED5268-6D5A-1F78-F35D-2BDCC0374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408AB1-B509-75C5-948B-98FEAA7C4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1ABB65-076A-8B6B-C866-3EA811706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26729-B2AC-DF4D-8092-F3CD4AAD306F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1015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Information set 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행렬을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identity 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행렬로 만드는 연산을 </a:t>
                </a:r>
                <a:endParaRPr kumimoji="1" lang="en-US" altLang="ko-KR" sz="12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R" sz="1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sz="1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1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ko-KR" sz="12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kumimoji="1" lang="en-US" altLang="ko-KR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kumimoji="1" lang="ko-KR" altLang="en-US" sz="12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수행하면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H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는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가 되고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1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ko-KR" sz="1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R" sz="1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R" sz="1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1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kumimoji="1" lang="en-US" altLang="ko-KR" sz="1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kumimoji="1" lang="en-US" altLang="ko-KR" sz="1200" i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가 되어서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information set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의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inverse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를 신드롬에 곱한 값을  구할 수 있음</a:t>
                </a:r>
                <a:endParaRPr kumimoji="1" lang="en-US" altLang="ko-KR" sz="12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왜냐면 원래 그냥 하는 일이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1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ko-KR" sz="1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R" sz="1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R" sz="1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12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kumimoji="1" lang="en-US" altLang="ko-KR" sz="1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kumimoji="1" lang="en-US" altLang="ko-KR" sz="1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를 </a:t>
                </a:r>
                <a:r>
                  <a:rPr kumimoji="1" lang="ko-KR" altLang="en-US" sz="12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구해야되는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거임</a:t>
                </a:r>
                <a:endParaRPr kumimoji="1" lang="en-US" altLang="ko-KR" sz="12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그러면 </a:t>
                </a:r>
                <a:r>
                  <a:rPr kumimoji="1" lang="ko-KR" altLang="en-US" sz="12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인버스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구하고 </a:t>
                </a:r>
                <a:r>
                  <a:rPr kumimoji="1" lang="ko-KR" altLang="en-US" sz="12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곱셈해야되는데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그렇게 안하고 소거를 통해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</a:t>
                </a:r>
                <a:r>
                  <a:rPr kumimoji="1" lang="ko-KR" altLang="en-US" sz="12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H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의 </a:t>
                </a:r>
                <a:r>
                  <a:rPr kumimoji="1" lang="ko-KR" altLang="en-US" sz="12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역행렬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곱한 상태를 만드는 거임</a:t>
                </a:r>
                <a:endParaRPr kumimoji="1" lang="en-US" altLang="ko-KR" sz="12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kumimoji="1"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Information set 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행렬을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identity 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행렬로 만드는 연산을 </a:t>
                </a:r>
                <a:endParaRPr kumimoji="1" lang="en-US" altLang="ko-KR" sz="12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kumimoji="1" lang="en-US" altLang="ko-KR" sz="1200" i="0">
                    <a:latin typeface="Cambria Math" panose="02040503050406030204" pitchFamily="18" charset="0"/>
                  </a:rPr>
                  <a:t>𝐻_(𝑛−𝑘)</a:t>
                </a:r>
                <a:r>
                  <a:rPr kumimoji="1" lang="en-US" altLang="ko-KR" sz="1200" b="0" i="0">
                    <a:latin typeface="Cambria Math" panose="02040503050406030204" pitchFamily="18" charset="0"/>
                  </a:rPr>
                  <a:t> |𝑠</a:t>
                </a:r>
                <a:r>
                  <a:rPr kumimoji="1" lang="ko-KR" altLang="en-US" sz="12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수행하면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H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는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가 되고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는 </a:t>
                </a:r>
                <a:r>
                  <a:rPr kumimoji="1" lang="en-US" altLang="ko-KR" sz="1200" i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〖𝐻_(𝑛−𝑘)〗^(−1)</a:t>
                </a:r>
                <a:r>
                  <a:rPr kumimoji="1" lang="en-US" altLang="ko-KR" sz="1200" i="0" dirty="0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𝑠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가 되어서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information set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의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inverse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를 신드롬에 곱한 값을  구할 수 있음</a:t>
                </a:r>
                <a:endParaRPr kumimoji="1" lang="en-US" altLang="ko-KR" sz="12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왜냐면 원래 그냥 하는 일이 </a:t>
                </a:r>
                <a:r>
                  <a:rPr kumimoji="1" lang="en-US" altLang="ko-KR" sz="1200" i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〖𝐻_(𝑛−𝑘)〗^(−1)</a:t>
                </a:r>
                <a:r>
                  <a:rPr kumimoji="1" lang="en-US" altLang="ko-KR" sz="1200" b="0" i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𝑠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를 </a:t>
                </a:r>
                <a:r>
                  <a:rPr kumimoji="1" lang="ko-KR" altLang="en-US" sz="12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구해야되는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거임</a:t>
                </a:r>
                <a:endParaRPr kumimoji="1" lang="en-US" altLang="ko-KR" sz="12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그러면 </a:t>
                </a:r>
                <a:r>
                  <a:rPr kumimoji="1" lang="ko-KR" altLang="en-US" sz="12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인버스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구하고 </a:t>
                </a:r>
                <a:r>
                  <a:rPr kumimoji="1" lang="ko-KR" altLang="en-US" sz="12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곱셈해야되는데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그렇게 안하고 소거를 통해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</a:t>
                </a:r>
                <a:r>
                  <a:rPr kumimoji="1" lang="ko-KR" altLang="en-US" sz="12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H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의 </a:t>
                </a:r>
                <a:r>
                  <a:rPr kumimoji="1" lang="ko-KR" altLang="en-US" sz="12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역행렬</a:t>
                </a:r>
                <a:r>
                  <a:rPr kumimoji="1" lang="ko-KR" altLang="en-US" sz="12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곱한 상태를 만드는 거임</a:t>
                </a:r>
                <a:endParaRPr kumimoji="1" lang="en-US" altLang="ko-KR" sz="12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26729-B2AC-DF4D-8092-F3CD4AAD306F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44485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0E6E0-D5A3-9E34-A72F-28C86B72E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2C32CB-7CC4-3E88-4893-5BEB51780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9194EA-3960-2D90-348A-77A31D7F5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kumimoji="1" lang="ko-KR" altLang="en-US" sz="20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지금 상태가 구하고자 하는 해를 </a:t>
            </a:r>
            <a:r>
              <a:rPr kumimoji="1" lang="en-US" altLang="ko-KR" sz="20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x</a:t>
            </a:r>
            <a:r>
              <a:rPr kumimoji="1" lang="ko-KR" altLang="en-US" sz="2000" dirty="0" err="1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라고</a:t>
            </a:r>
            <a:r>
              <a:rPr kumimoji="1" lang="ko-KR" altLang="en-US" sz="20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치자</a:t>
            </a:r>
            <a:endParaRPr kumimoji="1" lang="en-US" altLang="ko-KR" sz="2000" dirty="0">
              <a:solidFill>
                <a:schemeClr val="tx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lvl="1"/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그러면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EH x = Es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인 상태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-&gt;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EH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 가지고 어떤 선형 연산하면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x = H^-1s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가 구해지는 거임</a:t>
            </a: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lvl="1"/>
            <a:r>
              <a:rPr kumimoji="1" lang="ko-KR" altLang="en-US" sz="20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lvl="1"/>
            <a:r>
              <a:rPr kumimoji="1" lang="ko-KR" altLang="en-US" sz="20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완전한 가우스 조던 소거는 왼쪽을 </a:t>
            </a:r>
            <a:r>
              <a:rPr kumimoji="1" lang="en-US" altLang="ko-KR" sz="20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</a:t>
            </a:r>
            <a:r>
              <a:rPr kumimoji="1" lang="ko-KR" altLang="en-US" sz="20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로 만들어서 오른쪽에 바로 답이 나오게 하는 거임</a:t>
            </a:r>
            <a:endParaRPr kumimoji="1" lang="en-US" altLang="ko-KR" sz="2000" dirty="0">
              <a:solidFill>
                <a:schemeClr val="tx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lvl="1"/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근데 이렇게 하면 왼쪽이 아직 </a:t>
            </a:r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항등행렬이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아니라 동일한 연산을 적용한 오른쪽의 값도 답이 아님</a:t>
            </a: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lvl="1"/>
            <a:r>
              <a:rPr kumimoji="1" lang="ko-KR" altLang="en-US" sz="20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따라서 오른쪽 값에 추가 연산을 수행해서 결과 벡터로 만들어야 함</a:t>
            </a:r>
            <a:endParaRPr kumimoji="1" lang="en-US" altLang="ko-KR" sz="2000" dirty="0">
              <a:solidFill>
                <a:schemeClr val="tx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lvl="1"/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lvl="1"/>
            <a:r>
              <a:rPr kumimoji="1" lang="ko-KR" altLang="en-US" sz="20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이게 전체 </a:t>
            </a:r>
            <a:r>
              <a:rPr kumimoji="1" lang="en-US" altLang="ko-KR" sz="20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</a:t>
            </a:r>
            <a:r>
              <a:rPr kumimoji="1" lang="ko-KR" altLang="en-US" sz="2000" dirty="0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로 만드는 것보다 효율적이냐는 의문이 </a:t>
            </a:r>
            <a:r>
              <a:rPr kumimoji="1" lang="ko-KR" altLang="en-US" sz="2000" dirty="0" err="1">
                <a:solidFill>
                  <a:schemeClr val="tx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생길거임</a:t>
            </a:r>
            <a:endParaRPr kumimoji="1" lang="en-US" altLang="ko-KR" sz="2000" dirty="0">
              <a:solidFill>
                <a:schemeClr val="tx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796F48-4A57-1B9D-585F-B1FF6DE07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26729-B2AC-DF4D-8092-F3CD4AAD306F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9395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방정식 나타내는 행렬이라서 요소 하나만 바꾸는 건 안됨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26729-B2AC-DF4D-8092-F3CD4AAD306F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8222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err="1"/>
              <a:t>피봇</a:t>
            </a:r>
            <a:r>
              <a:rPr kumimoji="1" lang="ko-KR" altLang="en-US" dirty="0"/>
              <a:t> 아래 성분은 다음 </a:t>
            </a:r>
            <a:r>
              <a:rPr kumimoji="1" lang="ko-KR" altLang="en-US" dirty="0" err="1"/>
              <a:t>피봇</a:t>
            </a:r>
            <a:r>
              <a:rPr kumimoji="1" lang="ko-KR" altLang="en-US" dirty="0"/>
              <a:t> 연산 시 다시 </a:t>
            </a:r>
            <a:r>
              <a:rPr kumimoji="1" lang="ko-KR" altLang="en-US" dirty="0" err="1"/>
              <a:t>참조하지않을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값이리ㅏ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갱신안해도</a:t>
            </a:r>
            <a:r>
              <a:rPr kumimoji="1" lang="ko-KR" altLang="en-US" dirty="0"/>
              <a:t> 되는 거임 근데 여기서 말하면 뒤에서 </a:t>
            </a:r>
            <a:r>
              <a:rPr kumimoji="1" lang="ko-KR" altLang="en-US" dirty="0" err="1"/>
              <a:t>참조안할값을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연산안한다고</a:t>
            </a:r>
            <a:r>
              <a:rPr kumimoji="1" lang="ko-KR" altLang="en-US" dirty="0"/>
              <a:t> 하는 거랑 헷갈릴 거 같으니까 뒤로 </a:t>
            </a:r>
            <a:r>
              <a:rPr kumimoji="1" lang="ko-KR" altLang="en-US" dirty="0" err="1"/>
              <a:t>미뤙야할듯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26729-B2AC-DF4D-8092-F3CD4AAD306F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4743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s</a:t>
            </a:r>
            <a:r>
              <a:rPr kumimoji="1" lang="ko-KR" altLang="en-US" dirty="0"/>
              <a:t>를 해 벡터로 만들기 위한 과정이 </a:t>
            </a:r>
            <a:r>
              <a:rPr kumimoji="1" lang="en-US" altLang="ko-KR" dirty="0"/>
              <a:t>L </a:t>
            </a:r>
            <a:r>
              <a:rPr kumimoji="1" lang="ko-KR" altLang="en-US" dirty="0"/>
              <a:t>생략으로 인해 변경됨</a:t>
            </a:r>
            <a:r>
              <a:rPr kumimoji="1" lang="en-US" altLang="ko-KR" dirty="0"/>
              <a:t> -&gt; </a:t>
            </a:r>
            <a:r>
              <a:rPr kumimoji="1" lang="ko-KR" altLang="en-US" dirty="0"/>
              <a:t>마지막 </a:t>
            </a:r>
            <a:r>
              <a:rPr kumimoji="1" lang="en-US" altLang="ko-KR" dirty="0"/>
              <a:t>c</a:t>
            </a:r>
            <a:r>
              <a:rPr kumimoji="1" lang="ko-KR" altLang="en-US" dirty="0"/>
              <a:t> 보정 과정 추가</a:t>
            </a:r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26729-B2AC-DF4D-8092-F3CD4AAD306F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5287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2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519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21674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730914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156410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51043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437B6-A43D-EA47-9F3F-E60C6642F8D2}" type="datetimeFigureOut">
              <a:rPr kumimoji="1" lang="ko-Kore-KR" altLang="en-US" smtClean="0"/>
              <a:t>4/19/26</a:t>
            </a:fld>
            <a:endParaRPr kumimoji="1" lang="ko-Kore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1A878-7EBC-2E42-A824-62C83D9372A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489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7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575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20.png"/><Relationship Id="rId5" Type="http://schemas.openxmlformats.org/officeDocument/2006/relationships/image" Target="../media/image13.png"/><Relationship Id="rId10" Type="http://schemas.openxmlformats.org/officeDocument/2006/relationships/image" Target="../media/image19.png"/><Relationship Id="rId4" Type="http://schemas.openxmlformats.org/officeDocument/2006/relationships/image" Target="../media/image8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28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8.png"/><Relationship Id="rId3" Type="http://schemas.openxmlformats.org/officeDocument/2006/relationships/image" Target="../media/image34.png"/><Relationship Id="rId7" Type="http://schemas.openxmlformats.org/officeDocument/2006/relationships/image" Target="../media/image61.png"/><Relationship Id="rId12" Type="http://schemas.openxmlformats.org/officeDocument/2006/relationships/image" Target="../media/image5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11" Type="http://schemas.openxmlformats.org/officeDocument/2006/relationships/image" Target="../media/image52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57.png"/><Relationship Id="rId21" Type="http://schemas.openxmlformats.org/officeDocument/2006/relationships/image" Target="../media/image88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23" Type="http://schemas.openxmlformats.org/officeDocument/2006/relationships/image" Target="../media/image90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Relationship Id="rId22" Type="http://schemas.openxmlformats.org/officeDocument/2006/relationships/image" Target="../media/image8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image" Target="../media/image65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6.png"/><Relationship Id="rId4" Type="http://schemas.openxmlformats.org/officeDocument/2006/relationships/image" Target="../media/image10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5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7.png"/><Relationship Id="rId5" Type="http://schemas.openxmlformats.org/officeDocument/2006/relationships/image" Target="../media/image111.png"/><Relationship Id="rId10" Type="http://schemas.microsoft.com/office/2007/relationships/hdphoto" Target="../media/hdphoto1.wdp"/><Relationship Id="rId4" Type="http://schemas.openxmlformats.org/officeDocument/2006/relationships/image" Target="../media/image106.png"/><Relationship Id="rId9" Type="http://schemas.openxmlformats.org/officeDocument/2006/relationships/image" Target="../media/image10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9.png"/><Relationship Id="rId4" Type="http://schemas.openxmlformats.org/officeDocument/2006/relationships/image" Target="../media/image1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126.png"/><Relationship Id="rId10" Type="http://schemas.openxmlformats.org/officeDocument/2006/relationships/image" Target="../media/image131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F9506-9EB3-1147-8806-F4FEE97D82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5400" dirty="0">
                <a:latin typeface="Gmarket Sans Medium" panose="02000000000000000000" pitchFamily="2" charset="-128"/>
                <a:ea typeface="Gmarket Sans Medium" panose="02000000000000000000" pitchFamily="2" charset="-128"/>
                <a:cs typeface="Pretendard Medium" panose="02000603000000020004" pitchFamily="50" charset="-127"/>
              </a:rPr>
              <a:t>Code </a:t>
            </a:r>
            <a:r>
              <a:rPr kumimoji="1" lang="ko-KR" altLang="en-US" sz="5400" dirty="0">
                <a:latin typeface="Gmarket Sans Medium" panose="02000000000000000000" pitchFamily="2" charset="-128"/>
                <a:ea typeface="Gmarket Sans Medium" panose="02000000000000000000" pitchFamily="2" charset="-128"/>
                <a:cs typeface="Pretendard Medium" panose="02000603000000020004" pitchFamily="50" charset="-127"/>
              </a:rPr>
              <a:t>기반 </a:t>
            </a:r>
            <a:r>
              <a:rPr kumimoji="1" lang="en-US" altLang="ko-KR" sz="5400" dirty="0">
                <a:latin typeface="Gmarket Sans Medium" panose="02000000000000000000" pitchFamily="2" charset="-128"/>
                <a:ea typeface="Gmarket Sans Medium" panose="02000000000000000000" pitchFamily="2" charset="-128"/>
                <a:cs typeface="Pretendard Medium" panose="02000603000000020004" pitchFamily="50" charset="-127"/>
              </a:rPr>
              <a:t>PQC (HQC)</a:t>
            </a:r>
            <a:r>
              <a:rPr kumimoji="1" lang="ko-KR" altLang="en-US" sz="5400" dirty="0">
                <a:latin typeface="Gmarket Sans Medium" panose="02000000000000000000" pitchFamily="2" charset="-128"/>
                <a:ea typeface="Gmarket Sans Medium" panose="02000000000000000000" pitchFamily="2" charset="-128"/>
                <a:cs typeface="Pretendard Medium" panose="02000603000000020004" pitchFamily="50" charset="-127"/>
              </a:rPr>
              <a:t>에 대한 </a:t>
            </a:r>
            <a:br>
              <a:rPr kumimoji="1" lang="en-US" altLang="ko-KR" sz="5400" dirty="0">
                <a:latin typeface="Gmarket Sans Medium" panose="02000000000000000000" pitchFamily="2" charset="-128"/>
                <a:ea typeface="Gmarket Sans Medium" panose="02000000000000000000" pitchFamily="2" charset="-128"/>
                <a:cs typeface="Pretendard Medium" panose="02000603000000020004" pitchFamily="50" charset="-127"/>
              </a:rPr>
            </a:br>
            <a:r>
              <a:rPr kumimoji="1" lang="ko-KR" altLang="en-US" sz="5400" dirty="0">
                <a:latin typeface="Gmarket Sans Medium" panose="02000000000000000000" pitchFamily="2" charset="-128"/>
                <a:ea typeface="Gmarket Sans Medium" panose="02000000000000000000" pitchFamily="2" charset="-128"/>
                <a:cs typeface="Pretendard Medium" panose="02000603000000020004" pitchFamily="50" charset="-127"/>
              </a:rPr>
              <a:t>양자 분석 알고리즘 연구</a:t>
            </a:r>
            <a:endParaRPr kumimoji="1" lang="ko-Kore-KR" altLang="en-US" sz="5400" dirty="0">
              <a:latin typeface="Gmarket Sans Medium" panose="02000000000000000000" pitchFamily="2" charset="-128"/>
              <a:ea typeface="Gmarket Sans Medium" panose="02000000000000000000" pitchFamily="2" charset="-128"/>
              <a:cs typeface="Pretendard Medium" panose="0200060300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976B76-57E6-744E-80BD-56E31CBB47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김현지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ko-KR" altLang="en-US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서화정</a:t>
            </a:r>
            <a:endParaRPr kumimoji="1" lang="ko-Kore-KR" altLang="en-US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042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94B49-F6AF-D423-30EB-542A7A28F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C43FD-8BBD-3763-AF79-ED7117C5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코드기반암호</a:t>
            </a:r>
            <a:endParaRPr kumimoji="1" lang="ko-Kore-KR" altLang="en-US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8F3820-3D9B-44E0-9CE5-0CDB0256F4FA}"/>
              </a:ext>
            </a:extLst>
          </p:cNvPr>
          <p:cNvSpPr txBox="1"/>
          <p:nvPr/>
        </p:nvSpPr>
        <p:spPr>
          <a:xfrm>
            <a:off x="113044" y="6560641"/>
            <a:ext cx="107041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R" sz="1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[*] https://</a:t>
            </a:r>
            <a:r>
              <a:rPr lang="en" altLang="ko-KR" sz="1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www.ietf.org</a:t>
            </a:r>
            <a:r>
              <a:rPr lang="en" altLang="ko-KR" sz="1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/archive/id/draft-prabel-pquip-pqc-overview-00.html</a:t>
            </a:r>
            <a:endParaRPr lang="ko-KR" altLang="en-US" sz="1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8A083882-7854-F9A9-52D1-4A84E2EED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8161" cy="5057775"/>
          </a:xfrm>
        </p:spPr>
        <p:txBody>
          <a:bodyPr>
            <a:noAutofit/>
          </a:bodyPr>
          <a:lstStyle/>
          <a:p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코드기반암호는 </a:t>
            </a:r>
            <a:r>
              <a:rPr lang="en-US" altLang="ko-KR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PQC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의 주요 계열 중 하나</a:t>
            </a:r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본 연구에서는 현재 NIST 표준인 </a:t>
            </a:r>
            <a:r>
              <a:rPr lang="ko-KR" altLang="en-US" sz="24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HQC를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대상으로 양자 공격 비용을 분석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E87EA7F-C94E-CE4B-BA3D-28EE4A862C74}"/>
              </a:ext>
            </a:extLst>
          </p:cNvPr>
          <p:cNvGrpSpPr/>
          <p:nvPr/>
        </p:nvGrpSpPr>
        <p:grpSpPr>
          <a:xfrm>
            <a:off x="3175632" y="2143338"/>
            <a:ext cx="5317148" cy="882889"/>
            <a:chOff x="3573935" y="2546110"/>
            <a:chExt cx="5317148" cy="88288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4BFE1E-59A5-581D-3662-BC3EC3A7E209}"/>
                </a:ext>
              </a:extLst>
            </p:cNvPr>
            <p:cNvSpPr txBox="1"/>
            <p:nvPr/>
          </p:nvSpPr>
          <p:spPr>
            <a:xfrm>
              <a:off x="3573935" y="2546110"/>
              <a:ext cx="531714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5">
                      <a:lumMod val="75000"/>
                    </a:schemeClr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rPr>
                <a:t>NIST </a:t>
              </a:r>
              <a:r>
                <a:rPr lang="ko-KR" altLang="en-US" sz="2400" b="1" dirty="0">
                  <a:solidFill>
                    <a:schemeClr val="accent5">
                      <a:lumMod val="75000"/>
                    </a:schemeClr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rPr>
                <a:t>전자서명 추가 라운드 </a:t>
              </a:r>
              <a:r>
                <a: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(</a:t>
              </a:r>
              <a:r>
                <a:rPr lang="ko-KR" altLang="en-US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진행 중</a:t>
              </a:r>
              <a:r>
                <a: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)</a:t>
              </a:r>
              <a:r>
                <a:rPr lang="ko-KR" altLang="en-US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 </a:t>
              </a:r>
              <a:endPara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52453E-896E-B5A7-108A-2E47932BFA7A}"/>
                </a:ext>
              </a:extLst>
            </p:cNvPr>
            <p:cNvSpPr txBox="1"/>
            <p:nvPr/>
          </p:nvSpPr>
          <p:spPr>
            <a:xfrm>
              <a:off x="4501849" y="3028889"/>
              <a:ext cx="318678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>
                      <a:lumMod val="50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CROSS, LESS</a:t>
              </a:r>
              <a:endParaRPr lang="ko-KR" altLang="en-US" dirty="0">
                <a:solidFill>
                  <a:schemeClr val="bg1">
                    <a:lumMod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2FA772F-8903-508E-2A81-37463FD20EAD}"/>
              </a:ext>
            </a:extLst>
          </p:cNvPr>
          <p:cNvGrpSpPr/>
          <p:nvPr/>
        </p:nvGrpSpPr>
        <p:grpSpPr>
          <a:xfrm>
            <a:off x="589600" y="2143337"/>
            <a:ext cx="2407595" cy="882890"/>
            <a:chOff x="855741" y="2546109"/>
            <a:chExt cx="2407595" cy="8828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7532EDF-2BB2-541A-666E-367E71503EE7}"/>
                </a:ext>
              </a:extLst>
            </p:cNvPr>
            <p:cNvSpPr txBox="1"/>
            <p:nvPr/>
          </p:nvSpPr>
          <p:spPr>
            <a:xfrm>
              <a:off x="855741" y="2546109"/>
              <a:ext cx="240759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5">
                      <a:lumMod val="75000"/>
                    </a:schemeClr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rPr>
                <a:t>NIST </a:t>
              </a:r>
              <a:r>
                <a:rPr lang="ko-KR" altLang="en-US" sz="2400" b="1" dirty="0">
                  <a:solidFill>
                    <a:schemeClr val="accent5">
                      <a:lumMod val="75000"/>
                    </a:schemeClr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rPr>
                <a:t>표준 </a:t>
              </a:r>
              <a:endParaRPr lang="ko-KR" altLang="en-US" sz="2000" b="1" dirty="0">
                <a:solidFill>
                  <a:schemeClr val="accent5">
                    <a:lumMod val="75000"/>
                  </a:schemeClr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5C66AD-0825-25EA-DEF5-66460E769362}"/>
                </a:ext>
              </a:extLst>
            </p:cNvPr>
            <p:cNvSpPr txBox="1"/>
            <p:nvPr/>
          </p:nvSpPr>
          <p:spPr>
            <a:xfrm>
              <a:off x="985211" y="3028889"/>
              <a:ext cx="215659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>
                      <a:lumMod val="50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HQC</a:t>
              </a:r>
              <a:endParaRPr lang="ko-KR" altLang="en-US" dirty="0">
                <a:solidFill>
                  <a:schemeClr val="bg1">
                    <a:lumMod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246AEE1-BA6B-C67B-DA96-43FF2E30F6EA}"/>
              </a:ext>
            </a:extLst>
          </p:cNvPr>
          <p:cNvGrpSpPr/>
          <p:nvPr/>
        </p:nvGrpSpPr>
        <p:grpSpPr>
          <a:xfrm>
            <a:off x="7728624" y="2143339"/>
            <a:ext cx="4774659" cy="882889"/>
            <a:chOff x="7436797" y="2546111"/>
            <a:chExt cx="4774659" cy="88288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A0A49E-A9F0-3E3B-6343-254DF9CF402F}"/>
                </a:ext>
              </a:extLst>
            </p:cNvPr>
            <p:cNvSpPr txBox="1"/>
            <p:nvPr/>
          </p:nvSpPr>
          <p:spPr>
            <a:xfrm>
              <a:off x="7903884" y="2546111"/>
              <a:ext cx="394532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5">
                      <a:lumMod val="75000"/>
                    </a:schemeClr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rPr>
                <a:t>ISO </a:t>
              </a:r>
              <a:r>
                <a:rPr lang="ko-KR" altLang="en-US" sz="2400" b="1" dirty="0">
                  <a:solidFill>
                    <a:schemeClr val="accent5">
                      <a:lumMod val="75000"/>
                    </a:schemeClr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rPr>
                <a:t>표준</a:t>
              </a:r>
              <a:r>
                <a:rPr lang="ko-KR" altLang="en-US" sz="2400" b="1" dirty="0">
                  <a:latin typeface="Gmarket Sans Bold" panose="02000000000000000000" pitchFamily="2" charset="-128"/>
                  <a:ea typeface="Gmarket Sans Bold" panose="02000000000000000000" pitchFamily="2" charset="-128"/>
                </a:rPr>
                <a:t> </a:t>
              </a:r>
              <a:r>
                <a: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(</a:t>
              </a:r>
              <a:r>
                <a:rPr lang="ko-KR" altLang="en-US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검토 중</a:t>
              </a:r>
              <a:r>
                <a:rPr lang="en-US" altLang="ko-KR" sz="2400" baseline="300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*</a:t>
              </a:r>
              <a:r>
                <a: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)</a:t>
              </a:r>
              <a:endParaRPr lang="ko-KR" altLang="en-US" sz="2000" baseline="30000" dirty="0"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7B1AE70-4F0E-C81B-1831-25BF800CA73A}"/>
                </a:ext>
              </a:extLst>
            </p:cNvPr>
            <p:cNvSpPr txBox="1"/>
            <p:nvPr/>
          </p:nvSpPr>
          <p:spPr>
            <a:xfrm>
              <a:off x="7436797" y="3028890"/>
              <a:ext cx="477465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>
                      <a:lumMod val="50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Classic </a:t>
              </a:r>
              <a:r>
                <a:rPr lang="en-US" altLang="ko-KR" sz="2000" dirty="0" err="1">
                  <a:solidFill>
                    <a:schemeClr val="bg1">
                      <a:lumMod val="50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McEliece</a:t>
              </a:r>
              <a:endParaRPr lang="ko-KR" altLang="en-US" dirty="0">
                <a:solidFill>
                  <a:schemeClr val="bg1">
                    <a:lumMod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67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3DC590-F038-341C-3EC1-4E74EB58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HQC (Hamming Quasi-Cyclic)</a:t>
            </a:r>
            <a:endParaRPr lang="ko-KR" altLang="en-US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B340D1A7-4724-D0A6-DAA5-620E0C98A3C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8161" cy="5057775"/>
              </a:xfrm>
            </p:spPr>
            <p:txBody>
              <a:bodyPr>
                <a:noAutofit/>
              </a:bodyPr>
              <a:lstStyle/>
              <a:p>
                <a:r>
                  <a:rPr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안전성 가정</a:t>
                </a:r>
                <a:r>
                  <a:rPr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:</a:t>
                </a:r>
                <a:r>
                  <a:rPr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:r>
                  <a:rPr lang="en-US" altLang="ko-KR" sz="2400" b="1" dirty="0">
                    <a:solidFill>
                      <a:srgbClr val="2D3436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  <a:cs typeface="Calibri" pitchFamily="34" charset="-120"/>
                  </a:rPr>
                  <a:t>Syndrome Decoding Problem (SDP)</a:t>
                </a:r>
                <a:endParaRPr lang="en-US" altLang="ko-KR" sz="2400" b="1" dirty="0"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ko-KR" sz="2000" i="1" dirty="0">
                        <a:solidFill>
                          <a:srgbClr val="2D34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𝐻</m:t>
                    </m:r>
                    <m:sSup>
                      <m:sSupPr>
                        <m:ctrlPr>
                          <a:rPr lang="en-US" altLang="ko-KR" sz="2000" i="1" dirty="0">
                            <a:solidFill>
                              <a:srgbClr val="2D3436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altLang="ko-KR" sz="2000" i="1" dirty="0">
                            <a:solidFill>
                              <a:srgbClr val="2D3436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𝑒</m:t>
                        </m:r>
                      </m:e>
                      <m:sup>
                        <m:r>
                          <a:rPr lang="en-US" altLang="ko-KR" sz="2000" i="1" dirty="0">
                            <a:solidFill>
                              <a:srgbClr val="2D3436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𝑇</m:t>
                        </m:r>
                      </m:sup>
                    </m:sSup>
                    <m:r>
                      <a:rPr lang="en-US" altLang="ko-KR" sz="2000" i="1" dirty="0">
                        <a:solidFill>
                          <a:srgbClr val="2D34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ko-KR" sz="2000" i="1" dirty="0">
                            <a:solidFill>
                              <a:srgbClr val="2D3436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altLang="ko-KR" sz="2000" i="1" dirty="0">
                            <a:solidFill>
                              <a:srgbClr val="2D3436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𝑠</m:t>
                        </m:r>
                      </m:e>
                      <m:sup>
                        <m:r>
                          <a:rPr lang="en-US" altLang="ko-KR" sz="2000" i="1" dirty="0">
                            <a:solidFill>
                              <a:srgbClr val="2D3436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ko-KR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 에서</a:t>
                </a:r>
                <a:r>
                  <a:rPr lang="ko-KR" altLang="en-US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 패리티 체크 행렬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solidFill>
                          <a:srgbClr val="2D34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𝐻</m:t>
                    </m:r>
                  </m:oMath>
                </a14:m>
                <a:r>
                  <a:rPr lang="ko-KR" altLang="en-US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와 신드롬</a:t>
                </a:r>
                <a:r>
                  <a:rPr lang="en-US" altLang="ko-KR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solidFill>
                          <a:srgbClr val="2D34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</m:t>
                    </m:r>
                  </m:oMath>
                </a14:m>
                <a:r>
                  <a:rPr lang="en-US" altLang="ko-KR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 가 </a:t>
                </a:r>
                <a:r>
                  <a:rPr lang="en-US" altLang="ko-KR" sz="2000" dirty="0" err="1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주어졌을</a:t>
                </a:r>
                <a:r>
                  <a:rPr lang="en-US" altLang="ko-KR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 </a:t>
                </a:r>
                <a:r>
                  <a:rPr lang="en-US" altLang="ko-KR" sz="2000" dirty="0" err="1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때</a:t>
                </a:r>
                <a:r>
                  <a:rPr lang="en-US" altLang="ko-KR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,</a:t>
                </a:r>
                <a:r>
                  <a:rPr lang="ko-KR" altLang="en-US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 </a:t>
                </a:r>
                <a:r>
                  <a:rPr lang="en-US" altLang="ko-KR" sz="2000" dirty="0" err="1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낮은</a:t>
                </a:r>
                <a:r>
                  <a:rPr lang="en-US" altLang="ko-KR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 해밍 </a:t>
                </a:r>
                <a:r>
                  <a:rPr lang="en-US" altLang="ko-KR" sz="2000" dirty="0" err="1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무게를</a:t>
                </a:r>
                <a:r>
                  <a:rPr lang="en-US" altLang="ko-KR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 </a:t>
                </a:r>
                <a:r>
                  <a:rPr lang="en-US" altLang="ko-KR" sz="2000" dirty="0" err="1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만족하</a:t>
                </a:r>
                <a:r>
                  <a:rPr lang="ko-KR" altLang="en-US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는</a:t>
                </a:r>
                <a:endParaRPr lang="en-US" altLang="ko-KR" sz="2000" dirty="0">
                  <a:solidFill>
                    <a:srgbClr val="2D3436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  <a:cs typeface="Calibri" pitchFamily="34" charset="-120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ko-KR" altLang="en-US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   </a:t>
                </a:r>
                <a:r>
                  <a:rPr lang="en-US" altLang="ko-KR" sz="2000" dirty="0" err="1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벡터</a:t>
                </a:r>
                <a:r>
                  <a:rPr lang="en-US" altLang="ko-KR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solidFill>
                          <a:srgbClr val="2D34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𝑒</m:t>
                    </m:r>
                  </m:oMath>
                </a14:m>
                <a:r>
                  <a:rPr lang="en-US" altLang="ko-KR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를 찾는 것이 </a:t>
                </a:r>
                <a:r>
                  <a:rPr lang="en-US" altLang="ko-KR" sz="2000" dirty="0" err="1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매우</a:t>
                </a:r>
                <a:r>
                  <a:rPr lang="en-US" altLang="ko-KR" sz="2000" dirty="0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 </a:t>
                </a:r>
                <a:r>
                  <a:rPr lang="en-US" altLang="ko-KR" sz="2000" dirty="0" err="1">
                    <a:solidFill>
                      <a:srgbClr val="2D3436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어려움</a:t>
                </a:r>
                <a:endParaRPr lang="en-US" altLang="ko-KR" sz="2000" dirty="0">
                  <a:solidFill>
                    <a:srgbClr val="2D3436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  <a:cs typeface="Calibri" pitchFamily="34" charset="-12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HQC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는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Quasi-Cyclic SDP 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기반이며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일반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SDP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와 문제 난이도가 </a:t>
                </a:r>
                <a:r>
                  <a:rPr lang="ko-KR" altLang="en-US" sz="20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비슷</a:t>
                </a:r>
                <a:endParaRPr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lang="en-US" altLang="ko-KR" sz="4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marL="0" indent="0">
                  <a:buNone/>
                </a:pPr>
                <a:endParaRPr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Classical best solution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𝑛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=3846</m:t>
                    </m:r>
                  </m:oMath>
                </a14:m>
                <a:r>
                  <a:rPr lang="ko-KR" altLang="en-US" sz="20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대한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SDP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해결이 현재 최고 기록</a:t>
                </a:r>
                <a:endParaRPr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HQC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의 실제 파라미터와는 큰 차이</a:t>
                </a: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B340D1A7-4724-D0A6-DAA5-620E0C98A3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8161" cy="5057775"/>
              </a:xfrm>
              <a:blipFill>
                <a:blip r:embed="rId2"/>
                <a:stretch>
                  <a:fillRect l="-781" t="-1750" b="-3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1299FA1-7C13-82AA-B24B-6749D3C206CF}"/>
              </a:ext>
            </a:extLst>
          </p:cNvPr>
          <p:cNvSpPr txBox="1"/>
          <p:nvPr/>
        </p:nvSpPr>
        <p:spPr>
          <a:xfrm>
            <a:off x="1137037" y="1807189"/>
            <a:ext cx="10575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>
                <a:solidFill>
                  <a:schemeClr val="bg1">
                    <a:lumMod val="6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  <a:cs typeface="Calibri" pitchFamily="34" charset="-120"/>
              </a:rPr>
              <a:t>신드롬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chemeClr val="bg1">
                    <a:lumMod val="6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  <a:cs typeface="Calibri" pitchFamily="34" charset="-120"/>
              </a:rPr>
              <a:t>계산식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8F437A6-0D31-3139-79D4-02C696675E58}"/>
              </a:ext>
            </a:extLst>
          </p:cNvPr>
          <p:cNvGrpSpPr/>
          <p:nvPr/>
        </p:nvGrpSpPr>
        <p:grpSpPr>
          <a:xfrm>
            <a:off x="6361104" y="3180520"/>
            <a:ext cx="5474627" cy="3052557"/>
            <a:chOff x="2699316" y="789608"/>
            <a:chExt cx="6467391" cy="3800065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3DB486C-1B8F-4A71-87D8-29DA3E1CD642}"/>
                </a:ext>
              </a:extLst>
            </p:cNvPr>
            <p:cNvGrpSpPr/>
            <p:nvPr/>
          </p:nvGrpSpPr>
          <p:grpSpPr>
            <a:xfrm>
              <a:off x="3328615" y="789608"/>
              <a:ext cx="5786178" cy="1988949"/>
              <a:chOff x="2366507" y="925787"/>
              <a:chExt cx="5786178" cy="1988949"/>
            </a:xfrm>
          </p:grpSpPr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8FC7B29C-A204-C8E1-9E3B-B810620519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85" r="1807"/>
              <a:stretch>
                <a:fillRect/>
              </a:stretch>
            </p:blipFill>
            <p:spPr>
              <a:xfrm>
                <a:off x="2389208" y="925787"/>
                <a:ext cx="5763477" cy="1988949"/>
              </a:xfrm>
              <a:prstGeom prst="rect">
                <a:avLst/>
              </a:prstGeom>
            </p:spPr>
          </p:pic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BAA6E70A-766A-09D9-9FD1-63B730972B37}"/>
                  </a:ext>
                </a:extLst>
              </p:cNvPr>
              <p:cNvSpPr/>
              <p:nvPr/>
            </p:nvSpPr>
            <p:spPr>
              <a:xfrm>
                <a:off x="2366507" y="1296063"/>
                <a:ext cx="631135" cy="159026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9B965FA8-860F-8FC6-2479-01873CE24CBB}"/>
                </a:ext>
              </a:extLst>
            </p:cNvPr>
            <p:cNvGrpSpPr/>
            <p:nvPr/>
          </p:nvGrpSpPr>
          <p:grpSpPr>
            <a:xfrm>
              <a:off x="2699316" y="2750144"/>
              <a:ext cx="6467391" cy="1839529"/>
              <a:chOff x="2699316" y="2750144"/>
              <a:chExt cx="6467391" cy="1839529"/>
            </a:xfrm>
          </p:grpSpPr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91243168-3FBA-5C80-6AF8-77743D91FF36}"/>
                  </a:ext>
                </a:extLst>
              </p:cNvPr>
              <p:cNvGrpSpPr/>
              <p:nvPr/>
            </p:nvGrpSpPr>
            <p:grpSpPr>
              <a:xfrm>
                <a:off x="2699316" y="2998764"/>
                <a:ext cx="6467391" cy="1590909"/>
                <a:chOff x="2699316" y="2998764"/>
                <a:chExt cx="6467391" cy="1590909"/>
              </a:xfrm>
            </p:grpSpPr>
            <p:pic>
              <p:nvPicPr>
                <p:cNvPr id="27" name="그림 26">
                  <a:extLst>
                    <a:ext uri="{FF2B5EF4-FFF2-40B4-BE49-F238E27FC236}">
                      <a16:creationId xmlns:a16="http://schemas.microsoft.com/office/drawing/2014/main" id="{AAFAFF70-D322-CF34-AA41-1A7EE3CE75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99316" y="2998764"/>
                  <a:ext cx="6467391" cy="1590909"/>
                </a:xfrm>
                <a:prstGeom prst="rect">
                  <a:avLst/>
                </a:prstGeom>
              </p:spPr>
            </p:pic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50715FAB-4AD5-7EE3-CB1C-1A1E7E42386D}"/>
                    </a:ext>
                  </a:extLst>
                </p:cNvPr>
                <p:cNvSpPr/>
                <p:nvPr/>
              </p:nvSpPr>
              <p:spPr>
                <a:xfrm>
                  <a:off x="5546544" y="3035128"/>
                  <a:ext cx="772932" cy="1194967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</p:grpSp>
          <p:cxnSp>
            <p:nvCxnSpPr>
              <p:cNvPr id="26" name="꺾인 연결선[E] 25">
                <a:extLst>
                  <a:ext uri="{FF2B5EF4-FFF2-40B4-BE49-F238E27FC236}">
                    <a16:creationId xmlns:a16="http://schemas.microsoft.com/office/drawing/2014/main" id="{A39CA3CB-643D-9275-E5A4-9ED9089943A1}"/>
                  </a:ext>
                </a:extLst>
              </p:cNvPr>
              <p:cNvCxnSpPr>
                <a:stCxn id="30" idx="2"/>
                <a:endCxn id="27" idx="0"/>
              </p:cNvCxnSpPr>
              <p:nvPr/>
            </p:nvCxnSpPr>
            <p:spPr>
              <a:xfrm rot="16200000" flipH="1">
                <a:off x="4664287" y="1730039"/>
                <a:ext cx="248620" cy="2288829"/>
              </a:xfrm>
              <a:prstGeom prst="bentConnector3">
                <a:avLst/>
              </a:prstGeom>
              <a:ln w="1905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47E614F-1EB0-9AB5-4D3C-6F63934C8FA8}"/>
              </a:ext>
            </a:extLst>
          </p:cNvPr>
          <p:cNvGrpSpPr/>
          <p:nvPr/>
        </p:nvGrpSpPr>
        <p:grpSpPr>
          <a:xfrm>
            <a:off x="1181420" y="3009266"/>
            <a:ext cx="3086917" cy="1941404"/>
            <a:chOff x="1230572" y="2979214"/>
            <a:chExt cx="3086917" cy="1941404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49C912D4-DAE9-CB10-F6C2-1E9C1FAD134A}"/>
                </a:ext>
              </a:extLst>
            </p:cNvPr>
            <p:cNvGrpSpPr/>
            <p:nvPr/>
          </p:nvGrpSpPr>
          <p:grpSpPr>
            <a:xfrm>
              <a:off x="1230572" y="2979214"/>
              <a:ext cx="2976063" cy="1747091"/>
              <a:chOff x="1230572" y="2979214"/>
              <a:chExt cx="2976063" cy="1747091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F17E7F3C-994A-4598-5C96-AA7412B4686F}"/>
                  </a:ext>
                </a:extLst>
              </p:cNvPr>
              <p:cNvGrpSpPr/>
              <p:nvPr/>
            </p:nvGrpSpPr>
            <p:grpSpPr>
              <a:xfrm>
                <a:off x="1230572" y="2979214"/>
                <a:ext cx="2595837" cy="1417858"/>
                <a:chOff x="1230572" y="2979214"/>
                <a:chExt cx="2595837" cy="1417858"/>
              </a:xfrm>
            </p:grpSpPr>
            <p:grpSp>
              <p:nvGrpSpPr>
                <p:cNvPr id="37" name="그룹 36">
                  <a:extLst>
                    <a:ext uri="{FF2B5EF4-FFF2-40B4-BE49-F238E27FC236}">
                      <a16:creationId xmlns:a16="http://schemas.microsoft.com/office/drawing/2014/main" id="{BB97B97E-DE01-1FF4-A991-67CBB733F4F1}"/>
                    </a:ext>
                  </a:extLst>
                </p:cNvPr>
                <p:cNvGrpSpPr/>
                <p:nvPr/>
              </p:nvGrpSpPr>
              <p:grpSpPr>
                <a:xfrm>
                  <a:off x="1230572" y="2979214"/>
                  <a:ext cx="1959619" cy="1417858"/>
                  <a:chOff x="1230572" y="2979214"/>
                  <a:chExt cx="1959619" cy="1417858"/>
                </a:xfrm>
              </p:grpSpPr>
              <p:grpSp>
                <p:nvGrpSpPr>
                  <p:cNvPr id="35" name="그룹 34">
                    <a:extLst>
                      <a:ext uri="{FF2B5EF4-FFF2-40B4-BE49-F238E27FC236}">
                        <a16:creationId xmlns:a16="http://schemas.microsoft.com/office/drawing/2014/main" id="{8C05D106-5B9F-9544-A648-5A30C7B607C6}"/>
                      </a:ext>
                    </a:extLst>
                  </p:cNvPr>
                  <p:cNvGrpSpPr/>
                  <p:nvPr/>
                </p:nvGrpSpPr>
                <p:grpSpPr>
                  <a:xfrm>
                    <a:off x="1230572" y="2979214"/>
                    <a:ext cx="1959619" cy="1417858"/>
                    <a:chOff x="1230572" y="2979214"/>
                    <a:chExt cx="1959619" cy="1417858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3" name="모서리가 둥근 직사각형 32">
                          <a:extLst>
                            <a:ext uri="{FF2B5EF4-FFF2-40B4-BE49-F238E27FC236}">
                              <a16:creationId xmlns:a16="http://schemas.microsoft.com/office/drawing/2014/main" id="{A8922779-1E01-58BF-F05E-CB30D025D7A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30572" y="3202598"/>
                          <a:ext cx="1311966" cy="976023"/>
                        </a:xfrm>
                        <a:prstGeom prst="roundRect">
                          <a:avLst>
                            <a:gd name="adj" fmla="val 4363"/>
                          </a:avLst>
                        </a:prstGeom>
                        <a:solidFill>
                          <a:srgbClr val="D6DCE5">
                            <a:alpha val="50196"/>
                          </a:srgbClr>
                        </a:solidFill>
                        <a:ln w="19050">
                          <a:solidFill>
                            <a:schemeClr val="tx2">
                              <a:lumMod val="7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ko-KR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/>
                        </a:p>
                      </p:txBody>
                    </p:sp>
                  </mc:Choice>
                  <mc:Fallback xmlns="">
                    <p:sp>
                      <p:nvSpPr>
                        <p:cNvPr id="33" name="모서리가 둥근 직사각형 32">
                          <a:extLst>
                            <a:ext uri="{FF2B5EF4-FFF2-40B4-BE49-F238E27FC236}">
                              <a16:creationId xmlns:a16="http://schemas.microsoft.com/office/drawing/2014/main" id="{A8922779-1E01-58BF-F05E-CB30D025D7A0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230572" y="3202598"/>
                          <a:ext cx="1311966" cy="976023"/>
                        </a:xfrm>
                        <a:prstGeom prst="roundRect">
                          <a:avLst>
                            <a:gd name="adj" fmla="val 4363"/>
                          </a:avLst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  <a:ln w="19050">
                          <a:solidFill>
                            <a:schemeClr val="tx2">
                              <a:lumMod val="75000"/>
                            </a:schemeClr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ko-KR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4" name="모서리가 둥근 직사각형 33">
                          <a:extLst>
                            <a:ext uri="{FF2B5EF4-FFF2-40B4-BE49-F238E27FC236}">
                              <a16:creationId xmlns:a16="http://schemas.microsoft.com/office/drawing/2014/main" id="{949B9076-8B40-35BA-8593-72F74515FE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15137" y="2979214"/>
                          <a:ext cx="375054" cy="1417858"/>
                        </a:xfrm>
                        <a:prstGeom prst="roundRect">
                          <a:avLst>
                            <a:gd name="adj" fmla="val 14796"/>
                          </a:avLst>
                        </a:prstGeom>
                        <a:solidFill>
                          <a:schemeClr val="accent6">
                            <a:lumMod val="20000"/>
                            <a:lumOff val="80000"/>
                            <a:alpha val="50196"/>
                          </a:schemeClr>
                        </a:solidFill>
                        <a:ln w="19050">
                          <a:solidFill>
                            <a:schemeClr val="accent6">
                              <a:lumMod val="7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kumimoji="1"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/>
                        </a:p>
                      </p:txBody>
                    </p:sp>
                  </mc:Choice>
                  <mc:Fallback xmlns="">
                    <p:sp>
                      <p:nvSpPr>
                        <p:cNvPr id="34" name="모서리가 둥근 직사각형 33">
                          <a:extLst>
                            <a:ext uri="{FF2B5EF4-FFF2-40B4-BE49-F238E27FC236}">
                              <a16:creationId xmlns:a16="http://schemas.microsoft.com/office/drawing/2014/main" id="{949B9076-8B40-35BA-8593-72F74515FEC3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815137" y="2979214"/>
                          <a:ext cx="375054" cy="1417858"/>
                        </a:xfrm>
                        <a:prstGeom prst="roundRect">
                          <a:avLst>
                            <a:gd name="adj" fmla="val 14796"/>
                          </a:avLst>
                        </a:prstGeom>
                        <a:blipFill>
                          <a:blip r:embed="rId6"/>
                          <a:stretch>
                            <a:fillRect l="-9375" r="-12500"/>
                          </a:stretch>
                        </a:blipFill>
                        <a:ln w="19050">
                          <a:solidFill>
                            <a:schemeClr val="accent6">
                              <a:lumMod val="75000"/>
                            </a:schemeClr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ko-KR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90681CFF-2D98-B179-7633-F100D429E13E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538" y="3493861"/>
                    <a:ext cx="35475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en-US" altLang="ko-KR" dirty="0"/>
                      <a:t>x</a:t>
                    </a:r>
                    <a:endParaRPr kumimoji="1" lang="ko-KR" altLang="en-US" dirty="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모서리가 둥근 직사각형 37">
                      <a:extLst>
                        <a:ext uri="{FF2B5EF4-FFF2-40B4-BE49-F238E27FC236}">
                          <a16:creationId xmlns:a16="http://schemas.microsoft.com/office/drawing/2014/main" id="{86FBC257-D18F-350D-E216-B82CCA3839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83088" y="3202598"/>
                      <a:ext cx="343321" cy="976023"/>
                    </a:xfrm>
                    <a:prstGeom prst="roundRect">
                      <a:avLst>
                        <a:gd name="adj" fmla="val 14796"/>
                      </a:avLst>
                    </a:prstGeom>
                    <a:solidFill>
                      <a:schemeClr val="accent1">
                        <a:lumMod val="20000"/>
                        <a:lumOff val="80000"/>
                        <a:alpha val="50196"/>
                      </a:schemeClr>
                    </a:solidFill>
                    <a:ln w="19050"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ko-K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1" lang="en-US" altLang="ko-K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/>
                    </a:p>
                  </p:txBody>
                </p:sp>
              </mc:Choice>
              <mc:Fallback xmlns="">
                <p:sp>
                  <p:nvSpPr>
                    <p:cNvPr id="38" name="모서리가 둥근 직사각형 37">
                      <a:extLst>
                        <a:ext uri="{FF2B5EF4-FFF2-40B4-BE49-F238E27FC236}">
                          <a16:creationId xmlns:a16="http://schemas.microsoft.com/office/drawing/2014/main" id="{86FBC257-D18F-350D-E216-B82CCA3839E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83088" y="3202598"/>
                      <a:ext cx="343321" cy="976023"/>
                    </a:xfrm>
                    <a:prstGeom prst="roundRect">
                      <a:avLst>
                        <a:gd name="adj" fmla="val 14796"/>
                      </a:avLst>
                    </a:prstGeom>
                    <a:blipFill>
                      <a:blip r:embed="rId7"/>
                      <a:stretch>
                        <a:fillRect l="-10000" r="-16667"/>
                      </a:stretch>
                    </a:blipFill>
                    <a:ln w="19050">
                      <a:solidFill>
                        <a:srgbClr val="0070C0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7645BBF-E201-62EF-2F3F-C97BC873E936}"/>
                    </a:ext>
                  </a:extLst>
                </p:cNvPr>
                <p:cNvSpPr txBox="1"/>
                <p:nvPr/>
              </p:nvSpPr>
              <p:spPr>
                <a:xfrm>
                  <a:off x="3190191" y="3505943"/>
                  <a:ext cx="3547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ko-KR" dirty="0"/>
                    <a:t>=</a:t>
                  </a:r>
                  <a:endParaRPr kumimoji="1" lang="ko-KR" altLang="en-US" dirty="0"/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BE7F190-4AF2-604C-2B09-DF4FF9A146D4}"/>
                  </a:ext>
                </a:extLst>
              </p:cNvPr>
              <p:cNvSpPr txBox="1"/>
              <p:nvPr/>
            </p:nvSpPr>
            <p:spPr>
              <a:xfrm>
                <a:off x="1357793" y="4230431"/>
                <a:ext cx="105752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5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패리티 체크</a:t>
                </a:r>
                <a:endParaRPr lang="ko-KR" altLang="en-US" sz="105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4A5F2FC-AB9F-7FB5-A9FE-9F2F2FB8E41D}"/>
                  </a:ext>
                </a:extLst>
              </p:cNvPr>
              <p:cNvSpPr txBox="1"/>
              <p:nvPr/>
            </p:nvSpPr>
            <p:spPr>
              <a:xfrm>
                <a:off x="2473902" y="4464695"/>
                <a:ext cx="105752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5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비밀 값</a:t>
                </a:r>
                <a:endParaRPr lang="ko-KR" altLang="en-US" sz="1050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592014D-3975-5FC0-C0FE-292560A3759E}"/>
                  </a:ext>
                </a:extLst>
              </p:cNvPr>
              <p:cNvSpPr txBox="1"/>
              <p:nvPr/>
            </p:nvSpPr>
            <p:spPr>
              <a:xfrm>
                <a:off x="3149112" y="4230428"/>
                <a:ext cx="105752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5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신드롬</a:t>
                </a:r>
                <a:endParaRPr lang="ko-KR" altLang="en-US" sz="105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169D0C9-523F-DBFC-A195-3EE5D2D28D6D}"/>
                    </a:ext>
                  </a:extLst>
                </p:cNvPr>
                <p:cNvSpPr txBox="1"/>
                <p:nvPr/>
              </p:nvSpPr>
              <p:spPr>
                <a:xfrm>
                  <a:off x="2062893" y="4666702"/>
                  <a:ext cx="2254596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latin typeface="Gmarket Sans Medium" panose="02000000000000000000" pitchFamily="2" charset="-128"/>
                      <a:ea typeface="Gmarket Sans Medium" panose="02000000000000000000" pitchFamily="2" charset="-128"/>
                      <a:cs typeface="Calibri" pitchFamily="34" charset="-120"/>
                    </a:rPr>
                    <a:t>해밍 무게 </a:t>
                  </a:r>
                  <a:r>
                    <a:rPr lang="en-US" altLang="ko-KR" sz="1050" dirty="0">
                      <a:latin typeface="Gmarket Sans Medium" panose="02000000000000000000" pitchFamily="2" charset="-128"/>
                      <a:ea typeface="Gmarket Sans Medium" panose="02000000000000000000" pitchFamily="2" charset="-128"/>
                      <a:cs typeface="Calibri" pitchFamily="34" charset="-120"/>
                    </a:rPr>
                    <a:t>=</a:t>
                  </a:r>
                  <a:r>
                    <a:rPr lang="ko-KR" altLang="en-US" sz="1050" dirty="0">
                      <a:latin typeface="Gmarket Sans Medium" panose="02000000000000000000" pitchFamily="2" charset="-128"/>
                      <a:ea typeface="Gmarket Sans Medium" panose="02000000000000000000" pitchFamily="2" charset="-128"/>
                      <a:cs typeface="Calibri" pitchFamily="34" charset="-120"/>
                    </a:rPr>
                    <a:t> </a:t>
                  </a:r>
                  <a:r>
                    <a:rPr lang="en-US" altLang="ko-KR" sz="1050" dirty="0">
                      <a:latin typeface="Gmarket Sans Medium" panose="02000000000000000000" pitchFamily="2" charset="-128"/>
                      <a:ea typeface="Gmarket Sans Medium" panose="02000000000000000000" pitchFamily="2" charset="-128"/>
                      <a:cs typeface="Calibri" pitchFamily="34" charset="-120"/>
                    </a:rPr>
                    <a:t>?</a:t>
                  </a:r>
                  <a:r>
                    <a:rPr lang="ko-KR" altLang="en-US" sz="1050" dirty="0">
                      <a:latin typeface="Gmarket Sans Medium" panose="02000000000000000000" pitchFamily="2" charset="-128"/>
                      <a:ea typeface="Gmarket Sans Medium" panose="02000000000000000000" pitchFamily="2" charset="-128"/>
                      <a:cs typeface="Calibri" pitchFamily="34" charset="-12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ko-KR" altLang="en-US" sz="1050" i="1" smtClean="0">
                          <a:latin typeface="Cambria Math" panose="02040503050406030204" pitchFamily="18" charset="0"/>
                          <a:ea typeface="Gmarket Sans Medium" panose="02000000000000000000" pitchFamily="2" charset="-128"/>
                          <a:cs typeface="Calibri" pitchFamily="34" charset="-120"/>
                        </a:rPr>
                        <m:t>←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Gmarket Sans Medium" panose="02000000000000000000" pitchFamily="2" charset="-128"/>
                          <a:cs typeface="Calibri" pitchFamily="34" charset="-120"/>
                        </a:rPr>
                        <m:t> </m:t>
                      </m:r>
                    </m:oMath>
                  </a14:m>
                  <a:r>
                    <a:rPr lang="en-US" altLang="ko-KR" sz="1050" dirty="0">
                      <a:latin typeface="Gmarket Sans Medium" panose="02000000000000000000" pitchFamily="2" charset="-128"/>
                      <a:ea typeface="Gmarket Sans Medium" panose="02000000000000000000" pitchFamily="2" charset="-128"/>
                      <a:cs typeface="Calibri" pitchFamily="34" charset="-120"/>
                    </a:rPr>
                    <a:t>check</a:t>
                  </a:r>
                  <a:endParaRPr lang="ko-KR" altLang="en-US" sz="105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169D0C9-523F-DBFC-A195-3EE5D2D28D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2893" y="4666702"/>
                  <a:ext cx="2254596" cy="253916"/>
                </a:xfrm>
                <a:prstGeom prst="rect">
                  <a:avLst/>
                </a:prstGeom>
                <a:blipFill>
                  <a:blip r:embed="rId8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78916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B77CE-4ED4-7155-58FE-DF64E6815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7D9A5-73B0-4BCB-E8A1-86A1C9BD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ISD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(Information Set Decoding)</a:t>
            </a:r>
            <a:endParaRPr lang="ko-KR" altLang="en-US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4A7A43D-8D02-3379-BDBA-9FA240F4924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682771" cy="5057775"/>
              </a:xfrm>
            </p:spPr>
            <p:txBody>
              <a:bodyPr>
                <a:noAutofit/>
              </a:bodyPr>
              <a:lstStyle/>
              <a:p>
                <a:r>
                  <a:rPr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코드기반암호에 대한 최적의 분석 알고리즘</a:t>
                </a:r>
                <a:endParaRPr lang="en-US" altLang="ko-KR" sz="2400" b="1" dirty="0"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에러 벡터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𝑒</m:t>
                    </m:r>
                  </m:oMath>
                </a14:m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자체가 아니라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에러를 포함하지 않는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Information set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𝑛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)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을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찾기 위해 전수 조사</a:t>
                </a:r>
                <a:endParaRPr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𝐻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𝑛</m:t>
                        </m:r>
                        <m:r>
                          <a:rPr lang="en-US" altLang="ko-KR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−</m:t>
                        </m:r>
                        <m:r>
                          <a:rPr lang="en-US" altLang="ko-KR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𝑘</m:t>
                        </m:r>
                      </m:sub>
                    </m:sSub>
                    <m:r>
                      <a:rPr lang="en-US" altLang="ko-KR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 </m:t>
                    </m:r>
                  </m:oMath>
                </a14:m>
                <a:r>
                  <a:rPr lang="ko-KR" altLang="en-US" sz="2000" dirty="0">
                    <a:solidFill>
                      <a:srgbClr val="C00000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의 역행렬 </a:t>
                </a:r>
                <a:r>
                  <a:rPr lang="en-US" altLang="ko-KR" sz="2000" dirty="0">
                    <a:solidFill>
                      <a:srgbClr val="C00000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x</a:t>
                </a:r>
                <a:r>
                  <a:rPr lang="ko-KR" altLang="en-US" sz="2000" dirty="0">
                    <a:solidFill>
                      <a:srgbClr val="C00000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신드롬 </a:t>
                </a:r>
                <a:r>
                  <a:rPr lang="en-US" altLang="ko-KR" sz="2000" dirty="0">
                    <a:solidFill>
                      <a:srgbClr val="C00000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𝑠</m:t>
                    </m:r>
                  </m:oMath>
                </a14:m>
                <a:r>
                  <a:rPr lang="en-US" altLang="ko-KR" sz="2000" dirty="0">
                    <a:solidFill>
                      <a:srgbClr val="C00000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)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의 결과 벡터가 </a:t>
                </a:r>
                <a:r>
                  <a:rPr lang="ko-KR" altLang="en-US" sz="2000" dirty="0" err="1">
                    <a:solidFill>
                      <a:srgbClr val="C00000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해밍</a:t>
                </a:r>
                <a:r>
                  <a:rPr lang="ko-KR" altLang="en-US" sz="2000" dirty="0">
                    <a:solidFill>
                      <a:srgbClr val="C00000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무게 조건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을 만족할 경우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𝑒</m:t>
                    </m:r>
                    <m:r>
                      <a:rPr lang="ko-KR" altLang="en-US" sz="20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복구 성공</a:t>
                </a:r>
                <a:endParaRPr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40</a:t>
                </a:r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종 이상의 </a:t>
                </a:r>
                <a:r>
                  <a:rPr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ISD</a:t>
                </a:r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변형 알고리즘들이 존재하지만</a:t>
                </a:r>
                <a:r>
                  <a:rPr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큰 성능차이는 없음</a:t>
                </a:r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Prange ISD</a:t>
                </a:r>
                <a:r>
                  <a:rPr lang="ko-KR" altLang="en-US" sz="2000" baseline="30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*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는 가장 기본적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/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대표적인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ISD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endParaRPr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이후 변형들은 주로 검색 범위를 줄이는 방식이지만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그에 대한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trade-off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발생</a:t>
                </a:r>
                <a:endParaRPr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획기적인 성능 변화는 없음</a:t>
                </a:r>
                <a:endParaRPr lang="ko-KR" altLang="en-US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4A7A43D-8D02-3379-BDBA-9FA240F492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682771" cy="5057775"/>
              </a:xfrm>
              <a:blipFill>
                <a:blip r:embed="rId3"/>
                <a:stretch>
                  <a:fillRect l="-760" t="-1750" r="-434" b="-4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그룹 68">
            <a:extLst>
              <a:ext uri="{FF2B5EF4-FFF2-40B4-BE49-F238E27FC236}">
                <a16:creationId xmlns:a16="http://schemas.microsoft.com/office/drawing/2014/main" id="{E9726414-200B-7868-00EC-D761C44E2972}"/>
              </a:ext>
            </a:extLst>
          </p:cNvPr>
          <p:cNvGrpSpPr/>
          <p:nvPr/>
        </p:nvGrpSpPr>
        <p:grpSpPr>
          <a:xfrm>
            <a:off x="2627765" y="2338005"/>
            <a:ext cx="7249566" cy="1776910"/>
            <a:chOff x="1468814" y="2411669"/>
            <a:chExt cx="7249566" cy="1776910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4775213-8F22-6EEB-0BFD-5A3F6C8F573A}"/>
                </a:ext>
              </a:extLst>
            </p:cNvPr>
            <p:cNvSpPr txBox="1"/>
            <p:nvPr/>
          </p:nvSpPr>
          <p:spPr>
            <a:xfrm>
              <a:off x="6607322" y="3034194"/>
              <a:ext cx="21110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6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결과 벡터에 대한</a:t>
              </a:r>
              <a:endParaRPr kumimoji="1" lang="en-US" altLang="ko-KR" sz="1600" dirty="0"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  <a:p>
              <a:pPr algn="ctr"/>
              <a:r>
                <a:rPr kumimoji="1" lang="ko-KR" altLang="en-US" sz="1600" dirty="0" err="1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해밍</a:t>
              </a:r>
              <a:r>
                <a:rPr kumimoji="1" lang="ko-KR" altLang="en-US" sz="16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 무게 체크</a:t>
              </a: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395DC0A8-879E-DC97-C867-F07309DF97EA}"/>
                </a:ext>
              </a:extLst>
            </p:cNvPr>
            <p:cNvGrpSpPr/>
            <p:nvPr/>
          </p:nvGrpSpPr>
          <p:grpSpPr>
            <a:xfrm>
              <a:off x="1468814" y="2411669"/>
              <a:ext cx="5565253" cy="1776910"/>
              <a:chOff x="1468814" y="2411669"/>
              <a:chExt cx="5565253" cy="1776910"/>
            </a:xfrm>
          </p:grpSpPr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1B556048-5DF9-80F2-CBAE-EC84FC92EBE0}"/>
                  </a:ext>
                </a:extLst>
              </p:cNvPr>
              <p:cNvGrpSpPr/>
              <p:nvPr/>
            </p:nvGrpSpPr>
            <p:grpSpPr>
              <a:xfrm>
                <a:off x="1468814" y="2436560"/>
                <a:ext cx="2761561" cy="1752019"/>
                <a:chOff x="1468814" y="2436560"/>
                <a:chExt cx="2761561" cy="1752019"/>
              </a:xfrm>
            </p:grpSpPr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E4277201-10A0-8842-68AF-DAE2762942E5}"/>
                    </a:ext>
                  </a:extLst>
                </p:cNvPr>
                <p:cNvGrpSpPr/>
                <p:nvPr/>
              </p:nvGrpSpPr>
              <p:grpSpPr>
                <a:xfrm>
                  <a:off x="1468814" y="2436560"/>
                  <a:ext cx="2475871" cy="1752019"/>
                  <a:chOff x="8740952" y="4527653"/>
                  <a:chExt cx="2475871" cy="1752019"/>
                </a:xfrm>
              </p:grpSpPr>
              <p:grpSp>
                <p:nvGrpSpPr>
                  <p:cNvPr id="51" name="그룹 50">
                    <a:extLst>
                      <a:ext uri="{FF2B5EF4-FFF2-40B4-BE49-F238E27FC236}">
                        <a16:creationId xmlns:a16="http://schemas.microsoft.com/office/drawing/2014/main" id="{4E658521-0339-5944-857F-2C17EA94D21F}"/>
                      </a:ext>
                    </a:extLst>
                  </p:cNvPr>
                  <p:cNvGrpSpPr/>
                  <p:nvPr/>
                </p:nvGrpSpPr>
                <p:grpSpPr>
                  <a:xfrm>
                    <a:off x="8740952" y="4527653"/>
                    <a:ext cx="2475871" cy="1427874"/>
                    <a:chOff x="8740952" y="4527653"/>
                    <a:chExt cx="2475871" cy="1427874"/>
                  </a:xfrm>
                </p:grpSpPr>
                <p:grpSp>
                  <p:nvGrpSpPr>
                    <p:cNvPr id="49" name="그룹 48">
                      <a:extLst>
                        <a:ext uri="{FF2B5EF4-FFF2-40B4-BE49-F238E27FC236}">
                          <a16:creationId xmlns:a16="http://schemas.microsoft.com/office/drawing/2014/main" id="{78B2157F-D5C9-7F38-542C-B537EEC33D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40952" y="4810539"/>
                      <a:ext cx="2475871" cy="1144988"/>
                      <a:chOff x="8740952" y="4810539"/>
                      <a:chExt cx="2475871" cy="1144988"/>
                    </a:xfrm>
                  </p:grpSpPr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47" name="모서리가 둥근 직사각형 46">
                            <a:extLst>
                              <a:ext uri="{FF2B5EF4-FFF2-40B4-BE49-F238E27FC236}">
                                <a16:creationId xmlns:a16="http://schemas.microsoft.com/office/drawing/2014/main" id="{544A35B9-EA0C-F3D2-F4B4-D6E47D1390A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666481" y="4810539"/>
                            <a:ext cx="1130040" cy="1144988"/>
                          </a:xfrm>
                          <a:prstGeom prst="roundRect">
                            <a:avLst>
                              <a:gd name="adj" fmla="val 4363"/>
                            </a:avLst>
                          </a:prstGeom>
                          <a:solidFill>
                            <a:schemeClr val="accent1">
                              <a:lumMod val="20000"/>
                              <a:lumOff val="80000"/>
                              <a:alpha val="50196"/>
                            </a:schemeClr>
                          </a:solidFill>
                          <a:ln w="19050">
                            <a:solidFill>
                              <a:schemeClr val="tx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47" name="모서리가 둥근 직사각형 46">
                            <a:extLst>
                              <a:ext uri="{FF2B5EF4-FFF2-40B4-BE49-F238E27FC236}">
                                <a16:creationId xmlns:a16="http://schemas.microsoft.com/office/drawing/2014/main" id="{544A35B9-EA0C-F3D2-F4B4-D6E47D1390AA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9666481" y="4810539"/>
                            <a:ext cx="1130040" cy="1144988"/>
                          </a:xfrm>
                          <a:prstGeom prst="roundRect">
                            <a:avLst>
                              <a:gd name="adj" fmla="val 4363"/>
                            </a:avLst>
                          </a:prstGeom>
                          <a:blipFill>
                            <a:blip r:embed="rId4"/>
                            <a:stretch>
                              <a:fillRect/>
                            </a:stretch>
                          </a:blipFill>
                          <a:ln w="19050">
                            <a:solidFill>
                              <a:schemeClr val="tx2">
                                <a:lumMod val="75000"/>
                              </a:schemeClr>
                            </a:solidFill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ko-KR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46" name="TextBox 45">
                            <a:extLst>
                              <a:ext uri="{FF2B5EF4-FFF2-40B4-BE49-F238E27FC236}">
                                <a16:creationId xmlns:a16="http://schemas.microsoft.com/office/drawing/2014/main" id="{F8FB713A-3C9B-9A33-D942-0D3E618C25C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8740952" y="4882767"/>
                            <a:ext cx="2475871" cy="976358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lIns="0" tIns="0" rIns="0" bIns="0" rtlCol="0" anchor="ctr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"/>
                                </m:oMathParaPr>
                                <m:oMath xmlns:m="http://schemas.openxmlformats.org/officeDocument/2006/math"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d>
                                    <m:dPr>
                                      <m:ctrlPr>
                                        <a:rPr kumimoji="1" lang="en-US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ko-K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US" altLang="ko-KR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US" altLang="ko-K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US" altLang="ko-KR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⋯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kumimoji="1" lang="en-US" altLang="ko-K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US" altLang="ko-KR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⋯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US" altLang="ko-KR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US" altLang="ko-K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kumimoji="1" lang="en-US" altLang="ko-KR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kumimoji="1" lang="en-US" altLang="ko-KR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kumimoji="1" lang="en-US" altLang="ko-KR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kumimoji="1" lang="en-US" altLang="ko-KR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kumimoji="1" lang="en-US" altLang="ko-KR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kumimoji="1" lang="en-US" altLang="ko-KR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kumimoji="1" lang="en-US" altLang="ko-KR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US" altLang="ko-KR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US" altLang="ko-KR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US" altLang="ko-KR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kumimoji="1" lang="en-US" altLang="ko-K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US" altLang="ko-KR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⋯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US" altLang="ko-KR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US" altLang="ko-KR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kumimoji="1" lang="en-US" altLang="ko-KR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kumimoji="1" lang="en-US" altLang="ko-KR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⋮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kumimoji="1" lang="en-US" altLang="ko-KR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⋮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kumimoji="1" lang="en-US" altLang="ko-KR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kumimoji="1" lang="en-US" altLang="ko-KR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kumimoji="1" lang="en-US" altLang="ko-KR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kumimoji="1" lang="en-US" altLang="ko-KR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d>
                                </m:oMath>
                              </m:oMathPara>
                            </a14:m>
                            <a:endParaRPr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46" name="TextBox 45">
                            <a:extLst>
                              <a:ext uri="{FF2B5EF4-FFF2-40B4-BE49-F238E27FC236}">
                                <a16:creationId xmlns:a16="http://schemas.microsoft.com/office/drawing/2014/main" id="{F8FB713A-3C9B-9A33-D942-0D3E618C25C0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8740952" y="4882767"/>
                            <a:ext cx="2475871" cy="976358"/>
                          </a:xfrm>
                          <a:prstGeom prst="rect">
                            <a:avLst/>
                          </a:prstGeom>
                          <a:blipFill>
                            <a:blip r:embed="rId5"/>
                            <a:stretch>
                              <a:fillRect l="-1531" r="-6633" b="-9091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ko-KR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0" name="TextBox 49">
                          <a:extLst>
                            <a:ext uri="{FF2B5EF4-FFF2-40B4-BE49-F238E27FC236}">
                              <a16:creationId xmlns:a16="http://schemas.microsoft.com/office/drawing/2014/main" id="{3968C03B-FFB2-0228-FDC2-DF6E6CE6841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978887" y="4527653"/>
                          <a:ext cx="508409" cy="24622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ko-KR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kumimoji="1"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1"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ko-KR" altLang="en-US" sz="1600" dirty="0"/>
                        </a:p>
                      </p:txBody>
                    </p:sp>
                  </mc:Choice>
                  <mc:Fallback xmlns="">
                    <p:sp>
                      <p:nvSpPr>
                        <p:cNvPr id="50" name="TextBox 49">
                          <a:extLst>
                            <a:ext uri="{FF2B5EF4-FFF2-40B4-BE49-F238E27FC236}">
                              <a16:creationId xmlns:a16="http://schemas.microsoft.com/office/drawing/2014/main" id="{3968C03B-FFB2-0228-FDC2-DF6E6CE6841E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978887" y="4527653"/>
                          <a:ext cx="508409" cy="246221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 l="-9756" r="-2439" b="-20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ko-KR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2" name="TextBox 51">
                        <a:extLst>
                          <a:ext uri="{FF2B5EF4-FFF2-40B4-BE49-F238E27FC236}">
                            <a16:creationId xmlns:a16="http://schemas.microsoft.com/office/drawing/2014/main" id="{73A7D05D-BF20-F7B2-4BB6-0A74B97754C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360249" y="6002673"/>
                        <a:ext cx="1742504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105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  <a:cs typeface="Calibri" pitchFamily="34" charset="-120"/>
                          </a:rPr>
                          <a:t>Information set</a:t>
                        </a:r>
                        <a:r>
                          <a:rPr lang="ko-KR" altLang="en-US" sz="105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  <a:cs typeface="Calibri" pitchFamily="34" charset="-120"/>
                          </a:rPr>
                          <a:t>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12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1" lang="en-US" altLang="ko-KR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ko-KR" sz="1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ko-KR" sz="1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oMath>
                        </a14:m>
                        <a:endParaRPr kumimoji="1" lang="ko-KR" alt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52" name="TextBox 51">
                        <a:extLst>
                          <a:ext uri="{FF2B5EF4-FFF2-40B4-BE49-F238E27FC236}">
                            <a16:creationId xmlns:a16="http://schemas.microsoft.com/office/drawing/2014/main" id="{73A7D05D-BF20-F7B2-4BB6-0A74B97754C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360249" y="6002673"/>
                        <a:ext cx="1742504" cy="276999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b="-1818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54" name="오른쪽 화살표[R] 53">
                  <a:extLst>
                    <a:ext uri="{FF2B5EF4-FFF2-40B4-BE49-F238E27FC236}">
                      <a16:creationId xmlns:a16="http://schemas.microsoft.com/office/drawing/2014/main" id="{8205B83C-1C28-5BD6-39E0-B93CC396B363}"/>
                    </a:ext>
                  </a:extLst>
                </p:cNvPr>
                <p:cNvSpPr/>
                <p:nvPr/>
              </p:nvSpPr>
              <p:spPr>
                <a:xfrm>
                  <a:off x="3999787" y="3218230"/>
                  <a:ext cx="230588" cy="210770"/>
                </a:xfrm>
                <a:prstGeom prst="rightArrow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</p:grp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6F539C7-A0A9-CCD4-757F-56A1C62869E7}"/>
                  </a:ext>
                </a:extLst>
              </p:cNvPr>
              <p:cNvGrpSpPr/>
              <p:nvPr/>
            </p:nvGrpSpPr>
            <p:grpSpPr>
              <a:xfrm>
                <a:off x="4359631" y="2411669"/>
                <a:ext cx="1570993" cy="1452765"/>
                <a:chOff x="5768979" y="2375004"/>
                <a:chExt cx="1570993" cy="145276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모서리가 둥근 직사각형 55">
                      <a:extLst>
                        <a:ext uri="{FF2B5EF4-FFF2-40B4-BE49-F238E27FC236}">
                          <a16:creationId xmlns:a16="http://schemas.microsoft.com/office/drawing/2014/main" id="{7C7DFDAD-970C-CC2B-1FBD-2EBEF95FD9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8979" y="2682781"/>
                      <a:ext cx="1130040" cy="1144988"/>
                    </a:xfrm>
                    <a:prstGeom prst="roundRect">
                      <a:avLst>
                        <a:gd name="adj" fmla="val 4363"/>
                      </a:avLst>
                    </a:prstGeom>
                    <a:solidFill>
                      <a:schemeClr val="accent1">
                        <a:lumMod val="20000"/>
                        <a:lumOff val="80000"/>
                        <a:alpha val="50196"/>
                      </a:schemeClr>
                    </a:solidFill>
                    <a:ln w="19050"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/>
                    </a:p>
                  </p:txBody>
                </p:sp>
              </mc:Choice>
              <mc:Fallback xmlns="">
                <p:sp>
                  <p:nvSpPr>
                    <p:cNvPr id="56" name="모서리가 둥근 직사각형 55">
                      <a:extLst>
                        <a:ext uri="{FF2B5EF4-FFF2-40B4-BE49-F238E27FC236}">
                          <a16:creationId xmlns:a16="http://schemas.microsoft.com/office/drawing/2014/main" id="{7C7DFDAD-970C-CC2B-1FBD-2EBEF95FD9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68979" y="2682781"/>
                      <a:ext cx="1130040" cy="1144988"/>
                    </a:xfrm>
                    <a:prstGeom prst="roundRect">
                      <a:avLst>
                        <a:gd name="adj" fmla="val 4363"/>
                      </a:avLst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 w="19050"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F45B8188-9CB9-061F-1B72-6B26B53C8A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10237" y="2375004"/>
                      <a:ext cx="62973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ko-K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kumimoji="1" lang="en-US" altLang="ko-KR" b="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F45B8188-9CB9-061F-1B72-6B26B53C8A2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10237" y="2375004"/>
                      <a:ext cx="629735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344EF6E-4204-57EF-AE87-E9A8813B48FE}"/>
                  </a:ext>
                </a:extLst>
              </p:cNvPr>
              <p:cNvSpPr txBox="1"/>
              <p:nvPr/>
            </p:nvSpPr>
            <p:spPr>
              <a:xfrm>
                <a:off x="5627192" y="3095187"/>
                <a:ext cx="354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/>
                  <a:t>x</a:t>
                </a:r>
                <a:endParaRPr kumimoji="1" lang="ko-KR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모서리가 둥근 직사각형 60">
                    <a:extLst>
                      <a:ext uri="{FF2B5EF4-FFF2-40B4-BE49-F238E27FC236}">
                        <a16:creationId xmlns:a16="http://schemas.microsoft.com/office/drawing/2014/main" id="{86C835B0-E870-912E-1620-4CEE360C7C3D}"/>
                      </a:ext>
                    </a:extLst>
                  </p:cNvPr>
                  <p:cNvSpPr/>
                  <p:nvPr/>
                </p:nvSpPr>
                <p:spPr>
                  <a:xfrm>
                    <a:off x="6091616" y="2719446"/>
                    <a:ext cx="343321" cy="1144988"/>
                  </a:xfrm>
                  <a:prstGeom prst="roundRect">
                    <a:avLst>
                      <a:gd name="adj" fmla="val 14796"/>
                    </a:avLst>
                  </a:prstGeom>
                  <a:solidFill>
                    <a:schemeClr val="accent1">
                      <a:lumMod val="20000"/>
                      <a:lumOff val="80000"/>
                      <a:alpha val="50196"/>
                    </a:schemeClr>
                  </a:solidFill>
                  <a:ln w="1905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ko-KR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ko-KR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61" name="모서리가 둥근 직사각형 60">
                    <a:extLst>
                      <a:ext uri="{FF2B5EF4-FFF2-40B4-BE49-F238E27FC236}">
                        <a16:creationId xmlns:a16="http://schemas.microsoft.com/office/drawing/2014/main" id="{86C835B0-E870-912E-1620-4CEE360C7C3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1616" y="2719446"/>
                    <a:ext cx="343321" cy="1144988"/>
                  </a:xfrm>
                  <a:prstGeom prst="roundRect">
                    <a:avLst>
                      <a:gd name="adj" fmla="val 14796"/>
                    </a:avLst>
                  </a:prstGeom>
                  <a:blipFill>
                    <a:blip r:embed="rId10"/>
                    <a:stretch>
                      <a:fillRect l="-13333" r="-13333"/>
                    </a:stretch>
                  </a:blipFill>
                  <a:ln w="1905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6F1B0DB-ED84-22B6-0C08-6E7FABB19F29}"/>
                  </a:ext>
                </a:extLst>
              </p:cNvPr>
              <p:cNvSpPr txBox="1"/>
              <p:nvPr/>
            </p:nvSpPr>
            <p:spPr>
              <a:xfrm>
                <a:off x="5734514" y="3907733"/>
                <a:ext cx="105752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5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cs typeface="Calibri" pitchFamily="34" charset="-120"/>
                  </a:rPr>
                  <a:t>신드롬</a:t>
                </a:r>
                <a:endParaRPr lang="ko-KR" altLang="en-US" sz="1050" dirty="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9C22F1B-A7AB-C429-8D1D-F38B71E2D777}"/>
                  </a:ext>
                </a:extLst>
              </p:cNvPr>
              <p:cNvSpPr txBox="1"/>
              <p:nvPr/>
            </p:nvSpPr>
            <p:spPr>
              <a:xfrm>
                <a:off x="6595929" y="3138949"/>
                <a:ext cx="4381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/>
                  <a:t>=</a:t>
                </a:r>
                <a:endParaRPr kumimoji="1" lang="ko-KR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D2F3AEDD-8C76-C307-F875-F835532F1788}"/>
                      </a:ext>
                    </a:extLst>
                  </p:cNvPr>
                  <p:cNvSpPr txBox="1"/>
                  <p:nvPr/>
                </p:nvSpPr>
                <p:spPr>
                  <a:xfrm>
                    <a:off x="3999125" y="3911580"/>
                    <a:ext cx="1913940" cy="25391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05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R" sz="105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R" sz="105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105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a14:m>
                    <a:r>
                      <a:rPr lang="ko-KR" altLang="en-US" sz="1050" dirty="0">
                        <a:latin typeface="Gmarket Sans Medium" panose="02000000000000000000" pitchFamily="2" charset="-128"/>
                        <a:ea typeface="Gmarket Sans Medium" panose="02000000000000000000" pitchFamily="2" charset="-128"/>
                        <a:cs typeface="Calibri" pitchFamily="34" charset="-120"/>
                      </a:rPr>
                      <a:t>의</a:t>
                    </a:r>
                    <a:r>
                      <a:rPr kumimoji="1" lang="ko-KR" altLang="en-US" sz="1050" dirty="0"/>
                      <a:t> </a:t>
                    </a:r>
                    <a:r>
                      <a:rPr lang="ko-KR" altLang="en-US" sz="1050" dirty="0" err="1">
                        <a:latin typeface="Gmarket Sans Medium" panose="02000000000000000000" pitchFamily="2" charset="-128"/>
                        <a:ea typeface="Gmarket Sans Medium" panose="02000000000000000000" pitchFamily="2" charset="-128"/>
                        <a:cs typeface="Calibri" pitchFamily="34" charset="-120"/>
                      </a:rPr>
                      <a:t>역행렬</a:t>
                    </a:r>
                    <a:endParaRPr lang="ko-KR" altLang="en-US" sz="1050" dirty="0"/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D2F3AEDD-8C76-C307-F875-F835532F17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9125" y="3911580"/>
                    <a:ext cx="1913940" cy="25391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3911A4F6-01E0-8003-E64F-3BB93139A054}"/>
              </a:ext>
            </a:extLst>
          </p:cNvPr>
          <p:cNvSpPr txBox="1"/>
          <p:nvPr/>
        </p:nvSpPr>
        <p:spPr>
          <a:xfrm>
            <a:off x="63610" y="6606661"/>
            <a:ext cx="75344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[</a:t>
            </a:r>
            <a:r>
              <a:rPr kumimoji="1" lang="ko-KR" altLang="en-US" sz="1000" dirty="0"/>
              <a:t>*</a:t>
            </a:r>
            <a:r>
              <a:rPr kumimoji="1" lang="en-US" altLang="ko-KR" sz="1000" dirty="0"/>
              <a:t>] </a:t>
            </a:r>
            <a:r>
              <a:rPr kumimoji="1" lang="en" altLang="ko-KR" sz="1000" dirty="0"/>
              <a:t>Prange, Eugene. "The use of information sets in decoding cyclic codes." IRE Transactions on Information Theory 8.5 (1962): 5-9.</a:t>
            </a:r>
            <a:endParaRPr kumimoji="1"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141729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04E91-0637-0B4A-7B3E-0B69D7516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QISD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(Quantum ISD)</a:t>
            </a:r>
            <a:endParaRPr lang="ko-KR" altLang="en-US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F8F1F4-698A-97AE-0B4A-121E7D09C6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altLang="ko-KR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Grover’s search + ISD</a:t>
            </a:r>
          </a:p>
          <a:p>
            <a:pPr lvl="1"/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Grover’s search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는 올바른 </a:t>
            </a:r>
            <a:r>
              <a:rPr lang="en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information set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을 찾기 위한 검색 단계에 적용</a:t>
            </a: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lvl="1"/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ISD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로는 </a:t>
            </a:r>
            <a:r>
              <a:rPr lang="en-US" altLang="ko-KR" sz="2000" dirty="0">
                <a:solidFill>
                  <a:srgbClr val="C0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Prange</a:t>
            </a:r>
            <a:r>
              <a:rPr lang="ko-KR" altLang="en-US" sz="2000" dirty="0">
                <a:solidFill>
                  <a:srgbClr val="C0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방식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기본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)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을 주로 선택</a:t>
            </a: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lvl="1"/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0" indent="0">
              <a:buNone/>
            </a:pPr>
            <a:endParaRPr lang="en-US" altLang="ko-KR" sz="7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r>
              <a:rPr lang="en-US" altLang="ko-KR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ISD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변형에 대한 양자 구현</a:t>
            </a:r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lvl="1"/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검색 횟수를 줄이는 대신 추가 연산 요구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  <a:sym typeface="Wingdings" pitchFamily="2" charset="2"/>
              </a:rPr>
              <a:t>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한 번 검색에 대한 양자 구현 비용 증가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(trade-off)</a:t>
            </a:r>
          </a:p>
          <a:p>
            <a:pPr lvl="1"/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최신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ISD</a:t>
            </a:r>
            <a:r>
              <a:rPr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대한 양자 구현 시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유의미한 성능 개선은 없음</a:t>
            </a: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ko-KR" altLang="en-US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9A9C5FA-939C-051F-401B-0CCC895FD660}"/>
              </a:ext>
            </a:extLst>
          </p:cNvPr>
          <p:cNvGrpSpPr/>
          <p:nvPr/>
        </p:nvGrpSpPr>
        <p:grpSpPr>
          <a:xfrm>
            <a:off x="6585542" y="5486398"/>
            <a:ext cx="5515667" cy="1195501"/>
            <a:chOff x="4476584" y="1828548"/>
            <a:chExt cx="7819445" cy="1450229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C54F9C3-49E9-9D11-7E2A-CC91A7D3081B}"/>
                </a:ext>
              </a:extLst>
            </p:cNvPr>
            <p:cNvGrpSpPr/>
            <p:nvPr/>
          </p:nvGrpSpPr>
          <p:grpSpPr>
            <a:xfrm>
              <a:off x="4476584" y="1828548"/>
              <a:ext cx="7819445" cy="1062384"/>
              <a:chOff x="-572494" y="1899921"/>
              <a:chExt cx="7819445" cy="1062384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AF1C06C8-1B8B-B147-A494-1AA617E60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-606" t="1" b="2195"/>
              <a:stretch>
                <a:fillRect/>
              </a:stretch>
            </p:blipFill>
            <p:spPr>
              <a:xfrm>
                <a:off x="-572494" y="1899921"/>
                <a:ext cx="7819445" cy="106238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cxnSp>
            <p:nvCxnSpPr>
              <p:cNvPr id="14" name="직선 연결선[R] 13">
                <a:extLst>
                  <a:ext uri="{FF2B5EF4-FFF2-40B4-BE49-F238E27FC236}">
                    <a16:creationId xmlns:a16="http://schemas.microsoft.com/office/drawing/2014/main" id="{26A4AE57-84A0-0715-CAAF-6AD62C2A3C3C}"/>
                  </a:ext>
                </a:extLst>
              </p:cNvPr>
              <p:cNvCxnSpPr/>
              <p:nvPr/>
            </p:nvCxnSpPr>
            <p:spPr>
              <a:xfrm flipH="1">
                <a:off x="2560320" y="2433099"/>
                <a:ext cx="3291840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[R] 14">
                <a:extLst>
                  <a:ext uri="{FF2B5EF4-FFF2-40B4-BE49-F238E27FC236}">
                    <a16:creationId xmlns:a16="http://schemas.microsoft.com/office/drawing/2014/main" id="{B83BFF3A-7424-32A7-C45A-27467E1F6D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59210" y="2704769"/>
                <a:ext cx="418106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[R] 18">
                <a:extLst>
                  <a:ext uri="{FF2B5EF4-FFF2-40B4-BE49-F238E27FC236}">
                    <a16:creationId xmlns:a16="http://schemas.microsoft.com/office/drawing/2014/main" id="{A1F085B5-7BBF-2DC0-7135-C4927167CB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525449" y="2962303"/>
                <a:ext cx="1813560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FCBB0CC-C40B-F9D5-188A-EF80557FED1B}"/>
                </a:ext>
              </a:extLst>
            </p:cNvPr>
            <p:cNvSpPr txBox="1"/>
            <p:nvPr/>
          </p:nvSpPr>
          <p:spPr>
            <a:xfrm>
              <a:off x="4535858" y="2924670"/>
              <a:ext cx="7701437" cy="3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" altLang="ko-KR" sz="1050" dirty="0"/>
                <a:t>Bernstein, Daniel J. "Grover vs. </a:t>
              </a:r>
              <a:r>
                <a:rPr lang="en" altLang="ko-KR" sz="1050" dirty="0" err="1"/>
                <a:t>mceliece</a:t>
              </a:r>
              <a:r>
                <a:rPr lang="en" altLang="ko-KR" sz="1050" dirty="0"/>
                <a:t>." 2010.</a:t>
              </a: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E5933BC9-8F16-EB89-02BA-5083A477FC5C}"/>
              </a:ext>
            </a:extLst>
          </p:cNvPr>
          <p:cNvGrpSpPr/>
          <p:nvPr/>
        </p:nvGrpSpPr>
        <p:grpSpPr>
          <a:xfrm>
            <a:off x="107001" y="5333999"/>
            <a:ext cx="6688869" cy="718046"/>
            <a:chOff x="191444" y="5598639"/>
            <a:chExt cx="6235094" cy="578258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912522B-9E33-FF06-0573-25798B0C737D}"/>
                </a:ext>
              </a:extLst>
            </p:cNvPr>
            <p:cNvSpPr txBox="1"/>
            <p:nvPr/>
          </p:nvSpPr>
          <p:spPr>
            <a:xfrm>
              <a:off x="327888" y="5930676"/>
              <a:ext cx="60986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ko-KR" sz="1000" dirty="0">
                  <a:ea typeface="Gmarket Sans Medium" panose="02000000000000000000" pitchFamily="2" charset="-128"/>
                </a:rPr>
                <a:t>Engelberts</a:t>
              </a:r>
              <a:r>
                <a:rPr lang="ko-KR" altLang="en-US" sz="1000" dirty="0">
                  <a:ea typeface="Gmarket Sans Medium" panose="02000000000000000000" pitchFamily="2" charset="-128"/>
                </a:rPr>
                <a:t> </a:t>
              </a:r>
              <a:r>
                <a:rPr lang="en-US" altLang="ko-KR" sz="1000" dirty="0">
                  <a:ea typeface="Gmarket Sans Medium" panose="02000000000000000000" pitchFamily="2" charset="-128"/>
                </a:rPr>
                <a:t>et al.</a:t>
              </a:r>
              <a:r>
                <a:rPr lang="en" altLang="ko-KR" sz="1000" dirty="0">
                  <a:ea typeface="Gmarket Sans Medium" panose="02000000000000000000" pitchFamily="2" charset="-128"/>
                </a:rPr>
                <a:t>, “Quantum Sieving for Code-Based Cryptanalysis and Its Limitations for ISD” 2025.</a:t>
              </a:r>
              <a:endParaRPr lang="en-US" altLang="ko-KR" sz="1000" dirty="0">
                <a:ea typeface="Gmarket Sans Medium" panose="02000000000000000000" pitchFamily="2" charset="-128"/>
              </a:endParaRPr>
            </a:p>
          </p:txBody>
        </p: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C5F62D05-4756-3FAB-F631-F76A9C1E66FD}"/>
                </a:ext>
              </a:extLst>
            </p:cNvPr>
            <p:cNvGrpSpPr/>
            <p:nvPr/>
          </p:nvGrpSpPr>
          <p:grpSpPr>
            <a:xfrm>
              <a:off x="191444" y="5598639"/>
              <a:ext cx="5948136" cy="358939"/>
              <a:chOff x="191444" y="5543019"/>
              <a:chExt cx="5948136" cy="358939"/>
            </a:xfrm>
          </p:grpSpPr>
          <p:pic>
            <p:nvPicPr>
              <p:cNvPr id="72" name="그림 71">
                <a:extLst>
                  <a:ext uri="{FF2B5EF4-FFF2-40B4-BE49-F238E27FC236}">
                    <a16:creationId xmlns:a16="http://schemas.microsoft.com/office/drawing/2014/main" id="{E09DC024-54F8-576E-9321-C76F2F4BCA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444" y="5543019"/>
                <a:ext cx="5948136" cy="35893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cxnSp>
            <p:nvCxnSpPr>
              <p:cNvPr id="73" name="직선 연결선[R] 72">
                <a:extLst>
                  <a:ext uri="{FF2B5EF4-FFF2-40B4-BE49-F238E27FC236}">
                    <a16:creationId xmlns:a16="http://schemas.microsoft.com/office/drawing/2014/main" id="{225AA034-31B0-45C0-AB23-4BE21A40A0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5168" y="5901460"/>
                <a:ext cx="434464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49838771-2544-AC14-415E-0FCCF904D8FC}"/>
              </a:ext>
            </a:extLst>
          </p:cNvPr>
          <p:cNvGrpSpPr/>
          <p:nvPr/>
        </p:nvGrpSpPr>
        <p:grpSpPr>
          <a:xfrm>
            <a:off x="210500" y="6092279"/>
            <a:ext cx="6542495" cy="771976"/>
            <a:chOff x="288479" y="6183627"/>
            <a:chExt cx="6098650" cy="673775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D2FCCFF9-945C-6402-ADE6-69883CF80DBC}"/>
                </a:ext>
              </a:extLst>
            </p:cNvPr>
            <p:cNvGrpSpPr/>
            <p:nvPr/>
          </p:nvGrpSpPr>
          <p:grpSpPr>
            <a:xfrm>
              <a:off x="479552" y="6183627"/>
              <a:ext cx="5371919" cy="406400"/>
              <a:chOff x="479552" y="6128007"/>
              <a:chExt cx="5371919" cy="406400"/>
            </a:xfrm>
          </p:grpSpPr>
          <p:pic>
            <p:nvPicPr>
              <p:cNvPr id="71" name="그림 70">
                <a:extLst>
                  <a:ext uri="{FF2B5EF4-FFF2-40B4-BE49-F238E27FC236}">
                    <a16:creationId xmlns:a16="http://schemas.microsoft.com/office/drawing/2014/main" id="{AC16C052-E33F-4E78-199B-B904C5A738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r="1402"/>
              <a:stretch>
                <a:fillRect/>
              </a:stretch>
            </p:blipFill>
            <p:spPr>
              <a:xfrm>
                <a:off x="479552" y="6128007"/>
                <a:ext cx="5371919" cy="4064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cxnSp>
            <p:nvCxnSpPr>
              <p:cNvPr id="75" name="직선 연결선[R] 74">
                <a:extLst>
                  <a:ext uri="{FF2B5EF4-FFF2-40B4-BE49-F238E27FC236}">
                    <a16:creationId xmlns:a16="http://schemas.microsoft.com/office/drawing/2014/main" id="{F3BA806D-4A84-F3E6-57D8-C93208B945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27765" y="6532060"/>
                <a:ext cx="3192257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248061A-BCC4-7BCD-F0D7-9AADC1C937EE}"/>
                </a:ext>
              </a:extLst>
            </p:cNvPr>
            <p:cNvSpPr txBox="1"/>
            <p:nvPr/>
          </p:nvSpPr>
          <p:spPr>
            <a:xfrm>
              <a:off x="288479" y="6603486"/>
              <a:ext cx="609865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ko-KR" sz="1000" dirty="0"/>
                <a:t>Esser et al., “An Optimized Implementation of Quantum ISD on Scalable Quantum Resources” 2021.</a:t>
              </a:r>
              <a:endParaRPr lang="ko-KR" altLang="en-US" sz="1000" dirty="0"/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5D59718B-E3AF-E3BE-C747-6C5C9C6A0BDA}"/>
              </a:ext>
            </a:extLst>
          </p:cNvPr>
          <p:cNvGrpSpPr/>
          <p:nvPr/>
        </p:nvGrpSpPr>
        <p:grpSpPr>
          <a:xfrm>
            <a:off x="2627765" y="2230998"/>
            <a:ext cx="7249566" cy="2327282"/>
            <a:chOff x="2627765" y="2338004"/>
            <a:chExt cx="7249566" cy="2327282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D1D0B79B-CC3A-0077-8A92-8986951D3E74}"/>
                </a:ext>
              </a:extLst>
            </p:cNvPr>
            <p:cNvGrpSpPr/>
            <p:nvPr/>
          </p:nvGrpSpPr>
          <p:grpSpPr>
            <a:xfrm>
              <a:off x="2627765" y="2338004"/>
              <a:ext cx="7249566" cy="2327282"/>
              <a:chOff x="2627765" y="2473177"/>
              <a:chExt cx="7249566" cy="2327282"/>
            </a:xfrm>
          </p:grpSpPr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094DD7FF-D033-B13C-DD10-F06D670437CF}"/>
                  </a:ext>
                </a:extLst>
              </p:cNvPr>
              <p:cNvGrpSpPr/>
              <p:nvPr/>
            </p:nvGrpSpPr>
            <p:grpSpPr>
              <a:xfrm>
                <a:off x="2627765" y="2473177"/>
                <a:ext cx="7249566" cy="1988726"/>
                <a:chOff x="2627765" y="2473177"/>
                <a:chExt cx="7249566" cy="1988726"/>
              </a:xfrm>
            </p:grpSpPr>
            <p:grpSp>
              <p:nvGrpSpPr>
                <p:cNvPr id="25" name="그룹 24">
                  <a:extLst>
                    <a:ext uri="{FF2B5EF4-FFF2-40B4-BE49-F238E27FC236}">
                      <a16:creationId xmlns:a16="http://schemas.microsoft.com/office/drawing/2014/main" id="{DDB093E9-7859-C3E1-C3CC-425E43A8BCCC}"/>
                    </a:ext>
                  </a:extLst>
                </p:cNvPr>
                <p:cNvGrpSpPr/>
                <p:nvPr/>
              </p:nvGrpSpPr>
              <p:grpSpPr>
                <a:xfrm>
                  <a:off x="2627765" y="2473177"/>
                  <a:ext cx="7249566" cy="1757674"/>
                  <a:chOff x="1468814" y="2411669"/>
                  <a:chExt cx="7249566" cy="1757674"/>
                </a:xfrm>
              </p:grpSpPr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FA7D4932-9762-61EB-495F-67EBB5D0628A}"/>
                      </a:ext>
                    </a:extLst>
                  </p:cNvPr>
                  <p:cNvSpPr txBox="1"/>
                  <p:nvPr/>
                </p:nvSpPr>
                <p:spPr>
                  <a:xfrm>
                    <a:off x="6607322" y="3034194"/>
                    <a:ext cx="2111058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ko-KR" altLang="en-US" sz="1600" dirty="0">
                        <a:latin typeface="Gmarket Sans Medium" panose="02000000000000000000" pitchFamily="2" charset="-128"/>
                        <a:ea typeface="Gmarket Sans Medium" panose="02000000000000000000" pitchFamily="2" charset="-128"/>
                      </a:rPr>
                      <a:t>결과 벡터에 대한</a:t>
                    </a:r>
                    <a:endParaRPr kumimoji="1" lang="en-US" altLang="ko-KR" sz="1600" dirty="0">
                      <a:latin typeface="Gmarket Sans Medium" panose="02000000000000000000" pitchFamily="2" charset="-128"/>
                      <a:ea typeface="Gmarket Sans Medium" panose="02000000000000000000" pitchFamily="2" charset="-128"/>
                    </a:endParaRPr>
                  </a:p>
                  <a:p>
                    <a:pPr algn="ctr"/>
                    <a:r>
                      <a:rPr kumimoji="1" lang="ko-KR" altLang="en-US" sz="1600" dirty="0" err="1">
                        <a:latin typeface="Gmarket Sans Medium" panose="02000000000000000000" pitchFamily="2" charset="-128"/>
                        <a:ea typeface="Gmarket Sans Medium" panose="02000000000000000000" pitchFamily="2" charset="-128"/>
                      </a:rPr>
                      <a:t>해밍</a:t>
                    </a:r>
                    <a:r>
                      <a:rPr kumimoji="1" lang="ko-KR" altLang="en-US" sz="1600" dirty="0">
                        <a:latin typeface="Gmarket Sans Medium" panose="02000000000000000000" pitchFamily="2" charset="-128"/>
                        <a:ea typeface="Gmarket Sans Medium" panose="02000000000000000000" pitchFamily="2" charset="-128"/>
                      </a:rPr>
                      <a:t> 무게 체크</a:t>
                    </a: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2E989E5C-F7E1-7047-CCFA-76A2754D93E8}"/>
                      </a:ext>
                    </a:extLst>
                  </p:cNvPr>
                  <p:cNvGrpSpPr/>
                  <p:nvPr/>
                </p:nvGrpSpPr>
                <p:grpSpPr>
                  <a:xfrm>
                    <a:off x="1468814" y="2411669"/>
                    <a:ext cx="5565253" cy="1757674"/>
                    <a:chOff x="1468814" y="2411669"/>
                    <a:chExt cx="5565253" cy="1757674"/>
                  </a:xfrm>
                </p:grpSpPr>
                <p:grpSp>
                  <p:nvGrpSpPr>
                    <p:cNvPr id="28" name="그룹 27">
                      <a:extLst>
                        <a:ext uri="{FF2B5EF4-FFF2-40B4-BE49-F238E27FC236}">
                          <a16:creationId xmlns:a16="http://schemas.microsoft.com/office/drawing/2014/main" id="{04A4B8B9-B7AB-F247-4B8C-7E96171E8A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68814" y="2436560"/>
                      <a:ext cx="2761561" cy="1427874"/>
                      <a:chOff x="1468814" y="2436560"/>
                      <a:chExt cx="2761561" cy="1427874"/>
                    </a:xfrm>
                  </p:grpSpPr>
                  <p:grpSp>
                    <p:nvGrpSpPr>
                      <p:cNvPr id="39" name="그룹 38">
                        <a:extLst>
                          <a:ext uri="{FF2B5EF4-FFF2-40B4-BE49-F238E27FC236}">
                            <a16:creationId xmlns:a16="http://schemas.microsoft.com/office/drawing/2014/main" id="{837A8558-AF4B-5C32-929D-BA8955B5A15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68814" y="2436560"/>
                        <a:ext cx="2475871" cy="1427874"/>
                        <a:chOff x="8740952" y="4527653"/>
                        <a:chExt cx="2475871" cy="1427874"/>
                      </a:xfrm>
                    </p:grpSpPr>
                    <p:grpSp>
                      <p:nvGrpSpPr>
                        <p:cNvPr id="41" name="그룹 40">
                          <a:extLst>
                            <a:ext uri="{FF2B5EF4-FFF2-40B4-BE49-F238E27FC236}">
                              <a16:creationId xmlns:a16="http://schemas.microsoft.com/office/drawing/2014/main" id="{0B9956FF-DD7F-3B61-FE97-FC2004B5A9F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740952" y="4810539"/>
                          <a:ext cx="2475871" cy="1144988"/>
                          <a:chOff x="8740952" y="4810539"/>
                          <a:chExt cx="2475871" cy="1144988"/>
                        </a:xfrm>
                      </p:grpSpPr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44" name="모서리가 둥근 직사각형 43">
                                <a:extLst>
                                  <a:ext uri="{FF2B5EF4-FFF2-40B4-BE49-F238E27FC236}">
                                    <a16:creationId xmlns:a16="http://schemas.microsoft.com/office/drawing/2014/main" id="{244ECD98-F997-1FE9-EDDC-4AD28B797C18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666481" y="4810539"/>
                                <a:ext cx="1130040" cy="1144988"/>
                              </a:xfrm>
                              <a:prstGeom prst="roundRect">
                                <a:avLst>
                                  <a:gd name="adj" fmla="val 4363"/>
                                </a:avLst>
                              </a:prstGeom>
                              <a:solidFill>
                                <a:schemeClr val="accent1">
                                  <a:lumMod val="20000"/>
                                  <a:lumOff val="80000"/>
                                  <a:alpha val="50196"/>
                                </a:schemeClr>
                              </a:solidFill>
                              <a:ln w="1905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/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44" name="모서리가 둥근 직사각형 43">
                                <a:extLst>
                                  <a:ext uri="{FF2B5EF4-FFF2-40B4-BE49-F238E27FC236}">
                                    <a16:creationId xmlns:a16="http://schemas.microsoft.com/office/drawing/2014/main" id="{244ECD98-F997-1FE9-EDDC-4AD28B797C18}"/>
                                  </a:ext>
                                </a:extLst>
                              </p:cNvPr>
                              <p:cNvSpPr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9666481" y="4810539"/>
                                <a:ext cx="1130040" cy="1144988"/>
                              </a:xfrm>
                              <a:prstGeom prst="roundRect">
                                <a:avLst>
                                  <a:gd name="adj" fmla="val 4363"/>
                                </a:avLst>
                              </a:prstGeom>
                              <a:blipFill>
                                <a:blip r:embed="rId6"/>
                                <a:stretch>
                                  <a:fillRect/>
                                </a:stretch>
                              </a:blipFill>
                              <a:ln w="1905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</a:ln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ko-KR" alt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43" name="TextBox 42">
                                <a:extLst>
                                  <a:ext uri="{FF2B5EF4-FFF2-40B4-BE49-F238E27FC236}">
                                    <a16:creationId xmlns:a16="http://schemas.microsoft.com/office/drawing/2014/main" id="{4C81540F-0469-7684-D1DF-734135279BFC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8740952" y="4882767"/>
                                <a:ext cx="2475871" cy="976358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lIns="0" tIns="0" rIns="0" bIns="0" rtlCol="0" anchor="ctr">
                                <a:spAutoFit/>
                              </a:bodyPr>
                              <a:lstStyle/>
                              <a:p>
                                <a:pPr/>
                                <a14:m>
                                  <m:oMathPara xmlns:m="http://schemas.openxmlformats.org/officeDocument/2006/math">
                                    <m:oMathParaPr>
                                      <m:jc m:val="center"/>
                                    </m:oMathParaPr>
                                    <m:oMath xmlns:m="http://schemas.openxmlformats.org/officeDocument/2006/math"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d>
                                        <m:dPr>
                                          <m:ctrlPr>
                                            <a:rPr kumimoji="1" lang="en-US" altLang="ko-K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kumimoji="1" lang="en-US" altLang="ko-KR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2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kumimoji="1" lang="en-US" altLang="ko-KR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kumimoji="1" lang="en-US" altLang="ko-KR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kumimoji="1" lang="en-US" altLang="ko-KR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⋯</m:t>
                                                      </m:r>
                                                    </m:e>
                                                  </m:mr>
                                                  <m:mr>
                                                    <m:e>
                                                      <m:r>
                                                        <a:rPr kumimoji="1" lang="en-US" altLang="ko-KR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kumimoji="1" lang="en-US" altLang="ko-KR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⋯</m:t>
                                                      </m:r>
                                                    </m:e>
                                                  </m:mr>
                                                </m:m>
                                              </m:e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2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kumimoji="1" lang="en-US" altLang="ko-KR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kumimoji="1" lang="en-US" altLang="ko-KR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e>
                                                    <m:e>
                                                      <m:m>
                                                        <m:mPr>
                                                          <m:mcs>
                                                            <m:mc>
                                                              <m:mcPr>
                                                                <m:count m:val="2"/>
                                                                <m:mcJc m:val="center"/>
                                                              </m:mcPr>
                                                            </m:mc>
                                                          </m:mcs>
                                                          <m:ctrlPr>
                                                            <a:rPr kumimoji="1" lang="en-US" altLang="ko-KR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mPr>
                                                        <m:mr>
                                                          <m:e>
                                                            <m:r>
                                                              <m:rPr>
                                                                <m:brk m:alnAt="7"/>
                                                              </m:rPr>
                                                              <a:rPr kumimoji="1" lang="en-US" altLang="ko-KR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kumimoji="1" lang="en-US" altLang="ko-KR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0</m:t>
                                                            </m:r>
                                                          </m:e>
                                                        </m:mr>
                                                      </m:m>
                                                    </m:e>
                                                  </m:mr>
                                                  <m:mr>
                                                    <m:e>
                                                      <m:r>
                                                        <a:rPr kumimoji="1" lang="en-US" altLang="ko-KR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  <m:e>
                                                      <m:m>
                                                        <m:mPr>
                                                          <m:mcs>
                                                            <m:mc>
                                                              <m:mcPr>
                                                                <m:count m:val="2"/>
                                                                <m:mcJc m:val="center"/>
                                                              </m:mcPr>
                                                            </m:mc>
                                                          </m:mcs>
                                                          <m:ctrlPr>
                                                            <a:rPr kumimoji="1" lang="en-US" altLang="ko-KR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mPr>
                                                        <m:mr>
                                                          <m:e>
                                                            <m:r>
                                                              <m:rPr>
                                                                <m:brk m:alnAt="7"/>
                                                              </m:rPr>
                                                              <a:rPr kumimoji="1" lang="en-US" altLang="ko-KR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kumimoji="1" lang="en-US" altLang="ko-KR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e>
                                                        </m:mr>
                                                      </m:m>
                                                    </m:e>
                                                  </m:mr>
                                                </m:m>
                                              </m:e>
                                            </m:mr>
                                            <m:mr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2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kumimoji="1" lang="en-US" altLang="ko-KR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kumimoji="1" lang="en-US" altLang="ko-KR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⋮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kumimoji="1" lang="en-US" altLang="ko-KR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⋮</m:t>
                                                      </m:r>
                                                    </m:e>
                                                  </m:mr>
                                                  <m:mr>
                                                    <m:e>
                                                      <m:r>
                                                        <a:rPr kumimoji="1" lang="en-US" altLang="ko-KR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kumimoji="1" lang="en-US" altLang="ko-KR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⋯</m:t>
                                                      </m:r>
                                                    </m:e>
                                                  </m:mr>
                                                </m:m>
                                              </m:e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2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kumimoji="1" lang="en-US" altLang="ko-KR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kumimoji="1" lang="en-US" altLang="ko-KR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⋮</m:t>
                                                      </m:r>
                                                    </m:e>
                                                    <m:e>
                                                      <m:m>
                                                        <m:mPr>
                                                          <m:mcs>
                                                            <m:mc>
                                                              <m:mcPr>
                                                                <m:count m:val="2"/>
                                                                <m:mcJc m:val="center"/>
                                                              </m:mcPr>
                                                            </m:mc>
                                                          </m:mcs>
                                                          <m:ctrlPr>
                                                            <a:rPr kumimoji="1" lang="en-US" altLang="ko-KR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mPr>
                                                        <m:mr>
                                                          <m:e>
                                                            <m:r>
                                                              <m:rPr>
                                                                <m:brk m:alnAt="7"/>
                                                              </m:rPr>
                                                              <a:rPr kumimoji="1" lang="en-US" altLang="ko-KR" i="1"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</a:rPr>
                                                              <m:t>⋮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m:rPr>
                                                                <m:brk m:alnAt="7"/>
                                                              </m:rPr>
                                                              <a:rPr kumimoji="1" lang="en-US" altLang="ko-KR" i="1"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</a:rPr>
                                                              <m:t>⋮</m:t>
                                                            </m:r>
                                                          </m:e>
                                                        </m:mr>
                                                      </m:m>
                                                    </m:e>
                                                  </m:mr>
                                                  <m:mr>
                                                    <m:e>
                                                      <m:r>
                                                        <a:rPr kumimoji="1" lang="en-US" altLang="ko-KR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e>
                                                    <m:e>
                                                      <m:m>
                                                        <m:mPr>
                                                          <m:mcs>
                                                            <m:mc>
                                                              <m:mcPr>
                                                                <m:count m:val="2"/>
                                                                <m:mcJc m:val="center"/>
                                                              </m:mcPr>
                                                            </m:mc>
                                                          </m:mcs>
                                                          <m:ctrlPr>
                                                            <a:rPr kumimoji="1" lang="en-US" altLang="ko-KR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mPr>
                                                        <m:mr>
                                                          <m:e>
                                                            <m:r>
                                                              <m:rPr>
                                                                <m:brk m:alnAt="7"/>
                                                              </m:rPr>
                                                              <a:rPr kumimoji="1" lang="en-US" altLang="ko-KR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0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kumimoji="1" lang="en-US" altLang="ko-KR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e>
                                                        </m:mr>
                                                      </m:m>
                                                    </m:e>
                                                  </m:mr>
                                                </m:m>
                                              </m:e>
                                            </m:mr>
                                          </m:m>
                                        </m:e>
                                      </m:d>
                                    </m:oMath>
                                  </m:oMathPara>
                                </a14:m>
                                <a:endParaRPr dirty="0"/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43" name="TextBox 42">
                                <a:extLst>
                                  <a:ext uri="{FF2B5EF4-FFF2-40B4-BE49-F238E27FC236}">
                                    <a16:creationId xmlns:a16="http://schemas.microsoft.com/office/drawing/2014/main" id="{4C81540F-0469-7684-D1DF-734135279BFC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8740952" y="4882767"/>
                                <a:ext cx="2475871" cy="976358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7"/>
                                <a:stretch>
                                  <a:fillRect l="-1531" r="-6633" b="-9091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ko-KR" alt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42" name="TextBox 41">
                              <a:extLst>
                                <a:ext uri="{FF2B5EF4-FFF2-40B4-BE49-F238E27FC236}">
                                  <a16:creationId xmlns:a16="http://schemas.microsoft.com/office/drawing/2014/main" id="{E9A12398-B447-B8A1-65BD-2E50290EAD72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9978887" y="4527653"/>
                              <a:ext cx="508409" cy="246221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lIns="0" tIns="0" rIns="0" bIns="0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Group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kumimoji="1" lang="en-US" altLang="ko-KR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kumimoji="1"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kumimoji="1"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kumimoji="1"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 kumimoji="1" lang="ko-KR" altLang="en-US" sz="160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42" name="TextBox 41">
                              <a:extLst>
                                <a:ext uri="{FF2B5EF4-FFF2-40B4-BE49-F238E27FC236}">
                                  <a16:creationId xmlns:a16="http://schemas.microsoft.com/office/drawing/2014/main" id="{E9A12398-B447-B8A1-65BD-2E50290EAD72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9978887" y="4527653"/>
                              <a:ext cx="508409" cy="246221"/>
                            </a:xfrm>
                            <a:prstGeom prst="rect">
                              <a:avLst/>
                            </a:prstGeom>
                            <a:blipFill>
                              <a:blip r:embed="rId8"/>
                              <a:stretch>
                                <a:fillRect l="-9756" r="-2439" b="-20000"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ko-KR" alt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sp>
                    <p:nvSpPr>
                      <p:cNvPr id="38" name="오른쪽 화살표[R] 37">
                        <a:extLst>
                          <a:ext uri="{FF2B5EF4-FFF2-40B4-BE49-F238E27FC236}">
                            <a16:creationId xmlns:a16="http://schemas.microsoft.com/office/drawing/2014/main" id="{BD229503-17C8-F24A-D21A-FCDC1AA82C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99787" y="3218230"/>
                        <a:ext cx="230588" cy="210770"/>
                      </a:xfrm>
                      <a:prstGeom prst="rightArrow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ko-KR" altLang="en-US"/>
                      </a:p>
                    </p:txBody>
                  </p:sp>
                </p:grpSp>
                <p:grpSp>
                  <p:nvGrpSpPr>
                    <p:cNvPr id="29" name="그룹 28">
                      <a:extLst>
                        <a:ext uri="{FF2B5EF4-FFF2-40B4-BE49-F238E27FC236}">
                          <a16:creationId xmlns:a16="http://schemas.microsoft.com/office/drawing/2014/main" id="{70BF82CE-F179-B55E-CB9F-CAAB8A3641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59631" y="2411669"/>
                      <a:ext cx="1570993" cy="1452765"/>
                      <a:chOff x="5768979" y="2375004"/>
                      <a:chExt cx="1570993" cy="1452765"/>
                    </a:xfrm>
                  </p:grpSpPr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35" name="모서리가 둥근 직사각형 34">
                            <a:extLst>
                              <a:ext uri="{FF2B5EF4-FFF2-40B4-BE49-F238E27FC236}">
                                <a16:creationId xmlns:a16="http://schemas.microsoft.com/office/drawing/2014/main" id="{3D4A1604-8510-FC69-5AFE-FFBAC62B65B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68979" y="2682781"/>
                            <a:ext cx="1130040" cy="1144988"/>
                          </a:xfrm>
                          <a:prstGeom prst="roundRect">
                            <a:avLst>
                              <a:gd name="adj" fmla="val 4363"/>
                            </a:avLst>
                          </a:prstGeom>
                          <a:solidFill>
                            <a:schemeClr val="accent1">
                              <a:lumMod val="20000"/>
                              <a:lumOff val="80000"/>
                              <a:alpha val="50196"/>
                            </a:schemeClr>
                          </a:solidFill>
                          <a:ln w="19050">
                            <a:solidFill>
                              <a:schemeClr val="tx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5" name="모서리가 둥근 직사각형 34">
                            <a:extLst>
                              <a:ext uri="{FF2B5EF4-FFF2-40B4-BE49-F238E27FC236}">
                                <a16:creationId xmlns:a16="http://schemas.microsoft.com/office/drawing/2014/main" id="{3D4A1604-8510-FC69-5AFE-FFBAC62B65BE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5768979" y="2682781"/>
                            <a:ext cx="1130040" cy="1144988"/>
                          </a:xfrm>
                          <a:prstGeom prst="roundRect">
                            <a:avLst>
                              <a:gd name="adj" fmla="val 4363"/>
                            </a:avLst>
                          </a:prstGeom>
                          <a:blipFill>
                            <a:blip r:embed="rId9"/>
                            <a:stretch>
                              <a:fillRect/>
                            </a:stretch>
                          </a:blipFill>
                          <a:ln w="19050">
                            <a:solidFill>
                              <a:schemeClr val="tx2">
                                <a:lumMod val="75000"/>
                              </a:schemeClr>
                            </a:solidFill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ko-KR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36" name="TextBox 35">
                            <a:extLst>
                              <a:ext uri="{FF2B5EF4-FFF2-40B4-BE49-F238E27FC236}">
                                <a16:creationId xmlns:a16="http://schemas.microsoft.com/office/drawing/2014/main" id="{374A3F52-A23A-DA3C-A47F-38E0B02249A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710237" y="2375004"/>
                            <a:ext cx="629735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>
                            <a:spAutoFit/>
                          </a:bodyPr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kumimoji="1" lang="en-US" altLang="ko-KR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oMath>
                              </m:oMathPara>
                            </a14:m>
                            <a:endParaRPr kumimoji="1" lang="en-US" altLang="ko-KR" b="0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6" name="TextBox 35">
                            <a:extLst>
                              <a:ext uri="{FF2B5EF4-FFF2-40B4-BE49-F238E27FC236}">
                                <a16:creationId xmlns:a16="http://schemas.microsoft.com/office/drawing/2014/main" id="{374A3F52-A23A-DA3C-A47F-38E0B02249A3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6710237" y="2375004"/>
                            <a:ext cx="629735" cy="369332"/>
                          </a:xfrm>
                          <a:prstGeom prst="rect">
                            <a:avLst/>
                          </a:prstGeom>
                          <a:blipFill>
                            <a:blip r:embed="rId10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ko-KR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D06410A1-3610-31DC-EEE9-62EA7BB8EF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27192" y="3095187"/>
                      <a:ext cx="35475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kumimoji="1" lang="en-US" altLang="ko-KR" dirty="0"/>
                        <a:t>x</a:t>
                      </a:r>
                      <a:endParaRPr kumimoji="1" lang="ko-KR" altLang="en-US" dirty="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1" name="모서리가 둥근 직사각형 30">
                          <a:extLst>
                            <a:ext uri="{FF2B5EF4-FFF2-40B4-BE49-F238E27FC236}">
                              <a16:creationId xmlns:a16="http://schemas.microsoft.com/office/drawing/2014/main" id="{4F6F9C92-CEC1-D0C1-547C-D256A788C68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91616" y="2719446"/>
                          <a:ext cx="343321" cy="1144988"/>
                        </a:xfrm>
                        <a:prstGeom prst="roundRect">
                          <a:avLst>
                            <a:gd name="adj" fmla="val 14796"/>
                          </a:avLst>
                        </a:prstGeom>
                        <a:solidFill>
                          <a:schemeClr val="accent1">
                            <a:lumMod val="20000"/>
                            <a:lumOff val="80000"/>
                            <a:alpha val="50196"/>
                          </a:schemeClr>
                        </a:solidFill>
                        <a:ln w="19050">
                          <a:solidFill>
                            <a:srgbClr val="0070C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kumimoji="1"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/>
                        </a:p>
                      </p:txBody>
                    </p:sp>
                  </mc:Choice>
                  <mc:Fallback xmlns="">
                    <p:sp>
                      <p:nvSpPr>
                        <p:cNvPr id="31" name="모서리가 둥근 직사각형 30">
                          <a:extLst>
                            <a:ext uri="{FF2B5EF4-FFF2-40B4-BE49-F238E27FC236}">
                              <a16:creationId xmlns:a16="http://schemas.microsoft.com/office/drawing/2014/main" id="{4F6F9C92-CEC1-D0C1-547C-D256A788C68B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091616" y="2719446"/>
                          <a:ext cx="343321" cy="1144988"/>
                        </a:xfrm>
                        <a:prstGeom prst="roundRect">
                          <a:avLst>
                            <a:gd name="adj" fmla="val 14796"/>
                          </a:avLst>
                        </a:prstGeom>
                        <a:blipFill>
                          <a:blip r:embed="rId11"/>
                          <a:stretch>
                            <a:fillRect l="-13333" r="-13333"/>
                          </a:stretch>
                        </a:blipFill>
                        <a:ln w="19050">
                          <a:solidFill>
                            <a:srgbClr val="0070C0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ko-KR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172E7294-0ADC-C634-2B07-FD95F0B7DB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34514" y="3907733"/>
                      <a:ext cx="1057523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ko-KR" altLang="en-US" sz="1050" dirty="0">
                          <a:latin typeface="Gmarket Sans Medium" panose="02000000000000000000" pitchFamily="2" charset="-128"/>
                          <a:ea typeface="Gmarket Sans Medium" panose="02000000000000000000" pitchFamily="2" charset="-128"/>
                          <a:cs typeface="Calibri" pitchFamily="34" charset="-120"/>
                        </a:rPr>
                        <a:t>신드롬</a:t>
                      </a:r>
                      <a:endParaRPr lang="ko-KR" altLang="en-US" sz="1050" dirty="0"/>
                    </a:p>
                  </p:txBody>
                </p:sp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574DE578-23F2-4F92-D454-32ECF9B822C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95929" y="3138949"/>
                      <a:ext cx="43813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kumimoji="1" lang="en-US" altLang="ko-KR" dirty="0"/>
                        <a:t>=</a:t>
                      </a:r>
                      <a:endParaRPr kumimoji="1" lang="ko-KR" altLang="en-US" dirty="0"/>
                    </a:p>
                  </p:txBody>
                </p:sp>
              </p:grpSp>
            </p:grpSp>
            <p:sp>
              <p:nvSpPr>
                <p:cNvPr id="45" name="왼쪽 중괄호[L] 44">
                  <a:extLst>
                    <a:ext uri="{FF2B5EF4-FFF2-40B4-BE49-F238E27FC236}">
                      <a16:creationId xmlns:a16="http://schemas.microsoft.com/office/drawing/2014/main" id="{F8A5D584-3739-A0ED-AEAC-306ED68ECABF}"/>
                    </a:ext>
                  </a:extLst>
                </p:cNvPr>
                <p:cNvSpPr/>
                <p:nvPr/>
              </p:nvSpPr>
              <p:spPr>
                <a:xfrm rot="16200000">
                  <a:off x="7217969" y="1998599"/>
                  <a:ext cx="234901" cy="4691708"/>
                </a:xfrm>
                <a:prstGeom prst="leftBrace">
                  <a:avLst>
                    <a:gd name="adj1" fmla="val 54431"/>
                    <a:gd name="adj2" fmla="val 50000"/>
                  </a:avLst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B94263B-1039-F22F-861E-AE8D7DBF080F}"/>
                  </a:ext>
                </a:extLst>
              </p:cNvPr>
              <p:cNvSpPr txBox="1"/>
              <p:nvPr/>
            </p:nvSpPr>
            <p:spPr>
              <a:xfrm>
                <a:off x="6279890" y="4461905"/>
                <a:ext cx="211105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600" b="1" dirty="0">
                    <a:solidFill>
                      <a:srgbClr val="FF0000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Grover</a:t>
                </a:r>
                <a:r>
                  <a:rPr kumimoji="1" lang="ko-KR" altLang="en-US" sz="1600" b="1" dirty="0">
                    <a:solidFill>
                      <a:srgbClr val="FF0000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1600" b="1" dirty="0">
                    <a:solidFill>
                      <a:srgbClr val="FF0000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oracle</a:t>
                </a:r>
                <a:endParaRPr kumimoji="1" lang="ko-KR" altLang="en-US" sz="1600" b="1" dirty="0">
                  <a:solidFill>
                    <a:srgbClr val="FF0000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06048D77-5856-89B4-A1E3-70BFB383A171}"/>
                    </a:ext>
                  </a:extLst>
                </p:cNvPr>
                <p:cNvSpPr txBox="1"/>
                <p:nvPr/>
              </p:nvSpPr>
              <p:spPr>
                <a:xfrm>
                  <a:off x="3247062" y="3837916"/>
                  <a:ext cx="174250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050" dirty="0">
                      <a:latin typeface="Gmarket Sans Medium" panose="02000000000000000000" pitchFamily="2" charset="-128"/>
                      <a:ea typeface="Gmarket Sans Medium" panose="02000000000000000000" pitchFamily="2" charset="-128"/>
                      <a:cs typeface="Calibri" pitchFamily="34" charset="-120"/>
                    </a:rPr>
                    <a:t>Information set</a:t>
                  </a:r>
                  <a:r>
                    <a:rPr lang="ko-KR" altLang="en-US" sz="1050" dirty="0">
                      <a:latin typeface="Gmarket Sans Medium" panose="02000000000000000000" pitchFamily="2" charset="-128"/>
                      <a:ea typeface="Gmarket Sans Medium" panose="02000000000000000000" pitchFamily="2" charset="-128"/>
                      <a:cs typeface="Calibri" pitchFamily="34" charset="-12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ko-K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ko-KR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a14:m>
                  <a:endParaRPr kumimoji="1" lang="ko-KR" altLang="en-US" sz="1200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06048D77-5856-89B4-A1E3-70BFB383A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7062" y="3837916"/>
                  <a:ext cx="1742504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E2BACA3D-1E8A-DB57-C0C9-4F6B3B631A73}"/>
                    </a:ext>
                  </a:extLst>
                </p:cNvPr>
                <p:cNvSpPr txBox="1"/>
                <p:nvPr/>
              </p:nvSpPr>
              <p:spPr>
                <a:xfrm>
                  <a:off x="5158076" y="3837916"/>
                  <a:ext cx="1913940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05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ko-KR" sz="105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ko-KR" sz="105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ko-KR" sz="105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atin typeface="Gmarket Sans Medium" panose="02000000000000000000" pitchFamily="2" charset="-128"/>
                      <a:ea typeface="Gmarket Sans Medium" panose="02000000000000000000" pitchFamily="2" charset="-128"/>
                      <a:cs typeface="Calibri" pitchFamily="34" charset="-120"/>
                    </a:rPr>
                    <a:t>의</a:t>
                  </a:r>
                  <a:r>
                    <a:rPr kumimoji="1" lang="ko-KR" altLang="en-US" sz="1050" dirty="0"/>
                    <a:t> </a:t>
                  </a:r>
                  <a:r>
                    <a:rPr lang="ko-KR" altLang="en-US" sz="1050" dirty="0" err="1">
                      <a:latin typeface="Gmarket Sans Medium" panose="02000000000000000000" pitchFamily="2" charset="-128"/>
                      <a:ea typeface="Gmarket Sans Medium" panose="02000000000000000000" pitchFamily="2" charset="-128"/>
                      <a:cs typeface="Calibri" pitchFamily="34" charset="-120"/>
                    </a:rPr>
                    <a:t>역행렬</a:t>
                  </a:r>
                  <a:endParaRPr lang="ko-KR" altLang="en-US" sz="1050" dirty="0"/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E2BACA3D-1E8A-DB57-C0C9-4F6B3B631A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8076" y="3837916"/>
                  <a:ext cx="1913940" cy="253916"/>
                </a:xfrm>
                <a:prstGeom prst="rect">
                  <a:avLst/>
                </a:prstGeom>
                <a:blipFill>
                  <a:blip r:embed="rId13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75459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61CE1-D247-00C6-7D8F-CE809E1AB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2A0C9-DBC8-9B41-D983-45EBF61A7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Overview: </a:t>
            </a:r>
            <a:r>
              <a:rPr lang="ko-KR" altLang="en-US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대칭키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암호 </a:t>
            </a:r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vs.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코드기반 암호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0D2FCA-F712-8EC4-0308-F159F46114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ko-KR" altLang="en-US" sz="24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대칭키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암호와 코드기반 암호에 대한 </a:t>
            </a:r>
            <a:r>
              <a:rPr lang="en-US" altLang="ko-KR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Grover’s search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기반 양자 공격 비교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089A8C-2E96-E9B6-630D-F85BBEBA5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49" y="1484956"/>
            <a:ext cx="8085667" cy="50872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63CF8B-33C8-DBD6-2368-648CE622F9FF}"/>
              </a:ext>
            </a:extLst>
          </p:cNvPr>
          <p:cNvSpPr txBox="1"/>
          <p:nvPr/>
        </p:nvSpPr>
        <p:spPr>
          <a:xfrm>
            <a:off x="8241553" y="3791506"/>
            <a:ext cx="3637720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b="1" dirty="0">
                <a:solidFill>
                  <a:srgbClr val="C0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검색 복잡도 감소</a:t>
            </a:r>
            <a:r>
              <a:rPr kumimoji="1" lang="ko-KR" altLang="en-US" b="1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라는 목적 동일</a:t>
            </a:r>
            <a:endParaRPr kumimoji="1" lang="en-US" altLang="ko-KR" b="1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검색 대상 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&amp;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오라클 연산 다름</a:t>
            </a:r>
          </a:p>
        </p:txBody>
      </p:sp>
    </p:spTree>
    <p:extLst>
      <p:ext uri="{BB962C8B-B14F-4D97-AF65-F5344CB8AC3E}">
        <p14:creationId xmlns:p14="http://schemas.microsoft.com/office/powerpoint/2010/main" val="1560846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DBAAB-6510-30BE-C353-029BB5FE2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모서리가 둥근 직사각형 4">
                <a:extLst>
                  <a:ext uri="{FF2B5EF4-FFF2-40B4-BE49-F238E27FC236}">
                    <a16:creationId xmlns:a16="http://schemas.microsoft.com/office/drawing/2014/main" id="{F770454F-5470-CE55-49D8-8F9244BA282A}"/>
                  </a:ext>
                </a:extLst>
              </p:cNvPr>
              <p:cNvSpPr/>
              <p:nvPr/>
            </p:nvSpPr>
            <p:spPr>
              <a:xfrm>
                <a:off x="565581" y="2086981"/>
                <a:ext cx="7621685" cy="1144988"/>
              </a:xfrm>
              <a:prstGeom prst="roundRect">
                <a:avLst>
                  <a:gd name="adj" fmla="val 4363"/>
                </a:avLst>
              </a:prstGeom>
              <a:solidFill>
                <a:srgbClr val="FAEDE8">
                  <a:alpha val="29804"/>
                </a:srgbClr>
              </a:solidFill>
              <a:ln w="19050">
                <a:solidFill>
                  <a:srgbClr val="C00000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7621685"/>
                          <a:gd name="csY0" fmla="*/ 49956 h 1144988"/>
                          <a:gd name="csX1" fmla="*/ 49956 w 7621685"/>
                          <a:gd name="csY1" fmla="*/ 0 h 1144988"/>
                          <a:gd name="csX2" fmla="*/ 884189 w 7621685"/>
                          <a:gd name="csY2" fmla="*/ 0 h 1144988"/>
                          <a:gd name="csX3" fmla="*/ 1492769 w 7621685"/>
                          <a:gd name="csY3" fmla="*/ 0 h 1144988"/>
                          <a:gd name="csX4" fmla="*/ 2026131 w 7621685"/>
                          <a:gd name="csY4" fmla="*/ 0 h 1144988"/>
                          <a:gd name="csX5" fmla="*/ 2785146 w 7621685"/>
                          <a:gd name="csY5" fmla="*/ 0 h 1144988"/>
                          <a:gd name="csX6" fmla="*/ 3393726 w 7621685"/>
                          <a:gd name="csY6" fmla="*/ 0 h 1144988"/>
                          <a:gd name="csX7" fmla="*/ 4227959 w 7621685"/>
                          <a:gd name="csY7" fmla="*/ 0 h 1144988"/>
                          <a:gd name="csX8" fmla="*/ 4761321 w 7621685"/>
                          <a:gd name="csY8" fmla="*/ 0 h 1144988"/>
                          <a:gd name="csX9" fmla="*/ 5595554 w 7621685"/>
                          <a:gd name="csY9" fmla="*/ 0 h 1144988"/>
                          <a:gd name="csX10" fmla="*/ 6053698 w 7621685"/>
                          <a:gd name="csY10" fmla="*/ 0 h 1144988"/>
                          <a:gd name="csX11" fmla="*/ 6737496 w 7621685"/>
                          <a:gd name="csY11" fmla="*/ 0 h 1144988"/>
                          <a:gd name="csX12" fmla="*/ 7571729 w 7621685"/>
                          <a:gd name="csY12" fmla="*/ 0 h 1144988"/>
                          <a:gd name="csX13" fmla="*/ 7621685 w 7621685"/>
                          <a:gd name="csY13" fmla="*/ 49956 h 1144988"/>
                          <a:gd name="csX14" fmla="*/ 7621685 w 7621685"/>
                          <a:gd name="csY14" fmla="*/ 572494 h 1144988"/>
                          <a:gd name="csX15" fmla="*/ 7621685 w 7621685"/>
                          <a:gd name="csY15" fmla="*/ 1095032 h 1144988"/>
                          <a:gd name="csX16" fmla="*/ 7571729 w 7621685"/>
                          <a:gd name="csY16" fmla="*/ 1144988 h 1144988"/>
                          <a:gd name="csX17" fmla="*/ 6812714 w 7621685"/>
                          <a:gd name="csY17" fmla="*/ 1144988 h 1144988"/>
                          <a:gd name="csX18" fmla="*/ 6354569 w 7621685"/>
                          <a:gd name="csY18" fmla="*/ 1144988 h 1144988"/>
                          <a:gd name="csX19" fmla="*/ 5821207 w 7621685"/>
                          <a:gd name="csY19" fmla="*/ 1144988 h 1144988"/>
                          <a:gd name="csX20" fmla="*/ 4986974 w 7621685"/>
                          <a:gd name="csY20" fmla="*/ 1144988 h 1144988"/>
                          <a:gd name="csX21" fmla="*/ 4303177 w 7621685"/>
                          <a:gd name="csY21" fmla="*/ 1144988 h 1144988"/>
                          <a:gd name="csX22" fmla="*/ 3769815 w 7621685"/>
                          <a:gd name="csY22" fmla="*/ 1144988 h 1144988"/>
                          <a:gd name="csX23" fmla="*/ 3086017 w 7621685"/>
                          <a:gd name="csY23" fmla="*/ 1144988 h 1144988"/>
                          <a:gd name="csX24" fmla="*/ 2627873 w 7621685"/>
                          <a:gd name="csY24" fmla="*/ 1144988 h 1144988"/>
                          <a:gd name="csX25" fmla="*/ 2169728 w 7621685"/>
                          <a:gd name="csY25" fmla="*/ 1144988 h 1144988"/>
                          <a:gd name="csX26" fmla="*/ 1485931 w 7621685"/>
                          <a:gd name="csY26" fmla="*/ 1144988 h 1144988"/>
                          <a:gd name="csX27" fmla="*/ 952569 w 7621685"/>
                          <a:gd name="csY27" fmla="*/ 1144988 h 1144988"/>
                          <a:gd name="csX28" fmla="*/ 49956 w 7621685"/>
                          <a:gd name="csY28" fmla="*/ 1144988 h 1144988"/>
                          <a:gd name="csX29" fmla="*/ 0 w 7621685"/>
                          <a:gd name="csY29" fmla="*/ 1095032 h 1144988"/>
                          <a:gd name="csX30" fmla="*/ 0 w 7621685"/>
                          <a:gd name="csY30" fmla="*/ 551592 h 1144988"/>
                          <a:gd name="csX31" fmla="*/ 0 w 7621685"/>
                          <a:gd name="csY31" fmla="*/ 49956 h 114498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  <a:cxn ang="0">
                            <a:pos x="csX27" y="csY27"/>
                          </a:cxn>
                          <a:cxn ang="0">
                            <a:pos x="csX28" y="csY28"/>
                          </a:cxn>
                          <a:cxn ang="0">
                            <a:pos x="csX29" y="csY29"/>
                          </a:cxn>
                          <a:cxn ang="0">
                            <a:pos x="csX30" y="csY30"/>
                          </a:cxn>
                          <a:cxn ang="0">
                            <a:pos x="csX31" y="csY31"/>
                          </a:cxn>
                        </a:cxnLst>
                        <a:rect l="l" t="t" r="r" b="b"/>
                        <a:pathLst>
                          <a:path w="7621685" h="1144988" extrusionOk="0">
                            <a:moveTo>
                              <a:pt x="0" y="49956"/>
                            </a:moveTo>
                            <a:cubicBezTo>
                              <a:pt x="-3301" y="20330"/>
                              <a:pt x="19195" y="1190"/>
                              <a:pt x="49956" y="0"/>
                            </a:cubicBezTo>
                            <a:cubicBezTo>
                              <a:pt x="434809" y="36657"/>
                              <a:pt x="636702" y="-24930"/>
                              <a:pt x="884189" y="0"/>
                            </a:cubicBezTo>
                            <a:cubicBezTo>
                              <a:pt x="1131676" y="24930"/>
                              <a:pt x="1349350" y="-15763"/>
                              <a:pt x="1492769" y="0"/>
                            </a:cubicBezTo>
                            <a:cubicBezTo>
                              <a:pt x="1636188" y="15763"/>
                              <a:pt x="1888629" y="6588"/>
                              <a:pt x="2026131" y="0"/>
                            </a:cubicBezTo>
                            <a:cubicBezTo>
                              <a:pt x="2163633" y="-6588"/>
                              <a:pt x="2586023" y="33546"/>
                              <a:pt x="2785146" y="0"/>
                            </a:cubicBezTo>
                            <a:cubicBezTo>
                              <a:pt x="2984270" y="-33546"/>
                              <a:pt x="3237077" y="-5834"/>
                              <a:pt x="3393726" y="0"/>
                            </a:cubicBezTo>
                            <a:cubicBezTo>
                              <a:pt x="3550375" y="5834"/>
                              <a:pt x="4046353" y="12184"/>
                              <a:pt x="4227959" y="0"/>
                            </a:cubicBezTo>
                            <a:cubicBezTo>
                              <a:pt x="4409565" y="-12184"/>
                              <a:pt x="4650644" y="-9534"/>
                              <a:pt x="4761321" y="0"/>
                            </a:cubicBezTo>
                            <a:cubicBezTo>
                              <a:pt x="4871998" y="9534"/>
                              <a:pt x="5355660" y="-9872"/>
                              <a:pt x="5595554" y="0"/>
                            </a:cubicBezTo>
                            <a:cubicBezTo>
                              <a:pt x="5835448" y="9872"/>
                              <a:pt x="5941562" y="-13978"/>
                              <a:pt x="6053698" y="0"/>
                            </a:cubicBezTo>
                            <a:cubicBezTo>
                              <a:pt x="6165834" y="13978"/>
                              <a:pt x="6565676" y="16183"/>
                              <a:pt x="6737496" y="0"/>
                            </a:cubicBezTo>
                            <a:cubicBezTo>
                              <a:pt x="6909316" y="-16183"/>
                              <a:pt x="7225500" y="-36441"/>
                              <a:pt x="7571729" y="0"/>
                            </a:cubicBezTo>
                            <a:cubicBezTo>
                              <a:pt x="7602501" y="-3144"/>
                              <a:pt x="7626120" y="19506"/>
                              <a:pt x="7621685" y="49956"/>
                            </a:cubicBezTo>
                            <a:cubicBezTo>
                              <a:pt x="7617665" y="244855"/>
                              <a:pt x="7619602" y="428936"/>
                              <a:pt x="7621685" y="572494"/>
                            </a:cubicBezTo>
                            <a:cubicBezTo>
                              <a:pt x="7623768" y="716052"/>
                              <a:pt x="7618065" y="977902"/>
                              <a:pt x="7621685" y="1095032"/>
                            </a:cubicBezTo>
                            <a:cubicBezTo>
                              <a:pt x="7620865" y="1121849"/>
                              <a:pt x="7597860" y="1142807"/>
                              <a:pt x="7571729" y="1144988"/>
                            </a:cubicBezTo>
                            <a:cubicBezTo>
                              <a:pt x="7260246" y="1148499"/>
                              <a:pt x="7117275" y="1158643"/>
                              <a:pt x="6812714" y="1144988"/>
                            </a:cubicBezTo>
                            <a:cubicBezTo>
                              <a:pt x="6508153" y="1131333"/>
                              <a:pt x="6460003" y="1159992"/>
                              <a:pt x="6354569" y="1144988"/>
                            </a:cubicBezTo>
                            <a:cubicBezTo>
                              <a:pt x="6249135" y="1129984"/>
                              <a:pt x="6084367" y="1131307"/>
                              <a:pt x="5821207" y="1144988"/>
                            </a:cubicBezTo>
                            <a:cubicBezTo>
                              <a:pt x="5558047" y="1158669"/>
                              <a:pt x="5275417" y="1108660"/>
                              <a:pt x="4986974" y="1144988"/>
                            </a:cubicBezTo>
                            <a:cubicBezTo>
                              <a:pt x="4698531" y="1181316"/>
                              <a:pt x="4567038" y="1118652"/>
                              <a:pt x="4303177" y="1144988"/>
                            </a:cubicBezTo>
                            <a:cubicBezTo>
                              <a:pt x="4039316" y="1171324"/>
                              <a:pt x="4025674" y="1158076"/>
                              <a:pt x="3769815" y="1144988"/>
                            </a:cubicBezTo>
                            <a:cubicBezTo>
                              <a:pt x="3513956" y="1131900"/>
                              <a:pt x="3333377" y="1129126"/>
                              <a:pt x="3086017" y="1144988"/>
                            </a:cubicBezTo>
                            <a:cubicBezTo>
                              <a:pt x="2838657" y="1160850"/>
                              <a:pt x="2742218" y="1162246"/>
                              <a:pt x="2627873" y="1144988"/>
                            </a:cubicBezTo>
                            <a:cubicBezTo>
                              <a:pt x="2513528" y="1127730"/>
                              <a:pt x="2378561" y="1164609"/>
                              <a:pt x="2169728" y="1144988"/>
                            </a:cubicBezTo>
                            <a:cubicBezTo>
                              <a:pt x="1960895" y="1125367"/>
                              <a:pt x="1790854" y="1150307"/>
                              <a:pt x="1485931" y="1144988"/>
                            </a:cubicBezTo>
                            <a:cubicBezTo>
                              <a:pt x="1181008" y="1139669"/>
                              <a:pt x="1191792" y="1120839"/>
                              <a:pt x="952569" y="1144988"/>
                            </a:cubicBezTo>
                            <a:cubicBezTo>
                              <a:pt x="713346" y="1169137"/>
                              <a:pt x="350727" y="1136568"/>
                              <a:pt x="49956" y="1144988"/>
                            </a:cubicBezTo>
                            <a:cubicBezTo>
                              <a:pt x="24392" y="1144544"/>
                              <a:pt x="3106" y="1125181"/>
                              <a:pt x="0" y="1095032"/>
                            </a:cubicBezTo>
                            <a:cubicBezTo>
                              <a:pt x="-18966" y="974547"/>
                              <a:pt x="9542" y="675514"/>
                              <a:pt x="0" y="551592"/>
                            </a:cubicBezTo>
                            <a:cubicBezTo>
                              <a:pt x="-9542" y="427670"/>
                              <a:pt x="8508" y="288028"/>
                              <a:pt x="0" y="49956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mc:Choice>
        <mc:Fallback xmlns="">
          <p:sp>
            <p:nvSpPr>
              <p:cNvPr id="5" name="모서리가 둥근 직사각형 4">
                <a:extLst>
                  <a:ext uri="{FF2B5EF4-FFF2-40B4-BE49-F238E27FC236}">
                    <a16:creationId xmlns:a16="http://schemas.microsoft.com/office/drawing/2014/main" id="{F770454F-5470-CE55-49D8-8F9244BA28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81" y="2086981"/>
                <a:ext cx="7621685" cy="1144988"/>
              </a:xfrm>
              <a:prstGeom prst="roundRect">
                <a:avLst>
                  <a:gd name="adj" fmla="val 4363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7621685"/>
                          <a:gd name="csY0" fmla="*/ 49956 h 1144988"/>
                          <a:gd name="csX1" fmla="*/ 49956 w 7621685"/>
                          <a:gd name="csY1" fmla="*/ 0 h 1144988"/>
                          <a:gd name="csX2" fmla="*/ 884189 w 7621685"/>
                          <a:gd name="csY2" fmla="*/ 0 h 1144988"/>
                          <a:gd name="csX3" fmla="*/ 1492769 w 7621685"/>
                          <a:gd name="csY3" fmla="*/ 0 h 1144988"/>
                          <a:gd name="csX4" fmla="*/ 2026131 w 7621685"/>
                          <a:gd name="csY4" fmla="*/ 0 h 1144988"/>
                          <a:gd name="csX5" fmla="*/ 2785146 w 7621685"/>
                          <a:gd name="csY5" fmla="*/ 0 h 1144988"/>
                          <a:gd name="csX6" fmla="*/ 3393726 w 7621685"/>
                          <a:gd name="csY6" fmla="*/ 0 h 1144988"/>
                          <a:gd name="csX7" fmla="*/ 4227959 w 7621685"/>
                          <a:gd name="csY7" fmla="*/ 0 h 1144988"/>
                          <a:gd name="csX8" fmla="*/ 4761321 w 7621685"/>
                          <a:gd name="csY8" fmla="*/ 0 h 1144988"/>
                          <a:gd name="csX9" fmla="*/ 5595554 w 7621685"/>
                          <a:gd name="csY9" fmla="*/ 0 h 1144988"/>
                          <a:gd name="csX10" fmla="*/ 6053698 w 7621685"/>
                          <a:gd name="csY10" fmla="*/ 0 h 1144988"/>
                          <a:gd name="csX11" fmla="*/ 6737496 w 7621685"/>
                          <a:gd name="csY11" fmla="*/ 0 h 1144988"/>
                          <a:gd name="csX12" fmla="*/ 7571729 w 7621685"/>
                          <a:gd name="csY12" fmla="*/ 0 h 1144988"/>
                          <a:gd name="csX13" fmla="*/ 7621685 w 7621685"/>
                          <a:gd name="csY13" fmla="*/ 49956 h 1144988"/>
                          <a:gd name="csX14" fmla="*/ 7621685 w 7621685"/>
                          <a:gd name="csY14" fmla="*/ 572494 h 1144988"/>
                          <a:gd name="csX15" fmla="*/ 7621685 w 7621685"/>
                          <a:gd name="csY15" fmla="*/ 1095032 h 1144988"/>
                          <a:gd name="csX16" fmla="*/ 7571729 w 7621685"/>
                          <a:gd name="csY16" fmla="*/ 1144988 h 1144988"/>
                          <a:gd name="csX17" fmla="*/ 6812714 w 7621685"/>
                          <a:gd name="csY17" fmla="*/ 1144988 h 1144988"/>
                          <a:gd name="csX18" fmla="*/ 6354569 w 7621685"/>
                          <a:gd name="csY18" fmla="*/ 1144988 h 1144988"/>
                          <a:gd name="csX19" fmla="*/ 5821207 w 7621685"/>
                          <a:gd name="csY19" fmla="*/ 1144988 h 1144988"/>
                          <a:gd name="csX20" fmla="*/ 4986974 w 7621685"/>
                          <a:gd name="csY20" fmla="*/ 1144988 h 1144988"/>
                          <a:gd name="csX21" fmla="*/ 4303177 w 7621685"/>
                          <a:gd name="csY21" fmla="*/ 1144988 h 1144988"/>
                          <a:gd name="csX22" fmla="*/ 3769815 w 7621685"/>
                          <a:gd name="csY22" fmla="*/ 1144988 h 1144988"/>
                          <a:gd name="csX23" fmla="*/ 3086017 w 7621685"/>
                          <a:gd name="csY23" fmla="*/ 1144988 h 1144988"/>
                          <a:gd name="csX24" fmla="*/ 2627873 w 7621685"/>
                          <a:gd name="csY24" fmla="*/ 1144988 h 1144988"/>
                          <a:gd name="csX25" fmla="*/ 2169728 w 7621685"/>
                          <a:gd name="csY25" fmla="*/ 1144988 h 1144988"/>
                          <a:gd name="csX26" fmla="*/ 1485931 w 7621685"/>
                          <a:gd name="csY26" fmla="*/ 1144988 h 1144988"/>
                          <a:gd name="csX27" fmla="*/ 952569 w 7621685"/>
                          <a:gd name="csY27" fmla="*/ 1144988 h 1144988"/>
                          <a:gd name="csX28" fmla="*/ 49956 w 7621685"/>
                          <a:gd name="csY28" fmla="*/ 1144988 h 1144988"/>
                          <a:gd name="csX29" fmla="*/ 0 w 7621685"/>
                          <a:gd name="csY29" fmla="*/ 1095032 h 1144988"/>
                          <a:gd name="csX30" fmla="*/ 0 w 7621685"/>
                          <a:gd name="csY30" fmla="*/ 551592 h 1144988"/>
                          <a:gd name="csX31" fmla="*/ 0 w 7621685"/>
                          <a:gd name="csY31" fmla="*/ 49956 h 114498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  <a:cxn ang="0">
                            <a:pos x="csX27" y="csY27"/>
                          </a:cxn>
                          <a:cxn ang="0">
                            <a:pos x="csX28" y="csY28"/>
                          </a:cxn>
                          <a:cxn ang="0">
                            <a:pos x="csX29" y="csY29"/>
                          </a:cxn>
                          <a:cxn ang="0">
                            <a:pos x="csX30" y="csY30"/>
                          </a:cxn>
                          <a:cxn ang="0">
                            <a:pos x="csX31" y="csY31"/>
                          </a:cxn>
                        </a:cxnLst>
                        <a:rect l="l" t="t" r="r" b="b"/>
                        <a:pathLst>
                          <a:path w="7621685" h="1144988" extrusionOk="0">
                            <a:moveTo>
                              <a:pt x="0" y="49956"/>
                            </a:moveTo>
                            <a:cubicBezTo>
                              <a:pt x="-3301" y="20330"/>
                              <a:pt x="19195" y="1190"/>
                              <a:pt x="49956" y="0"/>
                            </a:cubicBezTo>
                            <a:cubicBezTo>
                              <a:pt x="434809" y="36657"/>
                              <a:pt x="636702" y="-24930"/>
                              <a:pt x="884189" y="0"/>
                            </a:cubicBezTo>
                            <a:cubicBezTo>
                              <a:pt x="1131676" y="24930"/>
                              <a:pt x="1349350" y="-15763"/>
                              <a:pt x="1492769" y="0"/>
                            </a:cubicBezTo>
                            <a:cubicBezTo>
                              <a:pt x="1636188" y="15763"/>
                              <a:pt x="1888629" y="6588"/>
                              <a:pt x="2026131" y="0"/>
                            </a:cubicBezTo>
                            <a:cubicBezTo>
                              <a:pt x="2163633" y="-6588"/>
                              <a:pt x="2586023" y="33546"/>
                              <a:pt x="2785146" y="0"/>
                            </a:cubicBezTo>
                            <a:cubicBezTo>
                              <a:pt x="2984270" y="-33546"/>
                              <a:pt x="3237077" y="-5834"/>
                              <a:pt x="3393726" y="0"/>
                            </a:cubicBezTo>
                            <a:cubicBezTo>
                              <a:pt x="3550375" y="5834"/>
                              <a:pt x="4046353" y="12184"/>
                              <a:pt x="4227959" y="0"/>
                            </a:cubicBezTo>
                            <a:cubicBezTo>
                              <a:pt x="4409565" y="-12184"/>
                              <a:pt x="4650644" y="-9534"/>
                              <a:pt x="4761321" y="0"/>
                            </a:cubicBezTo>
                            <a:cubicBezTo>
                              <a:pt x="4871998" y="9534"/>
                              <a:pt x="5355660" y="-9872"/>
                              <a:pt x="5595554" y="0"/>
                            </a:cubicBezTo>
                            <a:cubicBezTo>
                              <a:pt x="5835448" y="9872"/>
                              <a:pt x="5941562" y="-13978"/>
                              <a:pt x="6053698" y="0"/>
                            </a:cubicBezTo>
                            <a:cubicBezTo>
                              <a:pt x="6165834" y="13978"/>
                              <a:pt x="6565676" y="16183"/>
                              <a:pt x="6737496" y="0"/>
                            </a:cubicBezTo>
                            <a:cubicBezTo>
                              <a:pt x="6909316" y="-16183"/>
                              <a:pt x="7225500" y="-36441"/>
                              <a:pt x="7571729" y="0"/>
                            </a:cubicBezTo>
                            <a:cubicBezTo>
                              <a:pt x="7602501" y="-3144"/>
                              <a:pt x="7626120" y="19506"/>
                              <a:pt x="7621685" y="49956"/>
                            </a:cubicBezTo>
                            <a:cubicBezTo>
                              <a:pt x="7617665" y="244855"/>
                              <a:pt x="7619602" y="428936"/>
                              <a:pt x="7621685" y="572494"/>
                            </a:cubicBezTo>
                            <a:cubicBezTo>
                              <a:pt x="7623768" y="716052"/>
                              <a:pt x="7618065" y="977902"/>
                              <a:pt x="7621685" y="1095032"/>
                            </a:cubicBezTo>
                            <a:cubicBezTo>
                              <a:pt x="7620865" y="1121849"/>
                              <a:pt x="7597860" y="1142807"/>
                              <a:pt x="7571729" y="1144988"/>
                            </a:cubicBezTo>
                            <a:cubicBezTo>
                              <a:pt x="7260246" y="1148499"/>
                              <a:pt x="7117275" y="1158643"/>
                              <a:pt x="6812714" y="1144988"/>
                            </a:cubicBezTo>
                            <a:cubicBezTo>
                              <a:pt x="6508153" y="1131333"/>
                              <a:pt x="6460003" y="1159992"/>
                              <a:pt x="6354569" y="1144988"/>
                            </a:cubicBezTo>
                            <a:cubicBezTo>
                              <a:pt x="6249135" y="1129984"/>
                              <a:pt x="6084367" y="1131307"/>
                              <a:pt x="5821207" y="1144988"/>
                            </a:cubicBezTo>
                            <a:cubicBezTo>
                              <a:pt x="5558047" y="1158669"/>
                              <a:pt x="5275417" y="1108660"/>
                              <a:pt x="4986974" y="1144988"/>
                            </a:cubicBezTo>
                            <a:cubicBezTo>
                              <a:pt x="4698531" y="1181316"/>
                              <a:pt x="4567038" y="1118652"/>
                              <a:pt x="4303177" y="1144988"/>
                            </a:cubicBezTo>
                            <a:cubicBezTo>
                              <a:pt x="4039316" y="1171324"/>
                              <a:pt x="4025674" y="1158076"/>
                              <a:pt x="3769815" y="1144988"/>
                            </a:cubicBezTo>
                            <a:cubicBezTo>
                              <a:pt x="3513956" y="1131900"/>
                              <a:pt x="3333377" y="1129126"/>
                              <a:pt x="3086017" y="1144988"/>
                            </a:cubicBezTo>
                            <a:cubicBezTo>
                              <a:pt x="2838657" y="1160850"/>
                              <a:pt x="2742218" y="1162246"/>
                              <a:pt x="2627873" y="1144988"/>
                            </a:cubicBezTo>
                            <a:cubicBezTo>
                              <a:pt x="2513528" y="1127730"/>
                              <a:pt x="2378561" y="1164609"/>
                              <a:pt x="2169728" y="1144988"/>
                            </a:cubicBezTo>
                            <a:cubicBezTo>
                              <a:pt x="1960895" y="1125367"/>
                              <a:pt x="1790854" y="1150307"/>
                              <a:pt x="1485931" y="1144988"/>
                            </a:cubicBezTo>
                            <a:cubicBezTo>
                              <a:pt x="1181008" y="1139669"/>
                              <a:pt x="1191792" y="1120839"/>
                              <a:pt x="952569" y="1144988"/>
                            </a:cubicBezTo>
                            <a:cubicBezTo>
                              <a:pt x="713346" y="1169137"/>
                              <a:pt x="350727" y="1136568"/>
                              <a:pt x="49956" y="1144988"/>
                            </a:cubicBezTo>
                            <a:cubicBezTo>
                              <a:pt x="24392" y="1144544"/>
                              <a:pt x="3106" y="1125181"/>
                              <a:pt x="0" y="1095032"/>
                            </a:cubicBezTo>
                            <a:cubicBezTo>
                              <a:pt x="-18966" y="974547"/>
                              <a:pt x="9542" y="675514"/>
                              <a:pt x="0" y="551592"/>
                            </a:cubicBezTo>
                            <a:cubicBezTo>
                              <a:pt x="-9542" y="427670"/>
                              <a:pt x="8508" y="288028"/>
                              <a:pt x="0" y="49956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F23F954E-04D3-299C-8D08-EABC410F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Overview: </a:t>
            </a:r>
            <a:r>
              <a:rPr lang="ko-KR" altLang="en-US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대칭키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암호 </a:t>
            </a:r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vs.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코드기반 암호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630D12-4A65-4C3D-BB22-B7A2BE17DB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ko-KR" altLang="en-US" sz="24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대칭키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암호와 코드기반 암호에 대한 </a:t>
            </a:r>
            <a:r>
              <a:rPr lang="en-US" altLang="ko-KR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Grover’s search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기반 양자 공격 비교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28B3D4C-F7D2-A273-C38D-28F63FD24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49" y="1484956"/>
            <a:ext cx="8085667" cy="50872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3E1876-AF16-4DFA-73C4-E12846DC6121}"/>
              </a:ext>
            </a:extLst>
          </p:cNvPr>
          <p:cNvSpPr txBox="1"/>
          <p:nvPr/>
        </p:nvSpPr>
        <p:spPr>
          <a:xfrm>
            <a:off x="8407401" y="2086981"/>
            <a:ext cx="35278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b="1" dirty="0" err="1">
                <a:solidFill>
                  <a:srgbClr val="074232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대칭키</a:t>
            </a:r>
            <a:endParaRPr kumimoji="1" lang="en-US" altLang="ko-KR" b="1" dirty="0">
              <a:solidFill>
                <a:srgbClr val="074232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평문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입력</a:t>
            </a:r>
            <a:endParaRPr kumimoji="1" lang="en-US" altLang="ko-KR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AES-128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기준 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128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비트</a:t>
            </a:r>
            <a:endParaRPr kumimoji="1" lang="en-US" altLang="ko-KR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BCBF0D-AD26-BD22-8DC8-9184B62B1877}"/>
                  </a:ext>
                </a:extLst>
              </p:cNvPr>
              <p:cNvSpPr txBox="1"/>
              <p:nvPr/>
            </p:nvSpPr>
            <p:spPr>
              <a:xfrm>
                <a:off x="8407401" y="3388718"/>
                <a:ext cx="380302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ko-KR" altLang="en-US" b="1" dirty="0">
                    <a:solidFill>
                      <a:srgbClr val="712B12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코드기반암호</a:t>
                </a:r>
                <a:endParaRPr kumimoji="1" lang="en-US" altLang="ko-KR" b="1" dirty="0">
                  <a:solidFill>
                    <a:srgbClr val="712B12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대규모 </a:t>
                </a:r>
                <a:r>
                  <a:rPr kumimoji="1" lang="ko-KR" altLang="en-US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큐빗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행렬 준비</a:t>
                </a:r>
                <a:endParaRPr kumimoji="1"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HQC-1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기준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8835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행 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17669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열 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𝑘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=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𝑛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/2</m:t>
                    </m:r>
                  </m:oMath>
                </a14:m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BCBF0D-AD26-BD22-8DC8-9184B62B1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401" y="3388718"/>
                <a:ext cx="3803020" cy="1200329"/>
              </a:xfrm>
              <a:prstGeom prst="rect">
                <a:avLst/>
              </a:prstGeom>
              <a:blipFill>
                <a:blip r:embed="rId5"/>
                <a:stretch>
                  <a:fillRect l="-997" t="-2083" b="-72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5638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D546F-A6C9-4E0F-18ED-3FEC5DFB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모서리가 둥근 직사각형 7">
                <a:extLst>
                  <a:ext uri="{FF2B5EF4-FFF2-40B4-BE49-F238E27FC236}">
                    <a16:creationId xmlns:a16="http://schemas.microsoft.com/office/drawing/2014/main" id="{7ED4EE96-67FB-7B3F-6F52-150040F750B6}"/>
                  </a:ext>
                </a:extLst>
              </p:cNvPr>
              <p:cNvSpPr/>
              <p:nvPr/>
            </p:nvSpPr>
            <p:spPr>
              <a:xfrm>
                <a:off x="565581" y="3263723"/>
                <a:ext cx="7621685" cy="2341209"/>
              </a:xfrm>
              <a:prstGeom prst="roundRect">
                <a:avLst>
                  <a:gd name="adj" fmla="val 4363"/>
                </a:avLst>
              </a:prstGeom>
              <a:solidFill>
                <a:srgbClr val="FAEDE8">
                  <a:alpha val="29804"/>
                </a:srgbClr>
              </a:solidFill>
              <a:ln w="19050">
                <a:solidFill>
                  <a:srgbClr val="C00000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7621685"/>
                          <a:gd name="csY0" fmla="*/ 49956 h 1144988"/>
                          <a:gd name="csX1" fmla="*/ 49956 w 7621685"/>
                          <a:gd name="csY1" fmla="*/ 0 h 1144988"/>
                          <a:gd name="csX2" fmla="*/ 884189 w 7621685"/>
                          <a:gd name="csY2" fmla="*/ 0 h 1144988"/>
                          <a:gd name="csX3" fmla="*/ 1492769 w 7621685"/>
                          <a:gd name="csY3" fmla="*/ 0 h 1144988"/>
                          <a:gd name="csX4" fmla="*/ 2026131 w 7621685"/>
                          <a:gd name="csY4" fmla="*/ 0 h 1144988"/>
                          <a:gd name="csX5" fmla="*/ 2785146 w 7621685"/>
                          <a:gd name="csY5" fmla="*/ 0 h 1144988"/>
                          <a:gd name="csX6" fmla="*/ 3393726 w 7621685"/>
                          <a:gd name="csY6" fmla="*/ 0 h 1144988"/>
                          <a:gd name="csX7" fmla="*/ 4227959 w 7621685"/>
                          <a:gd name="csY7" fmla="*/ 0 h 1144988"/>
                          <a:gd name="csX8" fmla="*/ 4761321 w 7621685"/>
                          <a:gd name="csY8" fmla="*/ 0 h 1144988"/>
                          <a:gd name="csX9" fmla="*/ 5595554 w 7621685"/>
                          <a:gd name="csY9" fmla="*/ 0 h 1144988"/>
                          <a:gd name="csX10" fmla="*/ 6053698 w 7621685"/>
                          <a:gd name="csY10" fmla="*/ 0 h 1144988"/>
                          <a:gd name="csX11" fmla="*/ 6737496 w 7621685"/>
                          <a:gd name="csY11" fmla="*/ 0 h 1144988"/>
                          <a:gd name="csX12" fmla="*/ 7571729 w 7621685"/>
                          <a:gd name="csY12" fmla="*/ 0 h 1144988"/>
                          <a:gd name="csX13" fmla="*/ 7621685 w 7621685"/>
                          <a:gd name="csY13" fmla="*/ 49956 h 1144988"/>
                          <a:gd name="csX14" fmla="*/ 7621685 w 7621685"/>
                          <a:gd name="csY14" fmla="*/ 572494 h 1144988"/>
                          <a:gd name="csX15" fmla="*/ 7621685 w 7621685"/>
                          <a:gd name="csY15" fmla="*/ 1095032 h 1144988"/>
                          <a:gd name="csX16" fmla="*/ 7571729 w 7621685"/>
                          <a:gd name="csY16" fmla="*/ 1144988 h 1144988"/>
                          <a:gd name="csX17" fmla="*/ 6812714 w 7621685"/>
                          <a:gd name="csY17" fmla="*/ 1144988 h 1144988"/>
                          <a:gd name="csX18" fmla="*/ 6354569 w 7621685"/>
                          <a:gd name="csY18" fmla="*/ 1144988 h 1144988"/>
                          <a:gd name="csX19" fmla="*/ 5821207 w 7621685"/>
                          <a:gd name="csY19" fmla="*/ 1144988 h 1144988"/>
                          <a:gd name="csX20" fmla="*/ 4986974 w 7621685"/>
                          <a:gd name="csY20" fmla="*/ 1144988 h 1144988"/>
                          <a:gd name="csX21" fmla="*/ 4303177 w 7621685"/>
                          <a:gd name="csY21" fmla="*/ 1144988 h 1144988"/>
                          <a:gd name="csX22" fmla="*/ 3769815 w 7621685"/>
                          <a:gd name="csY22" fmla="*/ 1144988 h 1144988"/>
                          <a:gd name="csX23" fmla="*/ 3086017 w 7621685"/>
                          <a:gd name="csY23" fmla="*/ 1144988 h 1144988"/>
                          <a:gd name="csX24" fmla="*/ 2627873 w 7621685"/>
                          <a:gd name="csY24" fmla="*/ 1144988 h 1144988"/>
                          <a:gd name="csX25" fmla="*/ 2169728 w 7621685"/>
                          <a:gd name="csY25" fmla="*/ 1144988 h 1144988"/>
                          <a:gd name="csX26" fmla="*/ 1485931 w 7621685"/>
                          <a:gd name="csY26" fmla="*/ 1144988 h 1144988"/>
                          <a:gd name="csX27" fmla="*/ 952569 w 7621685"/>
                          <a:gd name="csY27" fmla="*/ 1144988 h 1144988"/>
                          <a:gd name="csX28" fmla="*/ 49956 w 7621685"/>
                          <a:gd name="csY28" fmla="*/ 1144988 h 1144988"/>
                          <a:gd name="csX29" fmla="*/ 0 w 7621685"/>
                          <a:gd name="csY29" fmla="*/ 1095032 h 1144988"/>
                          <a:gd name="csX30" fmla="*/ 0 w 7621685"/>
                          <a:gd name="csY30" fmla="*/ 551592 h 1144988"/>
                          <a:gd name="csX31" fmla="*/ 0 w 7621685"/>
                          <a:gd name="csY31" fmla="*/ 49956 h 114498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  <a:cxn ang="0">
                            <a:pos x="csX27" y="csY27"/>
                          </a:cxn>
                          <a:cxn ang="0">
                            <a:pos x="csX28" y="csY28"/>
                          </a:cxn>
                          <a:cxn ang="0">
                            <a:pos x="csX29" y="csY29"/>
                          </a:cxn>
                          <a:cxn ang="0">
                            <a:pos x="csX30" y="csY30"/>
                          </a:cxn>
                          <a:cxn ang="0">
                            <a:pos x="csX31" y="csY31"/>
                          </a:cxn>
                        </a:cxnLst>
                        <a:rect l="l" t="t" r="r" b="b"/>
                        <a:pathLst>
                          <a:path w="7621685" h="1144988" extrusionOk="0">
                            <a:moveTo>
                              <a:pt x="0" y="49956"/>
                            </a:moveTo>
                            <a:cubicBezTo>
                              <a:pt x="-3301" y="20330"/>
                              <a:pt x="19195" y="1190"/>
                              <a:pt x="49956" y="0"/>
                            </a:cubicBezTo>
                            <a:cubicBezTo>
                              <a:pt x="434809" y="36657"/>
                              <a:pt x="636702" y="-24930"/>
                              <a:pt x="884189" y="0"/>
                            </a:cubicBezTo>
                            <a:cubicBezTo>
                              <a:pt x="1131676" y="24930"/>
                              <a:pt x="1349350" y="-15763"/>
                              <a:pt x="1492769" y="0"/>
                            </a:cubicBezTo>
                            <a:cubicBezTo>
                              <a:pt x="1636188" y="15763"/>
                              <a:pt x="1888629" y="6588"/>
                              <a:pt x="2026131" y="0"/>
                            </a:cubicBezTo>
                            <a:cubicBezTo>
                              <a:pt x="2163633" y="-6588"/>
                              <a:pt x="2586023" y="33546"/>
                              <a:pt x="2785146" y="0"/>
                            </a:cubicBezTo>
                            <a:cubicBezTo>
                              <a:pt x="2984270" y="-33546"/>
                              <a:pt x="3237077" y="-5834"/>
                              <a:pt x="3393726" y="0"/>
                            </a:cubicBezTo>
                            <a:cubicBezTo>
                              <a:pt x="3550375" y="5834"/>
                              <a:pt x="4046353" y="12184"/>
                              <a:pt x="4227959" y="0"/>
                            </a:cubicBezTo>
                            <a:cubicBezTo>
                              <a:pt x="4409565" y="-12184"/>
                              <a:pt x="4650644" y="-9534"/>
                              <a:pt x="4761321" y="0"/>
                            </a:cubicBezTo>
                            <a:cubicBezTo>
                              <a:pt x="4871998" y="9534"/>
                              <a:pt x="5355660" y="-9872"/>
                              <a:pt x="5595554" y="0"/>
                            </a:cubicBezTo>
                            <a:cubicBezTo>
                              <a:pt x="5835448" y="9872"/>
                              <a:pt x="5941562" y="-13978"/>
                              <a:pt x="6053698" y="0"/>
                            </a:cubicBezTo>
                            <a:cubicBezTo>
                              <a:pt x="6165834" y="13978"/>
                              <a:pt x="6565676" y="16183"/>
                              <a:pt x="6737496" y="0"/>
                            </a:cubicBezTo>
                            <a:cubicBezTo>
                              <a:pt x="6909316" y="-16183"/>
                              <a:pt x="7225500" y="-36441"/>
                              <a:pt x="7571729" y="0"/>
                            </a:cubicBezTo>
                            <a:cubicBezTo>
                              <a:pt x="7602501" y="-3144"/>
                              <a:pt x="7626120" y="19506"/>
                              <a:pt x="7621685" y="49956"/>
                            </a:cubicBezTo>
                            <a:cubicBezTo>
                              <a:pt x="7617665" y="244855"/>
                              <a:pt x="7619602" y="428936"/>
                              <a:pt x="7621685" y="572494"/>
                            </a:cubicBezTo>
                            <a:cubicBezTo>
                              <a:pt x="7623768" y="716052"/>
                              <a:pt x="7618065" y="977902"/>
                              <a:pt x="7621685" y="1095032"/>
                            </a:cubicBezTo>
                            <a:cubicBezTo>
                              <a:pt x="7620865" y="1121849"/>
                              <a:pt x="7597860" y="1142807"/>
                              <a:pt x="7571729" y="1144988"/>
                            </a:cubicBezTo>
                            <a:cubicBezTo>
                              <a:pt x="7260246" y="1148499"/>
                              <a:pt x="7117275" y="1158643"/>
                              <a:pt x="6812714" y="1144988"/>
                            </a:cubicBezTo>
                            <a:cubicBezTo>
                              <a:pt x="6508153" y="1131333"/>
                              <a:pt x="6460003" y="1159992"/>
                              <a:pt x="6354569" y="1144988"/>
                            </a:cubicBezTo>
                            <a:cubicBezTo>
                              <a:pt x="6249135" y="1129984"/>
                              <a:pt x="6084367" y="1131307"/>
                              <a:pt x="5821207" y="1144988"/>
                            </a:cubicBezTo>
                            <a:cubicBezTo>
                              <a:pt x="5558047" y="1158669"/>
                              <a:pt x="5275417" y="1108660"/>
                              <a:pt x="4986974" y="1144988"/>
                            </a:cubicBezTo>
                            <a:cubicBezTo>
                              <a:pt x="4698531" y="1181316"/>
                              <a:pt x="4567038" y="1118652"/>
                              <a:pt x="4303177" y="1144988"/>
                            </a:cubicBezTo>
                            <a:cubicBezTo>
                              <a:pt x="4039316" y="1171324"/>
                              <a:pt x="4025674" y="1158076"/>
                              <a:pt x="3769815" y="1144988"/>
                            </a:cubicBezTo>
                            <a:cubicBezTo>
                              <a:pt x="3513956" y="1131900"/>
                              <a:pt x="3333377" y="1129126"/>
                              <a:pt x="3086017" y="1144988"/>
                            </a:cubicBezTo>
                            <a:cubicBezTo>
                              <a:pt x="2838657" y="1160850"/>
                              <a:pt x="2742218" y="1162246"/>
                              <a:pt x="2627873" y="1144988"/>
                            </a:cubicBezTo>
                            <a:cubicBezTo>
                              <a:pt x="2513528" y="1127730"/>
                              <a:pt x="2378561" y="1164609"/>
                              <a:pt x="2169728" y="1144988"/>
                            </a:cubicBezTo>
                            <a:cubicBezTo>
                              <a:pt x="1960895" y="1125367"/>
                              <a:pt x="1790854" y="1150307"/>
                              <a:pt x="1485931" y="1144988"/>
                            </a:cubicBezTo>
                            <a:cubicBezTo>
                              <a:pt x="1181008" y="1139669"/>
                              <a:pt x="1191792" y="1120839"/>
                              <a:pt x="952569" y="1144988"/>
                            </a:cubicBezTo>
                            <a:cubicBezTo>
                              <a:pt x="713346" y="1169137"/>
                              <a:pt x="350727" y="1136568"/>
                              <a:pt x="49956" y="1144988"/>
                            </a:cubicBezTo>
                            <a:cubicBezTo>
                              <a:pt x="24392" y="1144544"/>
                              <a:pt x="3106" y="1125181"/>
                              <a:pt x="0" y="1095032"/>
                            </a:cubicBezTo>
                            <a:cubicBezTo>
                              <a:pt x="-18966" y="974547"/>
                              <a:pt x="9542" y="675514"/>
                              <a:pt x="0" y="551592"/>
                            </a:cubicBezTo>
                            <a:cubicBezTo>
                              <a:pt x="-9542" y="427670"/>
                              <a:pt x="8508" y="288028"/>
                              <a:pt x="0" y="49956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mc:Choice>
        <mc:Fallback xmlns="">
          <p:sp>
            <p:nvSpPr>
              <p:cNvPr id="8" name="모서리가 둥근 직사각형 7">
                <a:extLst>
                  <a:ext uri="{FF2B5EF4-FFF2-40B4-BE49-F238E27FC236}">
                    <a16:creationId xmlns:a16="http://schemas.microsoft.com/office/drawing/2014/main" id="{7ED4EE96-67FB-7B3F-6F52-150040F750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81" y="3263723"/>
                <a:ext cx="7621685" cy="2341209"/>
              </a:xfrm>
              <a:prstGeom prst="roundRect">
                <a:avLst>
                  <a:gd name="adj" fmla="val 4363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7621685"/>
                          <a:gd name="csY0" fmla="*/ 49956 h 1144988"/>
                          <a:gd name="csX1" fmla="*/ 49956 w 7621685"/>
                          <a:gd name="csY1" fmla="*/ 0 h 1144988"/>
                          <a:gd name="csX2" fmla="*/ 884189 w 7621685"/>
                          <a:gd name="csY2" fmla="*/ 0 h 1144988"/>
                          <a:gd name="csX3" fmla="*/ 1492769 w 7621685"/>
                          <a:gd name="csY3" fmla="*/ 0 h 1144988"/>
                          <a:gd name="csX4" fmla="*/ 2026131 w 7621685"/>
                          <a:gd name="csY4" fmla="*/ 0 h 1144988"/>
                          <a:gd name="csX5" fmla="*/ 2785146 w 7621685"/>
                          <a:gd name="csY5" fmla="*/ 0 h 1144988"/>
                          <a:gd name="csX6" fmla="*/ 3393726 w 7621685"/>
                          <a:gd name="csY6" fmla="*/ 0 h 1144988"/>
                          <a:gd name="csX7" fmla="*/ 4227959 w 7621685"/>
                          <a:gd name="csY7" fmla="*/ 0 h 1144988"/>
                          <a:gd name="csX8" fmla="*/ 4761321 w 7621685"/>
                          <a:gd name="csY8" fmla="*/ 0 h 1144988"/>
                          <a:gd name="csX9" fmla="*/ 5595554 w 7621685"/>
                          <a:gd name="csY9" fmla="*/ 0 h 1144988"/>
                          <a:gd name="csX10" fmla="*/ 6053698 w 7621685"/>
                          <a:gd name="csY10" fmla="*/ 0 h 1144988"/>
                          <a:gd name="csX11" fmla="*/ 6737496 w 7621685"/>
                          <a:gd name="csY11" fmla="*/ 0 h 1144988"/>
                          <a:gd name="csX12" fmla="*/ 7571729 w 7621685"/>
                          <a:gd name="csY12" fmla="*/ 0 h 1144988"/>
                          <a:gd name="csX13" fmla="*/ 7621685 w 7621685"/>
                          <a:gd name="csY13" fmla="*/ 49956 h 1144988"/>
                          <a:gd name="csX14" fmla="*/ 7621685 w 7621685"/>
                          <a:gd name="csY14" fmla="*/ 572494 h 1144988"/>
                          <a:gd name="csX15" fmla="*/ 7621685 w 7621685"/>
                          <a:gd name="csY15" fmla="*/ 1095032 h 1144988"/>
                          <a:gd name="csX16" fmla="*/ 7571729 w 7621685"/>
                          <a:gd name="csY16" fmla="*/ 1144988 h 1144988"/>
                          <a:gd name="csX17" fmla="*/ 6812714 w 7621685"/>
                          <a:gd name="csY17" fmla="*/ 1144988 h 1144988"/>
                          <a:gd name="csX18" fmla="*/ 6354569 w 7621685"/>
                          <a:gd name="csY18" fmla="*/ 1144988 h 1144988"/>
                          <a:gd name="csX19" fmla="*/ 5821207 w 7621685"/>
                          <a:gd name="csY19" fmla="*/ 1144988 h 1144988"/>
                          <a:gd name="csX20" fmla="*/ 4986974 w 7621685"/>
                          <a:gd name="csY20" fmla="*/ 1144988 h 1144988"/>
                          <a:gd name="csX21" fmla="*/ 4303177 w 7621685"/>
                          <a:gd name="csY21" fmla="*/ 1144988 h 1144988"/>
                          <a:gd name="csX22" fmla="*/ 3769815 w 7621685"/>
                          <a:gd name="csY22" fmla="*/ 1144988 h 1144988"/>
                          <a:gd name="csX23" fmla="*/ 3086017 w 7621685"/>
                          <a:gd name="csY23" fmla="*/ 1144988 h 1144988"/>
                          <a:gd name="csX24" fmla="*/ 2627873 w 7621685"/>
                          <a:gd name="csY24" fmla="*/ 1144988 h 1144988"/>
                          <a:gd name="csX25" fmla="*/ 2169728 w 7621685"/>
                          <a:gd name="csY25" fmla="*/ 1144988 h 1144988"/>
                          <a:gd name="csX26" fmla="*/ 1485931 w 7621685"/>
                          <a:gd name="csY26" fmla="*/ 1144988 h 1144988"/>
                          <a:gd name="csX27" fmla="*/ 952569 w 7621685"/>
                          <a:gd name="csY27" fmla="*/ 1144988 h 1144988"/>
                          <a:gd name="csX28" fmla="*/ 49956 w 7621685"/>
                          <a:gd name="csY28" fmla="*/ 1144988 h 1144988"/>
                          <a:gd name="csX29" fmla="*/ 0 w 7621685"/>
                          <a:gd name="csY29" fmla="*/ 1095032 h 1144988"/>
                          <a:gd name="csX30" fmla="*/ 0 w 7621685"/>
                          <a:gd name="csY30" fmla="*/ 551592 h 1144988"/>
                          <a:gd name="csX31" fmla="*/ 0 w 7621685"/>
                          <a:gd name="csY31" fmla="*/ 49956 h 114498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  <a:cxn ang="0">
                            <a:pos x="csX27" y="csY27"/>
                          </a:cxn>
                          <a:cxn ang="0">
                            <a:pos x="csX28" y="csY28"/>
                          </a:cxn>
                          <a:cxn ang="0">
                            <a:pos x="csX29" y="csY29"/>
                          </a:cxn>
                          <a:cxn ang="0">
                            <a:pos x="csX30" y="csY30"/>
                          </a:cxn>
                          <a:cxn ang="0">
                            <a:pos x="csX31" y="csY31"/>
                          </a:cxn>
                        </a:cxnLst>
                        <a:rect l="l" t="t" r="r" b="b"/>
                        <a:pathLst>
                          <a:path w="7621685" h="1144988" extrusionOk="0">
                            <a:moveTo>
                              <a:pt x="0" y="49956"/>
                            </a:moveTo>
                            <a:cubicBezTo>
                              <a:pt x="-3301" y="20330"/>
                              <a:pt x="19195" y="1190"/>
                              <a:pt x="49956" y="0"/>
                            </a:cubicBezTo>
                            <a:cubicBezTo>
                              <a:pt x="434809" y="36657"/>
                              <a:pt x="636702" y="-24930"/>
                              <a:pt x="884189" y="0"/>
                            </a:cubicBezTo>
                            <a:cubicBezTo>
                              <a:pt x="1131676" y="24930"/>
                              <a:pt x="1349350" y="-15763"/>
                              <a:pt x="1492769" y="0"/>
                            </a:cubicBezTo>
                            <a:cubicBezTo>
                              <a:pt x="1636188" y="15763"/>
                              <a:pt x="1888629" y="6588"/>
                              <a:pt x="2026131" y="0"/>
                            </a:cubicBezTo>
                            <a:cubicBezTo>
                              <a:pt x="2163633" y="-6588"/>
                              <a:pt x="2586023" y="33546"/>
                              <a:pt x="2785146" y="0"/>
                            </a:cubicBezTo>
                            <a:cubicBezTo>
                              <a:pt x="2984270" y="-33546"/>
                              <a:pt x="3237077" y="-5834"/>
                              <a:pt x="3393726" y="0"/>
                            </a:cubicBezTo>
                            <a:cubicBezTo>
                              <a:pt x="3550375" y="5834"/>
                              <a:pt x="4046353" y="12184"/>
                              <a:pt x="4227959" y="0"/>
                            </a:cubicBezTo>
                            <a:cubicBezTo>
                              <a:pt x="4409565" y="-12184"/>
                              <a:pt x="4650644" y="-9534"/>
                              <a:pt x="4761321" y="0"/>
                            </a:cubicBezTo>
                            <a:cubicBezTo>
                              <a:pt x="4871998" y="9534"/>
                              <a:pt x="5355660" y="-9872"/>
                              <a:pt x="5595554" y="0"/>
                            </a:cubicBezTo>
                            <a:cubicBezTo>
                              <a:pt x="5835448" y="9872"/>
                              <a:pt x="5941562" y="-13978"/>
                              <a:pt x="6053698" y="0"/>
                            </a:cubicBezTo>
                            <a:cubicBezTo>
                              <a:pt x="6165834" y="13978"/>
                              <a:pt x="6565676" y="16183"/>
                              <a:pt x="6737496" y="0"/>
                            </a:cubicBezTo>
                            <a:cubicBezTo>
                              <a:pt x="6909316" y="-16183"/>
                              <a:pt x="7225500" y="-36441"/>
                              <a:pt x="7571729" y="0"/>
                            </a:cubicBezTo>
                            <a:cubicBezTo>
                              <a:pt x="7602501" y="-3144"/>
                              <a:pt x="7626120" y="19506"/>
                              <a:pt x="7621685" y="49956"/>
                            </a:cubicBezTo>
                            <a:cubicBezTo>
                              <a:pt x="7617665" y="244855"/>
                              <a:pt x="7619602" y="428936"/>
                              <a:pt x="7621685" y="572494"/>
                            </a:cubicBezTo>
                            <a:cubicBezTo>
                              <a:pt x="7623768" y="716052"/>
                              <a:pt x="7618065" y="977902"/>
                              <a:pt x="7621685" y="1095032"/>
                            </a:cubicBezTo>
                            <a:cubicBezTo>
                              <a:pt x="7620865" y="1121849"/>
                              <a:pt x="7597860" y="1142807"/>
                              <a:pt x="7571729" y="1144988"/>
                            </a:cubicBezTo>
                            <a:cubicBezTo>
                              <a:pt x="7260246" y="1148499"/>
                              <a:pt x="7117275" y="1158643"/>
                              <a:pt x="6812714" y="1144988"/>
                            </a:cubicBezTo>
                            <a:cubicBezTo>
                              <a:pt x="6508153" y="1131333"/>
                              <a:pt x="6460003" y="1159992"/>
                              <a:pt x="6354569" y="1144988"/>
                            </a:cubicBezTo>
                            <a:cubicBezTo>
                              <a:pt x="6249135" y="1129984"/>
                              <a:pt x="6084367" y="1131307"/>
                              <a:pt x="5821207" y="1144988"/>
                            </a:cubicBezTo>
                            <a:cubicBezTo>
                              <a:pt x="5558047" y="1158669"/>
                              <a:pt x="5275417" y="1108660"/>
                              <a:pt x="4986974" y="1144988"/>
                            </a:cubicBezTo>
                            <a:cubicBezTo>
                              <a:pt x="4698531" y="1181316"/>
                              <a:pt x="4567038" y="1118652"/>
                              <a:pt x="4303177" y="1144988"/>
                            </a:cubicBezTo>
                            <a:cubicBezTo>
                              <a:pt x="4039316" y="1171324"/>
                              <a:pt x="4025674" y="1158076"/>
                              <a:pt x="3769815" y="1144988"/>
                            </a:cubicBezTo>
                            <a:cubicBezTo>
                              <a:pt x="3513956" y="1131900"/>
                              <a:pt x="3333377" y="1129126"/>
                              <a:pt x="3086017" y="1144988"/>
                            </a:cubicBezTo>
                            <a:cubicBezTo>
                              <a:pt x="2838657" y="1160850"/>
                              <a:pt x="2742218" y="1162246"/>
                              <a:pt x="2627873" y="1144988"/>
                            </a:cubicBezTo>
                            <a:cubicBezTo>
                              <a:pt x="2513528" y="1127730"/>
                              <a:pt x="2378561" y="1164609"/>
                              <a:pt x="2169728" y="1144988"/>
                            </a:cubicBezTo>
                            <a:cubicBezTo>
                              <a:pt x="1960895" y="1125367"/>
                              <a:pt x="1790854" y="1150307"/>
                              <a:pt x="1485931" y="1144988"/>
                            </a:cubicBezTo>
                            <a:cubicBezTo>
                              <a:pt x="1181008" y="1139669"/>
                              <a:pt x="1191792" y="1120839"/>
                              <a:pt x="952569" y="1144988"/>
                            </a:cubicBezTo>
                            <a:cubicBezTo>
                              <a:pt x="713346" y="1169137"/>
                              <a:pt x="350727" y="1136568"/>
                              <a:pt x="49956" y="1144988"/>
                            </a:cubicBezTo>
                            <a:cubicBezTo>
                              <a:pt x="24392" y="1144544"/>
                              <a:pt x="3106" y="1125181"/>
                              <a:pt x="0" y="1095032"/>
                            </a:cubicBezTo>
                            <a:cubicBezTo>
                              <a:pt x="-18966" y="974547"/>
                              <a:pt x="9542" y="675514"/>
                              <a:pt x="0" y="551592"/>
                            </a:cubicBezTo>
                            <a:cubicBezTo>
                              <a:pt x="-9542" y="427670"/>
                              <a:pt x="8508" y="288028"/>
                              <a:pt x="0" y="49956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7F768C5F-5C9F-E94A-CD2D-D6F724746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Overview: </a:t>
            </a:r>
            <a:r>
              <a:rPr lang="ko-KR" altLang="en-US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대칭키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암호 </a:t>
            </a:r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vs.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코드기반 암호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F13CDB-27ED-531B-1327-2F6B461B86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ko-KR" altLang="en-US" sz="24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대칭키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암호와 코드기반 암호에 대한 </a:t>
            </a:r>
            <a:r>
              <a:rPr lang="en-US" altLang="ko-KR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Grover’s search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기반 양자 공격 비교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7A9901-49A8-FCCC-E972-4BD887150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49" y="1484956"/>
            <a:ext cx="8085667" cy="50872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999E96-386E-B8EF-F48B-880243235EE9}"/>
              </a:ext>
            </a:extLst>
          </p:cNvPr>
          <p:cNvSpPr txBox="1"/>
          <p:nvPr/>
        </p:nvSpPr>
        <p:spPr>
          <a:xfrm>
            <a:off x="8407401" y="3314526"/>
            <a:ext cx="3784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b="1" dirty="0" err="1">
                <a:solidFill>
                  <a:srgbClr val="074232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대칭키</a:t>
            </a:r>
            <a:endParaRPr kumimoji="1" lang="en-US" altLang="ko-KR" b="1" dirty="0">
              <a:solidFill>
                <a:srgbClr val="074232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AddRoundkey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 </a:t>
            </a:r>
            <a:r>
              <a:rPr kumimoji="1" lang="en-US" altLang="ko-KR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Subbyte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등</a:t>
            </a:r>
            <a:endParaRPr kumimoji="1" lang="en-US" altLang="ko-KR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연산 결과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=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암호문을 확인</a:t>
            </a:r>
            <a:endParaRPr kumimoji="1" lang="en-US" altLang="ko-KR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  <a:sym typeface="Wingdings" pitchFamily="2" charset="2"/>
              </a:rPr>
              <a:t>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  <a:sym typeface="Wingdings" pitchFamily="2" charset="2"/>
              </a:rPr>
              <a:t> 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비교적 간단한 연산들로 구성</a:t>
            </a:r>
            <a:endParaRPr kumimoji="1" lang="en-US" altLang="ko-KR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7FDD31-26A8-D482-E3C5-8E52898EFFC9}"/>
                  </a:ext>
                </a:extLst>
              </p:cNvPr>
              <p:cNvSpPr txBox="1"/>
              <p:nvPr/>
            </p:nvSpPr>
            <p:spPr>
              <a:xfrm>
                <a:off x="8407401" y="4607477"/>
                <a:ext cx="380302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ko-KR" altLang="en-US" b="1" dirty="0">
                    <a:solidFill>
                      <a:srgbClr val="712B12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코드기반암호</a:t>
                </a:r>
                <a:endParaRPr kumimoji="1" lang="en-US" altLang="ko-KR" b="1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추출 후 행렬 크기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: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𝑘</m:t>
                    </m:r>
                  </m:oMath>
                </a14:m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행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𝑛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−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𝑘</m:t>
                    </m:r>
                  </m:oMath>
                </a14:m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열</a:t>
                </a:r>
                <a:endParaRPr kumimoji="1"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이에 대한 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ISD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의 핵심 연산 수행</a:t>
                </a:r>
                <a:endParaRPr kumimoji="1"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연산 결과의 </a:t>
                </a:r>
                <a:r>
                  <a:rPr kumimoji="1" lang="ko-KR" altLang="en-US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해밍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웨이트 확인을 위한 추가 연산 필요</a:t>
                </a:r>
                <a:endParaRPr kumimoji="1"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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연산 복잡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연산 대상 비트수도 큼</a:t>
                </a:r>
                <a:endParaRPr kumimoji="1"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7FDD31-26A8-D482-E3C5-8E52898EF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401" y="4607477"/>
                <a:ext cx="3803020" cy="1754326"/>
              </a:xfrm>
              <a:prstGeom prst="rect">
                <a:avLst/>
              </a:prstGeom>
              <a:blipFill>
                <a:blip r:embed="rId5"/>
                <a:stretch>
                  <a:fillRect l="-997" t="-1429" b="-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26D9BEA-DCDD-B2B9-0478-62A329E8F43A}"/>
              </a:ext>
            </a:extLst>
          </p:cNvPr>
          <p:cNvSpPr txBox="1"/>
          <p:nvPr/>
        </p:nvSpPr>
        <p:spPr>
          <a:xfrm>
            <a:off x="8271500" y="6346587"/>
            <a:ext cx="4074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000" b="1" dirty="0">
                <a:solidFill>
                  <a:srgbClr val="FF0000"/>
                </a:solidFill>
                <a:highlight>
                  <a:srgbClr val="FFFF00"/>
                </a:highlight>
                <a:latin typeface="Gmarket Sans Bold" panose="02000000000000000000" pitchFamily="2" charset="-128"/>
                <a:ea typeface="Gmarket Sans Bold" panose="02000000000000000000" pitchFamily="2" charset="-128"/>
              </a:rPr>
              <a:t>ISD</a:t>
            </a:r>
            <a:r>
              <a:rPr kumimoji="1" lang="ko-KR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Gmarket Sans Bold" panose="02000000000000000000" pitchFamily="2" charset="-128"/>
                <a:ea typeface="Gmarket Sans Bold" panose="02000000000000000000" pitchFamily="2" charset="-128"/>
              </a:rPr>
              <a:t> 핵심 연산 개선</a:t>
            </a:r>
            <a:r>
              <a:rPr kumimoji="1" lang="en-US" altLang="ko-KR" sz="2000" b="1" dirty="0">
                <a:solidFill>
                  <a:srgbClr val="FF0000"/>
                </a:solidFill>
                <a:highlight>
                  <a:srgbClr val="FFFF00"/>
                </a:highlight>
                <a:latin typeface="Gmarket Sans Bold" panose="02000000000000000000" pitchFamily="2" charset="-128"/>
                <a:ea typeface="Gmarket Sans Bold" panose="02000000000000000000" pitchFamily="2" charset="-128"/>
              </a:rPr>
              <a:t> (</a:t>
            </a:r>
            <a:r>
              <a:rPr kumimoji="1" lang="ko-KR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Gmarket Sans Bold" panose="02000000000000000000" pitchFamily="2" charset="-128"/>
                <a:ea typeface="Gmarket Sans Bold" panose="02000000000000000000" pitchFamily="2" charset="-128"/>
              </a:rPr>
              <a:t>올해</a:t>
            </a:r>
            <a:r>
              <a:rPr kumimoji="1" lang="en-US" altLang="ko-KR" sz="2000" b="1" dirty="0">
                <a:solidFill>
                  <a:srgbClr val="FF0000"/>
                </a:solidFill>
                <a:highlight>
                  <a:srgbClr val="FFFF00"/>
                </a:highlight>
                <a:latin typeface="Gmarket Sans Bold" panose="02000000000000000000" pitchFamily="2" charset="-128"/>
                <a:ea typeface="Gmarket Sans Bold" panose="02000000000000000000" pitchFamily="2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88509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45D42-B18B-4631-FD4B-0744F2E46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모서리가 둥근 직사각형 5">
                <a:extLst>
                  <a:ext uri="{FF2B5EF4-FFF2-40B4-BE49-F238E27FC236}">
                    <a16:creationId xmlns:a16="http://schemas.microsoft.com/office/drawing/2014/main" id="{C2A19546-519C-0EC4-22DD-DC0219051E48}"/>
                  </a:ext>
                </a:extLst>
              </p:cNvPr>
              <p:cNvSpPr/>
              <p:nvPr/>
            </p:nvSpPr>
            <p:spPr>
              <a:xfrm>
                <a:off x="565581" y="5637597"/>
                <a:ext cx="7621685" cy="905134"/>
              </a:xfrm>
              <a:prstGeom prst="roundRect">
                <a:avLst>
                  <a:gd name="adj" fmla="val 4363"/>
                </a:avLst>
              </a:prstGeom>
              <a:solidFill>
                <a:srgbClr val="FAEDE8">
                  <a:alpha val="29804"/>
                </a:srgbClr>
              </a:solidFill>
              <a:ln w="19050">
                <a:solidFill>
                  <a:srgbClr val="C00000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7621685"/>
                          <a:gd name="csY0" fmla="*/ 49956 h 1144988"/>
                          <a:gd name="csX1" fmla="*/ 49956 w 7621685"/>
                          <a:gd name="csY1" fmla="*/ 0 h 1144988"/>
                          <a:gd name="csX2" fmla="*/ 884189 w 7621685"/>
                          <a:gd name="csY2" fmla="*/ 0 h 1144988"/>
                          <a:gd name="csX3" fmla="*/ 1492769 w 7621685"/>
                          <a:gd name="csY3" fmla="*/ 0 h 1144988"/>
                          <a:gd name="csX4" fmla="*/ 2026131 w 7621685"/>
                          <a:gd name="csY4" fmla="*/ 0 h 1144988"/>
                          <a:gd name="csX5" fmla="*/ 2785146 w 7621685"/>
                          <a:gd name="csY5" fmla="*/ 0 h 1144988"/>
                          <a:gd name="csX6" fmla="*/ 3393726 w 7621685"/>
                          <a:gd name="csY6" fmla="*/ 0 h 1144988"/>
                          <a:gd name="csX7" fmla="*/ 4227959 w 7621685"/>
                          <a:gd name="csY7" fmla="*/ 0 h 1144988"/>
                          <a:gd name="csX8" fmla="*/ 4761321 w 7621685"/>
                          <a:gd name="csY8" fmla="*/ 0 h 1144988"/>
                          <a:gd name="csX9" fmla="*/ 5595554 w 7621685"/>
                          <a:gd name="csY9" fmla="*/ 0 h 1144988"/>
                          <a:gd name="csX10" fmla="*/ 6053698 w 7621685"/>
                          <a:gd name="csY10" fmla="*/ 0 h 1144988"/>
                          <a:gd name="csX11" fmla="*/ 6737496 w 7621685"/>
                          <a:gd name="csY11" fmla="*/ 0 h 1144988"/>
                          <a:gd name="csX12" fmla="*/ 7571729 w 7621685"/>
                          <a:gd name="csY12" fmla="*/ 0 h 1144988"/>
                          <a:gd name="csX13" fmla="*/ 7621685 w 7621685"/>
                          <a:gd name="csY13" fmla="*/ 49956 h 1144988"/>
                          <a:gd name="csX14" fmla="*/ 7621685 w 7621685"/>
                          <a:gd name="csY14" fmla="*/ 572494 h 1144988"/>
                          <a:gd name="csX15" fmla="*/ 7621685 w 7621685"/>
                          <a:gd name="csY15" fmla="*/ 1095032 h 1144988"/>
                          <a:gd name="csX16" fmla="*/ 7571729 w 7621685"/>
                          <a:gd name="csY16" fmla="*/ 1144988 h 1144988"/>
                          <a:gd name="csX17" fmla="*/ 6812714 w 7621685"/>
                          <a:gd name="csY17" fmla="*/ 1144988 h 1144988"/>
                          <a:gd name="csX18" fmla="*/ 6354569 w 7621685"/>
                          <a:gd name="csY18" fmla="*/ 1144988 h 1144988"/>
                          <a:gd name="csX19" fmla="*/ 5821207 w 7621685"/>
                          <a:gd name="csY19" fmla="*/ 1144988 h 1144988"/>
                          <a:gd name="csX20" fmla="*/ 4986974 w 7621685"/>
                          <a:gd name="csY20" fmla="*/ 1144988 h 1144988"/>
                          <a:gd name="csX21" fmla="*/ 4303177 w 7621685"/>
                          <a:gd name="csY21" fmla="*/ 1144988 h 1144988"/>
                          <a:gd name="csX22" fmla="*/ 3769815 w 7621685"/>
                          <a:gd name="csY22" fmla="*/ 1144988 h 1144988"/>
                          <a:gd name="csX23" fmla="*/ 3086017 w 7621685"/>
                          <a:gd name="csY23" fmla="*/ 1144988 h 1144988"/>
                          <a:gd name="csX24" fmla="*/ 2627873 w 7621685"/>
                          <a:gd name="csY24" fmla="*/ 1144988 h 1144988"/>
                          <a:gd name="csX25" fmla="*/ 2169728 w 7621685"/>
                          <a:gd name="csY25" fmla="*/ 1144988 h 1144988"/>
                          <a:gd name="csX26" fmla="*/ 1485931 w 7621685"/>
                          <a:gd name="csY26" fmla="*/ 1144988 h 1144988"/>
                          <a:gd name="csX27" fmla="*/ 952569 w 7621685"/>
                          <a:gd name="csY27" fmla="*/ 1144988 h 1144988"/>
                          <a:gd name="csX28" fmla="*/ 49956 w 7621685"/>
                          <a:gd name="csY28" fmla="*/ 1144988 h 1144988"/>
                          <a:gd name="csX29" fmla="*/ 0 w 7621685"/>
                          <a:gd name="csY29" fmla="*/ 1095032 h 1144988"/>
                          <a:gd name="csX30" fmla="*/ 0 w 7621685"/>
                          <a:gd name="csY30" fmla="*/ 551592 h 1144988"/>
                          <a:gd name="csX31" fmla="*/ 0 w 7621685"/>
                          <a:gd name="csY31" fmla="*/ 49956 h 114498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  <a:cxn ang="0">
                            <a:pos x="csX27" y="csY27"/>
                          </a:cxn>
                          <a:cxn ang="0">
                            <a:pos x="csX28" y="csY28"/>
                          </a:cxn>
                          <a:cxn ang="0">
                            <a:pos x="csX29" y="csY29"/>
                          </a:cxn>
                          <a:cxn ang="0">
                            <a:pos x="csX30" y="csY30"/>
                          </a:cxn>
                          <a:cxn ang="0">
                            <a:pos x="csX31" y="csY31"/>
                          </a:cxn>
                        </a:cxnLst>
                        <a:rect l="l" t="t" r="r" b="b"/>
                        <a:pathLst>
                          <a:path w="7621685" h="1144988" extrusionOk="0">
                            <a:moveTo>
                              <a:pt x="0" y="49956"/>
                            </a:moveTo>
                            <a:cubicBezTo>
                              <a:pt x="-3301" y="20330"/>
                              <a:pt x="19195" y="1190"/>
                              <a:pt x="49956" y="0"/>
                            </a:cubicBezTo>
                            <a:cubicBezTo>
                              <a:pt x="434809" y="36657"/>
                              <a:pt x="636702" y="-24930"/>
                              <a:pt x="884189" y="0"/>
                            </a:cubicBezTo>
                            <a:cubicBezTo>
                              <a:pt x="1131676" y="24930"/>
                              <a:pt x="1349350" y="-15763"/>
                              <a:pt x="1492769" y="0"/>
                            </a:cubicBezTo>
                            <a:cubicBezTo>
                              <a:pt x="1636188" y="15763"/>
                              <a:pt x="1888629" y="6588"/>
                              <a:pt x="2026131" y="0"/>
                            </a:cubicBezTo>
                            <a:cubicBezTo>
                              <a:pt x="2163633" y="-6588"/>
                              <a:pt x="2586023" y="33546"/>
                              <a:pt x="2785146" y="0"/>
                            </a:cubicBezTo>
                            <a:cubicBezTo>
                              <a:pt x="2984270" y="-33546"/>
                              <a:pt x="3237077" y="-5834"/>
                              <a:pt x="3393726" y="0"/>
                            </a:cubicBezTo>
                            <a:cubicBezTo>
                              <a:pt x="3550375" y="5834"/>
                              <a:pt x="4046353" y="12184"/>
                              <a:pt x="4227959" y="0"/>
                            </a:cubicBezTo>
                            <a:cubicBezTo>
                              <a:pt x="4409565" y="-12184"/>
                              <a:pt x="4650644" y="-9534"/>
                              <a:pt x="4761321" y="0"/>
                            </a:cubicBezTo>
                            <a:cubicBezTo>
                              <a:pt x="4871998" y="9534"/>
                              <a:pt x="5355660" y="-9872"/>
                              <a:pt x="5595554" y="0"/>
                            </a:cubicBezTo>
                            <a:cubicBezTo>
                              <a:pt x="5835448" y="9872"/>
                              <a:pt x="5941562" y="-13978"/>
                              <a:pt x="6053698" y="0"/>
                            </a:cubicBezTo>
                            <a:cubicBezTo>
                              <a:pt x="6165834" y="13978"/>
                              <a:pt x="6565676" y="16183"/>
                              <a:pt x="6737496" y="0"/>
                            </a:cubicBezTo>
                            <a:cubicBezTo>
                              <a:pt x="6909316" y="-16183"/>
                              <a:pt x="7225500" y="-36441"/>
                              <a:pt x="7571729" y="0"/>
                            </a:cubicBezTo>
                            <a:cubicBezTo>
                              <a:pt x="7602501" y="-3144"/>
                              <a:pt x="7626120" y="19506"/>
                              <a:pt x="7621685" y="49956"/>
                            </a:cubicBezTo>
                            <a:cubicBezTo>
                              <a:pt x="7617665" y="244855"/>
                              <a:pt x="7619602" y="428936"/>
                              <a:pt x="7621685" y="572494"/>
                            </a:cubicBezTo>
                            <a:cubicBezTo>
                              <a:pt x="7623768" y="716052"/>
                              <a:pt x="7618065" y="977902"/>
                              <a:pt x="7621685" y="1095032"/>
                            </a:cubicBezTo>
                            <a:cubicBezTo>
                              <a:pt x="7620865" y="1121849"/>
                              <a:pt x="7597860" y="1142807"/>
                              <a:pt x="7571729" y="1144988"/>
                            </a:cubicBezTo>
                            <a:cubicBezTo>
                              <a:pt x="7260246" y="1148499"/>
                              <a:pt x="7117275" y="1158643"/>
                              <a:pt x="6812714" y="1144988"/>
                            </a:cubicBezTo>
                            <a:cubicBezTo>
                              <a:pt x="6508153" y="1131333"/>
                              <a:pt x="6460003" y="1159992"/>
                              <a:pt x="6354569" y="1144988"/>
                            </a:cubicBezTo>
                            <a:cubicBezTo>
                              <a:pt x="6249135" y="1129984"/>
                              <a:pt x="6084367" y="1131307"/>
                              <a:pt x="5821207" y="1144988"/>
                            </a:cubicBezTo>
                            <a:cubicBezTo>
                              <a:pt x="5558047" y="1158669"/>
                              <a:pt x="5275417" y="1108660"/>
                              <a:pt x="4986974" y="1144988"/>
                            </a:cubicBezTo>
                            <a:cubicBezTo>
                              <a:pt x="4698531" y="1181316"/>
                              <a:pt x="4567038" y="1118652"/>
                              <a:pt x="4303177" y="1144988"/>
                            </a:cubicBezTo>
                            <a:cubicBezTo>
                              <a:pt x="4039316" y="1171324"/>
                              <a:pt x="4025674" y="1158076"/>
                              <a:pt x="3769815" y="1144988"/>
                            </a:cubicBezTo>
                            <a:cubicBezTo>
                              <a:pt x="3513956" y="1131900"/>
                              <a:pt x="3333377" y="1129126"/>
                              <a:pt x="3086017" y="1144988"/>
                            </a:cubicBezTo>
                            <a:cubicBezTo>
                              <a:pt x="2838657" y="1160850"/>
                              <a:pt x="2742218" y="1162246"/>
                              <a:pt x="2627873" y="1144988"/>
                            </a:cubicBezTo>
                            <a:cubicBezTo>
                              <a:pt x="2513528" y="1127730"/>
                              <a:pt x="2378561" y="1164609"/>
                              <a:pt x="2169728" y="1144988"/>
                            </a:cubicBezTo>
                            <a:cubicBezTo>
                              <a:pt x="1960895" y="1125367"/>
                              <a:pt x="1790854" y="1150307"/>
                              <a:pt x="1485931" y="1144988"/>
                            </a:cubicBezTo>
                            <a:cubicBezTo>
                              <a:pt x="1181008" y="1139669"/>
                              <a:pt x="1191792" y="1120839"/>
                              <a:pt x="952569" y="1144988"/>
                            </a:cubicBezTo>
                            <a:cubicBezTo>
                              <a:pt x="713346" y="1169137"/>
                              <a:pt x="350727" y="1136568"/>
                              <a:pt x="49956" y="1144988"/>
                            </a:cubicBezTo>
                            <a:cubicBezTo>
                              <a:pt x="24392" y="1144544"/>
                              <a:pt x="3106" y="1125181"/>
                              <a:pt x="0" y="1095032"/>
                            </a:cubicBezTo>
                            <a:cubicBezTo>
                              <a:pt x="-18966" y="974547"/>
                              <a:pt x="9542" y="675514"/>
                              <a:pt x="0" y="551592"/>
                            </a:cubicBezTo>
                            <a:cubicBezTo>
                              <a:pt x="-9542" y="427670"/>
                              <a:pt x="8508" y="288028"/>
                              <a:pt x="0" y="49956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mc:Choice>
        <mc:Fallback xmlns="">
          <p:sp>
            <p:nvSpPr>
              <p:cNvPr id="6" name="모서리가 둥근 직사각형 5">
                <a:extLst>
                  <a:ext uri="{FF2B5EF4-FFF2-40B4-BE49-F238E27FC236}">
                    <a16:creationId xmlns:a16="http://schemas.microsoft.com/office/drawing/2014/main" id="{C2A19546-519C-0EC4-22DD-DC0219051E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81" y="5637597"/>
                <a:ext cx="7621685" cy="905134"/>
              </a:xfrm>
              <a:prstGeom prst="roundRect">
                <a:avLst>
                  <a:gd name="adj" fmla="val 4363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7621685"/>
                          <a:gd name="csY0" fmla="*/ 49956 h 1144988"/>
                          <a:gd name="csX1" fmla="*/ 49956 w 7621685"/>
                          <a:gd name="csY1" fmla="*/ 0 h 1144988"/>
                          <a:gd name="csX2" fmla="*/ 884189 w 7621685"/>
                          <a:gd name="csY2" fmla="*/ 0 h 1144988"/>
                          <a:gd name="csX3" fmla="*/ 1492769 w 7621685"/>
                          <a:gd name="csY3" fmla="*/ 0 h 1144988"/>
                          <a:gd name="csX4" fmla="*/ 2026131 w 7621685"/>
                          <a:gd name="csY4" fmla="*/ 0 h 1144988"/>
                          <a:gd name="csX5" fmla="*/ 2785146 w 7621685"/>
                          <a:gd name="csY5" fmla="*/ 0 h 1144988"/>
                          <a:gd name="csX6" fmla="*/ 3393726 w 7621685"/>
                          <a:gd name="csY6" fmla="*/ 0 h 1144988"/>
                          <a:gd name="csX7" fmla="*/ 4227959 w 7621685"/>
                          <a:gd name="csY7" fmla="*/ 0 h 1144988"/>
                          <a:gd name="csX8" fmla="*/ 4761321 w 7621685"/>
                          <a:gd name="csY8" fmla="*/ 0 h 1144988"/>
                          <a:gd name="csX9" fmla="*/ 5595554 w 7621685"/>
                          <a:gd name="csY9" fmla="*/ 0 h 1144988"/>
                          <a:gd name="csX10" fmla="*/ 6053698 w 7621685"/>
                          <a:gd name="csY10" fmla="*/ 0 h 1144988"/>
                          <a:gd name="csX11" fmla="*/ 6737496 w 7621685"/>
                          <a:gd name="csY11" fmla="*/ 0 h 1144988"/>
                          <a:gd name="csX12" fmla="*/ 7571729 w 7621685"/>
                          <a:gd name="csY12" fmla="*/ 0 h 1144988"/>
                          <a:gd name="csX13" fmla="*/ 7621685 w 7621685"/>
                          <a:gd name="csY13" fmla="*/ 49956 h 1144988"/>
                          <a:gd name="csX14" fmla="*/ 7621685 w 7621685"/>
                          <a:gd name="csY14" fmla="*/ 572494 h 1144988"/>
                          <a:gd name="csX15" fmla="*/ 7621685 w 7621685"/>
                          <a:gd name="csY15" fmla="*/ 1095032 h 1144988"/>
                          <a:gd name="csX16" fmla="*/ 7571729 w 7621685"/>
                          <a:gd name="csY16" fmla="*/ 1144988 h 1144988"/>
                          <a:gd name="csX17" fmla="*/ 6812714 w 7621685"/>
                          <a:gd name="csY17" fmla="*/ 1144988 h 1144988"/>
                          <a:gd name="csX18" fmla="*/ 6354569 w 7621685"/>
                          <a:gd name="csY18" fmla="*/ 1144988 h 1144988"/>
                          <a:gd name="csX19" fmla="*/ 5821207 w 7621685"/>
                          <a:gd name="csY19" fmla="*/ 1144988 h 1144988"/>
                          <a:gd name="csX20" fmla="*/ 4986974 w 7621685"/>
                          <a:gd name="csY20" fmla="*/ 1144988 h 1144988"/>
                          <a:gd name="csX21" fmla="*/ 4303177 w 7621685"/>
                          <a:gd name="csY21" fmla="*/ 1144988 h 1144988"/>
                          <a:gd name="csX22" fmla="*/ 3769815 w 7621685"/>
                          <a:gd name="csY22" fmla="*/ 1144988 h 1144988"/>
                          <a:gd name="csX23" fmla="*/ 3086017 w 7621685"/>
                          <a:gd name="csY23" fmla="*/ 1144988 h 1144988"/>
                          <a:gd name="csX24" fmla="*/ 2627873 w 7621685"/>
                          <a:gd name="csY24" fmla="*/ 1144988 h 1144988"/>
                          <a:gd name="csX25" fmla="*/ 2169728 w 7621685"/>
                          <a:gd name="csY25" fmla="*/ 1144988 h 1144988"/>
                          <a:gd name="csX26" fmla="*/ 1485931 w 7621685"/>
                          <a:gd name="csY26" fmla="*/ 1144988 h 1144988"/>
                          <a:gd name="csX27" fmla="*/ 952569 w 7621685"/>
                          <a:gd name="csY27" fmla="*/ 1144988 h 1144988"/>
                          <a:gd name="csX28" fmla="*/ 49956 w 7621685"/>
                          <a:gd name="csY28" fmla="*/ 1144988 h 1144988"/>
                          <a:gd name="csX29" fmla="*/ 0 w 7621685"/>
                          <a:gd name="csY29" fmla="*/ 1095032 h 1144988"/>
                          <a:gd name="csX30" fmla="*/ 0 w 7621685"/>
                          <a:gd name="csY30" fmla="*/ 551592 h 1144988"/>
                          <a:gd name="csX31" fmla="*/ 0 w 7621685"/>
                          <a:gd name="csY31" fmla="*/ 49956 h 114498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  <a:cxn ang="0">
                            <a:pos x="csX27" y="csY27"/>
                          </a:cxn>
                          <a:cxn ang="0">
                            <a:pos x="csX28" y="csY28"/>
                          </a:cxn>
                          <a:cxn ang="0">
                            <a:pos x="csX29" y="csY29"/>
                          </a:cxn>
                          <a:cxn ang="0">
                            <a:pos x="csX30" y="csY30"/>
                          </a:cxn>
                          <a:cxn ang="0">
                            <a:pos x="csX31" y="csY31"/>
                          </a:cxn>
                        </a:cxnLst>
                        <a:rect l="l" t="t" r="r" b="b"/>
                        <a:pathLst>
                          <a:path w="7621685" h="1144988" extrusionOk="0">
                            <a:moveTo>
                              <a:pt x="0" y="49956"/>
                            </a:moveTo>
                            <a:cubicBezTo>
                              <a:pt x="-3301" y="20330"/>
                              <a:pt x="19195" y="1190"/>
                              <a:pt x="49956" y="0"/>
                            </a:cubicBezTo>
                            <a:cubicBezTo>
                              <a:pt x="434809" y="36657"/>
                              <a:pt x="636702" y="-24930"/>
                              <a:pt x="884189" y="0"/>
                            </a:cubicBezTo>
                            <a:cubicBezTo>
                              <a:pt x="1131676" y="24930"/>
                              <a:pt x="1349350" y="-15763"/>
                              <a:pt x="1492769" y="0"/>
                            </a:cubicBezTo>
                            <a:cubicBezTo>
                              <a:pt x="1636188" y="15763"/>
                              <a:pt x="1888629" y="6588"/>
                              <a:pt x="2026131" y="0"/>
                            </a:cubicBezTo>
                            <a:cubicBezTo>
                              <a:pt x="2163633" y="-6588"/>
                              <a:pt x="2586023" y="33546"/>
                              <a:pt x="2785146" y="0"/>
                            </a:cubicBezTo>
                            <a:cubicBezTo>
                              <a:pt x="2984270" y="-33546"/>
                              <a:pt x="3237077" y="-5834"/>
                              <a:pt x="3393726" y="0"/>
                            </a:cubicBezTo>
                            <a:cubicBezTo>
                              <a:pt x="3550375" y="5834"/>
                              <a:pt x="4046353" y="12184"/>
                              <a:pt x="4227959" y="0"/>
                            </a:cubicBezTo>
                            <a:cubicBezTo>
                              <a:pt x="4409565" y="-12184"/>
                              <a:pt x="4650644" y="-9534"/>
                              <a:pt x="4761321" y="0"/>
                            </a:cubicBezTo>
                            <a:cubicBezTo>
                              <a:pt x="4871998" y="9534"/>
                              <a:pt x="5355660" y="-9872"/>
                              <a:pt x="5595554" y="0"/>
                            </a:cubicBezTo>
                            <a:cubicBezTo>
                              <a:pt x="5835448" y="9872"/>
                              <a:pt x="5941562" y="-13978"/>
                              <a:pt x="6053698" y="0"/>
                            </a:cubicBezTo>
                            <a:cubicBezTo>
                              <a:pt x="6165834" y="13978"/>
                              <a:pt x="6565676" y="16183"/>
                              <a:pt x="6737496" y="0"/>
                            </a:cubicBezTo>
                            <a:cubicBezTo>
                              <a:pt x="6909316" y="-16183"/>
                              <a:pt x="7225500" y="-36441"/>
                              <a:pt x="7571729" y="0"/>
                            </a:cubicBezTo>
                            <a:cubicBezTo>
                              <a:pt x="7602501" y="-3144"/>
                              <a:pt x="7626120" y="19506"/>
                              <a:pt x="7621685" y="49956"/>
                            </a:cubicBezTo>
                            <a:cubicBezTo>
                              <a:pt x="7617665" y="244855"/>
                              <a:pt x="7619602" y="428936"/>
                              <a:pt x="7621685" y="572494"/>
                            </a:cubicBezTo>
                            <a:cubicBezTo>
                              <a:pt x="7623768" y="716052"/>
                              <a:pt x="7618065" y="977902"/>
                              <a:pt x="7621685" y="1095032"/>
                            </a:cubicBezTo>
                            <a:cubicBezTo>
                              <a:pt x="7620865" y="1121849"/>
                              <a:pt x="7597860" y="1142807"/>
                              <a:pt x="7571729" y="1144988"/>
                            </a:cubicBezTo>
                            <a:cubicBezTo>
                              <a:pt x="7260246" y="1148499"/>
                              <a:pt x="7117275" y="1158643"/>
                              <a:pt x="6812714" y="1144988"/>
                            </a:cubicBezTo>
                            <a:cubicBezTo>
                              <a:pt x="6508153" y="1131333"/>
                              <a:pt x="6460003" y="1159992"/>
                              <a:pt x="6354569" y="1144988"/>
                            </a:cubicBezTo>
                            <a:cubicBezTo>
                              <a:pt x="6249135" y="1129984"/>
                              <a:pt x="6084367" y="1131307"/>
                              <a:pt x="5821207" y="1144988"/>
                            </a:cubicBezTo>
                            <a:cubicBezTo>
                              <a:pt x="5558047" y="1158669"/>
                              <a:pt x="5275417" y="1108660"/>
                              <a:pt x="4986974" y="1144988"/>
                            </a:cubicBezTo>
                            <a:cubicBezTo>
                              <a:pt x="4698531" y="1181316"/>
                              <a:pt x="4567038" y="1118652"/>
                              <a:pt x="4303177" y="1144988"/>
                            </a:cubicBezTo>
                            <a:cubicBezTo>
                              <a:pt x="4039316" y="1171324"/>
                              <a:pt x="4025674" y="1158076"/>
                              <a:pt x="3769815" y="1144988"/>
                            </a:cubicBezTo>
                            <a:cubicBezTo>
                              <a:pt x="3513956" y="1131900"/>
                              <a:pt x="3333377" y="1129126"/>
                              <a:pt x="3086017" y="1144988"/>
                            </a:cubicBezTo>
                            <a:cubicBezTo>
                              <a:pt x="2838657" y="1160850"/>
                              <a:pt x="2742218" y="1162246"/>
                              <a:pt x="2627873" y="1144988"/>
                            </a:cubicBezTo>
                            <a:cubicBezTo>
                              <a:pt x="2513528" y="1127730"/>
                              <a:pt x="2378561" y="1164609"/>
                              <a:pt x="2169728" y="1144988"/>
                            </a:cubicBezTo>
                            <a:cubicBezTo>
                              <a:pt x="1960895" y="1125367"/>
                              <a:pt x="1790854" y="1150307"/>
                              <a:pt x="1485931" y="1144988"/>
                            </a:cubicBezTo>
                            <a:cubicBezTo>
                              <a:pt x="1181008" y="1139669"/>
                              <a:pt x="1191792" y="1120839"/>
                              <a:pt x="952569" y="1144988"/>
                            </a:cubicBezTo>
                            <a:cubicBezTo>
                              <a:pt x="713346" y="1169137"/>
                              <a:pt x="350727" y="1136568"/>
                              <a:pt x="49956" y="1144988"/>
                            </a:cubicBezTo>
                            <a:cubicBezTo>
                              <a:pt x="24392" y="1144544"/>
                              <a:pt x="3106" y="1125181"/>
                              <a:pt x="0" y="1095032"/>
                            </a:cubicBezTo>
                            <a:cubicBezTo>
                              <a:pt x="-18966" y="974547"/>
                              <a:pt x="9542" y="675514"/>
                              <a:pt x="0" y="551592"/>
                            </a:cubicBezTo>
                            <a:cubicBezTo>
                              <a:pt x="-9542" y="427670"/>
                              <a:pt x="8508" y="288028"/>
                              <a:pt x="0" y="49956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B43DB648-D34B-F5D0-FCEB-76C9F5CB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Overview: </a:t>
            </a:r>
            <a:r>
              <a:rPr lang="ko-KR" altLang="en-US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대칭키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암호 </a:t>
            </a:r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vs.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코드기반 암호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3ED9EF-F8CC-DBA5-BC2D-DE66AEDC9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ko-KR" altLang="en-US" sz="24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대칭키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암호와 코드기반 암호에 대한 </a:t>
            </a:r>
            <a:r>
              <a:rPr lang="en-US" altLang="ko-KR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Grover’s search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기반 양자 공격 비교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FA3F48-8F08-6738-925C-3233CBB99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49" y="1484956"/>
            <a:ext cx="8085667" cy="50872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9A7A3C-603A-3FCC-11B9-B085C35BCEFB}"/>
              </a:ext>
            </a:extLst>
          </p:cNvPr>
          <p:cNvSpPr txBox="1"/>
          <p:nvPr/>
        </p:nvSpPr>
        <p:spPr>
          <a:xfrm>
            <a:off x="8407401" y="4363687"/>
            <a:ext cx="3803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b="1" dirty="0">
                <a:solidFill>
                  <a:schemeClr val="accent5">
                    <a:lumMod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Diffusion operator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multi-controlled gate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로 구성</a:t>
            </a:r>
            <a:endParaRPr kumimoji="1" lang="en-US" altLang="ko-KR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14C979-D829-BB06-55F8-E65818890E17}"/>
              </a:ext>
            </a:extLst>
          </p:cNvPr>
          <p:cNvSpPr txBox="1"/>
          <p:nvPr/>
        </p:nvSpPr>
        <p:spPr>
          <a:xfrm>
            <a:off x="8407401" y="5192633"/>
            <a:ext cx="3784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b="1" dirty="0" err="1">
                <a:solidFill>
                  <a:srgbClr val="074232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대칭키</a:t>
            </a:r>
            <a:endParaRPr kumimoji="1" lang="en-US" altLang="ko-KR" b="1" dirty="0">
              <a:solidFill>
                <a:srgbClr val="074232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키 크기에 대해 동작</a:t>
            </a:r>
            <a:endParaRPr kumimoji="1" lang="en-US" altLang="ko-KR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B5ADE3-7799-927E-AD56-A6CDECAEC2C9}"/>
                  </a:ext>
                </a:extLst>
              </p:cNvPr>
              <p:cNvSpPr txBox="1"/>
              <p:nvPr/>
            </p:nvSpPr>
            <p:spPr>
              <a:xfrm>
                <a:off x="8407401" y="5938739"/>
                <a:ext cx="380302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ko-KR" altLang="en-US" b="1" dirty="0">
                    <a:solidFill>
                      <a:srgbClr val="712B12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코드기반암호</a:t>
                </a:r>
                <a:endParaRPr kumimoji="1" lang="en-US" altLang="ko-KR" b="1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𝑛</m:t>
                    </m:r>
                  </m:oMath>
                </a14:m>
                <a:r>
                  <a:rPr kumimoji="1" lang="ko-KR" altLang="en-US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대해 동작 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(e.g., n=17699)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B5ADE3-7799-927E-AD56-A6CDECAEC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401" y="5938739"/>
                <a:ext cx="3803020" cy="646331"/>
              </a:xfrm>
              <a:prstGeom prst="rect">
                <a:avLst/>
              </a:prstGeom>
              <a:blipFill>
                <a:blip r:embed="rId5"/>
                <a:stretch>
                  <a:fillRect l="-997" t="-3846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851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C5B75-A713-7349-595B-B4C9B4585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A514BB-3F1B-7696-907B-82EEC9E131E8}"/>
              </a:ext>
            </a:extLst>
          </p:cNvPr>
          <p:cNvSpPr txBox="1"/>
          <p:nvPr/>
        </p:nvSpPr>
        <p:spPr>
          <a:xfrm>
            <a:off x="2328333" y="1843950"/>
            <a:ext cx="7535333" cy="3170099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r>
              <a:rPr kumimoji="1" lang="en-US" altLang="ko-KR" sz="4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QISD</a:t>
            </a:r>
            <a:r>
              <a:rPr kumimoji="1" lang="ko-KR" altLang="en-US" sz="4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</a:t>
            </a:r>
            <a:r>
              <a:rPr kumimoji="1" lang="ko-KR" altLang="en-US" sz="4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대한 양자 회로 구현</a:t>
            </a:r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endParaRPr kumimoji="1" lang="ko-KR" altLang="en-US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BC60E-3DE6-8328-F97A-3D999EB2275F}"/>
              </a:ext>
            </a:extLst>
          </p:cNvPr>
          <p:cNvSpPr txBox="1"/>
          <p:nvPr/>
        </p:nvSpPr>
        <p:spPr>
          <a:xfrm>
            <a:off x="3756367" y="3787084"/>
            <a:ext cx="4679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Input setting</a:t>
            </a:r>
            <a:endParaRPr kumimoji="1" lang="ko-KR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0910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38D8F-2445-0F29-F85B-56685CB08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Input setting (1/2)</a:t>
            </a:r>
            <a:endParaRPr lang="ko-KR" altLang="en-US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EDD4B0B0-03BF-56AE-BE7B-A42337C8E59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2" y="1152525"/>
                <a:ext cx="11780837" cy="5057775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Dicke State</a:t>
                </a:r>
                <a:r>
                  <a:rPr lang="ko-KR" altLang="en-US" sz="2400" baseline="30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* </a:t>
                </a:r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사용하여 패리티 체크 행렬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로부터 </a:t>
                </a:r>
                <a:r>
                  <a:rPr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Information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ko-KR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ko-KR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를 준비</a:t>
                </a:r>
                <a:endParaRPr lang="en-US" altLang="ko-KR" sz="2400" b="1" dirty="0"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𝐻</m:t>
                    </m:r>
                  </m:oMath>
                </a14:m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의 부분행렬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(information set)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을 </a:t>
                </a:r>
                <a:r>
                  <a:rPr lang="ko-KR" altLang="en-US" sz="2000" b="1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랜덤하게 선택하기 위한 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중첩 상태의 인덱스 큐비트 생성 </a:t>
                </a:r>
                <a:endParaRPr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인덱스 큐비트에 의해 선택된 임의의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로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Grover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oracle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연산 수행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(ISD)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즉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ko-K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ko-K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전체 중첩이 아니라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선택을 위해 사용한 </a:t>
                </a:r>
                <a:r>
                  <a:rPr lang="ko-KR" altLang="en-US" sz="2000" b="1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인덱스 큐비트를 중첩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으로 두어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솔루션을 찾음</a:t>
                </a:r>
                <a:endParaRPr lang="en-US" altLang="ko-KR" sz="2000" dirty="0">
                  <a:ea typeface="Gmarket Sans Medium" panose="02000000000000000000" pitchFamily="2" charset="-128"/>
                </a:endParaRPr>
              </a:p>
              <a:p>
                <a:pPr lvl="2"/>
                <a:r>
                  <a:rPr lang="en-US" altLang="ko-KR" dirty="0">
                    <a:ea typeface="Gmarket Sans Medium" panose="02000000000000000000" pitchFamily="2" charset="-128"/>
                  </a:rPr>
                  <a:t>Step 1.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𝑛</m:t>
                    </m:r>
                  </m:oMath>
                </a14:m>
                <a:r>
                  <a:rPr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개의 큐비트 중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𝑛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−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𝑘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)</m:t>
                    </m:r>
                  </m:oMath>
                </a14:m>
                <a:r>
                  <a:rPr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개의 상태를 </a:t>
                </a:r>
                <a:r>
                  <a:rPr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1</a:t>
                </a:r>
                <a:r>
                  <a:rPr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로 변경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(</m:t>
                    </m:r>
                    <m:d>
                      <m:dPr>
                        <m:begChr m:val=""/>
                        <m:endChr m:val="⟩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𝑛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−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𝑛</m:t>
                            </m:r>
                          </m:sup>
                        </m:sSubSup>
                      </m:e>
                    </m:d>
                    <m:r>
                      <a:rPr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)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 </m:t>
                    </m:r>
                  </m:oMath>
                </a14:m>
                <a:endParaRPr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2"/>
                <a:r>
                  <a:rPr lang="en-US" altLang="ko-KR" dirty="0">
                    <a:ea typeface="Gmarket Sans Medium" panose="02000000000000000000" pitchFamily="2" charset="-128"/>
                  </a:rPr>
                  <a:t>Step 2.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1</m:t>
                    </m:r>
                  </m:oMath>
                </a14:m>
                <a:r>
                  <a:rPr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로 변경된 큐비트에 대한 열만 선택하여 </a:t>
                </a:r>
                <a:r>
                  <a:rPr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Information set</a:t>
                </a:r>
                <a:r>
                  <a:rPr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으로 추출</a:t>
                </a:r>
                <a:endParaRPr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EDD4B0B0-03BF-56AE-BE7B-A42337C8E5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2" y="1152525"/>
                <a:ext cx="11780837" cy="5057775"/>
              </a:xfrm>
              <a:blipFill>
                <a:blip r:embed="rId2"/>
                <a:stretch>
                  <a:fillRect l="-753" t="-1500" r="-7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718BB32-9CC7-F4DE-C809-37FD39C96ADC}"/>
              </a:ext>
            </a:extLst>
          </p:cNvPr>
          <p:cNvSpPr txBox="1"/>
          <p:nvPr/>
        </p:nvSpPr>
        <p:spPr>
          <a:xfrm>
            <a:off x="21504" y="6579143"/>
            <a:ext cx="889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ko-KR" sz="1000" dirty="0"/>
              <a:t>[*] C. Mukherjee et al. “Preparing Dicke States on a Quantum Computer”, IEEE Transactions on Quantum Engineering, 2020.</a:t>
            </a:r>
            <a:endParaRPr kumimoji="1" lang="ko-KR" alt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표 34">
                <a:extLst>
                  <a:ext uri="{FF2B5EF4-FFF2-40B4-BE49-F238E27FC236}">
                    <a16:creationId xmlns:a16="http://schemas.microsoft.com/office/drawing/2014/main" id="{83F9767C-4AB8-2665-34FF-EAAF5990E6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0870191"/>
                  </p:ext>
                </p:extLst>
              </p:nvPr>
            </p:nvGraphicFramePr>
            <p:xfrm>
              <a:off x="2163724" y="4639752"/>
              <a:ext cx="3084654" cy="1005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4109">
                      <a:extLst>
                        <a:ext uri="{9D8B030D-6E8A-4147-A177-3AD203B41FA5}">
                          <a16:colId xmlns:a16="http://schemas.microsoft.com/office/drawing/2014/main" val="2400194535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1418876344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712470228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923531893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1790307846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968367745"/>
                        </a:ext>
                      </a:extLst>
                    </a:gridCol>
                  </a:tblGrid>
                  <a:tr h="206644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2654148"/>
                      </a:ext>
                    </a:extLst>
                  </a:tr>
                  <a:tr h="206644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0024344"/>
                      </a:ext>
                    </a:extLst>
                  </a:tr>
                  <a:tr h="206644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93044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표 34">
                <a:extLst>
                  <a:ext uri="{FF2B5EF4-FFF2-40B4-BE49-F238E27FC236}">
                    <a16:creationId xmlns:a16="http://schemas.microsoft.com/office/drawing/2014/main" id="{83F9767C-4AB8-2665-34FF-EAAF5990E6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0870191"/>
                  </p:ext>
                </p:extLst>
              </p:nvPr>
            </p:nvGraphicFramePr>
            <p:xfrm>
              <a:off x="2163724" y="4639752"/>
              <a:ext cx="3084654" cy="1005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4109">
                      <a:extLst>
                        <a:ext uri="{9D8B030D-6E8A-4147-A177-3AD203B41FA5}">
                          <a16:colId xmlns:a16="http://schemas.microsoft.com/office/drawing/2014/main" val="2400194535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1418876344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712470228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923531893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1790307846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968367745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439" t="-7407" r="-497561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000" t="-7407" r="-410000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7407" r="-300000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7407" r="-200000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10000" t="-7407" r="-105000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7561" t="-7407" r="-2439" b="-218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265414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439" t="-111538" r="-497561" b="-1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000" t="-111538" r="-410000" b="-1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111538" r="-300000" b="-1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111538" r="-200000" b="-1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10000" t="-111538" r="-105000" b="-1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7561" t="-111538" r="-2439" b="-12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002434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439" t="-203704" r="-49756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000" t="-203704" r="-410000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203704" r="-300000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203704" r="-200000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10000" t="-203704" r="-105000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7561" t="-203704" r="-2439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930446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표 37">
                <a:extLst>
                  <a:ext uri="{FF2B5EF4-FFF2-40B4-BE49-F238E27FC236}">
                    <a16:creationId xmlns:a16="http://schemas.microsoft.com/office/drawing/2014/main" id="{1798E43D-DEB2-A4B2-4CBC-466CBD5BE6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1112099"/>
                  </p:ext>
                </p:extLst>
              </p:nvPr>
            </p:nvGraphicFramePr>
            <p:xfrm>
              <a:off x="7123744" y="4699635"/>
              <a:ext cx="1542327" cy="1005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4109">
                      <a:extLst>
                        <a:ext uri="{9D8B030D-6E8A-4147-A177-3AD203B41FA5}">
                          <a16:colId xmlns:a16="http://schemas.microsoft.com/office/drawing/2014/main" val="3424909655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2823577753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612388052"/>
                        </a:ext>
                      </a:extLst>
                    </a:gridCol>
                  </a:tblGrid>
                  <a:tr h="15843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2796483"/>
                      </a:ext>
                    </a:extLst>
                  </a:tr>
                  <a:tr h="15843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112323"/>
                      </a:ext>
                    </a:extLst>
                  </a:tr>
                  <a:tr h="15843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31020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표 37">
                <a:extLst>
                  <a:ext uri="{FF2B5EF4-FFF2-40B4-BE49-F238E27FC236}">
                    <a16:creationId xmlns:a16="http://schemas.microsoft.com/office/drawing/2014/main" id="{1798E43D-DEB2-A4B2-4CBC-466CBD5BE6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1112099"/>
                  </p:ext>
                </p:extLst>
              </p:nvPr>
            </p:nvGraphicFramePr>
            <p:xfrm>
              <a:off x="7123744" y="4699635"/>
              <a:ext cx="1542327" cy="1005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4109">
                      <a:extLst>
                        <a:ext uri="{9D8B030D-6E8A-4147-A177-3AD203B41FA5}">
                          <a16:colId xmlns:a16="http://schemas.microsoft.com/office/drawing/2014/main" val="3424909655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2823577753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612388052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3704" r="-20243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3704" r="-10243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3704" r="-243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279648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07692" r="-202439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107692" r="-102439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107692" r="-2439" b="-1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11232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200000" r="-202439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200000" r="-102439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200000" r="-2439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310205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1" name="그룹 40">
            <a:extLst>
              <a:ext uri="{FF2B5EF4-FFF2-40B4-BE49-F238E27FC236}">
                <a16:creationId xmlns:a16="http://schemas.microsoft.com/office/drawing/2014/main" id="{4E11625E-9305-36AB-BFE4-628CDD81F418}"/>
              </a:ext>
            </a:extLst>
          </p:cNvPr>
          <p:cNvGrpSpPr/>
          <p:nvPr/>
        </p:nvGrpSpPr>
        <p:grpSpPr>
          <a:xfrm>
            <a:off x="5248378" y="5063055"/>
            <a:ext cx="2269066" cy="635719"/>
            <a:chOff x="5490634" y="5085954"/>
            <a:chExt cx="2269066" cy="6357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3A2B0E6-D55F-12A6-3658-D6A035263CA5}"/>
                    </a:ext>
                  </a:extLst>
                </p:cNvPr>
                <p:cNvSpPr txBox="1"/>
                <p:nvPr/>
              </p:nvSpPr>
              <p:spPr>
                <a:xfrm>
                  <a:off x="5884333" y="5085954"/>
                  <a:ext cx="1732882" cy="3888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b>
                        </m:sSub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3A2B0E6-D55F-12A6-3658-D6A035263C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4333" y="5085954"/>
                  <a:ext cx="1732882" cy="388889"/>
                </a:xfrm>
                <a:prstGeom prst="rect">
                  <a:avLst/>
                </a:prstGeom>
                <a:blipFill>
                  <a:blip r:embed="rId5"/>
                  <a:stretch>
                    <a:fillRect t="-6250" b="-1875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1F78406-AE08-00C7-0E6E-FAA988CEF1B5}"/>
                </a:ext>
              </a:extLst>
            </p:cNvPr>
            <p:cNvSpPr txBox="1"/>
            <p:nvPr/>
          </p:nvSpPr>
          <p:spPr>
            <a:xfrm>
              <a:off x="5490634" y="5444674"/>
              <a:ext cx="22690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dirty="0">
                  <a:solidFill>
                    <a:schemeClr val="bg1">
                      <a:lumMod val="50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Information set</a:t>
              </a:r>
              <a:endParaRPr kumimoji="1" lang="ko-KR" altLang="en-US" sz="1200" dirty="0">
                <a:solidFill>
                  <a:schemeClr val="bg1">
                    <a:lumMod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</p:grpSp>
      <p:sp>
        <p:nvSpPr>
          <p:cNvPr id="49" name="오른쪽 화살표[R] 48">
            <a:extLst>
              <a:ext uri="{FF2B5EF4-FFF2-40B4-BE49-F238E27FC236}">
                <a16:creationId xmlns:a16="http://schemas.microsoft.com/office/drawing/2014/main" id="{205A18F7-6CA0-E358-C31B-ECCE7CA45B78}"/>
              </a:ext>
            </a:extLst>
          </p:cNvPr>
          <p:cNvSpPr/>
          <p:nvPr/>
        </p:nvSpPr>
        <p:spPr>
          <a:xfrm>
            <a:off x="5469110" y="5028140"/>
            <a:ext cx="230588" cy="21077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25D9564A-49AE-3B26-20CB-ED3561CDA464}"/>
              </a:ext>
            </a:extLst>
          </p:cNvPr>
          <p:cNvGrpSpPr/>
          <p:nvPr/>
        </p:nvGrpSpPr>
        <p:grpSpPr>
          <a:xfrm>
            <a:off x="150467" y="4001538"/>
            <a:ext cx="5038641" cy="1337866"/>
            <a:chOff x="-238643" y="4001538"/>
            <a:chExt cx="5038641" cy="1337866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7114C586-3B50-F113-4C8D-0D7CA6D4BA9F}"/>
                </a:ext>
              </a:extLst>
            </p:cNvPr>
            <p:cNvGrpSpPr/>
            <p:nvPr/>
          </p:nvGrpSpPr>
          <p:grpSpPr>
            <a:xfrm>
              <a:off x="-238643" y="4001538"/>
              <a:ext cx="5038641" cy="1337866"/>
              <a:chOff x="365876" y="4084320"/>
              <a:chExt cx="5038641" cy="1337866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32B79C7-A4FE-321D-13F4-A8E3057119B7}"/>
                  </a:ext>
                </a:extLst>
              </p:cNvPr>
              <p:cNvGrpSpPr/>
              <p:nvPr/>
            </p:nvGrpSpPr>
            <p:grpSpPr>
              <a:xfrm>
                <a:off x="1701799" y="4084320"/>
                <a:ext cx="3702718" cy="1337866"/>
                <a:chOff x="4301065" y="4665884"/>
                <a:chExt cx="3702718" cy="1337866"/>
              </a:xfrm>
            </p:grpSpPr>
            <p:grpSp>
              <p:nvGrpSpPr>
                <p:cNvPr id="34" name="그룹 33">
                  <a:extLst>
                    <a:ext uri="{FF2B5EF4-FFF2-40B4-BE49-F238E27FC236}">
                      <a16:creationId xmlns:a16="http://schemas.microsoft.com/office/drawing/2014/main" id="{DD2D3FD9-B940-582A-4679-1CCA6CBD3A2C}"/>
                    </a:ext>
                  </a:extLst>
                </p:cNvPr>
                <p:cNvGrpSpPr/>
                <p:nvPr/>
              </p:nvGrpSpPr>
              <p:grpSpPr>
                <a:xfrm>
                  <a:off x="5012262" y="4665884"/>
                  <a:ext cx="2991521" cy="418516"/>
                  <a:chOff x="3414368" y="5044160"/>
                  <a:chExt cx="3147002" cy="440268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타원 27">
                        <a:extLst>
                          <a:ext uri="{FF2B5EF4-FFF2-40B4-BE49-F238E27FC236}">
                            <a16:creationId xmlns:a16="http://schemas.microsoft.com/office/drawing/2014/main" id="{A774295D-F4FD-93A7-0117-66016D75B2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414368" y="5044161"/>
                        <a:ext cx="440267" cy="440267"/>
                      </a:xfrm>
                      <a:prstGeom prst="ellipse">
                        <a:avLst/>
                      </a:prstGeom>
                      <a:solidFill>
                        <a:srgbClr val="F4EFD4"/>
                      </a:solidFill>
                      <a:ln>
                        <a:solidFill>
                          <a:srgbClr val="E8E1C7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d>
                              <m:dPr>
                                <m:begChr m:val=""/>
                                <m:endChr m:val="⟩"/>
                                <m:ctrlPr>
                                  <a:rPr kumimoji="1" lang="ko-KR" alt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|0</m:t>
                                </m:r>
                              </m:e>
                            </m:d>
                          </m:oMath>
                        </a14:m>
                        <a:r>
                          <a:rPr kumimoji="1" lang="ko-KR" altLang="en-US" dirty="0">
                            <a:solidFill>
                              <a:schemeClr val="tx1"/>
                            </a:solidFill>
                          </a:rPr>
                          <a:t> 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28" name="타원 27">
                        <a:extLst>
                          <a:ext uri="{FF2B5EF4-FFF2-40B4-BE49-F238E27FC236}">
                            <a16:creationId xmlns:a16="http://schemas.microsoft.com/office/drawing/2014/main" id="{A774295D-F4FD-93A7-0117-66016D75B26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414368" y="5044161"/>
                        <a:ext cx="440267" cy="440267"/>
                      </a:xfrm>
                      <a:prstGeom prst="ellipse">
                        <a:avLst/>
                      </a:prstGeom>
                      <a:blipFill>
                        <a:blip r:embed="rId6"/>
                        <a:stretch>
                          <a:fillRect l="-31429" t="-85714" r="-57143" b="-140000"/>
                        </a:stretch>
                      </a:blipFill>
                      <a:ln>
                        <a:solidFill>
                          <a:srgbClr val="E8E1C7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타원 28">
                        <a:extLst>
                          <a:ext uri="{FF2B5EF4-FFF2-40B4-BE49-F238E27FC236}">
                            <a16:creationId xmlns:a16="http://schemas.microsoft.com/office/drawing/2014/main" id="{F2BEDEA1-6F4C-9A81-BC81-E324F3DF16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54828" y="5044161"/>
                        <a:ext cx="440267" cy="440267"/>
                      </a:xfrm>
                      <a:prstGeom prst="ellipse">
                        <a:avLst/>
                      </a:prstGeom>
                      <a:solidFill>
                        <a:srgbClr val="F4EFD4"/>
                      </a:solidFill>
                      <a:ln>
                        <a:solidFill>
                          <a:srgbClr val="E8E1C7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d>
                              <m:dPr>
                                <m:begChr m:val=""/>
                                <m:endChr m:val="⟩"/>
                                <m:ctrlPr>
                                  <a:rPr kumimoji="1" lang="ko-KR" alt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|0</m:t>
                                </m:r>
                              </m:e>
                            </m:d>
                          </m:oMath>
                        </a14:m>
                        <a:r>
                          <a:rPr kumimoji="1" lang="ko-KR" altLang="en-US" dirty="0">
                            <a:solidFill>
                              <a:schemeClr val="tx1"/>
                            </a:solidFill>
                          </a:rPr>
                          <a:t> 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29" name="타원 28">
                        <a:extLst>
                          <a:ext uri="{FF2B5EF4-FFF2-40B4-BE49-F238E27FC236}">
                            <a16:creationId xmlns:a16="http://schemas.microsoft.com/office/drawing/2014/main" id="{F2BEDEA1-6F4C-9A81-BC81-E324F3DF16B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54828" y="5044161"/>
                        <a:ext cx="440267" cy="440267"/>
                      </a:xfrm>
                      <a:prstGeom prst="ellipse">
                        <a:avLst/>
                      </a:prstGeom>
                      <a:blipFill>
                        <a:blip r:embed="rId7"/>
                        <a:stretch>
                          <a:fillRect l="-31429" t="-85714" r="-57143" b="-140000"/>
                        </a:stretch>
                      </a:blipFill>
                      <a:ln>
                        <a:solidFill>
                          <a:srgbClr val="E8E1C7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타원 29">
                        <a:extLst>
                          <a:ext uri="{FF2B5EF4-FFF2-40B4-BE49-F238E27FC236}">
                            <a16:creationId xmlns:a16="http://schemas.microsoft.com/office/drawing/2014/main" id="{6763458F-9CD4-0241-969A-B4656837A0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21103" y="5044160"/>
                        <a:ext cx="440267" cy="440267"/>
                      </a:xfrm>
                      <a:prstGeom prst="ellipse">
                        <a:avLst/>
                      </a:prstGeom>
                      <a:solidFill>
                        <a:srgbClr val="F4EFD4"/>
                      </a:solidFill>
                      <a:ln>
                        <a:solidFill>
                          <a:srgbClr val="E8E1C7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d>
                              <m:dPr>
                                <m:begChr m:val=""/>
                                <m:endChr m:val="⟩"/>
                                <m:ctrlPr>
                                  <a:rPr kumimoji="1" lang="ko-KR" alt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|0</m:t>
                                </m:r>
                              </m:e>
                            </m:d>
                          </m:oMath>
                        </a14:m>
                        <a:r>
                          <a:rPr kumimoji="1" lang="ko-KR" altLang="en-US" dirty="0">
                            <a:solidFill>
                              <a:schemeClr val="tx1"/>
                            </a:solidFill>
                          </a:rPr>
                          <a:t> 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30" name="타원 29">
                        <a:extLst>
                          <a:ext uri="{FF2B5EF4-FFF2-40B4-BE49-F238E27FC236}">
                            <a16:creationId xmlns:a16="http://schemas.microsoft.com/office/drawing/2014/main" id="{6763458F-9CD4-0241-969A-B4656837A0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21103" y="5044160"/>
                        <a:ext cx="440267" cy="440267"/>
                      </a:xfrm>
                      <a:prstGeom prst="ellipse">
                        <a:avLst/>
                      </a:prstGeom>
                      <a:blipFill>
                        <a:blip r:embed="rId8"/>
                        <a:stretch>
                          <a:fillRect l="-32353" t="-85714" r="-61765" b="-140000"/>
                        </a:stretch>
                      </a:blipFill>
                      <a:ln>
                        <a:solidFill>
                          <a:srgbClr val="E8E1C7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1" name="타원 30">
                        <a:extLst>
                          <a:ext uri="{FF2B5EF4-FFF2-40B4-BE49-F238E27FC236}">
                            <a16:creationId xmlns:a16="http://schemas.microsoft.com/office/drawing/2014/main" id="{686ECDC1-001F-F6B0-F5DC-A6EFB4BD56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61831" y="5044160"/>
                        <a:ext cx="440267" cy="440267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d>
                              <m:dPr>
                                <m:begChr m:val=""/>
                                <m:endChr m:val="⟩"/>
                                <m:ctrlPr>
                                  <a:rPr kumimoji="1" lang="ko-KR" alt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|1</m:t>
                                </m:r>
                              </m:e>
                            </m:d>
                          </m:oMath>
                        </a14:m>
                        <a:r>
                          <a:rPr kumimoji="1" lang="ko-KR" altLang="en-US" dirty="0">
                            <a:solidFill>
                              <a:schemeClr val="tx1"/>
                            </a:solidFill>
                          </a:rPr>
                          <a:t> 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31" name="타원 30">
                        <a:extLst>
                          <a:ext uri="{FF2B5EF4-FFF2-40B4-BE49-F238E27FC236}">
                            <a16:creationId xmlns:a16="http://schemas.microsoft.com/office/drawing/2014/main" id="{686ECDC1-001F-F6B0-F5DC-A6EFB4BD560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61831" y="5044160"/>
                        <a:ext cx="440267" cy="440267"/>
                      </a:xfrm>
                      <a:prstGeom prst="ellipse">
                        <a:avLst/>
                      </a:prstGeom>
                      <a:blipFill>
                        <a:blip r:embed="rId9"/>
                        <a:stretch>
                          <a:fillRect l="-28571" t="-85714" r="-57143" b="-140000"/>
                        </a:stretch>
                      </a:blipFill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타원 31">
                        <a:extLst>
                          <a:ext uri="{FF2B5EF4-FFF2-40B4-BE49-F238E27FC236}">
                            <a16:creationId xmlns:a16="http://schemas.microsoft.com/office/drawing/2014/main" id="{0F51EDD3-1869-1B19-1F0E-8029177215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99424" y="5044160"/>
                        <a:ext cx="440267" cy="440267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d>
                              <m:dPr>
                                <m:begChr m:val=""/>
                                <m:endChr m:val="⟩"/>
                                <m:ctrlPr>
                                  <a:rPr kumimoji="1" lang="ko-KR" alt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|1</m:t>
                                </m:r>
                              </m:e>
                            </m:d>
                          </m:oMath>
                        </a14:m>
                        <a:r>
                          <a:rPr kumimoji="1" lang="ko-KR" altLang="en-US" dirty="0">
                            <a:solidFill>
                              <a:schemeClr val="tx1"/>
                            </a:solidFill>
                          </a:rPr>
                          <a:t> 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32" name="타원 31">
                        <a:extLst>
                          <a:ext uri="{FF2B5EF4-FFF2-40B4-BE49-F238E27FC236}">
                            <a16:creationId xmlns:a16="http://schemas.microsoft.com/office/drawing/2014/main" id="{0F51EDD3-1869-1B19-1F0E-8029177215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499424" y="5044160"/>
                        <a:ext cx="440267" cy="440267"/>
                      </a:xfrm>
                      <a:prstGeom prst="ellipse">
                        <a:avLst/>
                      </a:prstGeom>
                      <a:blipFill>
                        <a:blip r:embed="rId10"/>
                        <a:stretch>
                          <a:fillRect l="-28571" t="-85714" r="-57143" b="-140000"/>
                        </a:stretch>
                      </a:blipFill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" name="타원 32">
                        <a:extLst>
                          <a:ext uri="{FF2B5EF4-FFF2-40B4-BE49-F238E27FC236}">
                            <a16:creationId xmlns:a16="http://schemas.microsoft.com/office/drawing/2014/main" id="{F5FB6F35-736C-E145-408D-68902A44C9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83512" y="5044160"/>
                        <a:ext cx="440267" cy="440267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d>
                              <m:dPr>
                                <m:begChr m:val=""/>
                                <m:endChr m:val="⟩"/>
                                <m:ctrlPr>
                                  <a:rPr kumimoji="1" lang="ko-KR" alt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|1</m:t>
                                </m:r>
                              </m:e>
                            </m:d>
                          </m:oMath>
                        </a14:m>
                        <a:r>
                          <a:rPr kumimoji="1" lang="ko-KR" altLang="en-US" dirty="0">
                            <a:solidFill>
                              <a:schemeClr val="tx1"/>
                            </a:solidFill>
                          </a:rPr>
                          <a:t> 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33" name="타원 32">
                        <a:extLst>
                          <a:ext uri="{FF2B5EF4-FFF2-40B4-BE49-F238E27FC236}">
                            <a16:creationId xmlns:a16="http://schemas.microsoft.com/office/drawing/2014/main" id="{F5FB6F35-736C-E145-408D-68902A44C9CE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583512" y="5044160"/>
                        <a:ext cx="440267" cy="440267"/>
                      </a:xfrm>
                      <a:prstGeom prst="ellipse">
                        <a:avLst/>
                      </a:prstGeom>
                      <a:blipFill>
                        <a:blip r:embed="rId11"/>
                        <a:stretch>
                          <a:fillRect l="-32353" t="-85714" r="-58824" b="-140000"/>
                        </a:stretch>
                      </a:blipFill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2C813810-1428-AA32-2753-3A8261335D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01065" y="5634418"/>
                      <a:ext cx="67733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/>
                    </a:p>
                  </p:txBody>
                </p:sp>
              </mc:Choice>
              <mc:Fallback xmlns="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2C813810-1428-AA32-2753-3A8261335D7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01065" y="5634418"/>
                      <a:ext cx="677333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t="-6667" r="-9259" b="-2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E625F66-6A57-4111-1143-A7614F38CD7D}"/>
                  </a:ext>
                </a:extLst>
              </p:cNvPr>
              <p:cNvSpPr txBox="1"/>
              <p:nvPr/>
            </p:nvSpPr>
            <p:spPr>
              <a:xfrm>
                <a:off x="365876" y="4158365"/>
                <a:ext cx="22690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600" b="1" dirty="0">
                    <a:solidFill>
                      <a:schemeClr val="accent6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Dicke State</a:t>
                </a:r>
                <a:r>
                  <a:rPr kumimoji="1" lang="ko-KR" altLang="en-US" sz="1600" b="1" dirty="0">
                    <a:solidFill>
                      <a:schemeClr val="accent6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1600" b="1" dirty="0">
                    <a:solidFill>
                      <a:schemeClr val="accent6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</a:t>
                </a:r>
                <a:r>
                  <a:rPr kumimoji="1" lang="en-US" altLang="ko-KR" sz="1600" b="1" dirty="0">
                    <a:solidFill>
                      <a:schemeClr val="accent6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endParaRPr kumimoji="1" lang="ko-KR" altLang="en-US" sz="1600" b="1" dirty="0">
                  <a:solidFill>
                    <a:schemeClr val="accent6">
                      <a:lumMod val="75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9E25BF6-B0EF-0998-5B15-DF131DFE2373}"/>
                    </a:ext>
                  </a:extLst>
                </p:cNvPr>
                <p:cNvSpPr txBox="1"/>
                <p:nvPr/>
              </p:nvSpPr>
              <p:spPr>
                <a:xfrm>
                  <a:off x="183132" y="4337129"/>
                  <a:ext cx="1240118" cy="3334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altLang="ko-KR" sz="14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Gmarket Sans Medium" panose="02000000000000000000" pitchFamily="2" charset="-128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Gmarket Sans Medium" panose="02000000000000000000" pitchFamily="2" charset="-128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ko-KR" sz="1400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  <m:t>6</m:t>
                              </m:r>
                            </m:sup>
                          </m:sSubSup>
                        </m:e>
                      </m:d>
                    </m:oMath>
                  </a14:m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 예시</a:t>
                  </a: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9E25BF6-B0EF-0998-5B15-DF131DFE23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132" y="4337129"/>
                  <a:ext cx="1240118" cy="333489"/>
                </a:xfrm>
                <a:prstGeom prst="rect">
                  <a:avLst/>
                </a:prstGeom>
                <a:blipFill>
                  <a:blip r:embed="rId13"/>
                  <a:stretch>
                    <a:fillRect t="-137037" b="-21111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0D69B52B-3EA5-C8DA-E08E-84708DA6B7D6}"/>
              </a:ext>
            </a:extLst>
          </p:cNvPr>
          <p:cNvSpPr txBox="1"/>
          <p:nvPr/>
        </p:nvSpPr>
        <p:spPr>
          <a:xfrm>
            <a:off x="8837769" y="5028140"/>
            <a:ext cx="238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ISD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연산 대상 </a:t>
            </a:r>
          </a:p>
        </p:txBody>
      </p:sp>
      <p:sp>
        <p:nvSpPr>
          <p:cNvPr id="59" name="오른쪽 중괄호[R] 58">
            <a:extLst>
              <a:ext uri="{FF2B5EF4-FFF2-40B4-BE49-F238E27FC236}">
                <a16:creationId xmlns:a16="http://schemas.microsoft.com/office/drawing/2014/main" id="{AF1C0288-833C-58AA-5D8E-75EAF4AE0E96}"/>
              </a:ext>
            </a:extLst>
          </p:cNvPr>
          <p:cNvSpPr/>
          <p:nvPr/>
        </p:nvSpPr>
        <p:spPr>
          <a:xfrm>
            <a:off x="8691843" y="4699635"/>
            <a:ext cx="143330" cy="1005102"/>
          </a:xfrm>
          <a:prstGeom prst="rightBrace">
            <a:avLst>
              <a:gd name="adj1" fmla="val 3115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85ACDE20-C442-1EE0-A566-4C544C039E6D}"/>
              </a:ext>
            </a:extLst>
          </p:cNvPr>
          <p:cNvGrpSpPr/>
          <p:nvPr/>
        </p:nvGrpSpPr>
        <p:grpSpPr>
          <a:xfrm>
            <a:off x="6426549" y="4001833"/>
            <a:ext cx="5722833" cy="426958"/>
            <a:chOff x="6037439" y="4121534"/>
            <a:chExt cx="5722833" cy="426958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D90827E-38C9-B63A-B88C-FF09A5AA0E36}"/>
                </a:ext>
              </a:extLst>
            </p:cNvPr>
            <p:cNvSpPr txBox="1"/>
            <p:nvPr/>
          </p:nvSpPr>
          <p:spPr>
            <a:xfrm>
              <a:off x="9273271" y="4134668"/>
              <a:ext cx="24870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ISD</a:t>
              </a:r>
              <a:r>
                <a:rPr kumimoji="1" lang="ko-KR" altLang="en-US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의 솔루션 후보</a:t>
              </a:r>
            </a:p>
          </p:txBody>
        </p:sp>
        <p:sp>
          <p:nvSpPr>
            <p:cNvPr id="60" name="오른쪽 중괄호[R] 59">
              <a:extLst>
                <a:ext uri="{FF2B5EF4-FFF2-40B4-BE49-F238E27FC236}">
                  <a16:creationId xmlns:a16="http://schemas.microsoft.com/office/drawing/2014/main" id="{229172D2-B04A-C5C6-6247-446DFF65458B}"/>
                </a:ext>
              </a:extLst>
            </p:cNvPr>
            <p:cNvSpPr/>
            <p:nvPr/>
          </p:nvSpPr>
          <p:spPr>
            <a:xfrm>
              <a:off x="9129941" y="4129977"/>
              <a:ext cx="143330" cy="418515"/>
            </a:xfrm>
            <a:prstGeom prst="rightBrace">
              <a:avLst>
                <a:gd name="adj1" fmla="val 31155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A437F2B-52F6-9E0B-B60F-B32A1BAD8061}"/>
                </a:ext>
              </a:extLst>
            </p:cNvPr>
            <p:cNvGrpSpPr/>
            <p:nvPr/>
          </p:nvGrpSpPr>
          <p:grpSpPr>
            <a:xfrm>
              <a:off x="6037439" y="4121534"/>
              <a:ext cx="2991521" cy="418516"/>
              <a:chOff x="1960877" y="4276538"/>
              <a:chExt cx="2991521" cy="41851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타원 64">
                    <a:extLst>
                      <a:ext uri="{FF2B5EF4-FFF2-40B4-BE49-F238E27FC236}">
                        <a16:creationId xmlns:a16="http://schemas.microsoft.com/office/drawing/2014/main" id="{E1CA9A38-8E0F-FA47-0F38-350622BA6328}"/>
                      </a:ext>
                    </a:extLst>
                  </p:cNvPr>
                  <p:cNvSpPr/>
                  <p:nvPr/>
                </p:nvSpPr>
                <p:spPr>
                  <a:xfrm>
                    <a:off x="1960877" y="4276539"/>
                    <a:ext cx="418515" cy="418515"/>
                  </a:xfrm>
                  <a:prstGeom prst="ellipse">
                    <a:avLst/>
                  </a:prstGeom>
                  <a:solidFill>
                    <a:srgbClr val="F4EFD4"/>
                  </a:solidFill>
                  <a:ln>
                    <a:solidFill>
                      <a:srgbClr val="E8E1C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kumimoji="1" lang="ko-KR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</m:oMath>
                    </a14:m>
                    <a:r>
                      <a:rPr kumimoji="1" lang="ko-KR" altLang="en-US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65" name="타원 64">
                    <a:extLst>
                      <a:ext uri="{FF2B5EF4-FFF2-40B4-BE49-F238E27FC236}">
                        <a16:creationId xmlns:a16="http://schemas.microsoft.com/office/drawing/2014/main" id="{E1CA9A38-8E0F-FA47-0F38-350622BA63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60877" y="4276539"/>
                    <a:ext cx="418515" cy="418515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 l="-31429" t="-85714" r="-57143" b="-140000"/>
                    </a:stretch>
                  </a:blipFill>
                  <a:ln>
                    <a:solidFill>
                      <a:srgbClr val="E8E1C7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타원 65">
                    <a:extLst>
                      <a:ext uri="{FF2B5EF4-FFF2-40B4-BE49-F238E27FC236}">
                        <a16:creationId xmlns:a16="http://schemas.microsoft.com/office/drawing/2014/main" id="{FC3122AF-374E-0576-ABB6-56F5161AA9F0}"/>
                      </a:ext>
                    </a:extLst>
                  </p:cNvPr>
                  <p:cNvSpPr/>
                  <p:nvPr/>
                </p:nvSpPr>
                <p:spPr>
                  <a:xfrm>
                    <a:off x="3520288" y="4276539"/>
                    <a:ext cx="418515" cy="418515"/>
                  </a:xfrm>
                  <a:prstGeom prst="ellipse">
                    <a:avLst/>
                  </a:prstGeom>
                  <a:solidFill>
                    <a:srgbClr val="F4EFD4"/>
                  </a:solidFill>
                  <a:ln>
                    <a:solidFill>
                      <a:srgbClr val="E8E1C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kumimoji="1" lang="ko-KR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</m:oMath>
                    </a14:m>
                    <a:r>
                      <a:rPr kumimoji="1" lang="ko-KR" altLang="en-US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66" name="타원 65">
                    <a:extLst>
                      <a:ext uri="{FF2B5EF4-FFF2-40B4-BE49-F238E27FC236}">
                        <a16:creationId xmlns:a16="http://schemas.microsoft.com/office/drawing/2014/main" id="{FC3122AF-374E-0576-ABB6-56F5161AA9F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0288" y="4276539"/>
                    <a:ext cx="418515" cy="418515"/>
                  </a:xfrm>
                  <a:prstGeom prst="ellipse">
                    <a:avLst/>
                  </a:prstGeom>
                  <a:blipFill>
                    <a:blip r:embed="rId15"/>
                    <a:stretch>
                      <a:fillRect l="-31429" t="-85714" r="-57143" b="-140000"/>
                    </a:stretch>
                  </a:blipFill>
                  <a:ln>
                    <a:solidFill>
                      <a:srgbClr val="E8E1C7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타원 66">
                    <a:extLst>
                      <a:ext uri="{FF2B5EF4-FFF2-40B4-BE49-F238E27FC236}">
                        <a16:creationId xmlns:a16="http://schemas.microsoft.com/office/drawing/2014/main" id="{F3FF66BB-3D02-4E05-1D4F-B0891EAE4807}"/>
                      </a:ext>
                    </a:extLst>
                  </p:cNvPr>
                  <p:cNvSpPr/>
                  <p:nvPr/>
                </p:nvSpPr>
                <p:spPr>
                  <a:xfrm>
                    <a:off x="4533883" y="4276538"/>
                    <a:ext cx="418515" cy="418515"/>
                  </a:xfrm>
                  <a:prstGeom prst="ellipse">
                    <a:avLst/>
                  </a:prstGeom>
                  <a:solidFill>
                    <a:srgbClr val="F4EFD4"/>
                  </a:solidFill>
                  <a:ln>
                    <a:solidFill>
                      <a:srgbClr val="E8E1C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kumimoji="1" lang="ko-KR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</m:oMath>
                    </a14:m>
                    <a:r>
                      <a:rPr kumimoji="1" lang="ko-KR" altLang="en-US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67" name="타원 66">
                    <a:extLst>
                      <a:ext uri="{FF2B5EF4-FFF2-40B4-BE49-F238E27FC236}">
                        <a16:creationId xmlns:a16="http://schemas.microsoft.com/office/drawing/2014/main" id="{F3FF66BB-3D02-4E05-1D4F-B0891EAE480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33883" y="4276538"/>
                    <a:ext cx="418515" cy="418515"/>
                  </a:xfrm>
                  <a:prstGeom prst="ellipse">
                    <a:avLst/>
                  </a:prstGeom>
                  <a:blipFill>
                    <a:blip r:embed="rId16"/>
                    <a:stretch>
                      <a:fillRect l="-31429" t="-85714" r="-57143" b="-140000"/>
                    </a:stretch>
                  </a:blipFill>
                  <a:ln>
                    <a:solidFill>
                      <a:srgbClr val="E8E1C7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F80230AC-EE61-1E7B-5944-281D529D9D6F}"/>
                      </a:ext>
                    </a:extLst>
                  </p:cNvPr>
                  <p:cNvSpPr/>
                  <p:nvPr/>
                </p:nvSpPr>
                <p:spPr>
                  <a:xfrm>
                    <a:off x="2481292" y="4276538"/>
                    <a:ext cx="418515" cy="418515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kumimoji="1" lang="ko-KR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</m:oMath>
                    </a14:m>
                    <a:r>
                      <a:rPr kumimoji="1" lang="ko-KR" altLang="en-US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F80230AC-EE61-1E7B-5944-281D529D9D6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1292" y="4276538"/>
                    <a:ext cx="418515" cy="418515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 l="-31429" t="-85714" r="-57143" b="-140000"/>
                    </a:stretch>
                  </a:blipFill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2DC2C3E9-3530-1A8A-6232-6D359B2638D9}"/>
                      </a:ext>
                    </a:extLst>
                  </p:cNvPr>
                  <p:cNvSpPr/>
                  <p:nvPr/>
                </p:nvSpPr>
                <p:spPr>
                  <a:xfrm>
                    <a:off x="2992325" y="4276538"/>
                    <a:ext cx="418515" cy="418515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kumimoji="1" lang="ko-KR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</m:oMath>
                    </a14:m>
                    <a:r>
                      <a:rPr kumimoji="1" lang="ko-KR" altLang="en-US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2DC2C3E9-3530-1A8A-6232-6D359B2638D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2325" y="4276538"/>
                    <a:ext cx="418515" cy="418515"/>
                  </a:xfrm>
                  <a:prstGeom prst="ellipse">
                    <a:avLst/>
                  </a:prstGeom>
                  <a:blipFill>
                    <a:blip r:embed="rId18"/>
                    <a:stretch>
                      <a:fillRect l="-28571" t="-85714" r="-57143" b="-140000"/>
                    </a:stretch>
                  </a:blipFill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218F4B97-9077-B8AE-D00F-768D367BE270}"/>
                      </a:ext>
                    </a:extLst>
                  </p:cNvPr>
                  <p:cNvSpPr/>
                  <p:nvPr/>
                </p:nvSpPr>
                <p:spPr>
                  <a:xfrm>
                    <a:off x="4022852" y="4276538"/>
                    <a:ext cx="418515" cy="418515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kumimoji="1" lang="ko-KR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</m:oMath>
                    </a14:m>
                    <a:r>
                      <a:rPr kumimoji="1" lang="ko-KR" altLang="en-US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218F4B97-9077-B8AE-D00F-768D367BE27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2852" y="4276538"/>
                    <a:ext cx="418515" cy="418515"/>
                  </a:xfrm>
                  <a:prstGeom prst="ellipse">
                    <a:avLst/>
                  </a:prstGeom>
                  <a:blipFill>
                    <a:blip r:embed="rId19"/>
                    <a:stretch>
                      <a:fillRect l="-28571" t="-85714" r="-57143" b="-140000"/>
                    </a:stretch>
                  </a:blipFill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75" name="구부러진 연결선[U] 74">
            <a:extLst>
              <a:ext uri="{FF2B5EF4-FFF2-40B4-BE49-F238E27FC236}">
                <a16:creationId xmlns:a16="http://schemas.microsoft.com/office/drawing/2014/main" id="{E637AD90-3CAF-6697-8D76-BA9E55CD7488}"/>
              </a:ext>
            </a:extLst>
          </p:cNvPr>
          <p:cNvCxnSpPr>
            <a:stCxn id="68" idx="4"/>
          </p:cNvCxnSpPr>
          <p:nvPr/>
        </p:nvCxnSpPr>
        <p:spPr>
          <a:xfrm rot="16200000" flipH="1">
            <a:off x="7121207" y="4455362"/>
            <a:ext cx="279287" cy="209257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6" name="구부러진 연결선[U] 75">
            <a:extLst>
              <a:ext uri="{FF2B5EF4-FFF2-40B4-BE49-F238E27FC236}">
                <a16:creationId xmlns:a16="http://schemas.microsoft.com/office/drawing/2014/main" id="{52CD00B1-F565-53C6-1266-9B830CC6AA87}"/>
              </a:ext>
            </a:extLst>
          </p:cNvPr>
          <p:cNvCxnSpPr>
            <a:cxnSpLocks/>
            <a:stCxn id="69" idx="4"/>
            <a:endCxn id="38" idx="0"/>
          </p:cNvCxnSpPr>
          <p:nvPr/>
        </p:nvCxnSpPr>
        <p:spPr>
          <a:xfrm rot="16200000" flipH="1">
            <a:off x="7641438" y="4446165"/>
            <a:ext cx="279287" cy="227652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5" name="구부러진 연결선[U] 84">
            <a:extLst>
              <a:ext uri="{FF2B5EF4-FFF2-40B4-BE49-F238E27FC236}">
                <a16:creationId xmlns:a16="http://schemas.microsoft.com/office/drawing/2014/main" id="{FEC079CB-4EC2-4C14-D0FD-45B653939CE4}"/>
              </a:ext>
            </a:extLst>
          </p:cNvPr>
          <p:cNvCxnSpPr>
            <a:cxnSpLocks/>
          </p:cNvCxnSpPr>
          <p:nvPr/>
        </p:nvCxnSpPr>
        <p:spPr>
          <a:xfrm rot="5400000">
            <a:off x="8426917" y="4451903"/>
            <a:ext cx="279583" cy="215886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2CCC81E5-98EB-F4DA-4621-2255769BAE19}"/>
              </a:ext>
            </a:extLst>
          </p:cNvPr>
          <p:cNvCxnSpPr>
            <a:cxnSpLocks/>
            <a:stCxn id="28" idx="4"/>
          </p:cNvCxnSpPr>
          <p:nvPr/>
        </p:nvCxnSpPr>
        <p:spPr>
          <a:xfrm>
            <a:off x="2406845" y="4420054"/>
            <a:ext cx="0" cy="21969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6E3EAE1E-5F9C-AE2D-04BB-EC6DCA9DE05F}"/>
              </a:ext>
            </a:extLst>
          </p:cNvPr>
          <p:cNvCxnSpPr>
            <a:cxnSpLocks/>
            <a:stCxn id="31" idx="4"/>
          </p:cNvCxnSpPr>
          <p:nvPr/>
        </p:nvCxnSpPr>
        <p:spPr>
          <a:xfrm flipH="1">
            <a:off x="2923230" y="4420053"/>
            <a:ext cx="4030" cy="21378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792B41FD-ECF9-4A74-B57D-3BD82344DF03}"/>
              </a:ext>
            </a:extLst>
          </p:cNvPr>
          <p:cNvCxnSpPr>
            <a:cxnSpLocks/>
            <a:stCxn id="32" idx="4"/>
          </p:cNvCxnSpPr>
          <p:nvPr/>
        </p:nvCxnSpPr>
        <p:spPr>
          <a:xfrm>
            <a:off x="3438293" y="4420053"/>
            <a:ext cx="0" cy="21378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5AF5DF3E-7C56-A003-769F-6D5B5A9EA01B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3966256" y="4420054"/>
            <a:ext cx="0" cy="21378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099D9581-E2A6-2EC3-65B2-A97B3B98B096}"/>
              </a:ext>
            </a:extLst>
          </p:cNvPr>
          <p:cNvCxnSpPr>
            <a:cxnSpLocks/>
            <a:stCxn id="33" idx="4"/>
          </p:cNvCxnSpPr>
          <p:nvPr/>
        </p:nvCxnSpPr>
        <p:spPr>
          <a:xfrm>
            <a:off x="4468820" y="4420053"/>
            <a:ext cx="0" cy="21378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E2CA69FD-A429-03E0-99F9-77547CB0A881}"/>
              </a:ext>
            </a:extLst>
          </p:cNvPr>
          <p:cNvCxnSpPr>
            <a:cxnSpLocks/>
            <a:stCxn id="30" idx="4"/>
          </p:cNvCxnSpPr>
          <p:nvPr/>
        </p:nvCxnSpPr>
        <p:spPr>
          <a:xfrm>
            <a:off x="4979851" y="4420053"/>
            <a:ext cx="0" cy="21378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76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8CE91-7561-80DE-3EB1-F47AAB5B5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87114-A26D-923C-7173-4160EEB1C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Input setting (1/2)</a:t>
            </a:r>
            <a:endParaRPr lang="ko-KR" altLang="en-US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2177D6A6-D379-128A-84A8-5E65255C37E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687704" cy="5057775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Dicke State</a:t>
                </a:r>
                <a:r>
                  <a:rPr lang="ko-KR" altLang="en-US" sz="2400" baseline="30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*</a:t>
                </a:r>
                <a:r>
                  <a:rPr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</m:ctrlPr>
                          </m:sSub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𝑛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−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𝑛</m:t>
                            </m:r>
                          </m:sup>
                        </m:sSubSup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 </m:t>
                    </m:r>
                  </m:oMath>
                </a14:m>
                <a:r>
                  <a:rPr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:</a:t>
                </a:r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weight</a:t>
                </a:r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(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𝑛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−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𝑘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)</m:t>
                    </m:r>
                  </m:oMath>
                </a14:m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를 만족하는 </a:t>
                </a:r>
                <a:r>
                  <a:rPr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중첩 상태의 </a:t>
                </a:r>
                <a14:m>
                  <m:oMath xmlns:m="http://schemas.openxmlformats.org/officeDocument/2006/math">
                    <m:r>
                      <a:rPr lang="en-US" altLang="ko-KR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𝒏</m:t>
                    </m:r>
                  </m:oMath>
                </a14:m>
                <a:r>
                  <a:rPr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:r>
                  <a:rPr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큐비트 벡터</a:t>
                </a:r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생성</a:t>
                </a:r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X, Ry, CNOT</a:t>
                </a:r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게이트의 조합으로 구현</a:t>
                </a:r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2177D6A6-D379-128A-84A8-5E65255C37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687704" cy="5057775"/>
              </a:xfrm>
              <a:blipFill>
                <a:blip r:embed="rId2"/>
                <a:stretch>
                  <a:fillRect l="-760" t="-12500" r="-5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ABA307C-5436-720A-8D60-68D9049D3E36}"/>
              </a:ext>
            </a:extLst>
          </p:cNvPr>
          <p:cNvSpPr txBox="1"/>
          <p:nvPr/>
        </p:nvSpPr>
        <p:spPr>
          <a:xfrm>
            <a:off x="21504" y="6579143"/>
            <a:ext cx="889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ko-KR" sz="1000" dirty="0"/>
              <a:t>[*] C. Mukherjee et al. “Preparing Dicke States on a Quantum Computer”, IEEE Transactions on Quantum Engineering, 2020.</a:t>
            </a:r>
            <a:endParaRPr kumimoji="1" lang="ko-KR" altLang="en-US" sz="1000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0C28FEC-89C4-20E0-345D-9D52DC090B21}"/>
              </a:ext>
            </a:extLst>
          </p:cNvPr>
          <p:cNvGrpSpPr/>
          <p:nvPr/>
        </p:nvGrpSpPr>
        <p:grpSpPr>
          <a:xfrm>
            <a:off x="2055140" y="2113054"/>
            <a:ext cx="8080960" cy="2670735"/>
            <a:chOff x="4960263" y="3357175"/>
            <a:chExt cx="7138604" cy="235928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2A97C41-7A6C-0BDB-B13F-DEEADE9F7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263" y="3357175"/>
              <a:ext cx="7138604" cy="20334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D9E873C-9F08-E2FA-C1B0-F9C8FC095301}"/>
                    </a:ext>
                  </a:extLst>
                </p:cNvPr>
                <p:cNvSpPr txBox="1"/>
                <p:nvPr/>
              </p:nvSpPr>
              <p:spPr>
                <a:xfrm>
                  <a:off x="7028848" y="5382975"/>
                  <a:ext cx="3001433" cy="3334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Gmarket Sans Medium" panose="02000000000000000000" pitchFamily="2" charset="-128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Gmarket Sans Medium" panose="02000000000000000000" pitchFamily="2" charset="-128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  <m:t>6</m:t>
                              </m:r>
                            </m:sup>
                          </m:sSubSup>
                        </m:e>
                      </m:d>
                    </m:oMath>
                  </a14:m>
                  <a:r>
                    <a:rPr lang="ko-KR" altLang="en-US" sz="1400" dirty="0" err="1"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에</a:t>
                  </a:r>
                  <a:r>
                    <a:rPr lang="ko-KR" altLang="en-US" sz="1400" dirty="0"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 대한 양자회로</a:t>
                  </a: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D9E873C-9F08-E2FA-C1B0-F9C8FC095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8848" y="5382975"/>
                  <a:ext cx="3001433" cy="333489"/>
                </a:xfrm>
                <a:prstGeom prst="rect">
                  <a:avLst/>
                </a:prstGeom>
                <a:blipFill>
                  <a:blip r:embed="rId4"/>
                  <a:stretch>
                    <a:fillRect t="-123333" b="-17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6F4D9D65-4DD3-7491-AB33-6BF1E85DA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136724"/>
                  </p:ext>
                </p:extLst>
              </p:nvPr>
            </p:nvGraphicFramePr>
            <p:xfrm>
              <a:off x="411163" y="4955985"/>
              <a:ext cx="11368914" cy="101269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80284">
                      <a:extLst>
                        <a:ext uri="{9D8B030D-6E8A-4147-A177-3AD203B41FA5}">
                          <a16:colId xmlns:a16="http://schemas.microsoft.com/office/drawing/2014/main" val="1892821151"/>
                        </a:ext>
                      </a:extLst>
                    </a:gridCol>
                    <a:gridCol w="1070042">
                      <a:extLst>
                        <a:ext uri="{9D8B030D-6E8A-4147-A177-3AD203B41FA5}">
                          <a16:colId xmlns:a16="http://schemas.microsoft.com/office/drawing/2014/main" val="2630515136"/>
                        </a:ext>
                      </a:extLst>
                    </a:gridCol>
                    <a:gridCol w="787941">
                      <a:extLst>
                        <a:ext uri="{9D8B030D-6E8A-4147-A177-3AD203B41FA5}">
                          <a16:colId xmlns:a16="http://schemas.microsoft.com/office/drawing/2014/main" val="812639784"/>
                        </a:ext>
                      </a:extLst>
                    </a:gridCol>
                    <a:gridCol w="2480553">
                      <a:extLst>
                        <a:ext uri="{9D8B030D-6E8A-4147-A177-3AD203B41FA5}">
                          <a16:colId xmlns:a16="http://schemas.microsoft.com/office/drawing/2014/main" val="2358017933"/>
                        </a:ext>
                      </a:extLst>
                    </a:gridCol>
                    <a:gridCol w="2149813">
                      <a:extLst>
                        <a:ext uri="{9D8B030D-6E8A-4147-A177-3AD203B41FA5}">
                          <a16:colId xmlns:a16="http://schemas.microsoft.com/office/drawing/2014/main" val="2020941866"/>
                        </a:ext>
                      </a:extLst>
                    </a:gridCol>
                    <a:gridCol w="3200281">
                      <a:extLst>
                        <a:ext uri="{9D8B030D-6E8A-4147-A177-3AD203B41FA5}">
                          <a16:colId xmlns:a16="http://schemas.microsoft.com/office/drawing/2014/main" val="8508853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Dicke State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#Qubit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X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Ry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CNOT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Full-depth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50088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"/>
                                    <m:endChr m:val="⟩"/>
                                    <m:ctrlPr>
                                      <a:rPr lang="en-US" altLang="ko-KR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Sup>
                                      <m:sSubSupPr>
                                        <m:ctrlPr>
                                          <a:rPr lang="en-US" altLang="ko-KR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80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US" altLang="ko-KR" sz="180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altLang="ko-KR" sz="18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altLang="ko-KR" sz="18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" altLang="ko-KR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4</m:t>
                                </m:r>
                                <m:r>
                                  <a:rPr lang="en" altLang="ko-KR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𝑛𝑘</m:t>
                                </m:r>
                                <m:r>
                                  <a:rPr lang="en" altLang="ko-KR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−4</m:t>
                                </m:r>
                                <m:sSup>
                                  <m:sSupPr>
                                    <m:ctrlPr>
                                      <a:rPr lang="en" altLang="ko-KR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−2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𝑛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 altLang="ko-KR" b="0" dirty="0"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" altLang="ko-KR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5</m:t>
                                </m:r>
                                <m:r>
                                  <a:rPr lang="en" altLang="ko-KR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𝑛𝑘</m:t>
                                </m:r>
                                <m:r>
                                  <a:rPr lang="en" altLang="ko-KR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−5</m:t>
                                </m:r>
                                <m:sSup>
                                  <m:sSupPr>
                                    <m:ctrlPr>
                                      <a:rPr lang="en" altLang="ko-KR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−2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≤</m:t>
                                </m:r>
                                <m:f>
                                  <m:f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27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𝑛𝑘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−12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𝑛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−27</m:t>
                                    </m:r>
                                    <m:sSup>
                                      <m:sSupPr>
                                        <m:ctrlP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+3</m:t>
                                    </m:r>
                                  </m:num>
                                  <m:den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𝑘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−2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716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6F4D9D65-4DD3-7491-AB33-6BF1E85DA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136724"/>
                  </p:ext>
                </p:extLst>
              </p:nvPr>
            </p:nvGraphicFramePr>
            <p:xfrm>
              <a:off x="411163" y="4955985"/>
              <a:ext cx="11368914" cy="101269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80284">
                      <a:extLst>
                        <a:ext uri="{9D8B030D-6E8A-4147-A177-3AD203B41FA5}">
                          <a16:colId xmlns:a16="http://schemas.microsoft.com/office/drawing/2014/main" val="1892821151"/>
                        </a:ext>
                      </a:extLst>
                    </a:gridCol>
                    <a:gridCol w="1070042">
                      <a:extLst>
                        <a:ext uri="{9D8B030D-6E8A-4147-A177-3AD203B41FA5}">
                          <a16:colId xmlns:a16="http://schemas.microsoft.com/office/drawing/2014/main" val="2630515136"/>
                        </a:ext>
                      </a:extLst>
                    </a:gridCol>
                    <a:gridCol w="787941">
                      <a:extLst>
                        <a:ext uri="{9D8B030D-6E8A-4147-A177-3AD203B41FA5}">
                          <a16:colId xmlns:a16="http://schemas.microsoft.com/office/drawing/2014/main" val="812639784"/>
                        </a:ext>
                      </a:extLst>
                    </a:gridCol>
                    <a:gridCol w="2480553">
                      <a:extLst>
                        <a:ext uri="{9D8B030D-6E8A-4147-A177-3AD203B41FA5}">
                          <a16:colId xmlns:a16="http://schemas.microsoft.com/office/drawing/2014/main" val="2358017933"/>
                        </a:ext>
                      </a:extLst>
                    </a:gridCol>
                    <a:gridCol w="2149813">
                      <a:extLst>
                        <a:ext uri="{9D8B030D-6E8A-4147-A177-3AD203B41FA5}">
                          <a16:colId xmlns:a16="http://schemas.microsoft.com/office/drawing/2014/main" val="2020941866"/>
                        </a:ext>
                      </a:extLst>
                    </a:gridCol>
                    <a:gridCol w="3200281">
                      <a:extLst>
                        <a:ext uri="{9D8B030D-6E8A-4147-A177-3AD203B41FA5}">
                          <a16:colId xmlns:a16="http://schemas.microsoft.com/office/drawing/2014/main" val="8508853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Dicke State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#Qubit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X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Ry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CNOT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Full-depth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5008886"/>
                      </a:ext>
                    </a:extLst>
                  </a:tr>
                  <a:tr h="6418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58" t="-60784" r="-579545" b="-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56471" t="-60784" r="-800000" b="-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51613" t="-60784" r="-996774" b="-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3590" t="-60784" r="-216923" b="-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79412" t="-60784" r="-148824" b="-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55952" t="-60784" r="-397" b="-7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16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EAD4E9-5373-A9E0-F179-3A1CF9D14859}"/>
                  </a:ext>
                </a:extLst>
              </p:cNvPr>
              <p:cNvSpPr txBox="1"/>
              <p:nvPr/>
            </p:nvSpPr>
            <p:spPr>
              <a:xfrm>
                <a:off x="4466504" y="6046299"/>
                <a:ext cx="339764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𝑛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4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lang="ko-KR" altLang="en-US" sz="1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대한 양자 리소스 </a:t>
                </a:r>
                <a:r>
                  <a:rPr lang="en-US" altLang="ko-KR" sz="1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𝑘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=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𝑛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/2</m:t>
                    </m:r>
                  </m:oMath>
                </a14:m>
                <a:r>
                  <a:rPr lang="en-US" altLang="ko-KR" sz="1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)</a:t>
                </a:r>
                <a:endParaRPr lang="ko-KR" altLang="en-US" sz="1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EAD4E9-5373-A9E0-F179-3A1CF9D14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504" y="6046299"/>
                <a:ext cx="3397647" cy="307777"/>
              </a:xfrm>
              <a:prstGeom prst="rect">
                <a:avLst/>
              </a:prstGeom>
              <a:blipFill>
                <a:blip r:embed="rId6"/>
                <a:stretch>
                  <a:fillRect t="-112000" b="-16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977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920CE-F6D5-BA1E-125B-2D84F337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Input setting (2/2)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E3B098-F677-0DE8-7A86-3A9273C516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Dicke state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로 선정된 열들을 </a:t>
            </a:r>
            <a:r>
              <a:rPr lang="ko-KR" altLang="en-US" sz="24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좌측으로 모으기 위한 분류 </a:t>
            </a:r>
            <a:r>
              <a:rPr lang="en-US" altLang="ko-KR" sz="24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(</a:t>
            </a:r>
            <a:r>
              <a:rPr lang="ko-KR" altLang="en-US" sz="24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정렬</a:t>
            </a:r>
            <a:r>
              <a:rPr lang="en-US" altLang="ko-KR" sz="24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)</a:t>
            </a:r>
            <a:r>
              <a:rPr lang="ko-KR" altLang="en-US" sz="24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 네트워크</a:t>
            </a:r>
            <a:endParaRPr lang="en-US" altLang="ko-KR" sz="2400" b="1" dirty="0">
              <a:solidFill>
                <a:srgbClr val="C00000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  <a:p>
            <a:pPr lvl="1"/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필수 연산은 아니지만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후속 연산들의 구현 편의상 수행 </a:t>
            </a:r>
            <a:r>
              <a:rPr lang="en-US" altLang="ko-KR" sz="1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(e.g., </a:t>
            </a:r>
            <a:r>
              <a:rPr lang="ko-KR" altLang="en-US" sz="1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인덱싱</a:t>
            </a:r>
            <a:r>
              <a:rPr lang="en-US" altLang="ko-KR" sz="1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)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CNOT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과 </a:t>
            </a:r>
            <a:r>
              <a:rPr lang="en-US" altLang="ko-KR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Controlled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en-US" altLang="ko-KR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SWAP (=CNOT + Toffoli + CNOT)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로 구현 </a:t>
            </a:r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ko-KR" altLang="en-US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B6D4DE24-AF87-3FBB-1181-3E07DA507A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5260321"/>
                  </p:ext>
                </p:extLst>
              </p:nvPr>
            </p:nvGraphicFramePr>
            <p:xfrm>
              <a:off x="1111494" y="3219928"/>
              <a:ext cx="3084654" cy="1005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4109">
                      <a:extLst>
                        <a:ext uri="{9D8B030D-6E8A-4147-A177-3AD203B41FA5}">
                          <a16:colId xmlns:a16="http://schemas.microsoft.com/office/drawing/2014/main" val="2400194535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1418876344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712470228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923531893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1790307846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968367745"/>
                        </a:ext>
                      </a:extLst>
                    </a:gridCol>
                  </a:tblGrid>
                  <a:tr h="206644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2654148"/>
                      </a:ext>
                    </a:extLst>
                  </a:tr>
                  <a:tr h="206644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0024344"/>
                      </a:ext>
                    </a:extLst>
                  </a:tr>
                  <a:tr h="206644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93044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B6D4DE24-AF87-3FBB-1181-3E07DA507A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5260321"/>
                  </p:ext>
                </p:extLst>
              </p:nvPr>
            </p:nvGraphicFramePr>
            <p:xfrm>
              <a:off x="1111494" y="3219928"/>
              <a:ext cx="3084654" cy="1005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4109">
                      <a:extLst>
                        <a:ext uri="{9D8B030D-6E8A-4147-A177-3AD203B41FA5}">
                          <a16:colId xmlns:a16="http://schemas.microsoft.com/office/drawing/2014/main" val="2400194535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1418876344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712470228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923531893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1790307846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968367745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39" t="-3704" r="-497561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5000" t="-3704" r="-410000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3704" r="-300000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3704" r="-200000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0000" t="-3704" r="-105000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7561" t="-3704" r="-2439" b="-2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265414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39" t="-107692" r="-497561" b="-1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5000" t="-107692" r="-410000" b="-1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07692" r="-300000" b="-1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107692" r="-200000" b="-1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0000" t="-107692" r="-105000" b="-1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7561" t="-107692" r="-2439" b="-11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002434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39" t="-200000" r="-497561" b="-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5000" t="-200000" r="-410000" b="-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200000" r="-300000" b="-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200000" r="-200000" b="-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0000" t="-200000" r="-105000" b="-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7561" t="-200000" r="-2439" b="-74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930446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표 20">
                <a:extLst>
                  <a:ext uri="{FF2B5EF4-FFF2-40B4-BE49-F238E27FC236}">
                    <a16:creationId xmlns:a16="http://schemas.microsoft.com/office/drawing/2014/main" id="{BCD1E903-9718-7441-6729-DF70AF9B26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6442958"/>
                  </p:ext>
                </p:extLst>
              </p:nvPr>
            </p:nvGraphicFramePr>
            <p:xfrm>
              <a:off x="8221423" y="3219928"/>
              <a:ext cx="3084654" cy="1005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4109">
                      <a:extLst>
                        <a:ext uri="{9D8B030D-6E8A-4147-A177-3AD203B41FA5}">
                          <a16:colId xmlns:a16="http://schemas.microsoft.com/office/drawing/2014/main" val="3424909655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2823577753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612388052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940445215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1371140807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2760085763"/>
                        </a:ext>
                      </a:extLst>
                    </a:gridCol>
                  </a:tblGrid>
                  <a:tr h="15843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2796483"/>
                      </a:ext>
                    </a:extLst>
                  </a:tr>
                  <a:tr h="15843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112323"/>
                      </a:ext>
                    </a:extLst>
                  </a:tr>
                  <a:tr h="15843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31020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표 20">
                <a:extLst>
                  <a:ext uri="{FF2B5EF4-FFF2-40B4-BE49-F238E27FC236}">
                    <a16:creationId xmlns:a16="http://schemas.microsoft.com/office/drawing/2014/main" id="{BCD1E903-9718-7441-6729-DF70AF9B26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6442958"/>
                  </p:ext>
                </p:extLst>
              </p:nvPr>
            </p:nvGraphicFramePr>
            <p:xfrm>
              <a:off x="8221423" y="3219928"/>
              <a:ext cx="3084654" cy="1005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4109">
                      <a:extLst>
                        <a:ext uri="{9D8B030D-6E8A-4147-A177-3AD203B41FA5}">
                          <a16:colId xmlns:a16="http://schemas.microsoft.com/office/drawing/2014/main" val="3424909655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2823577753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612388052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940445215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1371140807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2760085763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439" t="-3704" r="-497561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000" t="-3704" r="-410000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3704" r="-300000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3704" r="-200000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10000" t="-3704" r="-105000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7561" t="-3704" r="-2439" b="-2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279648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439" t="-107692" r="-497561" b="-1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000" t="-107692" r="-410000" b="-1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107692" r="-300000" b="-1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107692" r="-200000" b="-1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10000" t="-107692" r="-105000" b="-1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7561" t="-107692" r="-2439" b="-11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11232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439" t="-200000" r="-497561" b="-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000" t="-200000" r="-410000" b="-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200000" r="-300000" b="-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200000" r="-200000" b="-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10000" t="-200000" r="-105000" b="-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7561" t="-200000" r="-2439" b="-74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310205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29B8A369-3821-4DDA-4A02-4998E5FE201F}"/>
              </a:ext>
            </a:extLst>
          </p:cNvPr>
          <p:cNvGrpSpPr/>
          <p:nvPr/>
        </p:nvGrpSpPr>
        <p:grpSpPr>
          <a:xfrm>
            <a:off x="434160" y="2502660"/>
            <a:ext cx="10956692" cy="2729457"/>
            <a:chOff x="434160" y="2502660"/>
            <a:chExt cx="10956692" cy="2729457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6FA29B9-E1B4-5BCF-2FE1-869D41B74E92}"/>
                </a:ext>
              </a:extLst>
            </p:cNvPr>
            <p:cNvGrpSpPr/>
            <p:nvPr/>
          </p:nvGrpSpPr>
          <p:grpSpPr>
            <a:xfrm>
              <a:off x="434160" y="2581714"/>
              <a:ext cx="3702718" cy="1337866"/>
              <a:chOff x="4301065" y="4665884"/>
              <a:chExt cx="3702718" cy="1337866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75A9937F-BB2B-BD81-CDDF-BF8FFB17CA74}"/>
                  </a:ext>
                </a:extLst>
              </p:cNvPr>
              <p:cNvGrpSpPr/>
              <p:nvPr/>
            </p:nvGrpSpPr>
            <p:grpSpPr>
              <a:xfrm>
                <a:off x="5012262" y="4665884"/>
                <a:ext cx="2991521" cy="418516"/>
                <a:chOff x="3414368" y="5044160"/>
                <a:chExt cx="3147002" cy="44026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타원 14">
                      <a:extLst>
                        <a:ext uri="{FF2B5EF4-FFF2-40B4-BE49-F238E27FC236}">
                          <a16:creationId xmlns:a16="http://schemas.microsoft.com/office/drawing/2014/main" id="{6CCAB269-20A7-662F-101E-1FAB13146F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14368" y="5044161"/>
                      <a:ext cx="440267" cy="440267"/>
                    </a:xfrm>
                    <a:prstGeom prst="ellipse">
                      <a:avLst/>
                    </a:prstGeom>
                    <a:solidFill>
                      <a:srgbClr val="F4EFD4"/>
                    </a:solidFill>
                    <a:ln>
                      <a:solidFill>
                        <a:srgbClr val="E8E1C7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d>
                            <m:dPr>
                              <m:begChr m:val=""/>
                              <m:endChr m:val="⟩"/>
                              <m:ctrlPr>
                                <a:rPr kumimoji="1" lang="ko-KR" alt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|0</m:t>
                              </m:r>
                            </m:e>
                          </m:d>
                        </m:oMath>
                      </a14:m>
                      <a:r>
                        <a:rPr kumimoji="1"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5" name="타원 14">
                      <a:extLst>
                        <a:ext uri="{FF2B5EF4-FFF2-40B4-BE49-F238E27FC236}">
                          <a16:creationId xmlns:a16="http://schemas.microsoft.com/office/drawing/2014/main" id="{6CCAB269-20A7-662F-101E-1FAB13146F6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14368" y="5044161"/>
                      <a:ext cx="440267" cy="440267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 l="-28571" t="-85714" r="-57143" b="-137143"/>
                      </a:stretch>
                    </a:blipFill>
                    <a:ln>
                      <a:solidFill>
                        <a:srgbClr val="E8E1C7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타원 15">
                      <a:extLst>
                        <a:ext uri="{FF2B5EF4-FFF2-40B4-BE49-F238E27FC236}">
                          <a16:creationId xmlns:a16="http://schemas.microsoft.com/office/drawing/2014/main" id="{445EC584-11E6-D93C-FF0D-8B59DEFA50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54828" y="5044161"/>
                      <a:ext cx="440267" cy="440267"/>
                    </a:xfrm>
                    <a:prstGeom prst="ellipse">
                      <a:avLst/>
                    </a:prstGeom>
                    <a:solidFill>
                      <a:srgbClr val="F4EFD4"/>
                    </a:solidFill>
                    <a:ln>
                      <a:solidFill>
                        <a:srgbClr val="E8E1C7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d>
                            <m:dPr>
                              <m:begChr m:val=""/>
                              <m:endChr m:val="⟩"/>
                              <m:ctrlPr>
                                <a:rPr kumimoji="1" lang="ko-KR" alt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|0</m:t>
                              </m:r>
                            </m:e>
                          </m:d>
                        </m:oMath>
                      </a14:m>
                      <a:r>
                        <a:rPr kumimoji="1"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6" name="타원 15">
                      <a:extLst>
                        <a:ext uri="{FF2B5EF4-FFF2-40B4-BE49-F238E27FC236}">
                          <a16:creationId xmlns:a16="http://schemas.microsoft.com/office/drawing/2014/main" id="{445EC584-11E6-D93C-FF0D-8B59DEFA50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54828" y="5044161"/>
                      <a:ext cx="440267" cy="440267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 l="-28571" t="-85714" r="-57143" b="-137143"/>
                      </a:stretch>
                    </a:blipFill>
                    <a:ln>
                      <a:solidFill>
                        <a:srgbClr val="E8E1C7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타원 16">
                      <a:extLst>
                        <a:ext uri="{FF2B5EF4-FFF2-40B4-BE49-F238E27FC236}">
                          <a16:creationId xmlns:a16="http://schemas.microsoft.com/office/drawing/2014/main" id="{BE48B923-68B7-84C5-E70E-755F924FD6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1103" y="5044160"/>
                      <a:ext cx="440267" cy="440267"/>
                    </a:xfrm>
                    <a:prstGeom prst="ellipse">
                      <a:avLst/>
                    </a:prstGeom>
                    <a:solidFill>
                      <a:srgbClr val="F4EFD4"/>
                    </a:solidFill>
                    <a:ln>
                      <a:solidFill>
                        <a:srgbClr val="E8E1C7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d>
                            <m:dPr>
                              <m:begChr m:val=""/>
                              <m:endChr m:val="⟩"/>
                              <m:ctrlPr>
                                <a:rPr kumimoji="1" lang="ko-KR" alt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|0</m:t>
                              </m:r>
                            </m:e>
                          </m:d>
                        </m:oMath>
                      </a14:m>
                      <a:r>
                        <a:rPr kumimoji="1"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7" name="타원 16">
                      <a:extLst>
                        <a:ext uri="{FF2B5EF4-FFF2-40B4-BE49-F238E27FC236}">
                          <a16:creationId xmlns:a16="http://schemas.microsoft.com/office/drawing/2014/main" id="{BE48B923-68B7-84C5-E70E-755F924FD64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1103" y="5044160"/>
                      <a:ext cx="440267" cy="440267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 l="-31429" t="-85714" r="-57143" b="-137143"/>
                      </a:stretch>
                    </a:blipFill>
                    <a:ln>
                      <a:solidFill>
                        <a:srgbClr val="E8E1C7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타원 17">
                      <a:extLst>
                        <a:ext uri="{FF2B5EF4-FFF2-40B4-BE49-F238E27FC236}">
                          <a16:creationId xmlns:a16="http://schemas.microsoft.com/office/drawing/2014/main" id="{812CB5C7-2BA6-66C4-32FE-34FEB92761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61831" y="5044160"/>
                      <a:ext cx="440267" cy="440267"/>
                    </a:xfrm>
                    <a:prstGeom prst="ellipse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d>
                            <m:dPr>
                              <m:begChr m:val=""/>
                              <m:endChr m:val="⟩"/>
                              <m:ctrlPr>
                                <a:rPr kumimoji="1" lang="ko-KR" alt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|1</m:t>
                              </m:r>
                            </m:e>
                          </m:d>
                        </m:oMath>
                      </a14:m>
                      <a:r>
                        <a:rPr kumimoji="1"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8" name="타원 17">
                      <a:extLst>
                        <a:ext uri="{FF2B5EF4-FFF2-40B4-BE49-F238E27FC236}">
                          <a16:creationId xmlns:a16="http://schemas.microsoft.com/office/drawing/2014/main" id="{812CB5C7-2BA6-66C4-32FE-34FEB92761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61831" y="5044160"/>
                      <a:ext cx="440267" cy="440267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 l="-28571" t="-85714" r="-57143" b="-137143"/>
                      </a:stretch>
                    </a:blipFill>
                    <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타원 18">
                      <a:extLst>
                        <a:ext uri="{FF2B5EF4-FFF2-40B4-BE49-F238E27FC236}">
                          <a16:creationId xmlns:a16="http://schemas.microsoft.com/office/drawing/2014/main" id="{C11BE5F8-912E-7E4B-F6CB-7EAE0AF548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99424" y="5044160"/>
                      <a:ext cx="440267" cy="440267"/>
                    </a:xfrm>
                    <a:prstGeom prst="ellipse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d>
                            <m:dPr>
                              <m:begChr m:val=""/>
                              <m:endChr m:val="⟩"/>
                              <m:ctrlPr>
                                <a:rPr kumimoji="1" lang="ko-KR" alt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|1</m:t>
                              </m:r>
                            </m:e>
                          </m:d>
                        </m:oMath>
                      </a14:m>
                      <a:r>
                        <a:rPr kumimoji="1"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9" name="타원 18">
                      <a:extLst>
                        <a:ext uri="{FF2B5EF4-FFF2-40B4-BE49-F238E27FC236}">
                          <a16:creationId xmlns:a16="http://schemas.microsoft.com/office/drawing/2014/main" id="{C11BE5F8-912E-7E4B-F6CB-7EAE0AF5487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99424" y="5044160"/>
                      <a:ext cx="440267" cy="440267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 l="-28571" t="-85714" r="-57143" b="-137143"/>
                      </a:stretch>
                    </a:blipFill>
                    <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타원 19">
                      <a:extLst>
                        <a:ext uri="{FF2B5EF4-FFF2-40B4-BE49-F238E27FC236}">
                          <a16:creationId xmlns:a16="http://schemas.microsoft.com/office/drawing/2014/main" id="{4761B9F3-2AE0-3236-C29B-01881BDAAA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83512" y="5044160"/>
                      <a:ext cx="440267" cy="440267"/>
                    </a:xfrm>
                    <a:prstGeom prst="ellipse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d>
                            <m:dPr>
                              <m:begChr m:val=""/>
                              <m:endChr m:val="⟩"/>
                              <m:ctrlPr>
                                <a:rPr kumimoji="1" lang="ko-KR" alt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|1</m:t>
                              </m:r>
                            </m:e>
                          </m:d>
                        </m:oMath>
                      </a14:m>
                      <a:r>
                        <a:rPr kumimoji="1"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20" name="타원 19">
                      <a:extLst>
                        <a:ext uri="{FF2B5EF4-FFF2-40B4-BE49-F238E27FC236}">
                          <a16:creationId xmlns:a16="http://schemas.microsoft.com/office/drawing/2014/main" id="{4761B9F3-2AE0-3236-C29B-01881BDAAA8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83512" y="5044160"/>
                      <a:ext cx="440267" cy="440267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 l="-31429" t="-85714" r="-54286" b="-137143"/>
                      </a:stretch>
                    </a:blipFill>
                    <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83B7C0AA-558F-C2DE-7070-22493FF7390C}"/>
                      </a:ext>
                    </a:extLst>
                  </p:cNvPr>
                  <p:cNvSpPr txBox="1"/>
                  <p:nvPr/>
                </p:nvSpPr>
                <p:spPr>
                  <a:xfrm>
                    <a:off x="4301065" y="5634418"/>
                    <a:ext cx="6773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83B7C0AA-558F-C2DE-7070-22493FF739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01065" y="5634418"/>
                    <a:ext cx="677333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10345" r="-9259" b="-2758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01C7FC8-C9DB-57A0-5D7C-2FC3770DB45C}"/>
                </a:ext>
              </a:extLst>
            </p:cNvPr>
            <p:cNvSpPr txBox="1"/>
            <p:nvPr/>
          </p:nvSpPr>
          <p:spPr>
            <a:xfrm>
              <a:off x="7853424" y="2502660"/>
              <a:ext cx="226906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050" dirty="0">
                  <a:solidFill>
                    <a:schemeClr val="bg1">
                      <a:lumMod val="50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Information set</a:t>
              </a:r>
              <a:endParaRPr kumimoji="1" lang="ko-KR" altLang="en-US" sz="1050" dirty="0">
                <a:solidFill>
                  <a:schemeClr val="bg1">
                    <a:lumMod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  <p:sp>
          <p:nvSpPr>
            <p:cNvPr id="41" name="오른쪽 화살표[R] 40">
              <a:extLst>
                <a:ext uri="{FF2B5EF4-FFF2-40B4-BE49-F238E27FC236}">
                  <a16:creationId xmlns:a16="http://schemas.microsoft.com/office/drawing/2014/main" id="{7C0708FC-ABA0-8964-12E4-E0323BC5B1FF}"/>
                </a:ext>
              </a:extLst>
            </p:cNvPr>
            <p:cNvSpPr/>
            <p:nvPr/>
          </p:nvSpPr>
          <p:spPr>
            <a:xfrm>
              <a:off x="4487537" y="3608316"/>
              <a:ext cx="230588" cy="210770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6B4DA7-5D75-9804-36C3-F374A87CEFC3}"/>
                </a:ext>
              </a:extLst>
            </p:cNvPr>
            <p:cNvSpPr txBox="1"/>
            <p:nvPr/>
          </p:nvSpPr>
          <p:spPr>
            <a:xfrm>
              <a:off x="8169776" y="2684752"/>
              <a:ext cx="1636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ISD</a:t>
              </a:r>
              <a:r>
                <a:rPr kumimoji="1" lang="ko-KR" altLang="en-US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 연산 대상 </a:t>
              </a:r>
            </a:p>
          </p:txBody>
        </p:sp>
        <p:sp>
          <p:nvSpPr>
            <p:cNvPr id="46" name="오른쪽 중괄호[R] 45">
              <a:extLst>
                <a:ext uri="{FF2B5EF4-FFF2-40B4-BE49-F238E27FC236}">
                  <a16:creationId xmlns:a16="http://schemas.microsoft.com/office/drawing/2014/main" id="{36D36A4E-7C77-FC8E-D8F9-96772E2FC2C4}"/>
                </a:ext>
              </a:extLst>
            </p:cNvPr>
            <p:cNvSpPr/>
            <p:nvPr/>
          </p:nvSpPr>
          <p:spPr>
            <a:xfrm rot="16200000">
              <a:off x="8916292" y="2362087"/>
              <a:ext cx="143330" cy="1533067"/>
            </a:xfrm>
            <a:prstGeom prst="rightBrace">
              <a:avLst>
                <a:gd name="adj1" fmla="val 31155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3DA6CF8-94E1-01FE-7B5E-5A73B672C283}"/>
                </a:ext>
              </a:extLst>
            </p:cNvPr>
            <p:cNvSpPr txBox="1"/>
            <p:nvPr/>
          </p:nvSpPr>
          <p:spPr>
            <a:xfrm>
              <a:off x="9754491" y="2684752"/>
              <a:ext cx="1636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미선택</a:t>
              </a:r>
              <a:endParaRPr kumimoji="1"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  <p:sp>
          <p:nvSpPr>
            <p:cNvPr id="48" name="오른쪽 중괄호[R] 47">
              <a:extLst>
                <a:ext uri="{FF2B5EF4-FFF2-40B4-BE49-F238E27FC236}">
                  <a16:creationId xmlns:a16="http://schemas.microsoft.com/office/drawing/2014/main" id="{E60732F7-BBC4-C8EB-BB5A-FD3AF30025F2}"/>
                </a:ext>
              </a:extLst>
            </p:cNvPr>
            <p:cNvSpPr/>
            <p:nvPr/>
          </p:nvSpPr>
          <p:spPr>
            <a:xfrm rot="16200000">
              <a:off x="10467879" y="2357681"/>
              <a:ext cx="143330" cy="1533067"/>
            </a:xfrm>
            <a:prstGeom prst="rightBrace">
              <a:avLst>
                <a:gd name="adj1" fmla="val 31155"/>
                <a:gd name="adj2" fmla="val 50000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7" name="오른쪽 화살표[R] 56">
              <a:extLst>
                <a:ext uri="{FF2B5EF4-FFF2-40B4-BE49-F238E27FC236}">
                  <a16:creationId xmlns:a16="http://schemas.microsoft.com/office/drawing/2014/main" id="{1CA0393A-6348-9ECA-8448-36295FD2BC25}"/>
                </a:ext>
              </a:extLst>
            </p:cNvPr>
            <p:cNvSpPr/>
            <p:nvPr/>
          </p:nvSpPr>
          <p:spPr>
            <a:xfrm>
              <a:off x="7668371" y="3592430"/>
              <a:ext cx="230588" cy="210770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762E765-9484-A411-B856-7195A4B343E9}"/>
                </a:ext>
              </a:extLst>
            </p:cNvPr>
            <p:cNvSpPr txBox="1"/>
            <p:nvPr/>
          </p:nvSpPr>
          <p:spPr>
            <a:xfrm>
              <a:off x="5390604" y="2618932"/>
              <a:ext cx="1636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분류 네트워크</a:t>
              </a: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B1161A8A-D049-C8E0-A05B-7FA3B969FC54}"/>
                </a:ext>
              </a:extLst>
            </p:cNvPr>
            <p:cNvGrpSpPr/>
            <p:nvPr/>
          </p:nvGrpSpPr>
          <p:grpSpPr>
            <a:xfrm>
              <a:off x="5019242" y="4326432"/>
              <a:ext cx="3877067" cy="905685"/>
              <a:chOff x="5070037" y="4173620"/>
              <a:chExt cx="4333330" cy="1012268"/>
            </a:xfrm>
          </p:grpSpPr>
          <p:pic>
            <p:nvPicPr>
              <p:cNvPr id="60" name="그림 59">
                <a:extLst>
                  <a:ext uri="{FF2B5EF4-FFF2-40B4-BE49-F238E27FC236}">
                    <a16:creationId xmlns:a16="http://schemas.microsoft.com/office/drawing/2014/main" id="{D8430B56-75F0-EAF8-82BA-DDC32C3721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l="7866" t="11222" r="55875" b="35181"/>
              <a:stretch>
                <a:fillRect/>
              </a:stretch>
            </p:blipFill>
            <p:spPr>
              <a:xfrm>
                <a:off x="5070037" y="4201702"/>
                <a:ext cx="1719437" cy="984186"/>
              </a:xfrm>
              <a:prstGeom prst="rect">
                <a:avLst/>
              </a:prstGeom>
            </p:spPr>
          </p:pic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79ECCCBF-91F9-D8D6-5093-83DC02968194}"/>
                  </a:ext>
                </a:extLst>
              </p:cNvPr>
              <p:cNvGrpSpPr/>
              <p:nvPr/>
            </p:nvGrpSpPr>
            <p:grpSpPr>
              <a:xfrm>
                <a:off x="6706911" y="4173620"/>
                <a:ext cx="2696456" cy="942780"/>
                <a:chOff x="6839263" y="4275244"/>
                <a:chExt cx="2696456" cy="942780"/>
              </a:xfrm>
            </p:grpSpPr>
            <p:pic>
              <p:nvPicPr>
                <p:cNvPr id="62" name="그림 61">
                  <a:extLst>
                    <a:ext uri="{FF2B5EF4-FFF2-40B4-BE49-F238E27FC236}">
                      <a16:creationId xmlns:a16="http://schemas.microsoft.com/office/drawing/2014/main" id="{E4F2515B-0964-77C3-5FD2-B4EB4693C9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66653" y="4275244"/>
                  <a:ext cx="2269066" cy="942780"/>
                </a:xfrm>
                <a:prstGeom prst="rect">
                  <a:avLst/>
                </a:prstGeom>
              </p:spPr>
            </p:pic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AFEEBD2-4354-B0E6-F357-65402DDAED3B}"/>
                    </a:ext>
                  </a:extLst>
                </p:cNvPr>
                <p:cNvSpPr txBox="1"/>
                <p:nvPr/>
              </p:nvSpPr>
              <p:spPr>
                <a:xfrm>
                  <a:off x="6839263" y="4552136"/>
                  <a:ext cx="427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ko-KR" altLang="en-US" b="1" dirty="0">
                      <a:sym typeface="Wingdings" pitchFamily="2" charset="2"/>
                    </a:rPr>
                    <a:t> </a:t>
                  </a:r>
                  <a:r>
                    <a:rPr kumimoji="1" lang="en-US" altLang="ko-KR" b="1" dirty="0">
                      <a:sym typeface="Wingdings" pitchFamily="2" charset="2"/>
                    </a:rPr>
                    <a:t>=</a:t>
                  </a:r>
                  <a:endParaRPr kumimoji="1" lang="ko-KR" altLang="en-US" b="1" dirty="0"/>
                </a:p>
              </p:txBody>
            </p:sp>
          </p:grp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E09403FC-81AB-374D-A67D-C63F92D4B5E5}"/>
                </a:ext>
              </a:extLst>
            </p:cNvPr>
            <p:cNvGrpSpPr/>
            <p:nvPr/>
          </p:nvGrpSpPr>
          <p:grpSpPr>
            <a:xfrm>
              <a:off x="5009514" y="3030348"/>
              <a:ext cx="2398542" cy="1225539"/>
              <a:chOff x="4797902" y="2460574"/>
              <a:chExt cx="2794347" cy="1427776"/>
            </a:xfrm>
          </p:grpSpPr>
          <p:pic>
            <p:nvPicPr>
              <p:cNvPr id="56" name="그림 55">
                <a:extLst>
                  <a:ext uri="{FF2B5EF4-FFF2-40B4-BE49-F238E27FC236}">
                    <a16:creationId xmlns:a16="http://schemas.microsoft.com/office/drawing/2014/main" id="{B79CDBAD-E0F9-C998-22C5-313A4117F3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l="47096" t="10495" r="3545" b="24376"/>
              <a:stretch>
                <a:fillRect/>
              </a:stretch>
            </p:blipFill>
            <p:spPr>
              <a:xfrm>
                <a:off x="4797902" y="2460574"/>
                <a:ext cx="2794347" cy="1427776"/>
              </a:xfrm>
              <a:prstGeom prst="rect">
                <a:avLst/>
              </a:prstGeom>
            </p:spPr>
          </p:pic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6178D09D-621C-D058-36FF-9B6188DCC901}"/>
                  </a:ext>
                </a:extLst>
              </p:cNvPr>
              <p:cNvSpPr/>
              <p:nvPr/>
            </p:nvSpPr>
            <p:spPr>
              <a:xfrm>
                <a:off x="4807734" y="3068661"/>
                <a:ext cx="859718" cy="59778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cxnSp>
          <p:nvCxnSpPr>
            <p:cNvPr id="66" name="꺾인 연결선[E] 65">
              <a:extLst>
                <a:ext uri="{FF2B5EF4-FFF2-40B4-BE49-F238E27FC236}">
                  <a16:creationId xmlns:a16="http://schemas.microsoft.com/office/drawing/2014/main" id="{F97D0C47-AA7F-2DBE-68CB-934CA1D2DC7F}"/>
                </a:ext>
              </a:extLst>
            </p:cNvPr>
            <p:cNvCxnSpPr>
              <a:stCxn id="64" idx="1"/>
              <a:endCxn id="60" idx="1"/>
            </p:cNvCxnSpPr>
            <p:nvPr/>
          </p:nvCxnSpPr>
          <p:spPr>
            <a:xfrm rot="10800000" flipH="1" flipV="1">
              <a:off x="5017952" y="3808859"/>
              <a:ext cx="1289" cy="982977"/>
            </a:xfrm>
            <a:prstGeom prst="bentConnector3">
              <a:avLst>
                <a:gd name="adj1" fmla="val -12395190"/>
              </a:avLst>
            </a:prstGeom>
            <a:ln w="12700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1" name="표 80">
                <a:extLst>
                  <a:ext uri="{FF2B5EF4-FFF2-40B4-BE49-F238E27FC236}">
                    <a16:creationId xmlns:a16="http://schemas.microsoft.com/office/drawing/2014/main" id="{0B5D0373-EB26-9008-F338-75E50C1211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2204511"/>
                  </p:ext>
                </p:extLst>
              </p:nvPr>
            </p:nvGraphicFramePr>
            <p:xfrm>
              <a:off x="411162" y="5263762"/>
              <a:ext cx="11368914" cy="9928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63677">
                      <a:extLst>
                        <a:ext uri="{9D8B030D-6E8A-4147-A177-3AD203B41FA5}">
                          <a16:colId xmlns:a16="http://schemas.microsoft.com/office/drawing/2014/main" val="1892821151"/>
                        </a:ext>
                      </a:extLst>
                    </a:gridCol>
                    <a:gridCol w="2172929">
                      <a:extLst>
                        <a:ext uri="{9D8B030D-6E8A-4147-A177-3AD203B41FA5}">
                          <a16:colId xmlns:a16="http://schemas.microsoft.com/office/drawing/2014/main" val="2630515136"/>
                        </a:ext>
                      </a:extLst>
                    </a:gridCol>
                    <a:gridCol w="2172929">
                      <a:extLst>
                        <a:ext uri="{9D8B030D-6E8A-4147-A177-3AD203B41FA5}">
                          <a16:colId xmlns:a16="http://schemas.microsoft.com/office/drawing/2014/main" val="812639784"/>
                        </a:ext>
                      </a:extLst>
                    </a:gridCol>
                    <a:gridCol w="2143432">
                      <a:extLst>
                        <a:ext uri="{9D8B030D-6E8A-4147-A177-3AD203B41FA5}">
                          <a16:colId xmlns:a16="http://schemas.microsoft.com/office/drawing/2014/main" val="2358017933"/>
                        </a:ext>
                      </a:extLst>
                    </a:gridCol>
                    <a:gridCol w="2005781">
                      <a:extLst>
                        <a:ext uri="{9D8B030D-6E8A-4147-A177-3AD203B41FA5}">
                          <a16:colId xmlns:a16="http://schemas.microsoft.com/office/drawing/2014/main" val="2020941866"/>
                        </a:ext>
                      </a:extLst>
                    </a:gridCol>
                    <a:gridCol w="1810166">
                      <a:extLst>
                        <a:ext uri="{9D8B030D-6E8A-4147-A177-3AD203B41FA5}">
                          <a16:colId xmlns:a16="http://schemas.microsoft.com/office/drawing/2014/main" val="8508853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Matrix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#Qubit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CNOT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Full-depth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50088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dirty="0" smtClean="0">
                                      <a:latin typeface="Cambria Math" panose="02040503050406030204" pitchFamily="18" charset="0"/>
                                      <a:ea typeface="Gmarket Sans Medium" panose="02000000000000000000" pitchFamily="2" charset="-128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Gmarket Sans Medium" panose="02000000000000000000" pitchFamily="2" charset="-128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Gmarket Sans Medium" panose="02000000000000000000" pitchFamily="2" charset="-128"/>
                                    </a:rPr>
                                    <m:t>𝑘</m:t>
                                  </m:r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Gmarket Sans Medium" panose="02000000000000000000" pitchFamily="2" charset="-128"/>
                                    </a:rPr>
                                    <m:t>,</m:t>
                                  </m:r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Gmarket Sans Medium" panose="02000000000000000000" pitchFamily="2" charset="-128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</a:t>
                          </a:r>
                          <a:endParaRPr lang="en-US" altLang="ko-KR" b="0" i="0" dirty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endParaRPr>
                        </a:p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ko-KR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𝑘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ko-KR" altLang="en-US" sz="120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Gmarket Sans Medium" panose="02000000000000000000" pitchFamily="2" charset="-128"/>
                                        <a:ea typeface="Gmarket Sans Medium" panose="02000000000000000000" pitchFamily="2" charset="-128"/>
                                      </a:rPr>
                                      <m:t>행</m:t>
                                    </m:r>
                                    <m:r>
                                      <a:rPr lang="ko-KR" alt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 </m:t>
                                    </m:r>
                                    <m:r>
                                      <a:rPr lang="en-US" altLang="ko-KR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ko-KR" altLang="en-US" sz="1200" b="0" i="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Gmarket Sans Medium" panose="02000000000000000000" pitchFamily="2" charset="-128"/>
                                        <a:ea typeface="Gmarket Sans Medium" panose="02000000000000000000" pitchFamily="2" charset="-128"/>
                                      </a:rPr>
                                      <m:t>열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𝑛𝑘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+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𝑛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𝑛𝑙</m:t>
                                    </m:r>
                                    <m:d>
                                      <m:dPr>
                                        <m:ctrlP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1+</m:t>
                                        </m:r>
                                        <m: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𝑛𝑙</m:t>
                                    </m:r>
                                    <m:d>
                                      <m:dPr>
                                        <m:ctrlP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1+</m:t>
                                        </m:r>
                                        <m: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 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∙(8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+9)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𝑛𝑙</m:t>
                                    </m:r>
                                    <m:d>
                                      <m:dPr>
                                        <m:ctrlP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1+</m:t>
                                        </m:r>
                                        <m: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 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∙(7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+7)</m:t>
                                </m:r>
                              </m:oMath>
                            </m:oMathPara>
                          </a14:m>
                          <a:endParaRPr lang="en-US" altLang="ko-KR" b="0" dirty="0">
                            <a:ea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2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𝑙</m:t>
                                </m:r>
                                <m:d>
                                  <m:d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1+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𝑙</m:t>
                                    </m:r>
                                  </m:e>
                                </m:d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+4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13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1+</m:t>
                                        </m:r>
                                        <m: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𝑙</m:t>
                                        </m:r>
                                      </m:e>
                                    </m:d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+4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716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1" name="표 80">
                <a:extLst>
                  <a:ext uri="{FF2B5EF4-FFF2-40B4-BE49-F238E27FC236}">
                    <a16:creationId xmlns:a16="http://schemas.microsoft.com/office/drawing/2014/main" id="{0B5D0373-EB26-9008-F338-75E50C1211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2204511"/>
                  </p:ext>
                </p:extLst>
              </p:nvPr>
            </p:nvGraphicFramePr>
            <p:xfrm>
              <a:off x="411162" y="5263762"/>
              <a:ext cx="11368914" cy="9928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63677">
                      <a:extLst>
                        <a:ext uri="{9D8B030D-6E8A-4147-A177-3AD203B41FA5}">
                          <a16:colId xmlns:a16="http://schemas.microsoft.com/office/drawing/2014/main" val="1892821151"/>
                        </a:ext>
                      </a:extLst>
                    </a:gridCol>
                    <a:gridCol w="2172929">
                      <a:extLst>
                        <a:ext uri="{9D8B030D-6E8A-4147-A177-3AD203B41FA5}">
                          <a16:colId xmlns:a16="http://schemas.microsoft.com/office/drawing/2014/main" val="2630515136"/>
                        </a:ext>
                      </a:extLst>
                    </a:gridCol>
                    <a:gridCol w="2172929">
                      <a:extLst>
                        <a:ext uri="{9D8B030D-6E8A-4147-A177-3AD203B41FA5}">
                          <a16:colId xmlns:a16="http://schemas.microsoft.com/office/drawing/2014/main" val="812639784"/>
                        </a:ext>
                      </a:extLst>
                    </a:gridCol>
                    <a:gridCol w="2143432">
                      <a:extLst>
                        <a:ext uri="{9D8B030D-6E8A-4147-A177-3AD203B41FA5}">
                          <a16:colId xmlns:a16="http://schemas.microsoft.com/office/drawing/2014/main" val="2358017933"/>
                        </a:ext>
                      </a:extLst>
                    </a:gridCol>
                    <a:gridCol w="2005781">
                      <a:extLst>
                        <a:ext uri="{9D8B030D-6E8A-4147-A177-3AD203B41FA5}">
                          <a16:colId xmlns:a16="http://schemas.microsoft.com/office/drawing/2014/main" val="2020941866"/>
                        </a:ext>
                      </a:extLst>
                    </a:gridCol>
                    <a:gridCol w="1810166">
                      <a:extLst>
                        <a:ext uri="{9D8B030D-6E8A-4147-A177-3AD203B41FA5}">
                          <a16:colId xmlns:a16="http://schemas.microsoft.com/office/drawing/2014/main" val="8508853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Matrix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#Qubit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CNOT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Full-depth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5008886"/>
                      </a:ext>
                    </a:extLst>
                  </a:tr>
                  <a:tr h="62198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1190" t="-65306" r="-967857" b="-61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49708" t="-65306" r="-375439" b="-61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149708" t="-65306" r="-275439" b="-61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252663" t="-65306" r="-178698" b="-61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377215" t="-65306" r="-91139" b="-61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527273" t="-65306" r="-699" b="-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16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220F218-3AA1-4FAA-8402-384D4225334C}"/>
                  </a:ext>
                </a:extLst>
              </p:cNvPr>
              <p:cNvSpPr txBox="1"/>
              <p:nvPr/>
            </p:nvSpPr>
            <p:spPr>
              <a:xfrm>
                <a:off x="3036167" y="6345090"/>
                <a:ext cx="6345234" cy="349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</m:ctrlPr>
                      </m:sSub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𝐻</m:t>
                        </m:r>
                      </m:e>
                      <m:sub>
                        <m:r>
                          <a:rPr lang="en-US" altLang="ko-KR" sz="1600" i="1" dirty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𝑘</m:t>
                        </m:r>
                        <m:r>
                          <a:rPr lang="en-US" altLang="ko-KR" sz="1600" i="1" dirty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,</m:t>
                        </m:r>
                        <m:r>
                          <a:rPr lang="en-US" altLang="ko-KR" sz="1600" i="1" dirty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ko-KR" altLang="en-US" sz="16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lang="ko-KR" altLang="en-US" sz="16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대한 분류 네트워크 양자 비용 </a:t>
                </a:r>
                <a:r>
                  <a:rPr lang="en-US" altLang="ko-KR" sz="1600" b="0" dirty="0">
                    <a:ea typeface="Gmarket Sans Medium" panose="02000000000000000000" pitchFamily="2" charset="-128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k</m:t>
                    </m:r>
                    <m:r>
                      <a:rPr lang="en-US" altLang="ko-KR" sz="1600" b="0" i="0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=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𝑛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/2,  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𝑙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=</m:t>
                    </m:r>
                    <m:func>
                      <m:func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sz="1600" b="0" i="1" dirty="0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dirty="0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600" b="0" i="1" dirty="0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altLang="ko-KR" sz="1600" dirty="0"/>
                  <a:t>)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220F218-3AA1-4FAA-8402-384D42253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167" y="6345090"/>
                <a:ext cx="6345234" cy="349326"/>
              </a:xfrm>
              <a:prstGeom prst="rect">
                <a:avLst/>
              </a:prstGeom>
              <a:blipFill>
                <a:blip r:embed="rId14"/>
                <a:stretch>
                  <a:fillRect t="-6897" b="-206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237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BF047-2DBF-A423-9282-C0CB539B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13C834-53AA-17FE-20A2-B31B438C04B7}"/>
              </a:ext>
            </a:extLst>
          </p:cNvPr>
          <p:cNvSpPr txBox="1"/>
          <p:nvPr/>
        </p:nvSpPr>
        <p:spPr>
          <a:xfrm>
            <a:off x="2328333" y="1843950"/>
            <a:ext cx="7535333" cy="3170099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r>
              <a:rPr kumimoji="1" lang="en-US" altLang="ko-KR" sz="4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QISD</a:t>
            </a:r>
            <a:r>
              <a:rPr kumimoji="1" lang="ko-KR" altLang="en-US" sz="4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</a:t>
            </a:r>
            <a:r>
              <a:rPr kumimoji="1" lang="ko-KR" altLang="en-US" sz="4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대한 양자 회로 구현</a:t>
            </a:r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endParaRPr kumimoji="1" lang="ko-KR" altLang="en-US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E8FB9-B4F2-AF3D-08D2-2ADFBF45DC81}"/>
              </a:ext>
            </a:extLst>
          </p:cNvPr>
          <p:cNvSpPr txBox="1"/>
          <p:nvPr/>
        </p:nvSpPr>
        <p:spPr>
          <a:xfrm>
            <a:off x="3756367" y="3787084"/>
            <a:ext cx="4679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Gauss-Jordan Elimination</a:t>
            </a:r>
            <a:endParaRPr kumimoji="1" lang="ko-KR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6139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0FD70-1BCD-D7B6-7F8F-75F4B847E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Gauss-Jordan Elimination</a:t>
            </a:r>
            <a:endParaRPr kumimoji="1" lang="ko-KR" altLang="en-US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ACB550D-C331-579E-B5BA-32EE2B235FE4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678168" cy="5057775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Gauss-Jordan</a:t>
                </a:r>
                <a:r>
                  <a:rPr kumimoji="1"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:r>
                  <a:rPr kumimoji="1"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Elimination</a:t>
                </a:r>
                <a:r>
                  <a:rPr kumimoji="1"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을 적용하여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R" sz="2400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sz="2400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2400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ko-KR" sz="2400" b="0" i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로부터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4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ko-KR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400" b="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R" sz="2400" b="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R" sz="2400" b="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400" b="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kumimoji="1" lang="en-US" altLang="ko-KR" sz="2400" b="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kumimoji="1" lang="en-US" altLang="ko-KR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kumimoji="1"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구함</a:t>
                </a:r>
                <a:endParaRPr kumimoji="1"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|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𝑠</m:t>
                    </m:r>
                  </m:oMath>
                </a14:m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ko-KR" altLang="en-US" sz="20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를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identity 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행렬로 만들기 위한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연산을 신</a:t>
                </a:r>
                <a14:m>
                  <m:oMath xmlns:m="http://schemas.openxmlformats.org/officeDocument/2006/math">
                    <m:r>
                      <a:rPr kumimoji="1" lang="ko-KR" altLang="en-US" sz="2000" b="0" i="0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드롬</m:t>
                    </m:r>
                    <m:r>
                      <a:rPr kumimoji="1" lang="ko-KR" altLang="en-US" sz="2000" b="0" i="0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 </m:t>
                    </m:r>
                    <m:r>
                      <a:rPr kumimoji="1" lang="en-US" altLang="ko-KR" sz="20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𝑠</m:t>
                    </m:r>
                  </m:oMath>
                </a14:m>
                <a:r>
                  <a:rPr kumimoji="1" lang="ko-KR" altLang="en-US" sz="20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적용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즉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</m:t>
                    </m:r>
                    <m:r>
                      <m:rPr>
                        <m:nor/>
                      </m:rPr>
                      <a:rPr kumimoji="1" lang="ko-KR" altLang="en-US" sz="2000" b="0" i="0" dirty="0" smtClean="0">
                        <a:latin typeface="Gmarket Sans Medium" panose="02000000000000000000" pitchFamily="2" charset="-128"/>
                        <a:ea typeface="Gmarket Sans Medium" panose="02000000000000000000" pitchFamily="2" charset="-128"/>
                      </a:rPr>
                      <m:t> 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𝐼</m:t>
                    </m:r>
                  </m:oMath>
                </a14:m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1" lang="ko-KR" alt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sym typeface="Wingdings" pitchFamily="2" charset="2"/>
                      </a:rPr>
                      <m:t></m:t>
                    </m:r>
                    <m:r>
                      <a:rPr kumimoji="1" lang="ko-KR" altLang="en-US" sz="20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가 되도록 하는 것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kumimoji="1" lang="en-US" altLang="ko-KR" sz="1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kumimoji="1"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가장 많은 양자 비용</a:t>
                </a:r>
                <a:r>
                  <a:rPr kumimoji="1"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1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(e.g., #Qubit, Depth, #T-gate)</a:t>
                </a:r>
                <a:r>
                  <a:rPr kumimoji="1"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이 드는 연산이며</a:t>
                </a:r>
                <a:r>
                  <a:rPr kumimoji="1"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QISD</a:t>
                </a:r>
                <a:r>
                  <a:rPr kumimoji="1"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최적 구현의 핵심</a:t>
                </a: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ACB550D-C331-579E-B5BA-32EE2B235F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678168" cy="5057775"/>
              </a:xfrm>
              <a:blipFill>
                <a:blip r:embed="rId3"/>
                <a:stretch>
                  <a:fillRect l="-761" t="-1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표 28">
                <a:extLst>
                  <a:ext uri="{FF2B5EF4-FFF2-40B4-BE49-F238E27FC236}">
                    <a16:creationId xmlns:a16="http://schemas.microsoft.com/office/drawing/2014/main" id="{DF943FC3-CAC2-505B-B8A9-5CE1ABD653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3026827"/>
                  </p:ext>
                </p:extLst>
              </p:nvPr>
            </p:nvGraphicFramePr>
            <p:xfrm>
              <a:off x="4504617" y="4252714"/>
              <a:ext cx="1268490" cy="1005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22830">
                      <a:extLst>
                        <a:ext uri="{9D8B030D-6E8A-4147-A177-3AD203B41FA5}">
                          <a16:colId xmlns:a16="http://schemas.microsoft.com/office/drawing/2014/main" val="3670172255"/>
                        </a:ext>
                      </a:extLst>
                    </a:gridCol>
                    <a:gridCol w="422830">
                      <a:extLst>
                        <a:ext uri="{9D8B030D-6E8A-4147-A177-3AD203B41FA5}">
                          <a16:colId xmlns:a16="http://schemas.microsoft.com/office/drawing/2014/main" val="3333134616"/>
                        </a:ext>
                      </a:extLst>
                    </a:gridCol>
                    <a:gridCol w="422830">
                      <a:extLst>
                        <a:ext uri="{9D8B030D-6E8A-4147-A177-3AD203B41FA5}">
                          <a16:colId xmlns:a16="http://schemas.microsoft.com/office/drawing/2014/main" val="2750725198"/>
                        </a:ext>
                      </a:extLst>
                    </a:gridCol>
                  </a:tblGrid>
                  <a:tr h="15843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2558567"/>
                      </a:ext>
                    </a:extLst>
                  </a:tr>
                  <a:tr h="15843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3271041"/>
                      </a:ext>
                    </a:extLst>
                  </a:tr>
                  <a:tr h="15843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12613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표 28">
                <a:extLst>
                  <a:ext uri="{FF2B5EF4-FFF2-40B4-BE49-F238E27FC236}">
                    <a16:creationId xmlns:a16="http://schemas.microsoft.com/office/drawing/2014/main" id="{DF943FC3-CAC2-505B-B8A9-5CE1ABD653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3026827"/>
                  </p:ext>
                </p:extLst>
              </p:nvPr>
            </p:nvGraphicFramePr>
            <p:xfrm>
              <a:off x="4504617" y="4252714"/>
              <a:ext cx="1268490" cy="1005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22830">
                      <a:extLst>
                        <a:ext uri="{9D8B030D-6E8A-4147-A177-3AD203B41FA5}">
                          <a16:colId xmlns:a16="http://schemas.microsoft.com/office/drawing/2014/main" val="3670172255"/>
                        </a:ext>
                      </a:extLst>
                    </a:gridCol>
                    <a:gridCol w="422830">
                      <a:extLst>
                        <a:ext uri="{9D8B030D-6E8A-4147-A177-3AD203B41FA5}">
                          <a16:colId xmlns:a16="http://schemas.microsoft.com/office/drawing/2014/main" val="3333134616"/>
                        </a:ext>
                      </a:extLst>
                    </a:gridCol>
                    <a:gridCol w="422830">
                      <a:extLst>
                        <a:ext uri="{9D8B030D-6E8A-4147-A177-3AD203B41FA5}">
                          <a16:colId xmlns:a16="http://schemas.microsoft.com/office/drawing/2014/main" val="2750725198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941" r="-202941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6061" r="-109091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r="-5882" b="-2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255856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941" t="-100000" r="-20294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6061" t="-100000" r="-109091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100000" r="-5882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327104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941" t="-200000" r="-20294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6061" t="-200000" r="-109091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200000" r="-5882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12613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표 40">
                <a:extLst>
                  <a:ext uri="{FF2B5EF4-FFF2-40B4-BE49-F238E27FC236}">
                    <a16:creationId xmlns:a16="http://schemas.microsoft.com/office/drawing/2014/main" id="{266F5497-AA99-5BC6-240C-651E94FD1C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3253833"/>
                  </p:ext>
                </p:extLst>
              </p:nvPr>
            </p:nvGraphicFramePr>
            <p:xfrm>
              <a:off x="672585" y="4176170"/>
              <a:ext cx="3084654" cy="1005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4109">
                      <a:extLst>
                        <a:ext uri="{9D8B030D-6E8A-4147-A177-3AD203B41FA5}">
                          <a16:colId xmlns:a16="http://schemas.microsoft.com/office/drawing/2014/main" val="2400194535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1418876344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712470228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923531893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1790307846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968367745"/>
                        </a:ext>
                      </a:extLst>
                    </a:gridCol>
                  </a:tblGrid>
                  <a:tr h="206644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2654148"/>
                      </a:ext>
                    </a:extLst>
                  </a:tr>
                  <a:tr h="206644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0024344"/>
                      </a:ext>
                    </a:extLst>
                  </a:tr>
                  <a:tr h="206644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4EFD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93044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표 40">
                <a:extLst>
                  <a:ext uri="{FF2B5EF4-FFF2-40B4-BE49-F238E27FC236}">
                    <a16:creationId xmlns:a16="http://schemas.microsoft.com/office/drawing/2014/main" id="{266F5497-AA99-5BC6-240C-651E94FD1C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3253833"/>
                  </p:ext>
                </p:extLst>
              </p:nvPr>
            </p:nvGraphicFramePr>
            <p:xfrm>
              <a:off x="672585" y="4176170"/>
              <a:ext cx="3084654" cy="1005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4109">
                      <a:extLst>
                        <a:ext uri="{9D8B030D-6E8A-4147-A177-3AD203B41FA5}">
                          <a16:colId xmlns:a16="http://schemas.microsoft.com/office/drawing/2014/main" val="2400194535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1418876344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712470228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923531893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1790307846"/>
                        </a:ext>
                      </a:extLst>
                    </a:gridCol>
                    <a:gridCol w="514109">
                      <a:extLst>
                        <a:ext uri="{9D8B030D-6E8A-4147-A177-3AD203B41FA5}">
                          <a16:colId xmlns:a16="http://schemas.microsoft.com/office/drawing/2014/main" val="3968367745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t="-3704" r="-500000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2500" t="-3704" r="-412500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97561" t="-3704" r="-302439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97561" t="-3704" r="-202439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07500" t="-3704" r="-107500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95122" t="-3704" r="-4878" b="-218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265414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t="-103704" r="-500000" b="-1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2500" t="-103704" r="-412500" b="-1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97561" t="-103704" r="-302439" b="-1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97561" t="-103704" r="-202439" b="-1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07500" t="-103704" r="-107500" b="-1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95122" t="-103704" r="-4878" b="-118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002434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t="-203704" r="-500000" b="-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2500" t="-203704" r="-412500" b="-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97561" t="-203704" r="-302439" b="-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97561" t="-203704" r="-202439" b="-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07500" t="-203704" r="-107500" b="-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95122" t="-203704" r="-4878" b="-18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930446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2" name="그룹 41">
            <a:extLst>
              <a:ext uri="{FF2B5EF4-FFF2-40B4-BE49-F238E27FC236}">
                <a16:creationId xmlns:a16="http://schemas.microsoft.com/office/drawing/2014/main" id="{0F1A68B2-BF50-CEEA-599E-960BCC230D3A}"/>
              </a:ext>
            </a:extLst>
          </p:cNvPr>
          <p:cNvGrpSpPr/>
          <p:nvPr/>
        </p:nvGrpSpPr>
        <p:grpSpPr>
          <a:xfrm>
            <a:off x="-4749" y="3537956"/>
            <a:ext cx="3702718" cy="1337866"/>
            <a:chOff x="4301065" y="4665884"/>
            <a:chExt cx="3702718" cy="1337866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D9C682AF-9052-EE56-915E-6633161BDC4D}"/>
                </a:ext>
              </a:extLst>
            </p:cNvPr>
            <p:cNvGrpSpPr/>
            <p:nvPr/>
          </p:nvGrpSpPr>
          <p:grpSpPr>
            <a:xfrm>
              <a:off x="5012262" y="4665884"/>
              <a:ext cx="2991521" cy="418516"/>
              <a:chOff x="3414368" y="5044160"/>
              <a:chExt cx="3147002" cy="44026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타원 44">
                    <a:extLst>
                      <a:ext uri="{FF2B5EF4-FFF2-40B4-BE49-F238E27FC236}">
                        <a16:creationId xmlns:a16="http://schemas.microsoft.com/office/drawing/2014/main" id="{8A1AF36D-F41A-94F8-D7DD-038DD4359729}"/>
                      </a:ext>
                    </a:extLst>
                  </p:cNvPr>
                  <p:cNvSpPr/>
                  <p:nvPr/>
                </p:nvSpPr>
                <p:spPr>
                  <a:xfrm>
                    <a:off x="3414368" y="5044161"/>
                    <a:ext cx="440267" cy="440267"/>
                  </a:xfrm>
                  <a:prstGeom prst="ellipse">
                    <a:avLst/>
                  </a:prstGeom>
                  <a:solidFill>
                    <a:srgbClr val="F4EFD4"/>
                  </a:solidFill>
                  <a:ln>
                    <a:solidFill>
                      <a:srgbClr val="E8E1C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kumimoji="1" lang="ko-KR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</m:oMath>
                    </a14:m>
                    <a:r>
                      <a:rPr kumimoji="1" lang="ko-KR" altLang="en-US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45" name="타원 44">
                    <a:extLst>
                      <a:ext uri="{FF2B5EF4-FFF2-40B4-BE49-F238E27FC236}">
                        <a16:creationId xmlns:a16="http://schemas.microsoft.com/office/drawing/2014/main" id="{8A1AF36D-F41A-94F8-D7DD-038DD435972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4368" y="5044161"/>
                    <a:ext cx="440267" cy="440267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 l="-31429" t="-82857" r="-54286" b="-140000"/>
                    </a:stretch>
                  </a:blipFill>
                  <a:ln>
                    <a:solidFill>
                      <a:srgbClr val="E8E1C7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타원 45">
                    <a:extLst>
                      <a:ext uri="{FF2B5EF4-FFF2-40B4-BE49-F238E27FC236}">
                        <a16:creationId xmlns:a16="http://schemas.microsoft.com/office/drawing/2014/main" id="{99CE2ED5-505C-8E01-85FA-FCEB2DDBB3F4}"/>
                      </a:ext>
                    </a:extLst>
                  </p:cNvPr>
                  <p:cNvSpPr/>
                  <p:nvPr/>
                </p:nvSpPr>
                <p:spPr>
                  <a:xfrm>
                    <a:off x="5054828" y="5044161"/>
                    <a:ext cx="440267" cy="440267"/>
                  </a:xfrm>
                  <a:prstGeom prst="ellipse">
                    <a:avLst/>
                  </a:prstGeom>
                  <a:solidFill>
                    <a:srgbClr val="F4EFD4"/>
                  </a:solidFill>
                  <a:ln>
                    <a:solidFill>
                      <a:srgbClr val="E8E1C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kumimoji="1" lang="ko-KR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</m:oMath>
                    </a14:m>
                    <a:r>
                      <a:rPr kumimoji="1" lang="ko-KR" altLang="en-US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46" name="타원 45">
                    <a:extLst>
                      <a:ext uri="{FF2B5EF4-FFF2-40B4-BE49-F238E27FC236}">
                        <a16:creationId xmlns:a16="http://schemas.microsoft.com/office/drawing/2014/main" id="{99CE2ED5-505C-8E01-85FA-FCEB2DDBB3F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4828" y="5044161"/>
                    <a:ext cx="440267" cy="440267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 l="-32353" t="-82857" r="-58824" b="-140000"/>
                    </a:stretch>
                  </a:blipFill>
                  <a:ln>
                    <a:solidFill>
                      <a:srgbClr val="E8E1C7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타원 46">
                    <a:extLst>
                      <a:ext uri="{FF2B5EF4-FFF2-40B4-BE49-F238E27FC236}">
                        <a16:creationId xmlns:a16="http://schemas.microsoft.com/office/drawing/2014/main" id="{796FCA46-7032-9F27-AE93-4186C528DE68}"/>
                      </a:ext>
                    </a:extLst>
                  </p:cNvPr>
                  <p:cNvSpPr/>
                  <p:nvPr/>
                </p:nvSpPr>
                <p:spPr>
                  <a:xfrm>
                    <a:off x="6121103" y="5044160"/>
                    <a:ext cx="440267" cy="440267"/>
                  </a:xfrm>
                  <a:prstGeom prst="ellipse">
                    <a:avLst/>
                  </a:prstGeom>
                  <a:solidFill>
                    <a:srgbClr val="F4EFD4"/>
                  </a:solidFill>
                  <a:ln>
                    <a:solidFill>
                      <a:srgbClr val="E8E1C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kumimoji="1" lang="ko-KR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|0</m:t>
                            </m:r>
                          </m:e>
                        </m:d>
                      </m:oMath>
                    </a14:m>
                    <a:r>
                      <a:rPr kumimoji="1" lang="ko-KR" altLang="en-US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47" name="타원 46">
                    <a:extLst>
                      <a:ext uri="{FF2B5EF4-FFF2-40B4-BE49-F238E27FC236}">
                        <a16:creationId xmlns:a16="http://schemas.microsoft.com/office/drawing/2014/main" id="{796FCA46-7032-9F27-AE93-4186C528DE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21103" y="5044160"/>
                    <a:ext cx="440267" cy="440267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 l="-28571" t="-82857" r="-57143" b="-140000"/>
                    </a:stretch>
                  </a:blipFill>
                  <a:ln>
                    <a:solidFill>
                      <a:srgbClr val="E8E1C7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타원 47">
                    <a:extLst>
                      <a:ext uri="{FF2B5EF4-FFF2-40B4-BE49-F238E27FC236}">
                        <a16:creationId xmlns:a16="http://schemas.microsoft.com/office/drawing/2014/main" id="{AADD92F4-2B40-5377-4505-A4BB88FF6F02}"/>
                      </a:ext>
                    </a:extLst>
                  </p:cNvPr>
                  <p:cNvSpPr/>
                  <p:nvPr/>
                </p:nvSpPr>
                <p:spPr>
                  <a:xfrm>
                    <a:off x="3961831" y="5044160"/>
                    <a:ext cx="440267" cy="440267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kumimoji="1" lang="ko-KR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</m:oMath>
                    </a14:m>
                    <a:r>
                      <a:rPr kumimoji="1" lang="ko-KR" altLang="en-US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48" name="타원 47">
                    <a:extLst>
                      <a:ext uri="{FF2B5EF4-FFF2-40B4-BE49-F238E27FC236}">
                        <a16:creationId xmlns:a16="http://schemas.microsoft.com/office/drawing/2014/main" id="{AADD92F4-2B40-5377-4505-A4BB88FF6F0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61831" y="5044160"/>
                    <a:ext cx="440267" cy="440267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 l="-31429" t="-82857" r="-57143" b="-140000"/>
                    </a:stretch>
                  </a:blipFill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타원 48">
                    <a:extLst>
                      <a:ext uri="{FF2B5EF4-FFF2-40B4-BE49-F238E27FC236}">
                        <a16:creationId xmlns:a16="http://schemas.microsoft.com/office/drawing/2014/main" id="{78F5F43A-0CC2-F96F-C007-54C099A80B3C}"/>
                      </a:ext>
                    </a:extLst>
                  </p:cNvPr>
                  <p:cNvSpPr/>
                  <p:nvPr/>
                </p:nvSpPr>
                <p:spPr>
                  <a:xfrm>
                    <a:off x="4499424" y="5044160"/>
                    <a:ext cx="440267" cy="440267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kumimoji="1" lang="ko-KR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</m:oMath>
                    </a14:m>
                    <a:r>
                      <a:rPr kumimoji="1" lang="ko-KR" altLang="en-US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49" name="타원 48">
                    <a:extLst>
                      <a:ext uri="{FF2B5EF4-FFF2-40B4-BE49-F238E27FC236}">
                        <a16:creationId xmlns:a16="http://schemas.microsoft.com/office/drawing/2014/main" id="{78F5F43A-0CC2-F96F-C007-54C099A80B3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9424" y="5044160"/>
                    <a:ext cx="440267" cy="440267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 l="-31429" t="-82857" r="-57143" b="-140000"/>
                    </a:stretch>
                  </a:blipFill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타원 49">
                    <a:extLst>
                      <a:ext uri="{FF2B5EF4-FFF2-40B4-BE49-F238E27FC236}">
                        <a16:creationId xmlns:a16="http://schemas.microsoft.com/office/drawing/2014/main" id="{E22FE2F5-4D0E-E0EC-7350-3BD09504E378}"/>
                      </a:ext>
                    </a:extLst>
                  </p:cNvPr>
                  <p:cNvSpPr/>
                  <p:nvPr/>
                </p:nvSpPr>
                <p:spPr>
                  <a:xfrm>
                    <a:off x="5583512" y="5044160"/>
                    <a:ext cx="440267" cy="440267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kumimoji="1" lang="ko-KR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|1</m:t>
                            </m:r>
                          </m:e>
                        </m:d>
                      </m:oMath>
                    </a14:m>
                    <a:r>
                      <a:rPr kumimoji="1" lang="ko-KR" altLang="en-US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50" name="타원 49">
                    <a:extLst>
                      <a:ext uri="{FF2B5EF4-FFF2-40B4-BE49-F238E27FC236}">
                        <a16:creationId xmlns:a16="http://schemas.microsoft.com/office/drawing/2014/main" id="{E22FE2F5-4D0E-E0EC-7350-3BD09504E37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83512" y="5044160"/>
                    <a:ext cx="440267" cy="440267"/>
                  </a:xfrm>
                  <a:prstGeom prst="ellipse">
                    <a:avLst/>
                  </a:prstGeom>
                  <a:blipFill>
                    <a:blip r:embed="rId11"/>
                    <a:stretch>
                      <a:fillRect l="-31429" t="-82857" r="-57143" b="-140000"/>
                    </a:stretch>
                  </a:blipFill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D7C92F7-0056-6BEF-8D44-8F9EC841C659}"/>
                    </a:ext>
                  </a:extLst>
                </p:cNvPr>
                <p:cNvSpPr txBox="1"/>
                <p:nvPr/>
              </p:nvSpPr>
              <p:spPr>
                <a:xfrm>
                  <a:off x="4301065" y="5634418"/>
                  <a:ext cx="6773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D7C92F7-0056-6BEF-8D44-8F9EC841C6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065" y="5634418"/>
                  <a:ext cx="677333" cy="369332"/>
                </a:xfrm>
                <a:prstGeom prst="rect">
                  <a:avLst/>
                </a:prstGeom>
                <a:blipFill>
                  <a:blip r:embed="rId12"/>
                  <a:stretch>
                    <a:fillRect t="-6667" r="-9259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오른쪽 화살표[R] 50">
            <a:extLst>
              <a:ext uri="{FF2B5EF4-FFF2-40B4-BE49-F238E27FC236}">
                <a16:creationId xmlns:a16="http://schemas.microsoft.com/office/drawing/2014/main" id="{0C424DD7-F360-FC3B-4F4F-A0FD160C1285}"/>
              </a:ext>
            </a:extLst>
          </p:cNvPr>
          <p:cNvSpPr/>
          <p:nvPr/>
        </p:nvSpPr>
        <p:spPr>
          <a:xfrm>
            <a:off x="3866907" y="4584193"/>
            <a:ext cx="387455" cy="17236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A0044A7-4DC0-8568-2687-CF4D14526E70}"/>
              </a:ext>
            </a:extLst>
          </p:cNvPr>
          <p:cNvSpPr/>
          <p:nvPr/>
        </p:nvSpPr>
        <p:spPr>
          <a:xfrm>
            <a:off x="0" y="3532354"/>
            <a:ext cx="4254362" cy="1727147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5C495C28-D8C9-DA01-354C-4F685F82D5B1}"/>
              </a:ext>
            </a:extLst>
          </p:cNvPr>
          <p:cNvGrpSpPr/>
          <p:nvPr/>
        </p:nvGrpSpPr>
        <p:grpSpPr>
          <a:xfrm>
            <a:off x="4363430" y="4022662"/>
            <a:ext cx="7444285" cy="1794470"/>
            <a:chOff x="4363430" y="4676423"/>
            <a:chExt cx="7444285" cy="1794470"/>
          </a:xfrm>
        </p:grpSpPr>
        <p:cxnSp>
          <p:nvCxnSpPr>
            <p:cNvPr id="88" name="꺾인 연결선[E] 87">
              <a:extLst>
                <a:ext uri="{FF2B5EF4-FFF2-40B4-BE49-F238E27FC236}">
                  <a16:creationId xmlns:a16="http://schemas.microsoft.com/office/drawing/2014/main" id="{9EEDBE0C-8A3A-A018-585C-B86AD6237D62}"/>
                </a:ext>
              </a:extLst>
            </p:cNvPr>
            <p:cNvCxnSpPr>
              <a:stCxn id="86" idx="2"/>
              <a:endCxn id="85" idx="2"/>
            </p:cNvCxnSpPr>
            <p:nvPr/>
          </p:nvCxnSpPr>
          <p:spPr>
            <a:xfrm rot="16200000" flipH="1">
              <a:off x="7577151" y="4042225"/>
              <a:ext cx="10589" cy="4846746"/>
            </a:xfrm>
            <a:prstGeom prst="bentConnector3">
              <a:avLst>
                <a:gd name="adj1" fmla="val 2258844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꺾인 연결선[E] 108">
              <a:extLst>
                <a:ext uri="{FF2B5EF4-FFF2-40B4-BE49-F238E27FC236}">
                  <a16:creationId xmlns:a16="http://schemas.microsoft.com/office/drawing/2014/main" id="{DEC95B97-9CB7-E7B1-CF16-77964B493153}"/>
                </a:ext>
              </a:extLst>
            </p:cNvPr>
            <p:cNvCxnSpPr>
              <a:cxnSpLocks/>
              <a:stCxn id="140" idx="2"/>
              <a:endCxn id="112" idx="2"/>
            </p:cNvCxnSpPr>
            <p:nvPr/>
          </p:nvCxnSpPr>
          <p:spPr>
            <a:xfrm rot="5400000" flipH="1" flipV="1">
              <a:off x="8033258" y="3928854"/>
              <a:ext cx="26094" cy="5054672"/>
            </a:xfrm>
            <a:prstGeom prst="bentConnector3">
              <a:avLst>
                <a:gd name="adj1" fmla="val -580969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8A922E31-7517-5CB9-FBB1-F2DC5C859927}"/>
                </a:ext>
              </a:extLst>
            </p:cNvPr>
            <p:cNvGrpSpPr/>
            <p:nvPr/>
          </p:nvGrpSpPr>
          <p:grpSpPr>
            <a:xfrm>
              <a:off x="4363430" y="4676423"/>
              <a:ext cx="7282977" cy="1794470"/>
              <a:chOff x="3938094" y="4676423"/>
              <a:chExt cx="7282977" cy="1794470"/>
            </a:xfrm>
          </p:grpSpPr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F3119E6-A2FB-354B-03B4-FA6EFFA53ECE}"/>
                  </a:ext>
                </a:extLst>
              </p:cNvPr>
              <p:cNvSpPr txBox="1"/>
              <p:nvPr/>
            </p:nvSpPr>
            <p:spPr>
              <a:xfrm>
                <a:off x="5619439" y="4676423"/>
                <a:ext cx="348948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600" b="1" dirty="0">
                    <a:solidFill>
                      <a:srgbClr val="FF0000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Gauss-Jordan</a:t>
                </a:r>
              </a:p>
              <a:p>
                <a:pPr algn="ctr"/>
                <a:r>
                  <a:rPr kumimoji="1" lang="en-US" altLang="ko-KR" sz="1600" b="1" dirty="0">
                    <a:solidFill>
                      <a:srgbClr val="FF0000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Elimination</a:t>
                </a:r>
                <a:endParaRPr kumimoji="1" lang="ko-KR" altLang="en-US" sz="1600" b="1" dirty="0">
                  <a:solidFill>
                    <a:srgbClr val="FF0000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  <p:grpSp>
            <p:nvGrpSpPr>
              <p:cNvPr id="117" name="그룹 116">
                <a:extLst>
                  <a:ext uri="{FF2B5EF4-FFF2-40B4-BE49-F238E27FC236}">
                    <a16:creationId xmlns:a16="http://schemas.microsoft.com/office/drawing/2014/main" id="{F3B1DD02-2C1C-815D-D15F-3CC89F6367C6}"/>
                  </a:ext>
                </a:extLst>
              </p:cNvPr>
              <p:cNvGrpSpPr/>
              <p:nvPr/>
            </p:nvGrpSpPr>
            <p:grpSpPr>
              <a:xfrm>
                <a:off x="3938094" y="4726591"/>
                <a:ext cx="1942753" cy="1733713"/>
                <a:chOff x="3174813" y="4726591"/>
                <a:chExt cx="1942753" cy="1733713"/>
              </a:xfrm>
            </p:grpSpPr>
            <p:grpSp>
              <p:nvGrpSpPr>
                <p:cNvPr id="97" name="그룹 96">
                  <a:extLst>
                    <a:ext uri="{FF2B5EF4-FFF2-40B4-BE49-F238E27FC236}">
                      <a16:creationId xmlns:a16="http://schemas.microsoft.com/office/drawing/2014/main" id="{9ECA71CE-342D-F87C-1222-1251467370E2}"/>
                    </a:ext>
                  </a:extLst>
                </p:cNvPr>
                <p:cNvGrpSpPr/>
                <p:nvPr/>
              </p:nvGrpSpPr>
              <p:grpSpPr>
                <a:xfrm>
                  <a:off x="3174813" y="4726591"/>
                  <a:ext cx="1942753" cy="1733713"/>
                  <a:chOff x="1831186" y="4726591"/>
                  <a:chExt cx="1942753" cy="1733713"/>
                </a:xfrm>
              </p:grpSpPr>
              <p:grpSp>
                <p:nvGrpSpPr>
                  <p:cNvPr id="89" name="그룹 88">
                    <a:extLst>
                      <a:ext uri="{FF2B5EF4-FFF2-40B4-BE49-F238E27FC236}">
                        <a16:creationId xmlns:a16="http://schemas.microsoft.com/office/drawing/2014/main" id="{CF8F90C6-0473-22B8-1F76-B266BA79BB80}"/>
                      </a:ext>
                    </a:extLst>
                  </p:cNvPr>
                  <p:cNvGrpSpPr/>
                  <p:nvPr/>
                </p:nvGrpSpPr>
                <p:grpSpPr>
                  <a:xfrm>
                    <a:off x="1831186" y="4726591"/>
                    <a:ext cx="1942753" cy="1733713"/>
                    <a:chOff x="1831186" y="4726591"/>
                    <a:chExt cx="1942753" cy="1733713"/>
                  </a:xfrm>
                </p:grpSpPr>
                <p:grpSp>
                  <p:nvGrpSpPr>
                    <p:cNvPr id="77" name="그룹 76">
                      <a:extLst>
                        <a:ext uri="{FF2B5EF4-FFF2-40B4-BE49-F238E27FC236}">
                          <a16:creationId xmlns:a16="http://schemas.microsoft.com/office/drawing/2014/main" id="{73DD8CA2-7B33-0625-129D-48A512EA29E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31186" y="4726591"/>
                      <a:ext cx="1942753" cy="1688382"/>
                      <a:chOff x="5559802" y="4726591"/>
                      <a:chExt cx="1942753" cy="1688382"/>
                    </a:xfrm>
                  </p:grpSpPr>
                  <p:grpSp>
                    <p:nvGrpSpPr>
                      <p:cNvPr id="76" name="그룹 75">
                        <a:extLst>
                          <a:ext uri="{FF2B5EF4-FFF2-40B4-BE49-F238E27FC236}">
                            <a16:creationId xmlns:a16="http://schemas.microsoft.com/office/drawing/2014/main" id="{7D922641-1119-1B6A-E3AF-AF129F873F4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559802" y="4726591"/>
                        <a:ext cx="1942753" cy="1688382"/>
                        <a:chOff x="5559802" y="4726591"/>
                        <a:chExt cx="1942753" cy="1688382"/>
                      </a:xfrm>
                    </p:grpSpPr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68" name="모서리가 둥근 직사각형 67">
                              <a:extLst>
                                <a:ext uri="{FF2B5EF4-FFF2-40B4-BE49-F238E27FC236}">
                                  <a16:creationId xmlns:a16="http://schemas.microsoft.com/office/drawing/2014/main" id="{A033868B-EE58-F08C-7AD7-78CB5BB959E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59802" y="4726591"/>
                              <a:ext cx="1942753" cy="1324682"/>
                            </a:xfrm>
                            <a:prstGeom prst="roundRect">
                              <a:avLst>
                                <a:gd name="adj" fmla="val 4363"/>
                              </a:avLst>
                            </a:prstGeom>
                            <a:solidFill>
                              <a:srgbClr val="FAEDE8">
                                <a:alpha val="50196"/>
                              </a:srgbClr>
                            </a:solidFill>
                            <a:ln w="19050">
                              <a:solidFill>
                                <a:srgbClr val="E8C5BF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68" name="모서리가 둥근 직사각형 67">
                              <a:extLst>
                                <a:ext uri="{FF2B5EF4-FFF2-40B4-BE49-F238E27FC236}">
                                  <a16:creationId xmlns:a16="http://schemas.microsoft.com/office/drawing/2014/main" id="{A033868B-EE58-F08C-7AD7-78CB5BB959E6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5559802" y="4726591"/>
                              <a:ext cx="1942753" cy="1324682"/>
                            </a:xfrm>
                            <a:prstGeom prst="roundRect">
                              <a:avLst>
                                <a:gd name="adj" fmla="val 4363"/>
                              </a:avLst>
                            </a:prstGeom>
                            <a:blipFill>
                              <a:blip r:embed="rId13"/>
                              <a:stretch>
                                <a:fillRect/>
                              </a:stretch>
                            </a:blipFill>
                            <a:ln w="19050">
                              <a:solidFill>
                                <a:srgbClr val="E8C5BF"/>
                              </a:solidFill>
                            </a:ln>
                          </p:spPr>
                          <p:txBody>
                            <a:bodyPr/>
                            <a:lstStyle/>
                            <a:p>
                              <a:r>
                                <a:rPr lang="ko-KR" alt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grpSp>
                      <p:nvGrpSpPr>
                        <p:cNvPr id="55" name="그룹 54">
                          <a:extLst>
                            <a:ext uri="{FF2B5EF4-FFF2-40B4-BE49-F238E27FC236}">
                              <a16:creationId xmlns:a16="http://schemas.microsoft.com/office/drawing/2014/main" id="{77D7373E-6103-5938-6B8A-6E0340B784D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29535" y="4828611"/>
                          <a:ext cx="1536467" cy="1586362"/>
                          <a:chOff x="2160194" y="3075081"/>
                          <a:chExt cx="1536467" cy="1586362"/>
                        </a:xfrm>
                      </p:grpSpPr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61" name="TextBox 60">
                                <a:extLst>
                                  <a:ext uri="{FF2B5EF4-FFF2-40B4-BE49-F238E27FC236}">
                                    <a16:creationId xmlns:a16="http://schemas.microsoft.com/office/drawing/2014/main" id="{FEBF2C59-B16C-14D5-CFE9-CCD4F6EC096B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2160194" y="4322889"/>
                                <a:ext cx="1536467" cy="33855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>
                                <a:spAutoFit/>
                              </a:bodyPr>
                              <a:lstStyle/>
                              <a:p>
                                <a:pPr algn="ctr"/>
                                <a:r>
                                  <a:rPr kumimoji="1" lang="en-US" altLang="ko-KR" sz="1600" dirty="0">
                                    <a:solidFill>
                                      <a:schemeClr val="tx1"/>
                                    </a:solidFill>
                                  </a:rPr>
                                  <a:t>[</a:t>
                                </a:r>
                                <a14:m>
                                  <m:oMath xmlns:m="http://schemas.openxmlformats.org/officeDocument/2006/math">
                                    <m:r>
                                      <a:rPr kumimoji="1" lang="en-US" altLang="ko-KR" sz="16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kumimoji="1" lang="en-US" altLang="ko-KR" sz="160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ko-KR" sz="1600" b="0" i="1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kumimoji="1" lang="en-US" altLang="ko-KR" sz="1600" b="0" i="1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kumimoji="1" lang="en-US" altLang="ko-KR" sz="1600" b="0" i="1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kumimoji="1" lang="en-US" altLang="ko-KR" sz="1600" b="0" i="1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oMath>
                                </a14:m>
                                <a:r>
                                  <a:rPr kumimoji="1" lang="en-US" altLang="ko-KR" sz="1600" dirty="0">
                                    <a:solidFill>
                                      <a:schemeClr val="tx1"/>
                                    </a:solidFill>
                                  </a:rPr>
                                  <a:t> | </a:t>
                                </a:r>
                                <a14:m>
                                  <m:oMath xmlns:m="http://schemas.openxmlformats.org/officeDocument/2006/math">
                                    <m:r>
                                      <a:rPr kumimoji="1" lang="en-US" altLang="ko-KR" sz="1600" b="0" i="1" dirty="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oMath>
                                </a14:m>
                                <a:r>
                                  <a:rPr kumimoji="1" lang="en-US" altLang="ko-KR" sz="1600" dirty="0">
                                    <a:solidFill>
                                      <a:schemeClr val="tx1"/>
                                    </a:solidFill>
                                  </a:rPr>
                                  <a:t> ]</a:t>
                                </a:r>
                                <a:endParaRPr kumimoji="1" lang="ko-KR" altLang="en-US" sz="1600" dirty="0">
                                  <a:solidFill>
                                    <a:schemeClr val="tx1"/>
                                  </a:solidFill>
                                </a:endParaRP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61" name="TextBox 60">
                                <a:extLst>
                                  <a:ext uri="{FF2B5EF4-FFF2-40B4-BE49-F238E27FC236}">
                                    <a16:creationId xmlns:a16="http://schemas.microsoft.com/office/drawing/2014/main" id="{FEBF2C59-B16C-14D5-CFE9-CCD4F6EC096B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160194" y="4322889"/>
                                <a:ext cx="1536467" cy="338554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14"/>
                                <a:stretch>
                                  <a:fillRect t="-7407" b="-25926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ko-KR" alt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57" name="모서리가 둥근 직사각형 56">
                                <a:extLst>
                                  <a:ext uri="{FF2B5EF4-FFF2-40B4-BE49-F238E27FC236}">
                                    <a16:creationId xmlns:a16="http://schemas.microsoft.com/office/drawing/2014/main" id="{D2D12407-CAC8-A640-F029-1BBA5BAC220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2185783" y="3075081"/>
                                <a:ext cx="1372301" cy="1144988"/>
                              </a:xfrm>
                              <a:prstGeom prst="roundRect">
                                <a:avLst>
                                  <a:gd name="adj" fmla="val 4363"/>
                                </a:avLst>
                              </a:prstGeom>
                              <a:solidFill>
                                <a:schemeClr val="accent6">
                                  <a:lumMod val="20000"/>
                                  <a:lumOff val="80000"/>
                                  <a:alpha val="50196"/>
                                </a:schemeClr>
                              </a:solidFill>
                              <a:ln w="1905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/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57" name="모서리가 둥근 직사각형 56">
                                <a:extLst>
                                  <a:ext uri="{FF2B5EF4-FFF2-40B4-BE49-F238E27FC236}">
                                    <a16:creationId xmlns:a16="http://schemas.microsoft.com/office/drawing/2014/main" id="{D2D12407-CAC8-A640-F029-1BBA5BAC2207}"/>
                                  </a:ext>
                                </a:extLst>
                              </p:cNvPr>
                              <p:cNvSpPr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185783" y="3075081"/>
                                <a:ext cx="1372301" cy="1144988"/>
                              </a:xfrm>
                              <a:prstGeom prst="roundRect">
                                <a:avLst>
                                  <a:gd name="adj" fmla="val 4363"/>
                                </a:avLst>
                              </a:prstGeom>
                              <a:blipFill>
                                <a:blip r:embed="rId15"/>
                                <a:stretch>
                                  <a:fillRect/>
                                </a:stretch>
                              </a:blipFill>
                              <a:ln w="1905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</a:ln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ko-KR" alt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67" name="모서리가 둥근 직사각형 66">
                              <a:extLst>
                                <a:ext uri="{FF2B5EF4-FFF2-40B4-BE49-F238E27FC236}">
                                  <a16:creationId xmlns:a16="http://schemas.microsoft.com/office/drawing/2014/main" id="{2AE23DCB-9C70-892A-E097-666CF1FBB45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070928" y="4824188"/>
                              <a:ext cx="343321" cy="1144988"/>
                            </a:xfrm>
                            <a:prstGeom prst="roundRect">
                              <a:avLst>
                                <a:gd name="adj" fmla="val 14796"/>
                              </a:avLst>
                            </a:prstGeom>
                            <a:solidFill>
                              <a:schemeClr val="accent1">
                                <a:lumMod val="20000"/>
                                <a:lumOff val="80000"/>
                                <a:alpha val="50196"/>
                              </a:schemeClr>
                            </a:solidFill>
                            <a:ln w="19050">
                              <a:solidFill>
                                <a:srgbClr val="0070C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14:m>
                                <m:oMathPara xmlns:m="http://schemas.openxmlformats.org/officeDocument/2006/math">
                                  <m:oMathParaPr>
                                    <m:jc m:val="centerGroup"/>
                                  </m:oMathParaPr>
                                  <m:oMath xmlns:m="http://schemas.openxmlformats.org/officeDocument/2006/math">
                                    <m:r>
                                      <a:rPr kumimoji="1" lang="en-US" altLang="ko-KR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kumimoji="1" lang="en-US" altLang="ko-KR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oMath>
                                </m:oMathPara>
                              </a14:m>
                              <a:endParaRPr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67" name="모서리가 둥근 직사각형 66">
                              <a:extLst>
                                <a:ext uri="{FF2B5EF4-FFF2-40B4-BE49-F238E27FC236}">
                                  <a16:creationId xmlns:a16="http://schemas.microsoft.com/office/drawing/2014/main" id="{2AE23DCB-9C70-892A-E097-666CF1FBB459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7070928" y="4824188"/>
                              <a:ext cx="343321" cy="1144988"/>
                            </a:xfrm>
                            <a:prstGeom prst="roundRect">
                              <a:avLst>
                                <a:gd name="adj" fmla="val 14796"/>
                              </a:avLst>
                            </a:prstGeom>
                            <a:blipFill>
                              <a:blip r:embed="rId16"/>
                              <a:stretch>
                                <a:fillRect l="-13793" r="-17241"/>
                              </a:stretch>
                            </a:blipFill>
                            <a:ln w="19050">
                              <a:solidFill>
                                <a:srgbClr val="0070C0"/>
                              </a:solidFill>
                            </a:ln>
                          </p:spPr>
                          <p:txBody>
                            <a:bodyPr/>
                            <a:lstStyle/>
                            <a:p>
                              <a:r>
                                <a:rPr lang="ko-KR" alt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70" name="TextBox 69">
                            <a:extLst>
                              <a:ext uri="{FF2B5EF4-FFF2-40B4-BE49-F238E27FC236}">
                                <a16:creationId xmlns:a16="http://schemas.microsoft.com/office/drawing/2014/main" id="{40B16A01-F1D2-EF76-2E11-D39B905E234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5913867" y="5198553"/>
                            <a:ext cx="878761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kumimoji="1" lang="en-US" altLang="ko-KR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kumimoji="1" lang="en-US" altLang="ko-KR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ko-KR" altLang="en-US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70" name="TextBox 69">
                            <a:extLst>
                              <a:ext uri="{FF2B5EF4-FFF2-40B4-BE49-F238E27FC236}">
                                <a16:creationId xmlns:a16="http://schemas.microsoft.com/office/drawing/2014/main" id="{40B16A01-F1D2-EF76-2E11-D39B905E2343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5913867" y="5198553"/>
                            <a:ext cx="878761" cy="369332"/>
                          </a:xfrm>
                          <a:prstGeom prst="rect">
                            <a:avLst/>
                          </a:prstGeom>
                          <a:blipFill>
                            <a:blip r:embed="rId17"/>
                            <a:stretch>
                              <a:fillRect b="-3448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ko-KR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sp>
                  <p:nvSpPr>
                    <p:cNvPr id="86" name="직사각형 85">
                      <a:extLst>
                        <a:ext uri="{FF2B5EF4-FFF2-40B4-BE49-F238E27FC236}">
                          <a16:creationId xmlns:a16="http://schemas.microsoft.com/office/drawing/2014/main" id="{DAE1FEA8-A95E-7055-1039-4DDF694F69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5853" y="6100654"/>
                      <a:ext cx="481949" cy="3596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</p:grpSp>
              <p:sp>
                <p:nvSpPr>
                  <p:cNvPr id="91" name="직사각형 90">
                    <a:extLst>
                      <a:ext uri="{FF2B5EF4-FFF2-40B4-BE49-F238E27FC236}">
                        <a16:creationId xmlns:a16="http://schemas.microsoft.com/office/drawing/2014/main" id="{5EA559FB-1725-A0D9-957A-A4D099C9B073}"/>
                      </a:ext>
                    </a:extLst>
                  </p:cNvPr>
                  <p:cNvSpPr/>
                  <p:nvPr/>
                </p:nvSpPr>
                <p:spPr>
                  <a:xfrm>
                    <a:off x="1963021" y="6174440"/>
                    <a:ext cx="193390" cy="1940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</p:grpSp>
            <p:sp>
              <p:nvSpPr>
                <p:cNvPr id="106" name="직사각형 105">
                  <a:extLst>
                    <a:ext uri="{FF2B5EF4-FFF2-40B4-BE49-F238E27FC236}">
                      <a16:creationId xmlns:a16="http://schemas.microsoft.com/office/drawing/2014/main" id="{46D3E95C-F321-38EF-B9B2-85677B565768}"/>
                    </a:ext>
                  </a:extLst>
                </p:cNvPr>
                <p:cNvSpPr/>
                <p:nvPr/>
              </p:nvSpPr>
              <p:spPr>
                <a:xfrm>
                  <a:off x="3322914" y="6139001"/>
                  <a:ext cx="193390" cy="30746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</p:grpSp>
          <p:grpSp>
            <p:nvGrpSpPr>
              <p:cNvPr id="118" name="그룹 117">
                <a:extLst>
                  <a:ext uri="{FF2B5EF4-FFF2-40B4-BE49-F238E27FC236}">
                    <a16:creationId xmlns:a16="http://schemas.microsoft.com/office/drawing/2014/main" id="{A186907B-71D7-2F2E-CBD9-31020C559105}"/>
                  </a:ext>
                </a:extLst>
              </p:cNvPr>
              <p:cNvGrpSpPr/>
              <p:nvPr/>
            </p:nvGrpSpPr>
            <p:grpSpPr>
              <a:xfrm>
                <a:off x="8377222" y="4724082"/>
                <a:ext cx="2843849" cy="1746811"/>
                <a:chOff x="8377222" y="4724082"/>
                <a:chExt cx="2843849" cy="1746811"/>
              </a:xfrm>
            </p:grpSpPr>
            <p:grpSp>
              <p:nvGrpSpPr>
                <p:cNvPr id="98" name="그룹 97">
                  <a:extLst>
                    <a:ext uri="{FF2B5EF4-FFF2-40B4-BE49-F238E27FC236}">
                      <a16:creationId xmlns:a16="http://schemas.microsoft.com/office/drawing/2014/main" id="{2407AA2E-A514-A3B6-C5A9-8F7A1FF3D2B1}"/>
                    </a:ext>
                  </a:extLst>
                </p:cNvPr>
                <p:cNvGrpSpPr/>
                <p:nvPr/>
              </p:nvGrpSpPr>
              <p:grpSpPr>
                <a:xfrm>
                  <a:off x="8377222" y="4724082"/>
                  <a:ext cx="2843849" cy="1746811"/>
                  <a:chOff x="8377222" y="4724082"/>
                  <a:chExt cx="2843849" cy="1746811"/>
                </a:xfrm>
              </p:grpSpPr>
              <p:grpSp>
                <p:nvGrpSpPr>
                  <p:cNvPr id="90" name="그룹 89">
                    <a:extLst>
                      <a:ext uri="{FF2B5EF4-FFF2-40B4-BE49-F238E27FC236}">
                        <a16:creationId xmlns:a16="http://schemas.microsoft.com/office/drawing/2014/main" id="{0C514611-A13B-9707-D163-4E6042F87A4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222" y="4724082"/>
                    <a:ext cx="2843849" cy="1746811"/>
                    <a:chOff x="8377222" y="4724082"/>
                    <a:chExt cx="2843849" cy="1746811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2" name="TextBox 81">
                          <a:extLst>
                            <a:ext uri="{FF2B5EF4-FFF2-40B4-BE49-F238E27FC236}">
                              <a16:creationId xmlns:a16="http://schemas.microsoft.com/office/drawing/2014/main" id="{46C73C51-7261-22F4-F5CF-342C2CC9F06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166332" y="6091263"/>
                          <a:ext cx="1714452" cy="35965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 algn="ctr"/>
                          <a:r>
                            <a:rPr kumimoji="1" lang="en-US" altLang="ko-KR" sz="1600" dirty="0">
                              <a:solidFill>
                                <a:schemeClr val="tx1"/>
                              </a:solidFill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ko-KR" sz="16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sz="1600" b="0" i="0" dirty="0" smtClean="0">
                                  <a:solidFill>
                                    <a:srgbClr val="712B12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kumimoji="1" lang="en-US" altLang="ko-KR" sz="16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ko-KR" sz="1600" dirty="0">
                                  <a:solidFill>
                                    <a:schemeClr val="tx1"/>
                                  </a:solidFill>
                                </a:rPr>
                                <m:t>|</m:t>
                              </m:r>
                              <m:r>
                                <m:rPr>
                                  <m:nor/>
                                </m:rPr>
                                <a:rPr kumimoji="1" lang="en-US" altLang="ko-KR" sz="1600" b="0" i="0" dirty="0" smtClean="0">
                                  <a:solidFill>
                                    <a:schemeClr val="tx1"/>
                                  </a:solidFill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kumimoji="1" lang="en-US" altLang="ko-KR" sz="160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kumimoji="1" lang="en-US" altLang="ko-KR" sz="16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1600" b="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kumimoji="1" lang="en-US" altLang="ko-KR" sz="1600" b="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kumimoji="1" lang="en-US" altLang="ko-KR" sz="1600" b="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kumimoji="1" lang="en-US" altLang="ko-KR" sz="1600" b="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kumimoji="1" lang="en-US" altLang="ko-KR" sz="16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kumimoji="1" lang="en-US" altLang="ko-KR" sz="1600" b="0" i="1" dirty="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kumimoji="1" lang="en-US" altLang="ko-KR" sz="1600" dirty="0">
                              <a:solidFill>
                                <a:schemeClr val="tx1"/>
                              </a:solidFill>
                            </a:rPr>
                            <a:t> ]</a:t>
                          </a:r>
                          <a:endParaRPr kumimoji="1" lang="ko-KR" altLang="en-US" sz="1600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82" name="TextBox 81">
                          <a:extLst>
                            <a:ext uri="{FF2B5EF4-FFF2-40B4-BE49-F238E27FC236}">
                              <a16:creationId xmlns:a16="http://schemas.microsoft.com/office/drawing/2014/main" id="{46C73C51-7261-22F4-F5CF-342C2CC9F06A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166332" y="6091263"/>
                          <a:ext cx="1714452" cy="359650"/>
                        </a:xfrm>
                        <a:prstGeom prst="rect">
                          <a:avLst/>
                        </a:prstGeom>
                        <a:blipFill>
                          <a:blip r:embed="rId18"/>
                          <a:stretch>
                            <a:fillRect t="-3448" b="-2069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ko-KR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grpSp>
                  <p:nvGrpSpPr>
                    <p:cNvPr id="84" name="그룹 83">
                      <a:extLst>
                        <a:ext uri="{FF2B5EF4-FFF2-40B4-BE49-F238E27FC236}">
                          <a16:creationId xmlns:a16="http://schemas.microsoft.com/office/drawing/2014/main" id="{E4D649EA-BA3E-4F9B-769B-95279AE061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222" y="4724082"/>
                      <a:ext cx="2843849" cy="1324682"/>
                      <a:chOff x="8377222" y="4724082"/>
                      <a:chExt cx="2843849" cy="1324682"/>
                    </a:xfrm>
                  </p:grpSpPr>
                  <p:grpSp>
                    <p:nvGrpSpPr>
                      <p:cNvPr id="80" name="그룹 79">
                        <a:extLst>
                          <a:ext uri="{FF2B5EF4-FFF2-40B4-BE49-F238E27FC236}">
                            <a16:creationId xmlns:a16="http://schemas.microsoft.com/office/drawing/2014/main" id="{DAEF9E3E-2920-0463-9A37-9BB0FDA3893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805575" y="4724082"/>
                        <a:ext cx="2415496" cy="1324682"/>
                        <a:chOff x="8805575" y="4724082"/>
                        <a:chExt cx="2415496" cy="1324682"/>
                      </a:xfrm>
                    </p:grpSpPr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71" name="모서리가 둥근 직사각형 70">
                              <a:extLst>
                                <a:ext uri="{FF2B5EF4-FFF2-40B4-BE49-F238E27FC236}">
                                  <a16:creationId xmlns:a16="http://schemas.microsoft.com/office/drawing/2014/main" id="{E7B5802A-443A-C784-4FBC-145FAC5EEB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805575" y="4724082"/>
                              <a:ext cx="2415496" cy="1324682"/>
                            </a:xfrm>
                            <a:prstGeom prst="roundRect">
                              <a:avLst>
                                <a:gd name="adj" fmla="val 4363"/>
                              </a:avLst>
                            </a:prstGeom>
                            <a:solidFill>
                              <a:schemeClr val="accent4">
                                <a:lumMod val="20000"/>
                                <a:lumOff val="80000"/>
                                <a:alpha val="50196"/>
                              </a:schemeClr>
                            </a:solidFill>
                            <a:ln w="1905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71" name="모서리가 둥근 직사각형 70">
                              <a:extLst>
                                <a:ext uri="{FF2B5EF4-FFF2-40B4-BE49-F238E27FC236}">
                                  <a16:creationId xmlns:a16="http://schemas.microsoft.com/office/drawing/2014/main" id="{E7B5802A-443A-C784-4FBC-145FAC5EEB0B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8805575" y="4724082"/>
                              <a:ext cx="2415496" cy="1324682"/>
                            </a:xfrm>
                            <a:prstGeom prst="roundRect">
                              <a:avLst>
                                <a:gd name="adj" fmla="val 4363"/>
                              </a:avLst>
                            </a:prstGeom>
                            <a:blipFill>
                              <a:blip r:embed="rId19"/>
                              <a:stretch>
                                <a:fillRect/>
                              </a:stretch>
                            </a:blipFill>
                            <a:ln w="1905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</a:ln>
                          </p:spPr>
                          <p:txBody>
                            <a:bodyPr/>
                            <a:lstStyle/>
                            <a:p>
                              <a:r>
                                <a:rPr lang="ko-KR" alt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sp>
                      <p:nvSpPr>
                        <p:cNvPr id="74" name="모서리가 둥근 직사각형 73">
                          <a:extLst>
                            <a:ext uri="{FF2B5EF4-FFF2-40B4-BE49-F238E27FC236}">
                              <a16:creationId xmlns:a16="http://schemas.microsoft.com/office/drawing/2014/main" id="{9057D8B8-A28A-7808-A91A-51B9892A4F7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5626" y="4832556"/>
                          <a:ext cx="343321" cy="1144988"/>
                        </a:xfrm>
                        <a:prstGeom prst="roundRect">
                          <a:avLst>
                            <a:gd name="adj" fmla="val 14796"/>
                          </a:avLst>
                        </a:prstGeom>
                        <a:solidFill>
                          <a:schemeClr val="accent1">
                            <a:lumMod val="20000"/>
                            <a:lumOff val="80000"/>
                            <a:alpha val="50196"/>
                          </a:schemeClr>
                        </a:solidFill>
                        <a:ln w="19050">
                          <a:solidFill>
                            <a:srgbClr val="0070C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en-US" altLang="ko-KR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79" name="모서리가 둥근 직사각형 78">
                              <a:extLst>
                                <a:ext uri="{FF2B5EF4-FFF2-40B4-BE49-F238E27FC236}">
                                  <a16:creationId xmlns:a16="http://schemas.microsoft.com/office/drawing/2014/main" id="{8782CFAE-B897-D41F-5567-2643CAE80D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886214" y="4832556"/>
                              <a:ext cx="1397512" cy="1144988"/>
                            </a:xfrm>
                            <a:prstGeom prst="roundRect">
                              <a:avLst>
                                <a:gd name="adj" fmla="val 4363"/>
                              </a:avLst>
                            </a:prstGeom>
                            <a:solidFill>
                              <a:schemeClr val="bg1">
                                <a:alpha val="50196"/>
                              </a:schemeClr>
                            </a:solidFill>
                            <a:ln w="1905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79" name="모서리가 둥근 직사각형 78">
                              <a:extLst>
                                <a:ext uri="{FF2B5EF4-FFF2-40B4-BE49-F238E27FC236}">
                                  <a16:creationId xmlns:a16="http://schemas.microsoft.com/office/drawing/2014/main" id="{8782CFAE-B897-D41F-5567-2643CAE80D82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8886214" y="4832556"/>
                              <a:ext cx="1397512" cy="1144988"/>
                            </a:xfrm>
                            <a:prstGeom prst="roundRect">
                              <a:avLst>
                                <a:gd name="adj" fmla="val 4363"/>
                              </a:avLst>
                            </a:prstGeom>
                            <a:blipFill>
                              <a:blip r:embed="rId20"/>
                              <a:stretch>
                                <a:fillRect/>
                              </a:stretch>
                            </a:blipFill>
                            <a:ln w="1905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</a:ln>
                          </p:spPr>
                          <p:txBody>
                            <a:bodyPr/>
                            <a:lstStyle/>
                            <a:p>
                              <a:r>
                                <a:rPr lang="ko-KR" alt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81" name="TextBox 80">
                            <a:extLst>
                              <a:ext uri="{FF2B5EF4-FFF2-40B4-BE49-F238E27FC236}">
                                <a16:creationId xmlns:a16="http://schemas.microsoft.com/office/drawing/2014/main" id="{0E939193-1F8F-4978-3F00-FF0F2A9CD12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8377222" y="5193847"/>
                            <a:ext cx="2415496" cy="71115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oMath>
                              </m:oMathPara>
                            </a14:m>
                            <a:endParaRPr kumimoji="1" lang="en-US" altLang="ko-KR" sz="1800" b="0" dirty="0"/>
                          </a:p>
                          <a:p>
                            <a:pPr>
                              <a:lnSpc>
                                <a:spcPct val="150000"/>
                              </a:lnSpc>
                            </a:pPr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US" altLang="ko-KR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ko-KR" sz="1400" i="1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ko-KR" sz="14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kumimoji="1" lang="en-US" altLang="ko-KR" sz="14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kumimoji="1" lang="en-US" altLang="ko-KR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ko-KR" altLang="en-US" sz="1400" i="1" dirty="0" smtClean="0">
                                              <a:latin typeface="Cambria Math" panose="02040503050406030204" pitchFamily="18" charset="0"/>
                                            </a:rPr>
                                            <m:t>∙</m:t>
                                          </m:r>
                                          <m:r>
                                            <a:rPr kumimoji="1"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kumimoji="1"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kumimoji="1" lang="en-US" altLang="ko-KR" sz="1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oMath>
                              </m:oMathPara>
                            </a14:m>
                            <a:endParaRPr lang="ko-KR" altLang="en-US" sz="1400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81" name="TextBox 80">
                            <a:extLst>
                              <a:ext uri="{FF2B5EF4-FFF2-40B4-BE49-F238E27FC236}">
                                <a16:creationId xmlns:a16="http://schemas.microsoft.com/office/drawing/2014/main" id="{0E939193-1F8F-4978-3F00-FF0F2A9CD129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8377222" y="5193847"/>
                            <a:ext cx="2415496" cy="711157"/>
                          </a:xfrm>
                          <a:prstGeom prst="rect">
                            <a:avLst/>
                          </a:prstGeom>
                          <a:blipFill>
                            <a:blip r:embed="rId21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ko-KR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sp>
                  <p:nvSpPr>
                    <p:cNvPr id="85" name="직사각형 84">
                      <a:extLst>
                        <a:ext uri="{FF2B5EF4-FFF2-40B4-BE49-F238E27FC236}">
                          <a16:creationId xmlns:a16="http://schemas.microsoft.com/office/drawing/2014/main" id="{0927AA42-BB92-A7A3-ED11-435CE4FEB6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47025" y="6111243"/>
                      <a:ext cx="266913" cy="3596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</p:grpSp>
              <p:sp>
                <p:nvSpPr>
                  <p:cNvPr id="92" name="직사각형 91">
                    <a:extLst>
                      <a:ext uri="{FF2B5EF4-FFF2-40B4-BE49-F238E27FC236}">
                        <a16:creationId xmlns:a16="http://schemas.microsoft.com/office/drawing/2014/main" id="{A2DA87AB-EB9C-3F50-8546-FBD4308C9CAF}"/>
                      </a:ext>
                    </a:extLst>
                  </p:cNvPr>
                  <p:cNvSpPr/>
                  <p:nvPr/>
                </p:nvSpPr>
                <p:spPr>
                  <a:xfrm>
                    <a:off x="9716956" y="6174440"/>
                    <a:ext cx="817490" cy="2184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</p:grpSp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3FE554B1-EB3C-E529-A8D8-03E292527BD9}"/>
                    </a:ext>
                  </a:extLst>
                </p:cNvPr>
                <p:cNvSpPr/>
                <p:nvPr/>
              </p:nvSpPr>
              <p:spPr>
                <a:xfrm>
                  <a:off x="10051610" y="6135680"/>
                  <a:ext cx="193390" cy="30746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</p:grpSp>
          <p:sp>
            <p:nvSpPr>
              <p:cNvPr id="119" name="오른쪽 화살표[R] 118">
                <a:extLst>
                  <a:ext uri="{FF2B5EF4-FFF2-40B4-BE49-F238E27FC236}">
                    <a16:creationId xmlns:a16="http://schemas.microsoft.com/office/drawing/2014/main" id="{DA0A00C8-BA8F-6C90-8678-C305126D4BFE}"/>
                  </a:ext>
                </a:extLst>
              </p:cNvPr>
              <p:cNvSpPr/>
              <p:nvPr/>
            </p:nvSpPr>
            <p:spPr>
              <a:xfrm>
                <a:off x="6130400" y="5311860"/>
                <a:ext cx="2415496" cy="172365"/>
              </a:xfrm>
              <a:prstGeom prst="rightArrow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E7E201F7-AC4D-6EE9-1B3C-C006DC5E24FF}"/>
                    </a:ext>
                  </a:extLst>
                </p:cNvPr>
                <p:cNvSpPr txBox="1"/>
                <p:nvPr/>
              </p:nvSpPr>
              <p:spPr>
                <a:xfrm>
                  <a:off x="10620098" y="5182523"/>
                  <a:ext cx="1187617" cy="3853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sup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kumimoji="1"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kumimoji="1" lang="en-US" altLang="ko-K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E7E201F7-AC4D-6EE9-1B3C-C006DC5E24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0098" y="5182523"/>
                  <a:ext cx="1187617" cy="38536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21B8C8E9-6738-59A2-5D77-7352A4ED0752}"/>
                    </a:ext>
                  </a:extLst>
                </p:cNvPr>
                <p:cNvSpPr txBox="1"/>
                <p:nvPr/>
              </p:nvSpPr>
              <p:spPr>
                <a:xfrm>
                  <a:off x="6539658" y="5499510"/>
                  <a:ext cx="2552223" cy="5990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ko-KR" sz="1600" dirty="0">
                      <a:solidFill>
                        <a:schemeClr val="tx1"/>
                      </a:solidFill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inverse</a:t>
                  </a:r>
                  <a:r>
                    <a:rPr kumimoji="1" lang="ko-KR" altLang="en-US" sz="1600" dirty="0">
                      <a:solidFill>
                        <a:schemeClr val="tx1"/>
                      </a:solidFill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 구하면</a:t>
                  </a:r>
                  <a:endParaRPr kumimoji="1" lang="en-US" altLang="ko-KR" sz="16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endParaRPr>
                </a:p>
                <a:p>
                  <a:pPr algn="ctr"/>
                  <a14:m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kumimoji="1" lang="ko-KR" altLang="en-US" sz="1600" dirty="0">
                      <a:solidFill>
                        <a:schemeClr val="tx1"/>
                      </a:solidFill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 구해짐</a:t>
                  </a:r>
                  <a:endParaRPr kumimoji="1" lang="en-US" altLang="ko-KR" sz="16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endParaRPr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21B8C8E9-6738-59A2-5D77-7352A4ED0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9658" y="5499510"/>
                  <a:ext cx="2552223" cy="599075"/>
                </a:xfrm>
                <a:prstGeom prst="rect">
                  <a:avLst/>
                </a:prstGeom>
                <a:blipFill>
                  <a:blip r:embed="rId23"/>
                  <a:stretch>
                    <a:fillRect t="-2083" b="-1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9FA3EF15-2EC1-1BFD-F904-41C925C5AC80}"/>
                </a:ext>
              </a:extLst>
            </p:cNvPr>
            <p:cNvSpPr/>
            <p:nvPr/>
          </p:nvSpPr>
          <p:spPr>
            <a:xfrm>
              <a:off x="5396916" y="6109587"/>
              <a:ext cx="244105" cy="3596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2418DC57-AED1-74E5-737D-5BB49E74A0D1}"/>
              </a:ext>
            </a:extLst>
          </p:cNvPr>
          <p:cNvSpPr txBox="1"/>
          <p:nvPr/>
        </p:nvSpPr>
        <p:spPr>
          <a:xfrm>
            <a:off x="4121864" y="3747213"/>
            <a:ext cx="2500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  <a:cs typeface="Calibri" pitchFamily="34" charset="-120"/>
              </a:rPr>
              <a:t>[Information set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  <a:cs typeface="Calibri" pitchFamily="34" charset="-120"/>
              </a:rPr>
              <a:t>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  <a:cs typeface="Calibri" pitchFamily="34" charset="-120"/>
              </a:rPr>
              <a:t>|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  <a:cs typeface="Calibri" pitchFamily="34" charset="-120"/>
              </a:rPr>
              <a:t>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  <a:cs typeface="Calibri" pitchFamily="34" charset="-120"/>
              </a:rPr>
              <a:t>syndrome]</a:t>
            </a:r>
            <a:endParaRPr kumimoji="1"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A013939-D964-0657-CA3C-8692B6A0EDFF}"/>
              </a:ext>
            </a:extLst>
          </p:cNvPr>
          <p:cNvSpPr txBox="1"/>
          <p:nvPr/>
        </p:nvSpPr>
        <p:spPr>
          <a:xfrm>
            <a:off x="10234622" y="3177218"/>
            <a:ext cx="183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400" dirty="0">
                <a:solidFill>
                  <a:schemeClr val="accent5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  <a:cs typeface="Calibri" pitchFamily="34" charset="-120"/>
              </a:rPr>
              <a:t>QISD</a:t>
            </a:r>
            <a:r>
              <a:rPr kumimoji="1" lang="ko-KR" altLang="en-US" sz="1400" dirty="0">
                <a:solidFill>
                  <a:schemeClr val="accent5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  <a:cs typeface="Calibri" pitchFamily="34" charset="-120"/>
              </a:rPr>
              <a:t>에서 관심있는</a:t>
            </a:r>
            <a:endParaRPr kumimoji="1" lang="en-US" altLang="ko-KR" sz="1400" dirty="0">
              <a:solidFill>
                <a:schemeClr val="accent5">
                  <a:lumMod val="75000"/>
                </a:schemeClr>
              </a:solidFill>
              <a:latin typeface="Gmarket Sans Medium" panose="02000000000000000000" pitchFamily="2" charset="-128"/>
              <a:ea typeface="Gmarket Sans Medium" panose="02000000000000000000" pitchFamily="2" charset="-128"/>
              <a:cs typeface="Calibri" pitchFamily="34" charset="-120"/>
            </a:endParaRPr>
          </a:p>
          <a:p>
            <a:pPr algn="ctr"/>
            <a:r>
              <a:rPr kumimoji="1" lang="ko-KR" altLang="en-US" sz="1400" dirty="0">
                <a:solidFill>
                  <a:schemeClr val="accent5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  <a:cs typeface="Calibri" pitchFamily="34" charset="-120"/>
              </a:rPr>
              <a:t>결과 벡터</a:t>
            </a:r>
            <a:endParaRPr kumimoji="1" lang="en-US" altLang="ko-KR" sz="1400" dirty="0">
              <a:solidFill>
                <a:schemeClr val="accent5">
                  <a:lumMod val="75000"/>
                </a:schemeClr>
              </a:solidFill>
              <a:latin typeface="Gmarket Sans Medium" panose="02000000000000000000" pitchFamily="2" charset="-128"/>
              <a:ea typeface="Gmarket Sans Medium" panose="02000000000000000000" pitchFamily="2" charset="-128"/>
              <a:cs typeface="Calibri" pitchFamily="34" charset="-120"/>
            </a:endParaRPr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F1FCAD26-4500-4705-62FB-AAF6968B207E}"/>
              </a:ext>
            </a:extLst>
          </p:cNvPr>
          <p:cNvCxnSpPr>
            <a:stCxn id="146" idx="2"/>
            <a:endCxn id="74" idx="0"/>
          </p:cNvCxnSpPr>
          <p:nvPr/>
        </p:nvCxnSpPr>
        <p:spPr>
          <a:xfrm>
            <a:off x="11152622" y="3700438"/>
            <a:ext cx="1" cy="478357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64C23CB2-3015-C05B-3030-4ECA9A139E50}"/>
              </a:ext>
            </a:extLst>
          </p:cNvPr>
          <p:cNvSpPr txBox="1"/>
          <p:nvPr/>
        </p:nvSpPr>
        <p:spPr>
          <a:xfrm>
            <a:off x="9087819" y="3657173"/>
            <a:ext cx="183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400" dirty="0">
                <a:solidFill>
                  <a:schemeClr val="bg1">
                    <a:lumMod val="6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  <a:cs typeface="Calibri" pitchFamily="34" charset="-120"/>
              </a:rPr>
              <a:t>결과 벡터 아님</a:t>
            </a:r>
            <a:endParaRPr kumimoji="1" lang="ko-KR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D9652F04-A717-F4BB-150A-28FF3F4C413C}"/>
              </a:ext>
            </a:extLst>
          </p:cNvPr>
          <p:cNvCxnSpPr>
            <a:cxnSpLocks/>
            <a:stCxn id="162" idx="2"/>
            <a:endCxn id="79" idx="0"/>
          </p:cNvCxnSpPr>
          <p:nvPr/>
        </p:nvCxnSpPr>
        <p:spPr>
          <a:xfrm>
            <a:off x="10005819" y="3964950"/>
            <a:ext cx="4487" cy="21384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912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9B7B8-7747-DF85-7C35-AB787441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5A871-5888-DE74-486E-3ABE0B76F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Gauss-Jordan Elimination</a:t>
            </a:r>
            <a:endParaRPr kumimoji="1" lang="ko-KR" altLang="en-US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756C0666-7C25-1E27-D877-07B1B469DD54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678168" cy="5057775"/>
              </a:xfrm>
            </p:spPr>
            <p:txBody>
              <a:bodyPr>
                <a:noAutofit/>
              </a:bodyPr>
              <a:lstStyle/>
              <a:p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하지만</a:t>
                </a:r>
                <a:r>
                  <a:rPr kumimoji="1" lang="ko-KR" altLang="en-US" sz="2400" b="1" dirty="0">
                    <a:solidFill>
                      <a:schemeClr val="tx1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kumimoji="1"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kumimoji="1"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kumimoji="1" lang="ko-KR" altLang="en-US" sz="2000" b="1" dirty="0">
                    <a:solidFill>
                      <a:schemeClr val="tx1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:r>
                  <a:rPr kumimoji="1" lang="ko-KR" altLang="en-US" sz="2400" b="1" dirty="0">
                    <a:solidFill>
                      <a:schemeClr val="tx1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전체를 </a:t>
                </a:r>
                <a:r>
                  <a:rPr kumimoji="1" lang="en-US" altLang="ko-KR" sz="2400" b="1" dirty="0">
                    <a:solidFill>
                      <a:schemeClr val="tx1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identity</a:t>
                </a:r>
                <a:r>
                  <a:rPr kumimoji="1" lang="ko-KR" altLang="en-US" sz="2400" b="1" dirty="0">
                    <a:solidFill>
                      <a:schemeClr val="tx1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행렬로 만들지 않아도 </a:t>
                </a:r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ISD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수행 </a:t>
                </a:r>
                <a:r>
                  <a:rPr kumimoji="1" lang="ko-KR" altLang="en-US" sz="2400" b="1" dirty="0">
                    <a:solidFill>
                      <a:schemeClr val="tx1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가능</a:t>
                </a:r>
                <a:endParaRPr kumimoji="1" lang="en-US" altLang="ko-KR" sz="2400" b="1" dirty="0">
                  <a:solidFill>
                    <a:schemeClr val="tx1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kumimoji="1" lang="ko-KR" altLang="en-US" sz="20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다만</a:t>
                </a:r>
                <a:r>
                  <a:rPr kumimoji="1" lang="en-US" altLang="ko-KR" sz="20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sz="20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ko-KR" altLang="en-US" sz="2000" b="1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소거의 일부만 수행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하므로 </a:t>
                </a:r>
                <a:r>
                  <a:rPr kumimoji="1" lang="en-US" altLang="ko-KR" sz="20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kumimoji="1" lang="en-US" altLang="ko-KR" sz="2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kumimoji="1" lang="en-US" altLang="ko-KR" sz="2000" dirty="0">
                        <a:solidFill>
                          <a:schemeClr val="tx1"/>
                        </a:solidFill>
                        <a:latin typeface="Gmarket Sans Medium" panose="02000000000000000000" pitchFamily="2" charset="-128"/>
                        <a:ea typeface="Gmarket Sans Medium" panose="02000000000000000000" pitchFamily="2" charset="-128"/>
                      </a:rPr>
                      <m:t>| </m:t>
                    </m:r>
                    <m:sSup>
                      <m:sSupPr>
                        <m:ctrlPr>
                          <a:rPr kumimoji="1"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ko-K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kumimoji="1"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kumimoji="1" lang="en-US" altLang="ko-KR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]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가 아니라 </a:t>
                </a:r>
                <a:r>
                  <a:rPr kumimoji="1" lang="en-US" altLang="ko-KR" sz="20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[</a:t>
                </a: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𝐸</m:t>
                    </m:r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ko-KR" altLang="en-US" sz="20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20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|</a:t>
                </a:r>
                <a:r>
                  <a:rPr kumimoji="1" lang="ko-KR" altLang="en-US" sz="20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𝐸</m:t>
                    </m:r>
                    <m:r>
                      <a:rPr kumimoji="1" lang="en-US" altLang="ko-KR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𝑠</m:t>
                    </m:r>
                  </m:oMath>
                </a14:m>
                <a:r>
                  <a:rPr kumimoji="1" lang="en-US" altLang="ko-KR" sz="20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]</a:t>
                </a:r>
                <a:r>
                  <a:rPr kumimoji="1" lang="ko-KR" altLang="en-US" sz="20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가 도출 </a:t>
                </a:r>
                <a:r>
                  <a:rPr kumimoji="1" lang="en-US" altLang="ko-KR" sz="16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𝐸</m:t>
                    </m:r>
                  </m:oMath>
                </a14:m>
                <a:r>
                  <a:rPr kumimoji="1" lang="en-US" altLang="ko-KR" sz="1600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=</a:t>
                </a:r>
                <a:r>
                  <a:rPr kumimoji="1" lang="ko-KR" altLang="en-US" sz="16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소거 연산 행렬</a:t>
                </a:r>
                <a:r>
                  <a:rPr kumimoji="1" lang="en-US" altLang="ko-KR" sz="16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)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따라서 </a:t>
                </a:r>
                <a:r>
                  <a:rPr kumimoji="1" lang="ko-KR" altLang="en-US" sz="2000" b="1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추가 연산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을 통해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𝐸</m:t>
                    </m:r>
                    <m:r>
                      <a:rPr kumimoji="1" lang="en-US" altLang="ko-KR" sz="2000" i="1" dirty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𝑠</m:t>
                    </m:r>
                  </m:oMath>
                </a14:m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kumimoji="1" lang="en-US" altLang="ko-KR" sz="20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1" lang="en-US" altLang="ko-KR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로 만들어야 함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𝐸</m:t>
                    </m:r>
                    <m:r>
                      <a:rPr kumimoji="1"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𝑠</m:t>
                    </m:r>
                  </m:oMath>
                </a14:m>
                <a:r>
                  <a:rPr kumimoji="1" lang="ko-KR" altLang="en-US" dirty="0" err="1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kumimoji="1" lang="ko-KR" altLang="en-US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대한 추가 연산을 통해 복원이 가능한 수준까지는 소거를 진행해야 함</a:t>
                </a:r>
                <a:endParaRPr kumimoji="1" lang="en-US" altLang="ko-KR" dirty="0">
                  <a:solidFill>
                    <a:schemeClr val="tx1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2"/>
                <a:r>
                  <a:rPr kumimoji="1" lang="ko-KR" altLang="en-US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주로 아래와 같은 삼각 </a:t>
                </a:r>
                <a:r>
                  <a:rPr kumimoji="1" lang="en-US" altLang="ko-KR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identity</a:t>
                </a:r>
                <a:r>
                  <a:rPr kumimoji="1" lang="ko-KR" altLang="en-US" dirty="0">
                    <a:solidFill>
                      <a:schemeClr val="tx1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행렬까지 연산</a:t>
                </a:r>
                <a:endParaRPr kumimoji="1" lang="en-US" altLang="ko-KR" dirty="0">
                  <a:solidFill>
                    <a:schemeClr val="tx1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kumimoji="1"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kumimoji="1"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kumimoji="1"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kumimoji="1"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endParaRPr kumimoji="1" lang="en-US" altLang="ko-KR" sz="2000" dirty="0">
                  <a:solidFill>
                    <a:schemeClr val="tx1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756C0666-7C25-1E27-D877-07B1B469DD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678168" cy="5057775"/>
              </a:xfrm>
              <a:blipFill>
                <a:blip r:embed="rId3"/>
                <a:stretch>
                  <a:fillRect l="-761" t="-1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그룹 57">
            <a:extLst>
              <a:ext uri="{FF2B5EF4-FFF2-40B4-BE49-F238E27FC236}">
                <a16:creationId xmlns:a16="http://schemas.microsoft.com/office/drawing/2014/main" id="{2CA34D82-051A-5561-E2DB-2A3DA2F60DFC}"/>
              </a:ext>
            </a:extLst>
          </p:cNvPr>
          <p:cNvGrpSpPr/>
          <p:nvPr/>
        </p:nvGrpSpPr>
        <p:grpSpPr>
          <a:xfrm>
            <a:off x="1676821" y="3944903"/>
            <a:ext cx="9157901" cy="1406831"/>
            <a:chOff x="1004468" y="2918113"/>
            <a:chExt cx="9157901" cy="1406831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CF17F8A9-1372-5613-C38A-9899A2217ACC}"/>
                </a:ext>
              </a:extLst>
            </p:cNvPr>
            <p:cNvGrpSpPr/>
            <p:nvPr/>
          </p:nvGrpSpPr>
          <p:grpSpPr>
            <a:xfrm>
              <a:off x="1004468" y="2918113"/>
              <a:ext cx="2552723" cy="1406831"/>
              <a:chOff x="8802558" y="4070321"/>
              <a:chExt cx="2552723" cy="17754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B6EAE2F1-6B14-7053-4C45-4869570144AF}"/>
                      </a:ext>
                    </a:extLst>
                  </p:cNvPr>
                  <p:cNvSpPr txBox="1"/>
                  <p:nvPr/>
                </p:nvSpPr>
                <p:spPr>
                  <a:xfrm>
                    <a:off x="9367256" y="5418472"/>
                    <a:ext cx="1714452" cy="42725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kumimoji="1" lang="en-US" altLang="ko-KR" sz="1600" dirty="0">
                        <a:solidFill>
                          <a:schemeClr val="tx1"/>
                        </a:solidFill>
                      </a:rPr>
                      <a:t>[</a:t>
                    </a:r>
                    <a14:m>
                      <m:oMath xmlns:m="http://schemas.openxmlformats.org/officeDocument/2006/math">
                        <m:r>
                          <a:rPr kumimoji="1" lang="en-US" altLang="ko-KR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sSub>
                          <m:sSubPr>
                            <m:ctrlPr>
                              <a:rPr kumimoji="1" lang="en-US" altLang="ko-KR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R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R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1" lang="en-US" altLang="ko-KR" sz="1600" dirty="0">
                            <a:solidFill>
                              <a:schemeClr val="tx1"/>
                            </a:solidFill>
                          </a:rPr>
                          <m:t>|</m:t>
                        </m:r>
                        <m:r>
                          <m:rPr>
                            <m:nor/>
                          </m:rPr>
                          <a:rPr kumimoji="1" lang="en-US" altLang="ko-KR" sz="1600" b="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a:rPr kumimoji="1" lang="en-US" altLang="ko-K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kumimoji="1" lang="en-US" altLang="ko-KR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a14:m>
                    <a:r>
                      <a:rPr kumimoji="1" lang="en-US" altLang="ko-KR" sz="1600" dirty="0">
                        <a:solidFill>
                          <a:schemeClr val="tx1"/>
                        </a:solidFill>
                      </a:rPr>
                      <a:t> ]</a:t>
                    </a:r>
                    <a:endParaRPr kumimoji="1" lang="ko-KR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B6EAE2F1-6B14-7053-4C45-4869570144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7256" y="5418472"/>
                    <a:ext cx="1714452" cy="42725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7143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모서리가 둥근 직사각형 15">
                    <a:extLst>
                      <a:ext uri="{FF2B5EF4-FFF2-40B4-BE49-F238E27FC236}">
                        <a16:creationId xmlns:a16="http://schemas.microsoft.com/office/drawing/2014/main" id="{CEA732E5-1C96-410A-F8A8-2D2727636E19}"/>
                      </a:ext>
                    </a:extLst>
                  </p:cNvPr>
                  <p:cNvSpPr/>
                  <p:nvPr/>
                </p:nvSpPr>
                <p:spPr>
                  <a:xfrm>
                    <a:off x="9230911" y="4070321"/>
                    <a:ext cx="1987143" cy="1324681"/>
                  </a:xfrm>
                  <a:prstGeom prst="roundRect">
                    <a:avLst>
                      <a:gd name="adj" fmla="val 4363"/>
                    </a:avLst>
                  </a:prstGeom>
                  <a:solidFill>
                    <a:schemeClr val="accent4">
                      <a:lumMod val="20000"/>
                      <a:lumOff val="80000"/>
                      <a:alpha val="50196"/>
                    </a:schemeClr>
                  </a:solidFill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</mc:Choice>
            <mc:Fallback xmlns="">
              <p:sp>
                <p:nvSpPr>
                  <p:cNvPr id="16" name="모서리가 둥근 직사각형 15">
                    <a:extLst>
                      <a:ext uri="{FF2B5EF4-FFF2-40B4-BE49-F238E27FC236}">
                        <a16:creationId xmlns:a16="http://schemas.microsoft.com/office/drawing/2014/main" id="{CEA732E5-1C96-410A-F8A8-2D2727636E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30911" y="4070321"/>
                    <a:ext cx="1987143" cy="1324681"/>
                  </a:xfrm>
                  <a:prstGeom prst="roundRect">
                    <a:avLst>
                      <a:gd name="adj" fmla="val 4363"/>
                    </a:avLst>
                  </a:prstGeom>
                  <a:blipFill>
                    <a:blip r:embed="rId5"/>
                    <a:stretch>
                      <a:fillRect/>
                    </a:stretch>
                  </a:blipFill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모서리가 둥근 직사각형 16">
                <a:extLst>
                  <a:ext uri="{FF2B5EF4-FFF2-40B4-BE49-F238E27FC236}">
                    <a16:creationId xmlns:a16="http://schemas.microsoft.com/office/drawing/2014/main" id="{7E6830B6-277F-685D-5D89-BCA1C06A11C5}"/>
                  </a:ext>
                </a:extLst>
              </p:cNvPr>
              <p:cNvSpPr/>
              <p:nvPr/>
            </p:nvSpPr>
            <p:spPr>
              <a:xfrm>
                <a:off x="10780693" y="4178795"/>
                <a:ext cx="343321" cy="1144989"/>
              </a:xfrm>
              <a:prstGeom prst="roundRect">
                <a:avLst>
                  <a:gd name="adj" fmla="val 14796"/>
                </a:avLst>
              </a:prstGeom>
              <a:solidFill>
                <a:schemeClr val="accent1">
                  <a:lumMod val="20000"/>
                  <a:lumOff val="80000"/>
                  <a:alpha val="50196"/>
                </a:schemeClr>
              </a:solidFill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ko-KR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모서리가 둥근 직사각형 17">
                    <a:extLst>
                      <a:ext uri="{FF2B5EF4-FFF2-40B4-BE49-F238E27FC236}">
                        <a16:creationId xmlns:a16="http://schemas.microsoft.com/office/drawing/2014/main" id="{7D192F78-648D-255F-C6B5-E02B1987592D}"/>
                      </a:ext>
                    </a:extLst>
                  </p:cNvPr>
                  <p:cNvSpPr/>
                  <p:nvPr/>
                </p:nvSpPr>
                <p:spPr>
                  <a:xfrm>
                    <a:off x="9311550" y="4178795"/>
                    <a:ext cx="1397512" cy="1144988"/>
                  </a:xfrm>
                  <a:prstGeom prst="roundRect">
                    <a:avLst>
                      <a:gd name="adj" fmla="val 4363"/>
                    </a:avLst>
                  </a:prstGeom>
                  <a:solidFill>
                    <a:schemeClr val="bg1">
                      <a:alpha val="50196"/>
                    </a:schemeClr>
                  </a:solidFill>
                  <a:ln w="190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</mc:Choice>
            <mc:Fallback xmlns="">
              <p:sp>
                <p:nvSpPr>
                  <p:cNvPr id="18" name="모서리가 둥근 직사각형 17">
                    <a:extLst>
                      <a:ext uri="{FF2B5EF4-FFF2-40B4-BE49-F238E27FC236}">
                        <a16:creationId xmlns:a16="http://schemas.microsoft.com/office/drawing/2014/main" id="{7D192F78-648D-255F-C6B5-E02B1987592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11550" y="4178795"/>
                    <a:ext cx="1397512" cy="1144988"/>
                  </a:xfrm>
                  <a:prstGeom prst="roundRect">
                    <a:avLst>
                      <a:gd name="adj" fmla="val 4363"/>
                    </a:avLst>
                  </a:prstGeom>
                  <a:blipFill>
                    <a:blip r:embed="rId6"/>
                    <a:stretch>
                      <a:fillRect/>
                    </a:stretch>
                  </a:blipFill>
                  <a:ln w="19050"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61858469-4D13-1716-FDAE-7C7A1103E13E}"/>
                      </a:ext>
                    </a:extLst>
                  </p:cNvPr>
                  <p:cNvSpPr txBox="1"/>
                  <p:nvPr/>
                </p:nvSpPr>
                <p:spPr>
                  <a:xfrm>
                    <a:off x="8802558" y="4540086"/>
                    <a:ext cx="241549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40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61858469-4D13-1716-FDAE-7C7A1103E1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02558" y="4540086"/>
                    <a:ext cx="2415496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916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1962C62-6631-A8A8-E423-3D35B21C3FF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00848" y="4528761"/>
                    <a:ext cx="754433" cy="46609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kumimoji="1"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kumimoji="1" lang="en-US" altLang="ko-KR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1962C62-6631-A8A8-E423-3D35B21C3F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00848" y="4528761"/>
                    <a:ext cx="754433" cy="46609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자유형 53">
                  <a:extLst>
                    <a:ext uri="{FF2B5EF4-FFF2-40B4-BE49-F238E27FC236}">
                      <a16:creationId xmlns:a16="http://schemas.microsoft.com/office/drawing/2014/main" id="{F078CE3B-D239-B8C8-229F-E5E13E1967BF}"/>
                    </a:ext>
                  </a:extLst>
                </p:cNvPr>
                <p:cNvSpPr/>
                <p:nvPr/>
              </p:nvSpPr>
              <p:spPr>
                <a:xfrm>
                  <a:off x="4937361" y="2962412"/>
                  <a:ext cx="733054" cy="970599"/>
                </a:xfrm>
                <a:custGeom>
                  <a:avLst/>
                  <a:gdLst>
                    <a:gd name="csX0" fmla="*/ 32094 w 733054"/>
                    <a:gd name="csY0" fmla="*/ 0 h 970599"/>
                    <a:gd name="csX1" fmla="*/ 39083 w 733054"/>
                    <a:gd name="csY1" fmla="*/ 0 h 970599"/>
                    <a:gd name="csX2" fmla="*/ 733054 w 733054"/>
                    <a:gd name="csY2" fmla="*/ 944638 h 970599"/>
                    <a:gd name="csX3" fmla="*/ 726194 w 733054"/>
                    <a:gd name="csY3" fmla="*/ 961199 h 970599"/>
                    <a:gd name="csX4" fmla="*/ 703500 w 733054"/>
                    <a:gd name="csY4" fmla="*/ 970599 h 970599"/>
                    <a:gd name="csX5" fmla="*/ 32094 w 733054"/>
                    <a:gd name="csY5" fmla="*/ 970599 h 970599"/>
                    <a:gd name="csX6" fmla="*/ 0 w 733054"/>
                    <a:gd name="csY6" fmla="*/ 938505 h 970599"/>
                    <a:gd name="csX7" fmla="*/ 0 w 733054"/>
                    <a:gd name="csY7" fmla="*/ 32094 h 970599"/>
                    <a:gd name="csX8" fmla="*/ 32094 w 733054"/>
                    <a:gd name="csY8" fmla="*/ 0 h 9705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733054" h="970599">
                      <a:moveTo>
                        <a:pt x="32094" y="0"/>
                      </a:moveTo>
                      <a:lnTo>
                        <a:pt x="39083" y="0"/>
                      </a:lnTo>
                      <a:lnTo>
                        <a:pt x="733054" y="944638"/>
                      </a:lnTo>
                      <a:lnTo>
                        <a:pt x="726194" y="961199"/>
                      </a:lnTo>
                      <a:cubicBezTo>
                        <a:pt x="720386" y="967007"/>
                        <a:pt x="712363" y="970599"/>
                        <a:pt x="703500" y="970599"/>
                      </a:cubicBezTo>
                      <a:lnTo>
                        <a:pt x="32094" y="970599"/>
                      </a:lnTo>
                      <a:cubicBezTo>
                        <a:pt x="14369" y="970599"/>
                        <a:pt x="0" y="956230"/>
                        <a:pt x="0" y="938505"/>
                      </a:cubicBezTo>
                      <a:lnTo>
                        <a:pt x="0" y="32094"/>
                      </a:lnTo>
                      <a:cubicBezTo>
                        <a:pt x="0" y="14369"/>
                        <a:pt x="14369" y="0"/>
                        <a:pt x="3209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  <a:alpha val="50196"/>
                  </a:schemeClr>
                </a:solidFill>
                <a:ln w="190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/>
                </a:p>
              </p:txBody>
            </p:sp>
          </mc:Choice>
          <mc:Fallback xmlns="">
            <p:sp>
              <p:nvSpPr>
                <p:cNvPr id="54" name="자유형 53">
                  <a:extLst>
                    <a:ext uri="{FF2B5EF4-FFF2-40B4-BE49-F238E27FC236}">
                      <a16:creationId xmlns:a16="http://schemas.microsoft.com/office/drawing/2014/main" id="{F078CE3B-D239-B8C8-229F-E5E13E1967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361" y="2962412"/>
                  <a:ext cx="733054" cy="970599"/>
                </a:xfrm>
                <a:custGeom>
                  <a:avLst/>
                  <a:gdLst>
                    <a:gd name="csX0" fmla="*/ 32094 w 733054"/>
                    <a:gd name="csY0" fmla="*/ 0 h 970599"/>
                    <a:gd name="csX1" fmla="*/ 39083 w 733054"/>
                    <a:gd name="csY1" fmla="*/ 0 h 970599"/>
                    <a:gd name="csX2" fmla="*/ 733054 w 733054"/>
                    <a:gd name="csY2" fmla="*/ 944638 h 970599"/>
                    <a:gd name="csX3" fmla="*/ 726194 w 733054"/>
                    <a:gd name="csY3" fmla="*/ 961199 h 970599"/>
                    <a:gd name="csX4" fmla="*/ 703500 w 733054"/>
                    <a:gd name="csY4" fmla="*/ 970599 h 970599"/>
                    <a:gd name="csX5" fmla="*/ 32094 w 733054"/>
                    <a:gd name="csY5" fmla="*/ 970599 h 970599"/>
                    <a:gd name="csX6" fmla="*/ 0 w 733054"/>
                    <a:gd name="csY6" fmla="*/ 938505 h 970599"/>
                    <a:gd name="csX7" fmla="*/ 0 w 733054"/>
                    <a:gd name="csY7" fmla="*/ 32094 h 970599"/>
                    <a:gd name="csX8" fmla="*/ 32094 w 733054"/>
                    <a:gd name="csY8" fmla="*/ 0 h 9705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733054" h="970599">
                      <a:moveTo>
                        <a:pt x="32094" y="0"/>
                      </a:moveTo>
                      <a:lnTo>
                        <a:pt x="39083" y="0"/>
                      </a:lnTo>
                      <a:lnTo>
                        <a:pt x="733054" y="944638"/>
                      </a:lnTo>
                      <a:lnTo>
                        <a:pt x="726194" y="961199"/>
                      </a:lnTo>
                      <a:cubicBezTo>
                        <a:pt x="720386" y="967007"/>
                        <a:pt x="712363" y="970599"/>
                        <a:pt x="703500" y="970599"/>
                      </a:cubicBezTo>
                      <a:lnTo>
                        <a:pt x="32094" y="970599"/>
                      </a:lnTo>
                      <a:cubicBezTo>
                        <a:pt x="14369" y="970599"/>
                        <a:pt x="0" y="956230"/>
                        <a:pt x="0" y="938505"/>
                      </a:cubicBezTo>
                      <a:lnTo>
                        <a:pt x="0" y="32094"/>
                      </a:lnTo>
                      <a:cubicBezTo>
                        <a:pt x="0" y="14369"/>
                        <a:pt x="14369" y="0"/>
                        <a:pt x="32094" y="0"/>
                      </a:cubicBezTo>
                      <a:close/>
                    </a:path>
                  </a:pathLst>
                </a:custGeom>
                <a:blipFill>
                  <a:blip r:embed="rId9"/>
                  <a:stretch>
                    <a:fillRect/>
                  </a:stretch>
                </a:blipFill>
                <a:ln w="19050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61585FE3-56BA-5212-190E-2A7C1C343B77}"/>
                </a:ext>
              </a:extLst>
            </p:cNvPr>
            <p:cNvGrpSpPr/>
            <p:nvPr/>
          </p:nvGrpSpPr>
          <p:grpSpPr>
            <a:xfrm>
              <a:off x="3760182" y="2982481"/>
              <a:ext cx="2310419" cy="1015663"/>
              <a:chOff x="5971855" y="6402991"/>
              <a:chExt cx="2310419" cy="101566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D3DB93E1-A50B-605D-EA6B-A1B79C51A4A6}"/>
                      </a:ext>
                    </a:extLst>
                  </p:cNvPr>
                  <p:cNvSpPr txBox="1"/>
                  <p:nvPr/>
                </p:nvSpPr>
                <p:spPr>
                  <a:xfrm>
                    <a:off x="7088302" y="6402991"/>
                    <a:ext cx="1193972" cy="101566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ko-KR" altLang="en-US" sz="20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altLang="ko-KR" sz="20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ko-KR" altLang="en-US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20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altLang="ko-KR" sz="20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ko-KR" sz="2000" b="0" i="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ko-KR" altLang="en-US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000" b="0" i="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ko-KR" altLang="en-US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20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altLang="ko-KR" sz="20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D3DB93E1-A50B-605D-EA6B-A1B79C51A4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88302" y="6402991"/>
                    <a:ext cx="1193972" cy="101566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987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B3AD931-60D8-910C-5C92-E44430D656B3}"/>
                      </a:ext>
                    </a:extLst>
                  </p:cNvPr>
                  <p:cNvSpPr txBox="1"/>
                  <p:nvPr/>
                </p:nvSpPr>
                <p:spPr>
                  <a:xfrm>
                    <a:off x="5971855" y="6680395"/>
                    <a:ext cx="135367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ko-KR" altLang="en-US" sz="140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B3AD931-60D8-910C-5C92-E44430D65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1855" y="6680395"/>
                    <a:ext cx="1353672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3" name="오른쪽 화살표[R] 32">
              <a:extLst>
                <a:ext uri="{FF2B5EF4-FFF2-40B4-BE49-F238E27FC236}">
                  <a16:creationId xmlns:a16="http://schemas.microsoft.com/office/drawing/2014/main" id="{D58A5571-8209-77CA-8766-F7C202105255}"/>
                </a:ext>
              </a:extLst>
            </p:cNvPr>
            <p:cNvSpPr/>
            <p:nvPr/>
          </p:nvSpPr>
          <p:spPr>
            <a:xfrm>
              <a:off x="3568393" y="3362013"/>
              <a:ext cx="267796" cy="232513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75F2129F-E032-FFB6-7D6F-80D0D8C2E4E9}"/>
                </a:ext>
              </a:extLst>
            </p:cNvPr>
            <p:cNvGrpSpPr/>
            <p:nvPr/>
          </p:nvGrpSpPr>
          <p:grpSpPr>
            <a:xfrm>
              <a:off x="7654647" y="3289599"/>
              <a:ext cx="2507722" cy="385362"/>
              <a:chOff x="7039011" y="3289599"/>
              <a:chExt cx="2507722" cy="38536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5007F3AC-4553-474E-534B-AE2FF6E3CF0B}"/>
                      </a:ext>
                    </a:extLst>
                  </p:cNvPr>
                  <p:cNvSpPr txBox="1"/>
                  <p:nvPr/>
                </p:nvSpPr>
                <p:spPr>
                  <a:xfrm>
                    <a:off x="7097738" y="3289599"/>
                    <a:ext cx="2448995" cy="38536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sup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ko-KR" altLang="en-US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kumimoji="1" lang="ko-KR" altLang="en-US" dirty="0">
                        <a:latin typeface="Gmarket Sans Medium" panose="02000000000000000000" pitchFamily="2" charset="-128"/>
                        <a:ea typeface="Gmarket Sans Medium" panose="02000000000000000000" pitchFamily="2" charset="-128"/>
                        <a:sym typeface="Wingdings" pitchFamily="2" charset="2"/>
                      </a:rPr>
                      <a:t>복원 가능</a:t>
                    </a:r>
                    <a:r>
                      <a:rPr kumimoji="1" lang="ko-KR" altLang="en-US" dirty="0">
                        <a:latin typeface="Gmarket Sans Medium" panose="02000000000000000000" pitchFamily="2" charset="-128"/>
                        <a:ea typeface="Gmarket Sans Medium" panose="02000000000000000000" pitchFamily="2" charset="-128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5007F3AC-4553-474E-534B-AE2FF6E3CF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7738" y="3289599"/>
                    <a:ext cx="2448995" cy="38536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2903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오른쪽 화살표[R] 33">
                <a:extLst>
                  <a:ext uri="{FF2B5EF4-FFF2-40B4-BE49-F238E27FC236}">
                    <a16:creationId xmlns:a16="http://schemas.microsoft.com/office/drawing/2014/main" id="{CA0EEC4E-2915-96EC-E5F4-01FDD79BA9BE}"/>
                  </a:ext>
                </a:extLst>
              </p:cNvPr>
              <p:cNvSpPr/>
              <p:nvPr/>
            </p:nvSpPr>
            <p:spPr>
              <a:xfrm>
                <a:off x="7039011" y="3361857"/>
                <a:ext cx="267796" cy="232513"/>
              </a:xfrm>
              <a:prstGeom prst="rightArrow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sp>
          <p:nvSpPr>
            <p:cNvPr id="37" name="오른쪽 화살표[R] 36">
              <a:extLst>
                <a:ext uri="{FF2B5EF4-FFF2-40B4-BE49-F238E27FC236}">
                  <a16:creationId xmlns:a16="http://schemas.microsoft.com/office/drawing/2014/main" id="{88C9BA03-C808-041E-0E60-A82F2FE9880D}"/>
                </a:ext>
              </a:extLst>
            </p:cNvPr>
            <p:cNvSpPr/>
            <p:nvPr/>
          </p:nvSpPr>
          <p:spPr>
            <a:xfrm>
              <a:off x="5851364" y="3367386"/>
              <a:ext cx="267796" cy="232513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2A756DB-F9FD-05F3-026B-C7EBFFD295E0}"/>
                    </a:ext>
                  </a:extLst>
                </p:cNvPr>
                <p:cNvSpPr txBox="1"/>
                <p:nvPr/>
              </p:nvSpPr>
              <p:spPr>
                <a:xfrm>
                  <a:off x="5630528" y="3167146"/>
                  <a:ext cx="2448995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𝐸𝑠</m:t>
                      </m:r>
                    </m:oMath>
                  </a14:m>
                  <a:r>
                    <a:rPr kumimoji="1" lang="ko-KR" altLang="en-US" dirty="0" err="1"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에</a:t>
                  </a:r>
                  <a:r>
                    <a:rPr kumimoji="1" lang="ko-KR" altLang="en-US" dirty="0"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 대한 </a:t>
                  </a:r>
                  <a:endPara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endParaRPr>
                </a:p>
                <a:p>
                  <a:pPr algn="ctr"/>
                  <a:r>
                    <a:rPr kumimoji="1" lang="ko-KR" altLang="en-US" dirty="0"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추가 연산</a:t>
                  </a: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2A756DB-F9FD-05F3-026B-C7EBFFD295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0528" y="3167146"/>
                  <a:ext cx="2448995" cy="646331"/>
                </a:xfrm>
                <a:prstGeom prst="rect">
                  <a:avLst/>
                </a:prstGeom>
                <a:blipFill>
                  <a:blip r:embed="rId13"/>
                  <a:stretch>
                    <a:fillRect t="-1923" b="-1538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43812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84244-3258-1E13-07B8-E8FF14219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0A436-FBA2-0858-422B-EEB7A30D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Gauss-Jordan Elimination</a:t>
            </a:r>
            <a:endParaRPr kumimoji="1" lang="ko-KR" altLang="en-US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70E596-1380-1741-D6ED-BAF1DA8A4E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kumimoji="1" lang="ko-KR" altLang="en-US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대각 성분 </a:t>
            </a:r>
            <a:r>
              <a:rPr kumimoji="1" lang="en-US" altLang="ko-KR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(pivot)</a:t>
            </a:r>
            <a:r>
              <a:rPr kumimoji="1" lang="ko-KR" altLang="en-US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을 </a:t>
            </a:r>
            <a:r>
              <a:rPr kumimoji="1" lang="en-US" altLang="ko-KR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1</a:t>
            </a:r>
            <a:r>
              <a:rPr kumimoji="1" lang="ko-KR" altLang="en-US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로 만든 후</a:t>
            </a:r>
            <a:r>
              <a:rPr kumimoji="1" lang="en-US" altLang="ko-KR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,</a:t>
            </a:r>
            <a:r>
              <a:rPr kumimoji="1" lang="ko-KR" altLang="en-US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 아래쪽 원소들을 모두 </a:t>
            </a:r>
            <a:r>
              <a:rPr kumimoji="1" lang="en-US" altLang="ko-KR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0</a:t>
            </a:r>
            <a:r>
              <a:rPr kumimoji="1" lang="ko-KR" altLang="en-US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으로 세팅 </a:t>
            </a:r>
            <a:endParaRPr kumimoji="1" lang="en-US" altLang="ko-KR" sz="2400" b="1" dirty="0"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  <a:p>
            <a:r>
              <a:rPr kumimoji="1"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크게 </a:t>
            </a:r>
            <a:r>
              <a:rPr kumimoji="1" lang="en-US" altLang="ko-KR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2</a:t>
            </a:r>
            <a:r>
              <a:rPr kumimoji="1"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단계로 구분</a:t>
            </a:r>
            <a:endParaRPr kumimoji="1"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lvl="1"/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Step 1. Swap: Pivot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을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1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로 변경</a:t>
            </a: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lvl="1"/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Step 2. Elimination: Pivot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을 제외한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1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성분을 소거</a:t>
            </a:r>
            <a:endParaRPr kumimoji="1"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kumimoji="1"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kumimoji="1"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kumimoji="1"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kumimoji="1"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kumimoji="1"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kumimoji="1"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kumimoji="1"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kumimoji="1" lang="en-US" altLang="ko-KR" sz="1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r>
              <a:rPr kumimoji="1" lang="ko-KR" altLang="en-US" sz="2400" b="1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양자 구현 시</a:t>
            </a:r>
            <a:r>
              <a:rPr kumimoji="1" lang="en-US" altLang="ko-KR" sz="2400" b="1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</a:t>
            </a:r>
            <a:r>
              <a:rPr kumimoji="1" lang="ko-KR" altLang="en-US" sz="2400" b="1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분기</a:t>
            </a:r>
            <a:r>
              <a:rPr kumimoji="1" lang="en-US" altLang="ko-KR" sz="2400" b="1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/</a:t>
            </a:r>
            <a:r>
              <a:rPr kumimoji="1" lang="ko-KR" altLang="en-US" sz="2400" b="1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조건문을 위한 고려 사항이 다수 존재함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F02A4CF9-BA08-F45A-458D-650C5FE57EE8}"/>
              </a:ext>
            </a:extLst>
          </p:cNvPr>
          <p:cNvGrpSpPr/>
          <p:nvPr/>
        </p:nvGrpSpPr>
        <p:grpSpPr>
          <a:xfrm>
            <a:off x="6748218" y="2805430"/>
            <a:ext cx="6014467" cy="2826101"/>
            <a:chOff x="6472018" y="3435249"/>
            <a:chExt cx="6014467" cy="2826101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CD8ED5FB-1E27-5E41-A253-DB3D32A1AB0C}"/>
                </a:ext>
              </a:extLst>
            </p:cNvPr>
            <p:cNvGrpSpPr/>
            <p:nvPr/>
          </p:nvGrpSpPr>
          <p:grpSpPr>
            <a:xfrm>
              <a:off x="6472018" y="3435249"/>
              <a:ext cx="3984846" cy="1997156"/>
              <a:chOff x="6472018" y="3795976"/>
              <a:chExt cx="3984846" cy="1997156"/>
            </a:xfrm>
          </p:grpSpPr>
          <p:sp>
            <p:nvSpPr>
              <p:cNvPr id="57" name="오른쪽 화살표[R] 56">
                <a:extLst>
                  <a:ext uri="{FF2B5EF4-FFF2-40B4-BE49-F238E27FC236}">
                    <a16:creationId xmlns:a16="http://schemas.microsoft.com/office/drawing/2014/main" id="{076D5CE0-A795-B169-47FC-6731FF90DA10}"/>
                  </a:ext>
                </a:extLst>
              </p:cNvPr>
              <p:cNvSpPr/>
              <p:nvPr/>
            </p:nvSpPr>
            <p:spPr>
              <a:xfrm>
                <a:off x="8177988" y="4765529"/>
                <a:ext cx="352707" cy="334660"/>
              </a:xfrm>
              <a:prstGeom prst="rightArrow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0E7792B-2E52-2366-9C21-F563DE3F0C30}"/>
                  </a:ext>
                </a:extLst>
              </p:cNvPr>
              <p:cNvSpPr txBox="1"/>
              <p:nvPr/>
            </p:nvSpPr>
            <p:spPr>
              <a:xfrm>
                <a:off x="7564939" y="4348361"/>
                <a:ext cx="15889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Elimination</a:t>
                </a:r>
                <a:endParaRPr lang="ko-KR" altLang="en-US" dirty="0"/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BD8BF568-E084-5883-16CC-73A856E57D59}"/>
                  </a:ext>
                </a:extLst>
              </p:cNvPr>
              <p:cNvGrpSpPr/>
              <p:nvPr/>
            </p:nvGrpSpPr>
            <p:grpSpPr>
              <a:xfrm>
                <a:off x="9193671" y="3795976"/>
                <a:ext cx="1263193" cy="1997156"/>
                <a:chOff x="7724732" y="3795976"/>
                <a:chExt cx="1263193" cy="199715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666745C3-96B7-CDD5-F48F-CCF0F9BE3B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24732" y="4038806"/>
                      <a:ext cx="1189574" cy="1754326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ko-K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altLang="ko-K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ko-K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altLang="ko-K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ko-KR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altLang="ko-K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ko-KR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altLang="ko-K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ko-KR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ko-K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666745C3-96B7-CDD5-F48F-CCF0F9BE3B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24732" y="4038806"/>
                      <a:ext cx="1189574" cy="1754326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b="-359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0" name="직각 삼각형[R] 59">
                  <a:extLst>
                    <a:ext uri="{FF2B5EF4-FFF2-40B4-BE49-F238E27FC236}">
                      <a16:creationId xmlns:a16="http://schemas.microsoft.com/office/drawing/2014/main" id="{0857B445-08E7-3118-AF3E-658E032354C4}"/>
                    </a:ext>
                  </a:extLst>
                </p:cNvPr>
                <p:cNvSpPr/>
                <p:nvPr/>
              </p:nvSpPr>
              <p:spPr>
                <a:xfrm>
                  <a:off x="7782083" y="3795976"/>
                  <a:ext cx="1205842" cy="1921775"/>
                </a:xfrm>
                <a:prstGeom prst="rtTriangle">
                  <a:avLst/>
                </a:prstGeom>
                <a:no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</p:grpSp>
          <p:grpSp>
            <p:nvGrpSpPr>
              <p:cNvPr id="70" name="그룹 69">
                <a:extLst>
                  <a:ext uri="{FF2B5EF4-FFF2-40B4-BE49-F238E27FC236}">
                    <a16:creationId xmlns:a16="http://schemas.microsoft.com/office/drawing/2014/main" id="{FBA3C5AD-047E-F269-5029-372651A3A688}"/>
                  </a:ext>
                </a:extLst>
              </p:cNvPr>
              <p:cNvGrpSpPr/>
              <p:nvPr/>
            </p:nvGrpSpPr>
            <p:grpSpPr>
              <a:xfrm>
                <a:off x="6472018" y="3795976"/>
                <a:ext cx="1263193" cy="1997156"/>
                <a:chOff x="6472018" y="3795976"/>
                <a:chExt cx="1263193" cy="1997156"/>
              </a:xfrm>
            </p:grpSpPr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88EC8DAD-ECDF-A8D8-30F0-A94C2CCE14D6}"/>
                    </a:ext>
                  </a:extLst>
                </p:cNvPr>
                <p:cNvGrpSpPr/>
                <p:nvPr/>
              </p:nvGrpSpPr>
              <p:grpSpPr>
                <a:xfrm>
                  <a:off x="6472018" y="3795976"/>
                  <a:ext cx="1263193" cy="1997156"/>
                  <a:chOff x="3588751" y="3948376"/>
                  <a:chExt cx="1263193" cy="199715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2" name="TextBox 61">
                        <a:extLst>
                          <a:ext uri="{FF2B5EF4-FFF2-40B4-BE49-F238E27FC236}">
                            <a16:creationId xmlns:a16="http://schemas.microsoft.com/office/drawing/2014/main" id="{220FBBE1-462E-D976-3A2A-25B0AD87EE6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88751" y="4191206"/>
                        <a:ext cx="1189574" cy="175432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altLang="ko-KR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ko-KR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endParaRPr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ko-KR" i="1" dirty="0">
                          <a:latin typeface="Cambria Math" panose="02040503050406030204" pitchFamily="18" charset="0"/>
                        </a:endParaRPr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ko-KR" i="1" dirty="0">
                          <a:latin typeface="Cambria Math" panose="02040503050406030204" pitchFamily="18" charset="0"/>
                        </a:endParaRPr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ko-KR" altLang="en-US" i="1" dirty="0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ko-KR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endParaRPr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ko-KR" dirty="0"/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ko-KR" dirty="0"/>
                      </a:p>
                    </p:txBody>
                  </p:sp>
                </mc:Choice>
                <mc:Fallback xmlns="">
                  <p:sp>
                    <p:nvSpPr>
                      <p:cNvPr id="62" name="TextBox 61">
                        <a:extLst>
                          <a:ext uri="{FF2B5EF4-FFF2-40B4-BE49-F238E27FC236}">
                            <a16:creationId xmlns:a16="http://schemas.microsoft.com/office/drawing/2014/main" id="{220FBBE1-462E-D976-3A2A-25B0AD87EE6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88751" y="4191206"/>
                        <a:ext cx="1189574" cy="1754326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b="-359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3" name="직각 삼각형[R] 62">
                    <a:extLst>
                      <a:ext uri="{FF2B5EF4-FFF2-40B4-BE49-F238E27FC236}">
                        <a16:creationId xmlns:a16="http://schemas.microsoft.com/office/drawing/2014/main" id="{90F7E70C-69A1-1EC5-A3FF-19023231AEC2}"/>
                      </a:ext>
                    </a:extLst>
                  </p:cNvPr>
                  <p:cNvSpPr/>
                  <p:nvPr/>
                </p:nvSpPr>
                <p:spPr>
                  <a:xfrm>
                    <a:off x="3646102" y="3948376"/>
                    <a:ext cx="1205842" cy="1921775"/>
                  </a:xfrm>
                  <a:prstGeom prst="rtTriangle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</p:grpSp>
            <p:sp>
              <p:nvSpPr>
                <p:cNvPr id="65" name="곱하기 64">
                  <a:extLst>
                    <a:ext uri="{FF2B5EF4-FFF2-40B4-BE49-F238E27FC236}">
                      <a16:creationId xmlns:a16="http://schemas.microsoft.com/office/drawing/2014/main" id="{552E863D-809D-47CF-8510-4EFCABECE1EB}"/>
                    </a:ext>
                  </a:extLst>
                </p:cNvPr>
                <p:cNvSpPr/>
                <p:nvPr/>
              </p:nvSpPr>
              <p:spPr>
                <a:xfrm>
                  <a:off x="6520902" y="4877825"/>
                  <a:ext cx="228600" cy="355600"/>
                </a:xfrm>
                <a:prstGeom prst="mathMultiply">
                  <a:avLst/>
                </a:prstGeom>
                <a:solidFill>
                  <a:srgbClr val="C00000">
                    <a:alpha val="6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  <p:sp>
              <p:nvSpPr>
                <p:cNvPr id="66" name="곱하기 65">
                  <a:extLst>
                    <a:ext uri="{FF2B5EF4-FFF2-40B4-BE49-F238E27FC236}">
                      <a16:creationId xmlns:a16="http://schemas.microsoft.com/office/drawing/2014/main" id="{556F6F43-5162-2AB3-BFD0-0F138B15DCDB}"/>
                    </a:ext>
                  </a:extLst>
                </p:cNvPr>
                <p:cNvSpPr/>
                <p:nvPr/>
              </p:nvSpPr>
              <p:spPr>
                <a:xfrm>
                  <a:off x="6520902" y="5157678"/>
                  <a:ext cx="228600" cy="355600"/>
                </a:xfrm>
                <a:prstGeom prst="mathMultiply">
                  <a:avLst/>
                </a:prstGeom>
                <a:solidFill>
                  <a:srgbClr val="C00000">
                    <a:alpha val="6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  <p:sp>
              <p:nvSpPr>
                <p:cNvPr id="67" name="곱하기 66">
                  <a:extLst>
                    <a:ext uri="{FF2B5EF4-FFF2-40B4-BE49-F238E27FC236}">
                      <a16:creationId xmlns:a16="http://schemas.microsoft.com/office/drawing/2014/main" id="{12D0F5F5-F2D0-509B-111D-6E96671D7E4F}"/>
                    </a:ext>
                  </a:extLst>
                </p:cNvPr>
                <p:cNvSpPr/>
                <p:nvPr/>
              </p:nvSpPr>
              <p:spPr>
                <a:xfrm>
                  <a:off x="6692553" y="5157678"/>
                  <a:ext cx="228600" cy="355600"/>
                </a:xfrm>
                <a:prstGeom prst="mathMultiply">
                  <a:avLst/>
                </a:prstGeom>
                <a:solidFill>
                  <a:srgbClr val="C00000">
                    <a:alpha val="6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  <p:sp>
              <p:nvSpPr>
                <p:cNvPr id="68" name="곱하기 67">
                  <a:extLst>
                    <a:ext uri="{FF2B5EF4-FFF2-40B4-BE49-F238E27FC236}">
                      <a16:creationId xmlns:a16="http://schemas.microsoft.com/office/drawing/2014/main" id="{8736FDE1-2FBF-DB42-F4E8-47E9414ADF51}"/>
                    </a:ext>
                  </a:extLst>
                </p:cNvPr>
                <p:cNvSpPr/>
                <p:nvPr/>
              </p:nvSpPr>
              <p:spPr>
                <a:xfrm>
                  <a:off x="6692553" y="5416040"/>
                  <a:ext cx="228600" cy="355600"/>
                </a:xfrm>
                <a:prstGeom prst="mathMultiply">
                  <a:avLst/>
                </a:prstGeom>
                <a:solidFill>
                  <a:srgbClr val="C00000">
                    <a:alpha val="6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  <p:sp>
              <p:nvSpPr>
                <p:cNvPr id="69" name="곱하기 68">
                  <a:extLst>
                    <a:ext uri="{FF2B5EF4-FFF2-40B4-BE49-F238E27FC236}">
                      <a16:creationId xmlns:a16="http://schemas.microsoft.com/office/drawing/2014/main" id="{E4314C31-85EE-ABFA-48D7-15625E3DF3C9}"/>
                    </a:ext>
                  </a:extLst>
                </p:cNvPr>
                <p:cNvSpPr/>
                <p:nvPr/>
              </p:nvSpPr>
              <p:spPr>
                <a:xfrm>
                  <a:off x="6869459" y="5416040"/>
                  <a:ext cx="228600" cy="355600"/>
                </a:xfrm>
                <a:prstGeom prst="mathMultiply">
                  <a:avLst/>
                </a:prstGeom>
                <a:solidFill>
                  <a:srgbClr val="C00000">
                    <a:alpha val="6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</p:grp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32B6BFC-F571-8D58-0E27-3B4C3C8ABF68}"/>
                </a:ext>
              </a:extLst>
            </p:cNvPr>
            <p:cNvSpPr txBox="1"/>
            <p:nvPr/>
          </p:nvSpPr>
          <p:spPr>
            <a:xfrm>
              <a:off x="6472018" y="5511145"/>
              <a:ext cx="6014467" cy="750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sz="1800" dirty="0">
                  <a:solidFill>
                    <a:srgbClr val="C00000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Step 2. </a:t>
              </a:r>
              <a:r>
                <a:rPr kumimoji="1" lang="en-US" altLang="ko-KR" dirty="0">
                  <a:solidFill>
                    <a:srgbClr val="C00000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Elimination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Pivot </a:t>
              </a:r>
              <a:r>
                <a:rPr kumimoji="1" lang="ko-KR" altLang="en-US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아래 성분 중 </a:t>
              </a:r>
              <a:r>
                <a:rPr kumimoji="1"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1</a:t>
              </a:r>
              <a:r>
                <a:rPr kumimoji="1" lang="ko-KR" altLang="en-US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이 있다면 </a:t>
              </a:r>
              <a:r>
                <a:rPr kumimoji="1"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0</a:t>
              </a:r>
              <a:r>
                <a:rPr kumimoji="1" lang="ko-KR" altLang="en-US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으로 소거</a:t>
              </a:r>
              <a:endParaRPr lang="ko-KR" altLang="en-US" dirty="0"/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D4B4A341-B53B-9213-10FC-2DE430C098EC}"/>
              </a:ext>
            </a:extLst>
          </p:cNvPr>
          <p:cNvGrpSpPr/>
          <p:nvPr/>
        </p:nvGrpSpPr>
        <p:grpSpPr>
          <a:xfrm>
            <a:off x="1394023" y="2805430"/>
            <a:ext cx="6014467" cy="3137725"/>
            <a:chOff x="1394023" y="2805430"/>
            <a:chExt cx="6014467" cy="3137725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118501CB-9B02-1380-63CA-99658D1C29C7}"/>
                </a:ext>
              </a:extLst>
            </p:cNvPr>
            <p:cNvGrpSpPr/>
            <p:nvPr/>
          </p:nvGrpSpPr>
          <p:grpSpPr>
            <a:xfrm>
              <a:off x="1394023" y="2805430"/>
              <a:ext cx="6014467" cy="3137725"/>
              <a:chOff x="654892" y="3435249"/>
              <a:chExt cx="6014467" cy="3137725"/>
            </a:xfrm>
          </p:grpSpPr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18A5110A-0B67-1B7D-6E0E-414FAFCDD459}"/>
                  </a:ext>
                </a:extLst>
              </p:cNvPr>
              <p:cNvGrpSpPr/>
              <p:nvPr/>
            </p:nvGrpSpPr>
            <p:grpSpPr>
              <a:xfrm>
                <a:off x="701093" y="3435249"/>
                <a:ext cx="3460429" cy="1997156"/>
                <a:chOff x="1239115" y="3795976"/>
                <a:chExt cx="3460429" cy="1997156"/>
              </a:xfrm>
            </p:grpSpPr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6F49AEC7-A702-41B4-6FB9-50C7EC876CE0}"/>
                    </a:ext>
                  </a:extLst>
                </p:cNvPr>
                <p:cNvGrpSpPr/>
                <p:nvPr/>
              </p:nvGrpSpPr>
              <p:grpSpPr>
                <a:xfrm>
                  <a:off x="1239115" y="3795976"/>
                  <a:ext cx="3460429" cy="1997156"/>
                  <a:chOff x="1239115" y="3795976"/>
                  <a:chExt cx="3460429" cy="199715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" name="TextBox 6">
                        <a:extLst>
                          <a:ext uri="{FF2B5EF4-FFF2-40B4-BE49-F238E27FC236}">
                            <a16:creationId xmlns:a16="http://schemas.microsoft.com/office/drawing/2014/main" id="{B9FC4A4C-9221-2B86-A669-61D505AE6BB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36351" y="4038806"/>
                        <a:ext cx="1189574" cy="175432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altLang="ko-KR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ko-KR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endParaRPr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ko-KR" i="1" dirty="0">
                          <a:latin typeface="Cambria Math" panose="02040503050406030204" pitchFamily="18" charset="0"/>
                        </a:endParaRPr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ko-KR" i="1" dirty="0">
                          <a:latin typeface="Cambria Math" panose="02040503050406030204" pitchFamily="18" charset="0"/>
                        </a:endParaRPr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ko-KR" altLang="en-US" i="1" dirty="0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ko-KR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endParaRPr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ko-KR" dirty="0"/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ko-KR" dirty="0"/>
                      </a:p>
                    </p:txBody>
                  </p:sp>
                </mc:Choice>
                <mc:Fallback xmlns="">
                  <p:sp>
                    <p:nvSpPr>
                      <p:cNvPr id="7" name="TextBox 6">
                        <a:extLst>
                          <a:ext uri="{FF2B5EF4-FFF2-40B4-BE49-F238E27FC236}">
                            <a16:creationId xmlns:a16="http://schemas.microsoft.com/office/drawing/2014/main" id="{B9FC4A4C-9221-2B86-A669-61D505AE6BB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436351" y="4038806"/>
                        <a:ext cx="1189574" cy="1754326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b="-359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8" name="직각 삼각형[R] 27">
                    <a:extLst>
                      <a:ext uri="{FF2B5EF4-FFF2-40B4-BE49-F238E27FC236}">
                        <a16:creationId xmlns:a16="http://schemas.microsoft.com/office/drawing/2014/main" id="{84496289-F0BD-9E93-C5FC-077F8A023226}"/>
                      </a:ext>
                    </a:extLst>
                  </p:cNvPr>
                  <p:cNvSpPr/>
                  <p:nvPr/>
                </p:nvSpPr>
                <p:spPr>
                  <a:xfrm>
                    <a:off x="3493702" y="3795976"/>
                    <a:ext cx="1205842" cy="1921775"/>
                  </a:xfrm>
                  <a:prstGeom prst="rtTriangle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  <p:sp>
                <p:nvSpPr>
                  <p:cNvPr id="30" name="오른쪽 화살표[R] 29">
                    <a:extLst>
                      <a:ext uri="{FF2B5EF4-FFF2-40B4-BE49-F238E27FC236}">
                        <a16:creationId xmlns:a16="http://schemas.microsoft.com/office/drawing/2014/main" id="{33B05F2D-62C9-124E-3EF0-8395E9CEC74C}"/>
                      </a:ext>
                    </a:extLst>
                  </p:cNvPr>
                  <p:cNvSpPr/>
                  <p:nvPr/>
                </p:nvSpPr>
                <p:spPr>
                  <a:xfrm>
                    <a:off x="2678318" y="4765529"/>
                    <a:ext cx="352707" cy="334660"/>
                  </a:xfrm>
                  <a:prstGeom prst="rightArrow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  <p:grpSp>
                <p:nvGrpSpPr>
                  <p:cNvPr id="49" name="그룹 48">
                    <a:extLst>
                      <a:ext uri="{FF2B5EF4-FFF2-40B4-BE49-F238E27FC236}">
                        <a16:creationId xmlns:a16="http://schemas.microsoft.com/office/drawing/2014/main" id="{5704D95B-132B-D784-3C88-48C7077128A0}"/>
                      </a:ext>
                    </a:extLst>
                  </p:cNvPr>
                  <p:cNvGrpSpPr/>
                  <p:nvPr/>
                </p:nvGrpSpPr>
                <p:grpSpPr>
                  <a:xfrm>
                    <a:off x="1239115" y="3795977"/>
                    <a:ext cx="1246924" cy="1997155"/>
                    <a:chOff x="1239115" y="3795977"/>
                    <a:chExt cx="1246924" cy="1997155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" name="TextBox 5">
                          <a:extLst>
                            <a:ext uri="{FF2B5EF4-FFF2-40B4-BE49-F238E27FC236}">
                              <a16:creationId xmlns:a16="http://schemas.microsoft.com/office/drawing/2014/main" id="{B7FD39E4-5835-FEED-B0A3-D56409BFA52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239115" y="4038806"/>
                          <a:ext cx="1189573" cy="175432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altLang="ko-KR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ko-KR" altLang="en-US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</m:oMath>
                            </m:oMathPara>
                          </a14:m>
                          <a:endParaRPr lang="en-US" altLang="ko-KR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ko-KR" altLang="en-US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altLang="ko-KR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1 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altLang="ko-KR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altLang="ko-KR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altLang="ko-KR" i="1" dirty="0">
                            <a:latin typeface="Cambria Math" panose="020405030504060302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" name="TextBox 5">
                          <a:extLst>
                            <a:ext uri="{FF2B5EF4-FFF2-40B4-BE49-F238E27FC236}">
                              <a16:creationId xmlns:a16="http://schemas.microsoft.com/office/drawing/2014/main" id="{B7FD39E4-5835-FEED-B0A3-D56409BFA52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239115" y="4038806"/>
                          <a:ext cx="1189573" cy="1754326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b="-2878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ko-KR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9" name="꺾인 연결선[E] 8">
                      <a:extLst>
                        <a:ext uri="{FF2B5EF4-FFF2-40B4-BE49-F238E27FC236}">
                          <a16:creationId xmlns:a16="http://schemas.microsoft.com/office/drawing/2014/main" id="{56A0021D-7499-D1BE-565F-AC6156C81732}"/>
                        </a:ext>
                      </a:extLst>
                    </p:cNvPr>
                    <p:cNvCxnSpPr>
                      <a:cxnSpLocks/>
                      <a:stCxn id="12" idx="1"/>
                      <a:endCxn id="11" idx="1"/>
                    </p:cNvCxnSpPr>
                    <p:nvPr/>
                  </p:nvCxnSpPr>
                  <p:spPr>
                    <a:xfrm rot="10800000">
                      <a:off x="1287940" y="4229917"/>
                      <a:ext cx="1474" cy="264894"/>
                    </a:xfrm>
                    <a:prstGeom prst="bentConnector3">
                      <a:avLst>
                        <a:gd name="adj1" fmla="val 15608820"/>
                      </a:avLst>
                    </a:prstGeom>
                    <a:ln w="19050"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" name="직사각형 10">
                      <a:extLst>
                        <a:ext uri="{FF2B5EF4-FFF2-40B4-BE49-F238E27FC236}">
                          <a16:creationId xmlns:a16="http://schemas.microsoft.com/office/drawing/2014/main" id="{58572BC9-D213-90C0-F5D1-302AA4FF34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7940" y="4107527"/>
                      <a:ext cx="245451" cy="24478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sp>
                  <p:nvSpPr>
                    <p:cNvPr id="12" name="직사각형 11">
                      <a:extLst>
                        <a:ext uri="{FF2B5EF4-FFF2-40B4-BE49-F238E27FC236}">
                          <a16:creationId xmlns:a16="http://schemas.microsoft.com/office/drawing/2014/main" id="{9F9BF889-B68C-BEEE-4C49-647D6475E7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9414" y="4352307"/>
                      <a:ext cx="243978" cy="28500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sp>
                  <p:nvSpPr>
                    <p:cNvPr id="19" name="직사각형 18">
                      <a:extLst>
                        <a:ext uri="{FF2B5EF4-FFF2-40B4-BE49-F238E27FC236}">
                          <a16:creationId xmlns:a16="http://schemas.microsoft.com/office/drawing/2014/main" id="{DDECC4C4-672E-94C4-7400-3E439F8294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3394" y="4637314"/>
                      <a:ext cx="105402" cy="26043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sp>
                  <p:nvSpPr>
                    <p:cNvPr id="20" name="직사각형 19">
                      <a:extLst>
                        <a:ext uri="{FF2B5EF4-FFF2-40B4-BE49-F238E27FC236}">
                          <a16:creationId xmlns:a16="http://schemas.microsoft.com/office/drawing/2014/main" id="{1D2CF6EC-A57E-90E0-5EC8-6B8B2E1DBB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3392" y="4902633"/>
                      <a:ext cx="105402" cy="26043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sp>
                  <p:nvSpPr>
                    <p:cNvPr id="26" name="직각 삼각형[R] 25">
                      <a:extLst>
                        <a:ext uri="{FF2B5EF4-FFF2-40B4-BE49-F238E27FC236}">
                          <a16:creationId xmlns:a16="http://schemas.microsoft.com/office/drawing/2014/main" id="{8B5CB595-34C1-E11D-F3EF-0A57C41F82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0197" y="3795977"/>
                      <a:ext cx="1205842" cy="1921775"/>
                    </a:xfrm>
                    <a:prstGeom prst="rtTriangle">
                      <a:avLst/>
                    </a:prstGeom>
                    <a:noFill/>
                    <a:ln w="190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32" name="꺾인 연결선[E] 31">
                      <a:extLst>
                        <a:ext uri="{FF2B5EF4-FFF2-40B4-BE49-F238E27FC236}">
                          <a16:creationId xmlns:a16="http://schemas.microsoft.com/office/drawing/2014/main" id="{023C0972-EC4E-4E4A-3B52-5710B74AAE68}"/>
                        </a:ext>
                      </a:extLst>
                    </p:cNvPr>
                    <p:cNvCxnSpPr>
                      <a:cxnSpLocks/>
                      <a:stCxn id="46" idx="3"/>
                      <a:endCxn id="45" idx="3"/>
                    </p:cNvCxnSpPr>
                    <p:nvPr/>
                  </p:nvCxnSpPr>
                  <p:spPr>
                    <a:xfrm flipV="1">
                      <a:off x="2151412" y="5313526"/>
                      <a:ext cx="2" cy="265319"/>
                    </a:xfrm>
                    <a:prstGeom prst="bentConnector3">
                      <a:avLst>
                        <a:gd name="adj1" fmla="val 11430100000"/>
                      </a:avLst>
                    </a:prstGeom>
                    <a:ln w="19050"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5" name="직사각형 44">
                      <a:extLst>
                        <a:ext uri="{FF2B5EF4-FFF2-40B4-BE49-F238E27FC236}">
                          <a16:creationId xmlns:a16="http://schemas.microsoft.com/office/drawing/2014/main" id="{5EE1A254-1860-A502-FECE-23A02F5BDA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46012" y="5183307"/>
                      <a:ext cx="105402" cy="26043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sp>
                  <p:nvSpPr>
                    <p:cNvPr id="46" name="직사각형 45">
                      <a:extLst>
                        <a:ext uri="{FF2B5EF4-FFF2-40B4-BE49-F238E27FC236}">
                          <a16:creationId xmlns:a16="http://schemas.microsoft.com/office/drawing/2014/main" id="{7A4B9509-4612-A68C-A56D-2564F3A72E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46010" y="5448626"/>
                      <a:ext cx="105402" cy="26043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</p:grpSp>
            </p:grp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7291A2A3-1EFB-B789-33CD-C745B7577A3C}"/>
                    </a:ext>
                  </a:extLst>
                </p:cNvPr>
                <p:cNvSpPr txBox="1"/>
                <p:nvPr/>
              </p:nvSpPr>
              <p:spPr>
                <a:xfrm>
                  <a:off x="2319863" y="4348361"/>
                  <a:ext cx="106961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en-US" altLang="ko-KR" sz="1800" dirty="0"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Swap</a:t>
                  </a:r>
                  <a:endParaRPr lang="ko-KR" altLang="en-US" dirty="0"/>
                </a:p>
              </p:txBody>
            </p:sp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2858E7C-0A3C-91CE-0E4F-8CA89291DEF3}"/>
                  </a:ext>
                </a:extLst>
              </p:cNvPr>
              <p:cNvSpPr txBox="1"/>
              <p:nvPr/>
            </p:nvSpPr>
            <p:spPr>
              <a:xfrm>
                <a:off x="654892" y="5511145"/>
                <a:ext cx="6014467" cy="1061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1800" b="1" dirty="0">
                    <a:solidFill>
                      <a:srgbClr val="C00000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Step 1. Swap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1) pivot=0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이라면 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swap, 1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이라면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그대로</a:t>
                </a:r>
                <a:endParaRPr kumimoji="1"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2) swap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하는 경우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pivot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열의 첫번째 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1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과 교체</a:t>
                </a:r>
                <a:endParaRPr lang="ko-KR" altLang="en-US" dirty="0"/>
              </a:p>
            </p:txBody>
          </p:sp>
        </p:grpSp>
        <p:cxnSp>
          <p:nvCxnSpPr>
            <p:cNvPr id="77" name="꺾인 연결선[E] 76">
              <a:extLst>
                <a:ext uri="{FF2B5EF4-FFF2-40B4-BE49-F238E27FC236}">
                  <a16:creationId xmlns:a16="http://schemas.microsoft.com/office/drawing/2014/main" id="{1D14B908-44F2-EA02-2B65-BC7FFB6E4A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8156" y="3494311"/>
              <a:ext cx="2" cy="265319"/>
            </a:xfrm>
            <a:prstGeom prst="bentConnector3">
              <a:avLst>
                <a:gd name="adj1" fmla="val 1143010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7973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9B09E-6C9A-257A-6D9C-12F077FAC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091C2-96B3-E9BE-C3C2-0B4D2259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Gauss-Jordan Elimination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–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Swap 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최적화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77DC7BBD-4334-81DB-A287-09EABA860EE1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보조 큐비트 </a:t>
                </a:r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ko-KR" sz="2400" b="1" i="1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𝒂𝒏𝒄</m:t>
                    </m:r>
                  </m:oMath>
                </a14:m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)</a:t>
                </a:r>
                <a:r>
                  <a:rPr kumimoji="1" lang="ko-KR" altLang="en-US" sz="2400" b="1" dirty="0" err="1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에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Pivot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400" b="1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</m:ctrlPr>
                      </m:sSubPr>
                      <m:e>
                        <m:r>
                          <a:rPr kumimoji="1" lang="en-US" altLang="ko-KR" sz="2400" b="1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𝑯</m:t>
                        </m:r>
                      </m:e>
                      <m:sub>
                        <m:r>
                          <a:rPr kumimoji="1" lang="en-US" altLang="ko-KR" sz="2400" b="1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𝟎</m:t>
                        </m:r>
                        <m:r>
                          <a:rPr kumimoji="1" lang="en-US" altLang="ko-KR" sz="2400" b="1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,</m:t>
                        </m:r>
                        <m:r>
                          <a:rPr kumimoji="1" lang="en-US" altLang="ko-KR" sz="2400" b="1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)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을 복사하고</a:t>
                </a:r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,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복사된 결과를 다음 복사에 재활용</a:t>
                </a:r>
                <a:endParaRPr kumimoji="1" lang="en-US" altLang="ko-KR" sz="2400" b="1" dirty="0"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Pivot 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값에 따라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swap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연산 수행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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Pivot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복사 시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,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이후 연산 병렬 실행 가능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  <a:sym typeface="Wingdings" pitchFamily="2" charset="2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연산 후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, 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복사된 보조 큐비트는 </a:t>
                </a:r>
                <a:r>
                  <a:rPr kumimoji="1" lang="ko-KR" altLang="en-US" sz="20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언컴퓨트하여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재사용</a:t>
                </a:r>
                <a:endParaRPr kumimoji="1" lang="ko-KR" altLang="en-US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77DC7BBD-4334-81DB-A287-09EABA860E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81" t="-1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F1D505AE-5EE3-CA42-6743-A0DF69E73E15}"/>
              </a:ext>
            </a:extLst>
          </p:cNvPr>
          <p:cNvGrpSpPr/>
          <p:nvPr/>
        </p:nvGrpSpPr>
        <p:grpSpPr>
          <a:xfrm>
            <a:off x="6721998" y="2243354"/>
            <a:ext cx="4648200" cy="2522954"/>
            <a:chOff x="6721998" y="3298802"/>
            <a:chExt cx="4648200" cy="2522954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EE36C1B-4CB0-C8B0-1526-741820C43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1998" y="3298802"/>
              <a:ext cx="4648200" cy="218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2794D21-8F93-E655-9A4F-E95ED51D4691}"/>
                </a:ext>
              </a:extLst>
            </p:cNvPr>
            <p:cNvSpPr txBox="1"/>
            <p:nvPr/>
          </p:nvSpPr>
          <p:spPr>
            <a:xfrm>
              <a:off x="7720415" y="5483202"/>
              <a:ext cx="265136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ko-KR" sz="16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Exponential copy</a:t>
              </a:r>
              <a:endParaRPr lang="ko-KR" altLang="en-US" sz="16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28662F3-7C24-42C7-C743-BF1198167A2E}"/>
              </a:ext>
            </a:extLst>
          </p:cNvPr>
          <p:cNvSpPr txBox="1"/>
          <p:nvPr/>
        </p:nvSpPr>
        <p:spPr>
          <a:xfrm>
            <a:off x="9201142" y="1445684"/>
            <a:ext cx="26513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200" dirty="0">
                <a:solidFill>
                  <a:schemeClr val="bg1">
                    <a:lumMod val="6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Exponential copy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339ED77-7E7F-968E-CA9D-1014794AA960}"/>
              </a:ext>
            </a:extLst>
          </p:cNvPr>
          <p:cNvGrpSpPr/>
          <p:nvPr/>
        </p:nvGrpSpPr>
        <p:grpSpPr>
          <a:xfrm>
            <a:off x="695364" y="2207142"/>
            <a:ext cx="5162227" cy="4673491"/>
            <a:chOff x="695365" y="2009159"/>
            <a:chExt cx="5302544" cy="475554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C064BD7-D002-7594-FC31-FCCCED34DEBD}"/>
                </a:ext>
              </a:extLst>
            </p:cNvPr>
            <p:cNvGrpSpPr/>
            <p:nvPr/>
          </p:nvGrpSpPr>
          <p:grpSpPr>
            <a:xfrm>
              <a:off x="695365" y="2009159"/>
              <a:ext cx="5302544" cy="4755545"/>
              <a:chOff x="3079750" y="1671856"/>
              <a:chExt cx="6032500" cy="5410200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9E7E3D83-0247-4224-0269-59A578239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9750" y="1671856"/>
                <a:ext cx="6032500" cy="5410200"/>
              </a:xfrm>
              <a:prstGeom prst="rect">
                <a:avLst/>
              </a:prstGeom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3E0D6A52-F1AB-53CC-9CB1-96C717C09755}"/>
                  </a:ext>
                </a:extLst>
              </p:cNvPr>
              <p:cNvSpPr/>
              <p:nvPr/>
            </p:nvSpPr>
            <p:spPr>
              <a:xfrm>
                <a:off x="8791662" y="6858000"/>
                <a:ext cx="318782" cy="2223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0810E4-34B9-5328-A96D-4E7BA1A5BF77}"/>
                </a:ext>
              </a:extLst>
            </p:cNvPr>
            <p:cNvSpPr txBox="1"/>
            <p:nvPr/>
          </p:nvSpPr>
          <p:spPr>
            <a:xfrm>
              <a:off x="2452792" y="2219931"/>
              <a:ext cx="893845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dirty="0">
                  <a:solidFill>
                    <a:srgbClr val="424BF8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연산 후 </a:t>
              </a:r>
              <a:r>
                <a:rPr kumimoji="1" lang="ko-KR" altLang="en-US" sz="1400" dirty="0" err="1">
                  <a:solidFill>
                    <a:srgbClr val="424BF8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언컴퓨트</a:t>
              </a:r>
              <a:endParaRPr kumimoji="1" lang="ko-KR" altLang="en-US" sz="1400" dirty="0">
                <a:solidFill>
                  <a:srgbClr val="424BF8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1114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DF667-8138-288C-D162-3CFA5DCFA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46896A-091A-883C-4CAE-F3D01D01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Gauss-Jordan Elimination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–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Swap 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최적화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702C2A53-32BF-1B63-4856-DA4F3DFA9FA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847229" cy="5057775"/>
              </a:xfrm>
            </p:spPr>
            <p:txBody>
              <a:bodyPr>
                <a:noAutofit/>
              </a:bodyPr>
              <a:lstStyle/>
              <a:p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복사한 </a:t>
                </a:r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pivot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들을 사용하여 </a:t>
                </a:r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Controlled swap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을 병렬 수행</a:t>
                </a:r>
                <a:endParaRPr kumimoji="1" lang="en-US" altLang="ko-KR" sz="2400" b="1" dirty="0"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하나의 요소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ko-KR" sz="20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0</m:t>
                    </m:r>
                    <m:r>
                      <a:rPr kumimoji="1" lang="en-US" altLang="ko-KR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kumimoji="1" lang="ko-KR" altLang="en-US" sz="20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 </m:t>
                    </m:r>
                    <m:r>
                      <a:rPr kumimoji="1" lang="en-US" altLang="ko-KR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1</m:t>
                    </m:r>
                  </m:oMath>
                </a14:m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)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만 변경하는 것이 아닌 </a:t>
                </a:r>
                <a:r>
                  <a:rPr kumimoji="1" lang="ko-KR" altLang="en-US" sz="2000" b="1" dirty="0">
                    <a:solidFill>
                      <a:srgbClr val="C00000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행 전체를 변경</a:t>
                </a:r>
                <a:endParaRPr kumimoji="1" lang="en-US" altLang="ko-KR" sz="2000" b="1" dirty="0">
                  <a:solidFill>
                    <a:srgbClr val="C00000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따라서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병렬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swap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대상은 행 전체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/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컨트롤 큐비트는 복사한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pivot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들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marL="0" indent="0">
                  <a:buNone/>
                </a:pPr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해당 단계에서의 </a:t>
                </a:r>
                <a:r>
                  <a:rPr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controlled swap</a:t>
                </a:r>
                <a:r>
                  <a:rPr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은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:r>
                  <a:rPr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Toffoli gate</a:t>
                </a:r>
                <a:r>
                  <a:rPr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로 대체</a:t>
                </a:r>
                <a:r>
                  <a:rPr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가능</a:t>
                </a:r>
                <a:endParaRPr lang="en-US" altLang="ko-KR" sz="2400" b="1" dirty="0"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현재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pivot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을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1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로 세팅하는 것이 핵심이므로 조건부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XOR (=Toffoli)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로 단순화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다음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pivot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은 다음에 세팅하면 되므로 현재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step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에서 고려하지 않음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또한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pivot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이 아닌 다른 원소들은 소거 단계에서 삭제되므로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swap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할 필요 없음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702C2A53-32BF-1B63-4856-DA4F3DFA9F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847229" cy="5057775"/>
              </a:xfrm>
              <a:blipFill>
                <a:blip r:embed="rId3"/>
                <a:stretch>
                  <a:fillRect l="-749" t="-1750" b="-4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그룹 51">
            <a:extLst>
              <a:ext uri="{FF2B5EF4-FFF2-40B4-BE49-F238E27FC236}">
                <a16:creationId xmlns:a16="http://schemas.microsoft.com/office/drawing/2014/main" id="{E67A6555-AE4F-607A-C85E-0A0187609459}"/>
              </a:ext>
            </a:extLst>
          </p:cNvPr>
          <p:cNvGrpSpPr/>
          <p:nvPr/>
        </p:nvGrpSpPr>
        <p:grpSpPr>
          <a:xfrm>
            <a:off x="640493" y="2388969"/>
            <a:ext cx="5380561" cy="2321860"/>
            <a:chOff x="640493" y="2425185"/>
            <a:chExt cx="5380561" cy="2321860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CAA2B939-8A61-5D76-E0D5-007F1D7AE919}"/>
                </a:ext>
              </a:extLst>
            </p:cNvPr>
            <p:cNvGrpSpPr/>
            <p:nvPr/>
          </p:nvGrpSpPr>
          <p:grpSpPr>
            <a:xfrm>
              <a:off x="640493" y="2425185"/>
              <a:ext cx="5380561" cy="2321860"/>
              <a:chOff x="640493" y="2425185"/>
              <a:chExt cx="5380561" cy="2321860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117E5E0-12B0-E5CD-EAEB-450681D9F9C4}"/>
                  </a:ext>
                </a:extLst>
              </p:cNvPr>
              <p:cNvSpPr txBox="1"/>
              <p:nvPr/>
            </p:nvSpPr>
            <p:spPr>
              <a:xfrm>
                <a:off x="3702479" y="3069123"/>
                <a:ext cx="23185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행 단위 병렬 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swap</a:t>
                </a:r>
                <a:endParaRPr kumimoji="1" lang="ko-KR" altLang="en-US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35326575-7E5C-B930-DCFE-554FE1EB7A9B}"/>
                  </a:ext>
                </a:extLst>
              </p:cNvPr>
              <p:cNvGrpSpPr/>
              <p:nvPr/>
            </p:nvGrpSpPr>
            <p:grpSpPr>
              <a:xfrm>
                <a:off x="640493" y="2425185"/>
                <a:ext cx="2781638" cy="2321860"/>
                <a:chOff x="640493" y="2425185"/>
                <a:chExt cx="2781638" cy="2321860"/>
              </a:xfrm>
            </p:grpSpPr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D16F1E98-469F-C2F3-B826-6EB18EE04CEF}"/>
                    </a:ext>
                  </a:extLst>
                </p:cNvPr>
                <p:cNvSpPr/>
                <p:nvPr/>
              </p:nvSpPr>
              <p:spPr>
                <a:xfrm>
                  <a:off x="1810693" y="3005750"/>
                  <a:ext cx="1575303" cy="525101"/>
                </a:xfrm>
                <a:prstGeom prst="rect">
                  <a:avLst/>
                </a:prstGeom>
                <a:solidFill>
                  <a:srgbClr val="FAEDE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  <p:grpSp>
              <p:nvGrpSpPr>
                <p:cNvPr id="34" name="그룹 33">
                  <a:extLst>
                    <a:ext uri="{FF2B5EF4-FFF2-40B4-BE49-F238E27FC236}">
                      <a16:creationId xmlns:a16="http://schemas.microsoft.com/office/drawing/2014/main" id="{26D1886A-E916-5CF3-D596-387AC21BE9B2}"/>
                    </a:ext>
                  </a:extLst>
                </p:cNvPr>
                <p:cNvGrpSpPr/>
                <p:nvPr/>
              </p:nvGrpSpPr>
              <p:grpSpPr>
                <a:xfrm>
                  <a:off x="640493" y="2425185"/>
                  <a:ext cx="2781638" cy="2321860"/>
                  <a:chOff x="495638" y="2316543"/>
                  <a:chExt cx="2781638" cy="2321860"/>
                </a:xfrm>
              </p:grpSpPr>
              <p:grpSp>
                <p:nvGrpSpPr>
                  <p:cNvPr id="28" name="그룹 27">
                    <a:extLst>
                      <a:ext uri="{FF2B5EF4-FFF2-40B4-BE49-F238E27FC236}">
                        <a16:creationId xmlns:a16="http://schemas.microsoft.com/office/drawing/2014/main" id="{E62F222F-C0BB-5430-B8EE-F50AAFE5D82D}"/>
                      </a:ext>
                    </a:extLst>
                  </p:cNvPr>
                  <p:cNvGrpSpPr/>
                  <p:nvPr/>
                </p:nvGrpSpPr>
                <p:grpSpPr>
                  <a:xfrm>
                    <a:off x="1639401" y="2316543"/>
                    <a:ext cx="1246924" cy="2321860"/>
                    <a:chOff x="1304423" y="2271276"/>
                    <a:chExt cx="1246924" cy="2321860"/>
                  </a:xfrm>
                </p:grpSpPr>
                <p:grpSp>
                  <p:nvGrpSpPr>
                    <p:cNvPr id="18" name="그룹 17">
                      <a:extLst>
                        <a:ext uri="{FF2B5EF4-FFF2-40B4-BE49-F238E27FC236}">
                          <a16:creationId xmlns:a16="http://schemas.microsoft.com/office/drawing/2014/main" id="{F932B764-23D6-F1E6-9034-F5071CE9CB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04423" y="2271276"/>
                      <a:ext cx="1246924" cy="2274154"/>
                      <a:chOff x="1440224" y="2805431"/>
                      <a:chExt cx="1246924" cy="2274154"/>
                    </a:xfrm>
                  </p:grpSpPr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6" name="TextBox 15">
                            <a:extLst>
                              <a:ext uri="{FF2B5EF4-FFF2-40B4-BE49-F238E27FC236}">
                                <a16:creationId xmlns:a16="http://schemas.microsoft.com/office/drawing/2014/main" id="{1789318D-079C-54B8-91CE-54F50E021EC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440224" y="3048260"/>
                            <a:ext cx="1189573" cy="2031325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oMath>
                              </m:oMathPara>
                            </a14:m>
                            <a:endParaRPr lang="en-US" altLang="ko-KR" i="1" dirty="0">
                              <a:latin typeface="Cambria Math" panose="02040503050406030204" pitchFamily="18" charset="0"/>
                            </a:endParaRPr>
                          </a:p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r>
                                    <a:rPr lang="en-US" altLang="ko-KR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ko-KR" altLang="en-US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oMath>
                              </m:oMathPara>
                            </a14:m>
                            <a:endParaRPr lang="en-US" altLang="ko-KR" i="1" dirty="0">
                              <a:latin typeface="Cambria Math" panose="02040503050406030204" pitchFamily="18" charset="0"/>
                            </a:endParaRPr>
                          </a:p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ko-KR" altLang="en-US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ko-KR" altLang="en-US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oMath>
                              </m:oMathPara>
                            </a14:m>
                            <a:endParaRPr lang="en-US" altLang="ko-KR" i="1" dirty="0">
                              <a:latin typeface="Cambria Math" panose="02040503050406030204" pitchFamily="18" charset="0"/>
                            </a:endParaRPr>
                          </a:p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1 </m:t>
                                  </m:r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oMath>
                              </m:oMathPara>
                            </a14:m>
                            <a:endParaRPr lang="en-US" altLang="ko-KR" i="1" dirty="0">
                              <a:latin typeface="Cambria Math" panose="02040503050406030204" pitchFamily="18" charset="0"/>
                            </a:endParaRPr>
                          </a:p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oMath>
                              </m:oMathPara>
                            </a14:m>
                            <a:endParaRPr lang="en-US" altLang="ko-KR" i="1" dirty="0">
                              <a:latin typeface="Cambria Math" panose="02040503050406030204" pitchFamily="18" charset="0"/>
                            </a:endParaRPr>
                          </a:p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oMath>
                              </m:oMathPara>
                            </a14:m>
                            <a:endParaRPr lang="en-US" altLang="ko-KR" i="1" dirty="0">
                              <a:latin typeface="Cambria Math" panose="02040503050406030204" pitchFamily="18" charset="0"/>
                            </a:endParaRPr>
                          </a:p>
                          <a:p>
                            <a:endParaRPr lang="en-US" altLang="ko-KR" i="1" dirty="0">
                              <a:latin typeface="Cambria Math" panose="02040503050406030204" pitchFamily="18" charset="0"/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6" name="TextBox 15">
                            <a:extLst>
                              <a:ext uri="{FF2B5EF4-FFF2-40B4-BE49-F238E27FC236}">
                                <a16:creationId xmlns:a16="http://schemas.microsoft.com/office/drawing/2014/main" id="{1789318D-079C-54B8-91CE-54F50E021EC3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1440224" y="3048260"/>
                            <a:ext cx="1189573" cy="2031325"/>
                          </a:xfrm>
                          <a:prstGeom prst="rect">
                            <a:avLst/>
                          </a:prstGeom>
                          <a:blipFill>
                            <a:blip r:embed="rId4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ko-KR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sp>
                    <p:nvSpPr>
                      <p:cNvPr id="17" name="직각 삼각형[R] 16">
                        <a:extLst>
                          <a:ext uri="{FF2B5EF4-FFF2-40B4-BE49-F238E27FC236}">
                            <a16:creationId xmlns:a16="http://schemas.microsoft.com/office/drawing/2014/main" id="{0406BACB-B3F4-2616-80D5-DC555D380B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81306" y="2805431"/>
                        <a:ext cx="1205842" cy="1921775"/>
                      </a:xfrm>
                      <a:prstGeom prst="rtTriangle">
                        <a:avLst/>
                      </a:prstGeom>
                      <a:noFill/>
                      <a:ln w="190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ko-KR" altLang="en-US"/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7" name="TextBox 26">
                          <a:extLst>
                            <a:ext uri="{FF2B5EF4-FFF2-40B4-BE49-F238E27FC236}">
                              <a16:creationId xmlns:a16="http://schemas.microsoft.com/office/drawing/2014/main" id="{8A18BB5C-A5C4-CBF3-D015-FA389B63D0A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629624" y="4223804"/>
                          <a:ext cx="430914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i="1" dirty="0">
                            <a:latin typeface="Cambria Math" panose="020405030504060302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7" name="TextBox 26">
                          <a:extLst>
                            <a:ext uri="{FF2B5EF4-FFF2-40B4-BE49-F238E27FC236}">
                              <a16:creationId xmlns:a16="http://schemas.microsoft.com/office/drawing/2014/main" id="{8A18BB5C-A5C4-CBF3-D015-FA389B63D0AA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629624" y="4223804"/>
                          <a:ext cx="430914" cy="369332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r="-45714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ko-KR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32" name="그룹 31">
                    <a:extLst>
                      <a:ext uri="{FF2B5EF4-FFF2-40B4-BE49-F238E27FC236}">
                        <a16:creationId xmlns:a16="http://schemas.microsoft.com/office/drawing/2014/main" id="{3F020418-02C9-4833-6495-7B3969623BD6}"/>
                      </a:ext>
                    </a:extLst>
                  </p:cNvPr>
                  <p:cNvGrpSpPr/>
                  <p:nvPr/>
                </p:nvGrpSpPr>
                <p:grpSpPr>
                  <a:xfrm>
                    <a:off x="2914352" y="2559372"/>
                    <a:ext cx="362924" cy="2079031"/>
                    <a:chOff x="2968669" y="2514105"/>
                    <a:chExt cx="362924" cy="2079031"/>
                  </a:xfrm>
                </p:grpSpPr>
                <p:grpSp>
                  <p:nvGrpSpPr>
                    <p:cNvPr id="30" name="그룹 29">
                      <a:extLst>
                        <a:ext uri="{FF2B5EF4-FFF2-40B4-BE49-F238E27FC236}">
                          <a16:creationId xmlns:a16="http://schemas.microsoft.com/office/drawing/2014/main" id="{13DD0194-C1AA-6477-DB54-0A22079DD32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68669" y="2514105"/>
                      <a:ext cx="362924" cy="2079031"/>
                      <a:chOff x="2968669" y="2514105"/>
                      <a:chExt cx="362924" cy="2079031"/>
                    </a:xfrm>
                  </p:grpSpPr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24" name="TextBox 23">
                            <a:extLst>
                              <a:ext uri="{FF2B5EF4-FFF2-40B4-BE49-F238E27FC236}">
                                <a16:creationId xmlns:a16="http://schemas.microsoft.com/office/drawing/2014/main" id="{556AEF1E-69F4-C6CB-F88A-044B469294F1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968669" y="2514105"/>
                            <a:ext cx="362924" cy="2031325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oMath>
                              </m:oMathPara>
                            </a14:m>
                            <a:endParaRPr lang="en-US" altLang="ko-KR" i="1" dirty="0">
                              <a:latin typeface="Cambria Math" panose="02040503050406030204" pitchFamily="18" charset="0"/>
                            </a:endParaRPr>
                          </a:p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r>
                                    <a:rPr lang="ko-KR" altLang="en-US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oMath>
                              </m:oMathPara>
                            </a14:m>
                            <a:endParaRPr lang="en-US" altLang="ko-KR" i="1" dirty="0">
                              <a:latin typeface="Cambria Math" panose="02040503050406030204" pitchFamily="18" charset="0"/>
                            </a:endParaRPr>
                          </a:p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oMath>
                              </m:oMathPara>
                            </a14:m>
                            <a:endParaRPr lang="en-US" altLang="ko-KR" i="1" dirty="0">
                              <a:latin typeface="Cambria Math" panose="02040503050406030204" pitchFamily="18" charset="0"/>
                            </a:endParaRPr>
                          </a:p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oMath>
                              </m:oMathPara>
                            </a14:m>
                            <a:endParaRPr lang="en-US" altLang="ko-KR" i="1" dirty="0">
                              <a:latin typeface="Cambria Math" panose="02040503050406030204" pitchFamily="18" charset="0"/>
                            </a:endParaRPr>
                          </a:p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oMath>
                              </m:oMathPara>
                            </a14:m>
                            <a:endParaRPr lang="en-US" altLang="ko-KR" b="0" i="1" dirty="0">
                              <a:latin typeface="Cambria Math" panose="02040503050406030204" pitchFamily="18" charset="0"/>
                            </a:endParaRPr>
                          </a:p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r>
                                    <a:rPr lang="en-US" altLang="ko-KR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oMath>
                              </m:oMathPara>
                            </a14:m>
                            <a:endParaRPr lang="en-US" altLang="ko-KR" i="1" dirty="0">
                              <a:latin typeface="Cambria Math" panose="02040503050406030204" pitchFamily="18" charset="0"/>
                            </a:endParaRPr>
                          </a:p>
                          <a:p>
                            <a:endParaRPr lang="en-US" altLang="ko-KR" i="1" dirty="0">
                              <a:latin typeface="Cambria Math" panose="02040503050406030204" pitchFamily="18" charset="0"/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4" name="TextBox 23">
                            <a:extLst>
                              <a:ext uri="{FF2B5EF4-FFF2-40B4-BE49-F238E27FC236}">
                                <a16:creationId xmlns:a16="http://schemas.microsoft.com/office/drawing/2014/main" id="{556AEF1E-69F4-C6CB-F88A-044B469294F1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968669" y="2514105"/>
                            <a:ext cx="362924" cy="2031325"/>
                          </a:xfrm>
                          <a:prstGeom prst="rect">
                            <a:avLst/>
                          </a:prstGeom>
                          <a:blipFill>
                            <a:blip r:embed="rId6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ko-KR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26" name="TextBox 25">
                            <a:extLst>
                              <a:ext uri="{FF2B5EF4-FFF2-40B4-BE49-F238E27FC236}">
                                <a16:creationId xmlns:a16="http://schemas.microsoft.com/office/drawing/2014/main" id="{890C43A8-03CF-874B-79B6-5BDF8653EEE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968669" y="4223804"/>
                            <a:ext cx="322658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oMath>
                              </m:oMathPara>
                            </a14:m>
                            <a:endParaRPr lang="en-US" altLang="ko-KR" i="1" dirty="0">
                              <a:latin typeface="Cambria Math" panose="02040503050406030204" pitchFamily="18" charset="0"/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6" name="TextBox 25">
                            <a:extLst>
                              <a:ext uri="{FF2B5EF4-FFF2-40B4-BE49-F238E27FC236}">
                                <a16:creationId xmlns:a16="http://schemas.microsoft.com/office/drawing/2014/main" id="{890C43A8-03CF-874B-79B6-5BDF8653EEE6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968669" y="4223804"/>
                            <a:ext cx="322658" cy="369332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ko-KR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sp>
                  <p:nvSpPr>
                    <p:cNvPr id="31" name="직사각형 30">
                      <a:extLst>
                        <a:ext uri="{FF2B5EF4-FFF2-40B4-BE49-F238E27FC236}">
                          <a16:creationId xmlns:a16="http://schemas.microsoft.com/office/drawing/2014/main" id="{D752B7D9-6D4C-E5E5-AF22-6FC26E1A0B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68669" y="2544023"/>
                      <a:ext cx="322658" cy="1649027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571D5236-B4EB-AE22-3141-373A80C4E49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5638" y="3312080"/>
                        <a:ext cx="112975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m:oMathPara>
                        </a14:m>
                        <a:endParaRPr lang="en-US" altLang="ko-KR" i="1" dirty="0">
                          <a:latin typeface="Cambria Math" panose="020405030504060302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571D5236-B4EB-AE22-3141-373A80C4E49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95638" y="3312080"/>
                        <a:ext cx="1129750" cy="369332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1333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38" name="오른쪽 화살표[R] 37">
                <a:extLst>
                  <a:ext uri="{FF2B5EF4-FFF2-40B4-BE49-F238E27FC236}">
                    <a16:creationId xmlns:a16="http://schemas.microsoft.com/office/drawing/2014/main" id="{0E2234D3-E580-4697-A492-7D58600363FF}"/>
                  </a:ext>
                </a:extLst>
              </p:cNvPr>
              <p:cNvSpPr/>
              <p:nvPr/>
            </p:nvSpPr>
            <p:spPr>
              <a:xfrm>
                <a:off x="3465512" y="3120685"/>
                <a:ext cx="263909" cy="235391"/>
              </a:xfrm>
              <a:prstGeom prst="rightArrow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6B64DFD-005A-6A46-1983-31AA41C28922}"/>
                </a:ext>
              </a:extLst>
            </p:cNvPr>
            <p:cNvSpPr txBox="1"/>
            <p:nvPr/>
          </p:nvSpPr>
          <p:spPr>
            <a:xfrm>
              <a:off x="1910014" y="2591571"/>
              <a:ext cx="1334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600" dirty="0">
                  <a:solidFill>
                    <a:srgbClr val="C00000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Pivot = 0</a:t>
              </a:r>
              <a:endParaRPr kumimoji="1" lang="ko-KR" altLang="en-US" sz="1600" dirty="0">
                <a:solidFill>
                  <a:srgbClr val="C0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  <p:cxnSp>
          <p:nvCxnSpPr>
            <p:cNvPr id="42" name="꺾인 연결선[E] 41">
              <a:extLst>
                <a:ext uri="{FF2B5EF4-FFF2-40B4-BE49-F238E27FC236}">
                  <a16:creationId xmlns:a16="http://schemas.microsoft.com/office/drawing/2014/main" id="{E99EDB7F-63F9-06C4-E39B-3FE999F18B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3639" y="3132676"/>
              <a:ext cx="12700" cy="270370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80A74FE-1F5E-8A98-6106-B853A52878B9}"/>
                </a:ext>
              </a:extLst>
            </p:cNvPr>
            <p:cNvSpPr txBox="1"/>
            <p:nvPr/>
          </p:nvSpPr>
          <p:spPr>
            <a:xfrm>
              <a:off x="2292363" y="2992050"/>
              <a:ext cx="8982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ko-KR" sz="14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swap</a:t>
              </a:r>
            </a:p>
            <a:p>
              <a:pPr algn="ctr"/>
              <a:r>
                <a:rPr kumimoji="1" lang="ko-KR" altLang="en-US" sz="14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필요</a:t>
              </a:r>
              <a:endParaRPr lang="ko-KR" altLang="en-US" sz="1400" dirty="0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EFDFB13-4F3D-F33D-EA75-810FEDD1B435}"/>
              </a:ext>
            </a:extLst>
          </p:cNvPr>
          <p:cNvGrpSpPr/>
          <p:nvPr/>
        </p:nvGrpSpPr>
        <p:grpSpPr>
          <a:xfrm>
            <a:off x="9899637" y="1053971"/>
            <a:ext cx="2108200" cy="4930732"/>
            <a:chOff x="9899637" y="1053971"/>
            <a:chExt cx="2108200" cy="4930732"/>
          </a:xfrm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D72DBC83-A335-2D49-5DBE-69DD7EA9B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899637" y="1323803"/>
              <a:ext cx="2108200" cy="466090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CAD19BF-BFA5-90BD-3C53-D6B4450068F5}"/>
                </a:ext>
              </a:extLst>
            </p:cNvPr>
            <p:cNvSpPr txBox="1"/>
            <p:nvPr/>
          </p:nvSpPr>
          <p:spPr>
            <a:xfrm>
              <a:off x="10682711" y="1053971"/>
              <a:ext cx="11516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병렬 연산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7535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F965E-F461-31CA-A247-35BA2F7A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6AD09D-2806-7EC4-6018-7ADF9704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Gauss-Jordan Elimination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–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소거 최적화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D37F6EC1-B7DB-773F-A691-1279EEBB40A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911466" cy="5057775"/>
              </a:xfrm>
            </p:spPr>
            <p:txBody>
              <a:bodyPr>
                <a:noAutofit/>
              </a:bodyPr>
              <a:lstStyle/>
              <a:p>
                <a:r>
                  <a:rPr kumimoji="1"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Elimination:</a:t>
                </a:r>
                <a:r>
                  <a:rPr kumimoji="1"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:r>
                  <a:rPr kumimoji="1"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pivot</a:t>
                </a:r>
                <a:r>
                  <a:rPr kumimoji="1"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제외 원소들을 </a:t>
                </a:r>
                <a:r>
                  <a:rPr kumimoji="1"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0</a:t>
                </a:r>
                <a:r>
                  <a:rPr kumimoji="1"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으로 만들며 행렬을 갱신하는 단계로</a:t>
                </a:r>
                <a:r>
                  <a:rPr kumimoji="1"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,</a:t>
                </a:r>
                <a:r>
                  <a:rPr kumimoji="1"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최대 병목</a:t>
                </a:r>
                <a:endParaRPr kumimoji="1" lang="en-US" altLang="ko-KR" sz="2400" b="1" dirty="0">
                  <a:solidFill>
                    <a:srgbClr val="C0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소거 후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업데이트 된 </a:t>
                </a:r>
                <a14:m>
                  <m:oMath xmlns:m="http://schemas.openxmlformats.org/officeDocument/2006/math">
                    <m:r>
                      <a:rPr kumimoji="1" lang="en-US" altLang="ko-KR" sz="20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𝑠</m:t>
                    </m:r>
                  </m:oMath>
                </a14:m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가 중요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</a:t>
                </a:r>
                <a:r>
                  <a:rPr kumimoji="1" lang="ko-KR" altLang="en-US" sz="20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해밍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웨이트 검사 대상 벡터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)</a:t>
                </a:r>
              </a:p>
              <a:p>
                <a:endParaRPr kumimoji="1"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이전 </a:t>
                </a:r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Swap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단계와 같이</a:t>
                </a:r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,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:r>
                  <a:rPr kumimoji="1"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병렬 연산 가능</a:t>
                </a:r>
                <a:endParaRPr kumimoji="1" lang="en-US" altLang="ko-KR" sz="2400" b="1" dirty="0">
                  <a:solidFill>
                    <a:srgbClr val="C0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Swap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은 행 단위 연산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열에 대한 병렬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)</a:t>
                </a:r>
              </a:p>
              <a:p>
                <a:pPr lvl="1"/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Elimination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은 행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/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열 모두 병렬 가능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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</a:t>
                </a:r>
                <a:r>
                  <a:rPr kumimoji="1" lang="ko-KR" altLang="en-US" sz="20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병렬성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최대화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kumimoji="1"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대신</a:t>
                </a:r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,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병렬 연산을 위한 컨트롤 큐비트 복사 필요</a:t>
                </a:r>
                <a:endParaRPr kumimoji="1" lang="en-US" altLang="ko-KR" sz="2400" b="1" dirty="0"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Pivot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행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/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열 원소들을 복사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많은 보조 큐비트 필요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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</a:t>
                </a:r>
                <a:r>
                  <a:rPr kumimoji="1" lang="ko-KR" altLang="en-US" sz="20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itchFamily="2" charset="2"/>
                  </a:rPr>
                  <a:t>큐비트 최대 사용 구간</a:t>
                </a:r>
                <a:endParaRPr kumimoji="1" lang="en-US" altLang="ko-KR" sz="2000" b="1" dirty="0">
                  <a:solidFill>
                    <a:srgbClr val="C0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해당 보조 큐비트는 </a:t>
                </a:r>
                <a:r>
                  <a:rPr kumimoji="1" lang="ko-KR" altLang="en-US" sz="20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모두 재사용 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가능</a:t>
                </a:r>
                <a:b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</a:b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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오라클 전체에서 보조 큐비트가 필요한 구간에 빌려줌</a:t>
                </a:r>
                <a:b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</a:b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D37F6EC1-B7DB-773F-A691-1279EEBB40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911466" cy="5057775"/>
              </a:xfrm>
              <a:blipFill>
                <a:blip r:embed="rId2"/>
                <a:stretch>
                  <a:fillRect l="-745" t="-1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BE0BE03-138F-316C-4ED7-0099F88CC88F}"/>
              </a:ext>
            </a:extLst>
          </p:cNvPr>
          <p:cNvSpPr txBox="1"/>
          <p:nvPr/>
        </p:nvSpPr>
        <p:spPr>
          <a:xfrm>
            <a:off x="9215205" y="1493822"/>
            <a:ext cx="2761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QISD</a:t>
            </a: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최적화 핵심 모듈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7BEF3A6-08B0-34A4-46EC-4DF9C588243E}"/>
              </a:ext>
            </a:extLst>
          </p:cNvPr>
          <p:cNvGrpSpPr/>
          <p:nvPr/>
        </p:nvGrpSpPr>
        <p:grpSpPr>
          <a:xfrm>
            <a:off x="7542110" y="1800225"/>
            <a:ext cx="4649890" cy="5057775"/>
            <a:chOff x="7542110" y="1800225"/>
            <a:chExt cx="4649890" cy="505777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736D69B-A2B8-1BFB-C4D1-E63397913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2110" y="1800225"/>
              <a:ext cx="4649890" cy="505777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BFFD882-EACD-22E0-4FED-010DDB1A65CD}"/>
                </a:ext>
              </a:extLst>
            </p:cNvPr>
            <p:cNvSpPr txBox="1"/>
            <p:nvPr/>
          </p:nvSpPr>
          <p:spPr>
            <a:xfrm>
              <a:off x="10762635" y="6071825"/>
              <a:ext cx="870192" cy="5141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dirty="0">
                  <a:solidFill>
                    <a:srgbClr val="424BF8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연산 후 </a:t>
              </a:r>
              <a:r>
                <a:rPr kumimoji="1" lang="ko-KR" altLang="en-US" sz="1400" dirty="0" err="1">
                  <a:solidFill>
                    <a:srgbClr val="424BF8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언컴퓨트</a:t>
              </a:r>
              <a:endParaRPr kumimoji="1" lang="ko-KR" altLang="en-US" sz="1400" dirty="0">
                <a:solidFill>
                  <a:srgbClr val="424BF8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BB0F6D-37C7-F160-173C-B1DA33E1F871}"/>
                </a:ext>
              </a:extLst>
            </p:cNvPr>
            <p:cNvSpPr txBox="1"/>
            <p:nvPr/>
          </p:nvSpPr>
          <p:spPr>
            <a:xfrm>
              <a:off x="7695445" y="6067311"/>
              <a:ext cx="1303699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컨트롤 큐비트</a:t>
              </a:r>
              <a:endParaRPr kumimoji="1" lang="en-US" altLang="ko-KR" sz="1400" dirty="0"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  <a:p>
              <a:pPr algn="ctr"/>
              <a:r>
                <a:rPr kumimoji="1" lang="ko-KR" altLang="en-US" sz="1400" dirty="0"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복사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E9FB5A9-D24C-2528-2A4F-01C1FBC1B5CE}"/>
                </a:ext>
              </a:extLst>
            </p:cNvPr>
            <p:cNvSpPr txBox="1"/>
            <p:nvPr/>
          </p:nvSpPr>
          <p:spPr>
            <a:xfrm>
              <a:off x="9215205" y="6175032"/>
              <a:ext cx="130369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dirty="0">
                  <a:solidFill>
                    <a:srgbClr val="FF0000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소거 연산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8577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08E9B-345E-94EE-A419-D3323C40B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31">
            <a:extLst>
              <a:ext uri="{FF2B5EF4-FFF2-40B4-BE49-F238E27FC236}">
                <a16:creationId xmlns:a16="http://schemas.microsoft.com/office/drawing/2014/main" id="{87D22B42-FDDE-9F5A-1C1D-CDBF3E3F060A}"/>
              </a:ext>
            </a:extLst>
          </p:cNvPr>
          <p:cNvGrpSpPr/>
          <p:nvPr/>
        </p:nvGrpSpPr>
        <p:grpSpPr>
          <a:xfrm>
            <a:off x="7902113" y="3623900"/>
            <a:ext cx="4241270" cy="3189911"/>
            <a:chOff x="-926172" y="1483804"/>
            <a:chExt cx="5481079" cy="3848994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FFE2885-D85A-5C7D-4FF8-AC05C3D15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5044" b="17563"/>
            <a:stretch>
              <a:fillRect/>
            </a:stretch>
          </p:blipFill>
          <p:spPr>
            <a:xfrm>
              <a:off x="-926172" y="1483804"/>
              <a:ext cx="5481079" cy="3235963"/>
            </a:xfrm>
            <a:prstGeom prst="rect">
              <a:avLst/>
            </a:prstGeom>
          </p:spPr>
        </p:pic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417D0FE6-B8A4-A009-80C9-C4E653C03561}"/>
                </a:ext>
              </a:extLst>
            </p:cNvPr>
            <p:cNvGrpSpPr/>
            <p:nvPr/>
          </p:nvGrpSpPr>
          <p:grpSpPr>
            <a:xfrm>
              <a:off x="-875044" y="4757170"/>
              <a:ext cx="5378823" cy="575628"/>
              <a:chOff x="-982368" y="5424106"/>
              <a:chExt cx="5378823" cy="575628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0353FD61-1D8B-AFF4-4B68-5EE24B2044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2218" t="92601" r="43665"/>
              <a:stretch>
                <a:fillRect/>
              </a:stretch>
            </p:blipFill>
            <p:spPr>
              <a:xfrm>
                <a:off x="-982368" y="5424106"/>
                <a:ext cx="5378823" cy="290424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7976DA69-B7AF-4D2B-7E06-75651CBA0F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1813" t="92841" r="12599"/>
              <a:stretch>
                <a:fillRect/>
              </a:stretch>
            </p:blipFill>
            <p:spPr>
              <a:xfrm>
                <a:off x="147184" y="5718741"/>
                <a:ext cx="3119717" cy="280993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5C55AF3-974A-BFA4-DC8C-37FE786A9AB0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Autofit/>
              </a:bodyPr>
              <a:lstStyle/>
              <a:p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Swap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단계처럼 </a:t>
                </a:r>
                <a:r>
                  <a:rPr kumimoji="1"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행 단위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로 함께 갱신</a:t>
                </a:r>
                <a:endParaRPr kumimoji="1" lang="en-US" altLang="ko-KR" sz="2400" b="1" dirty="0"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Pivot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아래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1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성분 발견 시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해당 행 원소들을 함께 업데이트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즉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if Pivot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아래 요소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=1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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Pivot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행 </a:t>
                </a:r>
                <a14:m>
                  <m:oMath xmlns:m="http://schemas.openxmlformats.org/officeDocument/2006/math">
                    <m:r>
                      <a:rPr kumimoji="1" lang="ko-KR" altLang="en-US" sz="2000" i="1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⊕</m:t>
                    </m:r>
                  </m:oMath>
                </a14:m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Pivot 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아래 행 수행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marL="0" indent="0">
                  <a:buNone/>
                </a:pPr>
                <a:endParaRPr kumimoji="1"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해당 연산을 </a:t>
                </a:r>
                <a:r>
                  <a:rPr kumimoji="1"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병렬 수행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하기 위해</a:t>
                </a:r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,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:r>
                  <a:rPr kumimoji="1"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Pivot</a:t>
                </a:r>
                <a:r>
                  <a:rPr kumimoji="1"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행과 열 복사</a:t>
                </a:r>
                <a:endParaRPr kumimoji="1" lang="en-US" altLang="ko-KR" sz="2400" b="1" dirty="0">
                  <a:solidFill>
                    <a:srgbClr val="C0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marL="0" indent="0">
                  <a:buNone/>
                </a:pPr>
                <a:endParaRPr kumimoji="1"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오른쪽 그림은 작년 버전의 </a:t>
                </a:r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elimination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구조</a:t>
                </a:r>
                <a:endParaRPr kumimoji="1" lang="en-US" altLang="ko-KR" sz="2400" b="1" dirty="0"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최적 구현을 위해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Pivot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행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/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열은 업데이트 하지 않음</a:t>
                </a:r>
                <a:b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</a:b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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</a:t>
                </a:r>
                <a:r>
                  <a:rPr kumimoji="1" lang="ko-KR" altLang="en-US" sz="2000" b="1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컨트롤로써 연산에 참여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하여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i="1" dirty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𝐻</m:t>
                    </m:r>
                  </m:oMath>
                </a14:m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및 </a:t>
                </a:r>
                <a14:m>
                  <m:oMath xmlns:m="http://schemas.openxmlformats.org/officeDocument/2006/math">
                    <m:r>
                      <a:rPr kumimoji="1" lang="en-US" altLang="ko-KR" sz="2000" i="1" dirty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𝑠</m:t>
                    </m:r>
                  </m:oMath>
                </a14:m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를 갱신하기 위해 사용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그러나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다음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pivot 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연산에 사용되지 않는 </a:t>
                </a:r>
                <a:r>
                  <a:rPr kumimoji="1" lang="en-US" altLang="ko-KR" sz="2000" b="1" dirty="0">
                    <a:solidFill>
                      <a:schemeClr val="accent2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L</a:t>
                </a:r>
                <a:r>
                  <a:rPr kumimoji="1" lang="ko-KR" altLang="en-US" sz="2000" b="1" dirty="0">
                    <a:solidFill>
                      <a:schemeClr val="accent2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이 업데이트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됨</a:t>
                </a:r>
                <a:b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</a:b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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𝑠</m:t>
                    </m:r>
                  </m:oMath>
                </a14:m>
                <a:r>
                  <a:rPr kumimoji="1" lang="ko-KR" altLang="en-US" sz="20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대한 최종 업데이트에 영향을 주므로 포함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해당 방식은</a:t>
                </a:r>
                <a:r>
                  <a:rPr kumimoji="1" lang="ko-KR" altLang="en-US" sz="2000" b="1" dirty="0">
                    <a:solidFill>
                      <a:schemeClr val="accent2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:r>
                  <a:rPr kumimoji="1" lang="en-US" altLang="ko-KR" sz="2000" b="1" dirty="0">
                    <a:solidFill>
                      <a:schemeClr val="accent2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L</a:t>
                </a:r>
                <a:r>
                  <a:rPr kumimoji="1" lang="ko-KR" altLang="en-US" sz="2000" b="1" dirty="0" err="1">
                    <a:solidFill>
                      <a:schemeClr val="accent2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에</a:t>
                </a:r>
                <a:r>
                  <a:rPr kumimoji="1" lang="ko-KR" altLang="en-US" sz="2000" b="1" dirty="0">
                    <a:solidFill>
                      <a:schemeClr val="accent2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대한 보조 </a:t>
                </a:r>
                <a:r>
                  <a:rPr kumimoji="1" lang="ko-KR" altLang="en-US" sz="2000" b="1" dirty="0" err="1">
                    <a:solidFill>
                      <a:schemeClr val="accent2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큐비트</a:t>
                </a:r>
                <a:r>
                  <a:rPr kumimoji="1" lang="ko-KR" altLang="en-US" sz="2000" b="1" dirty="0">
                    <a:solidFill>
                      <a:schemeClr val="accent2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:r>
                  <a:rPr kumimoji="1" lang="en-US" altLang="ko-KR" sz="2000" b="1" dirty="0">
                    <a:solidFill>
                      <a:schemeClr val="accent2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+</a:t>
                </a:r>
                <a:r>
                  <a:rPr kumimoji="1" lang="ko-KR" altLang="en-US" sz="2000" b="1" dirty="0">
                    <a:solidFill>
                      <a:schemeClr val="accent2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:r>
                  <a:rPr kumimoji="1" lang="en-US" altLang="ko-KR" sz="2000" b="1" dirty="0">
                    <a:solidFill>
                      <a:schemeClr val="accent2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Toffoli gate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가 필요</a:t>
                </a: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5C55AF3-974A-BFA4-DC8C-37FE786A9A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4"/>
                <a:stretch>
                  <a:fillRect l="-781" t="-1750"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C282D5F6-8904-7BB4-A736-0CF645F0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Gauss-Jordan Elimination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–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소거 최적화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340FCDA-9C15-B3A1-05F7-96426D893031}"/>
              </a:ext>
            </a:extLst>
          </p:cNvPr>
          <p:cNvGrpSpPr/>
          <p:nvPr/>
        </p:nvGrpSpPr>
        <p:grpSpPr>
          <a:xfrm>
            <a:off x="8380414" y="1152525"/>
            <a:ext cx="3906491" cy="2132821"/>
            <a:chOff x="8609580" y="2490539"/>
            <a:chExt cx="3906491" cy="2132821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E07BBAE-E8D1-D7DF-2FC3-CC20F51984DE}"/>
                </a:ext>
              </a:extLst>
            </p:cNvPr>
            <p:cNvSpPr/>
            <p:nvPr/>
          </p:nvSpPr>
          <p:spPr>
            <a:xfrm>
              <a:off x="9926422" y="2941427"/>
              <a:ext cx="574830" cy="8735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67D6067-086F-BC38-03CF-B485FED32756}"/>
                </a:ext>
              </a:extLst>
            </p:cNvPr>
            <p:cNvSpPr/>
            <p:nvPr/>
          </p:nvSpPr>
          <p:spPr>
            <a:xfrm>
              <a:off x="9926422" y="2611925"/>
              <a:ext cx="574830" cy="267077"/>
            </a:xfrm>
            <a:prstGeom prst="rect">
              <a:avLst/>
            </a:prstGeom>
            <a:solidFill>
              <a:srgbClr val="FAE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EA27ED1-DD73-2A93-D2F8-0E7B940FDB99}"/>
                </a:ext>
              </a:extLst>
            </p:cNvPr>
            <p:cNvSpPr/>
            <p:nvPr/>
          </p:nvSpPr>
          <p:spPr>
            <a:xfrm>
              <a:off x="9718126" y="2941426"/>
              <a:ext cx="195418" cy="8735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3A69781-1F78-9AE9-23AE-B96471BF1309}"/>
                    </a:ext>
                  </a:extLst>
                </p:cNvPr>
                <p:cNvSpPr txBox="1"/>
                <p:nvPr/>
              </p:nvSpPr>
              <p:spPr>
                <a:xfrm>
                  <a:off x="9709841" y="2602872"/>
                  <a:ext cx="809517" cy="123110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ko-KR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ko-KR" alt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ko-KR" alt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ko-KR" alt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ko-KR" sz="20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ko-KR" alt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ko-KR" alt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ko-KR" alt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ko-KR" altLang="en-US" sz="20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ko-KR" alt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ko-KR" alt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ko-KR" alt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ko-KR" altLang="en-US" sz="20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ko-KR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ko-KR" alt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ko-KR" alt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ko-KR" alt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en-US" altLang="ko-KR" sz="20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3A69781-1F78-9AE9-23AE-B96471BF13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9841" y="2602872"/>
                  <a:ext cx="809517" cy="1231106"/>
                </a:xfrm>
                <a:prstGeom prst="rect">
                  <a:avLst/>
                </a:prstGeom>
                <a:blipFill>
                  <a:blip r:embed="rId5"/>
                  <a:stretch>
                    <a:fillRect l="-6154" t="-2041" r="-6154" b="-918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A5B5ABC-41D9-9B13-76D5-46AC5DE4CFD7}"/>
                </a:ext>
              </a:extLst>
            </p:cNvPr>
            <p:cNvSpPr txBox="1"/>
            <p:nvPr/>
          </p:nvSpPr>
          <p:spPr>
            <a:xfrm>
              <a:off x="8609580" y="2602872"/>
              <a:ext cx="1334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600" dirty="0">
                  <a:solidFill>
                    <a:srgbClr val="C00000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Pivot</a:t>
              </a:r>
              <a:r>
                <a:rPr kumimoji="1" lang="ko-KR" altLang="en-US" sz="1600" dirty="0">
                  <a:solidFill>
                    <a:srgbClr val="C00000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 </a:t>
              </a:r>
              <a:r>
                <a:rPr kumimoji="1" lang="en-US" altLang="ko-KR" sz="1600" dirty="0">
                  <a:solidFill>
                    <a:srgbClr val="C00000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  <a:sym typeface="Wingdings" pitchFamily="2" charset="2"/>
                </a:rPr>
                <a:t></a:t>
              </a:r>
              <a:endParaRPr kumimoji="1" lang="ko-KR" altLang="en-US" sz="1600" dirty="0">
                <a:solidFill>
                  <a:srgbClr val="C0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1B8337D0-D14D-DCC4-B428-5F0B050214F0}"/>
                </a:ext>
              </a:extLst>
            </p:cNvPr>
            <p:cNvGrpSpPr/>
            <p:nvPr/>
          </p:nvGrpSpPr>
          <p:grpSpPr>
            <a:xfrm>
              <a:off x="10448846" y="3083941"/>
              <a:ext cx="1471443" cy="584775"/>
              <a:chOff x="10527643" y="3161651"/>
              <a:chExt cx="1471443" cy="58477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689C99-B2BE-8963-F538-11C8BEF242B9}"/>
                  </a:ext>
                </a:extLst>
              </p:cNvPr>
              <p:cNvSpPr txBox="1"/>
              <p:nvPr/>
            </p:nvSpPr>
            <p:spPr>
              <a:xfrm>
                <a:off x="10973999" y="3161651"/>
                <a:ext cx="102508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ko-KR" altLang="en-US" sz="1600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업데이트</a:t>
                </a:r>
                <a:endParaRPr kumimoji="1" lang="en-US" altLang="ko-KR" sz="1600" dirty="0">
                  <a:solidFill>
                    <a:schemeClr val="accent5">
                      <a:lumMod val="75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algn="ctr"/>
                <a:r>
                  <a:rPr kumimoji="1" lang="ko-KR" altLang="en-US" sz="1600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대상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6D237D-8336-1286-F3AD-9293DE67F158}"/>
                  </a:ext>
                </a:extLst>
              </p:cNvPr>
              <p:cNvSpPr txBox="1"/>
              <p:nvPr/>
            </p:nvSpPr>
            <p:spPr>
              <a:xfrm>
                <a:off x="10527643" y="3304862"/>
                <a:ext cx="5616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600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</a:t>
                </a:r>
                <a:r>
                  <a:rPr kumimoji="1" lang="ko-KR" altLang="en-US" sz="1600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</a:t>
                </a:r>
                <a:endParaRPr kumimoji="1" lang="ko-KR" altLang="en-US" sz="1600" dirty="0">
                  <a:solidFill>
                    <a:schemeClr val="accent5">
                      <a:lumMod val="75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9D9294E-6D43-688D-BF6D-85C3D152FF9F}"/>
                </a:ext>
              </a:extLst>
            </p:cNvPr>
            <p:cNvSpPr txBox="1"/>
            <p:nvPr/>
          </p:nvSpPr>
          <p:spPr>
            <a:xfrm>
              <a:off x="10299421" y="2490539"/>
              <a:ext cx="221665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600" dirty="0">
                  <a:solidFill>
                    <a:srgbClr val="EDABA4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연산 데이터</a:t>
              </a:r>
              <a:endParaRPr kumimoji="1" lang="en-US" altLang="ko-KR" sz="1600" dirty="0">
                <a:solidFill>
                  <a:srgbClr val="EDABA4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  <a:p>
              <a:pPr algn="ctr"/>
              <a:r>
                <a:rPr kumimoji="1" lang="en-US" altLang="ko-KR" sz="1400" dirty="0">
                  <a:solidFill>
                    <a:schemeClr val="bg1">
                      <a:lumMod val="65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(Pivot </a:t>
              </a:r>
              <a:r>
                <a:rPr kumimoji="1" lang="ko-KR" altLang="en-US" sz="1400" dirty="0">
                  <a:solidFill>
                    <a:schemeClr val="bg1">
                      <a:lumMod val="65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행</a:t>
              </a:r>
              <a:r>
                <a:rPr kumimoji="1" lang="en-US" altLang="ko-KR" sz="1400" dirty="0">
                  <a:solidFill>
                    <a:schemeClr val="bg1">
                      <a:lumMod val="65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)</a:t>
              </a:r>
              <a:endParaRPr kumimoji="1" lang="ko-KR" altLang="en-US" sz="1400" dirty="0">
                <a:solidFill>
                  <a:schemeClr val="bg1">
                    <a:lumMod val="6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682580C-F552-B414-4856-67136C3D824A}"/>
                </a:ext>
              </a:extLst>
            </p:cNvPr>
            <p:cNvSpPr txBox="1"/>
            <p:nvPr/>
          </p:nvSpPr>
          <p:spPr>
            <a:xfrm>
              <a:off x="10426169" y="2608154"/>
              <a:ext cx="5616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600" dirty="0">
                  <a:solidFill>
                    <a:srgbClr val="EDABA4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  <a:sym typeface="Wingdings" pitchFamily="2" charset="2"/>
                </a:rPr>
                <a:t></a:t>
              </a:r>
              <a:r>
                <a:rPr kumimoji="1" lang="ko-KR" altLang="en-US" sz="1600" dirty="0">
                  <a:solidFill>
                    <a:srgbClr val="C00000"/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  <a:sym typeface="Wingdings" pitchFamily="2" charset="2"/>
                </a:rPr>
                <a:t> </a:t>
              </a:r>
              <a:endParaRPr kumimoji="1" lang="ko-KR" altLang="en-US" sz="1600" dirty="0">
                <a:solidFill>
                  <a:srgbClr val="C0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6343B6-6C32-3965-CDB1-A6CAFB7A7548}"/>
                </a:ext>
              </a:extLst>
            </p:cNvPr>
            <p:cNvSpPr txBox="1"/>
            <p:nvPr/>
          </p:nvSpPr>
          <p:spPr>
            <a:xfrm>
              <a:off x="8888431" y="4069362"/>
              <a:ext cx="186381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600" dirty="0">
                  <a:solidFill>
                    <a:schemeClr val="accent6">
                      <a:lumMod val="75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연산 수행 조건</a:t>
              </a:r>
              <a:endParaRPr kumimoji="1" lang="en-US" altLang="ko-KR" sz="1600" dirty="0">
                <a:solidFill>
                  <a:schemeClr val="accent6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  <a:p>
              <a:pPr algn="ctr"/>
              <a:r>
                <a:rPr kumimoji="1" lang="en-US" altLang="ko-KR" sz="1400" dirty="0">
                  <a:solidFill>
                    <a:schemeClr val="bg1">
                      <a:lumMod val="65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(Pivot </a:t>
              </a:r>
              <a:r>
                <a:rPr kumimoji="1" lang="ko-KR" altLang="en-US" sz="1400" dirty="0">
                  <a:solidFill>
                    <a:schemeClr val="bg1">
                      <a:lumMod val="65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열</a:t>
              </a:r>
              <a:r>
                <a:rPr kumimoji="1" lang="en-US" altLang="ko-KR" sz="1400" dirty="0">
                  <a:solidFill>
                    <a:schemeClr val="bg1">
                      <a:lumMod val="65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)</a:t>
              </a:r>
              <a:endParaRPr kumimoji="1" lang="ko-KR" altLang="en-US" sz="1400" dirty="0">
                <a:solidFill>
                  <a:schemeClr val="bg1">
                    <a:lumMod val="6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F7E4259-8325-9346-A6E9-6A8234AC3033}"/>
                </a:ext>
              </a:extLst>
            </p:cNvPr>
            <p:cNvSpPr txBox="1"/>
            <p:nvPr/>
          </p:nvSpPr>
          <p:spPr>
            <a:xfrm rot="16200000">
              <a:off x="9625981" y="3798353"/>
              <a:ext cx="4275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600" dirty="0">
                  <a:solidFill>
                    <a:schemeClr val="accent6">
                      <a:lumMod val="75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  <a:sym typeface="Wingdings" pitchFamily="2" charset="2"/>
                </a:rPr>
                <a:t></a:t>
              </a:r>
              <a:endParaRPr kumimoji="1" lang="ko-KR" altLang="en-US" sz="1600" dirty="0">
                <a:solidFill>
                  <a:schemeClr val="accent6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672BD79-49DE-49B1-F803-70C109451470}"/>
              </a:ext>
            </a:extLst>
          </p:cNvPr>
          <p:cNvSpPr txBox="1"/>
          <p:nvPr/>
        </p:nvSpPr>
        <p:spPr>
          <a:xfrm>
            <a:off x="3788086" y="2173666"/>
            <a:ext cx="1920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400" dirty="0">
                <a:solidFill>
                  <a:srgbClr val="EDABA4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연산 데이터</a:t>
            </a:r>
            <a:endParaRPr lang="ko-KR" altLang="en-US" sz="1400" dirty="0">
              <a:solidFill>
                <a:srgbClr val="EDABA4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FE1EBB-7C70-A726-93B6-FA982394A9A0}"/>
              </a:ext>
            </a:extLst>
          </p:cNvPr>
          <p:cNvSpPr txBox="1"/>
          <p:nvPr/>
        </p:nvSpPr>
        <p:spPr>
          <a:xfrm>
            <a:off x="1726887" y="2173666"/>
            <a:ext cx="1920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400" dirty="0">
                <a:solidFill>
                  <a:schemeClr val="accent6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업데이트 수행 조건</a:t>
            </a:r>
            <a:endParaRPr lang="ko-KR" alt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7CA0DF-914B-48CD-8486-DA80C56C3EF4}"/>
              </a:ext>
            </a:extLst>
          </p:cNvPr>
          <p:cNvSpPr txBox="1"/>
          <p:nvPr/>
        </p:nvSpPr>
        <p:spPr>
          <a:xfrm>
            <a:off x="5426026" y="2173666"/>
            <a:ext cx="1920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400" dirty="0">
                <a:solidFill>
                  <a:schemeClr val="accent5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업데이트 대상</a:t>
            </a:r>
            <a:endParaRPr lang="ko-KR" alt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682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7D408-8E04-8564-9511-54F450E19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Gauss-Jordan Elimination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–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소거 최적화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6DB7D027-8212-6E46-3A6A-A68562CE2CB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ko-KR" altLang="en-US" sz="2400" b="1" dirty="0">
                    <a:solidFill>
                      <a:srgbClr val="FF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올해 변경 사항</a:t>
                </a:r>
                <a:endParaRPr kumimoji="1" lang="en-US" altLang="ko-KR" sz="2400" b="1" dirty="0">
                  <a:solidFill>
                    <a:srgbClr val="FF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kumimoji="1" lang="ko-KR" altLang="en-US" sz="20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기존 방식은 </a:t>
                </a:r>
                <a:r>
                  <a:rPr kumimoji="1" lang="en-US" altLang="ko-KR" sz="2000" b="1" dirty="0">
                    <a:solidFill>
                      <a:schemeClr val="accent2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L</a:t>
                </a:r>
                <a:r>
                  <a:rPr kumimoji="1" lang="ko-KR" altLang="en-US" sz="2000" b="1" dirty="0">
                    <a:solidFill>
                      <a:schemeClr val="accent2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업데이트</a:t>
                </a:r>
                <a:r>
                  <a:rPr kumimoji="1" lang="ko-KR" altLang="en-US" sz="2000" dirty="0">
                    <a:solidFill>
                      <a:schemeClr val="accent2"/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연산까지 포함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kumimoji="1" lang="ko-KR" altLang="en-US" sz="20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변경 방식은 </a:t>
                </a:r>
                <a:r>
                  <a:rPr kumimoji="1" lang="en-US" altLang="ko-KR" sz="2000" b="1" dirty="0">
                    <a:solidFill>
                      <a:schemeClr val="accent6">
                        <a:lumMod val="75000"/>
                      </a:schemeClr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R</a:t>
                </a:r>
                <a:r>
                  <a:rPr kumimoji="1" lang="ko-KR" altLang="en-US" sz="2000" b="1" dirty="0">
                    <a:solidFill>
                      <a:schemeClr val="accent6">
                        <a:lumMod val="75000"/>
                      </a:schemeClr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업데이트 연산만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수행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다음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pivot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연산에 필요한 부분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)</a:t>
                </a:r>
                <a:endParaRPr kumimoji="1" lang="en-US" altLang="ko-KR" sz="700" dirty="0">
                  <a:latin typeface="Gmarket Sans Medium" panose="02000000000000000000" pitchFamily="2" charset="-128"/>
                  <a:ea typeface="Gmarket Sans Medium" panose="02000000000000000000" pitchFamily="2" charset="-128"/>
                  <a:sym typeface="Wingdings" pitchFamily="2" charset="2"/>
                </a:endParaRPr>
              </a:p>
              <a:p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itchFamily="2" charset="2"/>
                  </a:rPr>
                  <a:t>소거 연산 일부 생략으로 인한 추가 연산이 필요하지만</a:t>
                </a:r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itchFamily="2" charset="2"/>
                  </a:rPr>
                  <a:t>,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400" b="1" i="0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  <a:sym typeface="Wingdings" pitchFamily="2" charset="2"/>
                      </a:rPr>
                      <m:t>𝐬</m:t>
                    </m:r>
                  </m:oMath>
                </a14:m>
                <a:r>
                  <a:rPr kumimoji="1" lang="ko-KR" altLang="en-US" sz="2400" b="1" dirty="0" err="1"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itchFamily="2" charset="2"/>
                  </a:rPr>
                  <a:t>에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itchFamily="2" charset="2"/>
                  </a:rPr>
                  <a:t> 대한 연산이므로 </a:t>
                </a:r>
                <a:r>
                  <a:rPr kumimoji="1"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itchFamily="2" charset="2"/>
                  </a:rPr>
                  <a:t>간단함</a:t>
                </a: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연산량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: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</a:t>
                </a:r>
                <a:r>
                  <a:rPr kumimoji="1" lang="ko-KR" altLang="en-US" sz="2000" b="1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매 </a:t>
                </a:r>
                <a:r>
                  <a:rPr kumimoji="1" lang="en-US" altLang="ko-KR" sz="2000" b="1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pivot</a:t>
                </a:r>
                <a:r>
                  <a:rPr kumimoji="1" lang="ko-KR" altLang="en-US" sz="2000" b="1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에</a:t>
                </a:r>
                <a:r>
                  <a:rPr kumimoji="1" lang="ko-KR" altLang="en-US" sz="2000" b="1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대한 </a:t>
                </a:r>
                <a:r>
                  <a:rPr kumimoji="1" lang="ko-KR" altLang="en-US" sz="2000" b="1" dirty="0">
                    <a:solidFill>
                      <a:schemeClr val="tx1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itchFamily="2" charset="2"/>
                  </a:rPr>
                  <a:t>반복적인 </a:t>
                </a:r>
                <a:r>
                  <a:rPr kumimoji="1" lang="en-US" altLang="ko-KR" sz="2000" b="1" dirty="0">
                    <a:solidFill>
                      <a:schemeClr val="tx1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itchFamily="2" charset="2"/>
                  </a:rPr>
                  <a:t>L </a:t>
                </a:r>
                <a:r>
                  <a:rPr kumimoji="1" lang="ko-KR" altLang="en-US" sz="2000" b="1" dirty="0">
                    <a:solidFill>
                      <a:schemeClr val="tx1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itchFamily="2" charset="2"/>
                  </a:rPr>
                  <a:t>업데이트 </a:t>
                </a:r>
                <a:r>
                  <a:rPr kumimoji="1" lang="en-US" altLang="ko-KR" sz="2000" b="1" dirty="0">
                    <a:solidFill>
                      <a:schemeClr val="tx1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itchFamily="2" charset="2"/>
                  </a:rPr>
                  <a:t>&gt;</a:t>
                </a:r>
                <a:r>
                  <a:rPr kumimoji="1" lang="ko-KR" altLang="en-US" sz="2000" b="1" dirty="0">
                    <a:solidFill>
                      <a:schemeClr val="tx1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Gmarket Sans Medium" panose="02000000000000000000" pitchFamily="2" charset="-128"/>
                        <a:sym typeface="Wingdings" pitchFamily="2" charset="2"/>
                      </a:rPr>
                      <m:t>𝐬</m:t>
                    </m:r>
                  </m:oMath>
                </a14:m>
                <a:r>
                  <a:rPr kumimoji="1" lang="ko-KR" altLang="en-US" sz="2000" b="1" dirty="0">
                    <a:solidFill>
                      <a:schemeClr val="tx1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itchFamily="2" charset="2"/>
                  </a:rPr>
                  <a:t> 보정위한 추가 연산</a:t>
                </a:r>
                <a:endParaRPr kumimoji="1" lang="en-US" altLang="ko-KR" sz="2000" b="1" dirty="0">
                  <a:latin typeface="Gmarket Sans Bold" panose="02000000000000000000" pitchFamily="2" charset="-128"/>
                  <a:ea typeface="Gmarket Sans Bold" panose="02000000000000000000" pitchFamily="2" charset="-128"/>
                  <a:sym typeface="Wingdings" pitchFamily="2" charset="2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큐비트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: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L</a:t>
                </a:r>
                <a:r>
                  <a:rPr kumimoji="1" lang="ko-KR" altLang="en-US" sz="20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에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대한 복사용 </a:t>
                </a:r>
                <a:r>
                  <a:rPr kumimoji="1" lang="ko-KR" altLang="en-US" sz="20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itchFamily="2" charset="2"/>
                  </a:rPr>
                  <a:t>보조 큐비트 불필요</a:t>
                </a:r>
                <a:endParaRPr kumimoji="1" lang="en-US" altLang="ko-KR" sz="2000" b="1" dirty="0">
                  <a:solidFill>
                    <a:srgbClr val="C0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  <a:sym typeface="Wingdings" pitchFamily="2" charset="2"/>
                </a:endParaRPr>
              </a:p>
              <a:p>
                <a:pPr lvl="1"/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회로 깊이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: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i="1" dirty="0">
                        <a:latin typeface="Cambria Math" panose="02040503050406030204" pitchFamily="18" charset="0"/>
                        <a:ea typeface="Gmarket Sans Medium" panose="02000000000000000000" pitchFamily="2" charset="-128"/>
                        <a:sym typeface="Wingdings" pitchFamily="2" charset="2"/>
                      </a:rPr>
                      <m:t>𝑠</m:t>
                    </m:r>
                  </m:oMath>
                </a14:m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itchFamily="2" charset="2"/>
                  </a:rPr>
                  <a:t> 보정 연산만큼 추가</a:t>
                </a:r>
                <a:endParaRPr kumimoji="1" lang="ko-KR" altLang="en-US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6DB7D027-8212-6E46-3A6A-A68562CE2C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781" t="-1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FCD3302F-CAE6-6CD3-A80B-B7A50517F2C5}"/>
              </a:ext>
            </a:extLst>
          </p:cNvPr>
          <p:cNvGrpSpPr/>
          <p:nvPr/>
        </p:nvGrpSpPr>
        <p:grpSpPr>
          <a:xfrm>
            <a:off x="751764" y="3681412"/>
            <a:ext cx="10688471" cy="3072653"/>
            <a:chOff x="-702891" y="1105196"/>
            <a:chExt cx="12192000" cy="3504878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D20C4121-8B1E-EB4C-CE7A-1024CD307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8561"/>
            <a:stretch>
              <a:fillRect/>
            </a:stretch>
          </p:blipFill>
          <p:spPr>
            <a:xfrm>
              <a:off x="-702891" y="1105196"/>
              <a:ext cx="12192000" cy="319678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B9D80B0-5D6F-DFC2-D127-593B745EF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2291" t="93171" r="12378" b="436"/>
            <a:stretch>
              <a:fillRect/>
            </a:stretch>
          </p:blipFill>
          <p:spPr>
            <a:xfrm>
              <a:off x="800938" y="4359114"/>
              <a:ext cx="9184342" cy="2509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3716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263E3-4734-2A4E-0D68-9A57FE1FB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A0062-6677-7993-39F3-24DB7071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Gauss-Jordan Elimination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–</a:t>
            </a:r>
            <a:r>
              <a:rPr kumimoji="1"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소거 최적화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9E9920-674E-A7F1-9F73-E266F537B5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Swap + elimination</a:t>
            </a:r>
            <a:r>
              <a:rPr kumimoji="1" lang="ko-KR" altLang="en-US" sz="2400" b="1" dirty="0" err="1">
                <a:latin typeface="Gmarket Sans Bold" panose="02000000000000000000" pitchFamily="2" charset="-128"/>
                <a:ea typeface="Gmarket Sans Bold" panose="02000000000000000000" pitchFamily="2" charset="-128"/>
              </a:rPr>
              <a:t>에</a:t>
            </a:r>
            <a:r>
              <a:rPr kumimoji="1" lang="ko-KR" altLang="en-US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 대한 양자 리소스 비교</a:t>
            </a:r>
            <a:endParaRPr kumimoji="1" lang="en-US" altLang="ko-KR" sz="2400" b="1" dirty="0"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  <a:p>
            <a:pPr lvl="1"/>
            <a:r>
              <a:rPr kumimoji="1" lang="ko-KR" altLang="en-US" sz="2200" b="1" dirty="0" err="1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큐비트</a:t>
            </a:r>
            <a:r>
              <a:rPr kumimoji="1" lang="ko-KR" altLang="en-US" sz="22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 수 및 </a:t>
            </a:r>
            <a:r>
              <a:rPr kumimoji="1" lang="en-US" altLang="ko-KR" sz="22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T-gate </a:t>
            </a:r>
            <a:r>
              <a:rPr kumimoji="1" lang="ko-KR" altLang="en-US" sz="22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수</a:t>
            </a:r>
            <a:r>
              <a:rPr kumimoji="1" lang="en-US" altLang="ko-KR" sz="2200" b="1" dirty="0">
                <a:solidFill>
                  <a:srgbClr val="C0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:</a:t>
            </a:r>
            <a:r>
              <a:rPr kumimoji="1" lang="ko-KR" altLang="en-US" sz="2200" b="1" dirty="0">
                <a:solidFill>
                  <a:srgbClr val="C0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ko-KR" altLang="en-US" sz="22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약</a:t>
            </a:r>
            <a:r>
              <a:rPr kumimoji="1" lang="ko-KR" altLang="en-US" sz="2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en-US" altLang="ko-KR" sz="22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20% </a:t>
            </a:r>
            <a:r>
              <a:rPr kumimoji="1" lang="ko-KR" altLang="en-US" sz="22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감소</a:t>
            </a:r>
            <a:endParaRPr kumimoji="1" lang="en-US" altLang="ko-KR" sz="2200" b="1" dirty="0">
              <a:solidFill>
                <a:srgbClr val="C00000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  <a:p>
            <a:pPr lvl="1"/>
            <a:r>
              <a:rPr kumimoji="1" lang="ko-KR" altLang="en-US" sz="2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그에 대한 </a:t>
            </a:r>
            <a:r>
              <a:rPr kumimoji="1" lang="en-US" altLang="ko-KR" sz="2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trade-off</a:t>
            </a:r>
            <a:r>
              <a:rPr kumimoji="1" lang="ko-KR" altLang="en-US" sz="22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로 </a:t>
            </a:r>
            <a:r>
              <a:rPr kumimoji="1" lang="en-US" altLang="ko-KR" sz="2200" b="1" dirty="0">
                <a:solidFill>
                  <a:schemeClr val="accent5">
                    <a:lumMod val="75000"/>
                  </a:schemeClr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T-depth, Full-depth</a:t>
            </a:r>
            <a:r>
              <a:rPr kumimoji="1" lang="ko-KR" altLang="en-US" sz="2200" b="1" dirty="0">
                <a:solidFill>
                  <a:schemeClr val="accent5">
                    <a:lumMod val="75000"/>
                  </a:schemeClr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 약 </a:t>
            </a:r>
            <a:r>
              <a:rPr kumimoji="1" lang="en-US" altLang="ko-KR" sz="2200" b="1" dirty="0">
                <a:solidFill>
                  <a:schemeClr val="accent5">
                    <a:lumMod val="75000"/>
                  </a:schemeClr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2% </a:t>
            </a:r>
            <a:r>
              <a:rPr kumimoji="1" lang="ko-KR" altLang="en-US" sz="2200" b="1" dirty="0">
                <a:solidFill>
                  <a:schemeClr val="accent5">
                    <a:lumMod val="75000"/>
                  </a:schemeClr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증가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82F77AFB-8165-A868-2A67-0557EB0C34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7491498"/>
                  </p:ext>
                </p:extLst>
              </p:nvPr>
            </p:nvGraphicFramePr>
            <p:xfrm>
              <a:off x="246700" y="2883490"/>
              <a:ext cx="11698599" cy="20253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1926">
                      <a:extLst>
                        <a:ext uri="{9D8B030D-6E8A-4147-A177-3AD203B41FA5}">
                          <a16:colId xmlns:a16="http://schemas.microsoft.com/office/drawing/2014/main" val="3383755029"/>
                        </a:ext>
                      </a:extLst>
                    </a:gridCol>
                    <a:gridCol w="1311928">
                      <a:extLst>
                        <a:ext uri="{9D8B030D-6E8A-4147-A177-3AD203B41FA5}">
                          <a16:colId xmlns:a16="http://schemas.microsoft.com/office/drawing/2014/main" val="3174495147"/>
                        </a:ext>
                      </a:extLst>
                    </a:gridCol>
                    <a:gridCol w="1805211">
                      <a:extLst>
                        <a:ext uri="{9D8B030D-6E8A-4147-A177-3AD203B41FA5}">
                          <a16:colId xmlns:a16="http://schemas.microsoft.com/office/drawing/2014/main" val="1892821151"/>
                        </a:ext>
                      </a:extLst>
                    </a:gridCol>
                    <a:gridCol w="2340476">
                      <a:extLst>
                        <a:ext uri="{9D8B030D-6E8A-4147-A177-3AD203B41FA5}">
                          <a16:colId xmlns:a16="http://schemas.microsoft.com/office/drawing/2014/main" val="2630515136"/>
                        </a:ext>
                      </a:extLst>
                    </a:gridCol>
                    <a:gridCol w="1899671">
                      <a:extLst>
                        <a:ext uri="{9D8B030D-6E8A-4147-A177-3AD203B41FA5}">
                          <a16:colId xmlns:a16="http://schemas.microsoft.com/office/drawing/2014/main" val="812639784"/>
                        </a:ext>
                      </a:extLst>
                    </a:gridCol>
                    <a:gridCol w="3029387">
                      <a:extLst>
                        <a:ext uri="{9D8B030D-6E8A-4147-A177-3AD203B41FA5}">
                          <a16:colId xmlns:a16="http://schemas.microsoft.com/office/drawing/2014/main" val="23580179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Matrix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Source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#Qubit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Full-depth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5008886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dirty="0" smtClean="0">
                                      <a:latin typeface="Cambria Math" panose="02040503050406030204" pitchFamily="18" charset="0"/>
                                      <a:ea typeface="Gmarket Sans Medium" panose="02000000000000000000" pitchFamily="2" charset="-128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Gmarket Sans Medium" panose="02000000000000000000" pitchFamily="2" charset="-128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Gmarket Sans Medium" panose="02000000000000000000" pitchFamily="2" charset="-128"/>
                                    </a:rPr>
                                    <m:t>𝑘</m:t>
                                  </m:r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Gmarket Sans Medium" panose="02000000000000000000" pitchFamily="2" charset="-128"/>
                                    </a:rPr>
                                    <m:t>,</m:t>
                                  </m:r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Gmarket Sans Medium" panose="02000000000000000000" pitchFamily="2" charset="-128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|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  <a:ea typeface="Gmarket Sans Medium" panose="02000000000000000000" pitchFamily="2" charset="-128"/>
                                </a:rPr>
                                <m:t>𝑠</m:t>
                              </m:r>
                            </m:oMath>
                          </a14:m>
                          <a:endParaRPr lang="en-US" altLang="ko-KR" b="0" i="0" dirty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endParaRPr>
                        </a:p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ko-KR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𝑘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ko-KR" altLang="en-US" sz="120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Gmarket Sans Medium" panose="02000000000000000000" pitchFamily="2" charset="-128"/>
                                        <a:ea typeface="Gmarket Sans Medium" panose="02000000000000000000" pitchFamily="2" charset="-128"/>
                                      </a:rPr>
                                      <m:t>행</m:t>
                                    </m:r>
                                    <m:r>
                                      <a:rPr lang="ko-KR" alt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 </m:t>
                                    </m:r>
                                    <m:r>
                                      <a:rPr lang="en-US" altLang="ko-KR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ko-KR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ko-KR" altLang="en-US" sz="1200" b="0" i="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Gmarket Sans Medium" panose="02000000000000000000" pitchFamily="2" charset="-128"/>
                                        <a:ea typeface="Gmarket Sans Medium" panose="02000000000000000000" pitchFamily="2" charset="-128"/>
                                      </a:rPr>
                                      <m:t>열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작년</a:t>
                          </a:r>
                          <a:endParaRPr lang="en-US" altLang="ko-KR" sz="180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ko-KR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  <m:sSup>
                                      <m:sSupPr>
                                        <m:ctrlPr>
                                          <a:rPr kumimoji="1" lang="en-US" altLang="ko-KR" sz="1800" i="1" kern="12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ko-KR" sz="1800" b="0" i="1" kern="12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kumimoji="1" lang="en-US" altLang="ko-KR" sz="1800" b="0" i="1" kern="12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1"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−11</m:t>
                                    </m:r>
                                    <m:r>
                                      <a:rPr kumimoji="1"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  <m:r>
                                      <a:rPr kumimoji="1"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+6</m:t>
                                    </m:r>
                                  </m:num>
                                  <m:den>
                                    <m:r>
                                      <a:rPr kumimoji="1"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altLang="ko-KR" sz="180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7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𝑘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(5</m:t>
                                    </m:r>
                                    <m:sSup>
                                      <m:sSupPr>
                                        <m:ctrlP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+3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𝑘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−8) </m:t>
                                    </m:r>
                                  </m:num>
                                  <m:den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oMath>
                          </a14:m>
                          <a:r>
                            <a:rPr lang="en-US" altLang="ko-KR" sz="105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1" lang="en-US" altLang="ko-KR" sz="180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18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353</m:t>
                                  </m:r>
                                </m:num>
                                <m:den>
                                  <m:r>
                                    <a:rPr kumimoji="1" lang="en-US" altLang="ko-KR" sz="18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1024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kumimoji="1" lang="en-US" altLang="ko-KR" sz="180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18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kumimoji="1" lang="en-US" altLang="ko-KR" sz="18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kumimoji="1" lang="en-US" altLang="ko-KR" sz="18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</m:oMath>
                          </a14:m>
                          <a:r>
                            <a:rPr kumimoji="1" lang="en-US" altLang="ko-KR" sz="1800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128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en-US" altLang="ko-KR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ko-KR" sz="18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f>
                                <m:f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227</m:t>
                                  </m:r>
                                </m:num>
                                <m:den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kumimoji="1" lang="en-US" altLang="ko-KR" sz="1800" kern="1200" dirty="0">
                            <a:solidFill>
                              <a:schemeClr val="tx1"/>
                            </a:solidFill>
                            <a:latin typeface="+mj-ea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716085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올해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ko-KR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  <m:sSup>
                                      <m:sSupPr>
                                        <m:ctrlPr>
                                          <a:rPr kumimoji="1" lang="en-US" altLang="ko-KR" sz="1800" i="1" kern="12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ko-KR" sz="1800" b="0" i="1" kern="12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kumimoji="1" lang="en-US" altLang="ko-KR" sz="1800" b="0" i="1" kern="12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1"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−5</m:t>
                                    </m:r>
                                    <m:r>
                                      <a:rPr kumimoji="1"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  <m:r>
                                      <a:rPr kumimoji="1"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+4</m:t>
                                    </m:r>
                                  </m:num>
                                  <m:den>
                                    <m:r>
                                      <a:rPr kumimoji="1"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ko-KR" sz="1800" kern="1200" dirty="0">
                            <a:solidFill>
                              <a:schemeClr val="tx1"/>
                            </a:solidFill>
                            <a:latin typeface="+mj-ea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7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𝑘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(2</m:t>
                                    </m:r>
                                    <m:sSup>
                                      <m:sSupPr>
                                        <m:ctrlP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lang="en-US" altLang="ko-KR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+3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𝑘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−5)</m:t>
                                    </m:r>
                                  </m:num>
                                  <m:den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altLang="ko-KR" b="0" dirty="0"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1" lang="en-US" altLang="ko-KR" sz="180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18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349</m:t>
                                  </m:r>
                                </m:num>
                                <m:den>
                                  <m:r>
                                    <a:rPr kumimoji="1" lang="en-US" altLang="ko-KR" sz="18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1024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kumimoji="1" lang="en-US" altLang="ko-KR" sz="180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18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kumimoji="1" lang="en-US" altLang="ko-KR" sz="18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kumimoji="1" lang="en-US" altLang="ko-KR" sz="18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</m:oMath>
                          </a14:m>
                          <a:r>
                            <a:rPr kumimoji="1" lang="en-US" altLang="ko-KR" sz="1800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1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en-US" altLang="ko-KR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ko-KR" sz="18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f>
                                <m:fPr>
                                  <m:ctrlPr>
                                    <a:rPr kumimoji="1"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497</m:t>
                                  </m:r>
                                </m:num>
                                <m:den>
                                  <m:r>
                                    <a:rPr kumimoji="1"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kumimoji="1" lang="en-US" altLang="ko-KR" sz="1800" kern="1200" dirty="0">
                            <a:solidFill>
                              <a:schemeClr val="tx1"/>
                            </a:solidFill>
                            <a:latin typeface="+mj-ea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2241917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~22% </a:t>
                          </a: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감소</a:t>
                          </a:r>
                          <a:endParaRPr lang="en-US" altLang="ko-KR" sz="160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~20% </a:t>
                          </a:r>
                          <a:r>
                            <a:rPr lang="ko-KR" altLang="en-US" sz="16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감소</a:t>
                          </a:r>
                          <a:endParaRPr lang="en-US" altLang="ko-KR" sz="16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i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~1% </a:t>
                          </a:r>
                          <a:r>
                            <a:rPr lang="ko-KR" altLang="en-US" sz="1600" i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증가</a:t>
                          </a:r>
                          <a:endParaRPr lang="en-US" altLang="ko-KR" sz="1600" i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~2% </a:t>
                          </a:r>
                          <a:r>
                            <a:rPr lang="ko-KR" altLang="en-US" sz="1600" i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증가</a:t>
                          </a:r>
                          <a:endParaRPr lang="en-US" altLang="ko-KR" sz="16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30962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82F77AFB-8165-A868-2A67-0557EB0C34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7491498"/>
                  </p:ext>
                </p:extLst>
              </p:nvPr>
            </p:nvGraphicFramePr>
            <p:xfrm>
              <a:off x="246700" y="2883490"/>
              <a:ext cx="11698599" cy="20253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1926">
                      <a:extLst>
                        <a:ext uri="{9D8B030D-6E8A-4147-A177-3AD203B41FA5}">
                          <a16:colId xmlns:a16="http://schemas.microsoft.com/office/drawing/2014/main" val="3383755029"/>
                        </a:ext>
                      </a:extLst>
                    </a:gridCol>
                    <a:gridCol w="1311928">
                      <a:extLst>
                        <a:ext uri="{9D8B030D-6E8A-4147-A177-3AD203B41FA5}">
                          <a16:colId xmlns:a16="http://schemas.microsoft.com/office/drawing/2014/main" val="3174495147"/>
                        </a:ext>
                      </a:extLst>
                    </a:gridCol>
                    <a:gridCol w="1805211">
                      <a:extLst>
                        <a:ext uri="{9D8B030D-6E8A-4147-A177-3AD203B41FA5}">
                          <a16:colId xmlns:a16="http://schemas.microsoft.com/office/drawing/2014/main" val="1892821151"/>
                        </a:ext>
                      </a:extLst>
                    </a:gridCol>
                    <a:gridCol w="2340476">
                      <a:extLst>
                        <a:ext uri="{9D8B030D-6E8A-4147-A177-3AD203B41FA5}">
                          <a16:colId xmlns:a16="http://schemas.microsoft.com/office/drawing/2014/main" val="2630515136"/>
                        </a:ext>
                      </a:extLst>
                    </a:gridCol>
                    <a:gridCol w="1899671">
                      <a:extLst>
                        <a:ext uri="{9D8B030D-6E8A-4147-A177-3AD203B41FA5}">
                          <a16:colId xmlns:a16="http://schemas.microsoft.com/office/drawing/2014/main" val="812639784"/>
                        </a:ext>
                      </a:extLst>
                    </a:gridCol>
                    <a:gridCol w="3029387">
                      <a:extLst>
                        <a:ext uri="{9D8B030D-6E8A-4147-A177-3AD203B41FA5}">
                          <a16:colId xmlns:a16="http://schemas.microsoft.com/office/drawing/2014/main" val="23580179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Matrix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Source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#Qubit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Full-depth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5008886"/>
                      </a:ext>
                    </a:extLst>
                  </a:tr>
                  <a:tr h="641858">
                    <a:tc row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71" t="-23664" r="-796117" b="-3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작년</a:t>
                          </a:r>
                          <a:endParaRPr lang="en-US" altLang="ko-KR" sz="180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6479" t="-60784" r="-404225" b="-1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189" t="-60784" r="-210270" b="-1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9060" t="-60784" r="-161074" b="-1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86192" t="-60784" r="-418" b="-1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160854"/>
                      </a:ext>
                    </a:extLst>
                  </a:tr>
                  <a:tr h="641858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올해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6479" t="-160784" r="-404225" b="-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189" t="-160784" r="-210270" b="-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9060" t="-160784" r="-161074" b="-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86192" t="-160784" r="-418" b="-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41917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~22% </a:t>
                          </a:r>
                          <a:r>
                            <a:rPr lang="ko-KR" altLang="en-US" sz="1600" dirty="0">
                              <a:solidFill>
                                <a:schemeClr val="tx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감소</a:t>
                          </a:r>
                          <a:endParaRPr lang="en-US" altLang="ko-KR" sz="1600" dirty="0">
                            <a:solidFill>
                              <a:schemeClr val="tx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~20% </a:t>
                          </a:r>
                          <a:r>
                            <a:rPr lang="ko-KR" altLang="en-US" sz="16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감소</a:t>
                          </a:r>
                          <a:endParaRPr lang="en-US" altLang="ko-KR" sz="16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i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~1% </a:t>
                          </a:r>
                          <a:r>
                            <a:rPr lang="ko-KR" altLang="en-US" sz="1600" i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증가</a:t>
                          </a:r>
                          <a:endParaRPr lang="en-US" altLang="ko-KR" sz="1600" i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~2% </a:t>
                          </a:r>
                          <a:r>
                            <a:rPr lang="ko-KR" altLang="en-US" sz="1600" i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증가</a:t>
                          </a:r>
                          <a:endParaRPr lang="en-US" altLang="ko-KR" sz="16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30962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F924C0-A213-208F-E83D-FA8563BDCEE4}"/>
                  </a:ext>
                </a:extLst>
              </p:cNvPr>
              <p:cNvSpPr txBox="1"/>
              <p:nvPr/>
            </p:nvSpPr>
            <p:spPr>
              <a:xfrm>
                <a:off x="246700" y="4908886"/>
                <a:ext cx="2321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i="1" dirty="0" smtClean="0">
                          <a:latin typeface="Cambria Math" panose="02040503050406030204" pitchFamily="18" charset="0"/>
                          <a:ea typeface="Gmarket Sans Medium" panose="02000000000000000000" pitchFamily="2" charset="-128"/>
                        </a:rPr>
                        <m:t>𝑘</m:t>
                      </m:r>
                      <m:r>
                        <a:rPr kumimoji="1" lang="en-US" altLang="ko-KR" i="1" dirty="0" smtClean="0">
                          <a:latin typeface="Cambria Math" panose="02040503050406030204" pitchFamily="18" charset="0"/>
                          <a:ea typeface="Gmarket Sans Medium" panose="02000000000000000000" pitchFamily="2" charset="-128"/>
                        </a:rPr>
                        <m:t>=</m:t>
                      </m:r>
                      <m:r>
                        <a:rPr kumimoji="1" lang="en-US" altLang="ko-KR" i="1" dirty="0" smtClean="0">
                          <a:latin typeface="Cambria Math" panose="02040503050406030204" pitchFamily="18" charset="0"/>
                          <a:ea typeface="Gmarket Sans Medium" panose="02000000000000000000" pitchFamily="2" charset="-128"/>
                        </a:rPr>
                        <m:t>𝑛</m:t>
                      </m:r>
                      <m:r>
                        <a:rPr kumimoji="1" lang="en-US" altLang="ko-KR" i="1" dirty="0" smtClean="0">
                          <a:latin typeface="Cambria Math" panose="02040503050406030204" pitchFamily="18" charset="0"/>
                          <a:ea typeface="Gmarket Sans Medium" panose="02000000000000000000" pitchFamily="2" charset="-128"/>
                        </a:rPr>
                        <m:t>/2</m:t>
                      </m:r>
                    </m:oMath>
                  </m:oMathPara>
                </a14:m>
                <a:endParaRPr kumimoji="1"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F924C0-A213-208F-E83D-FA8563BDC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700" y="4908886"/>
                <a:ext cx="2321688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6211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D8EA-9C23-48FA-64A0-FCDB15E65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AE78B8-474D-C0A6-C29F-528BBFD83044}"/>
              </a:ext>
            </a:extLst>
          </p:cNvPr>
          <p:cNvSpPr txBox="1"/>
          <p:nvPr/>
        </p:nvSpPr>
        <p:spPr>
          <a:xfrm>
            <a:off x="2328333" y="1843950"/>
            <a:ext cx="7535333" cy="3170099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r>
              <a:rPr kumimoji="1" lang="en-US" altLang="ko-KR" sz="4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QISD</a:t>
            </a:r>
            <a:r>
              <a:rPr kumimoji="1" lang="ko-KR" altLang="en-US" sz="4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</a:t>
            </a:r>
            <a:r>
              <a:rPr kumimoji="1" lang="ko-KR" altLang="en-US" sz="4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대한 양자 회로 구현</a:t>
            </a:r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endParaRPr kumimoji="1" lang="ko-KR" altLang="en-US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94D58-4979-98E6-202A-1A6EFD95BDE6}"/>
              </a:ext>
            </a:extLst>
          </p:cNvPr>
          <p:cNvSpPr txBox="1"/>
          <p:nvPr/>
        </p:nvSpPr>
        <p:spPr>
          <a:xfrm>
            <a:off x="3756367" y="3787084"/>
            <a:ext cx="4679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Hamming weight</a:t>
            </a:r>
            <a:endParaRPr kumimoji="1" lang="ko-KR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7452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218A8-55AA-4CC5-AB9F-60B8033C6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DA34F-FA97-8F76-7899-9276F2C9E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Hamming weight</a:t>
            </a:r>
            <a:endParaRPr kumimoji="1" lang="ko-KR" altLang="en-US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47187C6C-E353-9CB2-F31F-C759CD3B5E06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702460" cy="5057775"/>
              </a:xfrm>
            </p:spPr>
            <p:txBody>
              <a:bodyPr>
                <a:noAutofit/>
              </a:bodyPr>
              <a:lstStyle/>
              <a:p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Elimination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의 결과 벡터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ko-KR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400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ko-KR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kumimoji="1" lang="en-US" altLang="ko-KR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  <m:sup>
                        <m:r>
                          <a:rPr kumimoji="1" lang="en-US" altLang="ko-KR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kumimoji="1" lang="en-US" altLang="ko-KR" sz="2400" b="1" i="1">
                        <a:latin typeface="Cambria Math" panose="02040503050406030204" pitchFamily="18" charset="0"/>
                      </a:rPr>
                      <m:t>𝒔</m:t>
                    </m:r>
                    <m:r>
                      <a:rPr kumimoji="1" lang="ko-KR" altLang="en-US" sz="2400" b="1" i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</a:t>
                </a:r>
                <a:r>
                  <a:rPr kumimoji="1"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hamming weight </a:t>
                </a:r>
                <a:r>
                  <a:rPr kumimoji="1"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계산</a:t>
                </a:r>
                <a:endParaRPr kumimoji="1" lang="en-US" altLang="ko-KR" sz="2400" b="1" dirty="0">
                  <a:solidFill>
                    <a:srgbClr val="C0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Hamming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weight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만족 시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 ISD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 사용된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를 고르도록 한 </a:t>
                </a:r>
                <a:r>
                  <a:rPr kumimoji="1"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Dicke state</a:t>
                </a: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가 올바른 솔루션</a:t>
                </a:r>
                <a:endParaRPr kumimoji="1" lang="en-US" altLang="ko-KR" sz="1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kumimoji="1"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각 비트를 모두 더하는 연산을 </a:t>
                </a:r>
                <a:r>
                  <a:rPr kumimoji="1"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multi-operand </a:t>
                </a:r>
                <a:r>
                  <a:rPr kumimoji="1"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덧셈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을 통해 </a:t>
                </a:r>
                <a:r>
                  <a:rPr kumimoji="1"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1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번에 수행</a:t>
                </a:r>
                <a:endParaRPr kumimoji="1" lang="en-US" altLang="ko-KR" sz="2400" b="1" dirty="0"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기존 방식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번의 레이어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 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총</a:t>
                </a:r>
                <a14:m>
                  <m:oMath xmlns:m="http://schemas.openxmlformats.org/officeDocument/2006/math">
                    <m:r>
                      <a:rPr kumimoji="1"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번의 덧셈</a:t>
                </a:r>
                <a:endParaRPr kumimoji="1"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>
                  <a:lnSpc>
                    <a:spcPct val="160000"/>
                  </a:lnSpc>
                </a:pPr>
                <a:r>
                  <a:rPr kumimoji="1"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변경 방식 </a:t>
                </a:r>
                <a:endParaRPr kumimoji="1"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2"/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높은 병렬성으로 </a:t>
                </a:r>
                <a:r>
                  <a:rPr kumimoji="1" lang="en-US" altLang="ko-KR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T-depth</a:t>
                </a:r>
                <a:r>
                  <a:rPr kumimoji="1" lang="ko-KR" altLang="en-US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가 낮지만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보조 큐비트 필요</a:t>
                </a:r>
                <a:endParaRPr kumimoji="1" lang="en-US" altLang="ko-KR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2"/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anose="05000000000000000000" pitchFamily="2" charset="2"/>
                  </a:rPr>
                  <a:t>그러나 </a:t>
                </a:r>
                <a:r>
                  <a:rPr kumimoji="1" lang="en-US" altLang="ko-KR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anose="05000000000000000000" pitchFamily="2" charset="2"/>
                  </a:rPr>
                  <a:t>elimination</a:t>
                </a:r>
                <a:r>
                  <a:rPr kumimoji="1" lang="ko-KR" altLang="en-US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anose="05000000000000000000" pitchFamily="2" charset="2"/>
                  </a:rPr>
                  <a:t>의 보조 </a:t>
                </a:r>
                <a:r>
                  <a:rPr kumimoji="1" lang="ko-KR" altLang="en-US" b="1" dirty="0" err="1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anose="05000000000000000000" pitchFamily="2" charset="2"/>
                  </a:rPr>
                  <a:t>큐비트</a:t>
                </a:r>
                <a:r>
                  <a:rPr kumimoji="1" lang="ko-KR" altLang="en-US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  <a:sym typeface="Wingdings" panose="05000000000000000000" pitchFamily="2" charset="2"/>
                  </a:rPr>
                  <a:t> 재사용 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anose="05000000000000000000" pitchFamily="2" charset="2"/>
                  </a:rPr>
                  <a:t>(</a:t>
                </a:r>
                <a:r>
                  <a: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anose="05000000000000000000" pitchFamily="2" charset="2"/>
                  </a:rPr>
                  <a:t>추가 큐비트 없음</a:t>
                </a:r>
                <a:r>
                  <a:rPr kumimoji="1"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  <a:sym typeface="Wingdings" panose="05000000000000000000" pitchFamily="2" charset="2"/>
                  </a:rPr>
                  <a:t>)</a:t>
                </a:r>
                <a:endParaRPr kumimoji="1" lang="en-US" altLang="ko-KR" sz="200" dirty="0">
                  <a:latin typeface="Gmarket Sans Medium" panose="02000000000000000000" pitchFamily="2" charset="-128"/>
                  <a:ea typeface="Gmarket Sans Medium" panose="02000000000000000000" pitchFamily="2" charset="-128"/>
                  <a:sym typeface="Wingdings" panose="05000000000000000000" pitchFamily="2" charset="2"/>
                </a:endParaRPr>
              </a:p>
              <a:p>
                <a:pPr lvl="2"/>
                <a:endParaRPr kumimoji="1"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kumimoji="1"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r>
                  <a:rPr kumimoji="1"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T-depth</a:t>
                </a:r>
                <a:r>
                  <a:rPr kumimoji="1"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가 약 </a:t>
                </a:r>
                <a:r>
                  <a:rPr kumimoji="1"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95%</a:t>
                </a:r>
                <a:r>
                  <a:rPr kumimoji="1"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이상 감소하지만</a:t>
                </a:r>
                <a:r>
                  <a:rPr kumimoji="1"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kumimoji="1"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이는 </a:t>
                </a:r>
                <a:r>
                  <a:rPr kumimoji="1"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오라클 전체에서 볼 때 미미한 영향</a:t>
                </a:r>
                <a:endParaRPr kumimoji="1" lang="en-US" altLang="ko-KR" sz="2400" b="1" dirty="0"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>
                  <a:lnSpc>
                    <a:spcPct val="100000"/>
                  </a:lnSpc>
                </a:pPr>
                <a:endParaRPr kumimoji="1" lang="en-US" altLang="ko-KR" sz="1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47187C6C-E353-9CB2-F31F-C759CD3B5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702460" cy="5057775"/>
              </a:xfrm>
              <a:blipFill>
                <a:blip r:embed="rId2"/>
                <a:stretch>
                  <a:fillRect l="-759" t="-1000" b="-7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그룹 19">
            <a:extLst>
              <a:ext uri="{FF2B5EF4-FFF2-40B4-BE49-F238E27FC236}">
                <a16:creationId xmlns:a16="http://schemas.microsoft.com/office/drawing/2014/main" id="{2FE6D7BE-5008-D680-D7CB-6B26355CDADB}"/>
              </a:ext>
            </a:extLst>
          </p:cNvPr>
          <p:cNvGrpSpPr/>
          <p:nvPr/>
        </p:nvGrpSpPr>
        <p:grpSpPr>
          <a:xfrm>
            <a:off x="6585230" y="3146207"/>
            <a:ext cx="3552360" cy="1445883"/>
            <a:chOff x="6620066" y="2922470"/>
            <a:chExt cx="3552360" cy="1445883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B00BCB59-2801-711D-12CF-A0A3061D507B}"/>
                </a:ext>
              </a:extLst>
            </p:cNvPr>
            <p:cNvGrpSpPr/>
            <p:nvPr/>
          </p:nvGrpSpPr>
          <p:grpSpPr>
            <a:xfrm>
              <a:off x="6620066" y="3205929"/>
              <a:ext cx="3552360" cy="1162424"/>
              <a:chOff x="6233272" y="2564833"/>
              <a:chExt cx="3552360" cy="1162424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7CE7EA96-95DF-9FA1-13E1-7AE8EF70C1E4}"/>
                  </a:ext>
                </a:extLst>
              </p:cNvPr>
              <p:cNvGrpSpPr/>
              <p:nvPr/>
            </p:nvGrpSpPr>
            <p:grpSpPr>
              <a:xfrm>
                <a:off x="6233272" y="2564833"/>
                <a:ext cx="3552360" cy="1162424"/>
                <a:chOff x="7586194" y="2411124"/>
                <a:chExt cx="3552360" cy="1162424"/>
              </a:xfrm>
            </p:grpSpPr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86070DDE-65DE-D092-A9C1-76FFCADA657B}"/>
                    </a:ext>
                  </a:extLst>
                </p:cNvPr>
                <p:cNvGrpSpPr/>
                <p:nvPr/>
              </p:nvGrpSpPr>
              <p:grpSpPr>
                <a:xfrm>
                  <a:off x="7586194" y="2411124"/>
                  <a:ext cx="2407024" cy="1162424"/>
                  <a:chOff x="7980829" y="2814261"/>
                  <a:chExt cx="2407024" cy="1162424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" name="TextBox 3">
                        <a:extLst>
                          <a:ext uri="{FF2B5EF4-FFF2-40B4-BE49-F238E27FC236}">
                            <a16:creationId xmlns:a16="http://schemas.microsoft.com/office/drawing/2014/main" id="{6619E8C2-BC84-C908-76A3-287EBF5D247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80829" y="2814261"/>
                        <a:ext cx="2407024" cy="38536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1" lang="en-US" altLang="ko-KR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kumimoji="1" lang="en-US" altLang="ko-KR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kumimoji="1" lang="en-US" altLang="ko-KR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kumimoji="1" lang="en-US" altLang="ko-KR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kumimoji="1" lang="en-US" altLang="ko-KR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kumimoji="1" lang="en-US" altLang="ko-K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kumimoji="1"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kumimoji="1"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 1 1 0 </m:t>
                              </m:r>
                            </m:oMath>
                          </m:oMathPara>
                        </a14:m>
                        <a:endParaRPr kumimoji="1" lang="en-US" altLang="ko-KR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" name="TextBox 3">
                        <a:extLst>
                          <a:ext uri="{FF2B5EF4-FFF2-40B4-BE49-F238E27FC236}">
                            <a16:creationId xmlns:a16="http://schemas.microsoft.com/office/drawing/2014/main" id="{6619E8C2-BC84-C908-76A3-287EBF5D247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80829" y="2814261"/>
                        <a:ext cx="2407024" cy="385362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14" name="그룹 13">
                    <a:extLst>
                      <a:ext uri="{FF2B5EF4-FFF2-40B4-BE49-F238E27FC236}">
                        <a16:creationId xmlns:a16="http://schemas.microsoft.com/office/drawing/2014/main" id="{A56DFE08-A1D1-C4A1-5CF3-513911FB078E}"/>
                      </a:ext>
                    </a:extLst>
                  </p:cNvPr>
                  <p:cNvGrpSpPr/>
                  <p:nvPr/>
                </p:nvGrpSpPr>
                <p:grpSpPr>
                  <a:xfrm>
                    <a:off x="9263342" y="3151437"/>
                    <a:ext cx="903848" cy="825248"/>
                    <a:chOff x="9263342" y="3151437"/>
                    <a:chExt cx="903848" cy="825248"/>
                  </a:xfrm>
                </p:grpSpPr>
                <p:sp>
                  <p:nvSpPr>
                    <p:cNvPr id="7" name="왼쪽 중괄호 6">
                      <a:extLst>
                        <a:ext uri="{FF2B5EF4-FFF2-40B4-BE49-F238E27FC236}">
                          <a16:creationId xmlns:a16="http://schemas.microsoft.com/office/drawing/2014/main" id="{F6DCFAD3-C82F-ED49-C8CB-1DE9EE83703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9482417" y="3068514"/>
                      <a:ext cx="96371" cy="262217"/>
                    </a:xfrm>
                    <a:prstGeom prst="leftBrace">
                      <a:avLst>
                        <a:gd name="adj1" fmla="val 28101"/>
                        <a:gd name="adj2" fmla="val 50000"/>
                      </a:avLst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8" name="왼쪽 중괄호 7">
                      <a:extLst>
                        <a:ext uri="{FF2B5EF4-FFF2-40B4-BE49-F238E27FC236}">
                          <a16:creationId xmlns:a16="http://schemas.microsoft.com/office/drawing/2014/main" id="{1E3517FF-B730-AA9D-82D2-670E17A7DB7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9847542" y="3068514"/>
                      <a:ext cx="96371" cy="262217"/>
                    </a:xfrm>
                    <a:prstGeom prst="leftBrace">
                      <a:avLst>
                        <a:gd name="adj1" fmla="val 28101"/>
                        <a:gd name="adj2" fmla="val 50000"/>
                      </a:avLst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0" name="TextBox 9">
                          <a:extLst>
                            <a:ext uri="{FF2B5EF4-FFF2-40B4-BE49-F238E27FC236}">
                              <a16:creationId xmlns:a16="http://schemas.microsoft.com/office/drawing/2014/main" id="{F7E9B37D-AB3A-8827-579B-14FE4BA62CA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263342" y="3204216"/>
                          <a:ext cx="542926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p:txBody>
                    </p:sp>
                  </mc:Choice>
                  <mc:Fallback xmlns="">
                    <p:sp>
                      <p:nvSpPr>
                        <p:cNvPr id="10" name="TextBox 9">
                          <a:extLst>
                            <a:ext uri="{FF2B5EF4-FFF2-40B4-BE49-F238E27FC236}">
                              <a16:creationId xmlns:a16="http://schemas.microsoft.com/office/drawing/2014/main" id="{F7E9B37D-AB3A-8827-579B-14FE4BA62CAF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263342" y="3204216"/>
                          <a:ext cx="542926" cy="369332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ko-KR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1" name="TextBox 10">
                          <a:extLst>
                            <a:ext uri="{FF2B5EF4-FFF2-40B4-BE49-F238E27FC236}">
                              <a16:creationId xmlns:a16="http://schemas.microsoft.com/office/drawing/2014/main" id="{A7AEF8CB-1EEF-65B2-DFA7-F4A32FB4ECA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624264" y="3204216"/>
                          <a:ext cx="542926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p:txBody>
                    </p:sp>
                  </mc:Choice>
                  <mc:Fallback xmlns="">
                    <p:sp>
                      <p:nvSpPr>
                        <p:cNvPr id="11" name="TextBox 10">
                          <a:extLst>
                            <a:ext uri="{FF2B5EF4-FFF2-40B4-BE49-F238E27FC236}">
                              <a16:creationId xmlns:a16="http://schemas.microsoft.com/office/drawing/2014/main" id="{A7AEF8CB-1EEF-65B2-DFA7-F4A32FB4ECA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624264" y="3204216"/>
                          <a:ext cx="542926" cy="369332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ko-KR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12" name="왼쪽 중괄호 11">
                      <a:extLst>
                        <a:ext uri="{FF2B5EF4-FFF2-40B4-BE49-F238E27FC236}">
                          <a16:creationId xmlns:a16="http://schemas.microsoft.com/office/drawing/2014/main" id="{449478DB-486C-CCFA-1A92-6385A754672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9646020" y="3334583"/>
                      <a:ext cx="145686" cy="490818"/>
                    </a:xfrm>
                    <a:prstGeom prst="leftBrace">
                      <a:avLst>
                        <a:gd name="adj1" fmla="val 28101"/>
                        <a:gd name="adj2" fmla="val 50000"/>
                      </a:avLst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3" name="TextBox 12">
                          <a:extLst>
                            <a:ext uri="{FF2B5EF4-FFF2-40B4-BE49-F238E27FC236}">
                              <a16:creationId xmlns:a16="http://schemas.microsoft.com/office/drawing/2014/main" id="{F6C21C12-E8C9-2AC8-2017-A43B202E2B2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447400" y="3607353"/>
                          <a:ext cx="542926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p:txBody>
                    </p:sp>
                  </mc:Choice>
                  <mc:Fallback xmlns="">
                    <p:sp>
                      <p:nvSpPr>
                        <p:cNvPr id="13" name="TextBox 12">
                          <a:extLst>
                            <a:ext uri="{FF2B5EF4-FFF2-40B4-BE49-F238E27FC236}">
                              <a16:creationId xmlns:a16="http://schemas.microsoft.com/office/drawing/2014/main" id="{F6C21C12-E8C9-2AC8-2017-A43B202E2B21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447400" y="3607353"/>
                          <a:ext cx="542926" cy="369332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ko-KR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E610755-F9CD-4846-DD28-EC34EE637696}"/>
                    </a:ext>
                  </a:extLst>
                </p:cNvPr>
                <p:cNvSpPr txBox="1"/>
                <p:nvPr/>
              </p:nvSpPr>
              <p:spPr>
                <a:xfrm>
                  <a:off x="9692995" y="2582608"/>
                  <a:ext cx="144555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>
                          <a:lumMod val="65000"/>
                        </a:schemeClr>
                      </a:solidFill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1-qubit</a:t>
                  </a:r>
                  <a:r>
                    <a:rPr lang="ko-KR" altLang="en-US" sz="1600" dirty="0">
                      <a:solidFill>
                        <a:schemeClr val="bg1">
                          <a:lumMod val="65000"/>
                        </a:schemeClr>
                      </a:solidFill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 덧셈</a:t>
                  </a:r>
                  <a:r>
                    <a:rPr lang="en-US" altLang="ko-KR" sz="1600" dirty="0">
                      <a:solidFill>
                        <a:schemeClr val="bg1">
                          <a:lumMod val="65000"/>
                        </a:schemeClr>
                      </a:solidFill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 </a:t>
                  </a:r>
                  <a:endParaRPr lang="ko-KR" altLang="en-US" sz="1600" dirty="0">
                    <a:solidFill>
                      <a:schemeClr val="bg1">
                        <a:lumMod val="6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endParaRP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FA5934E-3E6D-2460-9841-8CC0216263E0}"/>
                    </a:ext>
                  </a:extLst>
                </p:cNvPr>
                <p:cNvSpPr txBox="1"/>
                <p:nvPr/>
              </p:nvSpPr>
              <p:spPr>
                <a:xfrm>
                  <a:off x="9691502" y="2949889"/>
                  <a:ext cx="144555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>
                          <a:lumMod val="65000"/>
                        </a:schemeClr>
                      </a:solidFill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2-qubit</a:t>
                  </a:r>
                  <a:r>
                    <a:rPr lang="ko-KR" altLang="en-US" sz="1600" dirty="0">
                      <a:solidFill>
                        <a:schemeClr val="bg1">
                          <a:lumMod val="65000"/>
                        </a:schemeClr>
                      </a:solidFill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 덧셈</a:t>
                  </a:r>
                  <a:r>
                    <a:rPr lang="en-US" altLang="ko-KR" sz="1600" dirty="0">
                      <a:solidFill>
                        <a:schemeClr val="bg1">
                          <a:lumMod val="65000"/>
                        </a:schemeClr>
                      </a:solidFill>
                      <a:latin typeface="Gmarket Sans Medium" panose="02000000000000000000" pitchFamily="2" charset="-128"/>
                      <a:ea typeface="Gmarket Sans Medium" panose="02000000000000000000" pitchFamily="2" charset="-128"/>
                    </a:rPr>
                    <a:t> </a:t>
                  </a:r>
                  <a:endParaRPr lang="ko-KR" altLang="en-US" sz="1600" dirty="0">
                    <a:solidFill>
                      <a:schemeClr val="bg1">
                        <a:lumMod val="6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438DE2C-F768-A9A3-D2C3-4DF568DBB7F5}"/>
                      </a:ext>
                    </a:extLst>
                  </p:cNvPr>
                  <p:cNvSpPr txBox="1"/>
                  <p:nvPr/>
                </p:nvSpPr>
                <p:spPr>
                  <a:xfrm>
                    <a:off x="8097370" y="3357690"/>
                    <a:ext cx="54292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=3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438DE2C-F768-A9A3-D2C3-4DF568DBB7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7370" y="3357690"/>
                    <a:ext cx="542926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DCE5E5-217E-A3BC-1A3C-3E1FC6AD5633}"/>
                </a:ext>
              </a:extLst>
            </p:cNvPr>
            <p:cNvSpPr txBox="1"/>
            <p:nvPr/>
          </p:nvSpPr>
          <p:spPr>
            <a:xfrm>
              <a:off x="8367849" y="2922470"/>
              <a:ext cx="6689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bg1">
                      <a:lumMod val="65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기존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11A49FE7-801A-3698-2624-4340D9880ADD}"/>
              </a:ext>
            </a:extLst>
          </p:cNvPr>
          <p:cNvGrpSpPr/>
          <p:nvPr/>
        </p:nvGrpSpPr>
        <p:grpSpPr>
          <a:xfrm>
            <a:off x="10108496" y="3142000"/>
            <a:ext cx="2055721" cy="2283150"/>
            <a:chOff x="10282672" y="2918263"/>
            <a:chExt cx="2055721" cy="2283150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5DE500DA-3009-70C1-FDA1-1AF81CEBD790}"/>
                </a:ext>
              </a:extLst>
            </p:cNvPr>
            <p:cNvGrpSpPr/>
            <p:nvPr/>
          </p:nvGrpSpPr>
          <p:grpSpPr>
            <a:xfrm>
              <a:off x="10282672" y="3210045"/>
              <a:ext cx="2055721" cy="1991368"/>
              <a:chOff x="10986433" y="3103598"/>
              <a:chExt cx="2055721" cy="1991368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B30BDF90-C770-FE79-665C-1C167A9B4265}"/>
                  </a:ext>
                </a:extLst>
              </p:cNvPr>
              <p:cNvGrpSpPr/>
              <p:nvPr/>
            </p:nvGrpSpPr>
            <p:grpSpPr>
              <a:xfrm>
                <a:off x="10986433" y="3103598"/>
                <a:ext cx="1220323" cy="1991368"/>
                <a:chOff x="7419972" y="3840211"/>
                <a:chExt cx="1220323" cy="199136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73EF786F-3AEE-D953-C197-36A54FB80D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19972" y="3840211"/>
                      <a:ext cx="122032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1 1 1 0 </m:t>
                            </m:r>
                          </m:oMath>
                        </m:oMathPara>
                      </a14:m>
                      <a:endParaRPr kumimoji="1" lang="en-US" altLang="ko-KR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73EF786F-3AEE-D953-C197-36A54FB80DD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19972" y="3840211"/>
                      <a:ext cx="1220323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4" name="그룹 33">
                  <a:extLst>
                    <a:ext uri="{FF2B5EF4-FFF2-40B4-BE49-F238E27FC236}">
                      <a16:creationId xmlns:a16="http://schemas.microsoft.com/office/drawing/2014/main" id="{D2C5467F-AB47-BEAF-DA88-77FA8F01981E}"/>
                    </a:ext>
                  </a:extLst>
                </p:cNvPr>
                <p:cNvGrpSpPr/>
                <p:nvPr/>
              </p:nvGrpSpPr>
              <p:grpSpPr>
                <a:xfrm>
                  <a:off x="7419973" y="4293423"/>
                  <a:ext cx="999660" cy="1538156"/>
                  <a:chOff x="10084826" y="3373786"/>
                  <a:chExt cx="999660" cy="153815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BCE26967-0EEE-52D4-6D52-EAFEE8920A9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71019" y="3373786"/>
                        <a:ext cx="913467" cy="120032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1"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kumimoji="1" lang="en-US" altLang="ko-KR" b="0" dirty="0">
                          <a:solidFill>
                            <a:schemeClr val="tx1"/>
                          </a:solidFill>
                        </a:endParaRPr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kumimoji="1" lang="en-US" altLang="ko-KR" dirty="0"/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kumimoji="1" lang="en-US" altLang="ko-KR" dirty="0"/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m:oMathPara>
                        </a14:m>
                        <a:endParaRPr kumimoji="1" lang="en-US" altLang="ko-KR" b="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BCE26967-0EEE-52D4-6D52-EAFEE8920A9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171019" y="3373786"/>
                        <a:ext cx="913467" cy="1200329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CCF57B07-2CE7-EC2F-84A9-BB18E700E98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84826" y="4204783"/>
                        <a:ext cx="542926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kumimoji="1" lang="en-US" altLang="ko-KR" b="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CCF57B07-2CE7-EC2F-84A9-BB18E700E98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084826" y="4204783"/>
                        <a:ext cx="542926" cy="369332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1" name="직선 연결선 30">
                    <a:extLst>
                      <a:ext uri="{FF2B5EF4-FFF2-40B4-BE49-F238E27FC236}">
                        <a16:creationId xmlns:a16="http://schemas.microsoft.com/office/drawing/2014/main" id="{56FEC3F8-EDE5-746A-FB0F-BF80EA6E1A94}"/>
                      </a:ext>
                    </a:extLst>
                  </p:cNvPr>
                  <p:cNvCxnSpPr/>
                  <p:nvPr/>
                </p:nvCxnSpPr>
                <p:spPr>
                  <a:xfrm>
                    <a:off x="10171019" y="4549334"/>
                    <a:ext cx="768163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EF4A00F8-3196-5C65-22AD-8CD6F81B5DF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425206" y="4542610"/>
                        <a:ext cx="40509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m:oMathPara>
                        </a14:m>
                        <a:endParaRPr kumimoji="1" lang="en-US" altLang="ko-KR" dirty="0"/>
                      </a:p>
                    </p:txBody>
                  </p:sp>
                </mc:Choice>
                <mc:Fallback xmlns=""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EF4A00F8-3196-5C65-22AD-8CD6F81B5DF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425206" y="4542610"/>
                        <a:ext cx="405092" cy="369332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35" name="왼쪽 중괄호 34">
                  <a:extLst>
                    <a:ext uri="{FF2B5EF4-FFF2-40B4-BE49-F238E27FC236}">
                      <a16:creationId xmlns:a16="http://schemas.microsoft.com/office/drawing/2014/main" id="{99B4D78A-359B-8ECD-F0B5-EFA4158F8135}"/>
                    </a:ext>
                  </a:extLst>
                </p:cNvPr>
                <p:cNvSpPr/>
                <p:nvPr/>
              </p:nvSpPr>
              <p:spPr>
                <a:xfrm rot="16200000">
                  <a:off x="7894180" y="3944835"/>
                  <a:ext cx="123153" cy="574024"/>
                </a:xfrm>
                <a:prstGeom prst="leftBrace">
                  <a:avLst>
                    <a:gd name="adj1" fmla="val 28101"/>
                    <a:gd name="adj2" fmla="val 50000"/>
                  </a:avLst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5B8E78AF-1FF2-92EC-AF62-70F278868E17}"/>
                      </a:ext>
                    </a:extLst>
                  </p:cNvPr>
                  <p:cNvSpPr txBox="1"/>
                  <p:nvPr/>
                </p:nvSpPr>
                <p:spPr>
                  <a:xfrm>
                    <a:off x="11596594" y="3863890"/>
                    <a:ext cx="144556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Gmarket Sans Medium" panose="02000000000000000000" pitchFamily="2" charset="-128"/>
                        <a:ea typeface="Gmarket Sans Medium" panose="02000000000000000000" pitchFamily="2" charset="-128"/>
                      </a:rPr>
                      <a:t>1-qubit</a:t>
                    </a:r>
                    <a:r>
                      <a:rPr lang="ko-KR" alt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Gmarket Sans Medium" panose="02000000000000000000" pitchFamily="2" charset="-128"/>
                        <a:ea typeface="Gmarket Sans Medium" panose="02000000000000000000" pitchFamily="2" charset="-128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altLang="ko-KR" sz="1600" i="1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  <a:r>
                      <a:rPr lang="ko-KR" alt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Gmarket Sans Medium" panose="02000000000000000000" pitchFamily="2" charset="-128"/>
                        <a:ea typeface="Gmarket Sans Medium" panose="02000000000000000000" pitchFamily="2" charset="-128"/>
                      </a:rPr>
                      <a:t>개</a:t>
                    </a:r>
                    <a:endParaRPr lang="en-US" altLang="ko-KR" sz="1600" dirty="0">
                      <a:solidFill>
                        <a:schemeClr val="bg1">
                          <a:lumMod val="65000"/>
                        </a:schemeClr>
                      </a:solidFill>
                      <a:latin typeface="Gmarket Sans Medium" panose="02000000000000000000" pitchFamily="2" charset="-128"/>
                      <a:ea typeface="Gmarket Sans Medium" panose="02000000000000000000" pitchFamily="2" charset="-128"/>
                    </a:endParaRPr>
                  </a:p>
                  <a:p>
                    <a:pPr algn="ctr"/>
                    <a:r>
                      <a:rPr lang="ko-KR" altLang="en-US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Gmarket Sans Medium" panose="02000000000000000000" pitchFamily="2" charset="-128"/>
                        <a:ea typeface="Gmarket Sans Medium" panose="02000000000000000000" pitchFamily="2" charset="-128"/>
                      </a:rPr>
                      <a:t>한번에 덧셈</a:t>
                    </a:r>
                    <a:r>
                      <a:rPr lang="en-US" altLang="ko-KR" sz="1600" dirty="0">
                        <a:solidFill>
                          <a:schemeClr val="bg1">
                            <a:lumMod val="65000"/>
                          </a:schemeClr>
                        </a:solidFill>
                        <a:latin typeface="Gmarket Sans Medium" panose="02000000000000000000" pitchFamily="2" charset="-128"/>
                        <a:ea typeface="Gmarket Sans Medium" panose="02000000000000000000" pitchFamily="2" charset="-128"/>
                      </a:rPr>
                      <a:t> </a:t>
                    </a:r>
                    <a:endParaRPr lang="ko-KR" altLang="en-US" sz="1600" dirty="0">
                      <a:solidFill>
                        <a:schemeClr val="bg1">
                          <a:lumMod val="65000"/>
                        </a:schemeClr>
                      </a:solidFill>
                      <a:latin typeface="Gmarket Sans Medium" panose="02000000000000000000" pitchFamily="2" charset="-128"/>
                      <a:ea typeface="Gmarket Sans Medium" panose="02000000000000000000" pitchFamily="2" charset="-128"/>
                    </a:endParaRPr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5B8E78AF-1FF2-92EC-AF62-70F278868E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96594" y="3863890"/>
                    <a:ext cx="1445560" cy="58477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276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5644E63-11DC-CCA0-7F7F-8B07E4BF23C2}"/>
                </a:ext>
              </a:extLst>
            </p:cNvPr>
            <p:cNvSpPr txBox="1"/>
            <p:nvPr/>
          </p:nvSpPr>
          <p:spPr>
            <a:xfrm>
              <a:off x="10368866" y="2918263"/>
              <a:ext cx="8845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bg1">
                      <a:lumMod val="65000"/>
                    </a:schemeClr>
                  </a:solidFill>
                  <a:latin typeface="Gmarket Sans Medium" panose="02000000000000000000" pitchFamily="2" charset="-128"/>
                  <a:ea typeface="Gmarket Sans Medium" panose="02000000000000000000" pitchFamily="2" charset="-128"/>
                </a:rPr>
                <a:t>변경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1840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D0BA-C5BF-D39D-2BAC-24414ED8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A75361-CBFA-DE80-5341-96DFB9321037}"/>
              </a:ext>
            </a:extLst>
          </p:cNvPr>
          <p:cNvSpPr txBox="1"/>
          <p:nvPr/>
        </p:nvSpPr>
        <p:spPr>
          <a:xfrm>
            <a:off x="2328333" y="1843950"/>
            <a:ext cx="7535333" cy="3170099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r>
              <a:rPr kumimoji="1" lang="en-US" altLang="ko-KR" sz="4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QISD</a:t>
            </a:r>
            <a:r>
              <a:rPr kumimoji="1" lang="ko-KR" altLang="en-US" sz="4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</a:t>
            </a:r>
            <a:r>
              <a:rPr kumimoji="1" lang="ko-KR" altLang="en-US" sz="4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대한 양자 회로 비용</a:t>
            </a:r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endParaRPr kumimoji="1" lang="en-US" altLang="ko-KR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algn="ctr"/>
            <a:endParaRPr kumimoji="1" lang="ko-KR" altLang="en-US" sz="4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A0662-4620-4297-3159-9C5705C976E5}"/>
              </a:ext>
            </a:extLst>
          </p:cNvPr>
          <p:cNvSpPr txBox="1"/>
          <p:nvPr/>
        </p:nvSpPr>
        <p:spPr>
          <a:xfrm>
            <a:off x="3756367" y="3787084"/>
            <a:ext cx="4679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HQC</a:t>
            </a:r>
            <a:r>
              <a:rPr kumimoji="1"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공격 비용 추정</a:t>
            </a:r>
          </a:p>
        </p:txBody>
      </p:sp>
    </p:spTree>
    <p:extLst>
      <p:ext uri="{BB962C8B-B14F-4D97-AF65-F5344CB8AC3E}">
        <p14:creationId xmlns:p14="http://schemas.microsoft.com/office/powerpoint/2010/main" val="4202425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AAF0E-BA59-C859-A337-039AF69FD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QISD</a:t>
            </a:r>
            <a:r>
              <a:rPr lang="ko-KR" altLang="en-US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대한 양자 회로 비용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630D29-38EF-C1C3-7196-32CEF2472F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ko-KR" altLang="en-US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물리적 비용 추정에 중요한 리소스 평가에 초점</a:t>
            </a:r>
            <a:endParaRPr kumimoji="1" lang="en-US" altLang="ko-KR" sz="2400" b="1" dirty="0"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  <a:p>
            <a:pPr lvl="1"/>
            <a:r>
              <a:rPr kumimoji="1"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큐비트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수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kumimoji="1"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T </a:t>
            </a:r>
            <a:r>
              <a:rPr kumimoji="1"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관련 비용</a:t>
            </a:r>
          </a:p>
          <a:p>
            <a:pPr marL="0" indent="0">
              <a:buNone/>
            </a:pP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3F4B4BC6-8B40-2D0D-EFDA-21EF694E38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0579921"/>
                  </p:ext>
                </p:extLst>
              </p:nvPr>
            </p:nvGraphicFramePr>
            <p:xfrm>
              <a:off x="411162" y="2124320"/>
              <a:ext cx="11368161" cy="32012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09227">
                      <a:extLst>
                        <a:ext uri="{9D8B030D-6E8A-4147-A177-3AD203B41FA5}">
                          <a16:colId xmlns:a16="http://schemas.microsoft.com/office/drawing/2014/main" val="2250750789"/>
                        </a:ext>
                      </a:extLst>
                    </a:gridCol>
                    <a:gridCol w="3413760">
                      <a:extLst>
                        <a:ext uri="{9D8B030D-6E8A-4147-A177-3AD203B41FA5}">
                          <a16:colId xmlns:a16="http://schemas.microsoft.com/office/drawing/2014/main" val="3853437579"/>
                        </a:ext>
                      </a:extLst>
                    </a:gridCol>
                    <a:gridCol w="1591493">
                      <a:extLst>
                        <a:ext uri="{9D8B030D-6E8A-4147-A177-3AD203B41FA5}">
                          <a16:colId xmlns:a16="http://schemas.microsoft.com/office/drawing/2014/main" val="2574570653"/>
                        </a:ext>
                      </a:extLst>
                    </a:gridCol>
                    <a:gridCol w="2197598">
                      <a:extLst>
                        <a:ext uri="{9D8B030D-6E8A-4147-A177-3AD203B41FA5}">
                          <a16:colId xmlns:a16="http://schemas.microsoft.com/office/drawing/2014/main" val="3455780419"/>
                        </a:ext>
                      </a:extLst>
                    </a:gridCol>
                    <a:gridCol w="2556083">
                      <a:extLst>
                        <a:ext uri="{9D8B030D-6E8A-4147-A177-3AD203B41FA5}">
                          <a16:colId xmlns:a16="http://schemas.microsoft.com/office/drawing/2014/main" val="3418942482"/>
                        </a:ext>
                      </a:extLst>
                    </a:gridCol>
                  </a:tblGrid>
                  <a:tr h="337127"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Module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#Qubit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7230219"/>
                      </a:ext>
                    </a:extLst>
                  </a:tr>
                  <a:tr h="337127">
                    <a:tc row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Input</a:t>
                          </a:r>
                        </a:p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setting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Public Key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5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altLang="ko-KR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ko-KR" sz="15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extLst>
                      <a:ext uri="{0D108BD9-81ED-4DB2-BD59-A6C34878D82A}">
                        <a16:rowId xmlns:a16="http://schemas.microsoft.com/office/drawing/2014/main" val="2472032210"/>
                      </a:ext>
                    </a:extLst>
                  </a:tr>
                  <a:tr h="567286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Dicke State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altLang="ko-KR" sz="1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5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Sup>
                                    <m:sSubSupPr>
                                      <m:ctrlP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149</m:t>
                                </m:r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149(</m:t>
                                    </m:r>
                                    <m:sSup>
                                      <m:sSupPr>
                                        <m:ctrlPr>
                                          <a:rPr lang="en-US" altLang="ko-KR" sz="1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5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altLang="ko-KR" sz="15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altLang="ko-KR" sz="15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−48</m:t>
                                    </m:r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+12)</m:t>
                                    </m:r>
                                  </m:num>
                                  <m:den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2(</m:t>
                                    </m:r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−4)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extLst>
                      <a:ext uri="{0D108BD9-81ED-4DB2-BD59-A6C34878D82A}">
                        <a16:rowId xmlns:a16="http://schemas.microsoft.com/office/drawing/2014/main" val="4103615713"/>
                      </a:ext>
                    </a:extLst>
                  </a:tr>
                  <a:tr h="511925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600" b="0" dirty="0">
                            <a:latin typeface="+mn-lt"/>
                          </a:endParaRPr>
                        </a:p>
                      </a:txBody>
                      <a:tcPr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Sorting Network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500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500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𝑛𝑙</m:t>
                                    </m:r>
                                    <m:d>
                                      <m:dPr>
                                        <m:ctrlPr>
                                          <a:rPr lang="en-US" altLang="ko-KR" sz="1500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500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1+</m:t>
                                        </m:r>
                                        <m:r>
                                          <a:rPr lang="en-US" altLang="ko-KR" sz="1500" b="0" i="1" dirty="0" smtClean="0">
                                            <a:latin typeface="Cambria Math" panose="02040503050406030204" pitchFamily="18" charset="0"/>
                                            <a:ea typeface="Gmarket Sans Medium" panose="02000000000000000000" pitchFamily="2" charset="-128"/>
                                          </a:rPr>
                                          <m:t>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ko-KR" sz="1500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 </m:t>
                                </m:r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∙(7</m:t>
                                </m:r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+7)</m:t>
                                </m:r>
                              </m:oMath>
                            </m:oMathPara>
                          </a14:m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ko-KR" sz="1500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2</m:t>
                                </m:r>
                                <m:r>
                                  <a:rPr lang="ar-AE" altLang="ko-KR" sz="1500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𝑙</m:t>
                                </m:r>
                                <m:d>
                                  <m:dPr>
                                    <m:ctrlPr>
                                      <a:rPr lang="ar-AE" altLang="ko-KR" sz="1500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altLang="ko-KR" sz="1500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1+</m:t>
                                    </m:r>
                                    <m:r>
                                      <a:rPr lang="ar-AE" altLang="ko-KR" sz="1500" b="0" i="1" dirty="0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𝑙</m:t>
                                    </m:r>
                                  </m:e>
                                </m:d>
                                <m:r>
                                  <a:rPr lang="ar-AE" altLang="ko-KR" sz="1500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+4</m:t>
                                </m:r>
                                <m:r>
                                  <a:rPr lang="ar-AE" altLang="ko-KR" sz="1500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ar-AE" altLang="ko-KR" sz="150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extLst>
                      <a:ext uri="{0D108BD9-81ED-4DB2-BD59-A6C34878D82A}">
                        <a16:rowId xmlns:a16="http://schemas.microsoft.com/office/drawing/2014/main" val="2717760200"/>
                      </a:ext>
                    </a:extLst>
                  </a:tr>
                  <a:tr h="527974"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Oracle</a:t>
                          </a:r>
                        </a:p>
                        <a:p>
                          <a:pPr algn="ctr" latinLnBrk="1"/>
                          <a:r>
                            <a:rPr lang="en-US" altLang="ko-KR" sz="120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(New)</a:t>
                          </a:r>
                          <a:endParaRPr lang="ko-KR" altLang="en-US" sz="120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solidFill>
                                <a:srgbClr val="C00000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Gauss-Jordan Elimination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5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5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5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5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altLang="ko-KR" sz="15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ko-KR" sz="15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ko-KR" sz="15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ko-KR" sz="15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5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ko-KR" sz="15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oMath>
                          </a14:m>
                          <a:endParaRPr lang="ko-KR" altLang="en-US" sz="1500" b="0" dirty="0">
                            <a:solidFill>
                              <a:srgbClr val="C00000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ko-KR" sz="15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ko-KR" sz="15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  <m:sSup>
                                      <m:sSupPr>
                                        <m:ctrlPr>
                                          <a:rPr kumimoji="1" lang="en-US" altLang="ko-KR" sz="1500" i="1" kern="12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ko-KR" sz="1500" b="0" i="1" kern="12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kumimoji="1" lang="en-US" altLang="ko-KR" sz="1500" b="0" i="1" kern="12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1" lang="en-US" altLang="ko-KR" sz="15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−5</m:t>
                                    </m:r>
                                    <m:r>
                                      <a:rPr kumimoji="1" lang="en-US" altLang="ko-KR" sz="15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  <m:r>
                                      <a:rPr kumimoji="1" lang="en-US" altLang="ko-KR" sz="15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+4</m:t>
                                    </m:r>
                                  </m:num>
                                  <m:den>
                                    <m:r>
                                      <a:rPr kumimoji="1" lang="en-US" altLang="ko-KR" sz="15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5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15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lang="en-US" altLang="ko-KR" sz="15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−5)</m:t>
                                    </m:r>
                                  </m:num>
                                  <m:den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ko-KR" sz="15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US" altLang="ko-KR" sz="15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5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altLang="ko-KR" sz="15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1500" i="1"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extLst>
                      <a:ext uri="{0D108BD9-81ED-4DB2-BD59-A6C34878D82A}">
                        <a16:rowId xmlns:a16="http://schemas.microsoft.com/office/drawing/2014/main" val="2492596863"/>
                      </a:ext>
                    </a:extLst>
                  </a:tr>
                  <a:tr h="337127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Hamming Weight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5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ko-KR" sz="15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5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ko-KR" sz="15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oMath>
                          </a14:m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4</m:t>
                                </m:r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𝑘</m:t>
                                </m:r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+16</m:t>
                                </m:r>
                                <m:func>
                                  <m:funcPr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sz="1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50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altLang="ko-KR" sz="15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15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5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</a:rPr>
                                      <m:t>−40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ko-KR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ko-KR" sz="1500" b="0" i="1" dirty="0" smtClean="0">
                                    <a:latin typeface="Cambria Math" panose="02040503050406030204" pitchFamily="18" charset="0"/>
                                    <a:ea typeface="Gmarket Sans Medium" panose="02000000000000000000" pitchFamily="2" charset="-128"/>
                                  </a:rPr>
                                  <m:t>2</m:t>
                                </m:r>
                                <m:func>
                                  <m:funcPr>
                                    <m:ctrlPr>
                                      <a:rPr lang="ar-AE" altLang="ko-KR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ar-AE" altLang="ko-KR" sz="1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50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ar-AE" altLang="ko-KR" sz="15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ar-AE" altLang="ko-KR" sz="15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altLang="ko-KR" sz="15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ar-AE" altLang="ko-KR" sz="15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ar-AE" altLang="ko-KR" sz="150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extLst>
                      <a:ext uri="{0D108BD9-81ED-4DB2-BD59-A6C34878D82A}">
                        <a16:rowId xmlns:a16="http://schemas.microsoft.com/office/drawing/2014/main" val="169269829"/>
                      </a:ext>
                    </a:extLst>
                  </a:tr>
                  <a:tr h="52647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Diffusion</a:t>
                          </a:r>
                        </a:p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operator</a:t>
                          </a:r>
                        </a:p>
                      </a:txBody>
                      <a:tcPr marT="41564" marB="41564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Amplify Dicke State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altLang="ko-KR" sz="1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5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Sup>
                                    <m:sSubSupPr>
                                      <m:ctrlP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ko-KR" sz="15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sz="15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-controlled gate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b="0" dirty="0">
                            <a:latin typeface="+mn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59655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3F4B4BC6-8B40-2D0D-EFDA-21EF694E38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0579921"/>
                  </p:ext>
                </p:extLst>
              </p:nvPr>
            </p:nvGraphicFramePr>
            <p:xfrm>
              <a:off x="411162" y="2124320"/>
              <a:ext cx="11368161" cy="32012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09227">
                      <a:extLst>
                        <a:ext uri="{9D8B030D-6E8A-4147-A177-3AD203B41FA5}">
                          <a16:colId xmlns:a16="http://schemas.microsoft.com/office/drawing/2014/main" val="2250750789"/>
                        </a:ext>
                      </a:extLst>
                    </a:gridCol>
                    <a:gridCol w="3413760">
                      <a:extLst>
                        <a:ext uri="{9D8B030D-6E8A-4147-A177-3AD203B41FA5}">
                          <a16:colId xmlns:a16="http://schemas.microsoft.com/office/drawing/2014/main" val="3853437579"/>
                        </a:ext>
                      </a:extLst>
                    </a:gridCol>
                    <a:gridCol w="1591493">
                      <a:extLst>
                        <a:ext uri="{9D8B030D-6E8A-4147-A177-3AD203B41FA5}">
                          <a16:colId xmlns:a16="http://schemas.microsoft.com/office/drawing/2014/main" val="2574570653"/>
                        </a:ext>
                      </a:extLst>
                    </a:gridCol>
                    <a:gridCol w="2197598">
                      <a:extLst>
                        <a:ext uri="{9D8B030D-6E8A-4147-A177-3AD203B41FA5}">
                          <a16:colId xmlns:a16="http://schemas.microsoft.com/office/drawing/2014/main" val="3455780419"/>
                        </a:ext>
                      </a:extLst>
                    </a:gridCol>
                    <a:gridCol w="2556083">
                      <a:extLst>
                        <a:ext uri="{9D8B030D-6E8A-4147-A177-3AD203B41FA5}">
                          <a16:colId xmlns:a16="http://schemas.microsoft.com/office/drawing/2014/main" val="3418942482"/>
                        </a:ext>
                      </a:extLst>
                    </a:gridCol>
                  </a:tblGrid>
                  <a:tr h="337127"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Module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#Qubit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7230219"/>
                      </a:ext>
                    </a:extLst>
                  </a:tr>
                  <a:tr h="337127">
                    <a:tc row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Input</a:t>
                          </a:r>
                        </a:p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setting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47584" t="-107692" r="-186245" b="-9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317600" t="-107692" r="-300800" b="-9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extLst>
                      <a:ext uri="{0D108BD9-81ED-4DB2-BD59-A6C34878D82A}">
                        <a16:rowId xmlns:a16="http://schemas.microsoft.com/office/drawing/2014/main" val="2472032210"/>
                      </a:ext>
                    </a:extLst>
                  </a:tr>
                  <a:tr h="582429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47584" t="-117391" r="-186245" b="-4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317600" t="-117391" r="-300800" b="-4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300000" t="-117391" r="-116092" b="-4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346269" t="-117391" r="-498" b="-408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3615713"/>
                      </a:ext>
                    </a:extLst>
                  </a:tr>
                  <a:tr h="525279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600" b="0" dirty="0">
                            <a:latin typeface="+mn-lt"/>
                          </a:endParaRPr>
                        </a:p>
                      </a:txBody>
                      <a:tcPr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Sorting Network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300000" t="-238095" r="-116092" b="-3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346269" t="-238095" r="-498" b="-34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7760200"/>
                      </a:ext>
                    </a:extLst>
                  </a:tr>
                  <a:tr h="541852"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Oracle</a:t>
                          </a:r>
                        </a:p>
                        <a:p>
                          <a:pPr algn="ctr" latinLnBrk="1"/>
                          <a:r>
                            <a:rPr lang="en-US" altLang="ko-KR" sz="120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(New)</a:t>
                          </a:r>
                          <a:endParaRPr lang="ko-KR" altLang="en-US" sz="120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47584" t="-330233" r="-186245" b="-239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317600" t="-330233" r="-300800" b="-239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300000" t="-330233" r="-116092" b="-239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346269" t="-330233" r="-498" b="-239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2596863"/>
                      </a:ext>
                    </a:extLst>
                  </a:tr>
                  <a:tr h="337127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47584" t="-711538" r="-186245" b="-29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300000" t="-711538" r="-116092" b="-29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346269" t="-711538" r="-498" b="-29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269829"/>
                      </a:ext>
                    </a:extLst>
                  </a:tr>
                  <a:tr h="54032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Diffusion</a:t>
                          </a:r>
                        </a:p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operator</a:t>
                          </a:r>
                        </a:p>
                      </a:txBody>
                      <a:tcPr marT="41564" marB="41564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47584" t="-490698" r="-186245" b="-7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</a:t>
                          </a:r>
                          <a:endParaRPr lang="ko-KR" altLang="en-US" sz="1500" b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marT="41564" marB="41564" anchor="ctr"/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41564" marB="41564" anchor="ctr">
                        <a:blipFill>
                          <a:blip r:embed="rId2"/>
                          <a:stretch>
                            <a:fillRect l="-139200" t="-490698" r="-267" b="-7907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b="0" dirty="0">
                            <a:latin typeface="+mn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59655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0ED38BB-391D-D82D-F4CD-6EF35F3B0A89}"/>
                  </a:ext>
                </a:extLst>
              </p:cNvPr>
              <p:cNvSpPr txBox="1"/>
              <p:nvPr/>
            </p:nvSpPr>
            <p:spPr>
              <a:xfrm>
                <a:off x="376326" y="5351716"/>
                <a:ext cx="6121783" cy="379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ar-AE" altLang="ko-KR" sz="140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ar-AE" altLang="ko-KR" sz="1400" b="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altLang="ko-KR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ar-AE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ar-AE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altLang="ko-K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altLang="ko-K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ar-AE" altLang="ko-KR" sz="1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 altLang="ko-KR" sz="1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ko-KR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altLang="ko-KR" sz="1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ar-AE" altLang="ko-KR" sz="1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ko-KR" altLang="en-US" sz="1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en-US" altLang="ko-KR" sz="1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lang="ko-KR" altLang="en-US" sz="1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사용한 </a:t>
                </a:r>
                <a:r>
                  <a:rPr lang="en-US" altLang="ko-KR" sz="1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Toffoli decomposition: #T=7, T-depth=4</a:t>
                </a:r>
                <a:endParaRPr lang="ar-AE" sz="1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0ED38BB-391D-D82D-F4CD-6EF35F3B0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26" y="5351716"/>
                <a:ext cx="6121783" cy="379463"/>
              </a:xfrm>
              <a:prstGeom prst="rect">
                <a:avLst/>
              </a:prstGeom>
              <a:blipFill>
                <a:blip r:embed="rId3"/>
                <a:stretch>
                  <a:fillRect r="-828" b="-64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580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57363-F2AD-A45A-C1ED-3A0AA085B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A7002-E19A-0598-F37A-676060C60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HQC</a:t>
            </a:r>
            <a:r>
              <a:rPr lang="ko-KR" altLang="en-US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대한 </a:t>
            </a:r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QISD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비용 추정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33C8E3AB-611C-E6A5-4F36-8B92B616261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658917" cy="5057775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HQC</a:t>
                </a:r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의 </a:t>
                </a:r>
                <a:r>
                  <a:rPr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3</a:t>
                </a:r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가지 파라미터에 대해 </a:t>
                </a:r>
                <a:r>
                  <a:rPr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Grover </a:t>
                </a:r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알고리즘을 사용한 </a:t>
                </a:r>
                <a:r>
                  <a:rPr lang="en-US" altLang="ko-KR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QISD</a:t>
                </a:r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공격 비용 추정</a:t>
                </a:r>
                <a:endParaRPr lang="en-US" altLang="ko-KR" sz="24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400" b="1" i="1" dirty="0" smtClean="0"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𝒏</m:t>
                    </m:r>
                  </m:oMath>
                </a14:m>
                <a:r>
                  <a:rPr lang="ko-KR" altLang="en-US" sz="2400" b="1" dirty="0" err="1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에</a:t>
                </a:r>
                <a:r>
                  <a:rPr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따른 </a:t>
                </a:r>
                <a:r>
                  <a:rPr lang="en-US" altLang="ko-KR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Grover </a:t>
                </a:r>
                <a:r>
                  <a:rPr lang="ko-KR" altLang="en-US" sz="24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반복 횟수와 앞서 구한 오라클 비용을 고려</a:t>
                </a:r>
                <a:endParaRPr lang="en-US" altLang="ko-KR" sz="2400" b="1" dirty="0"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33C8E3AB-611C-E6A5-4F36-8B92B61626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658917" cy="5057775"/>
              </a:xfrm>
              <a:blipFill>
                <a:blip r:embed="rId2"/>
                <a:stretch>
                  <a:fillRect l="-762" t="-1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E1629044-C701-E7AF-5405-FF82EFD5F151}"/>
              </a:ext>
            </a:extLst>
          </p:cNvPr>
          <p:cNvGrpSpPr/>
          <p:nvPr/>
        </p:nvGrpSpPr>
        <p:grpSpPr>
          <a:xfrm>
            <a:off x="973010" y="3204754"/>
            <a:ext cx="10833197" cy="1960518"/>
            <a:chOff x="973010" y="3204754"/>
            <a:chExt cx="10833197" cy="196051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8589C2A-D826-A8A8-9A0C-D999CE8C4516}"/>
                </a:ext>
              </a:extLst>
            </p:cNvPr>
            <p:cNvGrpSpPr/>
            <p:nvPr/>
          </p:nvGrpSpPr>
          <p:grpSpPr>
            <a:xfrm>
              <a:off x="973010" y="3204754"/>
              <a:ext cx="8398603" cy="1960518"/>
              <a:chOff x="6361104" y="4955114"/>
              <a:chExt cx="5474627" cy="1277963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CA7D8558-2B29-16A9-21D0-3999D77BCD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61104" y="4955114"/>
                <a:ext cx="5474627" cy="1277963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33C405C1-0008-04F5-5FD2-AF8531B8F3B9}"/>
                  </a:ext>
                </a:extLst>
              </p:cNvPr>
              <p:cNvSpPr/>
              <p:nvPr/>
            </p:nvSpPr>
            <p:spPr>
              <a:xfrm>
                <a:off x="8771274" y="4984325"/>
                <a:ext cx="654285" cy="959906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9D6F5FC-3279-DFBB-3A84-10C18A281CB8}"/>
                    </a:ext>
                  </a:extLst>
                </p:cNvPr>
                <p:cNvSpPr txBox="1"/>
                <p:nvPr/>
              </p:nvSpPr>
              <p:spPr>
                <a:xfrm>
                  <a:off x="10037669" y="3672703"/>
                  <a:ext cx="686117" cy="372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ko-KR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</m:ctrlPr>
                          </m:sSup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59</m:t>
                            </m:r>
                          </m:sup>
                        </m:sSup>
                      </m:oMath>
                    </m:oMathPara>
                  </a14:m>
                  <a:endPara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9D6F5FC-3279-DFBB-3A84-10C18A281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7669" y="3672703"/>
                  <a:ext cx="686117" cy="3724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FE7290-21B2-EF4B-D7C9-E20F339C30CB}"/>
                </a:ext>
              </a:extLst>
            </p:cNvPr>
            <p:cNvSpPr txBox="1"/>
            <p:nvPr/>
          </p:nvSpPr>
          <p:spPr>
            <a:xfrm>
              <a:off x="9064641" y="3251117"/>
              <a:ext cx="27415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ko-KR" b="1" dirty="0">
                  <a:solidFill>
                    <a:srgbClr val="C0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  <a:sym typeface="Wingdings" pitchFamily="2" charset="2"/>
                </a:rPr>
                <a:t>Grover </a:t>
              </a:r>
              <a:r>
                <a:rPr kumimoji="1" lang="ko-KR" altLang="en-US" b="1" dirty="0">
                  <a:solidFill>
                    <a:srgbClr val="C0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  <a:sym typeface="Wingdings" pitchFamily="2" charset="2"/>
                </a:rPr>
                <a:t>반복 횟수</a:t>
              </a:r>
              <a:endParaRPr lang="ko-KR" altLang="en-US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A19B320-7140-CD28-72C2-DF941733B352}"/>
                    </a:ext>
                  </a:extLst>
                </p:cNvPr>
                <p:cNvSpPr txBox="1"/>
                <p:nvPr/>
              </p:nvSpPr>
              <p:spPr>
                <a:xfrm>
                  <a:off x="10034729" y="4041523"/>
                  <a:ext cx="686117" cy="372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ko-KR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</m:ctrlPr>
                          </m:sSup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93</m:t>
                            </m:r>
                          </m:sup>
                        </m:sSup>
                      </m:oMath>
                    </m:oMathPara>
                  </a14:m>
                  <a:endPara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A19B320-7140-CD28-72C2-DF941733B3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4729" y="4041523"/>
                  <a:ext cx="686117" cy="3724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595CF9E-08D3-7155-D1EC-3181805A2434}"/>
                    </a:ext>
                  </a:extLst>
                </p:cNvPr>
                <p:cNvSpPr txBox="1"/>
                <p:nvPr/>
              </p:nvSpPr>
              <p:spPr>
                <a:xfrm>
                  <a:off x="10031789" y="4382886"/>
                  <a:ext cx="686117" cy="372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ko-KR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</m:ctrlPr>
                          </m:sSup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Gmarket Sans Medium" panose="02000000000000000000" pitchFamily="2" charset="-128"/>
                              </a:rPr>
                              <m:t>123</m:t>
                            </m:r>
                          </m:sup>
                        </m:sSup>
                      </m:oMath>
                    </m:oMathPara>
                  </a14:m>
                  <a:endParaRPr kumimoji="1"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595CF9E-08D3-7155-D1EC-3181805A2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1789" y="4382886"/>
                  <a:ext cx="686117" cy="3724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85216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0ED58-3D03-9A5F-C4FE-2EB835924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328F93-BDD2-218C-BDEF-8CDF4190E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HQC</a:t>
            </a:r>
            <a:r>
              <a:rPr lang="ko-KR" altLang="en-US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대한 </a:t>
            </a:r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QISD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비용 추정 </a:t>
            </a:r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(logical resource)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A4AFEF-D6C4-D48D-FB5E-15882447F4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658917" cy="5057775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QISD</a:t>
            </a:r>
            <a:r>
              <a:rPr lang="ko-KR" altLang="en-US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 오라클 비용</a:t>
            </a:r>
            <a:r>
              <a:rPr lang="ko-KR" altLang="en-US" sz="18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 </a:t>
            </a:r>
            <a:r>
              <a:rPr lang="en-US" altLang="ko-KR" sz="18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(Grover </a:t>
            </a:r>
            <a:r>
              <a:rPr lang="ko-KR" altLang="en-US" sz="18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반복 미포함</a:t>
            </a:r>
            <a:r>
              <a:rPr lang="en-US" altLang="ko-KR" sz="18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)</a:t>
            </a:r>
            <a:endParaRPr lang="en-US" altLang="ko-KR" sz="2400" b="1" dirty="0"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r>
              <a:rPr lang="ko-KR" altLang="en-US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최종 </a:t>
            </a:r>
            <a:r>
              <a:rPr lang="en-US" altLang="ko-KR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QISD</a:t>
            </a:r>
            <a:r>
              <a:rPr lang="ko-KR" altLang="en-US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 공격 비용 </a:t>
            </a:r>
            <a:r>
              <a:rPr lang="en-US" altLang="ko-KR" sz="18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(Grover </a:t>
            </a:r>
            <a:r>
              <a:rPr lang="ko-KR" altLang="en-US" sz="18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반복 포함</a:t>
            </a:r>
            <a:r>
              <a:rPr lang="en-US" altLang="ko-KR" sz="18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)</a:t>
            </a:r>
          </a:p>
          <a:p>
            <a:pPr lvl="1"/>
            <a:r>
              <a:rPr lang="en-US" altLang="ko-KR" sz="2000" dirty="0">
                <a:solidFill>
                  <a:srgbClr val="C0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AES</a:t>
            </a:r>
            <a:r>
              <a:rPr lang="ko-KR" altLang="en-US" sz="2000" dirty="0" err="1">
                <a:solidFill>
                  <a:srgbClr val="C0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</a:t>
            </a:r>
            <a:r>
              <a:rPr lang="ko-KR" altLang="en-US" sz="2000" dirty="0">
                <a:solidFill>
                  <a:srgbClr val="C0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대한 </a:t>
            </a:r>
            <a:r>
              <a:rPr lang="en-US" altLang="ko-KR" sz="2000" dirty="0">
                <a:solidFill>
                  <a:srgbClr val="C0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Grover </a:t>
            </a:r>
            <a:r>
              <a:rPr lang="ko-KR" altLang="en-US" sz="2000" dirty="0">
                <a:solidFill>
                  <a:srgbClr val="C0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공격 비용보다 훨씬 높음</a:t>
            </a:r>
            <a:endParaRPr lang="en-US" altLang="ko-KR" sz="2000" dirty="0">
              <a:solidFill>
                <a:srgbClr val="C00000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7C661F0D-7076-3314-AE7D-2F349DF724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7031282"/>
                  </p:ext>
                </p:extLst>
              </p:nvPr>
            </p:nvGraphicFramePr>
            <p:xfrm>
              <a:off x="411542" y="1660269"/>
              <a:ext cx="11368915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4131">
                      <a:extLst>
                        <a:ext uri="{9D8B030D-6E8A-4147-A177-3AD203B41FA5}">
                          <a16:colId xmlns:a16="http://schemas.microsoft.com/office/drawing/2014/main" val="696775691"/>
                        </a:ext>
                      </a:extLst>
                    </a:gridCol>
                    <a:gridCol w="1456841">
                      <a:extLst>
                        <a:ext uri="{9D8B030D-6E8A-4147-A177-3AD203B41FA5}">
                          <a16:colId xmlns:a16="http://schemas.microsoft.com/office/drawing/2014/main" val="1919768337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74169331"/>
                        </a:ext>
                      </a:extLst>
                    </a:gridCol>
                    <a:gridCol w="1793965">
                      <a:extLst>
                        <a:ext uri="{9D8B030D-6E8A-4147-A177-3AD203B41FA5}">
                          <a16:colId xmlns:a16="http://schemas.microsoft.com/office/drawing/2014/main" val="500571771"/>
                        </a:ext>
                      </a:extLst>
                    </a:gridCol>
                    <a:gridCol w="1782676">
                      <a:extLst>
                        <a:ext uri="{9D8B030D-6E8A-4147-A177-3AD203B41FA5}">
                          <a16:colId xmlns:a16="http://schemas.microsoft.com/office/drawing/2014/main" val="473742652"/>
                        </a:ext>
                      </a:extLst>
                    </a:gridCol>
                    <a:gridCol w="1624131">
                      <a:extLst>
                        <a:ext uri="{9D8B030D-6E8A-4147-A177-3AD203B41FA5}">
                          <a16:colId xmlns:a16="http://schemas.microsoft.com/office/drawing/2014/main" val="3752097185"/>
                        </a:ext>
                      </a:extLst>
                    </a:gridCol>
                    <a:gridCol w="1624131">
                      <a:extLst>
                        <a:ext uri="{9D8B030D-6E8A-4147-A177-3AD203B41FA5}">
                          <a16:colId xmlns:a16="http://schemas.microsoft.com/office/drawing/2014/main" val="4065858719"/>
                        </a:ext>
                      </a:extLst>
                    </a:gridCol>
                  </a:tblGrid>
                  <a:tr h="370840"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HQC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Input setting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Gauss-Jordan Elimination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Hamming weight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135451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0933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-1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38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42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6630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-3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40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46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30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1399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-5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41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48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32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838257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7C661F0D-7076-3314-AE7D-2F349DF724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7031282"/>
                  </p:ext>
                </p:extLst>
              </p:nvPr>
            </p:nvGraphicFramePr>
            <p:xfrm>
              <a:off x="411542" y="1660269"/>
              <a:ext cx="11368915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4131">
                      <a:extLst>
                        <a:ext uri="{9D8B030D-6E8A-4147-A177-3AD203B41FA5}">
                          <a16:colId xmlns:a16="http://schemas.microsoft.com/office/drawing/2014/main" val="696775691"/>
                        </a:ext>
                      </a:extLst>
                    </a:gridCol>
                    <a:gridCol w="1456841">
                      <a:extLst>
                        <a:ext uri="{9D8B030D-6E8A-4147-A177-3AD203B41FA5}">
                          <a16:colId xmlns:a16="http://schemas.microsoft.com/office/drawing/2014/main" val="1919768337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74169331"/>
                        </a:ext>
                      </a:extLst>
                    </a:gridCol>
                    <a:gridCol w="1793965">
                      <a:extLst>
                        <a:ext uri="{9D8B030D-6E8A-4147-A177-3AD203B41FA5}">
                          <a16:colId xmlns:a16="http://schemas.microsoft.com/office/drawing/2014/main" val="500571771"/>
                        </a:ext>
                      </a:extLst>
                    </a:gridCol>
                    <a:gridCol w="1782676">
                      <a:extLst>
                        <a:ext uri="{9D8B030D-6E8A-4147-A177-3AD203B41FA5}">
                          <a16:colId xmlns:a16="http://schemas.microsoft.com/office/drawing/2014/main" val="473742652"/>
                        </a:ext>
                      </a:extLst>
                    </a:gridCol>
                    <a:gridCol w="1624131">
                      <a:extLst>
                        <a:ext uri="{9D8B030D-6E8A-4147-A177-3AD203B41FA5}">
                          <a16:colId xmlns:a16="http://schemas.microsoft.com/office/drawing/2014/main" val="3752097185"/>
                        </a:ext>
                      </a:extLst>
                    </a:gridCol>
                    <a:gridCol w="1624131">
                      <a:extLst>
                        <a:ext uri="{9D8B030D-6E8A-4147-A177-3AD203B41FA5}">
                          <a16:colId xmlns:a16="http://schemas.microsoft.com/office/drawing/2014/main" val="4065858719"/>
                        </a:ext>
                      </a:extLst>
                    </a:gridCol>
                  </a:tblGrid>
                  <a:tr h="370840"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HQC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Input setting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Gauss-Jordan Elimination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Hamming weight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135451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0933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-1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2174" t="-210345" r="-568696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2174" t="-210345" r="-468696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2817" t="-210345" r="-279577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7857" t="-210345" r="-183571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781" t="-210345" r="-100781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0781" t="-210345" r="-781" b="-2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6630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-3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2174" t="-300000" r="-568696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2174" t="-300000" r="-468696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2817" t="-300000" r="-279577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7857" t="-300000" r="-183571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781" t="-300000" r="-100781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0781" t="-300000" r="-781" b="-12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399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-5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2174" t="-413793" r="-568696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2174" t="-413793" r="-468696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2817" t="-413793" r="-27957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7857" t="-413793" r="-183571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781" t="-413793" r="-100781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0781" t="-413793" r="-781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38257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표 12">
                <a:extLst>
                  <a:ext uri="{FF2B5EF4-FFF2-40B4-BE49-F238E27FC236}">
                    <a16:creationId xmlns:a16="http://schemas.microsoft.com/office/drawing/2014/main" id="{ACE5575C-5B58-8C7F-0FE7-D49510F8C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8171731"/>
                  </p:ext>
                </p:extLst>
              </p:nvPr>
            </p:nvGraphicFramePr>
            <p:xfrm>
              <a:off x="411164" y="4832992"/>
              <a:ext cx="5031694" cy="15599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82709">
                      <a:extLst>
                        <a:ext uri="{9D8B030D-6E8A-4147-A177-3AD203B41FA5}">
                          <a16:colId xmlns:a16="http://schemas.microsoft.com/office/drawing/2014/main" val="221814151"/>
                        </a:ext>
                      </a:extLst>
                    </a:gridCol>
                    <a:gridCol w="1159907">
                      <a:extLst>
                        <a:ext uri="{9D8B030D-6E8A-4147-A177-3AD203B41FA5}">
                          <a16:colId xmlns:a16="http://schemas.microsoft.com/office/drawing/2014/main" val="233169508"/>
                        </a:ext>
                      </a:extLst>
                    </a:gridCol>
                    <a:gridCol w="1159907">
                      <a:extLst>
                        <a:ext uri="{9D8B030D-6E8A-4147-A177-3AD203B41FA5}">
                          <a16:colId xmlns:a16="http://schemas.microsoft.com/office/drawing/2014/main" val="3157107283"/>
                        </a:ext>
                      </a:extLst>
                    </a:gridCol>
                    <a:gridCol w="1429171">
                      <a:extLst>
                        <a:ext uri="{9D8B030D-6E8A-4147-A177-3AD203B41FA5}">
                          <a16:colId xmlns:a16="http://schemas.microsoft.com/office/drawing/2014/main" val="1845793417"/>
                        </a:ext>
                      </a:extLst>
                    </a:gridCol>
                  </a:tblGrid>
                  <a:tr h="44740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HQC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#Qubit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356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-1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102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87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48896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-3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30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139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123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043841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-5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32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171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155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391362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표 12">
                <a:extLst>
                  <a:ext uri="{FF2B5EF4-FFF2-40B4-BE49-F238E27FC236}">
                    <a16:creationId xmlns:a16="http://schemas.microsoft.com/office/drawing/2014/main" id="{ACE5575C-5B58-8C7F-0FE7-D49510F8C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8171731"/>
                  </p:ext>
                </p:extLst>
              </p:nvPr>
            </p:nvGraphicFramePr>
            <p:xfrm>
              <a:off x="411164" y="4832992"/>
              <a:ext cx="5031694" cy="15599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82709">
                      <a:extLst>
                        <a:ext uri="{9D8B030D-6E8A-4147-A177-3AD203B41FA5}">
                          <a16:colId xmlns:a16="http://schemas.microsoft.com/office/drawing/2014/main" val="221814151"/>
                        </a:ext>
                      </a:extLst>
                    </a:gridCol>
                    <a:gridCol w="1159907">
                      <a:extLst>
                        <a:ext uri="{9D8B030D-6E8A-4147-A177-3AD203B41FA5}">
                          <a16:colId xmlns:a16="http://schemas.microsoft.com/office/drawing/2014/main" val="233169508"/>
                        </a:ext>
                      </a:extLst>
                    </a:gridCol>
                    <a:gridCol w="1159907">
                      <a:extLst>
                        <a:ext uri="{9D8B030D-6E8A-4147-A177-3AD203B41FA5}">
                          <a16:colId xmlns:a16="http://schemas.microsoft.com/office/drawing/2014/main" val="3157107283"/>
                        </a:ext>
                      </a:extLst>
                    </a:gridCol>
                    <a:gridCol w="1429171">
                      <a:extLst>
                        <a:ext uri="{9D8B030D-6E8A-4147-A177-3AD203B41FA5}">
                          <a16:colId xmlns:a16="http://schemas.microsoft.com/office/drawing/2014/main" val="1845793417"/>
                        </a:ext>
                      </a:extLst>
                    </a:gridCol>
                  </a:tblGrid>
                  <a:tr h="44740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HQC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#Qubit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356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-1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870" t="-127586" r="-222826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127586" r="-125275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2212" t="-127586" r="-885" b="-2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896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-3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870" t="-220000" r="-222826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220000" r="-125275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2212" t="-220000" r="-885" b="-12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43841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-5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0870" t="-331034" r="-222826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331034" r="-125275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2212" t="-331034" r="-885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91362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726A27BF-D660-B3A2-7F88-25639F8E28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4227901"/>
                  </p:ext>
                </p:extLst>
              </p:nvPr>
            </p:nvGraphicFramePr>
            <p:xfrm>
              <a:off x="6748386" y="4832992"/>
              <a:ext cx="5031694" cy="15599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82709">
                      <a:extLst>
                        <a:ext uri="{9D8B030D-6E8A-4147-A177-3AD203B41FA5}">
                          <a16:colId xmlns:a16="http://schemas.microsoft.com/office/drawing/2014/main" val="221814151"/>
                        </a:ext>
                      </a:extLst>
                    </a:gridCol>
                    <a:gridCol w="1159907">
                      <a:extLst>
                        <a:ext uri="{9D8B030D-6E8A-4147-A177-3AD203B41FA5}">
                          <a16:colId xmlns:a16="http://schemas.microsoft.com/office/drawing/2014/main" val="233169508"/>
                        </a:ext>
                      </a:extLst>
                    </a:gridCol>
                    <a:gridCol w="1159907">
                      <a:extLst>
                        <a:ext uri="{9D8B030D-6E8A-4147-A177-3AD203B41FA5}">
                          <a16:colId xmlns:a16="http://schemas.microsoft.com/office/drawing/2014/main" val="3157107283"/>
                        </a:ext>
                      </a:extLst>
                    </a:gridCol>
                    <a:gridCol w="1429171">
                      <a:extLst>
                        <a:ext uri="{9D8B030D-6E8A-4147-A177-3AD203B41FA5}">
                          <a16:colId xmlns:a16="http://schemas.microsoft.com/office/drawing/2014/main" val="1845793417"/>
                        </a:ext>
                      </a:extLst>
                    </a:gridCol>
                  </a:tblGrid>
                  <a:tr h="44740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AES</a:t>
                          </a:r>
                          <a:r>
                            <a:rPr lang="en-US" altLang="ko-KR" baseline="3000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*</a:t>
                          </a:r>
                          <a:endParaRPr lang="ko-KR" altLang="en-US" baseline="3000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#Qubit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356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-128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81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71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48896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-192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113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104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043841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-256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145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136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391362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726A27BF-D660-B3A2-7F88-25639F8E28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4227901"/>
                  </p:ext>
                </p:extLst>
              </p:nvPr>
            </p:nvGraphicFramePr>
            <p:xfrm>
              <a:off x="6748386" y="4832992"/>
              <a:ext cx="5031694" cy="15599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82709">
                      <a:extLst>
                        <a:ext uri="{9D8B030D-6E8A-4147-A177-3AD203B41FA5}">
                          <a16:colId xmlns:a16="http://schemas.microsoft.com/office/drawing/2014/main" val="221814151"/>
                        </a:ext>
                      </a:extLst>
                    </a:gridCol>
                    <a:gridCol w="1159907">
                      <a:extLst>
                        <a:ext uri="{9D8B030D-6E8A-4147-A177-3AD203B41FA5}">
                          <a16:colId xmlns:a16="http://schemas.microsoft.com/office/drawing/2014/main" val="233169508"/>
                        </a:ext>
                      </a:extLst>
                    </a:gridCol>
                    <a:gridCol w="1159907">
                      <a:extLst>
                        <a:ext uri="{9D8B030D-6E8A-4147-A177-3AD203B41FA5}">
                          <a16:colId xmlns:a16="http://schemas.microsoft.com/office/drawing/2014/main" val="3157107283"/>
                        </a:ext>
                      </a:extLst>
                    </a:gridCol>
                    <a:gridCol w="1429171">
                      <a:extLst>
                        <a:ext uri="{9D8B030D-6E8A-4147-A177-3AD203B41FA5}">
                          <a16:colId xmlns:a16="http://schemas.microsoft.com/office/drawing/2014/main" val="1845793417"/>
                        </a:ext>
                      </a:extLst>
                    </a:gridCol>
                  </a:tblGrid>
                  <a:tr h="44740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AES</a:t>
                          </a:r>
                          <a:r>
                            <a:rPr lang="en-US" altLang="ko-KR" baseline="3000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*</a:t>
                          </a:r>
                          <a:endParaRPr lang="ko-KR" altLang="en-US" baseline="3000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#Qubit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T-depth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356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-128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0870" t="-127586" r="-222826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3187" t="-127586" r="-125275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2212" t="-127586" r="-885" b="-2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896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-192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0870" t="-220000" r="-222826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3187" t="-220000" r="-125275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2212" t="-220000" r="-885" b="-12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43841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-256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0870" t="-331034" r="-222826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3187" t="-331034" r="-125275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2212" t="-331034" r="-885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91362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17CDE3C-69FC-B374-51B9-D7FF11323A78}"/>
              </a:ext>
            </a:extLst>
          </p:cNvPr>
          <p:cNvSpPr txBox="1"/>
          <p:nvPr/>
        </p:nvSpPr>
        <p:spPr>
          <a:xfrm>
            <a:off x="0" y="6611779"/>
            <a:ext cx="10241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[*]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Jang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 K.,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Baksi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.,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Kim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H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.,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Song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G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.,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Seo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H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., &amp;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Chattopadhyay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Quantum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Analysis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of AES. IACR Communications in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Cryptology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 2025.</a:t>
            </a:r>
          </a:p>
        </p:txBody>
      </p:sp>
      <p:sp>
        <p:nvSpPr>
          <p:cNvPr id="18" name="갈매기형 수장[C] 17">
            <a:extLst>
              <a:ext uri="{FF2B5EF4-FFF2-40B4-BE49-F238E27FC236}">
                <a16:creationId xmlns:a16="http://schemas.microsoft.com/office/drawing/2014/main" id="{D71B654A-D455-2EE6-25CD-5D272786DEBB}"/>
              </a:ext>
            </a:extLst>
          </p:cNvPr>
          <p:cNvSpPr/>
          <p:nvPr/>
        </p:nvSpPr>
        <p:spPr>
          <a:xfrm>
            <a:off x="5877908" y="5408303"/>
            <a:ext cx="435428" cy="478972"/>
          </a:xfrm>
          <a:prstGeom prst="chevron">
            <a:avLst>
              <a:gd name="adj" fmla="val 64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73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CF218-DD04-D1C8-C53D-9573A256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F74B1-380E-297B-8911-D2486CE8B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HQC</a:t>
            </a:r>
            <a:r>
              <a:rPr lang="ko-KR" altLang="en-US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대한 </a:t>
            </a:r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QISD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비용 추정 </a:t>
            </a:r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(physical resource)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020A56C-96F8-FDB1-7CAF-5574F234907A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실제 하드웨어의 오류 수정 비용을 고려한 </a:t>
                </a:r>
                <a:r>
                  <a:rPr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Runtime </a:t>
                </a:r>
                <a:r>
                  <a:rPr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및 물리적 큐비트 비용 추정</a:t>
                </a:r>
                <a:endParaRPr lang="en-US" altLang="ko-KR" sz="2000" b="1" dirty="0">
                  <a:solidFill>
                    <a:srgbClr val="C0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lang="ko-KR" altLang="en-US" sz="20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가장 대표적인 방식인 </a:t>
                </a:r>
                <a:r>
                  <a:rPr lang="en-US" altLang="ko-KR" sz="20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Surface code</a:t>
                </a:r>
                <a:r>
                  <a:rPr lang="ko-KR" altLang="en-US" sz="20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적용</a:t>
                </a:r>
                <a:r>
                  <a:rPr lang="en-US" altLang="ko-KR" sz="2000" baseline="30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*</a:t>
                </a:r>
                <a:endParaRPr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2"/>
                <a:r>
                  <a:rPr lang="en-US" altLang="ko-KR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Surface code</a:t>
                </a:r>
                <a:r>
                  <a:rPr lang="ko-KR" altLang="en-US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en-US" altLang="ko-KR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+ Reed-Muller 15-to-1 distillation</a:t>
                </a:r>
              </a:p>
              <a:p>
                <a:pPr marL="914400" lvl="2" indent="0">
                  <a:buNone/>
                </a:pPr>
                <a:endParaRPr lang="en-US" altLang="ko-KR" sz="3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Physical </a:t>
                </a:r>
                <a:r>
                  <a:rPr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파라미터는 현재 초전도 양자 컴퓨터와 유사하게 설정</a:t>
                </a:r>
                <a:endParaRPr lang="en-US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2"/>
                <a:r>
                  <a:rPr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Cycle time = 1</a:t>
                </a:r>
                <a:r>
                  <a:rPr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microsecond, error rate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10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 gate error rate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10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4</m:t>
                        </m:r>
                      </m:sup>
                    </m:sSup>
                  </m:oMath>
                </a14:m>
                <a:endParaRPr lang="en-US" altLang="ko-KR" sz="28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2"/>
                <a:endParaRPr lang="en-US" altLang="ko-KR" sz="5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lang="en-US" altLang="ko-KR" sz="2400" b="1" dirty="0">
                  <a:solidFill>
                    <a:srgbClr val="C0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r>
                  <a:rPr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현실적으로 불가능한 </a:t>
                </a:r>
                <a:r>
                  <a:rPr lang="ko-KR" altLang="en-US" sz="2400" b="1" dirty="0" err="1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큐비트</a:t>
                </a:r>
                <a:r>
                  <a:rPr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수 및 런타임 필요</a:t>
                </a:r>
                <a:endParaRPr lang="en-US" altLang="ko-KR" sz="2400" b="1" dirty="0">
                  <a:solidFill>
                    <a:srgbClr val="C0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작년 결과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동일한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surface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code)</a:t>
                </a:r>
                <a:r>
                  <a:rPr lang="ko-KR" altLang="en-US" sz="20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비해 </a:t>
                </a:r>
                <a:r>
                  <a:rPr lang="ko-KR" altLang="en-US" sz="2000" b="1" dirty="0" err="1">
                    <a:solidFill>
                      <a:schemeClr val="accent5">
                        <a:lumMod val="75000"/>
                      </a:schemeClr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큐비트</a:t>
                </a:r>
                <a:r>
                  <a:rPr lang="ko-KR" altLang="en-US" sz="2000" b="1" dirty="0">
                    <a:solidFill>
                      <a:schemeClr val="accent5">
                        <a:lumMod val="75000"/>
                      </a:schemeClr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수는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ko-KR" alt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</m:ctrlPr>
                      </m:fPr>
                      <m:num>
                        <m:r>
                          <a:rPr lang="en-US" altLang="ko-KR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4</m:t>
                        </m:r>
                      </m:den>
                    </m:f>
                    <m:r>
                      <a:rPr lang="en-US" altLang="ko-KR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Gmarket Sans Medium" panose="02000000000000000000" pitchFamily="2" charset="-128"/>
                      </a:rPr>
                      <m:t>,</m:t>
                    </m:r>
                  </m:oMath>
                </a14:m>
                <a:r>
                  <a:rPr lang="ko-KR" altLang="en-US" sz="2000" b="1" dirty="0">
                    <a:solidFill>
                      <a:schemeClr val="accent5">
                        <a:lumMod val="75000"/>
                      </a:schemeClr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런타임은 평균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ko-KR" alt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</m:ctrlPr>
                      </m:fPr>
                      <m:num>
                        <m:r>
                          <a:rPr lang="en-US" altLang="ko-KR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2</m:t>
                        </m:r>
                      </m:den>
                    </m:f>
                  </m:oMath>
                </a14:m>
                <a:r>
                  <a:rPr lang="ko-KR" altLang="en-US" sz="2000" b="1" dirty="0">
                    <a:solidFill>
                      <a:schemeClr val="accent5">
                        <a:lumMod val="75000"/>
                      </a:schemeClr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수준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으로 감소</a:t>
                </a:r>
                <a:endParaRPr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020A56C-96F8-FDB1-7CAF-5574F23490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81" t="-1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43310B03-9306-896B-0BA6-8AACC160C9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5259873"/>
                  </p:ext>
                </p:extLst>
              </p:nvPr>
            </p:nvGraphicFramePr>
            <p:xfrm>
              <a:off x="2591730" y="4655955"/>
              <a:ext cx="7008540" cy="15599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61180">
                      <a:extLst>
                        <a:ext uri="{9D8B030D-6E8A-4147-A177-3AD203B41FA5}">
                          <a16:colId xmlns:a16="http://schemas.microsoft.com/office/drawing/2014/main" val="221814151"/>
                        </a:ext>
                      </a:extLst>
                    </a:gridCol>
                    <a:gridCol w="2516777">
                      <a:extLst>
                        <a:ext uri="{9D8B030D-6E8A-4147-A177-3AD203B41FA5}">
                          <a16:colId xmlns:a16="http://schemas.microsoft.com/office/drawing/2014/main" val="233169508"/>
                        </a:ext>
                      </a:extLst>
                    </a:gridCol>
                    <a:gridCol w="3030583">
                      <a:extLst>
                        <a:ext uri="{9D8B030D-6E8A-4147-A177-3AD203B41FA5}">
                          <a16:colId xmlns:a16="http://schemas.microsoft.com/office/drawing/2014/main" val="3157107283"/>
                        </a:ext>
                      </a:extLst>
                    </a:gridCol>
                  </a:tblGrid>
                  <a:tr h="44740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HQC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#physical qubit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Runtime</a:t>
                          </a:r>
                          <a:r>
                            <a:rPr lang="ko-KR" altLang="en-US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</a:t>
                          </a:r>
                          <a:r>
                            <a:rPr lang="en-US" altLang="ko-KR" sz="140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(years)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356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-1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41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51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48896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-3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44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88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043841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-5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47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120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391362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43310B03-9306-896B-0BA6-8AACC160C9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5259873"/>
                  </p:ext>
                </p:extLst>
              </p:nvPr>
            </p:nvGraphicFramePr>
            <p:xfrm>
              <a:off x="2591730" y="4655955"/>
              <a:ext cx="7008540" cy="15599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61180">
                      <a:extLst>
                        <a:ext uri="{9D8B030D-6E8A-4147-A177-3AD203B41FA5}">
                          <a16:colId xmlns:a16="http://schemas.microsoft.com/office/drawing/2014/main" val="221814151"/>
                        </a:ext>
                      </a:extLst>
                    </a:gridCol>
                    <a:gridCol w="2516777">
                      <a:extLst>
                        <a:ext uri="{9D8B030D-6E8A-4147-A177-3AD203B41FA5}">
                          <a16:colId xmlns:a16="http://schemas.microsoft.com/office/drawing/2014/main" val="233169508"/>
                        </a:ext>
                      </a:extLst>
                    </a:gridCol>
                    <a:gridCol w="3030583">
                      <a:extLst>
                        <a:ext uri="{9D8B030D-6E8A-4147-A177-3AD203B41FA5}">
                          <a16:colId xmlns:a16="http://schemas.microsoft.com/office/drawing/2014/main" val="3157107283"/>
                        </a:ext>
                      </a:extLst>
                    </a:gridCol>
                  </a:tblGrid>
                  <a:tr h="44740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HQC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#physical qubit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Runtime</a:t>
                          </a:r>
                          <a:r>
                            <a:rPr lang="ko-KR" altLang="en-US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</a:t>
                          </a:r>
                          <a:r>
                            <a:rPr lang="en-US" altLang="ko-KR" sz="140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(years)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356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-1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586" t="-127586" r="-121212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1381" t="-127586" r="-418" b="-2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896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-3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586" t="-220000" r="-121212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1381" t="-220000" r="-418" b="-12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43841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-5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586" t="-331034" r="-121212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1381" t="-331034" r="-418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91362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A053484-2622-2C60-A91B-86929CB06B8C}"/>
              </a:ext>
            </a:extLst>
          </p:cNvPr>
          <p:cNvSpPr txBox="1"/>
          <p:nvPr/>
        </p:nvSpPr>
        <p:spPr>
          <a:xfrm>
            <a:off x="0" y="6592311"/>
            <a:ext cx="116828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[*] Amy, Matthew, et al. "Estimating the cost of generic quantum pre-image attacks on SHA-2 and SHA-3.", 2016.</a:t>
            </a:r>
            <a:endParaRPr lang="ko-KR" altLang="en-US" sz="9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9980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B2F53-2038-8169-1A8C-54A40CF52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6E228C-9830-8141-DB48-DB272F2E8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HQC</a:t>
            </a:r>
            <a:r>
              <a:rPr lang="ko-KR" altLang="en-US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대한 </a:t>
            </a:r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QISD</a:t>
            </a:r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비용 추정 </a:t>
            </a:r>
            <a:r>
              <a:rPr lang="en-US" altLang="ko-KR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(physical resource)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9690B477-597C-F16B-2517-2277F2147802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682805" cy="5057775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sz="2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실제 하드웨어의 오류 수정 비용을 고려한 </a:t>
                </a:r>
                <a:r>
                  <a:rPr lang="en-US" altLang="ko-KR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Runtime </a:t>
                </a:r>
                <a:r>
                  <a:rPr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및 물리적 큐비트 비용 추정</a:t>
                </a:r>
                <a:endParaRPr lang="en-US" altLang="ko-KR" sz="2000" b="1" dirty="0">
                  <a:solidFill>
                    <a:srgbClr val="C0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lang="en-US" altLang="ko-KR" sz="20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2026</a:t>
                </a:r>
                <a:r>
                  <a:rPr lang="ko-KR" altLang="en-US" sz="20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에 발표된 </a:t>
                </a:r>
                <a:r>
                  <a:rPr lang="en-US" altLang="ko-KR" sz="20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LDPC</a:t>
                </a:r>
                <a:r>
                  <a:rPr lang="ko-KR" altLang="en-US" sz="2000" b="1" dirty="0"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기반 오류 수정 기술 적용</a:t>
                </a:r>
                <a:r>
                  <a:rPr lang="ko-KR" altLang="en-US" sz="2000" baseline="30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*</a:t>
                </a:r>
                <a:endParaRPr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2"/>
                <a:r>
                  <a:rPr lang="en-US" altLang="ko-KR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Pinnacle</a:t>
                </a:r>
                <a:r>
                  <a:rPr lang="ko-KR" altLang="en-US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en-US" altLang="ko-KR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architecture</a:t>
                </a:r>
                <a:r>
                  <a:rPr lang="ko-KR" altLang="en-US" baseline="30000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*</a:t>
                </a:r>
                <a:r>
                  <a:rPr lang="ko-KR" altLang="en-US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en-US" altLang="ko-KR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+ Reed-Muller 15-to-1 distillation</a:t>
                </a:r>
              </a:p>
              <a:p>
                <a:pPr lvl="2"/>
                <a:endParaRPr lang="en-US" altLang="ko-KR" sz="16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1"/>
                <a:r>
                  <a:rPr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Physical </a:t>
                </a:r>
                <a:r>
                  <a:rPr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파라미터는 현재 초전도 양자 컴퓨터와 유사하게 설정</a:t>
                </a:r>
                <a:endParaRPr lang="en-US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2"/>
                <a:r>
                  <a:rPr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Cycle time = 1</a:t>
                </a:r>
                <a:r>
                  <a:rPr lang="ko-KR" altLang="en-US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en-US" altLang="ko-KR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microsecond, error rate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10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−3</m:t>
                        </m:r>
                      </m:sup>
                    </m:sSup>
                  </m:oMath>
                </a14:m>
                <a:endParaRPr lang="en-US" altLang="ko-KR" sz="28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pPr lvl="2"/>
                <a:endParaRPr lang="en-US" altLang="ko-KR" sz="5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  <a:p>
                <a:endParaRPr lang="en-US" altLang="ko-KR" sz="2400" b="1" dirty="0">
                  <a:solidFill>
                    <a:srgbClr val="C0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r>
                  <a:rPr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현실적으로 불가능한 </a:t>
                </a:r>
                <a:r>
                  <a:rPr lang="ko-KR" altLang="en-US" sz="2400" b="1" dirty="0" err="1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큐비트</a:t>
                </a:r>
                <a:r>
                  <a:rPr lang="ko-KR" altLang="en-US" sz="2400" b="1" dirty="0">
                    <a:solidFill>
                      <a:srgbClr val="C00000"/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수 및 런타임 필요</a:t>
                </a:r>
                <a:endParaRPr lang="en-US" altLang="ko-KR" sz="2400" b="1" dirty="0">
                  <a:solidFill>
                    <a:srgbClr val="C00000"/>
                  </a:solidFill>
                  <a:latin typeface="Gmarket Sans Bold" panose="02000000000000000000" pitchFamily="2" charset="-128"/>
                  <a:ea typeface="Gmarket Sans Bold" panose="02000000000000000000" pitchFamily="2" charset="-128"/>
                </a:endParaRPr>
              </a:p>
              <a:p>
                <a:pPr lvl="1"/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동일 회로 </a:t>
                </a:r>
                <a:r>
                  <a:rPr lang="en-US" altLang="ko-KR" sz="1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(</a:t>
                </a:r>
                <a:r>
                  <a:rPr lang="ko-KR" altLang="en-US" sz="1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올해 결과</a:t>
                </a:r>
                <a:r>
                  <a:rPr lang="en-US" altLang="ko-KR" sz="14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)</a:t>
                </a:r>
                <a:r>
                  <a:rPr lang="ko-KR" altLang="en-US" sz="20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대해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,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LDPC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방식이 </a:t>
                </a:r>
                <a:r>
                  <a:rPr lang="en-US" altLang="ko-KR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surface</a:t>
                </a:r>
                <a:r>
                  <a:rPr lang="ko-KR" altLang="en-US" sz="2000" dirty="0" err="1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에</a:t>
                </a:r>
                <a:r>
                  <a:rPr lang="ko-KR" altLang="en-US" sz="2000" dirty="0"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비해 </a:t>
                </a:r>
                <a:r>
                  <a:rPr lang="ko-KR" altLang="en-US" sz="2000" b="1" dirty="0">
                    <a:solidFill>
                      <a:schemeClr val="accent5">
                        <a:lumMod val="75000"/>
                      </a:schemeClr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큐비트는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ko-KR" altLang="en-US" sz="20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</m:ctrlPr>
                      </m:fPr>
                      <m:num>
                        <m:r>
                          <a:rPr lang="en-US" altLang="ko-KR" sz="2000" b="1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𝟏</m:t>
                        </m:r>
                      </m:num>
                      <m:den>
                        <m:r>
                          <a:rPr lang="en-US" altLang="ko-KR" sz="2000" b="1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Gmarket Sans Medium" panose="02000000000000000000" pitchFamily="2" charset="-128"/>
                          </a:rPr>
                          <m:t>𝟖</m:t>
                        </m:r>
                      </m:den>
                    </m:f>
                  </m:oMath>
                </a14:m>
                <a:r>
                  <a:rPr lang="ko-KR" altLang="en-US" sz="2000" b="1" dirty="0">
                    <a:solidFill>
                      <a:schemeClr val="accent5">
                        <a:lumMod val="75000"/>
                      </a:schemeClr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수준</a:t>
                </a:r>
                <a:r>
                  <a:rPr lang="en-US" altLang="ko-KR" sz="2000" b="1" dirty="0">
                    <a:solidFill>
                      <a:schemeClr val="accent5">
                        <a:lumMod val="75000"/>
                      </a:schemeClr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,</a:t>
                </a:r>
                <a:r>
                  <a:rPr lang="ko-KR" altLang="en-US" sz="2000" b="1" dirty="0">
                    <a:solidFill>
                      <a:schemeClr val="accent5">
                        <a:lumMod val="75000"/>
                      </a:schemeClr>
                    </a:solidFill>
                    <a:latin typeface="Gmarket Sans Bold" panose="02000000000000000000" pitchFamily="2" charset="-128"/>
                    <a:ea typeface="Gmarket Sans Bold" panose="02000000000000000000" pitchFamily="2" charset="-128"/>
                  </a:rPr>
                  <a:t> 런타임은 크게 증가</a:t>
                </a:r>
                <a:r>
                  <a:rPr lang="ko-KR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Gmarket Sans Medium" panose="02000000000000000000" pitchFamily="2" charset="-128"/>
                    <a:ea typeface="Gmarket Sans Medium" panose="02000000000000000000" pitchFamily="2" charset="-128"/>
                  </a:rPr>
                  <a:t>  </a:t>
                </a:r>
                <a:endParaRPr lang="en-US" altLang="ko-KR" sz="2000" dirty="0">
                  <a:latin typeface="Gmarket Sans Medium" panose="02000000000000000000" pitchFamily="2" charset="-128"/>
                  <a:ea typeface="Gmarket Sans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9690B477-597C-F16B-2517-2277F21478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682805" cy="5057775"/>
              </a:xfrm>
              <a:blipFill>
                <a:blip r:embed="rId2"/>
                <a:stretch>
                  <a:fillRect l="-760" t="-1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E696A2C6-690E-0DDC-99D3-B2CCA673B4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6614912"/>
                  </p:ext>
                </p:extLst>
              </p:nvPr>
            </p:nvGraphicFramePr>
            <p:xfrm>
              <a:off x="2591730" y="4666842"/>
              <a:ext cx="7008540" cy="15599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61180">
                      <a:extLst>
                        <a:ext uri="{9D8B030D-6E8A-4147-A177-3AD203B41FA5}">
                          <a16:colId xmlns:a16="http://schemas.microsoft.com/office/drawing/2014/main" val="221814151"/>
                        </a:ext>
                      </a:extLst>
                    </a:gridCol>
                    <a:gridCol w="2516777">
                      <a:extLst>
                        <a:ext uri="{9D8B030D-6E8A-4147-A177-3AD203B41FA5}">
                          <a16:colId xmlns:a16="http://schemas.microsoft.com/office/drawing/2014/main" val="233169508"/>
                        </a:ext>
                      </a:extLst>
                    </a:gridCol>
                    <a:gridCol w="3030583">
                      <a:extLst>
                        <a:ext uri="{9D8B030D-6E8A-4147-A177-3AD203B41FA5}">
                          <a16:colId xmlns:a16="http://schemas.microsoft.com/office/drawing/2014/main" val="3157107283"/>
                        </a:ext>
                      </a:extLst>
                    </a:gridCol>
                  </a:tblGrid>
                  <a:tr h="44740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HQC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#physical qubit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Runtime</a:t>
                          </a:r>
                          <a:r>
                            <a:rPr lang="ko-KR" altLang="en-US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</a:t>
                          </a:r>
                          <a:r>
                            <a:rPr lang="en-US" altLang="ko-KR" sz="140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(years)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356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-1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38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64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48896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-3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41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101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043841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-5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44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Gmarket Sans Medium" panose="02000000000000000000" pitchFamily="2" charset="-128"/>
                                      </a:rPr>
                                      <m:t>133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391362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E696A2C6-690E-0DDC-99D3-B2CCA673B4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6614912"/>
                  </p:ext>
                </p:extLst>
              </p:nvPr>
            </p:nvGraphicFramePr>
            <p:xfrm>
              <a:off x="2591730" y="4666842"/>
              <a:ext cx="7008540" cy="155992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61180">
                      <a:extLst>
                        <a:ext uri="{9D8B030D-6E8A-4147-A177-3AD203B41FA5}">
                          <a16:colId xmlns:a16="http://schemas.microsoft.com/office/drawing/2014/main" val="221814151"/>
                        </a:ext>
                      </a:extLst>
                    </a:gridCol>
                    <a:gridCol w="2516777">
                      <a:extLst>
                        <a:ext uri="{9D8B030D-6E8A-4147-A177-3AD203B41FA5}">
                          <a16:colId xmlns:a16="http://schemas.microsoft.com/office/drawing/2014/main" val="233169508"/>
                        </a:ext>
                      </a:extLst>
                    </a:gridCol>
                    <a:gridCol w="3030583">
                      <a:extLst>
                        <a:ext uri="{9D8B030D-6E8A-4147-A177-3AD203B41FA5}">
                          <a16:colId xmlns:a16="http://schemas.microsoft.com/office/drawing/2014/main" val="3157107283"/>
                        </a:ext>
                      </a:extLst>
                    </a:gridCol>
                  </a:tblGrid>
                  <a:tr h="44740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HQC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#physical qubit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Runtime</a:t>
                          </a:r>
                          <a:r>
                            <a:rPr lang="ko-KR" altLang="en-US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</a:t>
                          </a:r>
                          <a:r>
                            <a:rPr lang="en-US" altLang="ko-KR" sz="140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(years)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356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-1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586" t="-127586" r="-121212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1381" t="-127586" r="-418" b="-2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896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-3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586" t="-220000" r="-121212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1381" t="-220000" r="-418" b="-12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43841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-5</a:t>
                          </a:r>
                          <a:endParaRPr lang="ko-KR" altLang="en-US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586" t="-331034" r="-121212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1381" t="-331034" r="-418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91362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9EC4259-427D-A04F-0175-08D41575294D}"/>
              </a:ext>
            </a:extLst>
          </p:cNvPr>
          <p:cNvSpPr txBox="1"/>
          <p:nvPr/>
        </p:nvSpPr>
        <p:spPr>
          <a:xfrm>
            <a:off x="0" y="6592311"/>
            <a:ext cx="116828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[*]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Webster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Paul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,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et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al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 "The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Pinnacle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Architecture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: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Reducing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the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cost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of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breaking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RSA-2048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to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100 000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physical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qubits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using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quantum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LDPC </a:t>
            </a:r>
            <a:r>
              <a:rPr lang="ko-KR" altLang="en-US" sz="9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codes</a:t>
            </a:r>
            <a:r>
              <a:rPr lang="ko-KR" altLang="en-US" sz="9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." arXiv:2602.11457 (2026).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2A691-F178-7324-622D-BEBE09022BBE}"/>
              </a:ext>
            </a:extLst>
          </p:cNvPr>
          <p:cNvSpPr txBox="1"/>
          <p:nvPr/>
        </p:nvSpPr>
        <p:spPr>
          <a:xfrm>
            <a:off x="1546005" y="2169268"/>
            <a:ext cx="9990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bg1">
                    <a:lumMod val="6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기존 대표적으로 사용되던 </a:t>
            </a:r>
            <a:r>
              <a:rPr kumimoji="1" lang="en-US" altLang="ko-KR" sz="1600" dirty="0">
                <a:solidFill>
                  <a:schemeClr val="bg1">
                    <a:lumMod val="6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Surface code</a:t>
            </a:r>
            <a:r>
              <a:rPr kumimoji="1" lang="ko-KR" altLang="en-US" sz="1600" dirty="0" err="1">
                <a:solidFill>
                  <a:schemeClr val="bg1">
                    <a:lumMod val="6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에</a:t>
            </a:r>
            <a:r>
              <a:rPr kumimoji="1" lang="ko-KR" altLang="en-US" sz="1600" dirty="0">
                <a:solidFill>
                  <a:schemeClr val="bg1">
                    <a:lumMod val="6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비해 </a:t>
            </a:r>
            <a:r>
              <a:rPr kumimoji="1" lang="ko-KR" altLang="en-US" sz="1600" b="1" dirty="0">
                <a:solidFill>
                  <a:schemeClr val="bg1">
                    <a:lumMod val="65000"/>
                  </a:schemeClr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적은 물리 큐비트</a:t>
            </a:r>
            <a:r>
              <a:rPr kumimoji="1" lang="ko-KR" altLang="en-US" sz="1600" dirty="0">
                <a:solidFill>
                  <a:schemeClr val="bg1">
                    <a:lumMod val="6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 달성 가능한 오류 수정 코드</a:t>
            </a:r>
          </a:p>
        </p:txBody>
      </p:sp>
    </p:spTree>
    <p:extLst>
      <p:ext uri="{BB962C8B-B14F-4D97-AF65-F5344CB8AC3E}">
        <p14:creationId xmlns:p14="http://schemas.microsoft.com/office/powerpoint/2010/main" val="28581921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7EC92-082C-5896-6397-36AA30A5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21E28-4C8B-5C4A-ED8C-18AB3A40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요약 및 결론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D52743-6B3F-9FC6-247A-00CC861AF0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841797" cy="5057775"/>
          </a:xfrm>
        </p:spPr>
        <p:txBody>
          <a:bodyPr>
            <a:noAutofit/>
          </a:bodyPr>
          <a:lstStyle/>
          <a:p>
            <a:r>
              <a:rPr lang="en-US" altLang="ko-KR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Information set decoding (ISD)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는 코드 기반 암호에 대한 </a:t>
            </a:r>
            <a:r>
              <a:rPr lang="ko-KR" altLang="en-US" sz="24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가장 강력한 분석 기법</a:t>
            </a:r>
            <a:endParaRPr lang="en-US" altLang="ko-KR" sz="2400" b="1" dirty="0"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accent5">
                    <a:lumMod val="75000"/>
                  </a:schemeClr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Quantum ISD =</a:t>
            </a:r>
            <a:r>
              <a:rPr lang="ko-KR" altLang="en-US" sz="2400" b="1" dirty="0">
                <a:solidFill>
                  <a:schemeClr val="accent5">
                    <a:lumMod val="75000"/>
                  </a:schemeClr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 </a:t>
            </a:r>
            <a:r>
              <a:rPr lang="en-US" altLang="ko-KR" sz="2400" b="1" dirty="0">
                <a:solidFill>
                  <a:schemeClr val="accent5">
                    <a:lumMod val="75000"/>
                  </a:schemeClr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Grover’s search</a:t>
            </a:r>
            <a:r>
              <a:rPr lang="ko-KR" altLang="en-US" sz="2400" b="1" dirty="0">
                <a:solidFill>
                  <a:schemeClr val="accent5">
                    <a:lumMod val="75000"/>
                  </a:schemeClr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 </a:t>
            </a:r>
            <a:r>
              <a:rPr lang="en-US" altLang="ko-KR" sz="2400" b="1" dirty="0">
                <a:solidFill>
                  <a:schemeClr val="accent5">
                    <a:lumMod val="75000"/>
                  </a:schemeClr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+</a:t>
            </a:r>
            <a:r>
              <a:rPr lang="ko-KR" altLang="en-US" sz="2400" b="1" dirty="0">
                <a:solidFill>
                  <a:schemeClr val="accent5">
                    <a:lumMod val="75000"/>
                  </a:schemeClr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 </a:t>
            </a:r>
            <a:r>
              <a:rPr lang="en-US" altLang="ko-KR" sz="2400" b="1" dirty="0">
                <a:solidFill>
                  <a:schemeClr val="accent5">
                    <a:lumMod val="75000"/>
                  </a:schemeClr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ISD</a:t>
            </a:r>
            <a:r>
              <a:rPr lang="ko-KR" altLang="en-US" sz="2400" b="1" dirty="0">
                <a:solidFill>
                  <a:schemeClr val="accent5">
                    <a:lumMod val="75000"/>
                  </a:schemeClr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 양자 회로</a:t>
            </a:r>
            <a:endParaRPr lang="en-US" altLang="ko-KR" sz="2400" b="1" dirty="0">
              <a:solidFill>
                <a:schemeClr val="accent5">
                  <a:lumMod val="75000"/>
                </a:schemeClr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NIST PQC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최종 표준으로 선정된 </a:t>
            </a:r>
            <a:r>
              <a:rPr lang="en-US" altLang="ko-KR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HQC</a:t>
            </a:r>
            <a:r>
              <a:rPr lang="ko-KR" altLang="en-US" sz="24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를 대상으로 양자 암호 분석 수행</a:t>
            </a:r>
            <a:endParaRPr lang="en-US" altLang="ko-KR" sz="24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논리적 비용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: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ISD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의 핵심 모듈 최적화</a:t>
            </a:r>
            <a:b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  <a:sym typeface="Wingdings" pitchFamily="2" charset="2"/>
              </a:rPr>
              <a:t>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  <a:sym typeface="Wingdings" pitchFamily="2" charset="2"/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  <a:sym typeface="Wingdings" pitchFamily="2" charset="2"/>
              </a:rPr>
              <a:t>큐비트</a:t>
            </a:r>
            <a:r>
              <a:rPr lang="ko-KR" altLang="en-US" sz="20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  <a:sym typeface="Wingdings" pitchFamily="2" charset="2"/>
              </a:rPr>
              <a:t> 수 및 </a:t>
            </a:r>
            <a:r>
              <a:rPr lang="en-US" altLang="ko-KR" sz="20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  <a:sym typeface="Wingdings" pitchFamily="2" charset="2"/>
              </a:rPr>
              <a:t>T</a:t>
            </a:r>
            <a:r>
              <a:rPr lang="ko-KR" altLang="en-US" sz="20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  <a:sym typeface="Wingdings" pitchFamily="2" charset="2"/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  <a:sym typeface="Wingdings" pitchFamily="2" charset="2"/>
              </a:rPr>
              <a:t>gate</a:t>
            </a:r>
            <a:r>
              <a:rPr lang="ko-KR" altLang="en-US" sz="20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  <a:sym typeface="Wingdings" pitchFamily="2" charset="2"/>
              </a:rPr>
              <a:t> 수 </a:t>
            </a:r>
            <a:r>
              <a:rPr lang="ko-KR" altLang="en-US" sz="20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약 </a:t>
            </a:r>
            <a:r>
              <a:rPr lang="en-US" altLang="ko-KR" sz="20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20%</a:t>
            </a:r>
            <a:r>
              <a:rPr lang="ko-KR" altLang="en-US" sz="20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 개선</a:t>
            </a:r>
            <a:r>
              <a:rPr lang="en-US" altLang="ko-KR" sz="20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,</a:t>
            </a:r>
            <a:r>
              <a:rPr lang="ko-KR" altLang="en-US" sz="20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depth </a:t>
            </a:r>
            <a:r>
              <a:rPr lang="ko-KR" altLang="en-US" sz="20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오버헤드는 미미한 수준</a:t>
            </a:r>
            <a:endParaRPr lang="en-US" altLang="ko-KR" sz="2000" b="1" dirty="0">
              <a:solidFill>
                <a:srgbClr val="C00000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Gmarket Sans Bold" panose="02000000000000000000" pitchFamily="2" charset="-128"/>
                <a:ea typeface="Gmarket Sans Bold" panose="02000000000000000000" pitchFamily="2" charset="-128"/>
              </a:rPr>
              <a:t>물리적 비용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: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오류 수정 기술 적용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(surface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&amp;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LDPC)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하여 물리 </a:t>
            </a:r>
            <a:r>
              <a:rPr lang="ko-KR" altLang="en-US" sz="20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큐비트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수와 런타임 추정</a:t>
            </a:r>
            <a:b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lang="en-US" altLang="ko-KR" sz="2000" dirty="0">
                <a:latin typeface="Gmarket Sans Medium" panose="02000000000000000000" pitchFamily="2" charset="-128"/>
                <a:ea typeface="Gmarket Sans Medium" panose="02000000000000000000" pitchFamily="2" charset="-128"/>
                <a:sym typeface="Wingdings" pitchFamily="2" charset="2"/>
              </a:rPr>
              <a:t></a:t>
            </a:r>
            <a:r>
              <a:rPr lang="ko-KR" altLang="en-US" sz="2000" dirty="0">
                <a:latin typeface="Gmarket Sans Medium" panose="02000000000000000000" pitchFamily="2" charset="-128"/>
                <a:ea typeface="Gmarket Sans Medium" panose="02000000000000000000" pitchFamily="2" charset="-128"/>
                <a:sym typeface="Wingdings" pitchFamily="2" charset="2"/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현실적으로 불가능한 수준의 </a:t>
            </a:r>
            <a:r>
              <a:rPr lang="ko-KR" altLang="en-US" sz="2000" b="1" dirty="0" err="1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큐비트</a:t>
            </a:r>
            <a:r>
              <a:rPr lang="ko-KR" altLang="en-US" sz="2000" b="1" dirty="0">
                <a:solidFill>
                  <a:srgbClr val="C00000"/>
                </a:solidFill>
                <a:latin typeface="Gmarket Sans Bold" panose="02000000000000000000" pitchFamily="2" charset="-128"/>
                <a:ea typeface="Gmarket Sans Bold" panose="02000000000000000000" pitchFamily="2" charset="-128"/>
              </a:rPr>
              <a:t> 및 런타임 필요</a:t>
            </a:r>
            <a:endParaRPr lang="en-US" altLang="ko-KR" sz="2000" b="1" dirty="0">
              <a:solidFill>
                <a:srgbClr val="C00000"/>
              </a:solidFill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9E40E-2FCF-333D-A216-328F155A51AF}"/>
              </a:ext>
            </a:extLst>
          </p:cNvPr>
          <p:cNvSpPr txBox="1"/>
          <p:nvPr/>
        </p:nvSpPr>
        <p:spPr>
          <a:xfrm>
            <a:off x="-70757" y="5405393"/>
            <a:ext cx="1233351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Gmarket Sans Bold" panose="02000000000000000000" pitchFamily="2" charset="-128"/>
                <a:ea typeface="Gmarket Sans Bold" panose="02000000000000000000" pitchFamily="2" charset="-128"/>
              </a:rPr>
              <a:t> 새로운 공격 기법이 나오지 않는 이상 코드기반암호는 양자 공격으로부터 매우 안전</a:t>
            </a:r>
            <a:endParaRPr lang="en-US" altLang="ko-KR" sz="2400" b="1" dirty="0">
              <a:solidFill>
                <a:srgbClr val="FF0000"/>
              </a:solidFill>
              <a:highlight>
                <a:srgbClr val="FFFF00"/>
              </a:highlight>
              <a:latin typeface="Gmarket Sans Bold" panose="02000000000000000000" pitchFamily="2" charset="-128"/>
              <a:ea typeface="Gmarket Sans Bold" panose="020000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1924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134571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yptoleb_clean" id="{52588569-4439-E744-A786-7B9A48D01E82}" vid="{3E351AFA-C5CD-FF45-AA6F-7CB5D626CE94}"/>
    </a:ext>
  </a:extLst>
</a:theme>
</file>

<file path=ppt/theme/theme2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yptoleb_clean" id="{52588569-4439-E744-A786-7B9A48D01E82}" vid="{9E614CC1-025E-7F4F-ADE5-A242777675E7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제목 테마</Template>
  <TotalTime>21302</TotalTime>
  <Words>3242</Words>
  <Application>Microsoft Macintosh PowerPoint</Application>
  <PresentationFormat>와이드스크린</PresentationFormat>
  <Paragraphs>753</Paragraphs>
  <Slides>33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33</vt:i4>
      </vt:variant>
    </vt:vector>
  </HeadingPairs>
  <TitlesOfParts>
    <vt:vector size="43" baseType="lpstr">
      <vt:lpstr>맑은 고딕</vt:lpstr>
      <vt:lpstr>G마켓 산스 TTF Medium</vt:lpstr>
      <vt:lpstr>Gmarket Sans Bold</vt:lpstr>
      <vt:lpstr>Gmarket Sans Medium</vt:lpstr>
      <vt:lpstr>Gmarket Sans TTF Medium</vt:lpstr>
      <vt:lpstr>Arial</vt:lpstr>
      <vt:lpstr>Cambria Math</vt:lpstr>
      <vt:lpstr>Wingdings</vt:lpstr>
      <vt:lpstr>제목 테마</vt:lpstr>
      <vt:lpstr>CryptoCraft 테마</vt:lpstr>
      <vt:lpstr>Code 기반 PQC (HQC)에 대한  양자 분석 알고리즘 연구</vt:lpstr>
      <vt:lpstr>코드기반암호</vt:lpstr>
      <vt:lpstr>HQC (Hamming Quasi-Cyclic)</vt:lpstr>
      <vt:lpstr>ISD (Information Set Decoding)</vt:lpstr>
      <vt:lpstr>QISD (Quantum ISD)</vt:lpstr>
      <vt:lpstr>Overview: 대칭키 암호 vs. 코드기반 암호</vt:lpstr>
      <vt:lpstr>Overview: 대칭키 암호 vs. 코드기반 암호</vt:lpstr>
      <vt:lpstr>Overview: 대칭키 암호 vs. 코드기반 암호</vt:lpstr>
      <vt:lpstr>Overview: 대칭키 암호 vs. 코드기반 암호</vt:lpstr>
      <vt:lpstr>PowerPoint 프레젠테이션</vt:lpstr>
      <vt:lpstr>Input setting (1/2)</vt:lpstr>
      <vt:lpstr>Input setting (1/2)</vt:lpstr>
      <vt:lpstr>Input setting (2/2)</vt:lpstr>
      <vt:lpstr>PowerPoint 프레젠테이션</vt:lpstr>
      <vt:lpstr>Gauss-Jordan Elimination</vt:lpstr>
      <vt:lpstr>Gauss-Jordan Elimination</vt:lpstr>
      <vt:lpstr>Gauss-Jordan Elimination</vt:lpstr>
      <vt:lpstr>Gauss-Jordan Elimination – Swap 최적화</vt:lpstr>
      <vt:lpstr>Gauss-Jordan Elimination – Swap 최적화</vt:lpstr>
      <vt:lpstr>Gauss-Jordan Elimination – 소거 최적화</vt:lpstr>
      <vt:lpstr>Gauss-Jordan Elimination – 소거 최적화</vt:lpstr>
      <vt:lpstr>Gauss-Jordan Elimination – 소거 최적화</vt:lpstr>
      <vt:lpstr>Gauss-Jordan Elimination – 소거 최적화</vt:lpstr>
      <vt:lpstr>PowerPoint 프레젠테이션</vt:lpstr>
      <vt:lpstr>Hamming weight</vt:lpstr>
      <vt:lpstr>PowerPoint 프레젠테이션</vt:lpstr>
      <vt:lpstr>QISD에 대한 양자 회로 비용</vt:lpstr>
      <vt:lpstr>HQC에 대한 QISD 비용 추정</vt:lpstr>
      <vt:lpstr>HQC에 대한 QISD 비용 추정 (logical resource)</vt:lpstr>
      <vt:lpstr>HQC에 대한 QISD 비용 추정 (physical resource)</vt:lpstr>
      <vt:lpstr>HQC에 대한 QISD 비용 추정 (physical resource)</vt:lpstr>
      <vt:lpstr>요약 및 결론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심민주</dc:creator>
  <cp:keywords/>
  <dc:description/>
  <cp:lastModifiedBy>hyunji kim</cp:lastModifiedBy>
  <cp:revision>831</cp:revision>
  <dcterms:created xsi:type="dcterms:W3CDTF">2026-03-08T04:09:13Z</dcterms:created>
  <dcterms:modified xsi:type="dcterms:W3CDTF">2026-04-19T14:15:52Z</dcterms:modified>
  <cp:category/>
</cp:coreProperties>
</file>