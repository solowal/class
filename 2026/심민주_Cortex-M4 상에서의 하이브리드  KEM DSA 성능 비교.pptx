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18"/>
  </p:notesMasterIdLst>
  <p:handoutMasterIdLst>
    <p:handoutMasterId r:id="rId19"/>
  </p:handoutMasterIdLst>
  <p:sldIdLst>
    <p:sldId id="269" r:id="rId3"/>
    <p:sldId id="275" r:id="rId4"/>
    <p:sldId id="280" r:id="rId5"/>
    <p:sldId id="296" r:id="rId6"/>
    <p:sldId id="297" r:id="rId7"/>
    <p:sldId id="284" r:id="rId8"/>
    <p:sldId id="283" r:id="rId9"/>
    <p:sldId id="290" r:id="rId10"/>
    <p:sldId id="285" r:id="rId11"/>
    <p:sldId id="288" r:id="rId12"/>
    <p:sldId id="287" r:id="rId13"/>
    <p:sldId id="295" r:id="rId14"/>
    <p:sldId id="294" r:id="rId15"/>
    <p:sldId id="289" r:id="rId16"/>
    <p:sldId id="27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5544F-A253-0540-BBD2-D811238711ED}" v="6" dt="2026-05-10T01:34:13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9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5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709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9DFD7-B0DC-3B2A-7618-203D6298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476404-2C1F-0315-45A8-B2830DA25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07B69B-1528-397B-2683-CC5E29ED2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1FD41D-7BEE-4E70-FA19-51CD266A0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355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3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0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073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689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535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334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901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61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660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8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998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3043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0" r:id="rId2"/>
    <p:sldLayoutId id="2147483671" r:id="rId3"/>
    <p:sldLayoutId id="2147483672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61vea-EZd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Cortex-M4 </a:t>
            </a:r>
            <a:r>
              <a:rPr lang="ko-KR" altLang="en-US" sz="4400" dirty="0"/>
              <a:t>상에서의 하이브리드 </a:t>
            </a:r>
            <a:br>
              <a:rPr lang="en-US" altLang="ko-KR" sz="4400" dirty="0"/>
            </a:br>
            <a:r>
              <a:rPr lang="en-US" altLang="ko-KR" sz="4400" dirty="0"/>
              <a:t>KEM/DSA</a:t>
            </a:r>
            <a:r>
              <a:rPr lang="ko-KR" altLang="en-US" sz="4400" dirty="0"/>
              <a:t> 성능 비교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ko-KR" dirty="0">
                <a:hlinkClick r:id="rId3"/>
              </a:rPr>
              <a:t>https://youtu.be/t61vea-EZdA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ko-KR" dirty="0"/>
              <a:t>Cortex-M4 </a:t>
            </a:r>
            <a:r>
              <a:rPr lang="ko-KR" altLang="en-US" dirty="0"/>
              <a:t>상에서의 하이브리드 </a:t>
            </a:r>
            <a:r>
              <a:rPr lang="en-US" altLang="ko-KR" dirty="0"/>
              <a:t>KEM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ko-KR" dirty="0"/>
              <a:t>Cortex-M4 </a:t>
            </a:r>
            <a:r>
              <a:rPr lang="ko-KR" altLang="en-US" dirty="0"/>
              <a:t>상에서의 하이브리드 </a:t>
            </a:r>
            <a:r>
              <a:rPr lang="en-US" altLang="ko-KR" dirty="0"/>
              <a:t>DSA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ko-KR" dirty="0"/>
              <a:t>Cortex-M4 </a:t>
            </a:r>
            <a:r>
              <a:rPr lang="ko-KR" altLang="en-US" dirty="0"/>
              <a:t>상에서의 하이브리드 </a:t>
            </a:r>
            <a:r>
              <a:rPr lang="en-US" altLang="ko-KR" dirty="0"/>
              <a:t>KEM/DSA</a:t>
            </a:r>
            <a:r>
              <a:rPr lang="ko-KR" altLang="en-US" dirty="0"/>
              <a:t> 성능 비교</a:t>
            </a:r>
          </a:p>
        </p:txBody>
      </p:sp>
    </p:spTree>
    <p:extLst>
      <p:ext uri="{BB962C8B-B14F-4D97-AF65-F5344CB8AC3E}">
        <p14:creationId xmlns:p14="http://schemas.microsoft.com/office/powerpoint/2010/main" val="57559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/>
          <a:lstStyle/>
          <a:p>
            <a:r>
              <a:rPr lang="ko-KR" altLang="en-US" sz="2000" dirty="0"/>
              <a:t>양자 컴퓨터의 발전으로 현재 사용되고 있는 </a:t>
            </a:r>
            <a:r>
              <a:rPr lang="en-US" altLang="ko-KR" sz="2000" dirty="0"/>
              <a:t>classical</a:t>
            </a:r>
            <a:r>
              <a:rPr lang="en" altLang="ko-KR" sz="2000" dirty="0"/>
              <a:t> </a:t>
            </a:r>
            <a:r>
              <a:rPr lang="ko-KR" altLang="en-US" sz="2000" dirty="0"/>
              <a:t>암호 알고리즘</a:t>
            </a:r>
            <a:r>
              <a:rPr lang="en-US" altLang="ko-KR" sz="2000" dirty="0"/>
              <a:t>(</a:t>
            </a:r>
            <a:r>
              <a:rPr lang="ko-KR" altLang="en-US" sz="2000" dirty="0"/>
              <a:t>예 </a:t>
            </a:r>
            <a:r>
              <a:rPr lang="en-US" altLang="ko-KR" sz="2000" dirty="0"/>
              <a:t>: </a:t>
            </a:r>
            <a:r>
              <a:rPr lang="en" altLang="ko-KR" sz="2000" dirty="0"/>
              <a:t>RSA, ECC)</a:t>
            </a:r>
            <a:r>
              <a:rPr lang="ko-KR" altLang="en-US" sz="2000" dirty="0"/>
              <a:t>이 위협에 </a:t>
            </a:r>
            <a:br>
              <a:rPr lang="en-US" altLang="ko-KR" sz="2000" dirty="0"/>
            </a:br>
            <a:r>
              <a:rPr lang="ko-KR" altLang="en-US" sz="2000" dirty="0"/>
              <a:t>직면해 있음</a:t>
            </a:r>
          </a:p>
          <a:p>
            <a:pPr lvl="1"/>
            <a:r>
              <a:rPr lang="ko-KR" altLang="en-US" sz="1800" dirty="0"/>
              <a:t>양자 컴퓨터 시대에 표준으로 사용할 수 있는 </a:t>
            </a:r>
            <a:r>
              <a:rPr lang="ko-KR" altLang="en-US" sz="1800" dirty="0" err="1"/>
              <a:t>양자내성암호</a:t>
            </a:r>
            <a:r>
              <a:rPr lang="ko-KR" altLang="en-US" sz="1800" dirty="0"/>
              <a:t> 표준화가 전세계적으로 활발히 진행</a:t>
            </a:r>
          </a:p>
          <a:p>
            <a:pPr lvl="1"/>
            <a:r>
              <a:rPr lang="ko-KR" altLang="en-US" sz="1800" dirty="0"/>
              <a:t>국내에서도 </a:t>
            </a:r>
            <a:r>
              <a:rPr lang="en-US" altLang="ko-KR" sz="1800" dirty="0"/>
              <a:t>2022</a:t>
            </a:r>
            <a:r>
              <a:rPr lang="ko-KR" altLang="en-US" sz="1800" dirty="0"/>
              <a:t>년 </a:t>
            </a:r>
            <a:r>
              <a:rPr lang="ko-KR" altLang="en-US" sz="1800" dirty="0" err="1"/>
              <a:t>양자내성암호</a:t>
            </a:r>
            <a:r>
              <a:rPr lang="ko-KR" altLang="en-US" sz="1800" dirty="0"/>
              <a:t> 표준을 선정하기 위한 </a:t>
            </a:r>
            <a:r>
              <a:rPr lang="en" altLang="ko-KR" sz="1800" dirty="0" err="1"/>
              <a:t>KpqC</a:t>
            </a:r>
            <a:r>
              <a:rPr lang="en" altLang="ko-KR" sz="1800" dirty="0"/>
              <a:t> </a:t>
            </a:r>
            <a:r>
              <a:rPr lang="ko-KR" altLang="en-US" sz="1800" dirty="0"/>
              <a:t>공모전이 개최됨</a:t>
            </a:r>
            <a:endParaRPr lang="en-US" altLang="ko-KR" sz="1800" dirty="0"/>
          </a:p>
          <a:p>
            <a:pPr lvl="1"/>
            <a:r>
              <a:rPr lang="en-US" altLang="ko-KR" sz="1800" dirty="0"/>
              <a:t>2025</a:t>
            </a:r>
            <a:r>
              <a:rPr lang="ko-KR" altLang="en-US" sz="1800" dirty="0"/>
              <a:t>년 </a:t>
            </a:r>
            <a:r>
              <a:rPr lang="en-US" altLang="ko-KR" sz="1800" dirty="0"/>
              <a:t>1</a:t>
            </a:r>
            <a:r>
              <a:rPr lang="ko-KR" altLang="en-US" sz="1800" dirty="0"/>
              <a:t>월 </a:t>
            </a:r>
            <a:r>
              <a:rPr lang="en-US" altLang="ko-KR" sz="1800" dirty="0"/>
              <a:t>4</a:t>
            </a:r>
            <a:r>
              <a:rPr lang="ko-KR" altLang="en-US" sz="1800" dirty="0"/>
              <a:t>종의 </a:t>
            </a:r>
            <a:r>
              <a:rPr lang="en-US" altLang="ko-KR" sz="1800" dirty="0" err="1"/>
              <a:t>KpqC</a:t>
            </a:r>
            <a:r>
              <a:rPr lang="en-US" altLang="ko-KR" sz="1800" dirty="0"/>
              <a:t> </a:t>
            </a:r>
            <a:r>
              <a:rPr lang="ko-KR" altLang="en-US" sz="1800" dirty="0"/>
              <a:t>표준 알고리즘이 선정됨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en-US" altLang="ko-KR" sz="2000" b="1" dirty="0">
                <a:solidFill>
                  <a:srgbClr val="FF0000"/>
                </a:solidFill>
              </a:rPr>
              <a:t>PQC</a:t>
            </a:r>
            <a:r>
              <a:rPr lang="ko-KR" altLang="en-US" sz="2000" b="1" dirty="0" err="1">
                <a:solidFill>
                  <a:srgbClr val="FF0000"/>
                </a:solidFill>
              </a:rPr>
              <a:t>를</a:t>
            </a:r>
            <a:r>
              <a:rPr lang="ko-KR" altLang="en-US" sz="2000" b="1" dirty="0">
                <a:solidFill>
                  <a:srgbClr val="FF0000"/>
                </a:solidFill>
              </a:rPr>
              <a:t> 단독으로 적용하기에는 운용 경험과 신뢰성 측면에서 한계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lvl="1"/>
            <a:r>
              <a:rPr lang="en-US" altLang="ko-KR" sz="1800" dirty="0"/>
              <a:t>Classical </a:t>
            </a:r>
            <a:r>
              <a:rPr lang="ko-KR" altLang="en-US" sz="1800" dirty="0"/>
              <a:t>암호와 </a:t>
            </a:r>
            <a:r>
              <a:rPr lang="en-US" altLang="ko-KR" sz="1800" dirty="0"/>
              <a:t>PQC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결합한 </a:t>
            </a:r>
            <a:r>
              <a:rPr lang="ko-KR" altLang="en-US" sz="1800" b="1" dirty="0">
                <a:solidFill>
                  <a:srgbClr val="2E75B6"/>
                </a:solidFill>
              </a:rPr>
              <a:t>하이브리드 방식이 현실적인 대안으로 주목받고 있음</a:t>
            </a:r>
            <a:br>
              <a:rPr lang="en-US" altLang="ko-KR" sz="2000" b="1" dirty="0">
                <a:solidFill>
                  <a:srgbClr val="2E75B6"/>
                </a:solidFill>
              </a:rPr>
            </a:br>
            <a:endParaRPr lang="ko-KR" altLang="en-US" sz="2000" b="1" dirty="0">
              <a:solidFill>
                <a:srgbClr val="2E75B6"/>
              </a:solidFill>
            </a:endParaRPr>
          </a:p>
          <a:p>
            <a:r>
              <a:rPr lang="ko-KR" altLang="en-US" sz="2000" b="1" dirty="0"/>
              <a:t>하이브리드 </a:t>
            </a:r>
            <a:r>
              <a:rPr lang="en-US" altLang="ko-KR" sz="2000" b="1" dirty="0"/>
              <a:t>KEM</a:t>
            </a:r>
            <a:r>
              <a:rPr lang="ko-KR" altLang="en-US" sz="2000" dirty="0"/>
              <a:t>의 대표적인 사례 </a:t>
            </a:r>
            <a:r>
              <a:rPr lang="en-US" altLang="ko-KR" sz="2000" dirty="0"/>
              <a:t>: </a:t>
            </a:r>
            <a:r>
              <a:rPr lang="en-US" altLang="ko-KR" sz="2000" b="1" dirty="0"/>
              <a:t>X-wing</a:t>
            </a:r>
          </a:p>
          <a:p>
            <a:pPr lvl="1"/>
            <a:r>
              <a:rPr lang="en-US" altLang="ko-KR" sz="1600" dirty="0"/>
              <a:t>ML-KEM-768</a:t>
            </a:r>
            <a:r>
              <a:rPr lang="ko-KR" altLang="en-US" sz="1600" dirty="0"/>
              <a:t>과 </a:t>
            </a:r>
            <a:r>
              <a:rPr lang="en-US" altLang="ko-KR" sz="1600" dirty="0"/>
              <a:t>X25519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결합하여 하이브리드 </a:t>
            </a:r>
            <a:r>
              <a:rPr lang="en-US" altLang="ko-KR" sz="1600" dirty="0"/>
              <a:t>shared secret</a:t>
            </a:r>
            <a:r>
              <a:rPr lang="ko-KR" altLang="en-US" sz="1600" dirty="0"/>
              <a:t> 생성하는 구조</a:t>
            </a:r>
            <a:endParaRPr lang="en-US" altLang="ko-KR" sz="1600" dirty="0"/>
          </a:p>
          <a:p>
            <a:pPr lvl="1"/>
            <a:r>
              <a:rPr lang="ko-KR" altLang="en-US" sz="1600" dirty="0"/>
              <a:t>특정 알고리즘 조합에 초점을 두고 있어 </a:t>
            </a:r>
            <a:r>
              <a:rPr lang="ko-KR" altLang="en-US" sz="1600" b="1" dirty="0"/>
              <a:t>다양한 </a:t>
            </a:r>
            <a:r>
              <a:rPr lang="en-US" altLang="ko-KR" sz="1600" b="1" dirty="0"/>
              <a:t>PQC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+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classical</a:t>
            </a:r>
            <a:r>
              <a:rPr lang="ko-KR" altLang="en-US" sz="1600" b="1" dirty="0"/>
              <a:t> 알고리즘 조합으로의 확장 및 임베디드 환경에서의 성능 분석은 충분하지 않음</a:t>
            </a:r>
            <a:endParaRPr lang="en-US" altLang="ko-KR" sz="1600" b="1" dirty="0"/>
          </a:p>
          <a:p>
            <a:r>
              <a:rPr lang="ko-KR" altLang="en-US" sz="2000" b="1" dirty="0"/>
              <a:t>하이브리드 </a:t>
            </a:r>
            <a:r>
              <a:rPr lang="en-US" altLang="ko-KR" sz="2000" b="1" dirty="0"/>
              <a:t>DSA</a:t>
            </a:r>
            <a:r>
              <a:rPr lang="ko-KR" altLang="en-US" sz="2000" b="1" dirty="0"/>
              <a:t> </a:t>
            </a:r>
            <a:r>
              <a:rPr lang="ko-KR" altLang="en-US" sz="2000" dirty="0"/>
              <a:t>또한 여러 결합 방식이 제안되었으나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ko-KR" altLang="en-US" sz="2000" b="1" dirty="0"/>
              <a:t>실증적 비교 제한적</a:t>
            </a:r>
            <a:endParaRPr lang="en-US" altLang="ko-KR" sz="2000" b="1" dirty="0"/>
          </a:p>
          <a:p>
            <a:r>
              <a:rPr lang="ko-KR" altLang="en-US" sz="2000" b="1" dirty="0">
                <a:solidFill>
                  <a:srgbClr val="2E75B6"/>
                </a:solidFill>
              </a:rPr>
              <a:t>본 논문에서는 </a:t>
            </a:r>
            <a:r>
              <a:rPr lang="en-US" altLang="ko-KR" sz="2000" b="1" dirty="0">
                <a:solidFill>
                  <a:srgbClr val="2E75B6"/>
                </a:solidFill>
              </a:rPr>
              <a:t>X-wing</a:t>
            </a:r>
            <a:r>
              <a:rPr lang="ko-KR" altLang="en-US" sz="2000" b="1" dirty="0">
                <a:solidFill>
                  <a:srgbClr val="2E75B6"/>
                </a:solidFill>
              </a:rPr>
              <a:t> 일반화한 하이브리드 </a:t>
            </a:r>
            <a:r>
              <a:rPr lang="en-US" altLang="ko-KR" sz="2000" b="1" dirty="0">
                <a:solidFill>
                  <a:srgbClr val="2E75B6"/>
                </a:solidFill>
              </a:rPr>
              <a:t>KEM</a:t>
            </a:r>
            <a:r>
              <a:rPr lang="ko-KR" altLang="en-US" sz="2000" b="1" dirty="0">
                <a:solidFill>
                  <a:srgbClr val="2E75B6"/>
                </a:solidFill>
              </a:rPr>
              <a:t>과 하이브리드 </a:t>
            </a:r>
            <a:r>
              <a:rPr lang="en-US" altLang="ko-KR" sz="2000" b="1" dirty="0">
                <a:solidFill>
                  <a:srgbClr val="2E75B6"/>
                </a:solidFill>
              </a:rPr>
              <a:t>DSA</a:t>
            </a:r>
            <a:r>
              <a:rPr lang="ko-KR" altLang="en-US" sz="2000" b="1" dirty="0" err="1">
                <a:solidFill>
                  <a:srgbClr val="2E75B6"/>
                </a:solidFill>
              </a:rPr>
              <a:t>를</a:t>
            </a:r>
            <a:r>
              <a:rPr lang="ko-KR" altLang="en-US" sz="2000" b="1" dirty="0">
                <a:solidFill>
                  <a:srgbClr val="2E75B6"/>
                </a:solidFill>
              </a:rPr>
              <a:t> 설계 및 구현하여</a:t>
            </a:r>
            <a:br>
              <a:rPr lang="en-US" altLang="ko-KR" sz="2000" b="1" dirty="0">
                <a:solidFill>
                  <a:srgbClr val="2E75B6"/>
                </a:solidFill>
              </a:rPr>
            </a:br>
            <a:r>
              <a:rPr lang="en-US" altLang="ko-KR" sz="2000" b="1" dirty="0">
                <a:solidFill>
                  <a:srgbClr val="2E75B6"/>
                </a:solidFill>
              </a:rPr>
              <a:t>ARM</a:t>
            </a:r>
            <a:r>
              <a:rPr lang="ko-KR" altLang="en-US" sz="2000" b="1" dirty="0">
                <a:solidFill>
                  <a:srgbClr val="2E75B6"/>
                </a:solidFill>
              </a:rPr>
              <a:t> </a:t>
            </a:r>
            <a:r>
              <a:rPr lang="en-US" altLang="ko-KR" sz="2000" b="1" dirty="0">
                <a:solidFill>
                  <a:srgbClr val="2E75B6"/>
                </a:solidFill>
              </a:rPr>
              <a:t>Cortex-M4</a:t>
            </a:r>
            <a:r>
              <a:rPr lang="ko-KR" altLang="en-US" sz="2000" b="1" dirty="0">
                <a:solidFill>
                  <a:srgbClr val="2E75B6"/>
                </a:solidFill>
              </a:rPr>
              <a:t> 상에서 주요 연산의 </a:t>
            </a:r>
            <a:r>
              <a:rPr lang="en-US" altLang="ko-KR" sz="2000" b="1" dirty="0">
                <a:solidFill>
                  <a:srgbClr val="2E75B6"/>
                </a:solidFill>
              </a:rPr>
              <a:t>CPU cycle</a:t>
            </a:r>
            <a:r>
              <a:rPr lang="ko-KR" altLang="en-US" sz="2000" b="1" dirty="0">
                <a:solidFill>
                  <a:srgbClr val="2E75B6"/>
                </a:solidFill>
              </a:rPr>
              <a:t> 측정하여 성능 비교 </a:t>
            </a:r>
            <a:endParaRPr lang="en-US" altLang="ko-KR" sz="2000" b="1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70DA2-0712-A9F5-99D4-3DECCD65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557B1-E17F-B58E-3A34-25AB6455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하이브리드 </a:t>
            </a:r>
            <a:r>
              <a:rPr lang="en-US" altLang="ko-KR" dirty="0"/>
              <a:t>KEM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0C3AFF-0FFA-E692-6CCC-59F76D0402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2" y="1152525"/>
            <a:ext cx="11368159" cy="5497728"/>
          </a:xfrm>
        </p:spPr>
        <p:txBody>
          <a:bodyPr>
            <a:normAutofit/>
          </a:bodyPr>
          <a:lstStyle/>
          <a:p>
            <a:r>
              <a:rPr lang="en-US" altLang="ko-KR" sz="2000" b="1" dirty="0"/>
              <a:t>X-Wing</a:t>
            </a:r>
            <a:r>
              <a:rPr lang="ko-KR" altLang="en-US" sz="2000" b="1" dirty="0"/>
              <a:t>의 </a:t>
            </a:r>
            <a:r>
              <a:rPr lang="en-US" altLang="ko-KR" sz="2000" b="1" dirty="0"/>
              <a:t>QSF </a:t>
            </a:r>
            <a:r>
              <a:rPr lang="ko-KR" altLang="en-US" sz="2000" b="1" dirty="0"/>
              <a:t>프레임워크 기반 하이브리드 </a:t>
            </a:r>
            <a:r>
              <a:rPr lang="en-US" altLang="ko-KR" sz="2000" b="1" dirty="0"/>
              <a:t>KEM </a:t>
            </a:r>
            <a:r>
              <a:rPr lang="ko-KR" altLang="en-US" sz="2000" b="1" dirty="0"/>
              <a:t>구성</a:t>
            </a:r>
          </a:p>
          <a:p>
            <a:pPr lvl="1"/>
            <a:r>
              <a:rPr lang="ko-KR" altLang="en-US" sz="1800" dirty="0"/>
              <a:t>각 구성 요소의 </a:t>
            </a:r>
            <a:r>
              <a:rPr lang="en-US" altLang="ko-KR" sz="1800" dirty="0"/>
              <a:t>shared secret</a:t>
            </a:r>
            <a:r>
              <a:rPr lang="ko-KR" altLang="en-US" sz="1800" dirty="0"/>
              <a:t>을 </a:t>
            </a:r>
            <a:r>
              <a:rPr lang="en-US" altLang="ko-KR" sz="1800" dirty="0"/>
              <a:t>SHA3-256 </a:t>
            </a:r>
            <a:r>
              <a:rPr lang="ko-KR" altLang="en-US" sz="1800" dirty="0"/>
              <a:t>기반 </a:t>
            </a:r>
            <a:r>
              <a:rPr lang="en-US" altLang="ko-KR" sz="1800" dirty="0"/>
              <a:t>combiner</a:t>
            </a:r>
            <a:r>
              <a:rPr lang="ko-KR" altLang="en-US" sz="1800" dirty="0" err="1"/>
              <a:t>에</a:t>
            </a:r>
            <a:r>
              <a:rPr lang="ko-KR" altLang="en-US" sz="1800" dirty="0"/>
              <a:t> 입력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ko-KR" altLang="en-US" sz="1800" b="1" dirty="0"/>
              <a:t>    →  </a:t>
            </a:r>
            <a:r>
              <a:rPr lang="ko-KR" altLang="en-US" sz="1800" dirty="0"/>
              <a:t>최종 하이브리드 </a:t>
            </a:r>
            <a:r>
              <a:rPr lang="en-US" altLang="ko-KR" sz="1800" dirty="0"/>
              <a:t>shared secret</a:t>
            </a:r>
            <a:r>
              <a:rPr lang="ko-KR" altLang="en-US" sz="1800" dirty="0"/>
              <a:t>을 도출 </a:t>
            </a:r>
            <a:endParaRPr lang="en-US" altLang="ko-KR" sz="1800" dirty="0"/>
          </a:p>
          <a:p>
            <a:pPr lvl="1"/>
            <a:r>
              <a:rPr lang="en-US" altLang="ko-KR" sz="1800" dirty="0"/>
              <a:t>combiner </a:t>
            </a:r>
            <a:r>
              <a:rPr lang="ko-KR" altLang="en-US" sz="1800" dirty="0"/>
              <a:t>입력</a:t>
            </a:r>
            <a:r>
              <a:rPr lang="en-US" altLang="ko-KR" sz="1800" dirty="0"/>
              <a:t>: label || </a:t>
            </a:r>
            <a:r>
              <a:rPr lang="en-US" altLang="ko-KR" sz="1800" dirty="0" err="1"/>
              <a:t>k_PQ</a:t>
            </a:r>
            <a:r>
              <a:rPr lang="en-US" altLang="ko-KR" sz="1800" dirty="0"/>
              <a:t> || </a:t>
            </a:r>
            <a:r>
              <a:rPr lang="en-US" altLang="ko-KR" sz="1800" dirty="0" err="1"/>
              <a:t>k_DH</a:t>
            </a:r>
            <a:r>
              <a:rPr lang="en-US" altLang="ko-KR" sz="1800" dirty="0"/>
              <a:t> || </a:t>
            </a:r>
            <a:r>
              <a:rPr lang="en-US" altLang="ko-KR" sz="1800" dirty="0" err="1"/>
              <a:t>c_DH</a:t>
            </a:r>
            <a:r>
              <a:rPr lang="en-US" altLang="ko-KR" sz="1800" dirty="0"/>
              <a:t> || </a:t>
            </a:r>
            <a:r>
              <a:rPr lang="en-US" altLang="ko-KR" sz="1800" dirty="0" err="1"/>
              <a:t>pk_DH</a:t>
            </a:r>
            <a:endParaRPr lang="en-US" altLang="ko-KR" sz="1800" dirty="0"/>
          </a:p>
          <a:p>
            <a:pPr lvl="1"/>
            <a:r>
              <a:rPr lang="en-US" altLang="ko-KR" sz="1800" dirty="0"/>
              <a:t>QSF : PQ ciphertext </a:t>
            </a:r>
            <a:r>
              <a:rPr lang="ko-KR" altLang="en-US" sz="1800" dirty="0"/>
              <a:t>제외</a:t>
            </a:r>
            <a:r>
              <a:rPr lang="en-US" altLang="ko-KR" sz="1800" dirty="0"/>
              <a:t>(</a:t>
            </a:r>
            <a:r>
              <a:rPr lang="ko-KR" altLang="en-US" sz="1800" dirty="0"/>
              <a:t>해시 입력 크기 감소를 통한 성능 최적화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ko-KR" altLang="en-US" sz="1800" b="1" dirty="0">
                <a:solidFill>
                  <a:srgbClr val="2E75B6"/>
                </a:solidFill>
              </a:rPr>
              <a:t>   → </a:t>
            </a:r>
            <a:r>
              <a:rPr lang="en-US" altLang="ko-KR" sz="1800" b="1" dirty="0">
                <a:solidFill>
                  <a:srgbClr val="2E75B6"/>
                </a:solidFill>
              </a:rPr>
              <a:t>IND-CCA </a:t>
            </a:r>
            <a:r>
              <a:rPr lang="ko-KR" altLang="en-US" sz="1800" b="1" dirty="0">
                <a:solidFill>
                  <a:srgbClr val="2E75B6"/>
                </a:solidFill>
              </a:rPr>
              <a:t>보안성과</a:t>
            </a:r>
            <a:r>
              <a:rPr lang="en-US" altLang="ko-KR" sz="1800" b="1" dirty="0">
                <a:solidFill>
                  <a:srgbClr val="2E75B6"/>
                </a:solidFill>
              </a:rPr>
              <a:t> C2PRI </a:t>
            </a:r>
            <a:r>
              <a:rPr lang="ko-KR" altLang="en-US" sz="1800" b="1" dirty="0">
                <a:solidFill>
                  <a:srgbClr val="2E75B6"/>
                </a:solidFill>
              </a:rPr>
              <a:t>만족 </a:t>
            </a:r>
            <a:r>
              <a:rPr lang="en-US" altLang="ko-KR" sz="1800" b="1" dirty="0">
                <a:solidFill>
                  <a:srgbClr val="2E75B6"/>
                </a:solidFill>
              </a:rPr>
              <a:t>KEM</a:t>
            </a:r>
            <a:r>
              <a:rPr lang="ko-KR" altLang="en-US" sz="1800" b="1" dirty="0" err="1">
                <a:solidFill>
                  <a:srgbClr val="2E75B6"/>
                </a:solidFill>
              </a:rPr>
              <a:t>에만</a:t>
            </a:r>
            <a:r>
              <a:rPr lang="ko-KR" altLang="en-US" sz="1800" b="1" dirty="0">
                <a:solidFill>
                  <a:srgbClr val="2E75B6"/>
                </a:solidFill>
              </a:rPr>
              <a:t> 적용</a:t>
            </a:r>
          </a:p>
          <a:p>
            <a:endParaRPr lang="ko-KR" altLang="en-US" sz="2000" dirty="0"/>
          </a:p>
          <a:p>
            <a:r>
              <a:rPr lang="en-US" altLang="ko-KR" sz="2000" b="1" dirty="0"/>
              <a:t>X-Wing </a:t>
            </a:r>
            <a:r>
              <a:rPr lang="ko-KR" altLang="en-US" sz="2000" b="1" dirty="0"/>
              <a:t>결합구조 일반화</a:t>
            </a:r>
          </a:p>
          <a:p>
            <a:pPr marL="0" indent="0">
              <a:buNone/>
            </a:pPr>
            <a:r>
              <a:rPr lang="en-US" altLang="ko-KR" sz="2000" dirty="0"/>
              <a:t>1) PQ-KEM </a:t>
            </a:r>
            <a:r>
              <a:rPr lang="ko-KR" altLang="en-US" sz="2000" dirty="0"/>
              <a:t>확장</a:t>
            </a:r>
            <a:r>
              <a:rPr lang="en-US" altLang="ko-KR" sz="2000" dirty="0"/>
              <a:t>: ML-KEM, NTRU+, SMAUG-T, HQC</a:t>
            </a:r>
          </a:p>
          <a:p>
            <a:pPr marL="0" indent="0">
              <a:buNone/>
            </a:pPr>
            <a:r>
              <a:rPr lang="en-US" altLang="ko-KR" sz="2000" dirty="0"/>
              <a:t>2) Classical KEX </a:t>
            </a:r>
            <a:r>
              <a:rPr lang="ko-KR" altLang="en-US" sz="2000" dirty="0"/>
              <a:t>확장</a:t>
            </a:r>
            <a:r>
              <a:rPr lang="en-US" altLang="ko-KR" sz="2000" dirty="0"/>
              <a:t>: X25519, P-256, P-384, P-521</a:t>
            </a:r>
          </a:p>
          <a:p>
            <a:pPr marL="0" indent="0">
              <a:buNone/>
            </a:pPr>
            <a:r>
              <a:rPr lang="en-US" altLang="ko-KR" sz="2000" dirty="0"/>
              <a:t>3) SHA3-256 </a:t>
            </a:r>
            <a:r>
              <a:rPr lang="ko-KR" altLang="en-US" sz="2000" dirty="0"/>
              <a:t>기반 </a:t>
            </a:r>
            <a:r>
              <a:rPr lang="en-US" altLang="ko-KR" sz="2000" dirty="0"/>
              <a:t>QSF combiner </a:t>
            </a:r>
            <a:r>
              <a:rPr lang="ko-KR" altLang="en-US" sz="2000" dirty="0"/>
              <a:t>구조 유지</a:t>
            </a:r>
          </a:p>
          <a:p>
            <a:pPr marL="0" indent="0">
              <a:buNone/>
            </a:pPr>
            <a:r>
              <a:rPr lang="en-US" altLang="ko-KR" sz="2000" dirty="0"/>
              <a:t>4) </a:t>
            </a:r>
            <a:r>
              <a:rPr lang="ko-KR" altLang="en-US" sz="2000" dirty="0"/>
              <a:t>개별 알고리즘 수정 없이 </a:t>
            </a:r>
            <a:r>
              <a:rPr lang="en-US" altLang="ko-KR" sz="2000" dirty="0"/>
              <a:t>wrapper </a:t>
            </a:r>
            <a:r>
              <a:rPr lang="ko-KR" altLang="en-US" sz="2000" dirty="0"/>
              <a:t>계층에서 결합</a:t>
            </a:r>
            <a:endParaRPr lang="en-US" altLang="ko-KR" sz="2000" dirty="0"/>
          </a:p>
          <a:p>
            <a:pPr lvl="1"/>
            <a:r>
              <a:rPr lang="en-US" altLang="ko-KR" sz="1800" b="1" dirty="0" err="1"/>
              <a:t>KpqC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및 </a:t>
            </a:r>
            <a:r>
              <a:rPr lang="en-US" altLang="ko-KR" sz="1800" b="1" dirty="0"/>
              <a:t>NIST PQC </a:t>
            </a:r>
            <a:r>
              <a:rPr lang="ko-KR" altLang="en-US" sz="1800" b="1" dirty="0"/>
              <a:t>조합 즉시 비교 가능</a:t>
            </a:r>
            <a:endParaRPr lang="en-US" altLang="ko-KR" sz="1800" b="1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4CF7E0-63B9-FAD4-0EF3-7824A0F8E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9" t="4491" r="10090" b="2552"/>
          <a:stretch>
            <a:fillRect/>
          </a:stretch>
        </p:blipFill>
        <p:spPr>
          <a:xfrm>
            <a:off x="8059938" y="3021298"/>
            <a:ext cx="4132062" cy="337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5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AAD09-7E0A-EF23-9ACD-C06B37B0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하이브리드 </a:t>
            </a:r>
            <a:r>
              <a:rPr kumimoji="1" lang="en-US" altLang="ko-KR" dirty="0"/>
              <a:t>DSA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AD7639-99DE-1606-BA5C-6F28B0DD62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" altLang="ko-KR" sz="2400" dirty="0"/>
              <a:t>Bindel et al.</a:t>
            </a:r>
            <a:r>
              <a:rPr kumimoji="1" lang="ko-KR" altLang="en-US" sz="2400" dirty="0"/>
              <a:t>은 </a:t>
            </a:r>
            <a:r>
              <a:rPr kumimoji="1" lang="en" altLang="ko-KR" sz="2400" dirty="0"/>
              <a:t>Ck, </a:t>
            </a:r>
            <a:r>
              <a:rPr kumimoji="1" lang="en" altLang="ko-KR" sz="2400" dirty="0" err="1"/>
              <a:t>Cstr</a:t>
            </a:r>
            <a:r>
              <a:rPr kumimoji="1" lang="en" altLang="ko-KR" sz="2400" dirty="0"/>
              <a:t>-nest, </a:t>
            </a:r>
            <a:r>
              <a:rPr kumimoji="1" lang="en" altLang="ko-KR" sz="2400" dirty="0" err="1"/>
              <a:t>Cweak</a:t>
            </a:r>
            <a:r>
              <a:rPr kumimoji="1" lang="en" altLang="ko-KR" sz="2400" dirty="0"/>
              <a:t>-nest, </a:t>
            </a:r>
            <a:r>
              <a:rPr kumimoji="1" lang="en" altLang="ko-KR" sz="2400" dirty="0" err="1"/>
              <a:t>Dnest</a:t>
            </a:r>
            <a:r>
              <a:rPr kumimoji="1" lang="ko-KR" altLang="en-US" sz="2400" dirty="0"/>
              <a:t>의</a:t>
            </a:r>
            <a:r>
              <a:rPr kumimoji="1" lang="en-US" altLang="ko-KR" sz="2400" dirty="0"/>
              <a:t> </a:t>
            </a:r>
            <a:r>
              <a:rPr kumimoji="1" lang="ko-KR" altLang="en-US" sz="2400" dirty="0"/>
              <a:t>네 가지 결합 방식을 제시</a:t>
            </a:r>
          </a:p>
          <a:p>
            <a:pPr>
              <a:lnSpc>
                <a:spcPct val="100000"/>
              </a:lnSpc>
            </a:pPr>
            <a:r>
              <a:rPr kumimoji="1" lang="ko-KR" altLang="en-US" sz="2400" dirty="0"/>
              <a:t>본 논문은 구현 복잡도와 평가 범위를 고려하여 </a:t>
            </a:r>
            <a:r>
              <a:rPr kumimoji="1" lang="en" altLang="ko-KR" sz="2400" dirty="0" err="1"/>
              <a:t>concat</a:t>
            </a:r>
            <a:r>
              <a:rPr kumimoji="1" lang="en" altLang="ko-KR" sz="2400" dirty="0"/>
              <a:t> </a:t>
            </a:r>
            <a:r>
              <a:rPr kumimoji="1" lang="ko-KR" altLang="en-US" sz="2400" dirty="0"/>
              <a:t>및 </a:t>
            </a:r>
            <a:r>
              <a:rPr kumimoji="1" lang="en" altLang="ko-KR" sz="2400" dirty="0"/>
              <a:t>nested</a:t>
            </a:r>
            <a:r>
              <a:rPr kumimoji="1" lang="ko-KR" altLang="en-US" sz="2400" dirty="0" err="1"/>
              <a:t>에</a:t>
            </a:r>
            <a:r>
              <a:rPr kumimoji="1" lang="ko-KR" altLang="en-US" sz="2400" dirty="0"/>
              <a:t> 집중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ko-KR" altLang="en-US" sz="2400" dirty="0"/>
              <a:t>→ </a:t>
            </a:r>
            <a:r>
              <a:rPr kumimoji="1" lang="en" altLang="ko-KR" sz="2400" dirty="0"/>
              <a:t>Ck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</a:t>
            </a:r>
            <a:r>
              <a:rPr kumimoji="1" lang="en" altLang="ko-KR" sz="2400" dirty="0" err="1"/>
              <a:t>concat</a:t>
            </a:r>
            <a:r>
              <a:rPr kumimoji="1" lang="en" altLang="ko-KR" sz="2400" dirty="0"/>
              <a:t> </a:t>
            </a:r>
            <a:r>
              <a:rPr kumimoji="1" lang="ko-KR" altLang="en-US" sz="2400" dirty="0"/>
              <a:t>모드</a:t>
            </a:r>
            <a:r>
              <a:rPr kumimoji="1" lang="en-US" altLang="ko-KR" sz="2400" dirty="0"/>
              <a:t>, </a:t>
            </a:r>
            <a:r>
              <a:rPr kumimoji="1" lang="en" altLang="ko-KR" sz="2400" dirty="0" err="1"/>
              <a:t>Cstr</a:t>
            </a:r>
            <a:r>
              <a:rPr kumimoji="1" lang="en" altLang="ko-KR" sz="2400" dirty="0"/>
              <a:t>-nest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</a:t>
            </a:r>
            <a:r>
              <a:rPr kumimoji="1" lang="en" altLang="ko-KR" sz="2400" dirty="0"/>
              <a:t>nested </a:t>
            </a:r>
            <a:r>
              <a:rPr kumimoji="1" lang="ko-KR" altLang="en-US" sz="2400" dirty="0"/>
              <a:t>모드로 지칭</a:t>
            </a:r>
          </a:p>
          <a:p>
            <a:pPr>
              <a:lnSpc>
                <a:spcPct val="100000"/>
              </a:lnSpc>
            </a:pPr>
            <a:r>
              <a:rPr kumimoji="1" lang="ko-KR" altLang="en-US" sz="2400" dirty="0"/>
              <a:t>선행연구에서 이미 안전성이 분석된 결합 방식을 그대로 차용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ko-KR" sz="2400" b="1" dirty="0">
                <a:solidFill>
                  <a:srgbClr val="2E75B6"/>
                </a:solidFill>
              </a:rPr>
              <a:t> </a:t>
            </a:r>
            <a:r>
              <a:rPr kumimoji="1" lang="ko-KR" altLang="en-US" sz="2400" b="1" dirty="0">
                <a:solidFill>
                  <a:srgbClr val="2E75B6"/>
                </a:solidFill>
              </a:rPr>
              <a:t>→ 본 연구의 초점은 </a:t>
            </a:r>
            <a:r>
              <a:rPr kumimoji="1" lang="en" altLang="ko-KR" sz="2400" b="1" dirty="0">
                <a:solidFill>
                  <a:srgbClr val="2E75B6"/>
                </a:solidFill>
              </a:rPr>
              <a:t>Cortex-M4 </a:t>
            </a:r>
            <a:r>
              <a:rPr kumimoji="1" lang="ko-KR" altLang="en-US" sz="2400" b="1" dirty="0">
                <a:solidFill>
                  <a:srgbClr val="2E75B6"/>
                </a:solidFill>
              </a:rPr>
              <a:t>환경에서의 구현</a:t>
            </a:r>
            <a:r>
              <a:rPr kumimoji="1" lang="en-US" altLang="ko-KR" sz="2400" b="1" dirty="0">
                <a:solidFill>
                  <a:srgbClr val="2E75B6"/>
                </a:solidFill>
              </a:rPr>
              <a:t>·</a:t>
            </a:r>
            <a:r>
              <a:rPr kumimoji="1" lang="ko-KR" altLang="en-US" sz="2400" b="1" dirty="0">
                <a:solidFill>
                  <a:srgbClr val="2E75B6"/>
                </a:solidFill>
              </a:rPr>
              <a:t>성능 비교</a:t>
            </a:r>
            <a:r>
              <a:rPr kumimoji="1" lang="en-US" altLang="ko-KR" sz="2400" b="1" dirty="0">
                <a:solidFill>
                  <a:srgbClr val="2E75B6"/>
                </a:solidFill>
              </a:rPr>
              <a:t>·</a:t>
            </a:r>
            <a:r>
              <a:rPr kumimoji="1" lang="ko-KR" altLang="en-US" sz="2400" b="1" dirty="0">
                <a:solidFill>
                  <a:srgbClr val="2E75B6"/>
                </a:solidFill>
              </a:rPr>
              <a:t>분석</a:t>
            </a:r>
            <a:endParaRPr kumimoji="1"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4535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846D-71BE-B685-B1F9-06EAFC0A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69EBA-6768-3E90-7DB6-943696C8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하이브리드 </a:t>
            </a:r>
            <a:r>
              <a:rPr lang="en-US" altLang="ko-KR" dirty="0"/>
              <a:t>DSA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DB108F-A1D8-B59A-65E2-7CE15FBDE4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589651"/>
          </a:xfrm>
        </p:spPr>
        <p:txBody>
          <a:bodyPr>
            <a:normAutofit/>
          </a:bodyPr>
          <a:lstStyle/>
          <a:p>
            <a:r>
              <a:rPr lang="en" altLang="ko-KR" sz="2400" b="1" dirty="0" err="1"/>
              <a:t>Concat</a:t>
            </a:r>
            <a:r>
              <a:rPr lang="en" altLang="ko-KR" sz="2400" b="1" dirty="0"/>
              <a:t> </a:t>
            </a:r>
            <a:r>
              <a:rPr lang="ko-KR" altLang="en-US" sz="2400" b="1" dirty="0"/>
              <a:t>기반 하이브리드 </a:t>
            </a:r>
            <a:r>
              <a:rPr lang="en" altLang="ko-KR" sz="2400" b="1" dirty="0"/>
              <a:t>DSA </a:t>
            </a:r>
            <a:r>
              <a:rPr lang="ko-KR" altLang="en-US" sz="2400" b="1" dirty="0"/>
              <a:t>구성</a:t>
            </a:r>
          </a:p>
          <a:p>
            <a:pPr lvl="1"/>
            <a:r>
              <a:rPr lang="ko-KR" altLang="en-US" sz="2000" dirty="0"/>
              <a:t>동일한 메시지 </a:t>
            </a:r>
            <a:r>
              <a:rPr lang="en" altLang="ko-KR" sz="2000" dirty="0"/>
              <a:t>m</a:t>
            </a:r>
            <a:r>
              <a:rPr lang="ko-KR" altLang="en-US" sz="2000" dirty="0" err="1"/>
              <a:t>에</a:t>
            </a:r>
            <a:r>
              <a:rPr lang="ko-KR" altLang="en-US" sz="2000" dirty="0"/>
              <a:t> 대해 </a:t>
            </a:r>
            <a:r>
              <a:rPr lang="en" altLang="ko-KR" sz="2000" dirty="0"/>
              <a:t>classical DSA</a:t>
            </a:r>
            <a:r>
              <a:rPr lang="ko-KR" altLang="en-US" sz="2000" dirty="0"/>
              <a:t>와 </a:t>
            </a:r>
            <a:r>
              <a:rPr lang="en" altLang="ko-KR" sz="2000" dirty="0"/>
              <a:t>PQ-DSA</a:t>
            </a:r>
            <a:r>
              <a:rPr lang="ko-KR" altLang="en-US" sz="2000" dirty="0"/>
              <a:t>가 각각 서명</a:t>
            </a:r>
            <a:endParaRPr lang="en-US" altLang="ko-KR" sz="2000" dirty="0"/>
          </a:p>
          <a:p>
            <a:pPr lvl="1"/>
            <a:r>
              <a:rPr lang="ko-KR" altLang="en-US" sz="2000" dirty="0"/>
              <a:t>각 서명 입력</a:t>
            </a:r>
            <a:r>
              <a:rPr lang="en-US" altLang="ko-KR" sz="2000" dirty="0"/>
              <a:t>: </a:t>
            </a:r>
            <a:r>
              <a:rPr lang="en" altLang="ko-KR" sz="2000" dirty="0" err="1"/>
              <a:t>hybridAlgID</a:t>
            </a:r>
            <a:r>
              <a:rPr lang="en" altLang="ko-KR" sz="2000" dirty="0"/>
              <a:t> || m</a:t>
            </a:r>
            <a:endParaRPr lang="ko-KR" altLang="en-US" sz="2000" dirty="0"/>
          </a:p>
          <a:p>
            <a:pPr lvl="1"/>
            <a:r>
              <a:rPr lang="ko-KR" altLang="en-US" sz="2000" dirty="0"/>
              <a:t>최종 하이브리드 서명</a:t>
            </a:r>
            <a:r>
              <a:rPr lang="en-US" altLang="ko-KR" sz="2000" dirty="0"/>
              <a:t>: </a:t>
            </a:r>
            <a:r>
              <a:rPr lang="en" altLang="ko-KR" sz="2000" dirty="0"/>
              <a:t>sig = </a:t>
            </a:r>
            <a:r>
              <a:rPr lang="en" altLang="ko-KR" sz="2000" dirty="0" err="1"/>
              <a:t>sig_classical</a:t>
            </a:r>
            <a:r>
              <a:rPr lang="en" altLang="ko-KR" sz="2000" dirty="0"/>
              <a:t> || </a:t>
            </a:r>
            <a:r>
              <a:rPr lang="en" altLang="ko-KR" sz="2000" dirty="0" err="1"/>
              <a:t>sig_PQ</a:t>
            </a:r>
            <a:endParaRPr lang="en" altLang="ko-KR" sz="2000" dirty="0"/>
          </a:p>
          <a:p>
            <a:pPr lvl="1"/>
            <a:r>
              <a:rPr lang="ko-KR" altLang="en-US" sz="2000" dirty="0"/>
              <a:t>검증 시 두 서명을 모두 검증</a:t>
            </a:r>
          </a:p>
          <a:p>
            <a:pPr marL="0" indent="0">
              <a:buNone/>
            </a:pPr>
            <a:r>
              <a:rPr lang="ko-KR" altLang="en-US" sz="2000" dirty="0"/>
              <a:t>          → </a:t>
            </a:r>
            <a:r>
              <a:rPr lang="en" altLang="ko-KR" sz="2000" dirty="0"/>
              <a:t>Bindel et al.</a:t>
            </a:r>
            <a:r>
              <a:rPr lang="ko-KR" altLang="en-US" sz="2000" dirty="0"/>
              <a:t>에서 안전성이 이미 분석된 결합 방식 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" altLang="ko-KR" sz="2400" b="1" dirty="0"/>
              <a:t>Hybrid DSA </a:t>
            </a:r>
            <a:r>
              <a:rPr lang="en" altLang="ko-KR" sz="2400" b="1" dirty="0" err="1"/>
              <a:t>Concat</a:t>
            </a:r>
            <a:r>
              <a:rPr lang="en" altLang="ko-KR" sz="2400" b="1" dirty="0"/>
              <a:t> </a:t>
            </a:r>
            <a:r>
              <a:rPr lang="ko-KR" altLang="en-US" sz="2400" b="1" dirty="0"/>
              <a:t>구성 일반화 </a:t>
            </a:r>
            <a:endParaRPr lang="en" altLang="ko-KR" sz="2400" b="1" dirty="0"/>
          </a:p>
          <a:p>
            <a:pPr marL="0" indent="0">
              <a:buNone/>
            </a:pPr>
            <a:r>
              <a:rPr lang="en" altLang="ko-KR" sz="2000" dirty="0"/>
              <a:t>   1) PQ-DSA </a:t>
            </a:r>
            <a:r>
              <a:rPr lang="ko-KR" altLang="en-US" sz="2000" dirty="0"/>
              <a:t>확장</a:t>
            </a:r>
            <a:r>
              <a:rPr lang="en-US" altLang="ko-KR" sz="2000" dirty="0"/>
              <a:t>: </a:t>
            </a:r>
            <a:r>
              <a:rPr lang="en" altLang="ko-KR" sz="2000" dirty="0"/>
              <a:t>ML-DSA, HAETAE, </a:t>
            </a:r>
            <a:r>
              <a:rPr lang="en" altLang="ko-KR" sz="2000" dirty="0" err="1"/>
              <a:t>AIMer</a:t>
            </a:r>
            <a:r>
              <a:rPr lang="en" altLang="ko-KR" sz="2000" dirty="0"/>
              <a:t>, Falcon, SPHINCS+</a:t>
            </a:r>
          </a:p>
          <a:p>
            <a:pPr marL="0" indent="0">
              <a:buNone/>
            </a:pPr>
            <a:r>
              <a:rPr lang="en" altLang="ko-KR" sz="2000" dirty="0"/>
              <a:t>   2) Classical DSA </a:t>
            </a:r>
            <a:r>
              <a:rPr lang="ko-KR" altLang="en-US" sz="2000" dirty="0"/>
              <a:t>확장</a:t>
            </a:r>
            <a:r>
              <a:rPr lang="en-US" altLang="ko-KR" sz="2000" dirty="0"/>
              <a:t>: </a:t>
            </a:r>
            <a:r>
              <a:rPr lang="en" altLang="ko-KR" sz="2000" dirty="0"/>
              <a:t>Ed25519, ECDSA-P256, P-384, P-521</a:t>
            </a:r>
          </a:p>
          <a:p>
            <a:pPr marL="0" indent="0">
              <a:buNone/>
            </a:pPr>
            <a:r>
              <a:rPr lang="en" altLang="ko-KR" sz="2000" dirty="0"/>
              <a:t>   3) Bindel et al.</a:t>
            </a:r>
            <a:r>
              <a:rPr lang="ko-KR" altLang="en-US" sz="2000" dirty="0"/>
              <a:t>의</a:t>
            </a:r>
            <a:r>
              <a:rPr lang="en" altLang="ko-KR" sz="2000" dirty="0"/>
              <a:t> </a:t>
            </a:r>
            <a:r>
              <a:rPr lang="en-US" altLang="ko-KR" sz="2000" dirty="0" err="1"/>
              <a:t>concat</a:t>
            </a:r>
            <a:r>
              <a:rPr lang="en" altLang="ko-KR" sz="2000" dirty="0"/>
              <a:t> </a:t>
            </a:r>
            <a:r>
              <a:rPr lang="ko-KR" altLang="en-US" sz="2000" dirty="0"/>
              <a:t>결합 구조 유지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4) </a:t>
            </a:r>
            <a:r>
              <a:rPr lang="ko-KR" altLang="en-US" sz="2000" dirty="0"/>
              <a:t>개별 서명 알고리즘 수정 없이 </a:t>
            </a:r>
            <a:r>
              <a:rPr lang="en" altLang="ko-KR" sz="2000" dirty="0"/>
              <a:t>wrapper </a:t>
            </a:r>
            <a:r>
              <a:rPr lang="ko-KR" altLang="en-US" sz="2000" dirty="0"/>
              <a:t>계층에서 결합</a:t>
            </a:r>
          </a:p>
          <a:p>
            <a:pPr marL="0" indent="0">
              <a:buNone/>
            </a:pPr>
            <a:r>
              <a:rPr lang="ko-KR" altLang="en-US" sz="2000" b="1" dirty="0">
                <a:solidFill>
                  <a:srgbClr val="2E75B6"/>
                </a:solidFill>
              </a:rPr>
              <a:t>       </a:t>
            </a:r>
            <a:r>
              <a:rPr lang="en-US" altLang="ko-KR" sz="2000" b="1" dirty="0">
                <a:solidFill>
                  <a:srgbClr val="2E75B6"/>
                </a:solidFill>
              </a:rPr>
              <a:t>• </a:t>
            </a:r>
            <a:r>
              <a:rPr lang="en-US" altLang="ko-KR" sz="2000" b="1" dirty="0" err="1">
                <a:solidFill>
                  <a:srgbClr val="2E75B6"/>
                </a:solidFill>
              </a:rPr>
              <a:t>KpqC</a:t>
            </a:r>
            <a:r>
              <a:rPr lang="en-US" altLang="ko-KR" sz="2000" b="1" dirty="0">
                <a:solidFill>
                  <a:srgbClr val="2E75B6"/>
                </a:solidFill>
              </a:rPr>
              <a:t> </a:t>
            </a:r>
            <a:r>
              <a:rPr lang="ko-KR" altLang="en-US" sz="2000" b="1" dirty="0">
                <a:solidFill>
                  <a:srgbClr val="2E75B6"/>
                </a:solidFill>
              </a:rPr>
              <a:t>및</a:t>
            </a:r>
            <a:r>
              <a:rPr lang="en-US" altLang="ko-KR" sz="2000" b="1" dirty="0">
                <a:solidFill>
                  <a:srgbClr val="2E75B6"/>
                </a:solidFill>
              </a:rPr>
              <a:t> NIST PQC </a:t>
            </a:r>
            <a:r>
              <a:rPr lang="ko-KR" altLang="en-US" sz="2000" b="1" dirty="0">
                <a:solidFill>
                  <a:srgbClr val="2E75B6"/>
                </a:solidFill>
              </a:rPr>
              <a:t>기반 </a:t>
            </a:r>
            <a:r>
              <a:rPr lang="en-US" altLang="ko-KR" sz="2000" b="1" dirty="0">
                <a:solidFill>
                  <a:srgbClr val="2E75B6"/>
                </a:solidFill>
              </a:rPr>
              <a:t>Hybrid DSA </a:t>
            </a:r>
            <a:r>
              <a:rPr lang="ko-KR" altLang="en-US" sz="2000" b="1" dirty="0">
                <a:solidFill>
                  <a:srgbClr val="2E75B6"/>
                </a:solidFill>
              </a:rPr>
              <a:t>조합 즉시 비교 가능</a:t>
            </a:r>
            <a:endParaRPr lang="en" altLang="ko-KR" sz="2000" b="1" dirty="0">
              <a:solidFill>
                <a:srgbClr val="2E75B6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A48E2C-C0C8-04CF-2E67-91162C61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725" y="1961602"/>
            <a:ext cx="4216275" cy="314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0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5341-AF9F-A410-1B8F-9A2D113B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93CF255-52F7-FF73-E571-9A1D430C74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64" t="148" r="4878" b="12751"/>
          <a:stretch>
            <a:fillRect/>
          </a:stretch>
        </p:blipFill>
        <p:spPr>
          <a:xfrm>
            <a:off x="8092042" y="1848089"/>
            <a:ext cx="4099958" cy="29509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62773B-FC1A-FBD2-125C-1FDD8CF8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하이브리드 </a:t>
            </a:r>
            <a:r>
              <a:rPr lang="en-US" altLang="ko-KR" dirty="0"/>
              <a:t>DSA(nested)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FF50AB-721C-D890-AB40-61A5470577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Nested </a:t>
            </a:r>
            <a:r>
              <a:rPr lang="ko-KR" altLang="en-US" sz="2400" b="1" dirty="0"/>
              <a:t>기반 하이브리드 </a:t>
            </a:r>
            <a:r>
              <a:rPr lang="en-US" altLang="ko-KR" sz="2400" b="1" dirty="0"/>
              <a:t>DSA </a:t>
            </a:r>
            <a:r>
              <a:rPr lang="ko-KR" altLang="en-US" sz="2400" b="1" dirty="0"/>
              <a:t>구성</a:t>
            </a:r>
          </a:p>
          <a:p>
            <a:pPr lvl="1"/>
            <a:r>
              <a:rPr lang="ko-KR" altLang="en-US" sz="1800" dirty="0"/>
              <a:t>먼저 </a:t>
            </a:r>
            <a:r>
              <a:rPr lang="en-US" altLang="ko-KR" sz="1800" dirty="0"/>
              <a:t>classical DSA</a:t>
            </a:r>
            <a:r>
              <a:rPr lang="ko-KR" altLang="en-US" sz="1800" dirty="0"/>
              <a:t>가 </a:t>
            </a:r>
            <a:r>
              <a:rPr lang="en-US" altLang="ko-KR" sz="1800" dirty="0" err="1"/>
              <a:t>hybridAlgID</a:t>
            </a:r>
            <a:r>
              <a:rPr lang="en-US" altLang="ko-KR" sz="1800" dirty="0"/>
              <a:t> || m</a:t>
            </a:r>
            <a:r>
              <a:rPr lang="ko-KR" altLang="en-US" sz="1800" dirty="0" err="1"/>
              <a:t>에</a:t>
            </a:r>
            <a:r>
              <a:rPr lang="ko-KR" altLang="en-US" sz="1800" dirty="0"/>
              <a:t> 서명</a:t>
            </a:r>
          </a:p>
          <a:p>
            <a:pPr lvl="1"/>
            <a:r>
              <a:rPr lang="ko-KR" altLang="en-US" sz="1800" dirty="0"/>
              <a:t>이후 </a:t>
            </a:r>
            <a:r>
              <a:rPr lang="en-US" altLang="ko-KR" sz="1800" dirty="0"/>
              <a:t>PQ-DSA</a:t>
            </a:r>
            <a:r>
              <a:rPr lang="ko-KR" altLang="en-US" sz="1800" dirty="0"/>
              <a:t>가 메시지 </a:t>
            </a:r>
            <a:r>
              <a:rPr lang="en-US" altLang="ko-KR" sz="1800" dirty="0"/>
              <a:t>m</a:t>
            </a:r>
            <a:r>
              <a:rPr lang="ko-KR" altLang="en-US" sz="1800" dirty="0"/>
              <a:t>과 내부 서명 </a:t>
            </a:r>
            <a:r>
              <a:rPr lang="en-US" altLang="ko-KR" sz="1800" dirty="0" err="1"/>
              <a:t>sig_classical</a:t>
            </a:r>
            <a:r>
              <a:rPr lang="ko-KR" altLang="en-US" sz="1800" dirty="0"/>
              <a:t>을 함께 서명</a:t>
            </a:r>
          </a:p>
          <a:p>
            <a:pPr lvl="1"/>
            <a:r>
              <a:rPr lang="ko-KR" altLang="en-US" sz="1800" dirty="0"/>
              <a:t>최종 서명</a:t>
            </a:r>
            <a:r>
              <a:rPr lang="en-US" altLang="ko-KR" sz="1800" dirty="0"/>
              <a:t>: sig = </a:t>
            </a:r>
            <a:r>
              <a:rPr lang="en-US" altLang="ko-KR" sz="1800" dirty="0" err="1"/>
              <a:t>sig_classical</a:t>
            </a:r>
            <a:r>
              <a:rPr lang="en-US" altLang="ko-KR" sz="1800" dirty="0"/>
              <a:t> || </a:t>
            </a:r>
            <a:r>
              <a:rPr lang="en-US" altLang="ko-KR" sz="1800" dirty="0" err="1"/>
              <a:t>sig_PQ</a:t>
            </a:r>
            <a:endParaRPr lang="en-US" altLang="ko-KR" sz="1800" dirty="0"/>
          </a:p>
          <a:p>
            <a:pPr lvl="1"/>
            <a:r>
              <a:rPr lang="ko-KR" altLang="en-US" sz="1800" dirty="0"/>
              <a:t>검증</a:t>
            </a:r>
            <a:r>
              <a:rPr lang="en-US" altLang="ko-KR" sz="1800" dirty="0"/>
              <a:t>: </a:t>
            </a:r>
            <a:r>
              <a:rPr lang="ko-KR" altLang="en-US" sz="1800" dirty="0"/>
              <a:t>내부 서명 검증 후</a:t>
            </a:r>
            <a:r>
              <a:rPr lang="en-US" altLang="ko-KR" sz="1800" dirty="0"/>
              <a:t>, </a:t>
            </a:r>
            <a:r>
              <a:rPr lang="ko-KR" altLang="en-US" sz="1800" dirty="0"/>
              <a:t>외부 </a:t>
            </a:r>
            <a:r>
              <a:rPr lang="en-US" altLang="ko-KR" sz="1800" dirty="0"/>
              <a:t>PQ </a:t>
            </a:r>
            <a:r>
              <a:rPr lang="ko-KR" altLang="en-US" sz="1800" dirty="0"/>
              <a:t>서명이 내부 서명을 감쌌는지 검증</a:t>
            </a:r>
          </a:p>
          <a:p>
            <a:pPr marL="457200" lvl="1" indent="0">
              <a:buNone/>
            </a:pPr>
            <a:r>
              <a:rPr lang="ko-KR" altLang="en-US" sz="1800" b="1" dirty="0">
                <a:solidFill>
                  <a:srgbClr val="2E75B6"/>
                </a:solidFill>
              </a:rPr>
              <a:t>→ 외부 서명이 메시지와 내부 서명을 함께 보호</a:t>
            </a:r>
          </a:p>
          <a:p>
            <a:endParaRPr lang="ko-KR" altLang="en-US" sz="2000" dirty="0"/>
          </a:p>
          <a:p>
            <a:r>
              <a:rPr lang="en-US" altLang="ko-KR" sz="2400" b="1" dirty="0"/>
              <a:t>Hybrid DSA Nested </a:t>
            </a:r>
            <a:r>
              <a:rPr lang="ko-KR" altLang="en-US" sz="2400" b="1" dirty="0"/>
              <a:t>구성 일반화</a:t>
            </a:r>
          </a:p>
          <a:p>
            <a:pPr marL="457200" lvl="1" indent="0">
              <a:buNone/>
            </a:pPr>
            <a:r>
              <a:rPr lang="en-US" altLang="ko-KR" sz="2000" dirty="0"/>
              <a:t>1) PQ-DSA </a:t>
            </a:r>
            <a:r>
              <a:rPr lang="ko-KR" altLang="en-US" sz="2000" dirty="0"/>
              <a:t>확장</a:t>
            </a:r>
            <a:r>
              <a:rPr lang="en-US" altLang="ko-KR" sz="2000" dirty="0"/>
              <a:t>: ML-DSA, HAETAE, </a:t>
            </a:r>
            <a:r>
              <a:rPr lang="en-US" altLang="ko-KR" sz="2000" dirty="0" err="1"/>
              <a:t>AIMer</a:t>
            </a:r>
            <a:r>
              <a:rPr lang="en-US" altLang="ko-KR" sz="2000" dirty="0"/>
              <a:t>, Falcon, SPHINCS+</a:t>
            </a:r>
          </a:p>
          <a:p>
            <a:pPr marL="457200" lvl="1" indent="0">
              <a:buNone/>
            </a:pPr>
            <a:r>
              <a:rPr lang="en-US" altLang="ko-KR" sz="2000" dirty="0"/>
              <a:t>2) Classical DSA </a:t>
            </a:r>
            <a:r>
              <a:rPr lang="ko-KR" altLang="en-US" sz="2000" dirty="0"/>
              <a:t>확장</a:t>
            </a:r>
            <a:r>
              <a:rPr lang="en-US" altLang="ko-KR" sz="2000" dirty="0"/>
              <a:t>: Ed25519, ECDSA-P256, P-384, P-521</a:t>
            </a:r>
          </a:p>
          <a:p>
            <a:pPr marL="457200" lvl="1" indent="0">
              <a:buNone/>
            </a:pPr>
            <a:r>
              <a:rPr lang="en-US" altLang="ko-KR" sz="2000" dirty="0"/>
              <a:t>3) Bindel et al.</a:t>
            </a:r>
            <a:r>
              <a:rPr lang="ko-KR" altLang="en-US" sz="2000" dirty="0"/>
              <a:t>의 </a:t>
            </a:r>
            <a:r>
              <a:rPr lang="en-US" altLang="ko-KR" sz="2000" dirty="0"/>
              <a:t>nested </a:t>
            </a:r>
            <a:r>
              <a:rPr lang="ko-KR" altLang="en-US" sz="2000" dirty="0"/>
              <a:t>결합 구조 유지</a:t>
            </a:r>
          </a:p>
          <a:p>
            <a:pPr marL="457200" lvl="1" indent="0">
              <a:buNone/>
            </a:pPr>
            <a:r>
              <a:rPr lang="en-US" altLang="ko-KR" sz="2000" dirty="0"/>
              <a:t>4) </a:t>
            </a:r>
            <a:r>
              <a:rPr lang="ko-KR" altLang="en-US" sz="2000" dirty="0"/>
              <a:t>개별 서명 알고리즘 수정 없이 </a:t>
            </a:r>
            <a:r>
              <a:rPr lang="en-US" altLang="ko-KR" sz="2000" dirty="0"/>
              <a:t>wrapper </a:t>
            </a:r>
            <a:r>
              <a:rPr lang="ko-KR" altLang="en-US" sz="2000" dirty="0"/>
              <a:t>계층에서 결합</a:t>
            </a:r>
          </a:p>
          <a:p>
            <a:pPr marL="457200" lvl="1" indent="0">
              <a:buNone/>
            </a:pPr>
            <a:r>
              <a:rPr lang="ko-KR" altLang="en-US" sz="2000" b="1" dirty="0">
                <a:solidFill>
                  <a:srgbClr val="2E75B6"/>
                </a:solidFill>
              </a:rPr>
              <a:t>   </a:t>
            </a:r>
            <a:r>
              <a:rPr lang="en-US" altLang="ko-KR" sz="2000" b="1" dirty="0">
                <a:solidFill>
                  <a:srgbClr val="2E75B6"/>
                </a:solidFill>
              </a:rPr>
              <a:t>• </a:t>
            </a:r>
            <a:r>
              <a:rPr lang="en-US" altLang="ko-KR" sz="2000" b="1" dirty="0" err="1">
                <a:solidFill>
                  <a:srgbClr val="2E75B6"/>
                </a:solidFill>
              </a:rPr>
              <a:t>KpqC</a:t>
            </a:r>
            <a:r>
              <a:rPr lang="en-US" altLang="ko-KR" sz="2000" b="1" dirty="0">
                <a:solidFill>
                  <a:srgbClr val="2E75B6"/>
                </a:solidFill>
              </a:rPr>
              <a:t> </a:t>
            </a:r>
            <a:r>
              <a:rPr lang="ko-KR" altLang="en-US" sz="2000" b="1" dirty="0">
                <a:solidFill>
                  <a:srgbClr val="2E75B6"/>
                </a:solidFill>
              </a:rPr>
              <a:t>및</a:t>
            </a:r>
            <a:r>
              <a:rPr lang="en-US" altLang="ko-KR" sz="2000" b="1" dirty="0">
                <a:solidFill>
                  <a:srgbClr val="2E75B6"/>
                </a:solidFill>
              </a:rPr>
              <a:t> NIST PQC </a:t>
            </a:r>
            <a:r>
              <a:rPr lang="ko-KR" altLang="en-US" sz="2000" b="1" dirty="0">
                <a:solidFill>
                  <a:srgbClr val="2E75B6"/>
                </a:solidFill>
              </a:rPr>
              <a:t>기반 </a:t>
            </a:r>
            <a:r>
              <a:rPr lang="en-US" altLang="ko-KR" sz="2000" b="1" dirty="0">
                <a:solidFill>
                  <a:srgbClr val="2E75B6"/>
                </a:solidFill>
              </a:rPr>
              <a:t>Hybrid DSA </a:t>
            </a:r>
            <a:r>
              <a:rPr lang="ko-KR" altLang="en-US" sz="2000" b="1" dirty="0">
                <a:solidFill>
                  <a:srgbClr val="2E75B6"/>
                </a:solidFill>
              </a:rPr>
              <a:t>조합 즉시 비교 가능</a:t>
            </a:r>
          </a:p>
        </p:txBody>
      </p:sp>
    </p:spTree>
    <p:extLst>
      <p:ext uri="{BB962C8B-B14F-4D97-AF65-F5344CB8AC3E}">
        <p14:creationId xmlns:p14="http://schemas.microsoft.com/office/powerpoint/2010/main" val="28129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B7042-B8DB-515E-3C91-C826B220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실험 환경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2CEC9B-CEFE-4E12-59CF-183BD64C78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ko-KR" altLang="en-US" sz="2000" dirty="0"/>
              <a:t>타겟 보드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NUCLEO-L4R5ZI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(120MHz)</a:t>
            </a:r>
          </a:p>
          <a:p>
            <a:r>
              <a:rPr kumimoji="1" lang="ko-KR" altLang="en-US" sz="2000" dirty="0"/>
              <a:t>컴파일러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</a:t>
            </a:r>
            <a:r>
              <a:rPr kumimoji="1" lang="en" altLang="ko-KR" sz="2000" dirty="0"/>
              <a:t>arm-none-</a:t>
            </a:r>
            <a:r>
              <a:rPr kumimoji="1" lang="en" altLang="ko-KR" sz="2000" dirty="0" err="1"/>
              <a:t>eabi</a:t>
            </a:r>
            <a:r>
              <a:rPr kumimoji="1" lang="en" altLang="ko-KR" sz="2000" dirty="0"/>
              <a:t>-</a:t>
            </a:r>
            <a:r>
              <a:rPr kumimoji="1" lang="en" altLang="ko-KR" sz="2000" dirty="0" err="1"/>
              <a:t>gcc</a:t>
            </a:r>
            <a:r>
              <a:rPr kumimoji="1" lang="en" altLang="ko-KR" sz="2000" dirty="0"/>
              <a:t> 15.2</a:t>
            </a:r>
          </a:p>
          <a:p>
            <a:r>
              <a:rPr kumimoji="1" lang="ko-KR" altLang="en-US" sz="2000" dirty="0"/>
              <a:t>프레임워크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pqm4</a:t>
            </a:r>
          </a:p>
          <a:p>
            <a:r>
              <a:rPr kumimoji="1" lang="en-US" altLang="ko-KR" sz="2000" dirty="0"/>
              <a:t>NIST PQC : pqm4, </a:t>
            </a:r>
            <a:r>
              <a:rPr kumimoji="1" lang="en-US" altLang="ko-KR" sz="2000" dirty="0" err="1"/>
              <a:t>mupq</a:t>
            </a:r>
            <a:r>
              <a:rPr kumimoji="1" lang="en-US" altLang="ko-KR" sz="2000" dirty="0"/>
              <a:t>, </a:t>
            </a:r>
            <a:r>
              <a:rPr kumimoji="1" lang="en-US" altLang="ko-KR" sz="2000" dirty="0" err="1"/>
              <a:t>pqclean</a:t>
            </a:r>
            <a:endParaRPr kumimoji="1" lang="en-US" altLang="ko-KR" sz="2000" dirty="0"/>
          </a:p>
          <a:p>
            <a:r>
              <a:rPr kumimoji="1" lang="en-US" altLang="ko-KR" sz="2000" dirty="0" err="1"/>
              <a:t>KpqC</a:t>
            </a:r>
            <a:r>
              <a:rPr kumimoji="1" lang="en-US" altLang="ko-KR" sz="2000" dirty="0"/>
              <a:t> : KpqClean_ver2</a:t>
            </a:r>
            <a:r>
              <a:rPr kumimoji="1" lang="ko-KR" altLang="en-US" sz="2000" dirty="0"/>
              <a:t> 기반 포팅</a:t>
            </a:r>
            <a:endParaRPr kumimoji="1" lang="en-US" altLang="ko-KR" sz="2000" dirty="0"/>
          </a:p>
          <a:p>
            <a:r>
              <a:rPr kumimoji="1" lang="en-US" altLang="ko-KR" sz="2000" dirty="0"/>
              <a:t>Classical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ECDH, ECDSA : </a:t>
            </a:r>
            <a:r>
              <a:rPr kumimoji="1" lang="en-US" altLang="ko-KR" sz="2000" dirty="0" err="1"/>
              <a:t>mbedTLS</a:t>
            </a:r>
            <a:r>
              <a:rPr kumimoji="1" lang="en-US" altLang="ko-KR" sz="2000" dirty="0"/>
              <a:t> 3.6.3</a:t>
            </a:r>
          </a:p>
          <a:p>
            <a:r>
              <a:rPr kumimoji="1" lang="en-US" altLang="ko-KR" sz="2000" dirty="0"/>
              <a:t>Classical Ed25519 : </a:t>
            </a:r>
            <a:r>
              <a:rPr kumimoji="1" lang="en-US" altLang="ko-KR" sz="2000" dirty="0" err="1"/>
              <a:t>TweetNaCl</a:t>
            </a:r>
            <a:r>
              <a:rPr kumimoji="1" lang="en-US" altLang="ko-KR" sz="2000" dirty="0"/>
              <a:t> reference</a:t>
            </a:r>
          </a:p>
          <a:p>
            <a:endParaRPr kumimoji="1" lang="en-US" altLang="ko-KR" sz="2000" dirty="0"/>
          </a:p>
          <a:p>
            <a:endParaRPr kumimoji="1" lang="en-US" altLang="ko-KR" sz="2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73F37ED-F176-ABED-34E2-B90F34E81034}"/>
              </a:ext>
            </a:extLst>
          </p:cNvPr>
          <p:cNvGraphicFramePr>
            <a:graphicFrameLocks noGrp="1"/>
          </p:cNvGraphicFramePr>
          <p:nvPr/>
        </p:nvGraphicFramePr>
        <p:xfrm>
          <a:off x="2043197" y="4166398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431">
                  <a:extLst>
                    <a:ext uri="{9D8B030D-6E8A-4147-A177-3AD203B41FA5}">
                      <a16:colId xmlns:a16="http://schemas.microsoft.com/office/drawing/2014/main" val="810604265"/>
                    </a:ext>
                  </a:extLst>
                </a:gridCol>
                <a:gridCol w="3665621">
                  <a:extLst>
                    <a:ext uri="{9D8B030D-6E8A-4147-A177-3AD203B41FA5}">
                      <a16:colId xmlns:a16="http://schemas.microsoft.com/office/drawing/2014/main" val="4229566416"/>
                    </a:ext>
                  </a:extLst>
                </a:gridCol>
                <a:gridCol w="3066947">
                  <a:extLst>
                    <a:ext uri="{9D8B030D-6E8A-4147-A177-3AD203B41FA5}">
                      <a16:colId xmlns:a16="http://schemas.microsoft.com/office/drawing/2014/main" val="28877364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NIST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PQC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KPQC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18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KEM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ML-KEM, HQC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SMAUG-T, NTRU+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472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DSA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ML-DSA, SLH-DSA, FALCON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HAETAE, </a:t>
                      </a:r>
                      <a:r>
                        <a:rPr lang="en-US" altLang="ko-KR" dirty="0" err="1"/>
                        <a:t>AIMer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8508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2A5A41-9EFF-DE42-35F3-59A7F7A8B1B1}"/>
              </a:ext>
            </a:extLst>
          </p:cNvPr>
          <p:cNvGraphicFramePr>
            <a:graphicFrameLocks noGrp="1"/>
          </p:cNvGraphicFramePr>
          <p:nvPr/>
        </p:nvGraphicFramePr>
        <p:xfrm>
          <a:off x="2020804" y="5461533"/>
          <a:ext cx="815039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431">
                  <a:extLst>
                    <a:ext uri="{9D8B030D-6E8A-4147-A177-3AD203B41FA5}">
                      <a16:colId xmlns:a16="http://schemas.microsoft.com/office/drawing/2014/main" val="810604265"/>
                    </a:ext>
                  </a:extLst>
                </a:gridCol>
                <a:gridCol w="6754961">
                  <a:extLst>
                    <a:ext uri="{9D8B030D-6E8A-4147-A177-3AD203B41FA5}">
                      <a16:colId xmlns:a16="http://schemas.microsoft.com/office/drawing/2014/main" val="422956641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Classical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18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ECDH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X25519, P-256, P-384, P-521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472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DSA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Ed25519, ECDSA-P256, ECDSA-P384, ECDSA-P521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85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261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222B-42B5-D82F-30DA-7EDEC381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88AFA-AF96-00B0-57A2-E51B90A0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Cortex-M4</a:t>
            </a:r>
            <a:r>
              <a:rPr lang="ko-KR" altLang="en-US" dirty="0"/>
              <a:t> 상에서의 하이브리드 </a:t>
            </a:r>
            <a:r>
              <a:rPr lang="en-US" altLang="ko-KR" dirty="0"/>
              <a:t>KEM</a:t>
            </a:r>
            <a:r>
              <a:rPr lang="ko-KR" altLang="en-US" dirty="0"/>
              <a:t> 성능 비교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C6C66F-4BDE-0D20-B1E1-ABDCEE274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" altLang="ko-KR" sz="2000" dirty="0"/>
              <a:t>Classical KEX </a:t>
            </a:r>
            <a:r>
              <a:rPr lang="ko-KR" altLang="en-US" sz="2000" dirty="0"/>
              <a:t>선택이 전체 </a:t>
            </a:r>
            <a:r>
              <a:rPr lang="en" altLang="ko-KR" sz="2000" dirty="0"/>
              <a:t>hybrid KEM </a:t>
            </a:r>
            <a:r>
              <a:rPr lang="ko-KR" altLang="en-US" sz="2000" dirty="0"/>
              <a:t>성능에 가장 큰 영향</a:t>
            </a:r>
          </a:p>
          <a:p>
            <a:r>
              <a:rPr lang="en" altLang="ko-KR" sz="2000" b="1" dirty="0">
                <a:solidFill>
                  <a:srgbClr val="2E75B6"/>
                </a:solidFill>
              </a:rPr>
              <a:t>X25519 </a:t>
            </a:r>
            <a:r>
              <a:rPr lang="ko-KR" altLang="en-US" sz="2000" b="1" dirty="0">
                <a:solidFill>
                  <a:srgbClr val="2E75B6"/>
                </a:solidFill>
              </a:rPr>
              <a:t>조합에서는 </a:t>
            </a:r>
            <a:r>
              <a:rPr lang="en" altLang="ko-KR" sz="2000" b="1" dirty="0">
                <a:solidFill>
                  <a:srgbClr val="2E75B6"/>
                </a:solidFill>
              </a:rPr>
              <a:t>ML-KEM, NTRU+, SMAUG-T</a:t>
            </a:r>
            <a:r>
              <a:rPr lang="ko-KR" altLang="en-US" sz="2000" b="1" dirty="0">
                <a:solidFill>
                  <a:srgbClr val="2E75B6"/>
                </a:solidFill>
              </a:rPr>
              <a:t>가 유사한 성능 범위</a:t>
            </a:r>
          </a:p>
          <a:p>
            <a:r>
              <a:rPr lang="en" altLang="ko-KR" sz="2000" dirty="0"/>
              <a:t>HQC </a:t>
            </a:r>
            <a:r>
              <a:rPr lang="ko-KR" altLang="en-US" sz="2000" dirty="0"/>
              <a:t>계열은 </a:t>
            </a:r>
            <a:r>
              <a:rPr lang="en" altLang="ko-KR" sz="2000" dirty="0"/>
              <a:t>keygen/</a:t>
            </a:r>
            <a:r>
              <a:rPr lang="en" altLang="ko-KR" sz="2000" dirty="0" err="1"/>
              <a:t>encaps</a:t>
            </a:r>
            <a:r>
              <a:rPr lang="en" altLang="ko-KR" sz="2000" dirty="0"/>
              <a:t>/</a:t>
            </a:r>
            <a:r>
              <a:rPr lang="en" altLang="ko-KR" sz="2000" dirty="0" err="1"/>
              <a:t>decaps</a:t>
            </a:r>
            <a:r>
              <a:rPr lang="en" altLang="ko-KR" sz="2000" dirty="0"/>
              <a:t> </a:t>
            </a:r>
            <a:r>
              <a:rPr lang="ko-KR" altLang="en-US" sz="2000" dirty="0"/>
              <a:t>전반에서 가장 큰 </a:t>
            </a:r>
            <a:r>
              <a:rPr lang="en" altLang="ko-KR" sz="2000" dirty="0"/>
              <a:t>cycle </a:t>
            </a:r>
            <a:r>
              <a:rPr lang="ko-KR" altLang="en-US" sz="2000" dirty="0"/>
              <a:t>소모</a:t>
            </a:r>
            <a:endParaRPr lang="en-US" altLang="ko-KR" sz="2000" dirty="0"/>
          </a:p>
          <a:p>
            <a:pPr lvl="1"/>
            <a:r>
              <a:rPr lang="en" altLang="ko-KR" sz="1600" dirty="0"/>
              <a:t>HQC </a:t>
            </a:r>
            <a:r>
              <a:rPr lang="ko-KR" altLang="en-US" sz="1600" dirty="0"/>
              <a:t>계열은 </a:t>
            </a:r>
            <a:r>
              <a:rPr lang="en" altLang="ko-KR" sz="1600" dirty="0"/>
              <a:t>X25519 </a:t>
            </a:r>
            <a:r>
              <a:rPr lang="ko-KR" altLang="en-US" sz="1600" dirty="0"/>
              <a:t>조합 기준 격자 기반 </a:t>
            </a:r>
            <a:r>
              <a:rPr lang="en" altLang="ko-KR" sz="1600" dirty="0"/>
              <a:t>KEM </a:t>
            </a:r>
            <a:r>
              <a:rPr lang="ko-KR" altLang="en-US" sz="1600" dirty="0"/>
              <a:t>대비 총 </a:t>
            </a:r>
            <a:r>
              <a:rPr lang="en" altLang="ko-KR" sz="1600" dirty="0"/>
              <a:t>cycle </a:t>
            </a:r>
            <a:r>
              <a:rPr lang="ko-KR" altLang="en-US" sz="1600" dirty="0"/>
              <a:t>약 </a:t>
            </a:r>
            <a:r>
              <a:rPr lang="en-US" altLang="ko-KR" sz="1600" b="1" dirty="0">
                <a:solidFill>
                  <a:srgbClr val="FF0000"/>
                </a:solidFill>
              </a:rPr>
              <a:t>5~24</a:t>
            </a:r>
            <a:r>
              <a:rPr lang="ko-KR" altLang="en-US" sz="1600" b="1" dirty="0">
                <a:solidFill>
                  <a:srgbClr val="FF0000"/>
                </a:solidFill>
              </a:rPr>
              <a:t>배 증가</a:t>
            </a:r>
          </a:p>
          <a:p>
            <a:pPr lvl="1"/>
            <a:endParaRPr lang="ko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68CBB5-6E7A-5D2A-A9AF-9465278CD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83" y="2576356"/>
            <a:ext cx="12195683" cy="396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96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50AA9-587E-62C5-0D3E-D1A7FA29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E32CF-6220-7324-3DA9-FA20F6EB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Cortex-M4</a:t>
            </a:r>
            <a:r>
              <a:rPr lang="ko-KR" altLang="en-US" dirty="0"/>
              <a:t> 상에서의 하이브리드 </a:t>
            </a:r>
            <a:r>
              <a:rPr lang="en-US" altLang="ko-KR" dirty="0"/>
              <a:t>DSA(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r>
              <a:rPr lang="ko-KR" altLang="en-US" dirty="0"/>
              <a:t> 성능 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407B57-9AEA-976F-EE23-4E132674C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2" y="969910"/>
            <a:ext cx="11465527" cy="5057775"/>
          </a:xfrm>
        </p:spPr>
        <p:txBody>
          <a:bodyPr>
            <a:normAutofit/>
          </a:bodyPr>
          <a:lstStyle/>
          <a:p>
            <a:r>
              <a:rPr lang="en" altLang="ko-KR" sz="2000" dirty="0"/>
              <a:t>Ed25519 </a:t>
            </a:r>
            <a:r>
              <a:rPr lang="ko-KR" altLang="en-US" sz="2000" dirty="0"/>
              <a:t>조합이 대부분의 </a:t>
            </a:r>
            <a:r>
              <a:rPr lang="en" altLang="ko-KR" sz="2000" dirty="0"/>
              <a:t>PQ-DSA</a:t>
            </a:r>
            <a:r>
              <a:rPr lang="ko-KR" altLang="en-US" sz="2000" dirty="0"/>
              <a:t>에서 가장 낮은 </a:t>
            </a:r>
            <a:r>
              <a:rPr lang="en" altLang="ko-KR" sz="2000" dirty="0"/>
              <a:t>cycle</a:t>
            </a:r>
          </a:p>
          <a:p>
            <a:r>
              <a:rPr lang="en" altLang="ko-KR" sz="2000" dirty="0"/>
              <a:t>Falcon</a:t>
            </a:r>
            <a:r>
              <a:rPr lang="ko-KR" altLang="en-US" sz="2000" dirty="0"/>
              <a:t>은 특히 </a:t>
            </a:r>
            <a:r>
              <a:rPr lang="en" altLang="ko-KR" sz="2000" dirty="0" err="1"/>
              <a:t>KeyGen</a:t>
            </a:r>
            <a:r>
              <a:rPr lang="en" altLang="ko-KR" sz="2000" dirty="0"/>
              <a:t> </a:t>
            </a:r>
            <a:r>
              <a:rPr lang="ko-KR" altLang="en-US" sz="2000" dirty="0"/>
              <a:t>비용이 크며</a:t>
            </a:r>
            <a:r>
              <a:rPr lang="en-US" altLang="ko-KR" sz="2000" dirty="0"/>
              <a:t>,</a:t>
            </a:r>
          </a:p>
          <a:p>
            <a:r>
              <a:rPr lang="en" altLang="ko-KR" sz="2000" dirty="0"/>
              <a:t>Falcon-1024</a:t>
            </a:r>
            <a:r>
              <a:rPr lang="ko-KR" altLang="en-US" sz="2000" dirty="0"/>
              <a:t>는 </a:t>
            </a:r>
            <a:r>
              <a:rPr lang="en" altLang="ko-KR" sz="2000" dirty="0"/>
              <a:t>ML-DSA · HAETAE </a:t>
            </a:r>
            <a:r>
              <a:rPr lang="ko-KR" altLang="en-US" sz="2000" dirty="0"/>
              <a:t>대비 최대 </a:t>
            </a:r>
            <a:r>
              <a:rPr lang="ko-KR" altLang="en-US" sz="2000" b="1" dirty="0">
                <a:solidFill>
                  <a:srgbClr val="FF0000"/>
                </a:solidFill>
              </a:rPr>
              <a:t>약 </a:t>
            </a:r>
            <a:r>
              <a:rPr lang="en-US" altLang="ko-KR" sz="2000" b="1" dirty="0">
                <a:solidFill>
                  <a:srgbClr val="FF0000"/>
                </a:solidFill>
              </a:rPr>
              <a:t>20</a:t>
            </a:r>
            <a:r>
              <a:rPr lang="ko-KR" altLang="en-US" sz="2000" b="1" dirty="0">
                <a:solidFill>
                  <a:srgbClr val="FF0000"/>
                </a:solidFill>
              </a:rPr>
              <a:t>배</a:t>
            </a:r>
          </a:p>
          <a:p>
            <a:r>
              <a:rPr lang="ko-KR" altLang="en-US" sz="2000" dirty="0"/>
              <a:t>그 외 </a:t>
            </a:r>
            <a:r>
              <a:rPr lang="en" altLang="ko-KR" sz="2000" dirty="0"/>
              <a:t>PQ-DSA</a:t>
            </a:r>
            <a:r>
              <a:rPr lang="ko-KR" altLang="en-US" sz="2000" dirty="0"/>
              <a:t>는 상대적으로 유사한 범위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F163A4-0AAC-98C6-5802-1DD55B0E7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7" y="2590517"/>
            <a:ext cx="11709033" cy="380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51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4865-C7EA-BD38-06D7-DA5513C3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D4CED-44CB-46E4-F198-0853EBBC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Cortex-M4</a:t>
            </a:r>
            <a:r>
              <a:rPr lang="ko-KR" altLang="en-US" dirty="0"/>
              <a:t> 상에서의 하이브리드 </a:t>
            </a:r>
            <a:r>
              <a:rPr lang="en-US" altLang="ko-KR" dirty="0"/>
              <a:t>DSA(nested)</a:t>
            </a:r>
            <a:r>
              <a:rPr lang="ko-KR" altLang="en-US" dirty="0"/>
              <a:t> 성능 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C237C6-C302-7BDD-BCB6-71743407AC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20" y="1169604"/>
            <a:ext cx="11369675" cy="5057775"/>
          </a:xfrm>
        </p:spPr>
        <p:txBody>
          <a:bodyPr/>
          <a:lstStyle/>
          <a:p>
            <a:r>
              <a:rPr lang="en" altLang="ko-KR" sz="2000" dirty="0"/>
              <a:t>Ed25519 </a:t>
            </a:r>
            <a:r>
              <a:rPr lang="ko-KR" altLang="en-US" sz="2000" dirty="0"/>
              <a:t>조합이 대부분의 </a:t>
            </a:r>
            <a:r>
              <a:rPr lang="en" altLang="ko-KR" sz="2000" dirty="0"/>
              <a:t>PQ-DSA</a:t>
            </a:r>
            <a:r>
              <a:rPr lang="ko-KR" altLang="en-US" sz="2000" dirty="0"/>
              <a:t>에서 가장 낮은 </a:t>
            </a:r>
            <a:r>
              <a:rPr lang="en" altLang="ko-KR" sz="2000" dirty="0"/>
              <a:t>cycle</a:t>
            </a:r>
          </a:p>
          <a:p>
            <a:r>
              <a:rPr lang="en" altLang="ko-KR" sz="2000" dirty="0"/>
              <a:t>Falcon</a:t>
            </a:r>
            <a:r>
              <a:rPr lang="ko-KR" altLang="en-US" sz="2000" dirty="0"/>
              <a:t>은 특히 </a:t>
            </a:r>
            <a:r>
              <a:rPr lang="en" altLang="ko-KR" sz="2000" dirty="0" err="1"/>
              <a:t>KeyGen</a:t>
            </a:r>
            <a:r>
              <a:rPr lang="en" altLang="ko-KR" sz="2000" dirty="0"/>
              <a:t> </a:t>
            </a:r>
            <a:r>
              <a:rPr lang="ko-KR" altLang="en-US" sz="2000" dirty="0"/>
              <a:t>비용이 크며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" altLang="ko-KR" sz="2000" dirty="0"/>
              <a:t>Falcon-1024</a:t>
            </a:r>
            <a:r>
              <a:rPr lang="ko-KR" altLang="en-US" sz="2000" dirty="0"/>
              <a:t>는 </a:t>
            </a:r>
            <a:r>
              <a:rPr lang="en" altLang="ko-KR" sz="2000" dirty="0"/>
              <a:t>ML-DSA · HAETAE </a:t>
            </a:r>
            <a:r>
              <a:rPr lang="ko-KR" altLang="en-US" sz="2000" dirty="0"/>
              <a:t>대비 최대 </a:t>
            </a:r>
            <a:r>
              <a:rPr lang="ko-KR" altLang="en-US" sz="2000" b="1" dirty="0">
                <a:solidFill>
                  <a:srgbClr val="FF0000"/>
                </a:solidFill>
              </a:rPr>
              <a:t>약 </a:t>
            </a:r>
            <a:r>
              <a:rPr lang="en-US" altLang="ko-KR" sz="2000" b="1" dirty="0">
                <a:solidFill>
                  <a:srgbClr val="FF0000"/>
                </a:solidFill>
              </a:rPr>
              <a:t>18</a:t>
            </a:r>
            <a:r>
              <a:rPr lang="ko-KR" altLang="en-US" sz="2000" b="1" dirty="0">
                <a:solidFill>
                  <a:srgbClr val="FF0000"/>
                </a:solidFill>
              </a:rPr>
              <a:t>배</a:t>
            </a:r>
          </a:p>
          <a:p>
            <a:r>
              <a:rPr lang="ko-KR" altLang="en-US" sz="2000" dirty="0"/>
              <a:t>그 외 </a:t>
            </a:r>
            <a:r>
              <a:rPr lang="en" altLang="ko-KR" sz="2000" dirty="0"/>
              <a:t>PQ-DSA</a:t>
            </a:r>
            <a:r>
              <a:rPr lang="ko-KR" altLang="en-US" sz="2000" dirty="0"/>
              <a:t>는 상대적으로 유사한 범위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1E719F-0607-6DAB-B88F-AD0D08B14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0" y="2525564"/>
            <a:ext cx="12005938" cy="390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BAF59-B613-7374-02FD-D07C2EDA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Cortex-M4</a:t>
            </a:r>
            <a:r>
              <a:rPr lang="ko-KR" altLang="en-US" dirty="0"/>
              <a:t> 상에서의 하이브리드 </a:t>
            </a:r>
            <a:r>
              <a:rPr lang="en-US" altLang="ko-KR" dirty="0"/>
              <a:t>DSA(</a:t>
            </a:r>
            <a:r>
              <a:rPr lang="en-US" altLang="ko-KR" dirty="0" err="1"/>
              <a:t>concat</a:t>
            </a:r>
            <a:r>
              <a:rPr lang="en-US" altLang="ko-KR" dirty="0"/>
              <a:t>)</a:t>
            </a:r>
            <a:r>
              <a:rPr lang="ko-KR" altLang="en-US" dirty="0"/>
              <a:t> 성능 비교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18D944-4150-7CBB-DDE3-CF1DD9243E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" altLang="ko-KR" sz="1800" dirty="0"/>
              <a:t>C</a:t>
            </a:r>
            <a:r>
              <a:rPr kumimoji="1" lang="en-US" altLang="ko-KR" sz="1800" dirty="0" err="1"/>
              <a:t>oncat</a:t>
            </a:r>
            <a:r>
              <a:rPr kumimoji="1" lang="en" altLang="ko-KR" sz="1800" dirty="0"/>
              <a:t> </a:t>
            </a:r>
            <a:r>
              <a:rPr kumimoji="1" lang="ko-KR" altLang="en-US" sz="1800" dirty="0"/>
              <a:t>모드에서도 </a:t>
            </a:r>
            <a:r>
              <a:rPr kumimoji="1" lang="en" altLang="ko-KR" sz="1800" dirty="0"/>
              <a:t>SPHINCS+</a:t>
            </a:r>
            <a:r>
              <a:rPr kumimoji="1" lang="ko-KR" altLang="en-US" sz="1800" dirty="0"/>
              <a:t>는 </a:t>
            </a:r>
            <a:r>
              <a:rPr kumimoji="1" lang="en" altLang="ko-KR" sz="1800" dirty="0"/>
              <a:t>Sign </a:t>
            </a:r>
            <a:r>
              <a:rPr kumimoji="1" lang="ko-KR" altLang="en-US" sz="1800" dirty="0"/>
              <a:t>비용이 지배적이며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모드 차이보다 파라미터 선택 영향이 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BAEEC5-72D5-AF94-C516-3837B7D2F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1340"/>
            <a:ext cx="12192000" cy="39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74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8C61-CB37-FCEF-B2A5-ED657C42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E1921-84EB-938B-2D87-30D24685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Cortex-M4</a:t>
            </a:r>
            <a:r>
              <a:rPr lang="ko-KR" altLang="en-US" dirty="0"/>
              <a:t> 상에서의 하이브리드 </a:t>
            </a:r>
            <a:r>
              <a:rPr lang="en-US" altLang="ko-KR" dirty="0"/>
              <a:t>DSA(nested)</a:t>
            </a:r>
            <a:r>
              <a:rPr lang="ko-KR" altLang="en-US" dirty="0"/>
              <a:t> 성능 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3457F5-5250-26F8-AE89-B988DDEBB4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" altLang="ko-KR" sz="2000" dirty="0"/>
              <a:t>SPHINCS+</a:t>
            </a:r>
            <a:r>
              <a:rPr lang="ko-KR" altLang="en-US" sz="2000" dirty="0"/>
              <a:t>는 </a:t>
            </a:r>
            <a:r>
              <a:rPr lang="en" altLang="ko-KR" sz="2000" dirty="0"/>
              <a:t>Sign </a:t>
            </a:r>
            <a:r>
              <a:rPr lang="ko-KR" altLang="en-US" sz="2000" dirty="0"/>
              <a:t>비용이 압도적으로 커서 </a:t>
            </a:r>
            <a:r>
              <a:rPr lang="en" altLang="ko-KR" sz="2000" dirty="0"/>
              <a:t>classical DSA</a:t>
            </a:r>
            <a:r>
              <a:rPr lang="ko-KR" altLang="en-US" sz="2000" dirty="0"/>
              <a:t>보다 파라미터 선택이 전체 성능을 지배</a:t>
            </a:r>
          </a:p>
          <a:p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2424CE-35B2-6148-04F4-E27E40193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14" y="1737995"/>
            <a:ext cx="11960772" cy="388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85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E06D-0C4E-C18C-2A44-92282C4F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8A857-0C40-ED37-FB27-5FAEFB28B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6FFFB2-6EDF-33AF-DEB7-E98ACCAF10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" altLang="ko-KR" sz="2000" dirty="0"/>
              <a:t>X-Wing</a:t>
            </a:r>
            <a:r>
              <a:rPr lang="ko-KR" altLang="en-US" sz="2000" dirty="0"/>
              <a:t>의 </a:t>
            </a:r>
            <a:r>
              <a:rPr lang="en" altLang="ko-KR" sz="2000" dirty="0"/>
              <a:t>QSF </a:t>
            </a:r>
            <a:r>
              <a:rPr lang="ko-KR" altLang="en-US" sz="2000" dirty="0"/>
              <a:t>결합 원리를 일반화한 하이브리드 </a:t>
            </a:r>
            <a:r>
              <a:rPr lang="en" altLang="ko-KR" sz="2000" dirty="0"/>
              <a:t>KEM </a:t>
            </a:r>
            <a:r>
              <a:rPr lang="ko-KR" altLang="en-US" sz="2000" dirty="0"/>
              <a:t>구조 제시</a:t>
            </a:r>
            <a:endParaRPr lang="en" altLang="ko-KR" sz="2000" dirty="0"/>
          </a:p>
          <a:p>
            <a:r>
              <a:rPr lang="en" altLang="ko-KR" sz="2000" dirty="0" err="1"/>
              <a:t>Concat</a:t>
            </a:r>
            <a:r>
              <a:rPr lang="en" altLang="ko-KR" sz="2000" dirty="0"/>
              <a:t> / Nested </a:t>
            </a:r>
            <a:r>
              <a:rPr lang="ko-KR" altLang="en-US" sz="2000" dirty="0"/>
              <a:t>기반 하이브리드 </a:t>
            </a:r>
            <a:r>
              <a:rPr lang="en" altLang="ko-KR" sz="2000" dirty="0"/>
              <a:t>DSA </a:t>
            </a:r>
            <a:r>
              <a:rPr lang="ko-KR" altLang="en-US" sz="2000" dirty="0"/>
              <a:t>구현 및 정량 비교</a:t>
            </a:r>
            <a:endParaRPr lang="en-US" altLang="ko-KR" sz="2000" dirty="0"/>
          </a:p>
          <a:p>
            <a:r>
              <a:rPr lang="en" altLang="ko-KR" sz="2000" dirty="0"/>
              <a:t>Cortex-M4 (NUCLEO-L4R5ZI @ 120 MHz)</a:t>
            </a:r>
            <a:r>
              <a:rPr lang="ko-KR" altLang="en-US" sz="2000" dirty="0"/>
              <a:t>에서 </a:t>
            </a:r>
            <a:r>
              <a:rPr lang="en" altLang="ko-KR" sz="2000" dirty="0"/>
              <a:t>KEM · DSA </a:t>
            </a:r>
            <a:r>
              <a:rPr lang="ko-KR" altLang="en-US" sz="2000" dirty="0"/>
              <a:t> 조합 </a:t>
            </a:r>
            <a:r>
              <a:rPr lang="en" altLang="ko-KR" sz="2000" dirty="0"/>
              <a:t>CPU cycle </a:t>
            </a:r>
            <a:r>
              <a:rPr lang="ko-KR" altLang="en-US" sz="2000" dirty="0"/>
              <a:t>측정</a:t>
            </a:r>
          </a:p>
          <a:p>
            <a:endParaRPr lang="ko-KR" altLang="en-US" sz="2000" dirty="0"/>
          </a:p>
          <a:p>
            <a:r>
              <a:rPr lang="ko-KR" altLang="en-US" sz="2000" dirty="0"/>
              <a:t>본 연구의 정량 결과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- </a:t>
            </a:r>
            <a:r>
              <a:rPr lang="en" altLang="ko-KR" sz="2000" dirty="0"/>
              <a:t>HQC + X25519</a:t>
            </a:r>
            <a:r>
              <a:rPr lang="ko-KR" altLang="en-US" sz="2000" dirty="0"/>
              <a:t>는 다른 </a:t>
            </a:r>
            <a:r>
              <a:rPr lang="en" altLang="ko-KR" sz="2000" dirty="0"/>
              <a:t>KEM </a:t>
            </a:r>
            <a:r>
              <a:rPr lang="ko-KR" altLang="en-US" sz="2000" dirty="0"/>
              <a:t>대비 약 </a:t>
            </a:r>
            <a:r>
              <a:rPr lang="en-US" altLang="ko-KR" sz="2000" dirty="0"/>
              <a:t>5~24</a:t>
            </a:r>
            <a:r>
              <a:rPr lang="ko-KR" altLang="en-US" sz="2000" dirty="0"/>
              <a:t>배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- </a:t>
            </a:r>
            <a:r>
              <a:rPr lang="en" altLang="ko-KR" sz="2000" dirty="0"/>
              <a:t>Falcon-1024 </a:t>
            </a:r>
            <a:r>
              <a:rPr lang="en" altLang="ko-KR" sz="2000" dirty="0" err="1"/>
              <a:t>KeyGen</a:t>
            </a:r>
            <a:r>
              <a:rPr lang="ko-KR" altLang="en-US" sz="2000" dirty="0"/>
              <a:t>은 다른 </a:t>
            </a:r>
            <a:r>
              <a:rPr lang="en" altLang="ko-KR" sz="2000" dirty="0"/>
              <a:t>PQ-DSA hybrid </a:t>
            </a:r>
            <a:r>
              <a:rPr lang="ko-KR" altLang="en-US" sz="2000" dirty="0"/>
              <a:t>대비 약 </a:t>
            </a:r>
            <a:r>
              <a:rPr lang="en-US" altLang="ko-KR" sz="2000" dirty="0"/>
              <a:t>20</a:t>
            </a:r>
            <a:r>
              <a:rPr lang="ko-KR" altLang="en-US" sz="2000" dirty="0"/>
              <a:t>배</a:t>
            </a:r>
          </a:p>
          <a:p>
            <a:endParaRPr lang="en-US" altLang="ko-KR" sz="2000" dirty="0"/>
          </a:p>
          <a:p>
            <a:r>
              <a:rPr lang="ko-KR" altLang="en-US" sz="2000" dirty="0"/>
              <a:t>향후 연구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- </a:t>
            </a:r>
            <a:r>
              <a:rPr lang="en" altLang="ko-KR" sz="2000" dirty="0"/>
              <a:t>pqm4 </a:t>
            </a:r>
            <a:r>
              <a:rPr lang="ko-KR" altLang="en-US" sz="2000" dirty="0"/>
              <a:t>어셈블리 최적화 구현 적용</a:t>
            </a:r>
          </a:p>
        </p:txBody>
      </p:sp>
    </p:spTree>
    <p:extLst>
      <p:ext uri="{BB962C8B-B14F-4D97-AF65-F5344CB8AC3E}">
        <p14:creationId xmlns:p14="http://schemas.microsoft.com/office/powerpoint/2010/main" val="2733082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1DC7DBC3-F67B-F842-ADBC-4328E0BB0FA1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E15818DC-538F-214A-8100-A2D2BA8DAB29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CryptoCraft 테마</Template>
  <TotalTime>632</TotalTime>
  <Words>983</Words>
  <Application>Microsoft Macintosh PowerPoint</Application>
  <PresentationFormat>와이드스크린</PresentationFormat>
  <Paragraphs>129</Paragraphs>
  <Slides>15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CryptoCraft 테마</vt:lpstr>
      <vt:lpstr>제목 테마</vt:lpstr>
      <vt:lpstr>Cortex-M4 상에서의 하이브리드  KEM/DSA 성능 비교</vt:lpstr>
      <vt:lpstr>PowerPoint 프레젠테이션</vt:lpstr>
      <vt:lpstr>서론</vt:lpstr>
      <vt:lpstr>하이브리드 KEM</vt:lpstr>
      <vt:lpstr>하이브리드 DSA</vt:lpstr>
      <vt:lpstr>하이브리드 DSA (Concat)</vt:lpstr>
      <vt:lpstr>하이브리드 DSA(nested)</vt:lpstr>
      <vt:lpstr>실험 환경</vt:lpstr>
      <vt:lpstr>Cortex-M4 상에서의 하이브리드 KEM 성능 비교</vt:lpstr>
      <vt:lpstr>Cortex-M4 상에서의 하이브리드 DSA(concat) 성능 비교</vt:lpstr>
      <vt:lpstr>Cortex-M4 상에서의 하이브리드 DSA(nested) 성능 비교</vt:lpstr>
      <vt:lpstr>Cortex-M4 상에서의 하이브리드 DSA(concat) 성능 비교</vt:lpstr>
      <vt:lpstr>Cortex-M4 상에서의 하이브리드 DSA(nested) 성능 비교</vt:lpstr>
      <vt:lpstr>결론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심민주</dc:creator>
  <cp:keywords/>
  <dc:description/>
  <cp:lastModifiedBy>심민주</cp:lastModifiedBy>
  <cp:revision>2</cp:revision>
  <dcterms:created xsi:type="dcterms:W3CDTF">2026-03-13T04:03:13Z</dcterms:created>
  <dcterms:modified xsi:type="dcterms:W3CDTF">2026-05-10T01:34:59Z</dcterms:modified>
  <cp:category/>
</cp:coreProperties>
</file>