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17"/>
  </p:notesMasterIdLst>
  <p:handoutMasterIdLst>
    <p:handoutMasterId r:id="rId18"/>
  </p:handoutMasterIdLst>
  <p:sldIdLst>
    <p:sldId id="269" r:id="rId2"/>
    <p:sldId id="343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8" r:id="rId12"/>
    <p:sldId id="340" r:id="rId13"/>
    <p:sldId id="337" r:id="rId14"/>
    <p:sldId id="342" r:id="rId15"/>
    <p:sldId id="274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 autoAdjust="0"/>
    <p:restoredTop sz="95955"/>
  </p:normalViewPr>
  <p:slideViewPr>
    <p:cSldViewPr snapToGrid="0">
      <p:cViewPr varScale="1">
        <p:scale>
          <a:sx n="150" d="100"/>
          <a:sy n="150" d="100"/>
        </p:scale>
        <p:origin x="156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2026. 2. 1.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2026. 2. 1.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397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429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233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889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0" t="65598" b="9375"/>
          <a:stretch/>
        </p:blipFill>
        <p:spPr>
          <a:xfrm>
            <a:off x="0" y="6646331"/>
            <a:ext cx="1809148" cy="16086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60" b="12513"/>
          <a:stretch/>
        </p:blipFill>
        <p:spPr>
          <a:xfrm>
            <a:off x="10880202" y="6675969"/>
            <a:ext cx="1311798" cy="1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676048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2158084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3073925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993106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2158085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307068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999684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6038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21014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  <p:sldLayoutId id="2147483670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/>
              <a:t>Quantum surface code</a:t>
            </a:r>
            <a:br>
              <a:rPr lang="en-US" altLang="ko-KR" sz="4800" dirty="0"/>
            </a:br>
            <a:br>
              <a:rPr lang="en-US" altLang="ko-KR" sz="4800" dirty="0"/>
            </a:br>
            <a:r>
              <a:rPr lang="en-US" altLang="ko-KR" sz="3200" dirty="0"/>
              <a:t>https://</a:t>
            </a:r>
            <a:r>
              <a:rPr lang="en-US" altLang="ko-KR" sz="3200" dirty="0" err="1"/>
              <a:t>youtu.be</a:t>
            </a:r>
            <a:r>
              <a:rPr lang="en-US" altLang="ko-KR" sz="3200" dirty="0"/>
              <a:t>/</a:t>
            </a:r>
            <a:r>
              <a:rPr lang="en-US" altLang="ko-KR" sz="3200" dirty="0" err="1"/>
              <a:t>FphsnSIsiQc</a:t>
            </a:r>
            <a:endParaRPr lang="ko-KR" altLang="en-US" sz="4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F190D7-EE4C-6660-3579-26D36E4A727D}"/>
              </a:ext>
            </a:extLst>
          </p:cNvPr>
          <p:cNvSpPr/>
          <p:nvPr/>
        </p:nvSpPr>
        <p:spPr>
          <a:xfrm>
            <a:off x="0" y="6594953"/>
            <a:ext cx="12126482" cy="263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5853C698-D1B4-6F42-0BC1-47D012588D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정보컴퓨터공학과 송경주</a:t>
            </a:r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6D87B-D1FF-70BC-C732-FF1EBFBC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Surface code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66C8A8-662F-2E5C-7367-6B5BCF3BB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87" y="1194318"/>
            <a:ext cx="4973913" cy="54559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E134E93-C5CB-7E08-2961-5DA849843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333" y="2211355"/>
            <a:ext cx="3585821" cy="343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358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78E55-DCA5-9E26-72D0-1DFE3025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9A8F5-C3AA-D366-6C02-12F174B35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Surface code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488A28-CB70-BAFE-8C2C-6FF0D175FF84}"/>
              </a:ext>
            </a:extLst>
          </p:cNvPr>
          <p:cNvSpPr txBox="1"/>
          <p:nvPr/>
        </p:nvSpPr>
        <p:spPr>
          <a:xfrm>
            <a:off x="411920" y="1033397"/>
            <a:ext cx="113681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2400" dirty="0">
                <a:latin typeface="+mn-ea"/>
              </a:rPr>
              <a:t>실제 양자컴퓨터의 큐비트는 오류가 많아 실제 연산을 위해 오류를 감지하고 정정하는 기술이 필요함</a:t>
            </a:r>
            <a:endParaRPr kumimoji="1" lang="en-US" altLang="ko-KR" sz="2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400" dirty="0">
                <a:latin typeface="+mn-ea"/>
              </a:rPr>
              <a:t>Surface code: </a:t>
            </a:r>
            <a:r>
              <a:rPr kumimoji="1" lang="ko-KR" altLang="en-US" sz="2400" dirty="0">
                <a:latin typeface="+mn-ea"/>
              </a:rPr>
              <a:t>양자 오류 정정 코드 </a:t>
            </a:r>
            <a:r>
              <a:rPr kumimoji="1" lang="en-US" altLang="ko-KR" sz="2400" dirty="0">
                <a:latin typeface="+mn-ea"/>
              </a:rPr>
              <a:t>(quantum error-correcting code) </a:t>
            </a:r>
            <a:r>
              <a:rPr kumimoji="1" lang="ko-KR" altLang="en-US" sz="2400" dirty="0">
                <a:latin typeface="+mn-ea"/>
              </a:rPr>
              <a:t>중 하나</a:t>
            </a:r>
            <a:endParaRPr kumimoji="1" lang="en-US" altLang="ko-KR" sz="2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latin typeface="+mn-ea"/>
              </a:rPr>
              <a:t>차원 격자 위에 배치된 많은 물리 큐비트로 안정적인 논리 큐비트를 구현하는 방식</a:t>
            </a:r>
            <a:endParaRPr kumimoji="1" lang="en-US" altLang="ko-KR" sz="20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sz="20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2400" dirty="0">
                <a:latin typeface="+mn-ea"/>
              </a:rPr>
              <a:t>하나의 논리 큐비트에 대해 수백</a:t>
            </a:r>
            <a:r>
              <a:rPr kumimoji="1" lang="en-US" altLang="ko-KR" sz="2400" dirty="0">
                <a:latin typeface="+mn-ea"/>
              </a:rPr>
              <a:t>~</a:t>
            </a:r>
            <a:r>
              <a:rPr kumimoji="1" lang="ko-KR" altLang="en-US" sz="2400" dirty="0">
                <a:latin typeface="+mn-ea"/>
              </a:rPr>
              <a:t>수천 개의 물리 </a:t>
            </a:r>
            <a:r>
              <a:rPr kumimoji="1" lang="ko-KR" altLang="en-US" sz="2400" dirty="0" err="1">
                <a:latin typeface="+mn-ea"/>
              </a:rPr>
              <a:t>큐비트</a:t>
            </a:r>
            <a:r>
              <a:rPr kumimoji="1" lang="ko-KR" altLang="en-US" sz="2400" dirty="0">
                <a:latin typeface="+mn-ea"/>
              </a:rPr>
              <a:t> 필요</a:t>
            </a:r>
            <a:endParaRPr kumimoji="1" lang="en-US" altLang="ko-KR" sz="2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latin typeface="+mn-ea"/>
              </a:rPr>
              <a:t>오류율을 낮추기 위한 확장 정도를 </a:t>
            </a:r>
            <a:r>
              <a:rPr kumimoji="1" lang="en-US" altLang="ko-KR" sz="2000" dirty="0">
                <a:latin typeface="+mn-ea"/>
              </a:rPr>
              <a:t>code distance(d) </a:t>
            </a:r>
            <a:r>
              <a:rPr kumimoji="1" lang="ko-KR" altLang="en-US" sz="2000" dirty="0" err="1">
                <a:latin typeface="+mn-ea"/>
              </a:rPr>
              <a:t>라고</a:t>
            </a:r>
            <a:r>
              <a:rPr kumimoji="1" lang="ko-KR" altLang="en-US" sz="2000" dirty="0">
                <a:latin typeface="+mn-ea"/>
              </a:rPr>
              <a:t> 함</a:t>
            </a:r>
            <a:endParaRPr kumimoji="1" lang="en-US" altLang="ko-KR" sz="20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latin typeface="+mn-ea"/>
              </a:rPr>
              <a:t>distance</a:t>
            </a:r>
            <a:r>
              <a:rPr kumimoji="1" lang="ko-KR" altLang="en-US" sz="2000" dirty="0">
                <a:latin typeface="+mn-ea"/>
              </a:rPr>
              <a:t>가 커질수록 오류 정정율은 좋아지지만 필요한 </a:t>
            </a:r>
            <a:r>
              <a:rPr kumimoji="1" lang="ko-KR" altLang="en-US" sz="2000" dirty="0" err="1">
                <a:latin typeface="+mn-ea"/>
              </a:rPr>
              <a:t>큐비트</a:t>
            </a:r>
            <a:r>
              <a:rPr kumimoji="1" lang="ko-KR" altLang="en-US" sz="2000" dirty="0">
                <a:latin typeface="+mn-ea"/>
              </a:rPr>
              <a:t> 수도 증가</a:t>
            </a:r>
            <a:endParaRPr kumimoji="1" lang="en-US" altLang="ko-KR" sz="2000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latin typeface="+mn-ea"/>
              </a:rPr>
              <a:t>distance 5 : </a:t>
            </a:r>
            <a:r>
              <a:rPr kumimoji="1" lang="ko-KR" altLang="en-US" sz="2000" dirty="0">
                <a:latin typeface="+mn-ea"/>
              </a:rPr>
              <a:t>논리 </a:t>
            </a:r>
            <a:r>
              <a:rPr kumimoji="1" lang="ko-KR" altLang="en-US" sz="2000" dirty="0" err="1">
                <a:latin typeface="+mn-ea"/>
              </a:rPr>
              <a:t>큐비트</a:t>
            </a:r>
            <a:r>
              <a:rPr kumimoji="1" lang="ko-KR" altLang="en-US" sz="2000" dirty="0">
                <a:latin typeface="+mn-ea"/>
              </a:rPr>
              <a:t> 하나에 약 </a:t>
            </a:r>
            <a:r>
              <a:rPr kumimoji="1" lang="en-US" altLang="ko-KR" sz="2000" dirty="0">
                <a:latin typeface="+mn-ea"/>
              </a:rPr>
              <a:t>100~200</a:t>
            </a:r>
            <a:r>
              <a:rPr kumimoji="1" lang="ko-KR" altLang="en-US" sz="2000" dirty="0">
                <a:latin typeface="+mn-ea"/>
              </a:rPr>
              <a:t>개의 물리 </a:t>
            </a:r>
            <a:r>
              <a:rPr kumimoji="1" lang="ko-KR" altLang="en-US" sz="2000" dirty="0" err="1">
                <a:latin typeface="+mn-ea"/>
              </a:rPr>
              <a:t>큐비트</a:t>
            </a:r>
            <a:endParaRPr kumimoji="1" lang="en-US" altLang="ko-KR" sz="2000" dirty="0">
              <a:latin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latin typeface="+mn-ea"/>
              </a:rPr>
              <a:t>distance 25 : </a:t>
            </a:r>
            <a:r>
              <a:rPr kumimoji="1" lang="ko-KR" altLang="en-US" sz="2000" dirty="0">
                <a:latin typeface="+mn-ea"/>
              </a:rPr>
              <a:t>논리 </a:t>
            </a:r>
            <a:r>
              <a:rPr kumimoji="1" lang="ko-KR" altLang="en-US" sz="2000" dirty="0" err="1">
                <a:latin typeface="+mn-ea"/>
              </a:rPr>
              <a:t>큐비트</a:t>
            </a:r>
            <a:r>
              <a:rPr kumimoji="1" lang="ko-KR" altLang="en-US" sz="2000" dirty="0">
                <a:latin typeface="+mn-ea"/>
              </a:rPr>
              <a:t> 하나에 약 수천개의 물리 </a:t>
            </a:r>
            <a:r>
              <a:rPr kumimoji="1" lang="ko-KR" altLang="en-US" sz="2000" dirty="0" err="1">
                <a:latin typeface="+mn-ea"/>
              </a:rPr>
              <a:t>큐비트</a:t>
            </a:r>
            <a:endParaRPr kumimoji="1" lang="en-US" altLang="ko-KR" sz="20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24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400" dirty="0">
                <a:latin typeface="+mn-ea"/>
              </a:rPr>
              <a:t>Surface Code</a:t>
            </a:r>
            <a:r>
              <a:rPr kumimoji="1" lang="ko-KR" altLang="en-US" sz="2400" dirty="0" err="1">
                <a:latin typeface="+mn-ea"/>
              </a:rPr>
              <a:t>를</a:t>
            </a:r>
            <a:r>
              <a:rPr kumimoji="1" lang="ko-KR" altLang="en-US" sz="2400" dirty="0">
                <a:latin typeface="+mn-ea"/>
              </a:rPr>
              <a:t> 기반으로 결함 허용</a:t>
            </a:r>
            <a:r>
              <a:rPr kumimoji="1" lang="en-US" altLang="ko-KR" sz="2400" dirty="0">
                <a:latin typeface="+mn-ea"/>
              </a:rPr>
              <a:t>(fault-tolerant)</a:t>
            </a:r>
            <a:r>
              <a:rPr kumimoji="1" lang="ko-KR" altLang="en-US" sz="2400" dirty="0">
                <a:latin typeface="+mn-ea"/>
              </a:rPr>
              <a:t> 양자컴퓨터에서의 실제 공격 비용 추산 가능</a:t>
            </a:r>
            <a:endParaRPr kumimoji="1" lang="en-US" altLang="ko-KR" sz="2400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latin typeface="+mn-ea"/>
              </a:rPr>
              <a:t>fault-tolerant quantum computer: </a:t>
            </a:r>
            <a:r>
              <a:rPr kumimoji="1" lang="ko-KR" altLang="en-US" sz="2000" dirty="0">
                <a:latin typeface="+mn-ea"/>
              </a:rPr>
              <a:t>오류를 스스로 고쳐가며 계산하여</a:t>
            </a:r>
            <a:r>
              <a:rPr kumimoji="1" lang="en-US" altLang="ko-KR" sz="2000" dirty="0">
                <a:latin typeface="+mn-ea"/>
              </a:rPr>
              <a:t>, </a:t>
            </a:r>
            <a:r>
              <a:rPr kumimoji="1" lang="ko-KR" altLang="en-US" sz="2000" dirty="0">
                <a:latin typeface="+mn-ea"/>
              </a:rPr>
              <a:t>정확한 결과를        보장하는 시스템</a:t>
            </a:r>
            <a:endParaRPr kumimoji="1" lang="en-US" altLang="ko-KR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953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4B4752-93A7-1E9C-7499-293B3941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Fault-tolerant cost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DA75ED56-A5B3-7F8B-46A7-C0C7346F088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ko-KR" altLang="en-US" sz="2400" dirty="0"/>
                  <a:t>양자컴퓨터에서 </a:t>
                </a:r>
                <a:r>
                  <a:rPr kumimoji="1" lang="en-US" altLang="ko-KR" sz="2400" dirty="0"/>
                  <a:t>T gate</a:t>
                </a:r>
                <a:r>
                  <a:rPr kumimoji="1" lang="ko-KR" altLang="en-US" sz="2400" dirty="0"/>
                  <a:t>는 </a:t>
                </a:r>
                <a:r>
                  <a:rPr kumimoji="1" lang="en-US" altLang="ko-KR" sz="2400" dirty="0"/>
                  <a:t>surface code</a:t>
                </a:r>
                <a:r>
                  <a:rPr kumimoji="1" lang="ko-KR" altLang="en-US" sz="2400" dirty="0" err="1"/>
                  <a:t>으로</a:t>
                </a:r>
                <a:r>
                  <a:rPr kumimoji="1" lang="ko-KR" altLang="en-US" sz="2400" dirty="0"/>
                  <a:t> 구현할 때 가장 많은 자원이 필요함</a:t>
                </a:r>
                <a:endParaRPr kumimoji="1" lang="en-US" altLang="ko-KR" sz="2400" dirty="0"/>
              </a:p>
              <a:p>
                <a:pPr lvl="1"/>
                <a:r>
                  <a:rPr kumimoji="1" lang="en-US" altLang="ko-KR" sz="2000" dirty="0"/>
                  <a:t>Clifford gate : CNOT, H, S </a:t>
                </a:r>
                <a:r>
                  <a:rPr kumimoji="1" lang="ko-KR" altLang="en-US" sz="2000" dirty="0"/>
                  <a:t>게이트 등</a:t>
                </a:r>
                <a:endParaRPr kumimoji="1" lang="en-US" altLang="ko-KR" sz="2000" dirty="0"/>
              </a:p>
              <a:p>
                <a:pPr lvl="1"/>
                <a:r>
                  <a:rPr kumimoji="1" lang="en-US" altLang="ko-KR" sz="2000" dirty="0"/>
                  <a:t>Non-Clifford gate: T gate</a:t>
                </a:r>
              </a:p>
              <a:p>
                <a:pPr lvl="1"/>
                <a:endParaRPr kumimoji="1" lang="en-US" altLang="ko-KR" sz="2000" dirty="0"/>
              </a:p>
              <a:p>
                <a:r>
                  <a:rPr kumimoji="1" lang="en-US" altLang="ko-KR" sz="2400" dirty="0"/>
                  <a:t>T </a:t>
                </a:r>
                <a:r>
                  <a:rPr kumimoji="1" lang="ko-KR" altLang="en-US" sz="2400" dirty="0"/>
                  <a:t>게이트를 수행하기 위해 </a:t>
                </a:r>
                <a:r>
                  <a:rPr kumimoji="1" lang="en-US" altLang="ko-KR" sz="2400" dirty="0"/>
                  <a:t>magic</a:t>
                </a:r>
                <a:r>
                  <a:rPr kumimoji="1" lang="ko-KR" altLang="en-US" sz="2400" dirty="0"/>
                  <a:t> </a:t>
                </a:r>
                <a:r>
                  <a:rPr kumimoji="1" lang="en-US" altLang="ko-KR" sz="2400" dirty="0"/>
                  <a:t>state</a:t>
                </a:r>
                <a:r>
                  <a:rPr kumimoji="1" lang="ko-KR" altLang="en-US" sz="2400" dirty="0"/>
                  <a:t> </a:t>
                </a:r>
                <a:r>
                  <a:rPr kumimoji="1" lang="en-US" altLang="ko-KR" sz="2400" dirty="0"/>
                  <a:t>(</a:t>
                </a:r>
                <a:r>
                  <a:rPr kumimoji="1" lang="ko-KR" altLang="en-US" sz="2400" dirty="0"/>
                  <a:t>논리 </a:t>
                </a:r>
                <a:r>
                  <a:rPr kumimoji="1" lang="ko-KR" altLang="en-US" sz="2400" dirty="0" err="1"/>
                  <a:t>큐비트</a:t>
                </a:r>
                <a:r>
                  <a:rPr kumimoji="1" lang="en-US" altLang="ko-KR" sz="2400" dirty="0"/>
                  <a:t>) </a:t>
                </a:r>
                <a:r>
                  <a:rPr kumimoji="1" lang="ko-KR" altLang="en-US" sz="2400" dirty="0"/>
                  <a:t>라는 보조 자원 </a:t>
                </a:r>
                <a:r>
                  <a:rPr kumimoji="1" lang="en-US" altLang="ko-KR" sz="2400" dirty="0"/>
                  <a:t>(auxiliary resource)</a:t>
                </a:r>
                <a:r>
                  <a:rPr kumimoji="1" lang="ko-KR" altLang="en-US" sz="2400" dirty="0"/>
                  <a:t> 필요</a:t>
                </a:r>
                <a:endParaRPr kumimoji="1" lang="en-US" altLang="ko-KR" sz="2400" dirty="0"/>
              </a:p>
              <a:p>
                <a:pPr lvl="1"/>
                <a:r>
                  <a:rPr kumimoji="1" lang="en-US" altLang="ko-KR" sz="2000" dirty="0"/>
                  <a:t>magic state: </a:t>
                </a:r>
                <a:r>
                  <a:rPr kumimoji="1" lang="ko-KR" altLang="en-US" sz="2000" dirty="0"/>
                  <a:t>특정한 상태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ex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. |</m:t>
                        </m:r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kumimoji="1" lang="en-US" altLang="ko-KR" sz="2000" dirty="0"/>
                  <a:t>)</a:t>
                </a:r>
                <a:r>
                  <a:rPr kumimoji="1" lang="ko-KR" altLang="en-US" sz="2000" dirty="0"/>
                  <a:t>로 놓여 있는 </a:t>
                </a:r>
                <a:r>
                  <a:rPr kumimoji="1" lang="ko-KR" altLang="en-US" sz="2000" dirty="0" err="1"/>
                  <a:t>큐비트</a:t>
                </a:r>
                <a:endParaRPr kumimoji="1" lang="en-US" altLang="ko-KR" sz="2000" dirty="0"/>
              </a:p>
              <a:p>
                <a:pPr lvl="1"/>
                <a:r>
                  <a:rPr kumimoji="1" lang="ko-KR" altLang="en-US" sz="2000" dirty="0"/>
                  <a:t>큐비트에 </a:t>
                </a:r>
                <a:r>
                  <a:rPr kumimoji="1" lang="en-US" altLang="ko-KR" sz="2000" dirty="0"/>
                  <a:t>T gate</a:t>
                </a:r>
                <a:r>
                  <a:rPr kumimoji="1" lang="ko-KR" altLang="en-US" sz="2000" dirty="0"/>
                  <a:t> 상태를 만들어두고 전달하는 역할</a:t>
                </a:r>
                <a:endParaRPr kumimoji="1" lang="en-US" altLang="ko-KR" sz="2000" dirty="0"/>
              </a:p>
              <a:p>
                <a:pPr lvl="1"/>
                <a:endParaRPr kumimoji="1" lang="en-US" altLang="ko-KR" sz="2000" dirty="0"/>
              </a:p>
              <a:p>
                <a:r>
                  <a:rPr kumimoji="1" lang="ko-KR" altLang="en-US" sz="2400" dirty="0"/>
                  <a:t>하지만</a:t>
                </a:r>
                <a:r>
                  <a:rPr kumimoji="1" lang="en-US" altLang="ko-KR" sz="2400" dirty="0"/>
                  <a:t>,</a:t>
                </a:r>
                <a:r>
                  <a:rPr kumimoji="1" lang="ko-KR" altLang="en-US" sz="2400" dirty="0"/>
                  <a:t> </a:t>
                </a:r>
                <a:r>
                  <a:rPr kumimoji="1" lang="en-US" altLang="ko-KR" sz="2400" dirty="0"/>
                  <a:t>magic state</a:t>
                </a:r>
                <a:r>
                  <a:rPr kumimoji="1" lang="ko-KR" altLang="en-US" sz="2400" dirty="0"/>
                  <a:t>는 오류가 있는 상태이므로</a:t>
                </a:r>
                <a:r>
                  <a:rPr kumimoji="1" lang="en-US" altLang="ko-KR" sz="2400" dirty="0"/>
                  <a:t>,</a:t>
                </a:r>
                <a:r>
                  <a:rPr kumimoji="1" lang="ko-KR" altLang="en-US" sz="2400" dirty="0"/>
                  <a:t> 원하는 정밀도로 만들기 위해 </a:t>
                </a:r>
                <a:r>
                  <a:rPr kumimoji="1" lang="en-US" altLang="ko-KR" sz="2400" dirty="0"/>
                  <a:t>magic state </a:t>
                </a:r>
                <a:r>
                  <a:rPr kumimoji="1" lang="ko-KR" altLang="en-US" sz="2400" dirty="0"/>
                  <a:t>정제</a:t>
                </a:r>
                <a:r>
                  <a:rPr kumimoji="1" lang="en-US" altLang="ko-KR" sz="2400" dirty="0"/>
                  <a:t>(distillation)</a:t>
                </a:r>
                <a:r>
                  <a:rPr kumimoji="1" lang="ko-KR" altLang="en-US" sz="2400" dirty="0"/>
                  <a:t> 과정을 수행해야 함</a:t>
                </a:r>
                <a:endParaRPr kumimoji="1" lang="en-US" altLang="ko-KR" sz="2400" dirty="0"/>
              </a:p>
              <a:p>
                <a:pPr lvl="1"/>
                <a:r>
                  <a:rPr kumimoji="1" lang="en-US" altLang="ko-KR" sz="2000" dirty="0"/>
                  <a:t>Distillation: </a:t>
                </a:r>
                <a:r>
                  <a:rPr kumimoji="1" lang="ko-KR" altLang="en-US" sz="2000" dirty="0"/>
                  <a:t>오류율을 줄이는 과정</a:t>
                </a:r>
                <a:endParaRPr kumimoji="1" lang="en-US" altLang="ko-KR" sz="2000" dirty="0"/>
              </a:p>
              <a:p>
                <a:r>
                  <a:rPr kumimoji="1" lang="ko-KR" altLang="en-US" sz="2400" dirty="0"/>
                  <a:t>정제를 수행하는 </a:t>
                </a:r>
                <a:r>
                  <a:rPr kumimoji="1" lang="en-US" altLang="ko-KR" sz="2400" dirty="0"/>
                  <a:t>magic state</a:t>
                </a:r>
                <a:r>
                  <a:rPr kumimoji="1" lang="ko-KR" altLang="en-US" sz="2400" dirty="0"/>
                  <a:t> 정제 회로 </a:t>
                </a:r>
                <a:r>
                  <a:rPr kumimoji="1" lang="en-US" altLang="ko-KR" sz="2400" dirty="0"/>
                  <a:t>(distillation)</a:t>
                </a:r>
                <a:r>
                  <a:rPr kumimoji="1" lang="ko-KR" altLang="en-US" sz="2400" dirty="0"/>
                  <a:t>는 많은 논리 큐비트를 필요로 함 </a:t>
                </a:r>
                <a:r>
                  <a:rPr kumimoji="1" lang="en-US" altLang="ko-KR" sz="2400" dirty="0"/>
                  <a:t>([1] </a:t>
                </a:r>
                <a:r>
                  <a:rPr kumimoji="1" lang="ko-KR" altLang="en-US" sz="2400" dirty="0"/>
                  <a:t>에서</a:t>
                </a:r>
                <a:r>
                  <a:rPr kumimoji="1" lang="en-US" altLang="ko-KR" sz="2400" dirty="0"/>
                  <a:t> SHA-2</a:t>
                </a:r>
                <a:r>
                  <a:rPr kumimoji="1" lang="ko-KR" altLang="en-US" sz="2400" dirty="0" err="1"/>
                  <a:t>에</a:t>
                </a:r>
                <a:r>
                  <a:rPr kumimoji="1" lang="ko-KR" altLang="en-US" sz="2400" dirty="0"/>
                  <a:t> 대한 </a:t>
                </a:r>
                <a:r>
                  <a:rPr kumimoji="1" lang="en-US" altLang="ko-KR" sz="2400" dirty="0"/>
                  <a:t>surface code </a:t>
                </a:r>
                <a:r>
                  <a:rPr kumimoji="1" lang="ko-KR" altLang="en-US" sz="2400" dirty="0"/>
                  <a:t>비용을 계산하여 작성하였음</a:t>
                </a:r>
                <a:r>
                  <a:rPr kumimoji="1" lang="en-US" altLang="ko-KR" sz="2400" dirty="0"/>
                  <a:t>)</a:t>
                </a: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DA75ED56-A5B3-7F8B-46A7-C0C7346F08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81" t="-1357" r="-1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33A55B9-B72C-B987-D263-6B7E346E09D4}"/>
              </a:ext>
            </a:extLst>
          </p:cNvPr>
          <p:cNvSpPr txBox="1"/>
          <p:nvPr/>
        </p:nvSpPr>
        <p:spPr>
          <a:xfrm>
            <a:off x="0" y="6450198"/>
            <a:ext cx="1136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[1] Amy, Matthew, et al. "Estimating the cost of generic quantum pre-image attacks on SHA-2 and SHA-3." International Conference on Selected Areas in Cryptography. Cham: Springer International Publishing, 2016.</a:t>
            </a:r>
            <a:endParaRPr kumimoji="1"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38644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099D3-BED6-490F-AD0B-45ECC43ED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Fault-tolerant cost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B37B075B-BC02-3F8E-D56F-5C1437AABF0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en-US" altLang="ko-KR" sz="2400" dirty="0"/>
                  <a:t>magic state</a:t>
                </a:r>
                <a:r>
                  <a:rPr kumimoji="1" lang="ko-KR" altLang="en-US" sz="2400" dirty="0"/>
                  <a:t>의 필요성</a:t>
                </a:r>
                <a:endParaRPr kumimoji="1" lang="en-US" altLang="ko-KR" sz="2400" dirty="0"/>
              </a:p>
              <a:p>
                <a:pPr lvl="1"/>
                <a:r>
                  <a:rPr kumimoji="1" lang="en-US" altLang="ko-KR" sz="2000" dirty="0"/>
                  <a:t>Surface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/>
                  <a:t>code </a:t>
                </a:r>
                <a:r>
                  <a:rPr kumimoji="1" lang="ko-KR" altLang="en-US" sz="2000" dirty="0"/>
                  <a:t>에서 </a:t>
                </a:r>
                <a:r>
                  <a:rPr kumimoji="1" lang="en-US" altLang="ko-KR" sz="2000" dirty="0"/>
                  <a:t>T </a:t>
                </a:r>
                <a:r>
                  <a:rPr kumimoji="1" lang="ko-KR" altLang="en-US" sz="2000" dirty="0"/>
                  <a:t>게이트를 직접 구현하는 것은 매우 어려움</a:t>
                </a:r>
                <a:endParaRPr kumimoji="1" lang="en-US" altLang="ko-KR" sz="2000" dirty="0"/>
              </a:p>
              <a:p>
                <a:pPr lvl="1"/>
                <a:r>
                  <a:rPr kumimoji="1" lang="ko-KR" altLang="en-US" sz="2000" dirty="0"/>
                  <a:t>따라서 특정 상태의 </a:t>
                </a:r>
                <a:r>
                  <a:rPr kumimoji="1" lang="en-US" altLang="ko-KR" sz="2000" dirty="0"/>
                  <a:t>magic state</a:t>
                </a:r>
                <a:r>
                  <a:rPr kumimoji="1" lang="ko-KR" altLang="en-US" sz="2000" dirty="0"/>
                  <a:t> </a:t>
                </a:r>
                <a:r>
                  <a:rPr kumimoji="1" lang="ko-KR" altLang="en-US" sz="2000" dirty="0" err="1"/>
                  <a:t>를</a:t>
                </a:r>
                <a:r>
                  <a:rPr kumimoji="1" lang="ko-KR" altLang="en-US" sz="2000" dirty="0"/>
                  <a:t> 사용함</a:t>
                </a:r>
                <a:endParaRPr kumimoji="1" lang="en-US" altLang="ko-KR" sz="2000" dirty="0"/>
              </a:p>
              <a:p>
                <a:pPr lvl="1"/>
                <a:r>
                  <a:rPr kumimoji="1" lang="ko-KR" altLang="en-US" sz="2000" dirty="0"/>
                  <a:t>전체 회로가 성공적으로 작동하려면 </a:t>
                </a:r>
                <a:r>
                  <a:rPr kumimoji="1" lang="en-US" altLang="ko-KR" sz="2000" dirty="0"/>
                  <a:t>magic state</a:t>
                </a:r>
                <a:r>
                  <a:rPr kumimoji="1" lang="ko-KR" altLang="en-US" sz="2000" dirty="0"/>
                  <a:t>의 오류율이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=1/</m:t>
                    </m:r>
                    <m:sSubSup>
                      <m:sSubSup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U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bSup>
                  </m:oMath>
                </a14:m>
                <a:r>
                  <a:rPr kumimoji="1" lang="en-US" altLang="ko-KR" sz="2000" dirty="0"/>
                  <a:t> </a:t>
                </a:r>
                <a:r>
                  <a:rPr kumimoji="1" lang="ko-KR" altLang="en-US" sz="2000" dirty="0"/>
                  <a:t>보다 작아야 함 </a:t>
                </a:r>
                <a:r>
                  <a:rPr kumimoji="1" lang="en-US" altLang="ko-KR" sz="2000" dirty="0"/>
                  <a:t>(</a:t>
                </a:r>
                <a:r>
                  <a:rPr kumimoji="1" lang="ko-KR" altLang="en-US" sz="2000" dirty="0"/>
                  <a:t>즉</a:t>
                </a:r>
                <a:r>
                  <a:rPr kumimoji="1" lang="en-US" altLang="ko-KR" sz="2000" dirty="0"/>
                  <a:t>,</a:t>
                </a:r>
                <a:r>
                  <a:rPr kumimoji="1" lang="ko-KR" altLang="en-US" sz="2000" dirty="0"/>
                  <a:t> 매직 상태가 가진 </a:t>
                </a:r>
                <a:r>
                  <a:rPr kumimoji="1" lang="ko-KR" altLang="en-US" sz="2000" dirty="0" err="1"/>
                  <a:t>오류율</a:t>
                </a:r>
                <a:r>
                  <a:rPr kumimoji="1" lang="en-US" altLang="ko-KR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kumimoji="1" lang="en-US" altLang="ko-KR" sz="2000" dirty="0"/>
                  <a:t>)</a:t>
                </a:r>
                <a:r>
                  <a:rPr kumimoji="1" lang="ko-KR" altLang="en-US" sz="2000" dirty="0"/>
                  <a:t>이 수행하려는 전체 </a:t>
                </a:r>
                <a:r>
                  <a:rPr kumimoji="1" lang="en" altLang="ko-KR" sz="2000" dirty="0"/>
                  <a:t>T </a:t>
                </a:r>
                <a:r>
                  <a:rPr kumimoji="1" lang="ko-KR" altLang="en-US" sz="2000" dirty="0"/>
                  <a:t>게이트 횟수의 역수보다 낮아야 한다</a:t>
                </a:r>
                <a:r>
                  <a:rPr kumimoji="1" lang="en-US" altLang="ko-KR" sz="2000" dirty="0"/>
                  <a:t>)</a:t>
                </a:r>
              </a:p>
              <a:p>
                <a:pPr lvl="2"/>
                <a:r>
                  <a:rPr kumimoji="1" lang="ko-KR" altLang="en-US" sz="1800" dirty="0"/>
                  <a:t>만약 </a:t>
                </a:r>
                <a:r>
                  <a:rPr kumimoji="1" lang="en-US" altLang="ko-KR" sz="1800" dirty="0"/>
                  <a:t>T </a:t>
                </a:r>
                <a:r>
                  <a:rPr kumimoji="1" lang="ko-KR" altLang="en-US" sz="1800" dirty="0"/>
                  <a:t>게이트를 </a:t>
                </a:r>
                <a:r>
                  <a:rPr kumimoji="1" lang="en-US" altLang="ko-KR" sz="1800" dirty="0"/>
                  <a:t>1,000</a:t>
                </a:r>
                <a:r>
                  <a:rPr kumimoji="1" lang="ko-KR" altLang="en-US" sz="1800" dirty="0"/>
                  <a:t>번 써야 하는 알고리즘이라면</a:t>
                </a:r>
                <a:r>
                  <a:rPr kumimoji="1" lang="en-US" altLang="ko-KR" sz="1800" dirty="0"/>
                  <a:t>, </a:t>
                </a:r>
                <a:r>
                  <a:rPr kumimoji="1" lang="ko-KR" altLang="en-US" sz="1800" dirty="0"/>
                  <a:t>매직 상태 하나의 오류율은 최소 </a:t>
                </a:r>
                <a:r>
                  <a:rPr kumimoji="1" lang="en-US" altLang="ko-KR" sz="1800" dirty="0"/>
                  <a:t>1/1000</a:t>
                </a:r>
                <a:r>
                  <a:rPr kumimoji="1" lang="ko-KR" altLang="en-US" sz="1800" dirty="0"/>
                  <a:t>보다는 훨씬 </a:t>
                </a:r>
                <a:r>
                  <a:rPr kumimoji="1" lang="ko-KR" altLang="en-US" sz="1800" dirty="0" err="1"/>
                  <a:t>낮아야전체</a:t>
                </a:r>
                <a:r>
                  <a:rPr kumimoji="1" lang="ko-KR" altLang="en-US" sz="1800" dirty="0"/>
                  <a:t> 계산이 성공</a:t>
                </a:r>
                <a:endParaRPr kumimoji="1" lang="en-US" altLang="ko-KR" sz="1800" dirty="0"/>
              </a:p>
              <a:p>
                <a:pPr lvl="2"/>
                <a:r>
                  <a:rPr kumimoji="1" lang="ko-KR" altLang="en-US" sz="1800" dirty="0"/>
                  <a:t>해당 상태를 위해 </a:t>
                </a:r>
                <a:r>
                  <a:rPr kumimoji="1" lang="en-US" altLang="ko-KR" sz="1800" dirty="0"/>
                  <a:t>Distillation(</a:t>
                </a:r>
                <a:r>
                  <a:rPr kumimoji="1" lang="ko-KR" altLang="en-US" sz="1800" dirty="0"/>
                  <a:t>증류</a:t>
                </a:r>
                <a:r>
                  <a:rPr kumimoji="1" lang="en-US" altLang="ko-KR" sz="1800" dirty="0"/>
                  <a:t>)</a:t>
                </a:r>
                <a:r>
                  <a:rPr kumimoji="1" lang="ko-KR" altLang="en-US" sz="1800" dirty="0"/>
                  <a:t> 과정 필요</a:t>
                </a:r>
                <a:endParaRPr kumimoji="1" lang="en-US" altLang="ko-KR" sz="1800" dirty="0"/>
              </a:p>
              <a:p>
                <a:pPr lvl="3"/>
                <a:r>
                  <a:rPr kumimoji="1" lang="ko-KR" altLang="en-US" sz="1400" dirty="0"/>
                  <a:t>입력 큐비트의 오류는 </a:t>
                </a:r>
                <a:r>
                  <a:rPr kumimoji="1" lang="en-US" altLang="ko-KR" sz="1400" dirty="0"/>
                  <a:t>surface code</a:t>
                </a:r>
                <a:r>
                  <a:rPr kumimoji="1" lang="ko-KR" altLang="en-US" sz="1400" dirty="0"/>
                  <a:t>에서 오류가 정정되지만</a:t>
                </a:r>
                <a:r>
                  <a:rPr kumimoji="1" lang="en-US" altLang="ko-KR" sz="1400" dirty="0"/>
                  <a:t> </a:t>
                </a:r>
                <a:r>
                  <a:rPr kumimoji="1" lang="ko-KR" altLang="en-US" sz="1400" dirty="0"/>
                  <a:t>매직 상태를 통해 들어오는 오류는 별로 증류 필요</a:t>
                </a:r>
                <a:endParaRPr kumimoji="1" lang="en-US" altLang="ko-KR" sz="1400" dirty="0"/>
              </a:p>
              <a:p>
                <a:pPr lvl="1"/>
                <a:endParaRPr kumimoji="1" lang="en-US" altLang="ko-KR" sz="20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B37B075B-BC02-3F8E-D56F-5C1437AABF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81" t="-1357" r="-1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2381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CEA4FF-1B39-4972-DE02-F3C854845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Fault-tolerant cost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7F35EBB8-B102-8BC4-E862-A43AC613C774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504029" cy="5603875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ko-KR" sz="2400" dirty="0"/>
                  <a:t>magic state </a:t>
                </a:r>
                <a:r>
                  <a:rPr kumimoji="1" lang="ko-KR" altLang="en-US" sz="2400" dirty="0"/>
                  <a:t>증류</a:t>
                </a:r>
                <a:r>
                  <a:rPr kumimoji="1" lang="en-US" altLang="ko-KR" sz="2400" dirty="0"/>
                  <a:t>(distillation) </a:t>
                </a:r>
                <a:r>
                  <a:rPr kumimoji="1" lang="ko-KR" altLang="en-US" sz="2400" dirty="0"/>
                  <a:t>프로세스</a:t>
                </a:r>
                <a:endParaRPr kumimoji="1" lang="en-US" altLang="ko-KR" sz="2400" dirty="0"/>
              </a:p>
              <a:p>
                <a:r>
                  <a:rPr kumimoji="1" lang="ko-KR" altLang="en-US" sz="2400" dirty="0"/>
                  <a:t>증류</a:t>
                </a:r>
                <a:r>
                  <a:rPr kumimoji="1" lang="en-US" altLang="ko-KR" sz="2400" dirty="0"/>
                  <a:t>(Distillation)</a:t>
                </a:r>
              </a:p>
              <a:p>
                <a:pPr lvl="1"/>
                <a:r>
                  <a:rPr kumimoji="1" lang="ko-KR" altLang="en-US" sz="2000" dirty="0"/>
                  <a:t>오류가 있는 물리적 </a:t>
                </a:r>
                <a:r>
                  <a:rPr kumimoji="1" lang="en-US" altLang="ko-KR" sz="2000" dirty="0"/>
                  <a:t>magic state(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r>
                  <a:rPr kumimoji="1" lang="en-US" altLang="ko-KR" sz="2000" dirty="0"/>
                  <a:t>)</a:t>
                </a:r>
                <a:r>
                  <a:rPr kumimoji="1" lang="ko-KR" altLang="en-US" sz="2000" dirty="0" err="1"/>
                  <a:t>를</a:t>
                </a:r>
                <a:r>
                  <a:rPr kumimoji="1" lang="ko-KR" altLang="en-US" sz="2000" dirty="0"/>
                  <a:t> 오류 수정 코드에 주입한 뒤</a:t>
                </a:r>
                <a:r>
                  <a:rPr kumimoji="1" lang="en-US" altLang="ko-KR" sz="2000" dirty="0"/>
                  <a:t>,</a:t>
                </a:r>
                <a:r>
                  <a:rPr kumimoji="1" lang="ko-KR" altLang="en-US" sz="2000" dirty="0"/>
                  <a:t> 반복적인 정제 과정을 거쳐 더 낮은 </a:t>
                </a:r>
                <a:r>
                  <a:rPr kumimoji="1" lang="ko-KR" altLang="en-US" sz="2000" dirty="0" err="1"/>
                  <a:t>오류율</a:t>
                </a:r>
                <a:r>
                  <a:rPr kumimoji="1" lang="ko-KR" altLang="en-US" sz="2000" dirty="0"/>
                  <a:t> 상태로 추출</a:t>
                </a:r>
                <a:endParaRPr kumimoji="1" lang="en-US" altLang="ko-KR" sz="2000" dirty="0"/>
              </a:p>
              <a:p>
                <a:pPr lvl="1"/>
                <a:r>
                  <a:rPr kumimoji="1" lang="ko-KR" altLang="en-US" sz="2000" dirty="0"/>
                  <a:t>한 번의 증류로 충분하지 않으면 여러 층을 연결</a:t>
                </a:r>
                <a:r>
                  <a:rPr kumimoji="1" lang="en-US" altLang="ko-KR" sz="2000" dirty="0"/>
                  <a:t>(Concatenation)</a:t>
                </a:r>
                <a:r>
                  <a:rPr kumimoji="1" lang="ko-KR" altLang="en-US" sz="2000" dirty="0"/>
                  <a:t>하여 오류율을 지수적으로 감소</a:t>
                </a:r>
                <a:endParaRPr kumimoji="1" lang="en-US" altLang="ko-KR" sz="2000" dirty="0"/>
              </a:p>
              <a:p>
                <a:pPr lvl="1"/>
                <a:r>
                  <a:rPr kumimoji="1" lang="ko-KR" altLang="en-US" sz="2000" dirty="0"/>
                  <a:t>증류를 진행할수록 오류율은 낮아지지만 사용 물리 큐비트는 </a:t>
                </a:r>
                <a:r>
                  <a:rPr kumimoji="1" lang="ko-KR" altLang="en-US" sz="2000" dirty="0" err="1"/>
                  <a:t>많아짐</a:t>
                </a:r>
                <a:endParaRPr kumimoji="1" lang="en-US" altLang="ko-KR" sz="2000" dirty="0"/>
              </a:p>
              <a:p>
                <a:pPr lvl="1"/>
                <a:endParaRPr kumimoji="1" lang="en-US" altLang="ko-KR" sz="2000" dirty="0"/>
              </a:p>
              <a:p>
                <a:r>
                  <a:rPr kumimoji="1" lang="ko-KR" altLang="en-US" sz="2400" dirty="0"/>
                  <a:t>리드</a:t>
                </a:r>
                <a:r>
                  <a:rPr kumimoji="1" lang="en-US" altLang="ko-KR" sz="2400" dirty="0"/>
                  <a:t>-</a:t>
                </a:r>
                <a:r>
                  <a:rPr kumimoji="1" lang="ko-KR" altLang="en-US" sz="2400" dirty="0"/>
                  <a:t>뮬러</a:t>
                </a:r>
                <a:r>
                  <a:rPr kumimoji="1" lang="en-US" altLang="ko-KR" sz="2400" dirty="0"/>
                  <a:t>(Reed-Muller) 15-to-1 </a:t>
                </a:r>
                <a:r>
                  <a:rPr kumimoji="1" lang="ko-KR" altLang="en-US" sz="2400" dirty="0"/>
                  <a:t>기법 </a:t>
                </a:r>
                <a:r>
                  <a:rPr kumimoji="1" lang="en-US" altLang="ko-KR" sz="2400" dirty="0"/>
                  <a:t>([1]</a:t>
                </a:r>
                <a:r>
                  <a:rPr kumimoji="1" lang="ko-KR" altLang="en-US" sz="2400" dirty="0"/>
                  <a:t>에서 채택한 방식</a:t>
                </a:r>
                <a:r>
                  <a:rPr kumimoji="1" lang="en-US" altLang="ko-KR" sz="2400" dirty="0"/>
                  <a:t>)</a:t>
                </a:r>
              </a:p>
              <a:p>
                <a:pPr lvl="1"/>
                <a:r>
                  <a:rPr kumimoji="1" lang="en-US" altLang="ko-KR" sz="2000" dirty="0"/>
                  <a:t>15</a:t>
                </a:r>
                <a:r>
                  <a:rPr kumimoji="1" lang="ko-KR" altLang="en-US" sz="2000" dirty="0"/>
                  <a:t>개의 불완전한 상태에서 </a:t>
                </a:r>
                <a:r>
                  <a:rPr kumimoji="1" lang="en-US" altLang="ko-KR" sz="2000" dirty="0"/>
                  <a:t>1</a:t>
                </a:r>
                <a:r>
                  <a:rPr kumimoji="1" lang="ko-KR" altLang="en-US" sz="2000" dirty="0"/>
                  <a:t>개의 개선된 상태를 얻음</a:t>
                </a:r>
                <a:endParaRPr kumimoji="1" lang="en-US" altLang="ko-KR" sz="2000" dirty="0"/>
              </a:p>
              <a:p>
                <a:pPr lvl="1"/>
                <a:r>
                  <a:rPr kumimoji="1" lang="ko-KR" altLang="en-US" sz="2000" dirty="0"/>
                  <a:t>증류 후 </a:t>
                </a:r>
                <a:r>
                  <a:rPr kumimoji="1" lang="ko-KR" altLang="en-US" sz="2000" dirty="0" err="1"/>
                  <a:t>오류율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dist</m:t>
                        </m:r>
                      </m:sub>
                    </m:sSub>
                  </m:oMath>
                </a14:m>
                <a:r>
                  <a:rPr kumimoji="1" lang="en-US" altLang="ko-KR" sz="2000" dirty="0"/>
                  <a:t>):</a:t>
                </a:r>
                <a:r>
                  <a:rPr kumimoji="1" lang="ko-KR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dist</m:t>
                        </m:r>
                      </m:sub>
                    </m:sSub>
                    <m:r>
                      <a:rPr kumimoji="1"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35</m:t>
                        </m:r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</m:sub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kumimoji="1" lang="en-US" altLang="ko-KR" sz="2000" dirty="0"/>
                  <a:t> (</a:t>
                </a:r>
                <a:r>
                  <a:rPr kumimoji="1" lang="ko-KR" altLang="en-US" sz="2000" dirty="0"/>
                  <a:t>단</a:t>
                </a:r>
                <a:r>
                  <a:rPr kumimoji="1" lang="en-US" altLang="ko-KR" sz="2000" dirty="0"/>
                  <a:t>,</a:t>
                </a:r>
                <a:r>
                  <a:rPr kumimoji="1" lang="ko-KR" altLang="en-US" sz="2000" dirty="0"/>
                  <a:t> 증류 과정 중 발생하는 논리적 오류는 무시할 수 있을 만큼의 충분한 거리를 </a:t>
                </a:r>
                <a:r>
                  <a:rPr kumimoji="1" lang="ko-KR" altLang="en-US" sz="2000" dirty="0" err="1"/>
                  <a:t>확보해야됨</a:t>
                </a:r>
                <a:r>
                  <a:rPr kumimoji="1" lang="en-US" altLang="ko-KR" sz="2000" dirty="0"/>
                  <a:t>)</a:t>
                </a:r>
              </a:p>
              <a:p>
                <a:pPr lvl="1"/>
                <a:r>
                  <a:rPr kumimoji="1" lang="ko-KR" altLang="en-US" sz="2000" dirty="0"/>
                  <a:t>즉</a:t>
                </a:r>
                <a:r>
                  <a:rPr kumimoji="1" lang="en-US" altLang="ko-KR" sz="2000" dirty="0"/>
                  <a:t>,</a:t>
                </a:r>
                <a:r>
                  <a:rPr kumimoji="1" lang="ko-KR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r>
                  <a:rPr kumimoji="1" lang="en-US" altLang="ko-KR" sz="2000" dirty="0"/>
                  <a:t> = 0.01% </a:t>
                </a:r>
                <a:r>
                  <a:rPr kumimoji="1" lang="ko-KR" altLang="en-US" sz="2000" dirty="0"/>
                  <a:t>일 때</a:t>
                </a:r>
                <a:r>
                  <a:rPr kumimoji="1" lang="en-US" altLang="ko-KR" sz="2000" dirty="0"/>
                  <a:t>,</a:t>
                </a:r>
                <a:r>
                  <a:rPr kumimoji="1" lang="ko-KR" altLang="en-US" sz="2000" dirty="0"/>
                  <a:t> </a:t>
                </a:r>
                <a:r>
                  <a:rPr kumimoji="1" lang="en-US" altLang="ko-KR" sz="2000" dirty="0">
                    <a:sym typeface="Wingdings" pitchFamily="2" charset="2"/>
                  </a:rPr>
                  <a:t></a:t>
                </a:r>
                <a:r>
                  <a:rPr kumimoji="1" lang="ko-KR" altLang="en-US" sz="20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dist</m:t>
                        </m:r>
                      </m:sub>
                    </m:sSub>
                  </m:oMath>
                </a14:m>
                <a:r>
                  <a:rPr kumimoji="1" lang="en-US" altLang="ko-KR" sz="2000" dirty="0"/>
                  <a:t> = 0.0035%</a:t>
                </a:r>
              </a:p>
              <a:p>
                <a:pPr lvl="1"/>
                <a:endParaRPr kumimoji="1" lang="en-US" altLang="ko-KR" sz="20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7F35EBB8-B102-8BC4-E862-A43AC613C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504029" cy="5603875"/>
              </a:xfrm>
              <a:blipFill>
                <a:blip r:embed="rId2"/>
                <a:stretch>
                  <a:fillRect l="-772" t="-1357" r="-5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A0C76DD-95AA-F2E7-DF76-2D2CACD1D31D}"/>
              </a:ext>
            </a:extLst>
          </p:cNvPr>
          <p:cNvSpPr txBox="1"/>
          <p:nvPr/>
        </p:nvSpPr>
        <p:spPr>
          <a:xfrm>
            <a:off x="0" y="6450198"/>
            <a:ext cx="1136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[1] Amy, Matthew, et al. "Estimating the cost of generic quantum pre-image attacks on SHA-2 and SHA-3." International Conference on Selected Areas in Cryptography. Cham: Springer International Publishing, 2016.</a:t>
            </a:r>
            <a:endParaRPr kumimoji="1"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1224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405E3-8CAF-0A13-2E67-48BD0E107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Fault-tolerant cost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6A9E51F5-96A9-5EE0-681B-B4945A75D2F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ko-KR" altLang="en-US" sz="2400" dirty="0"/>
                  <a:t>실제 시스템 </a:t>
                </a:r>
                <a:r>
                  <a:rPr kumimoji="1" lang="ko-KR" altLang="en-US" sz="2400" dirty="0" err="1"/>
                  <a:t>구현시</a:t>
                </a:r>
                <a:r>
                  <a:rPr kumimoji="1" lang="ko-KR" altLang="en-US" sz="2400" dirty="0"/>
                  <a:t> 고려해야 할 </a:t>
                </a:r>
                <a:r>
                  <a:rPr kumimoji="1" lang="ko-KR" altLang="en-US" sz="2400" b="1" dirty="0"/>
                  <a:t>오류 매개변수</a:t>
                </a:r>
                <a:r>
                  <a:rPr kumimoji="1" lang="ko-KR" altLang="en-US" sz="2400" dirty="0"/>
                  <a:t>와 </a:t>
                </a:r>
                <a:r>
                  <a:rPr kumimoji="1" lang="ko-KR" altLang="en-US" sz="2400" b="1" dirty="0"/>
                  <a:t>코드거리 추산방식</a:t>
                </a:r>
                <a:r>
                  <a:rPr kumimoji="1" lang="ko-KR" altLang="en-US" sz="2400" dirty="0"/>
                  <a:t>을 통해 오류제어 및 리소스 최적화 전략을 세울 수 있음</a:t>
                </a:r>
                <a:endParaRPr kumimoji="1" lang="en-US" altLang="ko-KR" sz="2400" dirty="0"/>
              </a:p>
              <a:p>
                <a:endParaRPr kumimoji="1" lang="en-US" altLang="ko-KR" sz="2400" dirty="0"/>
              </a:p>
              <a:p>
                <a:r>
                  <a:rPr kumimoji="1" lang="ko-KR" altLang="en-US" sz="2400" dirty="0"/>
                  <a:t>오류 </a:t>
                </a:r>
                <a:r>
                  <a:rPr kumimoji="1" lang="ko-KR" altLang="en-US" sz="2400" dirty="0" err="1"/>
                  <a:t>매게변수</a:t>
                </a:r>
                <a:endParaRPr kumimoji="1" lang="en-US" altLang="ko-KR" sz="2400" dirty="0"/>
              </a:p>
              <a:p>
                <a:pPr lvl="1"/>
                <a:r>
                  <a:rPr kumimoji="1" lang="ko-KR" altLang="en-US" sz="2000" dirty="0"/>
                  <a:t>물리 게이트 </a:t>
                </a:r>
                <a:r>
                  <a:rPr kumimoji="1" lang="ko-KR" altLang="en-US" sz="2000" dirty="0" err="1"/>
                  <a:t>오류율</a:t>
                </a:r>
                <a:r>
                  <a:rPr kumimoji="1" lang="en-US" altLang="ko-K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kumimoji="1" lang="en-US" altLang="ko-KR" sz="2000" dirty="0"/>
                  <a:t> :</a:t>
                </a:r>
                <a:r>
                  <a:rPr kumimoji="1" lang="ko-KR" altLang="en-US" sz="2000" dirty="0"/>
                  <a:t> 상태 주입 시 발생하는 오류를 고려하여 주입 오류율의 </a:t>
                </a:r>
                <a:r>
                  <a:rPr kumimoji="1" lang="en-US" altLang="ko-KR" sz="2000" dirty="0"/>
                  <a:t>1/10</a:t>
                </a:r>
                <a:r>
                  <a:rPr kumimoji="1" lang="ko-KR" altLang="en-US" sz="2000" dirty="0"/>
                  <a:t> 수준 </a:t>
                </a:r>
                <a:r>
                  <a:rPr kumimoji="1" lang="en-US" altLang="ko-KR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/10</m:t>
                    </m:r>
                  </m:oMath>
                </a14:m>
                <a:r>
                  <a:rPr kumimoji="1" lang="en-US" altLang="ko-KR" sz="2000" dirty="0"/>
                  <a:t>)</a:t>
                </a:r>
                <a:r>
                  <a:rPr kumimoji="1" lang="ko-KR" altLang="en-US" sz="2000" dirty="0" err="1"/>
                  <a:t>으로</a:t>
                </a:r>
                <a:r>
                  <a:rPr kumimoji="1" lang="ko-KR" altLang="en-US" sz="2000" dirty="0"/>
                  <a:t> 가정</a:t>
                </a:r>
                <a:endParaRPr kumimoji="1" lang="en-US" altLang="ko-KR" sz="2000" dirty="0"/>
              </a:p>
              <a:p>
                <a:pPr marL="0" indent="0" fontAlgn="base">
                  <a:buNone/>
                </a:pPr>
                <a:endParaRPr lang="ko-KR" altLang="ko-KR" sz="2400" dirty="0"/>
              </a:p>
              <a:p>
                <a:pPr fontAlgn="base"/>
                <a:r>
                  <a:rPr lang="ko-KR" altLang="ko-KR" sz="2400" dirty="0"/>
                  <a:t>코드 거리</a:t>
                </a:r>
                <a:r>
                  <a:rPr lang="en-US" altLang="ko-KR" sz="2400" dirty="0"/>
                  <a:t>(d)</a:t>
                </a:r>
                <a:r>
                  <a:rPr lang="ko-KR" altLang="ko-KR" sz="2400" dirty="0"/>
                  <a:t>와 단계별 배치 </a:t>
                </a:r>
                <a:r>
                  <a:rPr lang="en-US" altLang="ko-KR" sz="2400" dirty="0"/>
                  <a:t>​</a:t>
                </a:r>
              </a:p>
              <a:p>
                <a:pPr lvl="1" fontAlgn="base"/>
                <a:r>
                  <a:rPr lang="ko-KR" altLang="ko-KR" sz="2000" dirty="0"/>
                  <a:t>증류 각 단계마다 필요한 최소 표면 코드 거리(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ko-KR" sz="2000" dirty="0"/>
                  <a:t>)</a:t>
                </a:r>
                <a:r>
                  <a:rPr lang="ko-KR" altLang="ko-KR" sz="2000" dirty="0" err="1"/>
                  <a:t>를</a:t>
                </a:r>
                <a:r>
                  <a:rPr lang="ko-KR" altLang="ko-KR" sz="2000" dirty="0"/>
                  <a:t> 계산</a:t>
                </a:r>
                <a:r>
                  <a:rPr lang="en-US" altLang="ko-KR" sz="2000" dirty="0"/>
                  <a:t>​</a:t>
                </a:r>
              </a:p>
              <a:p>
                <a:pPr lvl="1" fontAlgn="base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ko-KR" sz="2000" dirty="0"/>
                  <a:t>:</a:t>
                </a:r>
                <a:r>
                  <a:rPr lang="ko-KR" altLang="ko-KR" sz="2000" dirty="0"/>
                  <a:t> 최상위 층</a:t>
                </a:r>
                <a:r>
                  <a:rPr lang="en-US" altLang="ko-KR" sz="2000" dirty="0"/>
                  <a:t>(</a:t>
                </a:r>
                <a:r>
                  <a:rPr lang="ko-KR" altLang="ko-KR" sz="2000" dirty="0"/>
                  <a:t>최종 출력 직전</a:t>
                </a:r>
                <a:r>
                  <a:rPr lang="en-US" altLang="ko-KR" sz="2000" dirty="0"/>
                  <a:t>)</a:t>
                </a:r>
                <a:r>
                  <a:rPr lang="ko-KR" altLang="ko-KR" sz="2000" dirty="0"/>
                  <a:t>의 코드 거리</a:t>
                </a:r>
                <a:r>
                  <a:rPr lang="en-US" altLang="ko-KR" sz="2000" dirty="0"/>
                  <a:t>​</a:t>
                </a:r>
              </a:p>
              <a:p>
                <a:pPr lvl="1" fontAlgn="base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ko-KR" sz="20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ko-KR" altLang="ko-KR" sz="2000" dirty="0"/>
                  <a:t>: 하위 층으로 내려갈수록(초기 단계일수록) 상대적으로 짧은 거리를 사용하여 리소스를 효율적으로 분배</a:t>
                </a:r>
              </a:p>
              <a:p>
                <a:endParaRPr kumimoji="1" lang="en-US" altLang="ko-KR" sz="24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6A9E51F5-96A9-5EE0-681B-B4945A75D2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81" t="-1357" r="-3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137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5DB40-1FAB-9600-AC89-78F31ADDA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Surface code – distance d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5E0942-455C-E79F-4DAC-C3F9B64425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ko-KR" altLang="en-US" sz="2400" dirty="0"/>
              <a:t>하나의 논리 </a:t>
            </a:r>
            <a:r>
              <a:rPr kumimoji="1" lang="ko-KR" altLang="en-US" sz="2400" dirty="0" err="1"/>
              <a:t>큐비트</a:t>
            </a:r>
            <a:r>
              <a:rPr kumimoji="1" lang="ko-KR" altLang="en-US" sz="2400" dirty="0"/>
              <a:t> 정보를 파괴하기 위해 필요한 최소한의 물리적 오류 개수를 의미 </a:t>
            </a:r>
            <a:r>
              <a:rPr kumimoji="1" lang="en-US" altLang="ko-KR" sz="2400" dirty="0"/>
              <a:t>(</a:t>
            </a:r>
            <a:r>
              <a:rPr kumimoji="1" lang="ko-KR" altLang="en-US" sz="2400" dirty="0"/>
              <a:t>논리적 보호막의 두께</a:t>
            </a:r>
            <a:r>
              <a:rPr kumimoji="1" lang="en-US" altLang="ko-KR" sz="2400" dirty="0"/>
              <a:t>)</a:t>
            </a:r>
          </a:p>
          <a:p>
            <a:pPr lvl="1"/>
            <a:r>
              <a:rPr kumimoji="1" lang="en-US" altLang="ko-KR" sz="2000" dirty="0"/>
              <a:t>d=3</a:t>
            </a:r>
            <a:r>
              <a:rPr kumimoji="1" lang="ko-KR" altLang="en-US" sz="2000" dirty="0"/>
              <a:t>일 때는 오류가 </a:t>
            </a:r>
            <a:r>
              <a:rPr kumimoji="1" lang="en-US" altLang="ko-KR" sz="2000" dirty="0"/>
              <a:t>3</a:t>
            </a:r>
            <a:r>
              <a:rPr kumimoji="1" lang="ko-KR" altLang="en-US" sz="2000" dirty="0"/>
              <a:t>개 가</a:t>
            </a:r>
            <a:r>
              <a:rPr kumimoji="1" lang="en-US" altLang="ko-KR" sz="2000" dirty="0"/>
              <a:t>, d=5</a:t>
            </a:r>
            <a:r>
              <a:rPr kumimoji="1" lang="ko-KR" altLang="en-US" sz="2000" dirty="0"/>
              <a:t>일 때는 </a:t>
            </a:r>
            <a:r>
              <a:rPr kumimoji="1" lang="en-US" altLang="ko-KR" sz="2000" dirty="0"/>
              <a:t>5</a:t>
            </a:r>
            <a:r>
              <a:rPr kumimoji="1" lang="ko-KR" altLang="en-US" sz="2000" dirty="0"/>
              <a:t>개</a:t>
            </a:r>
            <a:r>
              <a:rPr kumimoji="1" lang="en-US" altLang="ko-KR" sz="2000" dirty="0"/>
              <a:t>, d=7</a:t>
            </a:r>
            <a:r>
              <a:rPr kumimoji="1" lang="ko-KR" altLang="en-US" sz="2000" dirty="0"/>
              <a:t>일 때는 </a:t>
            </a:r>
            <a:r>
              <a:rPr kumimoji="1" lang="en-US" altLang="ko-KR" sz="2000" dirty="0"/>
              <a:t>7</a:t>
            </a:r>
            <a:r>
              <a:rPr kumimoji="1" lang="ko-KR" altLang="en-US" sz="2000" dirty="0"/>
              <a:t>개가 동시</a:t>
            </a:r>
            <a:r>
              <a:rPr kumimoji="1" lang="en-US" altLang="ko-KR" sz="2000" dirty="0"/>
              <a:t>(</a:t>
            </a:r>
            <a:r>
              <a:rPr kumimoji="1" lang="ko-KR" altLang="en-US" sz="2000"/>
              <a:t>같은 변</a:t>
            </a:r>
            <a:r>
              <a:rPr kumimoji="1" lang="en-US" altLang="ko-KR" sz="2000" dirty="0"/>
              <a:t>)</a:t>
            </a:r>
            <a:r>
              <a:rPr kumimoji="1" lang="ko-KR" altLang="en-US" sz="2000" dirty="0" err="1"/>
              <a:t>에</a:t>
            </a:r>
            <a:r>
              <a:rPr kumimoji="1" lang="ko-KR" altLang="en-US" sz="2000" dirty="0"/>
              <a:t> 발생됐을 때 오류가 생김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물리적 오류가 우연히 한 줄로 연결될 확률은 거리가 멀어질수록 희박</a:t>
            </a:r>
            <a:endParaRPr kumimoji="1" lang="en-US" altLang="ko-KR" sz="2000" dirty="0"/>
          </a:p>
          <a:p>
            <a:endParaRPr kumimoji="1" lang="ko-KR" altLang="en-US" sz="2400" dirty="0"/>
          </a:p>
        </p:txBody>
      </p:sp>
      <p:pic>
        <p:nvPicPr>
          <p:cNvPr id="1026" name="Picture 2" descr="Check out our latest preprint @GoogleQuantumAI pushing the surface code to  the next level! - Below threshold (Λ &gt; 2) - Distance-7 logical qubit,  0.0014 error per cycle, &gt;2x better than physical">
            <a:extLst>
              <a:ext uri="{FF2B5EF4-FFF2-40B4-BE49-F238E27FC236}">
                <a16:creationId xmlns:a16="http://schemas.microsoft.com/office/drawing/2014/main" id="{F27ECD5C-7C40-D101-854F-934BA91F4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371" y="3292355"/>
            <a:ext cx="7627257" cy="3464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4758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BCB5F-5E0B-700E-153A-990A9FC94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Fault-tolerant cost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SHA256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93FE05C4-5919-7F8A-486A-19C702875A34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" altLang="ko-KR" sz="2000" dirty="0">
                    <a:latin typeface="+mn-ea"/>
                  </a:rPr>
                  <a:t>SHA-256 </a:t>
                </a:r>
                <a:r>
                  <a:rPr lang="ko-KR" altLang="en-US" sz="2000" dirty="0">
                    <a:latin typeface="+mn-ea"/>
                  </a:rPr>
                  <a:t>오라클 연산</a:t>
                </a:r>
                <a:r>
                  <a:rPr lang="en-US" altLang="ko-KR" sz="2000" dirty="0">
                    <a:latin typeface="+mn-ea"/>
                  </a:rPr>
                  <a:t>:</a:t>
                </a:r>
                <a:r>
                  <a:rPr lang="ko-KR" altLang="en-US" sz="2000" dirty="0">
                    <a:latin typeface="+mn-ea"/>
                  </a:rPr>
                  <a:t> 암호 해독 알고리즘</a:t>
                </a:r>
                <a:r>
                  <a:rPr lang="en-US" altLang="ko-KR" sz="2000" dirty="0">
                    <a:latin typeface="+mn-ea"/>
                  </a:rPr>
                  <a:t>(</a:t>
                </a:r>
                <a:r>
                  <a:rPr lang="en" altLang="ko-KR" sz="2000" dirty="0">
                    <a:latin typeface="+mn-ea"/>
                  </a:rPr>
                  <a:t>Grover)</a:t>
                </a:r>
                <a:r>
                  <a:rPr lang="ko-KR" altLang="en-US" sz="2000" dirty="0">
                    <a:latin typeface="+mn-ea"/>
                  </a:rPr>
                  <a:t>을 한 번 돌리는 데 필요한 </a:t>
                </a:r>
                <a:r>
                  <a:rPr lang="en" altLang="ko-KR" sz="2000" dirty="0">
                    <a:latin typeface="+mn-ea"/>
                  </a:rPr>
                  <a:t>T-</a:t>
                </a:r>
                <a:r>
                  <a:rPr lang="ko-KR" altLang="en-US" sz="2000" dirty="0">
                    <a:latin typeface="+mn-ea"/>
                  </a:rPr>
                  <a:t>게이트의 수</a:t>
                </a:r>
                <a:r>
                  <a:rPr lang="en-US" altLang="ko-KR" sz="200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sSub>
                          <m:sSub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sub>
                        </m:sSub>
                      </m:sub>
                      <m:sup>
                        <m:r>
                          <m:rPr>
                            <m:sty m:val="p"/>
                          </m:r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bSup>
                  </m:oMath>
                </a14:m>
                <a:r>
                  <a:rPr lang="en" altLang="ko-KR" sz="2000" dirty="0">
                    <a:latin typeface="+mn-ea"/>
                  </a:rPr>
                  <a:t>)</a:t>
                </a:r>
                <a:r>
                  <a:rPr lang="en-US" altLang="ko-KR" sz="2000" dirty="0">
                    <a:latin typeface="+mn-ea"/>
                  </a:rPr>
                  <a:t>:</a:t>
                </a:r>
                <a:r>
                  <a:rPr lang="ko-KR" altLang="en-US" sz="2000" dirty="0">
                    <a:latin typeface="+mn-ea"/>
                  </a:rPr>
                  <a:t> </a:t>
                </a:r>
                <a:r>
                  <a:rPr lang="en-US" altLang="ko-KR" sz="2000" dirty="0">
                    <a:latin typeface="+mn-ea"/>
                  </a:rPr>
                  <a:t>466,092</a:t>
                </a:r>
                <a:r>
                  <a:rPr lang="ko-KR" altLang="en-US" sz="2000" dirty="0">
                    <a:latin typeface="+mn-ea"/>
                  </a:rPr>
                  <a:t>개</a:t>
                </a:r>
                <a:endParaRPr lang="en-US" altLang="ko-KR" sz="2000" dirty="0">
                  <a:latin typeface="+mn-ea"/>
                </a:endParaRPr>
              </a:p>
              <a:p>
                <a:r>
                  <a:rPr kumimoji="1" lang="ko-KR" altLang="en-US" sz="2000" dirty="0">
                    <a:latin typeface="+mn-ea"/>
                  </a:rPr>
                  <a:t>전체 </a:t>
                </a:r>
                <a:r>
                  <a:rPr kumimoji="1" lang="en-US" altLang="ko-KR" sz="2000" dirty="0">
                    <a:latin typeface="+mn-ea"/>
                  </a:rPr>
                  <a:t>Grover’s algorithm</a:t>
                </a:r>
                <a:r>
                  <a:rPr kumimoji="1" lang="ko-KR" altLang="en-US" sz="2000" dirty="0" err="1">
                    <a:latin typeface="+mn-ea"/>
                  </a:rPr>
                  <a:t>에</a:t>
                </a:r>
                <a:r>
                  <a:rPr kumimoji="1" lang="ko-KR" altLang="en-US" sz="2000" dirty="0">
                    <a:latin typeface="+mn-ea"/>
                  </a:rPr>
                  <a:t> 필요한 </a:t>
                </a:r>
                <a:r>
                  <a:rPr kumimoji="1" lang="en-US" altLang="ko-KR" sz="2000" dirty="0">
                    <a:latin typeface="+mn-ea"/>
                  </a:rPr>
                  <a:t>T</a:t>
                </a:r>
                <a:r>
                  <a:rPr kumimoji="1" lang="ko-KR" altLang="en-US" sz="2000" dirty="0">
                    <a:latin typeface="+mn-ea"/>
                  </a:rPr>
                  <a:t> 게이트 수</a:t>
                </a:r>
                <a:r>
                  <a:rPr kumimoji="1" lang="en-US" altLang="ko-KR" sz="2000" dirty="0">
                    <a:latin typeface="+mn-ea"/>
                  </a:rPr>
                  <a:t>:</a:t>
                </a:r>
                <a:r>
                  <a:rPr kumimoji="1" lang="ko-KR" altLang="en-US" sz="20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1.27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44</m:t>
                        </m:r>
                      </m:sup>
                    </m:sSup>
                  </m:oMath>
                </a14:m>
                <a:endParaRPr kumimoji="1" lang="en-US" altLang="ko-KR" sz="2000" dirty="0">
                  <a:latin typeface="+mn-ea"/>
                </a:endParaRPr>
              </a:p>
              <a:p>
                <a:r>
                  <a:rPr kumimoji="1" lang="ko-KR" altLang="en-US" sz="2000" dirty="0">
                    <a:latin typeface="+mn-ea"/>
                  </a:rPr>
                  <a:t>매직 상태의 </a:t>
                </a:r>
                <a:r>
                  <a:rPr kumimoji="1" lang="ko-KR" altLang="en-US" sz="2000" dirty="0" err="1">
                    <a:latin typeface="+mn-ea"/>
                  </a:rPr>
                  <a:t>오류율</a:t>
                </a:r>
                <a:r>
                  <a:rPr kumimoji="1" lang="en-US" altLang="ko-KR" sz="200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kumimoji="1" lang="en-US" altLang="ko-KR" sz="2000" dirty="0">
                    <a:latin typeface="+mn-ea"/>
                  </a:rPr>
                  <a:t>)</a:t>
                </a:r>
                <a:r>
                  <a:rPr kumimoji="1" lang="ko-KR" altLang="en-US" sz="2000" dirty="0">
                    <a:latin typeface="+mn-ea"/>
                  </a:rPr>
                  <a:t>이</a:t>
                </a:r>
                <a:r>
                  <a:rPr kumimoji="1" lang="en-US" altLang="ko-KR" sz="2000" dirty="0">
                    <a:latin typeface="+mn-ea"/>
                  </a:rPr>
                  <a:t> 7.89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−45</m:t>
                        </m:r>
                      </m:sup>
                    </m:sSup>
                  </m:oMath>
                </a14:m>
                <a:r>
                  <a:rPr kumimoji="1" lang="en" altLang="ko-KR" sz="2000" dirty="0">
                    <a:latin typeface="+mn-ea"/>
                  </a:rPr>
                  <a:t> </a:t>
                </a:r>
                <a:r>
                  <a:rPr kumimoji="1" lang="ko-KR" altLang="en-US" sz="2000" dirty="0">
                    <a:latin typeface="+mn-ea"/>
                  </a:rPr>
                  <a:t>이하여야 함</a:t>
                </a:r>
                <a:endParaRPr kumimoji="1" lang="en-US" altLang="ko-KR" sz="2000" dirty="0">
                  <a:latin typeface="+mn-ea"/>
                </a:endParaRPr>
              </a:p>
              <a:p>
                <a:endParaRPr kumimoji="1" lang="en-US" altLang="ko-KR" sz="2000" dirty="0">
                  <a:latin typeface="+mn-ea"/>
                </a:endParaRPr>
              </a:p>
              <a:p>
                <a:r>
                  <a:rPr kumimoji="1" lang="en-US" altLang="ko-KR" sz="2000" dirty="0">
                    <a:latin typeface="+mn-ea"/>
                  </a:rPr>
                  <a:t>3</a:t>
                </a:r>
                <a:r>
                  <a:rPr kumimoji="1" lang="ko-KR" altLang="en-US" sz="2000" dirty="0">
                    <a:latin typeface="+mn-ea"/>
                  </a:rPr>
                  <a:t>단계 증류</a:t>
                </a:r>
                <a:endParaRPr kumimoji="1" lang="en-US" altLang="ko-KR" sz="2000" dirty="0">
                  <a:latin typeface="+mn-ea"/>
                </a:endParaRPr>
              </a:p>
              <a:p>
                <a:pPr lvl="1"/>
                <a:r>
                  <a:rPr kumimoji="1" lang="ko-KR" altLang="en-US" sz="1800" dirty="0">
                    <a:latin typeface="+mn-ea"/>
                  </a:rPr>
                  <a:t>알고리즘에 따르면</a:t>
                </a:r>
                <a:r>
                  <a:rPr kumimoji="1" lang="en-US" altLang="ko-KR" sz="1800" dirty="0">
                    <a:latin typeface="+mn-ea"/>
                  </a:rPr>
                  <a:t>,</a:t>
                </a:r>
                <a:r>
                  <a:rPr kumimoji="1" lang="ko-KR" altLang="en-US" sz="1800" dirty="0">
                    <a:latin typeface="+mn-ea"/>
                  </a:rPr>
                  <a:t> 목표 오류율을 달성하기 위해 총 </a:t>
                </a:r>
                <a:r>
                  <a:rPr kumimoji="1" lang="en-US" altLang="ko-KR" sz="1800" dirty="0">
                    <a:latin typeface="+mn-ea"/>
                  </a:rPr>
                  <a:t>3</a:t>
                </a:r>
                <a:r>
                  <a:rPr kumimoji="1" lang="ko-KR" altLang="en-US" sz="1800" dirty="0">
                    <a:latin typeface="+mn-ea"/>
                  </a:rPr>
                  <a:t>단계의 증류과정 필요</a:t>
                </a:r>
                <a:endParaRPr kumimoji="1" lang="en-US" altLang="ko-KR" sz="1800" dirty="0">
                  <a:latin typeface="+mn-ea"/>
                </a:endParaRPr>
              </a:p>
              <a:p>
                <a:pPr lvl="1"/>
                <a:r>
                  <a:rPr kumimoji="1" lang="ko-KR" altLang="en-US" sz="1800" dirty="0">
                    <a:latin typeface="+mn-ea"/>
                  </a:rPr>
                  <a:t>단계별 </a:t>
                </a:r>
                <a:r>
                  <a:rPr kumimoji="1" lang="en-US" altLang="ko-KR" sz="1800" dirty="0">
                    <a:latin typeface="+mn-ea"/>
                  </a:rPr>
                  <a:t>Distance</a:t>
                </a:r>
              </a:p>
              <a:p>
                <a:pPr lvl="2"/>
                <a:r>
                  <a:rPr kumimoji="1" lang="en-US" altLang="ko-KR" sz="1400" dirty="0">
                    <a:latin typeface="+mn-ea"/>
                  </a:rPr>
                  <a:t>1</a:t>
                </a:r>
                <a:r>
                  <a:rPr kumimoji="1" lang="ko-KR" altLang="en-US" sz="1400" dirty="0">
                    <a:latin typeface="+mn-ea"/>
                  </a:rPr>
                  <a:t>단계 </a:t>
                </a:r>
                <a:r>
                  <a:rPr kumimoji="1" lang="en-US" altLang="ko-KR" sz="1400" dirty="0">
                    <a:latin typeface="+mn-ea"/>
                  </a:rPr>
                  <a:t>:</a:t>
                </a:r>
                <a:r>
                  <a:rPr kumimoji="1" lang="ko-KR" altLang="en-US" sz="14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1400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ko-KR" sz="14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kumimoji="1" lang="en-US" altLang="ko-KR" sz="1400" dirty="0">
                  <a:latin typeface="+mn-ea"/>
                </a:endParaRPr>
              </a:p>
              <a:p>
                <a:pPr lvl="2"/>
                <a:r>
                  <a:rPr kumimoji="1" lang="en-US" altLang="ko-KR" sz="1400" dirty="0">
                    <a:latin typeface="+mn-ea"/>
                  </a:rPr>
                  <a:t>2</a:t>
                </a:r>
                <a:r>
                  <a:rPr kumimoji="1" lang="ko-KR" altLang="en-US" sz="1400" dirty="0">
                    <a:latin typeface="+mn-ea"/>
                  </a:rPr>
                  <a:t>단계 </a:t>
                </a:r>
                <a:r>
                  <a:rPr kumimoji="1" lang="en-US" altLang="ko-KR" sz="1400" dirty="0">
                    <a:latin typeface="+mn-ea"/>
                  </a:rPr>
                  <a:t>:</a:t>
                </a:r>
                <a:r>
                  <a:rPr kumimoji="1" lang="ko-KR" altLang="en-US" sz="14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14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ko-KR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kumimoji="1" lang="en-US" altLang="ko-KR" sz="1400" dirty="0">
                  <a:latin typeface="+mn-ea"/>
                </a:endParaRPr>
              </a:p>
              <a:p>
                <a:pPr lvl="2"/>
                <a:r>
                  <a:rPr kumimoji="1" lang="en-US" altLang="ko-KR" sz="1400" dirty="0">
                    <a:latin typeface="+mn-ea"/>
                  </a:rPr>
                  <a:t>3</a:t>
                </a:r>
                <a:r>
                  <a:rPr kumimoji="1" lang="ko-KR" altLang="en-US" sz="1400" dirty="0">
                    <a:latin typeface="+mn-ea"/>
                  </a:rPr>
                  <a:t>단계 </a:t>
                </a:r>
                <a:r>
                  <a:rPr kumimoji="1" lang="en-US" altLang="ko-KR" sz="1400" dirty="0">
                    <a:latin typeface="+mn-ea"/>
                  </a:rPr>
                  <a:t>:</a:t>
                </a:r>
                <a:r>
                  <a:rPr kumimoji="1" lang="ko-KR" altLang="en-US" sz="14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14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400" b="0" i="1" smtClean="0"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endParaRPr kumimoji="1" lang="en-US" altLang="ko-KR" sz="1400" b="0" dirty="0">
                  <a:latin typeface="+mn-ea"/>
                </a:endParaRPr>
              </a:p>
              <a:p>
                <a:pPr lvl="2"/>
                <a:endParaRPr kumimoji="1" lang="en-US" altLang="ko-KR" sz="1400" dirty="0">
                  <a:latin typeface="+mn-ea"/>
                </a:endParaRPr>
              </a:p>
              <a:p>
                <a:pPr lvl="2"/>
                <a:endParaRPr kumimoji="1" lang="en-US" altLang="ko-KR" sz="1400" dirty="0">
                  <a:latin typeface="+mn-ea"/>
                </a:endParaRPr>
              </a:p>
              <a:p>
                <a:pPr lvl="2"/>
                <a:endParaRPr kumimoji="1" lang="en-US" altLang="ko-KR" sz="1400" dirty="0">
                  <a:latin typeface="+mn-ea"/>
                </a:endParaRPr>
              </a:p>
              <a:p>
                <a:pPr lvl="2"/>
                <a:endParaRPr kumimoji="1" lang="en-US" altLang="ko-KR" sz="1400" dirty="0">
                  <a:latin typeface="+mn-ea"/>
                </a:endParaRPr>
              </a:p>
              <a:p>
                <a:pPr lvl="2"/>
                <a:endParaRPr kumimoji="1" lang="en-US" altLang="ko-KR" sz="1400" dirty="0">
                  <a:latin typeface="+mn-ea"/>
                </a:endParaRPr>
              </a:p>
              <a:p>
                <a:pPr lvl="2"/>
                <a:endParaRPr kumimoji="1" lang="en-US" altLang="ko-KR" sz="1400" dirty="0">
                  <a:latin typeface="+mn-ea"/>
                </a:endParaRPr>
              </a:p>
              <a:p>
                <a:pPr lvl="1"/>
                <a:r>
                  <a:rPr lang="ko-KR" altLang="en-US" sz="1800" dirty="0"/>
                  <a:t>매직 상태 </a:t>
                </a:r>
                <a:r>
                  <a:rPr lang="en-US" altLang="ko-KR" sz="1800" dirty="0"/>
                  <a:t>1</a:t>
                </a:r>
                <a:r>
                  <a:rPr lang="ko-KR" altLang="en-US" sz="1800" dirty="0"/>
                  <a:t>개를 제대로 만들기 위해 약 </a:t>
                </a:r>
                <a:r>
                  <a:rPr lang="en-US" altLang="ko-KR" sz="1800" b="1" dirty="0"/>
                  <a:t>3,600</a:t>
                </a:r>
                <a:r>
                  <a:rPr lang="ko-KR" altLang="en-US" sz="1800" b="1" dirty="0"/>
                  <a:t>개</a:t>
                </a:r>
                <a:r>
                  <a:rPr lang="ko-KR" altLang="en-US" sz="1800" dirty="0"/>
                  <a:t>의 입력 상태가 소모</a:t>
                </a:r>
                <a:endParaRPr kumimoji="1" lang="en-US" altLang="ko-KR" sz="1800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93FE05C4-5919-7F8A-486A-19C702875A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446" t="-1357" r="-1004" b="-6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D4B18C94-294F-B873-006E-1F5CCE181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620" y="3783012"/>
            <a:ext cx="4693480" cy="229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58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DC91CD-D65C-3FD1-3FD6-87431D209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Fault-tolerant cost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SHA256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텍스트 개체 틀 2">
                <a:extLst>
                  <a:ext uri="{FF2B5EF4-FFF2-40B4-BE49-F238E27FC236}">
                    <a16:creationId xmlns:a16="http://schemas.microsoft.com/office/drawing/2014/main" id="{6019C9E0-F06D-BEE1-2723-7489AA96E50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603875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ko-KR" sz="2000" dirty="0">
                    <a:latin typeface="+mn-ea"/>
                  </a:rPr>
                  <a:t>SHA256 T-count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SHA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−256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bSup>
                  </m:oMath>
                </a14:m>
                <a:r>
                  <a:rPr kumimoji="1" lang="en-US" altLang="ko-KR" sz="2000" dirty="0">
                    <a:latin typeface="+mn-ea"/>
                  </a:rPr>
                  <a:t>) = 228992</a:t>
                </a:r>
              </a:p>
              <a:p>
                <a:r>
                  <a:rPr kumimoji="1" lang="en-US" altLang="ko-KR" sz="2000" dirty="0">
                    <a:latin typeface="+mn-ea"/>
                  </a:rPr>
                  <a:t>k controlled-NOT</a:t>
                </a:r>
                <a:r>
                  <a:rPr kumimoji="1" lang="ko-KR" altLang="en-US" sz="2000" dirty="0">
                    <a:latin typeface="+mn-ea"/>
                  </a:rPr>
                  <a:t>의 </a:t>
                </a:r>
                <a:r>
                  <a:rPr kumimoji="1" lang="en-US" altLang="ko-KR" sz="2000" dirty="0">
                    <a:latin typeface="+mn-ea"/>
                  </a:rPr>
                  <a:t>T-count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CNOT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−256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b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2000" dirty="0">
                    <a:latin typeface="+mn-ea"/>
                  </a:rPr>
                  <a:t> : 32k-84 (k = 256</a:t>
                </a:r>
                <a:r>
                  <a:rPr kumimoji="1" lang="ko-KR" altLang="en-US" sz="2000" dirty="0">
                    <a:latin typeface="+mn-ea"/>
                  </a:rPr>
                  <a:t>일 때</a:t>
                </a:r>
                <a:r>
                  <a:rPr kumimoji="1" lang="en-US" altLang="ko-KR" sz="2000" dirty="0">
                    <a:latin typeface="+mn-ea"/>
                  </a:rPr>
                  <a:t>,</a:t>
                </a:r>
                <a:r>
                  <a:rPr kumimoji="1" lang="ko-KR" altLang="en-US" sz="2000" dirty="0">
                    <a:latin typeface="+mn-ea"/>
                  </a:rPr>
                  <a:t> </a:t>
                </a:r>
                <a:r>
                  <a:rPr kumimoji="1" lang="en-US" altLang="ko-KR" sz="2000" dirty="0">
                    <a:latin typeface="+mn-ea"/>
                  </a:rPr>
                  <a:t>8108)</a:t>
                </a:r>
              </a:p>
              <a:p>
                <a:pPr marL="0" indent="0" algn="ctr">
                  <a:buNone/>
                </a:pPr>
                <a:r>
                  <a:rPr kumimoji="1" lang="en-US" altLang="ko-KR" sz="2000" b="1" dirty="0">
                    <a:latin typeface="+mn-ea"/>
                  </a:rPr>
                  <a:t>(</a:t>
                </a:r>
                <a:r>
                  <a:rPr kumimoji="1" lang="ko-KR" altLang="en-US" sz="2000" b="1" dirty="0">
                    <a:latin typeface="+mn-ea"/>
                  </a:rPr>
                  <a:t>오라클</a:t>
                </a:r>
                <a:r>
                  <a:rPr kumimoji="1" lang="en-US" altLang="ko-KR" sz="2000" b="1" dirty="0">
                    <a:latin typeface="+mn-ea"/>
                  </a:rPr>
                  <a:t>)</a:t>
                </a:r>
                <a:r>
                  <a:rPr kumimoji="1" lang="ko-KR" altLang="en-US" sz="2000" b="1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2000" b="1" i="1" smtClean="0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kumimoji="1" lang="en-US" altLang="ko-KR" sz="2000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</m:sub>
                        </m:sSub>
                      </m:sub>
                      <m:sup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kumimoji="1"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</a:rPr>
                      <m:t>𝟐</m:t>
                    </m:r>
                    <m:sSubSup>
                      <m:sSubSupPr>
                        <m:ctrlP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𝑺𝑯𝑨</m:t>
                        </m:r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𝟐𝟓𝟔</m:t>
                        </m:r>
                      </m:sub>
                      <m:sup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kumimoji="1" lang="en-US" altLang="ko-KR" sz="2000" b="1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𝑪𝑵𝑶𝑻</m:t>
                        </m:r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𝟐𝟓𝟔</m:t>
                        </m:r>
                      </m:sub>
                      <m:sup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</m:oMath>
                </a14:m>
                <a:r>
                  <a:rPr kumimoji="1" lang="en-US" altLang="ko-KR" sz="2000" b="1" dirty="0">
                    <a:latin typeface="+mn-ea"/>
                  </a:rPr>
                  <a:t> = </a:t>
                </a:r>
                <a14:m>
                  <m:oMath xmlns:m="http://schemas.openxmlformats.org/officeDocument/2006/math">
                    <m:r>
                      <a:rPr kumimoji="1" lang="en-US" altLang="ko-KR" sz="2000" b="1" i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</a:rPr>
                      <m:t>𝟐𝟐𝟖𝟗𝟗𝟐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</a:rPr>
                      <m:t>𝟖𝟏𝟎𝟖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</a:rPr>
                      <m:t>𝟒𝟔𝟔𝟎𝟗𝟐</m:t>
                    </m:r>
                  </m:oMath>
                </a14:m>
                <a:endParaRPr kumimoji="1" lang="en-US" altLang="ko-KR" sz="2000" b="1" dirty="0">
                  <a:latin typeface="+mn-ea"/>
                </a:endParaRPr>
              </a:p>
              <a:p>
                <a:endParaRPr kumimoji="1" lang="en-US" altLang="ko-KR" sz="2000" dirty="0">
                  <a:latin typeface="+mn-ea"/>
                </a:endParaRPr>
              </a:p>
              <a:p>
                <a:r>
                  <a:rPr kumimoji="1" lang="ko-KR" altLang="en-US" sz="2000" dirty="0">
                    <a:latin typeface="+mn-ea"/>
                  </a:rPr>
                  <a:t>알고리즘을 통해 매직 상태 증류</a:t>
                </a:r>
                <a:r>
                  <a:rPr kumimoji="1" lang="en-US" altLang="ko-KR" sz="2000" dirty="0">
                    <a:latin typeface="+mn-ea"/>
                  </a:rPr>
                  <a:t>(</a:t>
                </a:r>
                <a:r>
                  <a:rPr kumimoji="1" lang="en" altLang="ko-KR" sz="2000" dirty="0">
                    <a:latin typeface="+mn-ea"/>
                  </a:rPr>
                  <a:t>Magic State Distillation) </a:t>
                </a:r>
                <a:r>
                  <a:rPr kumimoji="1" lang="ko-KR" altLang="en-US" sz="2000" dirty="0">
                    <a:latin typeface="+mn-ea"/>
                  </a:rPr>
                  <a:t>반복 횟수 및 연쇄 </a:t>
                </a:r>
                <a:r>
                  <a:rPr kumimoji="1" lang="en-US" altLang="ko-KR" sz="2000" dirty="0">
                    <a:latin typeface="+mn-ea"/>
                  </a:rPr>
                  <a:t>code distance</a:t>
                </a:r>
                <a:r>
                  <a:rPr kumimoji="1" lang="ko-KR" altLang="en-US" sz="2000" dirty="0">
                    <a:latin typeface="+mn-ea"/>
                  </a:rPr>
                  <a:t> 추정</a:t>
                </a:r>
                <a:endParaRPr kumimoji="1" lang="en-US" altLang="ko-KR" sz="2000" dirty="0">
                  <a:latin typeface="+mn-ea"/>
                </a:endParaRPr>
              </a:p>
              <a:p>
                <a:pPr lvl="1"/>
                <a:r>
                  <a:rPr kumimoji="1" lang="ko-KR" altLang="en-US" sz="1600" dirty="0">
                    <a:latin typeface="+mn-ea"/>
                  </a:rPr>
                  <a:t>확산 연산자</a:t>
                </a:r>
                <a:r>
                  <a:rPr kumimoji="1" lang="en-US" altLang="ko-KR" sz="1600" dirty="0">
                    <a:latin typeface="+mn-ea"/>
                  </a:rPr>
                  <a:t>(diffusion operator)</a:t>
                </a:r>
                <a:r>
                  <a:rPr kumimoji="1" lang="ko-KR" altLang="en-US" sz="1600" dirty="0">
                    <a:latin typeface="+mn-ea"/>
                  </a:rPr>
                  <a:t>는 </a:t>
                </a:r>
                <a:r>
                  <a:rPr kumimoji="1" lang="ko-KR" altLang="en-US" sz="1600" dirty="0" err="1">
                    <a:latin typeface="+mn-ea"/>
                  </a:rPr>
                  <a:t>클리포드</a:t>
                </a:r>
                <a:r>
                  <a:rPr kumimoji="1" lang="en-US" altLang="ko-KR" sz="1600" dirty="0">
                    <a:latin typeface="+mn-ea"/>
                  </a:rPr>
                  <a:t>(Clifford) </a:t>
                </a:r>
                <a:r>
                  <a:rPr kumimoji="1" lang="ko-KR" altLang="en-US" sz="1600" dirty="0">
                    <a:latin typeface="+mn-ea"/>
                  </a:rPr>
                  <a:t>게이트와 </a:t>
                </a:r>
                <a:r>
                  <a:rPr kumimoji="1" lang="en-US" altLang="ko-KR" sz="1600" dirty="0">
                    <a:latin typeface="+mn-ea"/>
                  </a:rPr>
                  <a:t>(k-1)</a:t>
                </a:r>
                <a:r>
                  <a:rPr kumimoji="1" lang="ko-KR" altLang="en-US" sz="1600" dirty="0">
                    <a:latin typeface="+mn-ea"/>
                  </a:rPr>
                  <a:t>중 제어 </a:t>
                </a:r>
                <a:r>
                  <a:rPr kumimoji="1" lang="en-US" altLang="ko-KR" sz="1600" dirty="0">
                    <a:latin typeface="+mn-ea"/>
                  </a:rPr>
                  <a:t>NOT</a:t>
                </a:r>
                <a:r>
                  <a:rPr kumimoji="1" lang="ko-KR" altLang="en-US" sz="1600" dirty="0" err="1">
                    <a:latin typeface="+mn-ea"/>
                  </a:rPr>
                  <a:t>으로</a:t>
                </a:r>
                <a:r>
                  <a:rPr kumimoji="1" lang="ko-KR" altLang="en-US" sz="1600" dirty="0">
                    <a:latin typeface="+mn-ea"/>
                  </a:rPr>
                  <a:t> 구성됨 </a:t>
                </a:r>
                <a:r>
                  <a:rPr kumimoji="1" lang="en-US" altLang="ko-KR" sz="160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ko-KR" sz="1600" i="1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1600" i="1">
                            <a:latin typeface="Cambria Math" panose="02040503050406030204" pitchFamily="18" charset="0"/>
                          </a:rPr>
                          <m:t>CNOT</m:t>
                        </m:r>
                        <m:r>
                          <a:rPr kumimoji="1" lang="en-US" altLang="ko-KR" sz="1600" i="1">
                            <a:latin typeface="Cambria Math" panose="02040503050406030204" pitchFamily="18" charset="0"/>
                          </a:rPr>
                          <m:t>−255</m:t>
                        </m:r>
                      </m:sub>
                      <m:sup>
                        <m:r>
                          <m:rPr>
                            <m:sty m:val="p"/>
                          </m:rPr>
                          <a:rPr kumimoji="1" lang="en-US" altLang="ko-KR" sz="1600" i="1">
                            <a:latin typeface="Cambria Math" panose="02040503050406030204" pitchFamily="18" charset="0"/>
                          </a:rPr>
                          <m:t>c</m:t>
                        </m:r>
                      </m:sup>
                    </m:sSubSup>
                    <m:r>
                      <a:rPr kumimoji="1" lang="en-US" altLang="ko-KR" sz="1600" b="0" i="1" smtClean="0">
                        <a:latin typeface="Cambria Math" panose="02040503050406030204" pitchFamily="18" charset="0"/>
                      </a:rPr>
                      <m:t>=8076</m:t>
                    </m:r>
                  </m:oMath>
                </a14:m>
                <a:r>
                  <a:rPr kumimoji="1" lang="en-US" altLang="ko-KR" sz="1600" dirty="0">
                    <a:latin typeface="+mn-ea"/>
                  </a:rPr>
                  <a:t>)</a:t>
                </a:r>
              </a:p>
              <a:p>
                <a:pPr marL="457200" lvl="1" indent="0">
                  <a:buNone/>
                </a:pPr>
                <a:r>
                  <a:rPr lang="ko-KR" altLang="en-US" sz="2000" dirty="0" err="1">
                    <a:latin typeface="+mn-ea"/>
                  </a:rPr>
                  <a:t>그로버</a:t>
                </a:r>
                <a:r>
                  <a:rPr lang="ko-KR" altLang="en-US" sz="2000" dirty="0">
                    <a:latin typeface="+mn-ea"/>
                  </a:rPr>
                  <a:t> 반복</a:t>
                </a:r>
                <a:r>
                  <a:rPr lang="en-US" altLang="ko-KR" sz="2000" dirty="0">
                    <a:latin typeface="+mn-ea"/>
                  </a:rPr>
                  <a:t> </a:t>
                </a:r>
                <a:r>
                  <a:rPr lang="en" altLang="ko-KR" sz="2000" dirty="0">
                    <a:latin typeface="+mn-ea"/>
                  </a:rPr>
                  <a:t>G 1</a:t>
                </a:r>
                <a:r>
                  <a:rPr lang="ko-KR" altLang="en-US" sz="2000" dirty="0">
                    <a:latin typeface="+mn-ea"/>
                  </a:rPr>
                  <a:t>회의 </a:t>
                </a:r>
                <a:r>
                  <a:rPr lang="en" altLang="ko-KR" sz="2000" dirty="0">
                    <a:latin typeface="+mn-ea"/>
                  </a:rPr>
                  <a:t>T-count</a:t>
                </a:r>
                <a:r>
                  <a:rPr lang="ko-KR" altLang="en-US" sz="2000" dirty="0">
                    <a:latin typeface="+mn-ea"/>
                  </a:rPr>
                  <a:t>는 다음과 같음</a:t>
                </a:r>
                <a:r>
                  <a:rPr lang="en-US" altLang="ko-KR" sz="2000" dirty="0">
                    <a:latin typeface="+mn-ea"/>
                  </a:rPr>
                  <a:t>:</a:t>
                </a:r>
                <a:endParaRPr kumimoji="1" lang="en-US" altLang="ko-KR" sz="2000" b="1" i="1" dirty="0">
                  <a:latin typeface="+mn-ea"/>
                </a:endParaRPr>
              </a:p>
              <a:p>
                <a:pPr marL="457200" lvl="1" indent="0">
                  <a:buNone/>
                </a:pPr>
                <a:r>
                  <a:rPr kumimoji="1" lang="en-US" altLang="ko-KR" sz="1600" b="1" dirty="0">
                    <a:latin typeface="+mn-ea"/>
                  </a:rPr>
                  <a:t>	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kumimoji="1" lang="en-US" altLang="ko-KR" sz="18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  <m:sup>
                        <m: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kumimoji="1" lang="en-US" altLang="ko-KR" sz="1800" b="1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kumimoji="1" lang="en-US" altLang="ko-KR" sz="18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sz="1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1" i="1" smtClean="0"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  <m:sub>
                            <m:r>
                              <a:rPr kumimoji="1" lang="en-US" altLang="ko-KR" sz="1800" b="1" i="1" smtClean="0">
                                <a:latin typeface="Cambria Math" panose="02040503050406030204" pitchFamily="18" charset="0"/>
                              </a:rPr>
                              <m:t>𝒈</m:t>
                            </m:r>
                          </m:sub>
                        </m:sSub>
                      </m:sub>
                      <m:sup>
                        <m: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kumimoji="1" lang="en-US" altLang="ko-KR" sz="1800" b="1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  <m:t>𝑪𝑵𝑶𝑻</m:t>
                        </m:r>
                        <m: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  <m:t>𝟐𝟓𝟔</m:t>
                        </m:r>
                      </m:sub>
                      <m:sup>
                        <m: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</m:oMath>
                </a14:m>
                <a:r>
                  <a:rPr kumimoji="1" lang="en-US" altLang="ko-KR" sz="1800" b="1" dirty="0">
                    <a:latin typeface="+mn-ea"/>
                  </a:rPr>
                  <a:t> = </a:t>
                </a:r>
                <a14:m>
                  <m:oMath xmlns:m="http://schemas.openxmlformats.org/officeDocument/2006/math">
                    <m:r>
                      <a:rPr kumimoji="1" lang="en-US" altLang="ko-KR" sz="1800" b="1" i="1">
                        <a:latin typeface="Cambria Math" panose="02040503050406030204" pitchFamily="18" charset="0"/>
                      </a:rPr>
                      <m:t>𝟒𝟔𝟔𝟎𝟗𝟐</m:t>
                    </m:r>
                    <m:r>
                      <a:rPr kumimoji="1" lang="en-US" altLang="ko-KR" sz="1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ko-KR" altLang="en-US" sz="1800" b="1" i="1" smtClean="0">
                        <a:latin typeface="Cambria Math" panose="02040503050406030204" pitchFamily="18" charset="0"/>
                      </a:rPr>
                      <m:t>오라클</m:t>
                    </m:r>
                    <m:r>
                      <a:rPr kumimoji="1" lang="en-US" altLang="ko-KR" sz="1800" b="1" i="1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kumimoji="1" lang="en-US" altLang="ko-KR" sz="1800" b="1" i="1" smtClean="0">
                        <a:latin typeface="Cambria Math" panose="02040503050406030204" pitchFamily="18" charset="0"/>
                      </a:rPr>
                      <m:t>𝟖𝟎𝟕𝟔</m:t>
                    </m:r>
                    <m:r>
                      <a:rPr kumimoji="1" lang="ko-KR" altLang="en-US" sz="1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sz="1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ko-KR" sz="1800" b="1" i="1" smtClean="0">
                        <a:latin typeface="Cambria Math" panose="02040503050406030204" pitchFamily="18" charset="0"/>
                      </a:rPr>
                      <m:t>Diffision</m:t>
                    </m:r>
                    <m:r>
                      <a:rPr kumimoji="1" lang="en-US" altLang="ko-KR" sz="1800" b="1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kumimoji="1" lang="en-US" altLang="ko-KR" sz="1800" b="1" i="1" smtClean="0">
                        <a:latin typeface="Cambria Math" panose="02040503050406030204" pitchFamily="18" charset="0"/>
                      </a:rPr>
                      <m:t>𝟒𝟕𝟒𝟏𝟔𝟖</m:t>
                    </m:r>
                  </m:oMath>
                </a14:m>
                <a:endParaRPr kumimoji="1" lang="en-US" altLang="ko-KR" sz="1600" b="1" dirty="0">
                  <a:latin typeface="+mn-ea"/>
                </a:endParaRPr>
              </a:p>
              <a:p>
                <a:pPr marL="457200" lvl="1" indent="0">
                  <a:buNone/>
                </a:pPr>
                <a:endParaRPr kumimoji="1" lang="en-US" altLang="ko-KR" sz="1600" b="1" dirty="0">
                  <a:latin typeface="+mn-ea"/>
                </a:endParaRPr>
              </a:p>
              <a:p>
                <a:r>
                  <a:rPr lang="ko-KR" altLang="en-US" sz="2000" dirty="0">
                    <a:latin typeface="+mn-ea"/>
                  </a:rPr>
                  <a:t>또한 전체 </a:t>
                </a:r>
                <a:r>
                  <a:rPr lang="ko-KR" altLang="en-US" sz="2000" dirty="0" err="1">
                    <a:latin typeface="+mn-ea"/>
                  </a:rPr>
                  <a:t>그로버</a:t>
                </a:r>
                <a:r>
                  <a:rPr lang="ko-KR" altLang="en-US" sz="2000" dirty="0">
                    <a:latin typeface="+mn-ea"/>
                  </a:rPr>
                  <a:t> 알고리즘</a:t>
                </a:r>
                <a:r>
                  <a:rPr lang="en-US" altLang="ko-KR" sz="2000" dirty="0">
                    <a:latin typeface="+mn-ea"/>
                  </a:rPr>
                  <a:t>(</a:t>
                </a:r>
                <a:r>
                  <a:rPr lang="en" altLang="ko-KR" sz="2000" dirty="0">
                    <a:latin typeface="+mn-ea"/>
                  </a:rPr>
                  <a:t>GA)</a:t>
                </a:r>
                <a:r>
                  <a:rPr lang="ko-KR" altLang="en-US" sz="2000" dirty="0" err="1">
                    <a:latin typeface="+mn-ea"/>
                  </a:rPr>
                  <a:t>에</a:t>
                </a:r>
                <a:r>
                  <a:rPr lang="ko-KR" altLang="en-US" sz="2000" dirty="0">
                    <a:latin typeface="+mn-ea"/>
                  </a:rPr>
                  <a:t> 대한 </a:t>
                </a:r>
                <a:r>
                  <a:rPr lang="en" altLang="ko-KR" sz="2000" dirty="0">
                    <a:latin typeface="+mn-ea"/>
                  </a:rPr>
                  <a:t>T-count:</a:t>
                </a:r>
                <a:endParaRPr lang="en" altLang="ko-KR" sz="1600" dirty="0">
                  <a:latin typeface="+mn-ea"/>
                </a:endParaRPr>
              </a:p>
              <a:p>
                <a:pPr marL="457200" lvl="1" indent="0">
                  <a:buNone/>
                </a:pPr>
                <a:r>
                  <a:rPr kumimoji="1" lang="en-US" altLang="ko-KR" sz="1800" b="1" dirty="0">
                    <a:latin typeface="+mn-ea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m:rPr>
                            <m:sty m:val="p"/>
                          </m:rPr>
                          <a:rPr kumimoji="1" lang="en-US" altLang="ko-KR" sz="1800" b="1" i="1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  <m:sup>
                        <m:r>
                          <a:rPr kumimoji="1" lang="en-US" altLang="ko-KR" sz="1800" b="1" i="1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kumimoji="1" lang="en-US" altLang="ko-KR" sz="1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kumimoji="1" lang="en-US" altLang="ko-KR" sz="1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1800" b="1" i="1" smtClean="0">
                            <a:latin typeface="Cambria Math" panose="02040503050406030204" pitchFamily="18" charset="0"/>
                          </a:rPr>
                          <m:t>𝝅</m:t>
                        </m:r>
                        <m:r>
                          <a:rPr kumimoji="1" lang="en-US" altLang="ko-KR" sz="1800" b="1" i="1" smtClean="0">
                            <a:latin typeface="Cambria Math" panose="02040503050406030204" pitchFamily="18" charset="0"/>
                          </a:rPr>
                          <m:t>/4×</m:t>
                        </m:r>
                        <m:sSup>
                          <m:sSupPr>
                            <m:ctrlPr>
                              <a:rPr kumimoji="1" lang="en-US" altLang="ko-KR" sz="18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ko-KR" sz="1800" b="1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ko-KR" sz="1800" b="1" i="1" smtClean="0">
                                <a:latin typeface="Cambria Math" panose="02040503050406030204" pitchFamily="18" charset="0"/>
                              </a:rPr>
                              <m:t>128</m:t>
                            </m:r>
                          </m:sup>
                        </m:sSup>
                      </m:e>
                    </m:d>
                    <m:r>
                      <a:rPr kumimoji="1" lang="en-US" altLang="ko-KR" sz="1800" b="1" i="1" smtClean="0">
                        <a:latin typeface="Cambria Math" panose="02040503050406030204" pitchFamily="18" charset="0"/>
                      </a:rPr>
                      <m:t>×474168≈1.27×</m:t>
                    </m:r>
                    <m:sSup>
                      <m:sSupPr>
                        <m:ctrlPr>
                          <a:rPr kumimoji="1" lang="en-US" altLang="ko-KR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1800" b="1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sz="1800" b="1" i="1" smtClean="0">
                            <a:latin typeface="Cambria Math" panose="02040503050406030204" pitchFamily="18" charset="0"/>
                          </a:rPr>
                          <m:t>44</m:t>
                        </m:r>
                      </m:sup>
                    </m:sSup>
                  </m:oMath>
                </a14:m>
                <a:endParaRPr kumimoji="1" lang="en-US" altLang="ko-KR" sz="1800" dirty="0">
                  <a:latin typeface="+mn-ea"/>
                </a:endParaRPr>
              </a:p>
              <a:p>
                <a:r>
                  <a:rPr kumimoji="1" lang="ko-KR" altLang="en-US" sz="2000" dirty="0">
                    <a:latin typeface="+mn-ea"/>
                  </a:rPr>
                  <a:t>출력 오류율은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ko-KR" sz="2000" dirty="0">
                    <a:latin typeface="+mn-ea"/>
                  </a:rPr>
                  <a:t>1/</a:t>
                </a:r>
                <a:r>
                  <a:rPr kumimoji="1" lang="en-US" altLang="ko-KR" sz="2000" b="1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m:rPr>
                            <m:sty m:val="p"/>
                          </m:rP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  <m:sup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  <m:r>
                      <a:rPr kumimoji="1" lang="en-US" altLang="ko-KR" sz="2000" b="1" i="1" smtClean="0">
                        <a:latin typeface="Cambria Math" panose="02040503050406030204" pitchFamily="18" charset="0"/>
                      </a:rPr>
                      <m:t>≈7.89×</m:t>
                    </m:r>
                    <m:sSup>
                      <m:sSupPr>
                        <m:ctrlP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−45</m:t>
                        </m:r>
                      </m:sup>
                    </m:sSup>
                  </m:oMath>
                </a14:m>
                <a:r>
                  <a:rPr kumimoji="1" lang="ko-KR" altLang="en-US" sz="2000" dirty="0">
                    <a:latin typeface="+mn-ea"/>
                  </a:rPr>
                  <a:t>보다 작아야 함</a:t>
                </a:r>
                <a:endParaRPr kumimoji="1" lang="en-US" altLang="ko-KR" sz="2000" dirty="0">
                  <a:latin typeface="+mn-ea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g</m:t>
                        </m:r>
                      </m:sub>
                    </m:sSub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sz="200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kumimoji="1" lang="en-US" altLang="ko-KR" sz="2000" dirty="0">
                    <a:latin typeface="+mn-ea"/>
                  </a:rPr>
                  <a:t>=1</a:t>
                </a:r>
                <a:r>
                  <a:rPr kumimoji="1" lang="ko-KR" altLang="en-US" sz="2000" dirty="0">
                    <a:latin typeface="+mn-ea"/>
                  </a:rPr>
                  <a:t>로 가정하면</a:t>
                </a:r>
                <a:r>
                  <a:rPr kumimoji="1" lang="en-US" altLang="ko-KR" sz="2000" dirty="0">
                    <a:latin typeface="+mn-ea"/>
                  </a:rPr>
                  <a:t>,</a:t>
                </a:r>
                <a:r>
                  <a:rPr kumimoji="1" lang="ko-KR" altLang="en-US" sz="2000" dirty="0">
                    <a:latin typeface="+mn-ea"/>
                  </a:rPr>
                  <a:t> 알고리즘에 따라</a:t>
                </a:r>
                <a:r>
                  <a:rPr kumimoji="1" lang="en-US" altLang="ko-KR" sz="2000" dirty="0">
                    <a:latin typeface="+mn-ea"/>
                  </a:rPr>
                  <a:t> 1</a:t>
                </a:r>
                <a:r>
                  <a:rPr kumimoji="1" lang="ko-KR" altLang="en-US" sz="2000" dirty="0">
                    <a:latin typeface="+mn-ea"/>
                  </a:rPr>
                  <a:t>단계 </a:t>
                </a:r>
                <a:r>
                  <a:rPr kumimoji="1" lang="en-US" altLang="ko-KR" sz="2000" dirty="0">
                    <a:latin typeface="+mn-ea"/>
                  </a:rPr>
                  <a:t>:</a:t>
                </a:r>
                <a:r>
                  <a:rPr kumimoji="1" lang="ko-KR" altLang="en-US" sz="20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kumimoji="1" lang="en-US" altLang="ko-KR" sz="2000" dirty="0">
                    <a:latin typeface="+mn-ea"/>
                  </a:rPr>
                  <a:t>/ 2</a:t>
                </a:r>
                <a:r>
                  <a:rPr kumimoji="1" lang="ko-KR" altLang="en-US" sz="2000" dirty="0">
                    <a:latin typeface="+mn-ea"/>
                  </a:rPr>
                  <a:t>단계 </a:t>
                </a:r>
                <a:r>
                  <a:rPr kumimoji="1" lang="en-US" altLang="ko-KR" sz="2000" dirty="0">
                    <a:latin typeface="+mn-ea"/>
                  </a:rPr>
                  <a:t>:</a:t>
                </a:r>
                <a:r>
                  <a:rPr kumimoji="1" lang="ko-KR" altLang="en-US" sz="20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kumimoji="1" lang="en-US" altLang="ko-KR" sz="2000" dirty="0">
                    <a:latin typeface="+mn-ea"/>
                  </a:rPr>
                  <a:t>/ 3</a:t>
                </a:r>
                <a:r>
                  <a:rPr kumimoji="1" lang="ko-KR" altLang="en-US" sz="2000" dirty="0">
                    <a:latin typeface="+mn-ea"/>
                  </a:rPr>
                  <a:t>단계 </a:t>
                </a:r>
                <a:r>
                  <a:rPr kumimoji="1" lang="en-US" altLang="ko-KR" sz="2000" dirty="0">
                    <a:latin typeface="+mn-ea"/>
                  </a:rPr>
                  <a:t>:</a:t>
                </a:r>
                <a:r>
                  <a:rPr kumimoji="1" lang="ko-KR" altLang="en-US" sz="20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=33</m:t>
                    </m:r>
                  </m:oMath>
                </a14:m>
                <a:endParaRPr kumimoji="1" lang="en-US" altLang="ko-KR" sz="20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텍스트 개체 틀 2">
                <a:extLst>
                  <a:ext uri="{FF2B5EF4-FFF2-40B4-BE49-F238E27FC236}">
                    <a16:creationId xmlns:a16="http://schemas.microsoft.com/office/drawing/2014/main" id="{6019C9E0-F06D-BEE1-2723-7489AA96E5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603875"/>
              </a:xfrm>
              <a:blipFill>
                <a:blip r:embed="rId2"/>
                <a:stretch>
                  <a:fillRect l="-446" t="-13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1525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48AA40-A68C-1035-24E4-34BCFD09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Fault-tolerant cost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SHA256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D489BE9-DA88-F3DA-21B2-8B972F6446DE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596687" cy="5603875"/>
              </a:xfrm>
            </p:spPr>
            <p:txBody>
              <a:bodyPr>
                <a:normAutofit lnSpcReduction="10000"/>
              </a:bodyPr>
              <a:lstStyle/>
              <a:p>
                <a:r>
                  <a:rPr kumimoji="1" lang="ko-KR" altLang="en-US" sz="2000" dirty="0">
                    <a:latin typeface="+mn-ea"/>
                  </a:rPr>
                  <a:t>증류과정</a:t>
                </a:r>
                <a:endParaRPr kumimoji="1" lang="en-US" altLang="ko-KR" sz="1800" b="1" dirty="0">
                  <a:latin typeface="+mn-ea"/>
                </a:endParaRPr>
              </a:p>
              <a:p>
                <a:pPr marL="457200" lvl="1" indent="0">
                  <a:buNone/>
                </a:pPr>
                <a:r>
                  <a:rPr kumimoji="1" lang="en-US" altLang="ko-KR" sz="2000" b="1" dirty="0">
                    <a:latin typeface="+mn-ea"/>
                  </a:rPr>
                  <a:t>&lt;</a:t>
                </a:r>
                <a:r>
                  <a:rPr kumimoji="1" lang="ko-KR" altLang="en-US" sz="2000" b="1" dirty="0">
                    <a:latin typeface="+mn-ea"/>
                  </a:rPr>
                  <a:t>최하위 계층 </a:t>
                </a:r>
                <a:r>
                  <a:rPr kumimoji="1" lang="en-US" altLang="ko-KR" sz="2000" b="1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𝟕</m:t>
                    </m:r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en-US" altLang="ko-KR" sz="2000" b="1" dirty="0">
                    <a:latin typeface="+mn-ea"/>
                  </a:rPr>
                  <a:t>&gt;</a:t>
                </a:r>
              </a:p>
              <a:p>
                <a:pPr lvl="1"/>
                <a:r>
                  <a:rPr kumimoji="1" lang="ko-KR" altLang="en-US" sz="1800" dirty="0">
                    <a:latin typeface="+mn-ea"/>
                  </a:rPr>
                  <a:t>증류의 최하위 계층 은</a:t>
                </a:r>
                <a:r>
                  <a:rPr kumimoji="1" lang="en-US" altLang="ko-KR" sz="1800" dirty="0">
                    <a:latin typeface="+mn-ea"/>
                  </a:rPr>
                  <a:t> surface code</a:t>
                </a:r>
                <a:r>
                  <a:rPr kumimoji="1" lang="ko-KR" altLang="en-US" sz="1800" dirty="0">
                    <a:latin typeface="+mn-ea"/>
                  </a:rPr>
                  <a:t>에서 가장 큰 </a:t>
                </a:r>
                <a:r>
                  <a:rPr kumimoji="1" lang="en-US" altLang="ko-KR" sz="1800" dirty="0">
                    <a:latin typeface="+mn-ea"/>
                  </a:rPr>
                  <a:t>footprint(</a:t>
                </a:r>
                <a:r>
                  <a:rPr kumimoji="1" lang="ko-KR" altLang="en-US" sz="1800" dirty="0">
                    <a:latin typeface="+mn-ea"/>
                  </a:rPr>
                  <a:t>점유 면적</a:t>
                </a:r>
                <a:r>
                  <a:rPr kumimoji="1" lang="en-US" altLang="ko-KR" sz="1800" dirty="0">
                    <a:latin typeface="+mn-ea"/>
                  </a:rPr>
                  <a:t>)</a:t>
                </a:r>
                <a:r>
                  <a:rPr kumimoji="1" lang="ko-KR" altLang="en-US" sz="1800" dirty="0">
                    <a:latin typeface="+mn-ea"/>
                  </a:rPr>
                  <a:t>을 차지함</a:t>
                </a:r>
                <a:endParaRPr kumimoji="1" lang="en-US" altLang="ko-KR" sz="1800" dirty="0">
                  <a:latin typeface="+mn-ea"/>
                </a:endParaRPr>
              </a:p>
              <a:p>
                <a:pPr lvl="1"/>
                <a:r>
                  <a:rPr kumimoji="1" lang="en-US" altLang="ko-KR" sz="1800" dirty="0">
                    <a:latin typeface="+mn-ea"/>
                  </a:rPr>
                  <a:t>3</a:t>
                </a:r>
                <a:r>
                  <a:rPr kumimoji="1" lang="ko-KR" altLang="en-US" sz="1800" dirty="0">
                    <a:latin typeface="+mn-ea"/>
                  </a:rPr>
                  <a:t>단계 증류는 단일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kumimoji="1" lang="ko-KR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ko-KR" sz="1800" i="1">
                                <a:latin typeface="Cambria Math" panose="02040503050406030204" pitchFamily="18" charset="0"/>
                              </a:rPr>
                              <m:t>L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ko-KR" sz="1800" dirty="0">
                    <a:latin typeface="+mn-ea"/>
                  </a:rPr>
                  <a:t> </a:t>
                </a:r>
                <a:r>
                  <a:rPr kumimoji="1" lang="ko-KR" altLang="en-US" sz="1800" dirty="0">
                    <a:latin typeface="+mn-ea"/>
                  </a:rPr>
                  <a:t>상태를 생성하는 과정에서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dist</m:t>
                        </m:r>
                      </m:sub>
                    </m:sSub>
                  </m:oMath>
                </a14:m>
                <a:r>
                  <a:rPr kumimoji="1" lang="en" altLang="ko-KR" sz="1800" dirty="0">
                    <a:latin typeface="+mn-ea"/>
                  </a:rPr>
                  <a:t> = </a:t>
                </a:r>
                <a14:m>
                  <m:oMath xmlns:m="http://schemas.openxmlformats.org/officeDocument/2006/math"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16×16×15=3600</m:t>
                    </m:r>
                  </m:oMath>
                </a14:m>
                <a:r>
                  <a:rPr kumimoji="1" lang="ko-KR" altLang="en-US" sz="1800" dirty="0">
                    <a:latin typeface="+mn-ea"/>
                  </a:rPr>
                  <a:t>개의 입력 상태</a:t>
                </a:r>
                <a:r>
                  <a:rPr kumimoji="1" lang="en-US" altLang="ko-KR" sz="1800" dirty="0">
                    <a:latin typeface="+mn-ea"/>
                  </a:rPr>
                  <a:t> </a:t>
                </a:r>
                <a:r>
                  <a:rPr kumimoji="1" lang="ko-KR" altLang="en-US" sz="1800" dirty="0">
                    <a:latin typeface="+mn-ea"/>
                  </a:rPr>
                  <a:t>소비 </a:t>
                </a:r>
                <a:r>
                  <a:rPr kumimoji="1" lang="en-US" altLang="ko-KR" sz="1800" dirty="0">
                    <a:latin typeface="+mn-ea"/>
                  </a:rPr>
                  <a:t>(15-to-1</a:t>
                </a:r>
                <a:r>
                  <a:rPr kumimoji="1" lang="ko-KR" altLang="en-US" sz="1800" dirty="0">
                    <a:latin typeface="+mn-ea"/>
                  </a:rPr>
                  <a:t> 프로토콜</a:t>
                </a:r>
                <a:r>
                  <a:rPr kumimoji="1" lang="en-US" altLang="ko-KR" sz="1800" dirty="0">
                    <a:latin typeface="+mn-ea"/>
                  </a:rPr>
                  <a:t>)</a:t>
                </a:r>
              </a:p>
              <a:p>
                <a:pPr lvl="2"/>
                <a:r>
                  <a:rPr kumimoji="1" lang="ko-KR" altLang="en-US" sz="1600" dirty="0">
                    <a:latin typeface="+mn-ea"/>
                  </a:rPr>
                  <a:t>입력 상태들은 논리 </a:t>
                </a:r>
                <a:r>
                  <a:rPr kumimoji="1" lang="ko-KR" altLang="en-US" sz="1600" dirty="0" err="1">
                    <a:latin typeface="+mn-ea"/>
                  </a:rPr>
                  <a:t>큐비트</a:t>
                </a:r>
                <a:r>
                  <a:rPr kumimoji="1" lang="ko-KR" altLang="en-US" sz="1600" dirty="0">
                    <a:latin typeface="+mn-ea"/>
                  </a:rPr>
                  <a:t> 당 </a:t>
                </a:r>
                <a14:m>
                  <m:oMath xmlns:m="http://schemas.openxmlformats.org/officeDocument/2006/math">
                    <m:r>
                      <a:rPr kumimoji="1" lang="en-US" altLang="ko-KR" sz="16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en-US" altLang="ko-KR" sz="1600" b="0" i="1" dirty="0" smtClean="0">
                        <a:latin typeface="Cambria Math" panose="02040503050406030204" pitchFamily="18" charset="0"/>
                      </a:rPr>
                      <m:t>.5</m:t>
                    </m:r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×1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</a:rPr>
                      <m:t>.25</m:t>
                    </m:r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kumimoji="1" lang="en-US" altLang="ko-KR" sz="160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</a:rPr>
                      <m:t>154</m:t>
                    </m:r>
                  </m:oMath>
                </a14:m>
                <a:r>
                  <a:rPr kumimoji="1" lang="ko-KR" altLang="en-US" sz="1600" dirty="0">
                    <a:latin typeface="+mn-ea"/>
                  </a:rPr>
                  <a:t> 개의 물리 큐비트를 사용하는 거리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ko-KR" sz="16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kumimoji="1" lang="ko-KR" altLang="en-US" sz="1600" dirty="0">
                    <a:latin typeface="+mn-ea"/>
                  </a:rPr>
                  <a:t> 코드로 인코딩 됨</a:t>
                </a:r>
                <a:endParaRPr kumimoji="1" lang="en-US" altLang="ko-KR" sz="1600" dirty="0">
                  <a:latin typeface="+mn-ea"/>
                </a:endParaRPr>
              </a:p>
              <a:p>
                <a:pPr lvl="2"/>
                <a:r>
                  <a:rPr kumimoji="1" lang="ko-KR" altLang="en-US" sz="1600" dirty="0">
                    <a:latin typeface="+mn-ea"/>
                  </a:rPr>
                  <a:t>따라서 증류 회로의 총 </a:t>
                </a:r>
                <a:r>
                  <a:rPr kumimoji="1" lang="en-US" altLang="ko-KR" sz="1600" dirty="0">
                    <a:latin typeface="+mn-ea"/>
                  </a:rPr>
                  <a:t>footprint</a:t>
                </a:r>
                <a:r>
                  <a:rPr kumimoji="1" lang="ko-KR" altLang="en-US" sz="1600" dirty="0">
                    <a:latin typeface="+mn-ea"/>
                  </a:rPr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1600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1600" i="1">
                            <a:latin typeface="Cambria Math" panose="02040503050406030204" pitchFamily="18" charset="0"/>
                          </a:rPr>
                          <m:t>dist</m:t>
                        </m:r>
                      </m:sub>
                    </m:sSub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600" b="0" i="1" smtClean="0">
                        <a:latin typeface="Cambria Math" panose="02040503050406030204" pitchFamily="18" charset="0"/>
                      </a:rPr>
                      <m:t>154≈5.54</m:t>
                    </m:r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kumimoji="1" lang="ko-KR" altLang="en-US" sz="1600" dirty="0">
                    <a:latin typeface="+mn-ea"/>
                  </a:rPr>
                  <a:t>개의 물리 </a:t>
                </a:r>
                <a:r>
                  <a:rPr kumimoji="1" lang="ko-KR" altLang="en-US" sz="1600" dirty="0" err="1">
                    <a:latin typeface="+mn-ea"/>
                  </a:rPr>
                  <a:t>큐비트</a:t>
                </a:r>
                <a:endParaRPr kumimoji="1" lang="en-US" altLang="ko-KR" sz="1600" dirty="0">
                  <a:latin typeface="+mn-ea"/>
                </a:endParaRPr>
              </a:p>
              <a:p>
                <a:pPr lvl="2"/>
                <a:r>
                  <a:rPr kumimoji="1" lang="ko-KR" altLang="en-US" sz="1600" dirty="0">
                    <a:latin typeface="+mn-ea"/>
                  </a:rPr>
                  <a:t>증류 </a:t>
                </a:r>
                <a:r>
                  <a:rPr kumimoji="1" lang="en-US" altLang="ko-KR" sz="1600" dirty="0">
                    <a:latin typeface="+mn-ea"/>
                  </a:rPr>
                  <a:t>1</a:t>
                </a:r>
                <a:r>
                  <a:rPr kumimoji="1" lang="ko-KR" altLang="en-US" sz="1600" dirty="0">
                    <a:latin typeface="+mn-ea"/>
                  </a:rPr>
                  <a:t>라운드는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ko-KR" sz="1600" b="0" i="1" smtClean="0">
                        <a:latin typeface="Cambria Math" panose="02040503050406030204" pitchFamily="18" charset="0"/>
                      </a:rPr>
                      <m:t>=70</m:t>
                    </m:r>
                  </m:oMath>
                </a14:m>
                <a:r>
                  <a:rPr kumimoji="1" lang="ko-KR" altLang="en-US" sz="1600" dirty="0">
                    <a:latin typeface="+mn-ea"/>
                  </a:rPr>
                  <a:t> </a:t>
                </a:r>
                <a:r>
                  <a:rPr kumimoji="1" lang="en-US" altLang="ko-KR" sz="1600" dirty="0">
                    <a:latin typeface="+mn-ea"/>
                  </a:rPr>
                  <a:t>surface code</a:t>
                </a:r>
                <a:r>
                  <a:rPr kumimoji="1" lang="ko-KR" altLang="en-US" sz="1600" dirty="0">
                    <a:latin typeface="+mn-ea"/>
                  </a:rPr>
                  <a:t> 사이클 내에 완료됨</a:t>
                </a:r>
                <a:endParaRPr kumimoji="1" lang="en-US" altLang="ko-KR" sz="1600" dirty="0">
                  <a:latin typeface="+mn-ea"/>
                </a:endParaRPr>
              </a:p>
              <a:p>
                <a:pPr lvl="2"/>
                <a:endParaRPr kumimoji="1" lang="en-US" altLang="ko-KR" sz="1600" dirty="0">
                  <a:latin typeface="+mn-ea"/>
                </a:endParaRPr>
              </a:p>
              <a:p>
                <a:pPr marL="457200" lvl="1" indent="0">
                  <a:buNone/>
                </a:pPr>
                <a:r>
                  <a:rPr kumimoji="1" lang="en-US" altLang="ko-KR" sz="2000" b="1" dirty="0">
                    <a:latin typeface="+mn-ea"/>
                  </a:rPr>
                  <a:t>&lt;</a:t>
                </a:r>
                <a:r>
                  <a:rPr kumimoji="1" lang="ko-KR" altLang="en-US" sz="2000" b="1" dirty="0">
                    <a:latin typeface="+mn-ea"/>
                  </a:rPr>
                  <a:t>중간 계층 </a:t>
                </a:r>
                <a:r>
                  <a:rPr kumimoji="1" lang="en-US" altLang="ko-KR" sz="2000" b="1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𝟏𝟑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2000" b="1" dirty="0">
                    <a:latin typeface="+mn-ea"/>
                  </a:rPr>
                  <a:t>&gt;</a:t>
                </a:r>
              </a:p>
              <a:p>
                <a:pPr lvl="1"/>
                <a:r>
                  <a:rPr kumimoji="1" lang="ko-KR" altLang="en-US" sz="1800" dirty="0">
                    <a:latin typeface="+mn-ea"/>
                  </a:rPr>
                  <a:t>중간 계층 증류에는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kumimoji="1" lang="en-US" altLang="ko-KR" sz="1800" dirty="0">
                    <a:latin typeface="+mn-ea"/>
                  </a:rPr>
                  <a:t> surface code</a:t>
                </a:r>
                <a:r>
                  <a:rPr kumimoji="1" lang="ko-KR" altLang="en-US" sz="1800" dirty="0">
                    <a:latin typeface="+mn-ea"/>
                  </a:rPr>
                  <a:t>가 필요하며</a:t>
                </a:r>
                <a:r>
                  <a:rPr kumimoji="1" lang="en-US" altLang="ko-KR" sz="1800" dirty="0">
                    <a:latin typeface="+mn-ea"/>
                  </a:rPr>
                  <a:t>, </a:t>
                </a:r>
                <a:r>
                  <a:rPr kumimoji="1" lang="ko-KR" altLang="en-US" sz="1800" dirty="0">
                    <a:latin typeface="+mn-ea"/>
                  </a:rPr>
                  <a:t>논리 </a:t>
                </a:r>
                <a:r>
                  <a:rPr kumimoji="1" lang="ko-KR" altLang="en-US" sz="1800" dirty="0" err="1">
                    <a:latin typeface="+mn-ea"/>
                  </a:rPr>
                  <a:t>큐비트</a:t>
                </a:r>
                <a:r>
                  <a:rPr kumimoji="1" lang="ko-KR" altLang="en-US" sz="1800" dirty="0">
                    <a:latin typeface="+mn-ea"/>
                  </a:rPr>
                  <a:t> 하나당 약 </a:t>
                </a:r>
                <a:r>
                  <a:rPr kumimoji="1" lang="en-US" altLang="ko-KR" sz="1800" dirty="0">
                    <a:latin typeface="+mn-ea"/>
                  </a:rPr>
                  <a:t>529</a:t>
                </a:r>
                <a:r>
                  <a:rPr kumimoji="1" lang="ko-KR" altLang="en-US" sz="1800" dirty="0">
                    <a:latin typeface="+mn-ea"/>
                  </a:rPr>
                  <a:t>개의 물리 </a:t>
                </a:r>
                <a:r>
                  <a:rPr kumimoji="1" lang="ko-KR" altLang="en-US" sz="1800" dirty="0" err="1">
                    <a:latin typeface="+mn-ea"/>
                  </a:rPr>
                  <a:t>큐비트</a:t>
                </a:r>
                <a:r>
                  <a:rPr kumimoji="1" lang="ko-KR" altLang="en-US" sz="1800" dirty="0">
                    <a:latin typeface="+mn-ea"/>
                  </a:rPr>
                  <a:t> 필요</a:t>
                </a:r>
                <a:endParaRPr kumimoji="1" lang="en-US" altLang="ko-KR" sz="1800" dirty="0">
                  <a:latin typeface="+mn-ea"/>
                </a:endParaRPr>
              </a:p>
              <a:p>
                <a:pPr lvl="1"/>
                <a:r>
                  <a:rPr kumimoji="1" lang="ko-KR" altLang="en-US" sz="1800" dirty="0">
                    <a:latin typeface="+mn-ea"/>
                  </a:rPr>
                  <a:t>중간계층에 필요한 총 물리 </a:t>
                </a:r>
                <a:r>
                  <a:rPr kumimoji="1" lang="ko-KR" altLang="en-US" sz="1800" dirty="0" err="1">
                    <a:latin typeface="+mn-ea"/>
                  </a:rPr>
                  <a:t>큐비트</a:t>
                </a:r>
                <a:r>
                  <a:rPr kumimoji="1" lang="ko-KR" altLang="en-US" sz="1800" dirty="0">
                    <a:latin typeface="+mn-ea"/>
                  </a:rPr>
                  <a:t> 수는 </a:t>
                </a:r>
                <a14:m>
                  <m:oMath xmlns:m="http://schemas.openxmlformats.org/officeDocument/2006/math">
                    <m:r>
                      <a:rPr kumimoji="1" lang="en-US" altLang="ko-KR" sz="18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529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≈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27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ko-KR" altLang="en-US" sz="1800" dirty="0">
                    <a:latin typeface="+mn-ea"/>
                  </a:rPr>
                  <a:t>개이며</a:t>
                </a:r>
                <a:r>
                  <a:rPr kumimoji="1" lang="en-US" altLang="ko-KR" sz="1800" dirty="0">
                    <a:latin typeface="+mn-ea"/>
                  </a:rPr>
                  <a:t>, </a:t>
                </a:r>
                <a:r>
                  <a:rPr kumimoji="1" lang="ko-KR" altLang="en-US" sz="1800" dirty="0">
                    <a:latin typeface="+mn-ea"/>
                  </a:rPr>
                  <a:t>증류 라운드는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r>
                  <a:rPr kumimoji="1" lang="ko-KR" altLang="en-US" sz="1800" dirty="0">
                    <a:latin typeface="+mn-ea"/>
                  </a:rPr>
                  <a:t> </a:t>
                </a:r>
                <a:r>
                  <a:rPr kumimoji="1" lang="en-US" altLang="ko-KR" sz="1800" dirty="0">
                    <a:latin typeface="+mn-ea"/>
                  </a:rPr>
                  <a:t>surface code</a:t>
                </a:r>
                <a:r>
                  <a:rPr kumimoji="1" lang="ko-KR" altLang="en-US" sz="1800" dirty="0">
                    <a:latin typeface="+mn-ea"/>
                  </a:rPr>
                  <a:t> 사이클 내에 완료</a:t>
                </a:r>
                <a:endParaRPr kumimoji="1" lang="en-US" altLang="ko-KR" sz="1800" dirty="0">
                  <a:latin typeface="+mn-ea"/>
                </a:endParaRPr>
              </a:p>
              <a:p>
                <a:pPr lvl="1"/>
                <a:endParaRPr kumimoji="1" lang="en-US" altLang="ko-KR" sz="1600" dirty="0">
                  <a:latin typeface="+mn-ea"/>
                </a:endParaRPr>
              </a:p>
              <a:p>
                <a:pPr marL="457200" lvl="1" indent="0">
                  <a:buNone/>
                </a:pPr>
                <a:r>
                  <a:rPr kumimoji="1" lang="en-US" altLang="ko-KR" sz="2000" b="1" dirty="0">
                    <a:latin typeface="+mn-ea"/>
                  </a:rPr>
                  <a:t>&lt;</a:t>
                </a:r>
                <a:r>
                  <a:rPr kumimoji="1" lang="ko-KR" altLang="en-US" sz="2000" b="1" dirty="0">
                    <a:latin typeface="+mn-ea"/>
                  </a:rPr>
                  <a:t>최상위 계층 </a:t>
                </a:r>
                <a:r>
                  <a:rPr kumimoji="1" lang="en-US" altLang="ko-KR" sz="2000" b="1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kumimoji="1" lang="en-US" altLang="ko-KR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0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sz="2000" b="1" dirty="0">
                    <a:latin typeface="+mn-ea"/>
                  </a:rPr>
                  <a:t>&gt;</a:t>
                </a:r>
              </a:p>
              <a:p>
                <a:pPr lvl="1"/>
                <a:r>
                  <a:rPr kumimoji="1" lang="ko-KR" altLang="en-US" sz="1800" dirty="0">
                    <a:latin typeface="+mn-ea"/>
                  </a:rPr>
                  <a:t>최상위 계층 증류에는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kumimoji="1" lang="en-US" altLang="ko-KR" sz="1800" dirty="0">
                    <a:latin typeface="+mn-ea"/>
                  </a:rPr>
                  <a:t> surface code </a:t>
                </a:r>
                <a:r>
                  <a:rPr kumimoji="1" lang="ko-KR" altLang="en-US" sz="1800" dirty="0">
                    <a:latin typeface="+mn-ea"/>
                  </a:rPr>
                  <a:t>가 필요하며</a:t>
                </a:r>
                <a:r>
                  <a:rPr kumimoji="1" lang="en-US" altLang="ko-KR" sz="1800" dirty="0">
                    <a:latin typeface="+mn-ea"/>
                  </a:rPr>
                  <a:t>, </a:t>
                </a:r>
                <a:r>
                  <a:rPr kumimoji="1" lang="ko-KR" altLang="en-US" sz="1800" dirty="0">
                    <a:latin typeface="+mn-ea"/>
                  </a:rPr>
                  <a:t>논리 </a:t>
                </a:r>
                <a:r>
                  <a:rPr kumimoji="1" lang="ko-KR" altLang="en-US" sz="1800" dirty="0" err="1">
                    <a:latin typeface="+mn-ea"/>
                  </a:rPr>
                  <a:t>큐비트</a:t>
                </a:r>
                <a:r>
                  <a:rPr kumimoji="1" lang="ko-KR" altLang="en-US" sz="1800" dirty="0">
                    <a:latin typeface="+mn-ea"/>
                  </a:rPr>
                  <a:t> 하나당 약 </a:t>
                </a:r>
                <a:r>
                  <a:rPr kumimoji="1" lang="en-US" altLang="ko-KR" sz="1800" dirty="0">
                    <a:latin typeface="+mn-ea"/>
                  </a:rPr>
                  <a:t>3404</a:t>
                </a:r>
                <a:r>
                  <a:rPr kumimoji="1" lang="ko-KR" altLang="en-US" sz="1800" dirty="0">
                    <a:latin typeface="+mn-ea"/>
                  </a:rPr>
                  <a:t>개의 물리 큐비트가 필요</a:t>
                </a:r>
                <a:endParaRPr kumimoji="1" lang="en-US" altLang="ko-KR" sz="1800" dirty="0">
                  <a:latin typeface="+mn-ea"/>
                </a:endParaRPr>
              </a:p>
              <a:p>
                <a:pPr lvl="1"/>
                <a:r>
                  <a:rPr kumimoji="1" lang="ko-KR" altLang="en-US" sz="1800" dirty="0">
                    <a:latin typeface="+mn-ea"/>
                  </a:rPr>
                  <a:t>최상위 계층 필요한 총 물리 </a:t>
                </a:r>
                <a:r>
                  <a:rPr kumimoji="1" lang="ko-KR" altLang="en-US" sz="1800" dirty="0" err="1">
                    <a:latin typeface="+mn-ea"/>
                  </a:rPr>
                  <a:t>큐비트</a:t>
                </a:r>
                <a:r>
                  <a:rPr kumimoji="1" lang="ko-KR" altLang="en-US" sz="1800" dirty="0">
                    <a:latin typeface="+mn-ea"/>
                  </a:rPr>
                  <a:t> 수는 </a:t>
                </a:r>
                <a14:m>
                  <m:oMath xmlns:m="http://schemas.openxmlformats.org/officeDocument/2006/math"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16×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3404=54464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ko-KR" altLang="en-US" sz="1800" dirty="0">
                    <a:latin typeface="+mn-ea"/>
                  </a:rPr>
                  <a:t>개이며</a:t>
                </a:r>
                <a:r>
                  <a:rPr kumimoji="1" lang="en-US" altLang="ko-KR" sz="1800" dirty="0">
                    <a:latin typeface="+mn-ea"/>
                  </a:rPr>
                  <a:t>, </a:t>
                </a:r>
                <a:r>
                  <a:rPr kumimoji="1" lang="ko-KR" altLang="en-US" sz="1800" dirty="0">
                    <a:latin typeface="+mn-ea"/>
                  </a:rPr>
                  <a:t>증류 라운드는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kumimoji="1" lang="en-US" altLang="ko-KR" sz="18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kumimoji="1" lang="en-US" altLang="ko-KR" sz="1800" i="1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kumimoji="1" lang="ko-KR" altLang="en-US" sz="1800" dirty="0">
                    <a:latin typeface="+mn-ea"/>
                  </a:rPr>
                  <a:t> </a:t>
                </a:r>
                <a:r>
                  <a:rPr kumimoji="1" lang="en-US" altLang="ko-KR" sz="1800" dirty="0">
                    <a:latin typeface="+mn-ea"/>
                  </a:rPr>
                  <a:t>surface code</a:t>
                </a:r>
                <a:r>
                  <a:rPr kumimoji="1" lang="ko-KR" altLang="en-US" sz="1800" dirty="0">
                    <a:latin typeface="+mn-ea"/>
                  </a:rPr>
                  <a:t> 사이클 내에 완료</a:t>
                </a:r>
                <a:endParaRPr kumimoji="1" lang="en-US" altLang="ko-KR" sz="1800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CD489BE9-DA88-F3DA-21B2-8B972F6446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596687" cy="5603875"/>
              </a:xfrm>
              <a:blipFill>
                <a:blip r:embed="rId3"/>
                <a:stretch>
                  <a:fillRect l="-438" t="-15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AC6AE34B-9C34-C4C7-0288-EAA093CA4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213" y="1530350"/>
            <a:ext cx="2791787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7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B590F-338F-9927-3C67-25270B996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F3E76-7A2B-CDCB-6739-0A9C33FB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Fault-tolerant cost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SHA256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D5332CE6-DDCC-B867-AF4F-68F659E79C3A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b="1" dirty="0"/>
                  <a:t>전체 알고리즘을 표면 코드에 내장하는 데 필요한 </a:t>
                </a:r>
                <a:r>
                  <a:rPr lang="en-US" altLang="ko-KR" sz="2400" b="1" dirty="0"/>
                  <a:t>distance</a:t>
                </a:r>
                <a:r>
                  <a:rPr lang="ko-KR" altLang="en-US" sz="2400" b="1" dirty="0"/>
                  <a:t> 계산</a:t>
                </a:r>
                <a:endParaRPr kumimoji="1" lang="en" altLang="ko-KR" sz="2400" dirty="0"/>
              </a:p>
              <a:p>
                <a14:m>
                  <m:oMath xmlns:m="http://schemas.openxmlformats.org/officeDocument/2006/math">
                    <m:r>
                      <a:rPr kumimoji="1" lang="en" altLang="ko-KR" sz="2000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kumimoji="1" lang="ko-KR" altLang="en-US" sz="2000" dirty="0"/>
                  <a:t>의 한 번의 반복에서 </a:t>
                </a:r>
                <a:r>
                  <a:rPr kumimoji="1" lang="en-US" altLang="ko-KR" sz="2000" dirty="0" err="1"/>
                  <a:t>clifford</a:t>
                </a:r>
                <a:r>
                  <a:rPr kumimoji="1" lang="ko-KR" altLang="en-US" sz="2000" dirty="0"/>
                  <a:t> 게이트의 수는 대략 </a:t>
                </a:r>
                <a14:m>
                  <m:oMath xmlns:m="http://schemas.openxmlformats.org/officeDocument/2006/math">
                    <m:r>
                      <a:rPr kumimoji="1" lang="en-US" altLang="ko-KR" sz="2000" i="1" dirty="0" smtClean="0">
                        <a:latin typeface="Cambria Math" panose="02040503050406030204" pitchFamily="18" charset="0"/>
                      </a:rPr>
                      <m:t>8.76</m:t>
                    </m:r>
                    <m:r>
                      <a:rPr kumimoji="1" lang="en-US" altLang="ko-KR" sz="2000" i="1" dirty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1" lang="en" altLang="ko-KR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" altLang="ko-KR" sz="20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" altLang="ko-KR" sz="200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kumimoji="1" lang="ko-KR" altLang="en-US" sz="2000" dirty="0"/>
                  <a:t>개이므로</a:t>
                </a:r>
                <a:r>
                  <a:rPr kumimoji="1" lang="en-US" altLang="ko-KR" sz="2000" dirty="0"/>
                  <a:t>, </a:t>
                </a:r>
                <a:r>
                  <a:rPr kumimoji="1" lang="ko-KR" altLang="en-US" sz="2000" dirty="0"/>
                  <a:t>전체 공격 회로는 약 </a:t>
                </a:r>
                <a14:m>
                  <m:oMath xmlns:m="http://schemas.openxmlformats.org/officeDocument/2006/math">
                    <m:r>
                      <a:rPr kumimoji="1" lang="en-US" altLang="ko-KR" sz="2000" i="1" dirty="0" smtClean="0">
                        <a:latin typeface="Cambria Math" panose="02040503050406030204" pitchFamily="18" charset="0"/>
                      </a:rPr>
                      <m:t>2.34</m:t>
                    </m:r>
                    <m:r>
                      <a:rPr kumimoji="1" lang="en-US" altLang="ko-KR" sz="2000" i="1" dirty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1" lang="en" altLang="ko-KR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" altLang="ko-KR" sz="2000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" altLang="ko-KR" sz="2000" i="1" dirty="0">
                            <a:latin typeface="Cambria Math" panose="02040503050406030204" pitchFamily="18" charset="0"/>
                          </a:rPr>
                          <m:t>45</m:t>
                        </m:r>
                      </m:sup>
                    </m:sSup>
                  </m:oMath>
                </a14:m>
                <a:r>
                  <a:rPr kumimoji="1" lang="ko-KR" altLang="en-US" sz="2000" dirty="0"/>
                  <a:t>개의 </a:t>
                </a:r>
                <a:r>
                  <a:rPr kumimoji="1" lang="en-US" altLang="ko-KR" sz="2000" dirty="0" err="1"/>
                  <a:t>clifford</a:t>
                </a:r>
                <a:r>
                  <a:rPr kumimoji="1" lang="ko-KR" altLang="en-US" sz="2000" dirty="0"/>
                  <a:t> 게이트를 수행</a:t>
                </a:r>
                <a:endParaRPr kumimoji="1" lang="en-US" altLang="ko-KR" sz="2000" dirty="0"/>
              </a:p>
              <a:p>
                <a:pPr lvl="1"/>
                <a:r>
                  <a:rPr lang="ko-KR" altLang="en-US" sz="1600" dirty="0"/>
                  <a:t>따라서 회로의 전체 오류율은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4.27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" altLang="ko-KR" sz="1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" altLang="ko-KR" sz="1600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" altLang="ko-KR" sz="1600" i="1" dirty="0">
                            <a:latin typeface="Cambria Math" panose="02040503050406030204" pitchFamily="18" charset="0"/>
                          </a:rPr>
                          <m:t>−46</m:t>
                        </m:r>
                      </m:sup>
                    </m:sSup>
                  </m:oMath>
                </a14:m>
                <a:r>
                  <a:rPr lang="en" altLang="ko-KR" sz="1600" dirty="0"/>
                  <a:t> </a:t>
                </a:r>
                <a:r>
                  <a:rPr lang="ko-KR" altLang="en-US" sz="1600" dirty="0"/>
                  <a:t>미만이어야 함</a:t>
                </a:r>
                <a:endParaRPr lang="en-US" altLang="ko-KR" sz="1600" dirty="0"/>
              </a:p>
              <a:p>
                <a:pPr lvl="1"/>
                <a:r>
                  <a:rPr kumimoji="1" lang="ko-KR" altLang="en-US" sz="1600" dirty="0"/>
                  <a:t>필요한 거리를 계산하기 위해 다음 부등식을 만족하는 가장 작은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1600" b="0" i="1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kumimoji="1" lang="ko-KR" altLang="en-US" sz="1600" dirty="0" err="1"/>
                  <a:t>를</a:t>
                </a:r>
                <a:r>
                  <a:rPr kumimoji="1" lang="ko-KR" altLang="en-US" sz="1600" dirty="0"/>
                  <a:t> 찾음</a:t>
                </a:r>
                <a:endParaRPr kumimoji="1" lang="en-US" altLang="ko-KR" sz="1600" dirty="0"/>
              </a:p>
              <a:p>
                <a:pPr lvl="1"/>
                <a:r>
                  <a:rPr kumimoji="1" lang="ko-KR" altLang="en-US" sz="1600" b="1" dirty="0"/>
                  <a:t>따라서</a:t>
                </a:r>
                <a:r>
                  <a:rPr kumimoji="1" lang="en-US" altLang="ko-KR" sz="1600" b="1" dirty="0"/>
                  <a:t>,</a:t>
                </a:r>
                <a:r>
                  <a:rPr kumimoji="1" lang="ko-KR" altLang="en-US" sz="1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sz="16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ko-KR" sz="1600" b="1" i="1" dirty="0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m:rPr>
                            <m:nor/>
                          </m:rPr>
                          <a:rPr kumimoji="1" lang="en" altLang="ko-KR" sz="1600" b="1" i="0" dirty="0">
                            <a:latin typeface="Cambria Math" panose="02040503050406030204" pitchFamily="18" charset="0"/>
                          </a:rPr>
                          <m:t>SHA</m:t>
                        </m:r>
                        <m:r>
                          <m:rPr>
                            <m:nor/>
                          </m:rPr>
                          <a:rPr kumimoji="1" lang="en" altLang="ko-KR" sz="1600" b="1" i="0" dirty="0">
                            <a:latin typeface="Cambria Math" panose="02040503050406030204" pitchFamily="18" charset="0"/>
                          </a:rPr>
                          <m:t>−256</m:t>
                        </m:r>
                      </m:sub>
                    </m:sSub>
                    <m:r>
                      <a:rPr kumimoji="1" lang="en" altLang="ko-KR" sz="16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" altLang="ko-KR" sz="1600" b="1" i="1" dirty="0" smtClean="0">
                        <a:latin typeface="Cambria Math" panose="02040503050406030204" pitchFamily="18" charset="0"/>
                      </a:rPr>
                      <m:t>𝟒𝟑</m:t>
                    </m:r>
                  </m:oMath>
                </a14:m>
                <a:endParaRPr kumimoji="1" lang="en-US" altLang="ko-KR" sz="1600" b="1" dirty="0"/>
              </a:p>
              <a:p>
                <a:pPr lvl="1"/>
                <a:r>
                  <a:rPr kumimoji="1" lang="ko-KR" altLang="en-US" sz="1600" b="1" dirty="0" err="1"/>
                  <a:t>그로버</a:t>
                </a:r>
                <a:r>
                  <a:rPr kumimoji="1" lang="ko-KR" altLang="en-US" sz="1600" b="1" dirty="0"/>
                  <a:t> 부분에 필요한 총 물리 </a:t>
                </a:r>
                <a:r>
                  <a:rPr kumimoji="1" lang="ko-KR" altLang="en-US" sz="1600" b="1" dirty="0" err="1"/>
                  <a:t>큐비트</a:t>
                </a:r>
                <a:r>
                  <a:rPr kumimoji="1" lang="ko-KR" altLang="en-US" sz="1600" b="1" dirty="0"/>
                  <a:t> 수는 </a:t>
                </a:r>
                <a14:m>
                  <m:oMath xmlns:m="http://schemas.openxmlformats.org/officeDocument/2006/math">
                    <m:r>
                      <a:rPr kumimoji="1" lang="en-US" altLang="ko-KR" sz="1600" b="1" i="1" dirty="0" smtClean="0">
                        <a:latin typeface="Cambria Math" panose="02040503050406030204" pitchFamily="18" charset="0"/>
                      </a:rPr>
                      <m:t>𝟐𝟒𝟎𝟐</m:t>
                    </m:r>
                    <m:r>
                      <a:rPr kumimoji="1" lang="en-US" altLang="ko-KR" sz="1600" b="1" i="1" dirty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kumimoji="1" lang="en" altLang="ko-KR" sz="16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" altLang="ko-KR" sz="1600" b="1" i="1" dirty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kumimoji="1" lang="en" altLang="ko-KR" sz="1600" b="1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1" lang="en" altLang="ko-KR" sz="1600" b="1" i="1" dirty="0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kumimoji="1" lang="en" altLang="ko-KR" sz="1600" b="1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" altLang="ko-KR" sz="1600" b="1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kumimoji="1" lang="en" altLang="ko-KR" sz="1600" b="1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kumimoji="1" lang="en" altLang="ko-KR" sz="1600" b="1" i="1" dirty="0">
                            <a:latin typeface="Cambria Math" panose="02040503050406030204" pitchFamily="18" charset="0"/>
                          </a:rPr>
                          <m:t>𝟐𝟓</m:t>
                        </m:r>
                        <m:r>
                          <a:rPr kumimoji="1" lang="en" altLang="ko-KR" sz="1600" b="1" i="1" dirty="0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kumimoji="1" lang="en" altLang="ko-KR" sz="16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" altLang="ko-KR" sz="1600" b="1" i="1" dirty="0">
                                <a:latin typeface="Cambria Math" panose="02040503050406030204" pitchFamily="18" charset="0"/>
                              </a:rPr>
                              <m:t>𝟒𝟑</m:t>
                            </m:r>
                          </m:e>
                          <m:sup>
                            <m:r>
                              <a:rPr kumimoji="1" lang="en" altLang="ko-KR" sz="16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kumimoji="1" lang="en" altLang="ko-KR" sz="1600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" altLang="ko-KR" sz="1600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" altLang="ko-KR" sz="1600" b="1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" altLang="ko-KR" sz="1600" b="1" i="1" dirty="0">
                        <a:latin typeface="Cambria Math" panose="02040503050406030204" pitchFamily="18" charset="0"/>
                      </a:rPr>
                      <m:t>𝟑𝟗</m:t>
                    </m:r>
                    <m:r>
                      <a:rPr kumimoji="1" lang="en" altLang="ko-KR" sz="1600" b="1" i="1" dirty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1" lang="en" altLang="ko-KR" sz="16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" altLang="ko-KR" sz="1600" b="1" i="1" dirty="0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kumimoji="1" lang="en" altLang="ko-KR" sz="1600" b="1" i="1" dirty="0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kumimoji="1" lang="ko-KR" altLang="en-US" sz="1600" b="1" dirty="0"/>
                  <a:t>개</a:t>
                </a:r>
                <a:endParaRPr kumimoji="1" lang="en-US" altLang="ko-KR" sz="1600" b="1" dirty="0"/>
              </a:p>
              <a:p>
                <a:pPr lvl="1"/>
                <a:endParaRPr kumimoji="1" lang="en-US" altLang="ko-KR" sz="1600" dirty="0"/>
              </a:p>
              <a:p>
                <a:pPr lvl="1"/>
                <a:endParaRPr kumimoji="1" lang="en-US" altLang="ko-KR" sz="1600" dirty="0"/>
              </a:p>
              <a:p>
                <a:pPr lvl="1"/>
                <a:endParaRPr kumimoji="1" lang="ko-KR" altLang="en-US" sz="16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D5332CE6-DDCC-B867-AF4F-68F659E79C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81" t="-1357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26BE3B7E-F8D0-46C8-BA1B-CC7786C16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626" y="2181802"/>
            <a:ext cx="2880274" cy="63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852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42241F-3765-B8A0-321B-0A4426A2D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Fault-tolerant cost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SHA256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463FC3D1-EF7D-CD84-9FE4-959C9D5EF8B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1800" b="1" dirty="0"/>
                  <a:t>1. </a:t>
                </a:r>
                <a:r>
                  <a:rPr lang="ko-KR" altLang="en-US" sz="1800" b="1" dirty="0"/>
                  <a:t>알고리즘 요구사항 입력 </a:t>
                </a:r>
                <a:r>
                  <a:rPr lang="en-US" altLang="ko-KR" sz="1800" b="1" dirty="0"/>
                  <a:t>(</a:t>
                </a:r>
                <a:r>
                  <a:rPr lang="en" altLang="ko-KR" sz="1800" b="1" dirty="0"/>
                  <a:t>Algorithm Specs)</a:t>
                </a:r>
              </a:p>
              <a:p>
                <a:pPr lvl="1"/>
                <a:r>
                  <a:rPr lang="ko-KR" altLang="en-US" sz="1800" dirty="0"/>
                  <a:t>공격하려는 알고리즘</a:t>
                </a:r>
                <a:r>
                  <a:rPr lang="en-US" altLang="ko-KR" sz="1800" dirty="0"/>
                  <a:t>(</a:t>
                </a:r>
                <a:r>
                  <a:rPr lang="ko-KR" altLang="en-US" sz="1800" dirty="0"/>
                  <a:t>예</a:t>
                </a:r>
                <a:r>
                  <a:rPr lang="en-US" altLang="ko-KR" sz="1800" dirty="0"/>
                  <a:t>: </a:t>
                </a:r>
                <a:r>
                  <a:rPr lang="en" altLang="ko-KR" sz="1800" dirty="0"/>
                  <a:t>SHA-256)</a:t>
                </a:r>
                <a:r>
                  <a:rPr lang="ko-KR" altLang="en-US" sz="1800" dirty="0"/>
                  <a:t>의 논리적 복잡도를 정의</a:t>
                </a:r>
                <a:endParaRPr lang="en-US" altLang="ko-KR" sz="18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" altLang="ko-KR" sz="1800" b="1" i="1" dirty="0">
                            <a:latin typeface="Cambria Math" panose="02040503050406030204" pitchFamily="18" charset="0"/>
                          </a:rPr>
                          <m:t>𝑮𝑨</m:t>
                        </m:r>
                      </m:sub>
                      <m:sup>
                        <m: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sup>
                    </m:sSubSup>
                  </m:oMath>
                </a14:m>
                <a:r>
                  <a:rPr lang="en" altLang="ko-KR" sz="1800" b="1" dirty="0"/>
                  <a:t> (</a:t>
                </a:r>
                <a:r>
                  <a:rPr lang="ko-KR" altLang="en-US" sz="1800" b="1" dirty="0"/>
                  <a:t>총 </a:t>
                </a:r>
                <a:r>
                  <a:rPr lang="en" altLang="ko-KR" sz="1800" b="1" dirty="0"/>
                  <a:t>T-count):</a:t>
                </a:r>
                <a:r>
                  <a:rPr lang="en" altLang="ko-KR" sz="1800" dirty="0"/>
                  <a:t> </a:t>
                </a:r>
                <a:r>
                  <a:rPr lang="ko-KR" altLang="en-US" sz="1800" dirty="0"/>
                  <a:t>알고리즘 전체에 필요한 </a:t>
                </a:r>
                <a:r>
                  <a:rPr lang="en" altLang="ko-KR" sz="1800" dirty="0"/>
                  <a:t>T </a:t>
                </a:r>
                <a:r>
                  <a:rPr lang="ko-KR" altLang="en-US" sz="1800" dirty="0"/>
                  <a:t>게이트 수</a:t>
                </a:r>
                <a:endParaRPr lang="en-US" altLang="ko-KR" sz="18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" altLang="ko-KR" sz="1800" b="1" i="1" dirty="0">
                            <a:latin typeface="Cambria Math" panose="02040503050406030204" pitchFamily="18" charset="0"/>
                          </a:rPr>
                          <m:t>𝑮𝑨</m:t>
                        </m:r>
                      </m:sub>
                      <m:sup>
                        <m: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  <m:t>𝒅</m:t>
                        </m:r>
                      </m:sup>
                    </m:sSubSup>
                  </m:oMath>
                </a14:m>
                <a:r>
                  <a:rPr lang="en" altLang="ko-KR" sz="1800" b="1" dirty="0"/>
                  <a:t> (T-depth):</a:t>
                </a:r>
                <a:r>
                  <a:rPr lang="en" altLang="ko-KR" sz="1800" dirty="0"/>
                  <a:t> T </a:t>
                </a:r>
                <a:r>
                  <a:rPr lang="ko-KR" altLang="en-US" sz="1800" dirty="0"/>
                  <a:t>게이트 깊이</a:t>
                </a:r>
                <a:endParaRPr lang="en-US" altLang="ko-KR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" altLang="ko-KR" sz="1800" b="1" i="1" dirty="0">
                            <a:latin typeface="Cambria Math" panose="02040503050406030204" pitchFamily="18" charset="0"/>
                          </a:rPr>
                          <m:t>𝒂𝒍𝒈𝒐</m:t>
                        </m:r>
                      </m:sub>
                    </m:sSub>
                  </m:oMath>
                </a14:m>
                <a:r>
                  <a:rPr lang="en" altLang="ko-KR" sz="1800" b="1" dirty="0"/>
                  <a:t> (</a:t>
                </a:r>
                <a:r>
                  <a:rPr lang="ko-KR" altLang="en-US" sz="1800" b="1" dirty="0"/>
                  <a:t>논리 </a:t>
                </a:r>
                <a:r>
                  <a:rPr lang="ko-KR" altLang="en-US" sz="1800" b="1" dirty="0" err="1"/>
                  <a:t>큐비트</a:t>
                </a:r>
                <a:r>
                  <a:rPr lang="ko-KR" altLang="en-US" sz="1800" b="1" dirty="0"/>
                  <a:t> 수</a:t>
                </a:r>
                <a:r>
                  <a:rPr lang="en-US" altLang="ko-KR" sz="1800" b="1" dirty="0"/>
                  <a:t>):</a:t>
                </a:r>
                <a:r>
                  <a:rPr lang="ko-KR" altLang="en-US" sz="1800" dirty="0"/>
                  <a:t> 알고리즘 구현에 필요한 논리 </a:t>
                </a:r>
                <a:r>
                  <a:rPr lang="ko-KR" altLang="en-US" sz="1800" dirty="0" err="1"/>
                  <a:t>큐비트</a:t>
                </a:r>
                <a:r>
                  <a:rPr lang="ko-KR" altLang="en-US" sz="1800" dirty="0"/>
                  <a:t> 개수</a:t>
                </a:r>
                <a:endParaRPr lang="en-US" altLang="ko-KR" sz="1800" dirty="0"/>
              </a:p>
              <a:p>
                <a:pPr lvl="1"/>
                <a:endParaRPr lang="en-US" altLang="ko-KR" sz="1800" dirty="0"/>
              </a:p>
              <a:p>
                <a:pPr marL="0" indent="0">
                  <a:buNone/>
                </a:pPr>
                <a:r>
                  <a:rPr lang="en-US" altLang="ko-KR" sz="1800" b="1" dirty="0"/>
                  <a:t>2. </a:t>
                </a:r>
                <a:r>
                  <a:rPr lang="ko-KR" altLang="en-US" sz="1800" b="1" dirty="0"/>
                  <a:t>표면 코드 거리</a:t>
                </a:r>
                <a:r>
                  <a:rPr lang="en-US" altLang="ko-KR" sz="1800" b="1" dirty="0"/>
                  <a:t>(</a:t>
                </a:r>
                <a:r>
                  <a:rPr lang="en" altLang="ko-KR" sz="1800" b="1" dirty="0"/>
                  <a:t>Distance) </a:t>
                </a:r>
                <a:r>
                  <a:rPr lang="ko-KR" altLang="en-US" sz="1800" b="1" dirty="0"/>
                  <a:t>결정</a:t>
                </a:r>
              </a:p>
              <a:p>
                <a:pPr lvl="1"/>
                <a:r>
                  <a:rPr lang="ko-KR" altLang="en-US" sz="1800" dirty="0"/>
                  <a:t>물리적 오류를 얼마나 억제할지 결정하여 </a:t>
                </a:r>
                <a:r>
                  <a:rPr lang="en-US" altLang="ko-KR" sz="1800" dirty="0"/>
                  <a:t>code distance(</a:t>
                </a:r>
                <a:r>
                  <a:rPr lang="en" altLang="ko-KR" sz="1800" dirty="0"/>
                  <a:t>d)</a:t>
                </a:r>
                <a:r>
                  <a:rPr lang="ko-KR" altLang="en-US" sz="1800" dirty="0" err="1"/>
                  <a:t>를</a:t>
                </a:r>
                <a:r>
                  <a:rPr lang="ko-KR" altLang="en-US" sz="1800" dirty="0"/>
                  <a:t> 계산</a:t>
                </a:r>
                <a:endParaRPr lang="en-US" altLang="ko-KR" sz="1800" dirty="0"/>
              </a:p>
              <a:p>
                <a:pPr lvl="1"/>
                <a:r>
                  <a:rPr lang="ko-KR" altLang="en-US" sz="1800" b="1" dirty="0"/>
                  <a:t>목표 </a:t>
                </a:r>
                <a:r>
                  <a:rPr lang="ko-KR" altLang="en-US" sz="1800" b="1" dirty="0" err="1"/>
                  <a:t>오류율</a:t>
                </a:r>
                <a:r>
                  <a:rPr lang="ko-KR" altLang="en-US" sz="1800" b="1" dirty="0"/>
                  <a:t> </a:t>
                </a:r>
                <a:r>
                  <a:rPr lang="en-US" altLang="ko-KR" sz="18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" altLang="ko-KR" sz="1800" b="1" i="1" dirty="0">
                            <a:latin typeface="Cambria Math" panose="02040503050406030204" pitchFamily="18" charset="0"/>
                          </a:rPr>
                          <m:t>𝒐𝒖𝒕</m:t>
                        </m:r>
                      </m:sub>
                    </m:sSub>
                  </m:oMath>
                </a14:m>
                <a:r>
                  <a:rPr lang="en" altLang="ko-KR" sz="1800" b="1" dirty="0"/>
                  <a:t>):</a:t>
                </a:r>
                <a:r>
                  <a:rPr lang="en" altLang="ko-KR" sz="1800" dirty="0"/>
                  <a:t> </a:t>
                </a:r>
                <a:r>
                  <a:rPr lang="ko-KR" altLang="en-US" sz="1800" dirty="0"/>
                  <a:t>알고리즘이 성공할 확률을 확보하기 위해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lit/>
                      </m:rPr>
                      <a:rPr lang="en-US" altLang="ko-KR" sz="1800" i="1" dirty="0">
                        <a:latin typeface="Cambria Math" panose="02040503050406030204" pitchFamily="18" charset="0"/>
                      </a:rPr>
                      <m:t>/</m:t>
                    </m:r>
                    <m:sSubSup>
                      <m:sSubSupPr>
                        <m:ctrlPr>
                          <a:rPr lang="en" altLang="ko-KR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" altLang="ko-KR" sz="18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" altLang="ko-KR" sz="1800" i="1" dirty="0">
                            <a:latin typeface="Cambria Math" panose="02040503050406030204" pitchFamily="18" charset="0"/>
                          </a:rPr>
                          <m:t>𝐺𝐴</m:t>
                        </m:r>
                      </m:sub>
                      <m:sup>
                        <m:r>
                          <a:rPr lang="en" altLang="ko-KR" sz="1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</m:oMath>
                </a14:m>
                <a:r>
                  <a:rPr lang="ko-KR" altLang="en-US" sz="1800" dirty="0"/>
                  <a:t>보다 작게 설정</a:t>
                </a:r>
                <a:endParaRPr lang="en-US" altLang="ko-KR" sz="1800" dirty="0"/>
              </a:p>
              <a:p>
                <a:pPr lvl="1"/>
                <a:r>
                  <a:rPr lang="ko-KR" altLang="en-US" sz="1800" b="1" dirty="0"/>
                  <a:t>거리</a:t>
                </a:r>
                <a:r>
                  <a:rPr lang="en-US" altLang="ko-KR" sz="1800" b="1" dirty="0"/>
                  <a:t>(</a:t>
                </a:r>
                <a:r>
                  <a:rPr lang="en" altLang="ko-KR" sz="1800" b="1" dirty="0"/>
                  <a:t>d) </a:t>
                </a:r>
                <a:r>
                  <a:rPr lang="ko-KR" altLang="en-US" sz="1800" b="1" dirty="0"/>
                  <a:t>계산 식</a:t>
                </a:r>
                <a:r>
                  <a:rPr lang="en-US" altLang="ko-KR" sz="1800" b="1" dirty="0"/>
                  <a:t>:</a:t>
                </a:r>
                <a:r>
                  <a:rPr lang="ko-KR" altLang="en-US" sz="1800" dirty="0"/>
                  <a:t> 다음 부등식을 만족하는 가장 작은 홀수 </a:t>
                </a:r>
                <a:r>
                  <a:rPr lang="en" altLang="ko-KR" sz="1800" dirty="0"/>
                  <a:t>d</a:t>
                </a:r>
                <a:r>
                  <a:rPr lang="ko-KR" altLang="en-US" sz="1800" dirty="0" err="1"/>
                  <a:t>를</a:t>
                </a:r>
                <a:r>
                  <a:rPr lang="ko-KR" altLang="en-US" sz="1800" dirty="0"/>
                  <a:t> 찾음</a:t>
                </a:r>
                <a:endParaRPr lang="en-US" altLang="ko-KR" sz="1800" dirty="0"/>
              </a:p>
              <a:p>
                <a:pPr marL="0" indent="0" algn="ctr">
                  <a:buNone/>
                </a:pPr>
                <a:r>
                  <a:rPr lang="en-US" altLang="ko-KR" sz="16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" altLang="ko-KR" sz="1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" altLang="ko-KR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" altLang="ko-KR" sz="1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" altLang="ko-KR" sz="1400" i="1" dirty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" altLang="ko-KR" sz="1400" i="1" dirty="0"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" altLang="ko-KR" sz="1400" i="1" dirty="0">
                                    <a:latin typeface="Cambria Math" panose="02040503050406030204" pitchFamily="18" charset="0"/>
                                  </a:rPr>
                                  <m:t>0.0125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" altLang="ko-KR" sz="14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" altLang="ko-KR" sz="14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" altLang="ko-KR" sz="1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" altLang="ko-KR" sz="1400" i="1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sz="1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" altLang="ko-KR" sz="1400" i="1" dirty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endParaRPr lang="en-US" altLang="ko-KR" sz="1600" dirty="0"/>
              </a:p>
              <a:p>
                <a:pPr marL="0" indent="0">
                  <a:buNone/>
                </a:pPr>
                <a:r>
                  <a:rPr lang="en-US" altLang="ko-KR" sz="18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sz="18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" altLang="ko-KR" sz="1800" i="1" dirty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" altLang="ko-KR" sz="1800" dirty="0"/>
                  <a:t>: </a:t>
                </a:r>
                <a:r>
                  <a:rPr lang="ko-KR" altLang="en-US" sz="1800" dirty="0"/>
                  <a:t>물리적 큐비트의 기본 </a:t>
                </a:r>
                <a:r>
                  <a:rPr lang="ko-KR" altLang="en-US" sz="1800" dirty="0" err="1"/>
                  <a:t>오류율</a:t>
                </a:r>
                <a:r>
                  <a:rPr lang="ko-KR" altLang="en-US" sz="1800" dirty="0"/>
                  <a:t> </a:t>
                </a:r>
                <a:r>
                  <a:rPr lang="en-US" altLang="ko-KR" sz="1800" dirty="0"/>
                  <a:t>(</a:t>
                </a:r>
                <a:r>
                  <a:rPr lang="ko-KR" altLang="en-US" sz="1800" dirty="0"/>
                  <a:t>논문에서는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sz="1800" i="1" dirty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altLang="ko-KR" sz="1800" dirty="0"/>
                  <a:t>).</a:t>
                </a:r>
              </a:p>
              <a:p>
                <a:endParaRPr kumimoji="1" lang="ko-KR" altLang="en-US" sz="18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463FC3D1-EF7D-CD84-9FE4-959C9D5EF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446" t="-11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3CCBA60-E21A-9DF4-4753-4F4A1518D0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92" t="2341" r="31796" b="6158"/>
          <a:stretch>
            <a:fillRect/>
          </a:stretch>
        </p:blipFill>
        <p:spPr>
          <a:xfrm>
            <a:off x="9194164" y="4152900"/>
            <a:ext cx="2775585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73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D7A74-094F-77C5-0619-A0188DA1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Fault-tolerant cost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/>
              <a:t>SHA256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2E58201D-F15D-E3C2-49F7-557739C18CA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b="1" dirty="0">
                    <a:latin typeface="+mn-ea"/>
                  </a:rPr>
                  <a:t>3. </a:t>
                </a:r>
                <a:r>
                  <a:rPr lang="ko-KR" altLang="en-US" sz="2000" b="1" dirty="0">
                    <a:latin typeface="+mn-ea"/>
                  </a:rPr>
                  <a:t>매직 상태 </a:t>
                </a:r>
                <a:r>
                  <a:rPr lang="ko-KR" altLang="en-US" sz="2000" b="1" dirty="0" err="1">
                    <a:latin typeface="+mn-ea"/>
                  </a:rPr>
                  <a:t>증류소</a:t>
                </a:r>
                <a:r>
                  <a:rPr lang="en-US" altLang="ko-KR" sz="2000" b="1" dirty="0">
                    <a:latin typeface="+mn-ea"/>
                  </a:rPr>
                  <a:t>(</a:t>
                </a:r>
                <a:r>
                  <a:rPr lang="en" altLang="ko-KR" sz="2000" b="1" dirty="0">
                    <a:latin typeface="+mn-ea"/>
                  </a:rPr>
                  <a:t>Factory) </a:t>
                </a:r>
                <a:r>
                  <a:rPr lang="ko-KR" altLang="en-US" sz="2000" b="1" dirty="0">
                    <a:latin typeface="+mn-ea"/>
                  </a:rPr>
                  <a:t>설계</a:t>
                </a:r>
              </a:p>
              <a:p>
                <a:pPr lvl="1"/>
                <a:r>
                  <a:rPr lang="en" altLang="ko-KR" sz="1800" dirty="0">
                    <a:latin typeface="+mn-ea"/>
                  </a:rPr>
                  <a:t>T </a:t>
                </a:r>
                <a:r>
                  <a:rPr lang="ko-KR" altLang="en-US" sz="1800" dirty="0">
                    <a:latin typeface="+mn-ea"/>
                  </a:rPr>
                  <a:t>게이트를 실행하기 위한 </a:t>
                </a:r>
                <a:r>
                  <a:rPr lang="en-US" altLang="ko-KR" sz="1800" dirty="0">
                    <a:latin typeface="+mn-ea"/>
                  </a:rPr>
                  <a:t>‘magic state’ </a:t>
                </a:r>
                <a:r>
                  <a:rPr lang="ko-KR" altLang="en-US" sz="1800" dirty="0">
                    <a:latin typeface="+mn-ea"/>
                  </a:rPr>
                  <a:t>부분 설계</a:t>
                </a:r>
                <a:endParaRPr lang="en-US" altLang="ko-KR" sz="1800" dirty="0">
                  <a:latin typeface="+mn-ea"/>
                </a:endParaRPr>
              </a:p>
              <a:p>
                <a:pPr lvl="1"/>
                <a:r>
                  <a:rPr lang="ko-KR" altLang="en-US" sz="1800" b="1" dirty="0">
                    <a:latin typeface="+mn-ea"/>
                  </a:rPr>
                  <a:t>입력 상태 수 </a:t>
                </a:r>
                <a:r>
                  <a:rPr lang="en-US" altLang="ko-KR" sz="1800" b="1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" altLang="ko-KR" sz="1800" b="1" i="1" dirty="0" err="1">
                            <a:latin typeface="Cambria Math" panose="02040503050406030204" pitchFamily="18" charset="0"/>
                          </a:rPr>
                          <m:t>𝒅𝒊𝒔𝒕</m:t>
                        </m:r>
                      </m:sub>
                    </m:sSub>
                  </m:oMath>
                </a14:m>
                <a:r>
                  <a:rPr lang="en" altLang="ko-KR" sz="1800" b="1" dirty="0">
                    <a:latin typeface="+mn-ea"/>
                  </a:rPr>
                  <a:t>):</a:t>
                </a:r>
                <a:r>
                  <a:rPr lang="en" altLang="ko-KR" sz="1800" dirty="0">
                    <a:latin typeface="+mn-ea"/>
                  </a:rPr>
                  <a:t> 3</a:t>
                </a:r>
                <a:r>
                  <a:rPr lang="ko-KR" altLang="en-US" sz="1800" dirty="0">
                    <a:latin typeface="+mn-ea"/>
                  </a:rPr>
                  <a:t>단계 증류 기준</a:t>
                </a:r>
                <a:r>
                  <a:rPr lang="en-US" altLang="ko-KR" sz="18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16 </m:t>
                    </m:r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" altLang="ko-KR" sz="1800" i="1" dirty="0">
                        <a:latin typeface="Cambria Math" panose="02040503050406030204" pitchFamily="18" charset="0"/>
                      </a:rPr>
                      <m:t>15 ×15 = </m:t>
                    </m:r>
                    <m:r>
                      <a:rPr lang="en" altLang="ko-KR" sz="1800" i="1" dirty="0" smtClean="0">
                        <a:latin typeface="Cambria Math" panose="02040503050406030204" pitchFamily="18" charset="0"/>
                      </a:rPr>
                      <m:t>3600</m:t>
                    </m:r>
                  </m:oMath>
                </a14:m>
                <a:r>
                  <a:rPr lang="ko-KR" altLang="en-US" sz="1800" dirty="0">
                    <a:latin typeface="+mn-ea"/>
                  </a:rPr>
                  <a:t>개</a:t>
                </a:r>
                <a:endParaRPr lang="en-US" altLang="ko-KR" sz="1800" dirty="0">
                  <a:latin typeface="+mn-ea"/>
                </a:endParaRPr>
              </a:p>
              <a:p>
                <a:pPr lvl="1"/>
                <a:r>
                  <a:rPr lang="ko-KR" altLang="en-US" sz="1800" b="1" dirty="0">
                    <a:latin typeface="+mn-ea"/>
                  </a:rPr>
                  <a:t>증류 시간 </a:t>
                </a:r>
                <a:r>
                  <a:rPr lang="en-US" altLang="ko-KR" sz="1800" b="1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1" i="1" dirty="0" smtClean="0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" altLang="ko-KR" sz="1800" b="1" i="1" dirty="0" err="1">
                            <a:latin typeface="Cambria Math" panose="02040503050406030204" pitchFamily="18" charset="0"/>
                          </a:rPr>
                          <m:t>𝒅𝒊𝒔𝒕</m:t>
                        </m:r>
                      </m:sub>
                    </m:sSub>
                  </m:oMath>
                </a14:m>
                <a:r>
                  <a:rPr lang="en" altLang="ko-KR" sz="1800" b="1" dirty="0">
                    <a:latin typeface="+mn-ea"/>
                  </a:rPr>
                  <a:t>):</a:t>
                </a:r>
                <a:r>
                  <a:rPr lang="en" altLang="ko-KR" sz="1800" dirty="0">
                    <a:latin typeface="+mn-ea"/>
                  </a:rPr>
                  <a:t> </a:t>
                </a:r>
                <a:r>
                  <a:rPr lang="ko-KR" altLang="en-US" sz="1800" dirty="0">
                    <a:latin typeface="+mn-ea"/>
                  </a:rPr>
                  <a:t>각 계층 거리</a:t>
                </a:r>
                <a:r>
                  <a:rPr lang="en-US" altLang="ko-KR" sz="180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sz="18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" altLang="ko-KR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" altLang="ko-KR" sz="18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" altLang="ko-K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sz="1800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" altLang="ko-KR" sz="18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" altLang="ko-KR" sz="18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" altLang="ko-K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sz="1800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" altLang="ko-KR" sz="18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" altLang="ko-KR" sz="1800" dirty="0">
                    <a:latin typeface="+mn-ea"/>
                  </a:rPr>
                  <a:t>)</a:t>
                </a:r>
                <a:r>
                  <a:rPr lang="ko-KR" altLang="en-US" sz="1800" dirty="0" err="1">
                    <a:latin typeface="+mn-ea"/>
                  </a:rPr>
                  <a:t>에</a:t>
                </a:r>
                <a:r>
                  <a:rPr lang="ko-KR" altLang="en-US" sz="1800" dirty="0">
                    <a:latin typeface="+mn-ea"/>
                  </a:rPr>
                  <a:t> 따른 사이클 합</a:t>
                </a:r>
                <a:endParaRPr lang="en-US" altLang="ko-KR" sz="1800" dirty="0">
                  <a:latin typeface="+mn-ea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" altLang="ko-KR" sz="1800" i="1" dirty="0" err="1">
                            <a:latin typeface="Cambria Math" panose="02040503050406030204" pitchFamily="18" charset="0"/>
                          </a:rPr>
                          <m:t>𝑑𝑖𝑠𝑡</m:t>
                        </m:r>
                      </m:sub>
                    </m:sSub>
                    <m:r>
                      <a:rPr lang="en" altLang="ko-KR" sz="1800" i="1" dirty="0"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" altLang="ko-KR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" altLang="ko-KR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altLang="ko-KR" sz="18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" altLang="ko-KR" sz="1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" altLang="ko-KR" sz="18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" altLang="ko-KR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altLang="ko-KR" sz="18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" altLang="ko-KR" sz="1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" altLang="ko-KR" sz="1800" i="1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" altLang="ko-KR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altLang="ko-KR" sz="18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" altLang="ko-KR" sz="18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" altLang="ko-KR" sz="1800" i="0" dirty="0">
                        <a:latin typeface="+mn-ea"/>
                      </a:rPr>
                      <m:t> </m:t>
                    </m:r>
                    <m:r>
                      <m:rPr>
                        <m:nor/>
                      </m:rPr>
                      <a:rPr lang="en" altLang="ko-KR" sz="1800" i="0" dirty="0">
                        <a:latin typeface="+mn-ea"/>
                      </a:rPr>
                      <m:t>cycles</m:t>
                    </m:r>
                  </m:oMath>
                </a14:m>
                <a:endParaRPr lang="en" altLang="ko-KR" sz="1800" dirty="0">
                  <a:latin typeface="+mn-ea"/>
                </a:endParaRPr>
              </a:p>
              <a:p>
                <a:pPr lvl="2"/>
                <a:endParaRPr lang="en" altLang="ko-KR" sz="1600" dirty="0">
                  <a:latin typeface="+mn-ea"/>
                </a:endParaRPr>
              </a:p>
              <a:p>
                <a:pPr lvl="1"/>
                <a:r>
                  <a:rPr lang="ko-KR" altLang="en-US" sz="1800" b="1" dirty="0">
                    <a:latin typeface="+mn-ea"/>
                  </a:rPr>
                  <a:t>물리 </a:t>
                </a:r>
                <a:r>
                  <a:rPr lang="ko-KR" altLang="en-US" sz="1800" b="1" dirty="0" err="1">
                    <a:latin typeface="+mn-ea"/>
                  </a:rPr>
                  <a:t>큐비트</a:t>
                </a:r>
                <a:r>
                  <a:rPr lang="ko-KR" altLang="en-US" sz="1800" b="1" dirty="0">
                    <a:latin typeface="+mn-ea"/>
                  </a:rPr>
                  <a:t> </a:t>
                </a:r>
                <a:r>
                  <a:rPr lang="en-US" altLang="ko-KR" sz="1800" b="1" dirty="0">
                    <a:latin typeface="+mn-ea"/>
                  </a:rPr>
                  <a:t>footprint</a:t>
                </a:r>
                <a:r>
                  <a:rPr lang="ko-KR" altLang="en-US" sz="1800" b="1" dirty="0">
                    <a:latin typeface="+mn-ea"/>
                  </a:rPr>
                  <a:t> </a:t>
                </a:r>
                <a:r>
                  <a:rPr lang="en-US" altLang="ko-KR" sz="1800" b="1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sz="1800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" altLang="ko-KR" sz="1800" b="1" i="1" dirty="0" err="1">
                            <a:latin typeface="Cambria Math" panose="02040503050406030204" pitchFamily="18" charset="0"/>
                          </a:rPr>
                          <m:t>𝒅𝒊𝒔𝒕</m:t>
                        </m:r>
                      </m:sub>
                    </m:sSub>
                  </m:oMath>
                </a14:m>
                <a:r>
                  <a:rPr lang="en" altLang="ko-KR" sz="1800" b="1" dirty="0">
                    <a:latin typeface="+mn-ea"/>
                  </a:rPr>
                  <a:t>):</a:t>
                </a:r>
                <a:r>
                  <a:rPr lang="en" altLang="ko-KR" sz="1800" dirty="0">
                    <a:latin typeface="+mn-ea"/>
                  </a:rPr>
                  <a:t> </a:t>
                </a:r>
                <a:r>
                  <a:rPr lang="ko-KR" altLang="en-US" sz="1800" dirty="0" err="1">
                    <a:latin typeface="+mn-ea"/>
                  </a:rPr>
                  <a:t>증류소</a:t>
                </a:r>
                <a:r>
                  <a:rPr lang="ko-KR" altLang="en-US" sz="1800" dirty="0">
                    <a:latin typeface="+mn-ea"/>
                  </a:rPr>
                  <a:t> 하나가 차지하는 물리적 크기</a:t>
                </a:r>
                <a:endParaRPr lang="en-US" altLang="ko-KR" sz="1800" dirty="0">
                  <a:latin typeface="+mn-ea"/>
                </a:endParaRP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" altLang="ko-KR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altLang="ko-KR" sz="18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" altLang="ko-KR" sz="1800" i="1" dirty="0" err="1">
                              <a:latin typeface="Cambria Math" panose="02040503050406030204" pitchFamily="18" charset="0"/>
                            </a:rPr>
                            <m:t>𝑑𝑖𝑠𝑡</m:t>
                          </m:r>
                        </m:sub>
                      </m:sSub>
                      <m:r>
                        <a:rPr lang="en" altLang="ko-KR" sz="18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" altLang="ko-KR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altLang="ko-KR" sz="18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" altLang="ko-KR" sz="1800" i="1" dirty="0" err="1">
                              <a:latin typeface="Cambria Math" panose="02040503050406030204" pitchFamily="18" charset="0"/>
                            </a:rPr>
                            <m:t>𝑑𝑖𝑠𝑡</m:t>
                          </m:r>
                        </m:sub>
                      </m:sSub>
                      <m:r>
                        <a:rPr lang="en" altLang="ko-KR" sz="1800" i="1" dirty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" altLang="ko-KR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" altLang="ko-KR" sz="1800" i="1" dirty="0">
                              <a:latin typeface="Cambria Math" panose="02040503050406030204" pitchFamily="18" charset="0"/>
                            </a:rPr>
                            <m:t>2.5×1.25×</m:t>
                          </m:r>
                          <m:sSubSup>
                            <m:sSubSupPr>
                              <m:ctrlPr>
                                <a:rPr lang="en" altLang="ko-KR" sz="18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" altLang="ko-KR" sz="1800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" altLang="ko-KR" sz="1800" i="1" dirty="0">
                                  <a:latin typeface="Cambria Math" panose="02040503050406030204" pitchFamily="18" charset="0"/>
                                </a:rPr>
                                <m:t>𝑏𝑜𝑡𝑡𝑜𝑚</m:t>
                              </m:r>
                            </m:sub>
                            <m:sup>
                              <m:r>
                                <a:rPr lang="en" altLang="ko-KR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" altLang="ko-KR" sz="1800" dirty="0">
                  <a:latin typeface="+mn-ea"/>
                </a:endParaRPr>
              </a:p>
              <a:p>
                <a:pPr marL="914400" lvl="2" indent="0">
                  <a:buNone/>
                </a:pPr>
                <a:r>
                  <a:rPr lang="ko-KR" altLang="en-US" sz="1200" dirty="0">
                    <a:latin typeface="+mn-ea"/>
                  </a:rPr>
                  <a:t>*논문에서는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sz="12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" altLang="ko-KR" sz="1200" i="1" dirty="0">
                            <a:latin typeface="Cambria Math" panose="02040503050406030204" pitchFamily="18" charset="0"/>
                          </a:rPr>
                          <m:t>𝑏𝑜𝑡𝑡𝑜𝑚</m:t>
                        </m:r>
                      </m:sub>
                    </m:sSub>
                    <m:r>
                      <a:rPr lang="en" altLang="ko-KR" sz="1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" altLang="ko-KR" sz="1200" i="1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ko-KR" altLang="en-US" sz="1200" dirty="0">
                    <a:latin typeface="+mn-ea"/>
                  </a:rPr>
                  <a:t>일 때 약 </a:t>
                </a:r>
                <a:r>
                  <a:rPr lang="en-US" altLang="ko-KR" sz="1200" dirty="0">
                    <a:latin typeface="+mn-ea"/>
                  </a:rPr>
                  <a:t>154</a:t>
                </a:r>
                <a:r>
                  <a:rPr lang="ko-KR" altLang="en-US" sz="1200" dirty="0">
                    <a:latin typeface="+mn-ea"/>
                  </a:rPr>
                  <a:t>개의 물리 </a:t>
                </a:r>
                <a:r>
                  <a:rPr lang="ko-KR" altLang="en-US" sz="1200" dirty="0" err="1">
                    <a:latin typeface="+mn-ea"/>
                  </a:rPr>
                  <a:t>큐비트</a:t>
                </a:r>
                <a:r>
                  <a:rPr lang="ko-KR" altLang="en-US" sz="1200" dirty="0">
                    <a:latin typeface="+mn-ea"/>
                  </a:rPr>
                  <a:t> 사용</a:t>
                </a:r>
                <a:endParaRPr lang="en-US" altLang="ko-KR" sz="1200" dirty="0">
                  <a:latin typeface="+mn-ea"/>
                </a:endParaRPr>
              </a:p>
              <a:p>
                <a:pPr lvl="2"/>
                <a:endParaRPr lang="en-US" altLang="ko-KR" sz="1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ko-KR" sz="2000" b="1" dirty="0">
                    <a:latin typeface="+mn-ea"/>
                  </a:rPr>
                  <a:t>4. </a:t>
                </a:r>
                <a:r>
                  <a:rPr lang="ko-KR" altLang="en-US" sz="2000" b="1" dirty="0">
                    <a:latin typeface="+mn-ea"/>
                  </a:rPr>
                  <a:t>최종 자원 및 비용 합산 </a:t>
                </a:r>
                <a:r>
                  <a:rPr lang="en-US" altLang="ko-KR" sz="2000" b="1" dirty="0">
                    <a:latin typeface="+mn-ea"/>
                  </a:rPr>
                  <a:t>(</a:t>
                </a:r>
                <a:r>
                  <a:rPr lang="en" altLang="ko-KR" sz="2000" b="1" dirty="0">
                    <a:latin typeface="+mn-ea"/>
                  </a:rPr>
                  <a:t>Total Cost)</a:t>
                </a:r>
              </a:p>
              <a:p>
                <a:pPr marL="0" indent="0">
                  <a:buNone/>
                </a:pPr>
                <a:endParaRPr kumimoji="1" lang="en-US" altLang="ko-KR" sz="2400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2E58201D-F15D-E3C2-49F7-557739C18C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558" t="-1357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8714CF33-EB88-1631-5496-FC2461846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85" y="5108175"/>
            <a:ext cx="6532497" cy="11945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388D43E-2E06-FD56-6EC0-7140AAD69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0062" y="3853543"/>
            <a:ext cx="3740018" cy="279671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16B5897-B9F4-5920-11BB-0547B4C5D370}"/>
              </a:ext>
            </a:extLst>
          </p:cNvPr>
          <p:cNvSpPr/>
          <p:nvPr/>
        </p:nvSpPr>
        <p:spPr>
          <a:xfrm>
            <a:off x="8322906" y="4152122"/>
            <a:ext cx="3457174" cy="5691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436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14381</TotalTime>
  <Words>1529</Words>
  <Application>Microsoft Macintosh PowerPoint</Application>
  <PresentationFormat>와이드스크린</PresentationFormat>
  <Paragraphs>148</Paragraphs>
  <Slides>15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Cambria Math</vt:lpstr>
      <vt:lpstr>Wingdings</vt:lpstr>
      <vt:lpstr>제목 테마</vt:lpstr>
      <vt:lpstr>Quantum surface code  https://youtu.be/FphsnSIsiQc</vt:lpstr>
      <vt:lpstr>Surface code</vt:lpstr>
      <vt:lpstr>Surface code</vt:lpstr>
      <vt:lpstr>Fault-tolerant cost</vt:lpstr>
      <vt:lpstr>Fault-tolerant cost</vt:lpstr>
      <vt:lpstr>Fault-tolerant cost</vt:lpstr>
      <vt:lpstr>Fault-tolerant cost</vt:lpstr>
      <vt:lpstr>Surface code – distance d</vt:lpstr>
      <vt:lpstr>Fault-tolerant cost – SHA256</vt:lpstr>
      <vt:lpstr>Fault-tolerant cost – SHA256</vt:lpstr>
      <vt:lpstr>Fault-tolerant cost – SHA256</vt:lpstr>
      <vt:lpstr>Fault-tolerant cost – SHA256</vt:lpstr>
      <vt:lpstr>Fault-tolerant cost – SHA256</vt:lpstr>
      <vt:lpstr>Fault-tolerant cost – SHA256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송경주</cp:lastModifiedBy>
  <cp:revision>573</cp:revision>
  <dcterms:created xsi:type="dcterms:W3CDTF">2019-03-05T04:29:07Z</dcterms:created>
  <dcterms:modified xsi:type="dcterms:W3CDTF">2026-02-01T14:48:38Z</dcterms:modified>
</cp:coreProperties>
</file>