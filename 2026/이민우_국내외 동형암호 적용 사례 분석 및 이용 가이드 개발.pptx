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</p:sldMasterIdLst>
  <p:notesMasterIdLst>
    <p:notesMasterId r:id="rId33"/>
  </p:notesMasterIdLst>
  <p:handoutMasterIdLst>
    <p:handoutMasterId r:id="rId34"/>
  </p:handoutMasterIdLst>
  <p:sldIdLst>
    <p:sldId id="346" r:id="rId2"/>
    <p:sldId id="347" r:id="rId3"/>
    <p:sldId id="348" r:id="rId4"/>
    <p:sldId id="349" r:id="rId5"/>
    <p:sldId id="370" r:id="rId6"/>
    <p:sldId id="371" r:id="rId7"/>
    <p:sldId id="350" r:id="rId8"/>
    <p:sldId id="372" r:id="rId9"/>
    <p:sldId id="351" r:id="rId10"/>
    <p:sldId id="352" r:id="rId11"/>
    <p:sldId id="353" r:id="rId12"/>
    <p:sldId id="375" r:id="rId13"/>
    <p:sldId id="354" r:id="rId14"/>
    <p:sldId id="355" r:id="rId15"/>
    <p:sldId id="356" r:id="rId16"/>
    <p:sldId id="357" r:id="rId17"/>
    <p:sldId id="358" r:id="rId18"/>
    <p:sldId id="359" r:id="rId19"/>
    <p:sldId id="360" r:id="rId20"/>
    <p:sldId id="361" r:id="rId21"/>
    <p:sldId id="362" r:id="rId22"/>
    <p:sldId id="363" r:id="rId23"/>
    <p:sldId id="364" r:id="rId24"/>
    <p:sldId id="377" r:id="rId25"/>
    <p:sldId id="374" r:id="rId26"/>
    <p:sldId id="376" r:id="rId27"/>
    <p:sldId id="365" r:id="rId28"/>
    <p:sldId id="379" r:id="rId29"/>
    <p:sldId id="366" r:id="rId30"/>
    <p:sldId id="367" r:id="rId31"/>
    <p:sldId id="368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C0C"/>
    <a:srgbClr val="181818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0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2026. 6. 15.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2026. 6. 15.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623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542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태그가 따로 없는 논문은 알고리즘 논문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154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786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113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271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D9BC3CF6-CD0A-9D7B-13E1-AA8387077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629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  <p:sldLayoutId id="2147483670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2gs64oMV5p0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10" Type="http://schemas.openxmlformats.org/officeDocument/2006/relationships/image" Target="../media/image23.emf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E539C-2A63-8087-24A0-09179FE9D0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국내외 동형암호 적용 사례 분석</a:t>
            </a:r>
            <a:br>
              <a:rPr kumimoji="1"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kumimoji="1"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및 이용 가이드 개발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CFB2AA-4E81-2392-4152-B8492B803D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이민우</a:t>
            </a:r>
            <a:r>
              <a:rPr kumimoji="1"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심민주</a:t>
            </a:r>
            <a:r>
              <a:rPr kumimoji="1"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송경주</a:t>
            </a:r>
            <a:r>
              <a:rPr kumimoji="1"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조수빈</a:t>
            </a:r>
            <a:r>
              <a:rPr kumimoji="1"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형유림</a:t>
            </a:r>
            <a:r>
              <a:rPr kumimoji="1"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방지원</a:t>
            </a:r>
            <a:r>
              <a:rPr kumimoji="1"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서화정</a:t>
            </a:r>
            <a:r>
              <a:rPr kumimoji="1"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endParaRPr kumimoji="1"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D17305C8-87D0-0AE9-2C10-33F836B18A62}"/>
              </a:ext>
            </a:extLst>
          </p:cNvPr>
          <p:cNvSpPr txBox="1">
            <a:spLocks/>
          </p:cNvSpPr>
          <p:nvPr/>
        </p:nvSpPr>
        <p:spPr>
          <a:xfrm>
            <a:off x="-3" y="4693229"/>
            <a:ext cx="12192001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유튜브</a:t>
            </a:r>
            <a:r>
              <a:rPr kumimoji="1"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주소</a:t>
            </a:r>
            <a:r>
              <a:rPr kumimoji="1"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kumimoji="1"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en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  <a:hlinkClick r:id="rId2"/>
              </a:rPr>
              <a:t>https://</a:t>
            </a:r>
            <a:r>
              <a:rPr kumimoji="1" lang="en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  <a:hlinkClick r:id="rId2"/>
              </a:rPr>
              <a:t>youtu.be</a:t>
            </a:r>
            <a:r>
              <a:rPr kumimoji="1" lang="en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  <a:hlinkClick r:id="rId2"/>
              </a:rPr>
              <a:t>/2gs64oMV5p0</a:t>
            </a:r>
            <a:endParaRPr kumimoji="1"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7473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24EDCDA-05CF-54BE-78C5-487AE2C536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동형암호 기술 개요 및 발전 동향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919B80-F289-5FF7-A631-545399F148D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국내외 동형암호 적용 사례 분석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4C52F8-BD69-0A25-0EA4-CBF5E3A3B2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FHE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기반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PPML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및 최신 연구 동향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6B821F-4890-80A9-E846-4EB98ACDF38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동형암호 이용가이드 및 활용 방안</a:t>
            </a:r>
          </a:p>
        </p:txBody>
      </p:sp>
    </p:spTree>
    <p:extLst>
      <p:ext uri="{BB962C8B-B14F-4D97-AF65-F5344CB8AC3E}">
        <p14:creationId xmlns:p14="http://schemas.microsoft.com/office/powerpoint/2010/main" val="1321603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C8845-9442-F089-7035-44A131DF3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75D24D-7B4F-ACD5-2C1F-09F4FCED3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연구과제 목표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05B387-0915-2079-B741-C4BE3CDE70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국내외 동형암호 적용 사례 분석 및 실용적 이용 가이드 개발</a:t>
            </a:r>
          </a:p>
          <a:p>
            <a:pPr lvl="1"/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</a:t>
            </a:r>
            <a:r>
              <a:rPr lang="ko-KR" altLang="en-US" sz="2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</a:t>
            </a:r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라이브러리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성능 관련 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국내외 현황 분석</a:t>
            </a:r>
            <a:endParaRPr lang="ko-KR" altLang="en-US" sz="24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산업 분야별 적용 사례 및 </a:t>
            </a:r>
            <a:r>
              <a:rPr lang="ko-KR" altLang="en-US" sz="24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최신 연구 동향 분석</a:t>
            </a:r>
            <a:endParaRPr lang="en-US" altLang="ko-KR" sz="24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개발환경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파라미터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최적화 등 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실용적 이용 가이드라인 도출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36E9804-637F-1DA4-D042-B72B7CD7D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377614"/>
              </p:ext>
            </p:extLst>
          </p:nvPr>
        </p:nvGraphicFramePr>
        <p:xfrm>
          <a:off x="280017" y="2914022"/>
          <a:ext cx="11631966" cy="3567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756">
                  <a:extLst>
                    <a:ext uri="{9D8B030D-6E8A-4147-A177-3AD203B41FA5}">
                      <a16:colId xmlns:a16="http://schemas.microsoft.com/office/drawing/2014/main" val="576129861"/>
                    </a:ext>
                  </a:extLst>
                </a:gridCol>
                <a:gridCol w="634030">
                  <a:extLst>
                    <a:ext uri="{9D8B030D-6E8A-4147-A177-3AD203B41FA5}">
                      <a16:colId xmlns:a16="http://schemas.microsoft.com/office/drawing/2014/main" val="3071039427"/>
                    </a:ext>
                  </a:extLst>
                </a:gridCol>
                <a:gridCol w="634030">
                  <a:extLst>
                    <a:ext uri="{9D8B030D-6E8A-4147-A177-3AD203B41FA5}">
                      <a16:colId xmlns:a16="http://schemas.microsoft.com/office/drawing/2014/main" val="2889065376"/>
                    </a:ext>
                  </a:extLst>
                </a:gridCol>
                <a:gridCol w="634030">
                  <a:extLst>
                    <a:ext uri="{9D8B030D-6E8A-4147-A177-3AD203B41FA5}">
                      <a16:colId xmlns:a16="http://schemas.microsoft.com/office/drawing/2014/main" val="2724931338"/>
                    </a:ext>
                  </a:extLst>
                </a:gridCol>
                <a:gridCol w="634030">
                  <a:extLst>
                    <a:ext uri="{9D8B030D-6E8A-4147-A177-3AD203B41FA5}">
                      <a16:colId xmlns:a16="http://schemas.microsoft.com/office/drawing/2014/main" val="2552449339"/>
                    </a:ext>
                  </a:extLst>
                </a:gridCol>
                <a:gridCol w="634030">
                  <a:extLst>
                    <a:ext uri="{9D8B030D-6E8A-4147-A177-3AD203B41FA5}">
                      <a16:colId xmlns:a16="http://schemas.microsoft.com/office/drawing/2014/main" val="3768413101"/>
                    </a:ext>
                  </a:extLst>
                </a:gridCol>
                <a:gridCol w="634030">
                  <a:extLst>
                    <a:ext uri="{9D8B030D-6E8A-4147-A177-3AD203B41FA5}">
                      <a16:colId xmlns:a16="http://schemas.microsoft.com/office/drawing/2014/main" val="1489893461"/>
                    </a:ext>
                  </a:extLst>
                </a:gridCol>
                <a:gridCol w="634030">
                  <a:extLst>
                    <a:ext uri="{9D8B030D-6E8A-4147-A177-3AD203B41FA5}">
                      <a16:colId xmlns:a16="http://schemas.microsoft.com/office/drawing/2014/main" val="1416557818"/>
                    </a:ext>
                  </a:extLst>
                </a:gridCol>
              </a:tblGrid>
              <a:tr h="3547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연구 과제 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6</a:t>
                      </a:r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8</a:t>
                      </a:r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9</a:t>
                      </a:r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</a:t>
                      </a:r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11</a:t>
                      </a:r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822081"/>
                  </a:ext>
                </a:extLst>
              </a:tr>
              <a:tr h="3547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동형암호 기술 현황 조사 </a:t>
                      </a:r>
                      <a:r>
                        <a:rPr lang="ko-KR" altLang="ko-KR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·</a:t>
                      </a:r>
                      <a:r>
                        <a:rPr lang="ko-KR" altLang="en-US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분석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797193"/>
                  </a:ext>
                </a:extLst>
              </a:tr>
              <a:tr h="3547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대표 동형암호 </a:t>
                      </a:r>
                      <a:r>
                        <a:rPr lang="ko-KR" altLang="en-US" sz="12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스킴</a:t>
                      </a:r>
                      <a:r>
                        <a:rPr lang="ko-KR" altLang="en-US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비교 </a:t>
                      </a:r>
                      <a:r>
                        <a:rPr lang="ko-KR" altLang="ko-KR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·</a:t>
                      </a:r>
                      <a:r>
                        <a:rPr lang="ko-KR" altLang="en-US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분석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7347704"/>
                  </a:ext>
                </a:extLst>
              </a:tr>
              <a:tr h="3547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주요 동형암호 라이브러리 기능 및 활용성 분석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highlight>
                          <a:srgbClr val="808080"/>
                        </a:highlight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5333835"/>
                  </a:ext>
                </a:extLst>
              </a:tr>
              <a:tr h="3547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동형암호 성능 및 자원 요구 분석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highlight>
                          <a:srgbClr val="808080"/>
                        </a:highlight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643159"/>
                  </a:ext>
                </a:extLst>
              </a:tr>
              <a:tr h="3547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실제 적용사례 및 최신 연구 동향 분석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060264"/>
                  </a:ext>
                </a:extLst>
              </a:tr>
              <a:tr h="3740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개발환경 구축 및 예제 검증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9161663"/>
                  </a:ext>
                </a:extLst>
              </a:tr>
              <a:tr h="3547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성능 분석 및 병목 식별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1710663"/>
                  </a:ext>
                </a:extLst>
              </a:tr>
              <a:tr h="3547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실용적 이용 가이드라인 도출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271922"/>
                  </a:ext>
                </a:extLst>
              </a:tr>
              <a:tr h="3547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최종 보고서 작성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347443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5D719EFE-CEEE-B8AC-5CF1-49C79D992F10}"/>
              </a:ext>
            </a:extLst>
          </p:cNvPr>
          <p:cNvSpPr/>
          <p:nvPr/>
        </p:nvSpPr>
        <p:spPr>
          <a:xfrm>
            <a:off x="280017" y="3277386"/>
            <a:ext cx="7191594" cy="102390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기술 및 라이브러리 현황 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FC7E6E-7119-4CE7-B347-6A50BB5899D9}"/>
              </a:ext>
            </a:extLst>
          </p:cNvPr>
          <p:cNvSpPr/>
          <p:nvPr/>
        </p:nvSpPr>
        <p:spPr>
          <a:xfrm>
            <a:off x="280017" y="4346311"/>
            <a:ext cx="7191594" cy="102390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성능 </a:t>
            </a:r>
            <a:r>
              <a:rPr lang="en-US" altLang="ko-KR" sz="2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2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적용 사례 분석 및 개발환경 검증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ED82B3-F064-EBC4-BFC6-A13BFDA2506A}"/>
              </a:ext>
            </a:extLst>
          </p:cNvPr>
          <p:cNvSpPr/>
          <p:nvPr/>
        </p:nvSpPr>
        <p:spPr>
          <a:xfrm>
            <a:off x="280017" y="5413748"/>
            <a:ext cx="7191594" cy="102390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이용 가이드라인 도출 및 최종 보고서 작성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5A32213-B348-CCB8-D97A-95D8928380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7141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4977-D243-3F0F-AD28-9DF03E94A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98EED0-9FD1-209C-9674-FE108BC5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연구과제의 필요성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EC55E-0727-C35D-CDCE-3D5C1D2E83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146" y="1149092"/>
            <a:ext cx="11819518" cy="5382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발전</a:t>
            </a:r>
            <a:r>
              <a:rPr lang="en-US" altLang="ko-KR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양자 컴퓨터 위협</a:t>
            </a:r>
            <a:r>
              <a:rPr lang="en-US" altLang="ko-KR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규제 강화로</a:t>
            </a: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도입 필요성 증가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4CC123E6-3885-0A7C-754D-298D76034AAA}"/>
              </a:ext>
            </a:extLst>
          </p:cNvPr>
          <p:cNvSpPr txBox="1">
            <a:spLocks/>
          </p:cNvSpPr>
          <p:nvPr/>
        </p:nvSpPr>
        <p:spPr>
          <a:xfrm>
            <a:off x="411164" y="1796901"/>
            <a:ext cx="5368534" cy="4652025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ko-KR" altLang="en-US" sz="22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D6AC055F-2FBD-273C-D2EB-AF98FDEFCDA6}"/>
              </a:ext>
            </a:extLst>
          </p:cNvPr>
          <p:cNvSpPr txBox="1">
            <a:spLocks/>
          </p:cNvSpPr>
          <p:nvPr/>
        </p:nvSpPr>
        <p:spPr>
          <a:xfrm>
            <a:off x="6411546" y="1796901"/>
            <a:ext cx="5368534" cy="4652025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ko-KR" altLang="en-US" sz="22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F1F5865B-F8A6-D5F5-A2A1-687C6759FC84}"/>
              </a:ext>
            </a:extLst>
          </p:cNvPr>
          <p:cNvSpPr txBox="1">
            <a:spLocks/>
          </p:cNvSpPr>
          <p:nvPr/>
        </p:nvSpPr>
        <p:spPr>
          <a:xfrm>
            <a:off x="6809917" y="5976143"/>
            <a:ext cx="4746414" cy="416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이론 </a:t>
            </a:r>
            <a:r>
              <a:rPr lang="en-US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연구 단계를 지나</a:t>
            </a:r>
            <a:r>
              <a:rPr lang="en-US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응용</a:t>
            </a:r>
            <a:r>
              <a:rPr lang="ko-KR" altLang="en-US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실증 </a:t>
            </a:r>
            <a:r>
              <a:rPr lang="ko-KR" altLang="en-US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단계 진입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D5990338-179E-2549-C097-9B81C1A35784}"/>
              </a:ext>
            </a:extLst>
          </p:cNvPr>
          <p:cNvSpPr txBox="1">
            <a:spLocks/>
          </p:cNvSpPr>
          <p:nvPr/>
        </p:nvSpPr>
        <p:spPr>
          <a:xfrm>
            <a:off x="460440" y="2457691"/>
            <a:ext cx="5368534" cy="411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발전</a:t>
            </a:r>
            <a:endParaRPr lang="en-US" altLang="ko-KR" sz="20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의료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금융 등 </a:t>
            </a:r>
            <a:r>
              <a:rPr lang="ko-KR" altLang="ko-KR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민감 데이터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기반 AI 분석 수요 증가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모델 학습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추론을 위한 </a:t>
            </a:r>
            <a:r>
              <a:rPr lang="ko-KR" altLang="en-US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다기관 결합 분석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필요성 증가</a:t>
            </a:r>
            <a:endParaRPr lang="en-US" altLang="ko-KR" sz="1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2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양자 컴퓨터 위협</a:t>
            </a:r>
            <a:endParaRPr lang="en-US" altLang="ko-KR" sz="20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양자 컴퓨터 발전으로 </a:t>
            </a:r>
            <a:r>
              <a:rPr lang="ko-KR" altLang="ko-KR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레거시 암호</a:t>
            </a:r>
            <a:r>
              <a:rPr lang="ko-KR" altLang="en-US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체계</a:t>
            </a:r>
            <a:r>
              <a:rPr lang="ko-KR" altLang="ko-KR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(RSA·ECC) 위협</a:t>
            </a:r>
            <a:endParaRPr lang="en-US" altLang="ko-KR" sz="1400" dirty="0">
              <a:highlight>
                <a:srgbClr val="FFFF00"/>
              </a:highligh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주요 FHE </a:t>
            </a:r>
            <a:r>
              <a:rPr lang="ko-KR" altLang="ko-KR" sz="1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스킴은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격자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기반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LWE/RLWE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</a:t>
            </a:r>
            <a:r>
              <a:rPr lang="ko-KR" altLang="en-US" sz="1400" dirty="0" err="1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양자내성</a:t>
            </a:r>
            <a:r>
              <a:rPr lang="ko-KR" altLang="en-US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확보</a:t>
            </a:r>
            <a:endParaRPr lang="en-US" altLang="ko-KR" sz="100" dirty="0">
              <a:highlight>
                <a:srgbClr val="FFFF00"/>
              </a:highligh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endParaRPr lang="en-US" altLang="ko-KR" sz="12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en-US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규제 강화</a:t>
            </a:r>
            <a:endParaRPr lang="en-US" altLang="ko-KR" sz="20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EU AI </a:t>
            </a:r>
            <a:r>
              <a:rPr lang="ko-KR" altLang="ko-KR" sz="1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Act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발효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(2024.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8)</a:t>
            </a:r>
            <a:endParaRPr lang="en-US" altLang="ko-KR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국내 개인정보 전송요구권 제도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시행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(2025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.03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endParaRPr lang="en-US" altLang="ko-KR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FBC934A6-2023-DD53-88C4-E1FB0B96BDB6}"/>
              </a:ext>
            </a:extLst>
          </p:cNvPr>
          <p:cNvSpPr/>
          <p:nvPr/>
        </p:nvSpPr>
        <p:spPr>
          <a:xfrm>
            <a:off x="6664070" y="2415579"/>
            <a:ext cx="4892261" cy="84103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ko-KR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 </a:t>
            </a:r>
            <a:r>
              <a:rPr kumimoji="1" lang="ko-KR" altLang="en-US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첫 등장</a:t>
            </a:r>
            <a:r>
              <a:rPr kumimoji="1" lang="en-US" altLang="ko-KR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(2009)</a:t>
            </a:r>
            <a:endParaRPr kumimoji="1" lang="en-US" altLang="ko-KR" sz="14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sz="1200" dirty="0" err="1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부트스트래핑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최대 수십 분 </a:t>
            </a:r>
            <a:r>
              <a:rPr kumimoji="1" lang="en-US" altLang="ko-KR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→ 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실용 불가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1AB2A1F0-C35E-39E6-4035-C99E8767400B}"/>
              </a:ext>
            </a:extLst>
          </p:cNvPr>
          <p:cNvSpPr/>
          <p:nvPr/>
        </p:nvSpPr>
        <p:spPr>
          <a:xfrm>
            <a:off x="6649614" y="3545324"/>
            <a:ext cx="4892263" cy="10122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ko-KR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 </a:t>
            </a:r>
            <a:r>
              <a:rPr kumimoji="1" lang="ko-KR" altLang="en-US" sz="1600" b="1" dirty="0" err="1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</a:t>
            </a:r>
            <a:r>
              <a:rPr kumimoji="1" lang="ko-KR" altLang="en-US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발전</a:t>
            </a:r>
            <a:r>
              <a:rPr kumimoji="1" lang="en-US" altLang="ko-KR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(2012~17)</a:t>
            </a:r>
            <a:endParaRPr kumimoji="1" lang="en-US" altLang="ko-KR" sz="16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>
              <a:lnSpc>
                <a:spcPct val="130000"/>
              </a:lnSpc>
            </a:pPr>
            <a:r>
              <a:rPr kumimoji="1" lang="ko-KR" altLang="en-US" sz="1200" dirty="0" err="1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부트스트래핑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en-US" altLang="ko-KR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초 이하 달성</a:t>
            </a:r>
            <a:r>
              <a:rPr kumimoji="1" lang="en-US" altLang="ko-KR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(TFHE)</a:t>
            </a:r>
          </a:p>
          <a:p>
            <a:pPr algn="ctr">
              <a:lnSpc>
                <a:spcPct val="130000"/>
              </a:lnSpc>
            </a:pPr>
            <a:r>
              <a:rPr kumimoji="1" lang="en-US" altLang="ko-KR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BFV, BGV, CKKS 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 주요</a:t>
            </a:r>
            <a:r>
              <a:rPr kumimoji="1" lang="en-US" altLang="ko-KR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ko-KR" altLang="en-US" sz="1200" dirty="0" err="1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등장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30F8004C-6B25-8FAA-9114-DD159799928A}"/>
              </a:ext>
            </a:extLst>
          </p:cNvPr>
          <p:cNvSpPr/>
          <p:nvPr/>
        </p:nvSpPr>
        <p:spPr>
          <a:xfrm>
            <a:off x="6664068" y="4846167"/>
            <a:ext cx="4892263" cy="10122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kumimoji="1" lang="ko-KR" altLang="en-US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실용화 기술 연구</a:t>
            </a:r>
            <a:r>
              <a:rPr kumimoji="1" lang="en-US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(2021~)</a:t>
            </a:r>
          </a:p>
          <a:p>
            <a:pPr algn="ctr">
              <a:lnSpc>
                <a:spcPct val="130000"/>
              </a:lnSpc>
            </a:pP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GPU 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가속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FHE 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전용 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ASIC 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개발 등 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HW 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기술 발전</a:t>
            </a:r>
            <a:endParaRPr kumimoji="1"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→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실시간 처리 진입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일부 영역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kumimoji="1" lang="ko-KR" altLang="en-US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5" name="오른쪽 화살표[R] 14">
            <a:extLst>
              <a:ext uri="{FF2B5EF4-FFF2-40B4-BE49-F238E27FC236}">
                <a16:creationId xmlns:a16="http://schemas.microsoft.com/office/drawing/2014/main" id="{9DB34EAF-F326-EF07-FEB2-4E769C079222}"/>
              </a:ext>
            </a:extLst>
          </p:cNvPr>
          <p:cNvSpPr/>
          <p:nvPr/>
        </p:nvSpPr>
        <p:spPr>
          <a:xfrm rot="5400000">
            <a:off x="8987695" y="3281598"/>
            <a:ext cx="216103" cy="242790"/>
          </a:xfrm>
          <a:prstGeom prst="rightArrow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E1FB13AC-EFAF-FA1A-84A1-9A4D1E56444D}"/>
              </a:ext>
            </a:extLst>
          </p:cNvPr>
          <p:cNvSpPr/>
          <p:nvPr/>
        </p:nvSpPr>
        <p:spPr>
          <a:xfrm rot="5400000">
            <a:off x="8987695" y="4584496"/>
            <a:ext cx="216103" cy="242790"/>
          </a:xfrm>
          <a:prstGeom prst="rightArrow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DC4DAD75-DB8B-3ED2-1519-5D119BAB284A}"/>
              </a:ext>
            </a:extLst>
          </p:cNvPr>
          <p:cNvSpPr txBox="1">
            <a:spLocks/>
          </p:cNvSpPr>
          <p:nvPr/>
        </p:nvSpPr>
        <p:spPr>
          <a:xfrm>
            <a:off x="1438666" y="1934120"/>
            <a:ext cx="3412082" cy="48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동형암호가 필요한 이유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2C222BF4-828A-7BD6-EBE2-00E636BCA798}"/>
              </a:ext>
            </a:extLst>
          </p:cNvPr>
          <p:cNvSpPr txBox="1">
            <a:spLocks/>
          </p:cNvSpPr>
          <p:nvPr/>
        </p:nvSpPr>
        <p:spPr>
          <a:xfrm>
            <a:off x="7432393" y="1934120"/>
            <a:ext cx="3501461" cy="686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기술 발전 흐름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D08870-910B-46BD-3252-CEB165793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6918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3F970-60F7-B22D-6B40-A64E4F783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B48EA-E09B-5044-8D41-D788B859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연구과제의 필요성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A0F0B3-C510-FD48-D483-D7AD14DE7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146" y="1149092"/>
            <a:ext cx="11819518" cy="5382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발전</a:t>
            </a:r>
            <a:r>
              <a:rPr lang="en-US" altLang="ko-KR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양자 컴퓨터 위협</a:t>
            </a:r>
            <a:r>
              <a:rPr lang="en-US" altLang="ko-KR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규제 강화로</a:t>
            </a: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도입 필요성 증가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893C3F3B-C645-AC46-7AAE-CD030EE25966}"/>
              </a:ext>
            </a:extLst>
          </p:cNvPr>
          <p:cNvSpPr txBox="1">
            <a:spLocks/>
          </p:cNvSpPr>
          <p:nvPr/>
        </p:nvSpPr>
        <p:spPr>
          <a:xfrm>
            <a:off x="411164" y="1796901"/>
            <a:ext cx="5368534" cy="4652025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ko-KR" altLang="en-US" sz="22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350314CA-5EC3-7595-5854-AB00A68F0211}"/>
              </a:ext>
            </a:extLst>
          </p:cNvPr>
          <p:cNvSpPr txBox="1">
            <a:spLocks/>
          </p:cNvSpPr>
          <p:nvPr/>
        </p:nvSpPr>
        <p:spPr>
          <a:xfrm>
            <a:off x="6411546" y="1796901"/>
            <a:ext cx="5368534" cy="4652025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ko-KR" altLang="en-US" sz="22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01535C4F-62F7-BB41-707C-4817F099396C}"/>
              </a:ext>
            </a:extLst>
          </p:cNvPr>
          <p:cNvSpPr txBox="1">
            <a:spLocks/>
          </p:cNvSpPr>
          <p:nvPr/>
        </p:nvSpPr>
        <p:spPr>
          <a:xfrm>
            <a:off x="6809917" y="5976143"/>
            <a:ext cx="4746414" cy="416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이론 </a:t>
            </a:r>
            <a:r>
              <a:rPr lang="en-US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연구 단계를 지나</a:t>
            </a:r>
            <a:r>
              <a:rPr lang="en-US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응용</a:t>
            </a:r>
            <a:r>
              <a:rPr lang="ko-KR" altLang="en-US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실증 </a:t>
            </a:r>
            <a:r>
              <a:rPr lang="ko-KR" altLang="en-US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단계 진입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23B35641-FA56-153C-9C6C-A6AA83F077F9}"/>
              </a:ext>
            </a:extLst>
          </p:cNvPr>
          <p:cNvSpPr txBox="1">
            <a:spLocks/>
          </p:cNvSpPr>
          <p:nvPr/>
        </p:nvSpPr>
        <p:spPr>
          <a:xfrm>
            <a:off x="460440" y="2457691"/>
            <a:ext cx="5368534" cy="411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발전</a:t>
            </a:r>
            <a:endParaRPr lang="en-US" altLang="ko-KR" sz="20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의료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금융 등 </a:t>
            </a:r>
            <a:r>
              <a:rPr lang="ko-KR" altLang="ko-KR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민감 데이터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기반 AI 분석 수요 증가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모델 학습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추론을 위한 </a:t>
            </a:r>
            <a:r>
              <a:rPr lang="ko-KR" altLang="en-US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다기관 결합 분석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필요성 증가</a:t>
            </a:r>
            <a:endParaRPr lang="en-US" altLang="ko-KR" sz="1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2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양자 컴퓨터 위협</a:t>
            </a:r>
            <a:endParaRPr lang="en-US" altLang="ko-KR" sz="20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양자 컴퓨터 발전으로 </a:t>
            </a:r>
            <a:r>
              <a:rPr lang="ko-KR" altLang="ko-KR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레거시 암호</a:t>
            </a:r>
            <a:r>
              <a:rPr lang="ko-KR" altLang="en-US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체계</a:t>
            </a:r>
            <a:r>
              <a:rPr lang="ko-KR" altLang="ko-KR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(RSA·ECC) 위협</a:t>
            </a:r>
            <a:endParaRPr lang="en-US" altLang="ko-KR" sz="1400" dirty="0">
              <a:highlight>
                <a:srgbClr val="FFFF00"/>
              </a:highligh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주요 FHE </a:t>
            </a:r>
            <a:r>
              <a:rPr lang="ko-KR" altLang="ko-KR" sz="1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스킴은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격자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기반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LWE/RLWE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</a:t>
            </a:r>
            <a:r>
              <a:rPr lang="ko-KR" altLang="en-US" sz="1400" dirty="0" err="1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양자내성</a:t>
            </a:r>
            <a:r>
              <a:rPr lang="ko-KR" altLang="en-US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확보</a:t>
            </a:r>
            <a:endParaRPr lang="en-US" altLang="ko-KR" sz="100" dirty="0">
              <a:highlight>
                <a:srgbClr val="FFFF00"/>
              </a:highligh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endParaRPr lang="en-US" altLang="ko-KR" sz="12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en-US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규제 강화</a:t>
            </a:r>
            <a:endParaRPr lang="en-US" altLang="ko-KR" sz="20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EU AI </a:t>
            </a:r>
            <a:r>
              <a:rPr lang="ko-KR" altLang="ko-KR" sz="1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Act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발효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(2024.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8)</a:t>
            </a:r>
            <a:endParaRPr lang="en-US" altLang="ko-KR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국내 개인정보 전송요구권 제도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시행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(2025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.03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endParaRPr lang="en-US" altLang="ko-KR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D38A44E6-7B81-B19C-3DE6-5ACA9DA560CA}"/>
              </a:ext>
            </a:extLst>
          </p:cNvPr>
          <p:cNvSpPr/>
          <p:nvPr/>
        </p:nvSpPr>
        <p:spPr>
          <a:xfrm>
            <a:off x="6664070" y="2415579"/>
            <a:ext cx="4892261" cy="84103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ko-KR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 </a:t>
            </a:r>
            <a:r>
              <a:rPr kumimoji="1" lang="ko-KR" altLang="en-US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첫 등장</a:t>
            </a:r>
            <a:r>
              <a:rPr kumimoji="1" lang="en-US" altLang="ko-KR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(2009)</a:t>
            </a:r>
            <a:endParaRPr kumimoji="1" lang="en-US" altLang="ko-KR" sz="14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sz="1200" dirty="0" err="1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부트스트래핑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최대 수십 분 </a:t>
            </a:r>
            <a:r>
              <a:rPr kumimoji="1" lang="en-US" altLang="ko-KR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→ 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실용 불가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7B72ED9-F003-4DB2-DA40-DA05AEADBAB3}"/>
              </a:ext>
            </a:extLst>
          </p:cNvPr>
          <p:cNvSpPr/>
          <p:nvPr/>
        </p:nvSpPr>
        <p:spPr>
          <a:xfrm>
            <a:off x="6649614" y="3545324"/>
            <a:ext cx="4892263" cy="10122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ko-KR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 </a:t>
            </a:r>
            <a:r>
              <a:rPr kumimoji="1" lang="ko-KR" altLang="en-US" sz="1600" b="1" dirty="0" err="1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</a:t>
            </a:r>
            <a:r>
              <a:rPr kumimoji="1" lang="ko-KR" altLang="en-US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발전</a:t>
            </a:r>
            <a:r>
              <a:rPr kumimoji="1" lang="en-US" altLang="ko-KR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(2012~17)</a:t>
            </a:r>
            <a:endParaRPr kumimoji="1" lang="en-US" altLang="ko-KR" sz="16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>
              <a:lnSpc>
                <a:spcPct val="130000"/>
              </a:lnSpc>
            </a:pPr>
            <a:r>
              <a:rPr kumimoji="1" lang="ko-KR" altLang="en-US" sz="1200" dirty="0" err="1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부트스트래핑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en-US" altLang="ko-KR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초 이하 달성</a:t>
            </a:r>
            <a:r>
              <a:rPr kumimoji="1" lang="en-US" altLang="ko-KR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(TFHE)</a:t>
            </a:r>
          </a:p>
          <a:p>
            <a:pPr algn="ctr">
              <a:lnSpc>
                <a:spcPct val="130000"/>
              </a:lnSpc>
            </a:pPr>
            <a:r>
              <a:rPr kumimoji="1" lang="en-US" altLang="ko-KR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BFV, BGV, CKKS 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 주요</a:t>
            </a:r>
            <a:r>
              <a:rPr kumimoji="1" lang="en-US" altLang="ko-KR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ko-KR" altLang="en-US" sz="1200" dirty="0" err="1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등장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C02CF8EE-D192-6636-F414-358BB4CFB0C5}"/>
              </a:ext>
            </a:extLst>
          </p:cNvPr>
          <p:cNvSpPr/>
          <p:nvPr/>
        </p:nvSpPr>
        <p:spPr>
          <a:xfrm>
            <a:off x="6664068" y="4846167"/>
            <a:ext cx="4892263" cy="10122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kumimoji="1" lang="ko-KR" altLang="en-US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실용화 기술 연구</a:t>
            </a:r>
            <a:r>
              <a:rPr kumimoji="1" lang="en-US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(2021~)</a:t>
            </a:r>
          </a:p>
          <a:p>
            <a:pPr algn="ctr">
              <a:lnSpc>
                <a:spcPct val="130000"/>
              </a:lnSpc>
            </a:pP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GPU 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가속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FHE 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전용 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ASIC 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개발 등 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HW 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기술 발전</a:t>
            </a:r>
            <a:endParaRPr kumimoji="1"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→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실시간 처리 진입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일부 영역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kumimoji="1" lang="ko-KR" altLang="en-US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5" name="오른쪽 화살표[R] 14">
            <a:extLst>
              <a:ext uri="{FF2B5EF4-FFF2-40B4-BE49-F238E27FC236}">
                <a16:creationId xmlns:a16="http://schemas.microsoft.com/office/drawing/2014/main" id="{B7C4BDF7-0BAD-2E31-FEC3-59FAFBCABB23}"/>
              </a:ext>
            </a:extLst>
          </p:cNvPr>
          <p:cNvSpPr/>
          <p:nvPr/>
        </p:nvSpPr>
        <p:spPr>
          <a:xfrm rot="5400000">
            <a:off x="8987695" y="3281598"/>
            <a:ext cx="216103" cy="242790"/>
          </a:xfrm>
          <a:prstGeom prst="rightArrow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C436A90B-E947-8A92-1D6E-EBA3FE6ABCB4}"/>
              </a:ext>
            </a:extLst>
          </p:cNvPr>
          <p:cNvSpPr/>
          <p:nvPr/>
        </p:nvSpPr>
        <p:spPr>
          <a:xfrm rot="5400000">
            <a:off x="8987695" y="4584496"/>
            <a:ext cx="216103" cy="242790"/>
          </a:xfrm>
          <a:prstGeom prst="rightArrow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285EFECD-B450-7921-CA09-16A8B52299FC}"/>
              </a:ext>
            </a:extLst>
          </p:cNvPr>
          <p:cNvSpPr txBox="1">
            <a:spLocks/>
          </p:cNvSpPr>
          <p:nvPr/>
        </p:nvSpPr>
        <p:spPr>
          <a:xfrm>
            <a:off x="1438666" y="1934120"/>
            <a:ext cx="3412082" cy="48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동형암호가 필요한 이유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0EBF2EB1-FE0D-7767-913B-E6C633D15469}"/>
              </a:ext>
            </a:extLst>
          </p:cNvPr>
          <p:cNvSpPr txBox="1">
            <a:spLocks/>
          </p:cNvSpPr>
          <p:nvPr/>
        </p:nvSpPr>
        <p:spPr>
          <a:xfrm>
            <a:off x="7432393" y="1934120"/>
            <a:ext cx="3501461" cy="686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기술 발전 흐름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6FEB34-91BB-037D-5A1D-803501D407FE}"/>
              </a:ext>
            </a:extLst>
          </p:cNvPr>
          <p:cNvSpPr/>
          <p:nvPr/>
        </p:nvSpPr>
        <p:spPr>
          <a:xfrm>
            <a:off x="-78377" y="-104775"/>
            <a:ext cx="12357463" cy="5556342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91213CB-8B1D-D6B8-08B5-8AD5BDAA45F6}"/>
              </a:ext>
            </a:extLst>
          </p:cNvPr>
          <p:cNvSpPr/>
          <p:nvPr/>
        </p:nvSpPr>
        <p:spPr>
          <a:xfrm>
            <a:off x="2795619" y="5451567"/>
            <a:ext cx="9483467" cy="141821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7B448B-6A60-1F9C-5FA2-0ED36D604AAD}"/>
              </a:ext>
            </a:extLst>
          </p:cNvPr>
          <p:cNvSpPr/>
          <p:nvPr/>
        </p:nvSpPr>
        <p:spPr>
          <a:xfrm>
            <a:off x="-87086" y="5858387"/>
            <a:ext cx="2882705" cy="101139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52DED9-3261-19BE-E04E-215677091630}"/>
              </a:ext>
            </a:extLst>
          </p:cNvPr>
          <p:cNvSpPr txBox="1"/>
          <p:nvPr/>
        </p:nvSpPr>
        <p:spPr>
          <a:xfrm>
            <a:off x="411164" y="15860"/>
            <a:ext cx="799166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EU AI Act (EU </a:t>
            </a:r>
            <a:r>
              <a:rPr lang="ko-KR" altLang="en-US" sz="2400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인공지능 규제법</a:t>
            </a:r>
            <a:r>
              <a:rPr lang="en-US" altLang="ko-KR" sz="2400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endParaRPr lang="en-US" altLang="ko-KR" sz="20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유럽연합</a:t>
            </a:r>
            <a:r>
              <a:rPr lang="en-US" altLang="ko-KR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(EU)</a:t>
            </a:r>
            <a:r>
              <a:rPr lang="ko-KR" altLang="en-US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 세계 최초 포괄적 </a:t>
            </a:r>
            <a:r>
              <a:rPr lang="en-US" altLang="ko-KR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규제 체계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위험도</a:t>
            </a:r>
            <a:r>
              <a:rPr lang="en-US" altLang="ko-KR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(Risk-Based Approach)</a:t>
            </a:r>
            <a:r>
              <a:rPr lang="ko-KR" altLang="en-US" sz="20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따라 차등 규제 적용</a:t>
            </a:r>
            <a:endParaRPr lang="en-US" altLang="ko-KR" sz="20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ko-KR" altLang="en-US" sz="20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BEBC1694-1824-1B0B-3802-EA93F9EB1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802582"/>
              </p:ext>
            </p:extLst>
          </p:nvPr>
        </p:nvGraphicFramePr>
        <p:xfrm>
          <a:off x="242756" y="1443419"/>
          <a:ext cx="11471470" cy="182880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2989079">
                  <a:extLst>
                    <a:ext uri="{9D8B030D-6E8A-4147-A177-3AD203B41FA5}">
                      <a16:colId xmlns:a16="http://schemas.microsoft.com/office/drawing/2014/main" val="1264708036"/>
                    </a:ext>
                  </a:extLst>
                </a:gridCol>
                <a:gridCol w="4448725">
                  <a:extLst>
                    <a:ext uri="{9D8B030D-6E8A-4147-A177-3AD203B41FA5}">
                      <a16:colId xmlns:a16="http://schemas.microsoft.com/office/drawing/2014/main" val="2628571121"/>
                    </a:ext>
                  </a:extLst>
                </a:gridCol>
                <a:gridCol w="4033666">
                  <a:extLst>
                    <a:ext uri="{9D8B030D-6E8A-4147-A177-3AD203B41FA5}">
                      <a16:colId xmlns:a16="http://schemas.microsoft.com/office/drawing/2014/main" val="27907423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위험 수준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주요 사례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규제 수준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570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Unacceptable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사회적 점수화, 일부 실시간 얼굴인식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사용 금지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6194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High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의료·금융·채용·국가</a:t>
                      </a:r>
                      <a:r>
                        <a:rPr 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인프라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강력 규제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607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Limited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챗봇·생성형</a:t>
                      </a:r>
                      <a:r>
                        <a:rPr 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투명성 의무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3854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Minimal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게임·추천 시스템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최소 규제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6050794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FE935554-C58B-71BC-928E-BE812BB75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530614"/>
              </p:ext>
            </p:extLst>
          </p:nvPr>
        </p:nvGraphicFramePr>
        <p:xfrm>
          <a:off x="4107750" y="3557125"/>
          <a:ext cx="7623810" cy="292608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633855">
                  <a:extLst>
                    <a:ext uri="{9D8B030D-6E8A-4147-A177-3AD203B41FA5}">
                      <a16:colId xmlns:a16="http://schemas.microsoft.com/office/drawing/2014/main" val="3917540339"/>
                    </a:ext>
                  </a:extLst>
                </a:gridCol>
                <a:gridCol w="5989955">
                  <a:extLst>
                    <a:ext uri="{9D8B030D-6E8A-4147-A177-3AD203B41FA5}">
                      <a16:colId xmlns:a16="http://schemas.microsoft.com/office/drawing/2014/main" val="3477364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주요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08268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주요 요구사항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위험 관리 및 데이터 품질 검증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18776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로그·추적성·Human Oversight 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0667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설명 가능성 및 사이버보안 강화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54266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생성형 AI 워터마킹·저작권 공개 의무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1508264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시사점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AI 보안·인증·감사 체계 중요성 증가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27665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AI 공급망 및 Adversarial Attack 대응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556775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GDPR·CRA·NIST AI RMF 등 글로벌 규제와 연계 확대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814517"/>
                  </a:ext>
                </a:extLst>
              </a:tr>
            </a:tbl>
          </a:graphicData>
        </a:graphic>
      </p:graphicFrame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E064C581-CCA2-D290-880F-C3A0AD214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9866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F0017-A57D-EF5C-8CA0-E8A8A8EA7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22CA5-A6AD-2BC9-9293-F1726121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연구과제의 필요성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945E26-809F-376D-201A-2BD81ECA0A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146" y="1149092"/>
            <a:ext cx="11819518" cy="5382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발전</a:t>
            </a:r>
            <a:r>
              <a:rPr lang="en-US" altLang="ko-KR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양자 컴퓨터 위협</a:t>
            </a:r>
            <a:r>
              <a:rPr lang="en-US" altLang="ko-KR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규제 강화로</a:t>
            </a: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도입 필요성 증가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0426AF13-09D6-8BFD-48F5-BA43A0F38FE5}"/>
              </a:ext>
            </a:extLst>
          </p:cNvPr>
          <p:cNvSpPr txBox="1">
            <a:spLocks/>
          </p:cNvSpPr>
          <p:nvPr/>
        </p:nvSpPr>
        <p:spPr>
          <a:xfrm>
            <a:off x="411164" y="1796901"/>
            <a:ext cx="5368534" cy="4652025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ko-KR" altLang="en-US" sz="22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4CD64D3C-0C3B-409F-43D2-6C216711FD4E}"/>
              </a:ext>
            </a:extLst>
          </p:cNvPr>
          <p:cNvSpPr txBox="1">
            <a:spLocks/>
          </p:cNvSpPr>
          <p:nvPr/>
        </p:nvSpPr>
        <p:spPr>
          <a:xfrm>
            <a:off x="6411546" y="1796901"/>
            <a:ext cx="5368534" cy="4652025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ko-KR" altLang="en-US" sz="22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2326291C-F317-E689-A081-02F02E2F12EB}"/>
              </a:ext>
            </a:extLst>
          </p:cNvPr>
          <p:cNvSpPr txBox="1">
            <a:spLocks/>
          </p:cNvSpPr>
          <p:nvPr/>
        </p:nvSpPr>
        <p:spPr>
          <a:xfrm>
            <a:off x="6809917" y="5976143"/>
            <a:ext cx="4746414" cy="416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이론 </a:t>
            </a:r>
            <a:r>
              <a:rPr lang="en-US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연구 단계를 지나</a:t>
            </a:r>
            <a:r>
              <a:rPr lang="en-US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응용</a:t>
            </a:r>
            <a:r>
              <a:rPr lang="ko-KR" altLang="en-US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실증 </a:t>
            </a:r>
            <a:r>
              <a:rPr lang="ko-KR" altLang="en-US" sz="18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단계 진입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8C2E5AFB-D2D9-CCDF-3949-B359010E433B}"/>
              </a:ext>
            </a:extLst>
          </p:cNvPr>
          <p:cNvSpPr txBox="1">
            <a:spLocks/>
          </p:cNvSpPr>
          <p:nvPr/>
        </p:nvSpPr>
        <p:spPr>
          <a:xfrm>
            <a:off x="460440" y="2457691"/>
            <a:ext cx="5368534" cy="411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발전</a:t>
            </a:r>
            <a:endParaRPr lang="en-US" altLang="ko-KR" sz="20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의료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금융 등 </a:t>
            </a:r>
            <a:r>
              <a:rPr lang="ko-KR" altLang="ko-KR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민감 데이터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기반 AI 분석 수요 증가</a:t>
            </a:r>
            <a:endParaRPr lang="ko-KR" altLang="en-US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모델 학습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추론을 위한 </a:t>
            </a:r>
            <a:r>
              <a:rPr lang="ko-KR" altLang="en-US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다기관 결합 분석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필요성 증가</a:t>
            </a:r>
            <a:endParaRPr lang="en-US" altLang="ko-KR" sz="1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2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양자 컴퓨터 위협</a:t>
            </a:r>
            <a:endParaRPr lang="en-US" altLang="ko-KR" sz="20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양자 컴퓨터 발전으로 </a:t>
            </a:r>
            <a:r>
              <a:rPr lang="ko-KR" altLang="ko-KR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레거시 암호</a:t>
            </a:r>
            <a:r>
              <a:rPr lang="ko-KR" altLang="en-US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체계</a:t>
            </a:r>
            <a:r>
              <a:rPr lang="ko-KR" altLang="ko-KR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(RSA·ECC) 위협</a:t>
            </a:r>
            <a:endParaRPr lang="en-US" altLang="ko-KR" sz="1400" dirty="0">
              <a:highlight>
                <a:srgbClr val="FFFF00"/>
              </a:highligh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주요 FHE </a:t>
            </a:r>
            <a:r>
              <a:rPr lang="ko-KR" altLang="ko-KR" sz="1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스킴은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격자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기반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LWE/RLWE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</a:t>
            </a:r>
            <a:r>
              <a:rPr lang="ko-KR" altLang="en-US" sz="1400" dirty="0" err="1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양자내성</a:t>
            </a:r>
            <a:r>
              <a:rPr lang="ko-KR" altLang="en-US" sz="1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확보</a:t>
            </a:r>
            <a:endParaRPr lang="en-US" altLang="ko-KR" sz="100" dirty="0">
              <a:highlight>
                <a:srgbClr val="FFFF00"/>
              </a:highligh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endParaRPr lang="en-US" altLang="ko-KR" sz="12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en-US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규제 강화</a:t>
            </a:r>
            <a:endParaRPr lang="en-US" altLang="ko-KR" sz="2000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EU AI </a:t>
            </a:r>
            <a:r>
              <a:rPr lang="ko-KR" altLang="ko-KR" sz="1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Act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발효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(2024.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0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8)</a:t>
            </a:r>
            <a:endParaRPr lang="en-US" altLang="ko-KR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ko-KR" altLang="en-US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국내 개인정보 전송요구권 제도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시행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(2025</a:t>
            </a:r>
            <a:r>
              <a:rPr lang="en-US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.03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endParaRPr lang="en-US" altLang="ko-KR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8C34A87-51BE-D352-3550-6719394A991F}"/>
              </a:ext>
            </a:extLst>
          </p:cNvPr>
          <p:cNvSpPr/>
          <p:nvPr/>
        </p:nvSpPr>
        <p:spPr>
          <a:xfrm>
            <a:off x="6664070" y="2415579"/>
            <a:ext cx="4892261" cy="84103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ko-KR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 </a:t>
            </a:r>
            <a:r>
              <a:rPr kumimoji="1" lang="ko-KR" altLang="en-US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첫 등장</a:t>
            </a:r>
            <a:r>
              <a:rPr kumimoji="1" lang="en-US" altLang="ko-KR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(2009)</a:t>
            </a:r>
            <a:endParaRPr kumimoji="1" lang="en-US" altLang="ko-KR" sz="14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sz="1200" dirty="0" err="1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부트스트래핑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최대 수십 분 </a:t>
            </a:r>
            <a:r>
              <a:rPr kumimoji="1" lang="en-US" altLang="ko-KR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→ 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실용 불가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01AD9268-3B54-D7C1-467F-8F222D96C674}"/>
              </a:ext>
            </a:extLst>
          </p:cNvPr>
          <p:cNvSpPr/>
          <p:nvPr/>
        </p:nvSpPr>
        <p:spPr>
          <a:xfrm>
            <a:off x="6649614" y="3545324"/>
            <a:ext cx="4892263" cy="10122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ko-KR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 </a:t>
            </a:r>
            <a:r>
              <a:rPr kumimoji="1" lang="ko-KR" altLang="en-US" sz="1600" b="1" dirty="0" err="1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</a:t>
            </a:r>
            <a:r>
              <a:rPr kumimoji="1" lang="ko-KR" altLang="en-US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발전</a:t>
            </a:r>
            <a:r>
              <a:rPr kumimoji="1" lang="en-US" altLang="ko-KR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(2012~17)</a:t>
            </a:r>
            <a:endParaRPr kumimoji="1" lang="en-US" altLang="ko-KR" sz="16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>
              <a:lnSpc>
                <a:spcPct val="130000"/>
              </a:lnSpc>
            </a:pPr>
            <a:r>
              <a:rPr kumimoji="1" lang="ko-KR" altLang="en-US" sz="1200" dirty="0" err="1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부트스트래핑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en-US" altLang="ko-KR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초 이하 달성</a:t>
            </a:r>
            <a:r>
              <a:rPr kumimoji="1" lang="en-US" altLang="ko-KR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(TFHE)</a:t>
            </a:r>
          </a:p>
          <a:p>
            <a:pPr algn="ctr">
              <a:lnSpc>
                <a:spcPct val="130000"/>
              </a:lnSpc>
            </a:pPr>
            <a:r>
              <a:rPr kumimoji="1" lang="en-US" altLang="ko-KR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BFV, BGV, CKKS 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 주요</a:t>
            </a:r>
            <a:r>
              <a:rPr kumimoji="1" lang="en-US" altLang="ko-KR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ko-KR" altLang="en-US" sz="1200" dirty="0" err="1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</a:t>
            </a:r>
            <a:r>
              <a:rPr kumimoji="1" lang="ko-KR" altLang="en-US" sz="12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등장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4870CA17-EEBB-4B85-0D77-D0DBE50E1058}"/>
              </a:ext>
            </a:extLst>
          </p:cNvPr>
          <p:cNvSpPr/>
          <p:nvPr/>
        </p:nvSpPr>
        <p:spPr>
          <a:xfrm>
            <a:off x="6664068" y="4846167"/>
            <a:ext cx="4892263" cy="10122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kumimoji="1" lang="ko-KR" altLang="en-US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실용화 기술 연구</a:t>
            </a:r>
            <a:r>
              <a:rPr kumimoji="1" lang="en-US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(2021~)</a:t>
            </a:r>
          </a:p>
          <a:p>
            <a:pPr algn="ctr">
              <a:lnSpc>
                <a:spcPct val="130000"/>
              </a:lnSpc>
            </a:pP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GPU 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가속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FHE 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전용 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ASIC 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개발 등 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HW 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기술 발전</a:t>
            </a:r>
            <a:endParaRPr kumimoji="1"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→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실시간 처리 진입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kumimoji="1"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일부 영역</a:t>
            </a:r>
            <a:r>
              <a:rPr kumimoji="1"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kumimoji="1" lang="ko-KR" altLang="en-US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5" name="오른쪽 화살표[R] 14">
            <a:extLst>
              <a:ext uri="{FF2B5EF4-FFF2-40B4-BE49-F238E27FC236}">
                <a16:creationId xmlns:a16="http://schemas.microsoft.com/office/drawing/2014/main" id="{6EC35EF1-6F4E-5422-08F3-F3441D450F6B}"/>
              </a:ext>
            </a:extLst>
          </p:cNvPr>
          <p:cNvSpPr/>
          <p:nvPr/>
        </p:nvSpPr>
        <p:spPr>
          <a:xfrm rot="5400000">
            <a:off x="8987695" y="3281598"/>
            <a:ext cx="216103" cy="242790"/>
          </a:xfrm>
          <a:prstGeom prst="rightArrow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F65B1D57-AC51-87A1-DB77-11DA456E13D5}"/>
              </a:ext>
            </a:extLst>
          </p:cNvPr>
          <p:cNvSpPr/>
          <p:nvPr/>
        </p:nvSpPr>
        <p:spPr>
          <a:xfrm rot="5400000">
            <a:off x="8987695" y="4584496"/>
            <a:ext cx="216103" cy="242790"/>
          </a:xfrm>
          <a:prstGeom prst="rightArrow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29007C77-EA12-6E01-A6D7-C788DB989A62}"/>
              </a:ext>
            </a:extLst>
          </p:cNvPr>
          <p:cNvSpPr txBox="1">
            <a:spLocks/>
          </p:cNvSpPr>
          <p:nvPr/>
        </p:nvSpPr>
        <p:spPr>
          <a:xfrm>
            <a:off x="1438666" y="1934120"/>
            <a:ext cx="3412082" cy="48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동형암호가 필요한 이유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177FB02D-91CB-9BC1-4EB3-39909C6634D4}"/>
              </a:ext>
            </a:extLst>
          </p:cNvPr>
          <p:cNvSpPr txBox="1">
            <a:spLocks/>
          </p:cNvSpPr>
          <p:nvPr/>
        </p:nvSpPr>
        <p:spPr>
          <a:xfrm>
            <a:off x="7432393" y="1934120"/>
            <a:ext cx="3501461" cy="686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기술 발전 흐름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54A0A1-794B-B7FA-2423-DA3206B77778}"/>
              </a:ext>
            </a:extLst>
          </p:cNvPr>
          <p:cNvSpPr/>
          <p:nvPr/>
        </p:nvSpPr>
        <p:spPr>
          <a:xfrm>
            <a:off x="-78377" y="-104776"/>
            <a:ext cx="12357463" cy="5928491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D402F60-70B0-9797-B795-1B9B165E33E6}"/>
              </a:ext>
            </a:extLst>
          </p:cNvPr>
          <p:cNvSpPr/>
          <p:nvPr/>
        </p:nvSpPr>
        <p:spPr>
          <a:xfrm>
            <a:off x="4343400" y="5823715"/>
            <a:ext cx="7935686" cy="1046068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FA1DE3E-AACE-264B-A695-2CEC83D1B290}"/>
              </a:ext>
            </a:extLst>
          </p:cNvPr>
          <p:cNvSpPr/>
          <p:nvPr/>
        </p:nvSpPr>
        <p:spPr>
          <a:xfrm>
            <a:off x="-87086" y="6123133"/>
            <a:ext cx="4430486" cy="746649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3A2216-D7D7-2B3C-A363-2F1097569B50}"/>
              </a:ext>
            </a:extLst>
          </p:cNvPr>
          <p:cNvSpPr txBox="1"/>
          <p:nvPr/>
        </p:nvSpPr>
        <p:spPr>
          <a:xfrm>
            <a:off x="411164" y="15860"/>
            <a:ext cx="117025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국내 개인정보 전송요구권 제도 시행 </a:t>
            </a:r>
            <a:r>
              <a:rPr lang="en-US" altLang="ko-KR" sz="2400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(2025. 03)</a:t>
            </a:r>
          </a:p>
          <a:p>
            <a:endParaRPr lang="en-US" altLang="ko-KR" sz="2400" b="1" dirty="0">
              <a:highlight>
                <a:srgbClr val="FFFF00"/>
              </a:highligh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2400" b="1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개요</a:t>
            </a:r>
            <a:endParaRPr lang="en-US" altLang="ko-KR" sz="2400" b="1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정보주체가 자신의 개인정보를 다른 </a:t>
            </a:r>
            <a:r>
              <a:rPr lang="ko-KR" altLang="ko-KR" dirty="0" err="1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기관·서비스로</a:t>
            </a:r>
            <a:r>
              <a:rPr lang="ko-KR" altLang="ko-KR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직접 전송 요청할 수 있는 제도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「개인정보 보호법」 개정에 따라 2025년 3월 시행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 err="1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마이데이터</a:t>
            </a:r>
            <a:r>
              <a:rPr lang="ko-KR" altLang="ko-KR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ko-KR" dirty="0" err="1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MyData</a:t>
            </a:r>
            <a:r>
              <a:rPr lang="ko-KR" altLang="ko-KR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 기반 데이터 </a:t>
            </a:r>
            <a:r>
              <a:rPr lang="ko-KR" altLang="ko-KR" dirty="0" err="1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이동권</a:t>
            </a:r>
            <a:r>
              <a:rPr lang="ko-KR" altLang="ko-KR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(Data </a:t>
            </a:r>
            <a:r>
              <a:rPr lang="ko-KR" altLang="ko-KR" dirty="0" err="1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Portability</a:t>
            </a:r>
            <a:r>
              <a:rPr lang="ko-KR" altLang="ko-KR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 강화 목적 </a:t>
            </a:r>
          </a:p>
          <a:p>
            <a:pPr lvl="1"/>
            <a:endParaRPr lang="ko-KR" altLang="en-US" sz="20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08B3584E-A82F-6F92-7924-1D909170E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049332"/>
              </p:ext>
            </p:extLst>
          </p:nvPr>
        </p:nvGraphicFramePr>
        <p:xfrm>
          <a:off x="670136" y="1947458"/>
          <a:ext cx="10718131" cy="201168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3080969">
                  <a:extLst>
                    <a:ext uri="{9D8B030D-6E8A-4147-A177-3AD203B41FA5}">
                      <a16:colId xmlns:a16="http://schemas.microsoft.com/office/drawing/2014/main" val="3133436067"/>
                    </a:ext>
                  </a:extLst>
                </a:gridCol>
                <a:gridCol w="7637162">
                  <a:extLst>
                    <a:ext uri="{9D8B030D-6E8A-4147-A177-3AD203B41FA5}">
                      <a16:colId xmlns:a16="http://schemas.microsoft.com/office/drawing/2014/main" val="1653385730"/>
                    </a:ext>
                  </a:extLst>
                </a:gridCol>
              </a:tblGrid>
              <a:tr h="1910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주요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122763"/>
                  </a:ext>
                </a:extLst>
              </a:tr>
              <a:tr h="1910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정보주체 권리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개인정보 전송 요구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85326"/>
                  </a:ext>
                </a:extLst>
              </a:tr>
              <a:tr h="1910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대상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본인 제공 정보 및 서비스 이용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534656"/>
                  </a:ext>
                </a:extLst>
              </a:tr>
              <a:tr h="1910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전송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정보주체 요청 기반 기관 간 직접 전송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7034052"/>
                  </a:ext>
                </a:extLst>
              </a:tr>
              <a:tr h="1910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목적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데이터 활용성·이동성·자기결정권 강화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053218"/>
                  </a:ext>
                </a:extLst>
              </a:tr>
              <a:tr h="1910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적용 분야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금융·의료·통신·플랫폼</a:t>
                      </a:r>
                      <a:r>
                        <a:rPr lang="ko-KR" sz="1600" dirty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 등 확대 예상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525505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D09F2D27-7070-11B2-A52B-C6DDE92EF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884624"/>
              </p:ext>
            </p:extLst>
          </p:nvPr>
        </p:nvGraphicFramePr>
        <p:xfrm>
          <a:off x="5450382" y="3893489"/>
          <a:ext cx="5937885" cy="350520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2119630">
                  <a:extLst>
                    <a:ext uri="{9D8B030D-6E8A-4147-A177-3AD203B41FA5}">
                      <a16:colId xmlns:a16="http://schemas.microsoft.com/office/drawing/2014/main" val="1969604521"/>
                    </a:ext>
                  </a:extLst>
                </a:gridCol>
                <a:gridCol w="3818255">
                  <a:extLst>
                    <a:ext uri="{9D8B030D-6E8A-4147-A177-3AD203B41FA5}">
                      <a16:colId xmlns:a16="http://schemas.microsoft.com/office/drawing/2014/main" val="878498604"/>
                    </a:ext>
                  </a:extLst>
                </a:gridCol>
              </a:tblGrid>
              <a:tr h="1233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주요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9937424"/>
                  </a:ext>
                </a:extLst>
              </a:tr>
              <a:tr h="12334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기대 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데이터 주권(Data Sovereignty) 강화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865892"/>
                  </a:ext>
                </a:extLst>
              </a:tr>
              <a:tr h="123344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sz="1600" dirty="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서비스 간 연계 및 맞춤형 서비스 활성화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897479"/>
                  </a:ext>
                </a:extLst>
              </a:tr>
              <a:tr h="123344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sz="1600" dirty="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플랫폼 종속 완화 및 경쟁 촉진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889580"/>
                  </a:ext>
                </a:extLst>
              </a:tr>
              <a:tr h="123344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sz="1600" dirty="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데이터 경제 및 AI 활용 기반 확대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5504307"/>
                  </a:ext>
                </a:extLst>
              </a:tr>
              <a:tr h="12334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보안·프라이버시</a:t>
                      </a:r>
                      <a:r>
                        <a:rPr lang="ko-KR" sz="1600" dirty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 이슈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개인정보 유출 및 오남용 위험 증가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674095"/>
                  </a:ext>
                </a:extLst>
              </a:tr>
              <a:tr h="123344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sz="16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인증·권한관리·암호화 중요성 확대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117364"/>
                  </a:ext>
                </a:extLst>
              </a:tr>
              <a:tr h="123344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sz="160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API 보안 및 데이터 무결성 검증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703401"/>
                  </a:ext>
                </a:extLst>
              </a:tr>
              <a:tr h="123344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ko-KR" sz="1600" dirty="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안전한 데이터 </a:t>
                      </a:r>
                      <a:r>
                        <a:rPr lang="ko-KR" sz="1600" dirty="0" err="1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전송·감사</a:t>
                      </a:r>
                      <a:r>
                        <a:rPr lang="ko-KR" sz="1600" dirty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 체계 요구 증가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148123"/>
                  </a:ext>
                </a:extLst>
              </a:tr>
            </a:tbl>
          </a:graphicData>
        </a:graphic>
      </p:graphicFrame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28C0D224-04E3-7E6D-FC1E-E296CA812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170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FF3731-4D8F-1F56-F7D0-26F339D8B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연구과제의 필요성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CB0F32-F8A5-EEA2-E956-544EC6AC7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795" y="1628103"/>
            <a:ext cx="2903425" cy="4060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모서리가 둥근 직사각형 9">
            <a:extLst>
              <a:ext uri="{FF2B5EF4-FFF2-40B4-BE49-F238E27FC236}">
                <a16:creationId xmlns:a16="http://schemas.microsoft.com/office/drawing/2014/main" id="{9A42EEE3-98AE-B82E-5E34-5B29CA172E3A}"/>
              </a:ext>
            </a:extLst>
          </p:cNvPr>
          <p:cNvSpPr/>
          <p:nvPr/>
        </p:nvSpPr>
        <p:spPr>
          <a:xfrm>
            <a:off x="5047245" y="1146215"/>
            <a:ext cx="6901798" cy="212386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ko-KR" altLang="en-US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기존 암호</a:t>
            </a:r>
            <a:r>
              <a:rPr kumimoji="1" lang="en-US" altLang="ko-KR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표준 이용 가이드 보유 </a:t>
            </a:r>
            <a:endParaRPr lang="en-US" altLang="ko-KR" sz="20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KISA </a:t>
            </a:r>
            <a:r>
              <a:rPr kumimoji="1" lang="ko-KR" altLang="en-US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안내서 주요 내용</a:t>
            </a:r>
            <a:endParaRPr kumimoji="1" lang="en-US" altLang="ko-KR" sz="16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보안강도별 권고 암호 알고리즘 </a:t>
            </a:r>
            <a:endParaRPr lang="en-US" altLang="ko-KR" sz="14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키 길이</a:t>
            </a:r>
            <a:r>
              <a:rPr lang="en-US" altLang="ko-KR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유효기간 선택 기준 </a:t>
            </a:r>
            <a:endParaRPr lang="en-US" altLang="ko-KR" sz="14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실무자 활용 예시</a:t>
            </a:r>
            <a:endParaRPr kumimoji="1" lang="en-US" altLang="ko-KR" sz="16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" name="모서리가 둥근 직사각형 9">
            <a:extLst>
              <a:ext uri="{FF2B5EF4-FFF2-40B4-BE49-F238E27FC236}">
                <a16:creationId xmlns:a16="http://schemas.microsoft.com/office/drawing/2014/main" id="{4CCFCCC7-B705-CB7A-3141-AAB366ECD940}"/>
              </a:ext>
            </a:extLst>
          </p:cNvPr>
          <p:cNvSpPr/>
          <p:nvPr/>
        </p:nvSpPr>
        <p:spPr>
          <a:xfrm>
            <a:off x="5047245" y="3490922"/>
            <a:ext cx="6901798" cy="235721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ko-KR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</a:t>
            </a:r>
            <a:r>
              <a:rPr kumimoji="1" lang="en-US" altLang="ko-KR" sz="2000" b="1" dirty="0">
                <a:solidFill>
                  <a:srgbClr val="FF0000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표준 이용 가이드 부재</a:t>
            </a:r>
            <a:endParaRPr kumimoji="1" lang="en-US" altLang="ko-KR" sz="2000" b="1" dirty="0">
              <a:solidFill>
                <a:schemeClr val="tx1"/>
              </a:solidFill>
              <a:highlight>
                <a:srgbClr val="FFFF00"/>
              </a:highligh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기존 자료 및 한계</a:t>
            </a:r>
            <a:endParaRPr kumimoji="1" lang="en-US" altLang="ko-KR" sz="16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HomomorphicEncryption.org Security Standard (2018): </a:t>
            </a: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비공식 표준</a:t>
            </a:r>
            <a:endParaRPr lang="en-US" altLang="ko-KR" sz="14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ISO/IEC 18033-6:2019: PHE </a:t>
            </a: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한정</a:t>
            </a:r>
            <a:r>
              <a:rPr lang="en-US" altLang="ko-KR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FHE </a:t>
            </a: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미포함</a:t>
            </a:r>
            <a:endParaRPr lang="en-US" altLang="ko-KR" sz="14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ISO/IEC 28033 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시리즈 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(DIS 28033-1 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): FHE 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표준화 진행 중</a:t>
            </a:r>
            <a:endParaRPr lang="en-US" altLang="ko-KR" sz="1400" dirty="0">
              <a:solidFill>
                <a:schemeClr val="tx1"/>
              </a:solidFill>
              <a:highlight>
                <a:srgbClr val="FFFF00"/>
              </a:highligh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KISA </a:t>
            </a: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차세대 암호</a:t>
            </a:r>
            <a:r>
              <a:rPr lang="en-US" altLang="ko-KR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페이지</a:t>
            </a:r>
            <a:r>
              <a:rPr lang="en-US" altLang="ko-KR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단순 개념 소개</a:t>
            </a:r>
            <a:endParaRPr kumimoji="1" lang="ko-KR" altLang="en-US" sz="11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EDD18030-EF56-C5FF-3C51-0493104DD271}"/>
              </a:ext>
            </a:extLst>
          </p:cNvPr>
          <p:cNvSpPr txBox="1">
            <a:spLocks/>
          </p:cNvSpPr>
          <p:nvPr/>
        </p:nvSpPr>
        <p:spPr>
          <a:xfrm>
            <a:off x="147930" y="6068970"/>
            <a:ext cx="4249153" cy="666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암호 알고리즘 및 키 길이 이용 안내서</a:t>
            </a:r>
            <a:endParaRPr lang="en-US" altLang="ko-KR" sz="18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한국인터넷진흥원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(KISA), 2018.12</a:t>
            </a:r>
            <a:endParaRPr lang="ko-KR" altLang="en-US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30E2A7F6-0DDE-8FF0-6714-CBFC262121BC}"/>
              </a:ext>
            </a:extLst>
          </p:cNvPr>
          <p:cNvSpPr txBox="1">
            <a:spLocks/>
          </p:cNvSpPr>
          <p:nvPr/>
        </p:nvSpPr>
        <p:spPr>
          <a:xfrm>
            <a:off x="5047247" y="6068970"/>
            <a:ext cx="6732833" cy="6895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국내 실무자를 위한 </a:t>
            </a:r>
            <a:r>
              <a:rPr lang="ko-KR" altLang="en-US" sz="2000" b="1" dirty="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이용 가이드 개발 필요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375E9C9-20EB-4455-85B4-DCC651424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2409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31014-B770-127D-5217-1D852DE8C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86C066-8CBB-A92E-67D3-E36D02715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연구과제의 필요성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E25559-84FD-BDD6-8DFB-AB6E35D44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795" y="1628103"/>
            <a:ext cx="2903425" cy="4060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모서리가 둥근 직사각형 9">
            <a:extLst>
              <a:ext uri="{FF2B5EF4-FFF2-40B4-BE49-F238E27FC236}">
                <a16:creationId xmlns:a16="http://schemas.microsoft.com/office/drawing/2014/main" id="{DE078854-D5BC-FAF6-962B-8843ED956F23}"/>
              </a:ext>
            </a:extLst>
          </p:cNvPr>
          <p:cNvSpPr/>
          <p:nvPr/>
        </p:nvSpPr>
        <p:spPr>
          <a:xfrm>
            <a:off x="5047245" y="1146215"/>
            <a:ext cx="6901798" cy="212386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ko-KR" altLang="en-US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기존 암호</a:t>
            </a:r>
            <a:r>
              <a:rPr kumimoji="1" lang="en-US" altLang="ko-KR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표준 이용 가이드 보유 </a:t>
            </a:r>
            <a:endParaRPr lang="en-US" altLang="ko-KR" sz="20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KISA </a:t>
            </a:r>
            <a:r>
              <a:rPr kumimoji="1" lang="ko-KR" altLang="en-US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안내서 주요 내용</a:t>
            </a:r>
            <a:endParaRPr kumimoji="1" lang="en-US" altLang="ko-KR" sz="16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보안강도별 권고 암호 알고리즘 </a:t>
            </a:r>
            <a:endParaRPr lang="en-US" altLang="ko-KR" sz="14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키 길이</a:t>
            </a:r>
            <a:r>
              <a:rPr lang="en-US" altLang="ko-KR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유효기간 선택 기준 </a:t>
            </a:r>
            <a:endParaRPr lang="en-US" altLang="ko-KR" sz="14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실무자 활용 예시</a:t>
            </a:r>
            <a:endParaRPr kumimoji="1" lang="en-US" altLang="ko-KR" sz="16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" name="모서리가 둥근 직사각형 9">
            <a:extLst>
              <a:ext uri="{FF2B5EF4-FFF2-40B4-BE49-F238E27FC236}">
                <a16:creationId xmlns:a16="http://schemas.microsoft.com/office/drawing/2014/main" id="{8C958505-FF66-E8E8-60A6-9944C1AFEB3C}"/>
              </a:ext>
            </a:extLst>
          </p:cNvPr>
          <p:cNvSpPr/>
          <p:nvPr/>
        </p:nvSpPr>
        <p:spPr>
          <a:xfrm>
            <a:off x="5047245" y="3490922"/>
            <a:ext cx="6901798" cy="235721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ko-KR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</a:t>
            </a:r>
            <a:r>
              <a:rPr kumimoji="1" lang="en-US" altLang="ko-KR" sz="2000" b="1" dirty="0">
                <a:solidFill>
                  <a:srgbClr val="FF0000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표준 이용 가이드 부재</a:t>
            </a:r>
            <a:endParaRPr kumimoji="1" lang="en-US" altLang="ko-KR" sz="2000" b="1" dirty="0">
              <a:solidFill>
                <a:schemeClr val="tx1"/>
              </a:solidFill>
              <a:highlight>
                <a:srgbClr val="FFFF00"/>
              </a:highligh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6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기존 자료 및 한계</a:t>
            </a:r>
            <a:endParaRPr kumimoji="1" lang="en-US" altLang="ko-KR" sz="16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HomomorphicEncryption.org Security Standard (2018): </a:t>
            </a: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비공식 표준</a:t>
            </a:r>
            <a:endParaRPr lang="en-US" altLang="ko-KR" sz="14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ISO/IEC 18033-6:2019: PHE </a:t>
            </a: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한정</a:t>
            </a:r>
            <a:r>
              <a:rPr lang="en-US" altLang="ko-KR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FHE </a:t>
            </a: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미포함</a:t>
            </a:r>
            <a:endParaRPr lang="en-US" altLang="ko-KR" sz="14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ISO/IEC 28033 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시리즈 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(DIS 28033-1 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</a:t>
            </a:r>
            <a:r>
              <a:rPr lang="en-US" altLang="ko-KR" sz="1400" dirty="0">
                <a:solidFill>
                  <a:schemeClr val="tx1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): FHE </a:t>
            </a:r>
            <a:r>
              <a:rPr lang="ko-KR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표준화 진행 중</a:t>
            </a:r>
            <a:endParaRPr lang="en-US" altLang="ko-KR" sz="1400" dirty="0">
              <a:solidFill>
                <a:schemeClr val="tx1"/>
              </a:solidFill>
              <a:highlight>
                <a:srgbClr val="FFFF00"/>
              </a:highligh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KISA </a:t>
            </a: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차세대 암호</a:t>
            </a:r>
            <a:r>
              <a:rPr lang="en-US" altLang="ko-KR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페이지</a:t>
            </a:r>
            <a:r>
              <a:rPr lang="en-US" altLang="ko-KR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단순 개념 소개</a:t>
            </a:r>
            <a:endParaRPr kumimoji="1" lang="ko-KR" altLang="en-US" sz="11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7D9051A5-C081-FF1B-C464-E9052038E114}"/>
              </a:ext>
            </a:extLst>
          </p:cNvPr>
          <p:cNvSpPr txBox="1">
            <a:spLocks/>
          </p:cNvSpPr>
          <p:nvPr/>
        </p:nvSpPr>
        <p:spPr>
          <a:xfrm>
            <a:off x="147930" y="6068970"/>
            <a:ext cx="4249153" cy="666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암호 알고리즘 및 키 길이 이용 안내서</a:t>
            </a:r>
            <a:endParaRPr lang="en-US" altLang="ko-KR" sz="18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한국인터넷진흥원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(KISA), 2018.12</a:t>
            </a:r>
            <a:endParaRPr lang="ko-KR" altLang="en-US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47C0C863-6EC3-40B0-2A5F-F3DE99CE3136}"/>
              </a:ext>
            </a:extLst>
          </p:cNvPr>
          <p:cNvSpPr txBox="1">
            <a:spLocks/>
          </p:cNvSpPr>
          <p:nvPr/>
        </p:nvSpPr>
        <p:spPr>
          <a:xfrm>
            <a:off x="5047247" y="6068970"/>
            <a:ext cx="6732833" cy="6895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국내 실무자를 위한 </a:t>
            </a:r>
            <a:r>
              <a:rPr lang="ko-KR" altLang="en-US" sz="2000" b="1" dirty="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이용 가이드 개발 필요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440B48D-4A58-E969-6359-64477F8CC63B}"/>
              </a:ext>
            </a:extLst>
          </p:cNvPr>
          <p:cNvSpPr/>
          <p:nvPr/>
        </p:nvSpPr>
        <p:spPr>
          <a:xfrm>
            <a:off x="-78377" y="-104775"/>
            <a:ext cx="12357463" cy="5560254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F2CAD3-E7E2-AB63-EB29-267C574614B7}"/>
              </a:ext>
            </a:extLst>
          </p:cNvPr>
          <p:cNvSpPr/>
          <p:nvPr/>
        </p:nvSpPr>
        <p:spPr>
          <a:xfrm>
            <a:off x="-78376" y="5455478"/>
            <a:ext cx="5451888" cy="1402521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DF8BB6-06C4-1EB0-8E1A-F897E2EF59DA}"/>
              </a:ext>
            </a:extLst>
          </p:cNvPr>
          <p:cNvSpPr/>
          <p:nvPr/>
        </p:nvSpPr>
        <p:spPr>
          <a:xfrm>
            <a:off x="5373512" y="5711785"/>
            <a:ext cx="6818488" cy="1146214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31B85B-1682-799E-A405-760C297A7A34}"/>
              </a:ext>
            </a:extLst>
          </p:cNvPr>
          <p:cNvSpPr/>
          <p:nvPr/>
        </p:nvSpPr>
        <p:spPr>
          <a:xfrm>
            <a:off x="9403644" y="5455477"/>
            <a:ext cx="2788356" cy="256308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783E530-B712-315A-B411-CC670188E860}"/>
              </a:ext>
            </a:extLst>
          </p:cNvPr>
          <p:cNvGrpSpPr/>
          <p:nvPr/>
        </p:nvGrpSpPr>
        <p:grpSpPr>
          <a:xfrm>
            <a:off x="-10269" y="0"/>
            <a:ext cx="11141113" cy="6068969"/>
            <a:chOff x="159523" y="105504"/>
            <a:chExt cx="9633255" cy="518363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7DE283C-D79F-41B8-8A1D-D90BFA9A3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523" y="105504"/>
              <a:ext cx="4642573" cy="2930238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54D55DA-DB25-1808-B862-C4CED11ED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50205" y="136348"/>
              <a:ext cx="4642573" cy="2919364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0F35C048-1F0F-0387-99D1-BE313949B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8529" y="3035742"/>
              <a:ext cx="4633567" cy="2253392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13BA44DF-6B91-3595-6B82-FB1B27C68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50204" y="3037264"/>
              <a:ext cx="4642573" cy="1492728"/>
            </a:xfrm>
            <a:prstGeom prst="rect">
              <a:avLst/>
            </a:prstGeom>
          </p:spPr>
        </p:pic>
      </p:grp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CE608BAF-FDCB-1B05-3986-363EC26B7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1094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09493C-F68D-AD75-1985-214150B3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BD5674-3F60-E4A7-7A97-85906D654E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152525"/>
            <a:ext cx="12293600" cy="5057775"/>
          </a:xfrm>
        </p:spPr>
        <p:txBody>
          <a:bodyPr>
            <a:normAutofit/>
          </a:bodyPr>
          <a:lstStyle/>
          <a:p>
            <a:r>
              <a:rPr kumimoji="1" lang="ko-KR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암호화된 데이터를 </a:t>
            </a:r>
            <a:r>
              <a:rPr kumimoji="1" lang="ko-KR" altLang="en-US" sz="2400" b="1" dirty="0" err="1">
                <a:solidFill>
                  <a:srgbClr val="FF0000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복호화하지</a:t>
            </a:r>
            <a:r>
              <a:rPr kumimoji="1" lang="ko-KR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않고도 암호문 상태에서 연산할 수 있는 암호 기술</a:t>
            </a:r>
            <a:endParaRPr kumimoji="1" lang="en-US" altLang="ko-KR" sz="2400" b="1" dirty="0">
              <a:solidFill>
                <a:srgbClr val="FF0000"/>
              </a:solidFill>
              <a:highlight>
                <a:srgbClr val="FFFF00"/>
              </a:highligh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기존 암호화 방식은 데이터 처리를 위해 복호화가 필요하며</a:t>
            </a:r>
            <a:r>
              <a:rPr kumimoji="1"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이 과정에서 </a:t>
            </a:r>
            <a:r>
              <a:rPr kumimoji="1" lang="ko-KR" altLang="en-US" sz="2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평문</a:t>
            </a:r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노출 위험이 발생할 수 있음</a:t>
            </a:r>
            <a:endParaRPr kumimoji="1" lang="en-US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동형암호는 </a:t>
            </a:r>
            <a:r>
              <a:rPr kumimoji="1" lang="ko-KR" altLang="en-US" sz="20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민감정보를 보호하면서도 클라우드 환경에서 데이터 분석 및 활용을 가능</a:t>
            </a:r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하게 함</a:t>
            </a:r>
            <a:endParaRPr kumimoji="1" lang="en-US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C894700-9002-7512-231B-FBB6D80A80F7}"/>
              </a:ext>
            </a:extLst>
          </p:cNvPr>
          <p:cNvGrpSpPr/>
          <p:nvPr/>
        </p:nvGrpSpPr>
        <p:grpSpPr>
          <a:xfrm>
            <a:off x="22085" y="3309939"/>
            <a:ext cx="12131673" cy="2363662"/>
            <a:chOff x="22144" y="3309939"/>
            <a:chExt cx="12295272" cy="2395536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6541B45-CBC2-B262-72F4-C0793F544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296" t="2748" r="3420" b="50418"/>
            <a:stretch>
              <a:fillRect/>
            </a:stretch>
          </p:blipFill>
          <p:spPr>
            <a:xfrm>
              <a:off x="22144" y="3309939"/>
              <a:ext cx="6072982" cy="23955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9572D7DF-930A-3A67-27FB-26D9DA358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856" t="52541" r="2870"/>
            <a:stretch>
              <a:fillRect/>
            </a:stretch>
          </p:blipFill>
          <p:spPr>
            <a:xfrm>
              <a:off x="6244434" y="3309939"/>
              <a:ext cx="6072982" cy="23955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AEB73-605F-5D9D-DCA9-D70168136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9268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E2AC7-7A0B-F510-ACD7-6D6FCF166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동형암호의 종류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7DC8FC-74BF-174B-BC4C-7AAD9EDD11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PHE</a:t>
            </a:r>
            <a:r>
              <a:rPr kumimoji="1" lang="en-US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kumimoji="1"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단일 연산만 지원하지만 빠르고 단순</a:t>
            </a:r>
            <a:endParaRPr kumimoji="1" lang="en-US" altLang="ko-KR" sz="2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kumimoji="1" lang="en-US" altLang="ko-KR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SHE/SWHE  </a:t>
            </a:r>
            <a:r>
              <a:rPr kumimoji="1" lang="en-US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kumimoji="1"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덧셈과 곱셈 모두를 지원하지만 연산 깊이에 제한</a:t>
            </a:r>
            <a:endParaRPr kumimoji="1" lang="en-US" altLang="ko-KR" sz="2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kumimoji="1" lang="en-US" altLang="ko-KR" sz="2400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</a:t>
            </a:r>
            <a:r>
              <a:rPr kumimoji="1" lang="en-US" altLang="ko-KR" sz="2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kumimoji="1" lang="ko-KR" altLang="en-US" sz="2400" dirty="0" err="1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부트스트래핑으로</a:t>
            </a:r>
            <a:r>
              <a:rPr kumimoji="1" lang="ko-KR" altLang="en-US" sz="2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노이즈를 갱신하여 임의 연산 가능</a:t>
            </a:r>
            <a:endParaRPr kumimoji="1" lang="en-US" altLang="ko-KR" sz="2400" dirty="0">
              <a:highlight>
                <a:srgbClr val="FFFF00"/>
              </a:highligh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endParaRPr kumimoji="1" lang="en-US" altLang="ko-KR" sz="2000" dirty="0">
              <a:highlight>
                <a:srgbClr val="FFFF00"/>
              </a:highlight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endParaRPr kumimoji="1" lang="ko-KR" altLang="en-US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082F3E2-ADFB-685C-76CB-456AB774C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658885"/>
              </p:ext>
            </p:extLst>
          </p:nvPr>
        </p:nvGraphicFramePr>
        <p:xfrm>
          <a:off x="411920" y="2850433"/>
          <a:ext cx="11368160" cy="354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345">
                  <a:extLst>
                    <a:ext uri="{9D8B030D-6E8A-4147-A177-3AD203B41FA5}">
                      <a16:colId xmlns:a16="http://schemas.microsoft.com/office/drawing/2014/main" val="2803544250"/>
                    </a:ext>
                  </a:extLst>
                </a:gridCol>
                <a:gridCol w="2888071">
                  <a:extLst>
                    <a:ext uri="{9D8B030D-6E8A-4147-A177-3AD203B41FA5}">
                      <a16:colId xmlns:a16="http://schemas.microsoft.com/office/drawing/2014/main" val="1063680439"/>
                    </a:ext>
                  </a:extLst>
                </a:gridCol>
                <a:gridCol w="2893325">
                  <a:extLst>
                    <a:ext uri="{9D8B030D-6E8A-4147-A177-3AD203B41FA5}">
                      <a16:colId xmlns:a16="http://schemas.microsoft.com/office/drawing/2014/main" val="3072177373"/>
                    </a:ext>
                  </a:extLst>
                </a:gridCol>
                <a:gridCol w="3221419">
                  <a:extLst>
                    <a:ext uri="{9D8B030D-6E8A-4147-A177-3AD203B41FA5}">
                      <a16:colId xmlns:a16="http://schemas.microsoft.com/office/drawing/2014/main" val="3403905959"/>
                    </a:ext>
                  </a:extLst>
                </a:gridCol>
              </a:tblGrid>
              <a:tr h="4137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구분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PHE(부분동형암호)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SHE</a:t>
                      </a:r>
                      <a:r>
                        <a:rPr lang="en-US" alt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/</a:t>
                      </a:r>
                      <a:r>
                        <a:rPr kumimoji="1"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SWHE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(준동형암호)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FHE(완전동형암호)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254405988"/>
                  </a:ext>
                </a:extLst>
              </a:tr>
              <a:tr h="4137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지원 연산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덧셈 또는 곱셈 중 하나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덧셈 + 곱셈 모두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덧셈 + 곱셈 무제한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2494099258"/>
                  </a:ext>
                </a:extLst>
              </a:tr>
              <a:tr h="4137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연산 횟수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무제한(단일 연산)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제한적(노이즈 한도 내)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무제한(부트스트래핑)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2467982716"/>
                  </a:ext>
                </a:extLst>
              </a:tr>
              <a:tr h="4137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부트스트래핑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불필요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불필요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필요(노이즈 초기화)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1112751216"/>
                  </a:ext>
                </a:extLst>
              </a:tr>
              <a:tr h="6291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대표 스킴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RSA, Paillier, ElGamal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초기 BGV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BGV, BFV, CKKS, TFHE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852236635"/>
                  </a:ext>
                </a:extLst>
              </a:tr>
              <a:tr h="6291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속도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빠름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중간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느림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3970511232"/>
                  </a:ext>
                </a:extLst>
              </a:tr>
              <a:tr h="6291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주요 응용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전자투표, 간단한 집계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제한된 통계 연산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ML, 다기관 분석, 클라우드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1242777096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72A2D3E-0A37-AE2F-065D-D06FCDE631A7}"/>
              </a:ext>
            </a:extLst>
          </p:cNvPr>
          <p:cNvSpPr/>
          <p:nvPr/>
        </p:nvSpPr>
        <p:spPr>
          <a:xfrm>
            <a:off x="8591826" y="2850433"/>
            <a:ext cx="3233531" cy="35424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40B887-D7A2-9593-D97E-B1A8753D5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1191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7FBC-257D-520A-73E4-5735B23FA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B0ACA-8495-792D-F780-84F0CE57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완전동형암호의 주요 특성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A3C56A-F30F-28F3-AA8E-0B3162DD74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" altLang="ko-KR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BGV/BFV</a:t>
            </a:r>
            <a:r>
              <a:rPr lang="ko-KR" altLang="en-US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정확한 정수 연산 중심</a:t>
            </a:r>
          </a:p>
          <a:p>
            <a:r>
              <a:rPr lang="en" altLang="ko-KR" sz="2400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CKKS</a:t>
            </a:r>
            <a:r>
              <a:rPr lang="ko-KR" altLang="en-US" sz="2400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" altLang="ko-KR" sz="2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2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실수 근사연산 기반</a:t>
            </a:r>
            <a:r>
              <a:rPr lang="en-US" altLang="ko-KR" sz="2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en" altLang="ko-KR" sz="2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ML·</a:t>
            </a:r>
            <a:r>
              <a:rPr lang="ko-KR" altLang="en-US" sz="2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통계 분석에 적합</a:t>
            </a:r>
          </a:p>
          <a:p>
            <a:r>
              <a:rPr lang="en" altLang="ko-KR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TFHE</a:t>
            </a:r>
            <a:r>
              <a:rPr lang="ko-KR" altLang="en-US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비트</a:t>
            </a:r>
            <a:r>
              <a:rPr lang="en-US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게이트 단위 연산</a:t>
            </a:r>
            <a:r>
              <a:rPr lang="en-US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비교</a:t>
            </a:r>
            <a:r>
              <a:rPr lang="en-US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논리 연산에 강점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7F2BC88-AD2F-8010-BDBE-95E8A1B8F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735632"/>
              </p:ext>
            </p:extLst>
          </p:nvPr>
        </p:nvGraphicFramePr>
        <p:xfrm>
          <a:off x="410405" y="2695433"/>
          <a:ext cx="11369675" cy="3954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528">
                  <a:extLst>
                    <a:ext uri="{9D8B030D-6E8A-4147-A177-3AD203B41FA5}">
                      <a16:colId xmlns:a16="http://schemas.microsoft.com/office/drawing/2014/main" val="2803544250"/>
                    </a:ext>
                  </a:extLst>
                </a:gridCol>
                <a:gridCol w="2252134">
                  <a:extLst>
                    <a:ext uri="{9D8B030D-6E8A-4147-A177-3AD203B41FA5}">
                      <a16:colId xmlns:a16="http://schemas.microsoft.com/office/drawing/2014/main" val="1063680439"/>
                    </a:ext>
                  </a:extLst>
                </a:gridCol>
                <a:gridCol w="2677143">
                  <a:extLst>
                    <a:ext uri="{9D8B030D-6E8A-4147-A177-3AD203B41FA5}">
                      <a16:colId xmlns:a16="http://schemas.microsoft.com/office/drawing/2014/main" val="3072177373"/>
                    </a:ext>
                  </a:extLst>
                </a:gridCol>
                <a:gridCol w="2273935">
                  <a:extLst>
                    <a:ext uri="{9D8B030D-6E8A-4147-A177-3AD203B41FA5}">
                      <a16:colId xmlns:a16="http://schemas.microsoft.com/office/drawing/2014/main" val="3403905959"/>
                    </a:ext>
                  </a:extLst>
                </a:gridCol>
                <a:gridCol w="2273935">
                  <a:extLst>
                    <a:ext uri="{9D8B030D-6E8A-4147-A177-3AD203B41FA5}">
                      <a16:colId xmlns:a16="http://schemas.microsoft.com/office/drawing/2014/main" val="319266634"/>
                    </a:ext>
                  </a:extLst>
                </a:gridCol>
              </a:tblGrid>
              <a:tr h="3667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구분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BGV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BFV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CKKS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TFHE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254405988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평문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공간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모듈러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정수 (</a:t>
                      </a: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Z_t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모듈러 정수 (Z_t)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실수/복소수 (근사)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부울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/소규모 정수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2494099258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수학적 기반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RLWE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RLWE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RLWE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LWE/GLWE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2467982716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연산 유형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정수 </a:t>
                      </a: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덧셈·곱셈</a:t>
                      </a:r>
                      <a:endParaRPr lang="ko-KR" sz="160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정수 </a:t>
                      </a: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덧셈·곱셈</a:t>
                      </a:r>
                      <a:endParaRPr lang="ko-KR" sz="160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실수 덧셈·곱셈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부울 게이트, 비교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1112751216"/>
                  </a:ext>
                </a:extLst>
              </a:tr>
              <a:tr h="5846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노이즈 관리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Modulus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switching</a:t>
                      </a:r>
                      <a:endParaRPr lang="ko-KR" sz="160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Scale-invariant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br>
                        <a:rPr lang="en-US" alt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</a:b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(단일 </a:t>
                      </a: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모듈러스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Rescaling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Gate bootstrapping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852236635"/>
                  </a:ext>
                </a:extLst>
              </a:tr>
              <a:tr h="5846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부트스트래핑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고비용, 선택적 사용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고비용, 선택적 사용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고비용, 선택적 사용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저비용, 매 게이트 수행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3970511232"/>
                  </a:ext>
                </a:extLst>
              </a:tr>
              <a:tr h="5846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배치 처리</a:t>
                      </a:r>
                    </a:p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(SIMD)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지원 </a:t>
                      </a:r>
                    </a:p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(slot packing)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지원 </a:t>
                      </a:r>
                    </a:p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(slot packing)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지원 </a:t>
                      </a:r>
                    </a:p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slot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packing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미지원 (비트 단위)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1242777096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연산 결과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Exact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Exact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Approximate</a:t>
                      </a:r>
                      <a:endParaRPr lang="ko-KR" sz="160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Exact</a:t>
                      </a:r>
                      <a:endParaRPr lang="ko-KR" sz="160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972820269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주요 응용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정수 DB, 배치 통계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전자투표, 암호화 DB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통계, ML, 금융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비교 연산, 논리 회로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2123222899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91B39316-CD7D-C48B-E44D-E11C58765E39}"/>
              </a:ext>
            </a:extLst>
          </p:cNvPr>
          <p:cNvSpPr/>
          <p:nvPr/>
        </p:nvSpPr>
        <p:spPr>
          <a:xfrm>
            <a:off x="7240106" y="2695432"/>
            <a:ext cx="2261704" cy="3908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AF5AB4-40ED-B1FD-C896-95C60CA1A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127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11322-7DEA-6A71-1014-249040099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A0392A-E0BD-8A00-5E5C-C565BD49F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완전동형암호의 주요 특성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A092CB-E473-E258-79BE-28CAF900E8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" altLang="ko-KR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BGV/BFV</a:t>
            </a:r>
            <a:r>
              <a:rPr lang="ko-KR" altLang="en-US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정확한 정수 연산 중심</a:t>
            </a:r>
          </a:p>
          <a:p>
            <a:r>
              <a:rPr lang="en" altLang="ko-KR" sz="2400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CKKS</a:t>
            </a:r>
            <a:r>
              <a:rPr lang="ko-KR" altLang="en-US" sz="2400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" altLang="ko-KR" sz="2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2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실수 근사연산 기반</a:t>
            </a:r>
            <a:r>
              <a:rPr lang="en-US" altLang="ko-KR" sz="2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en" altLang="ko-KR" sz="2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ML·</a:t>
            </a:r>
            <a:r>
              <a:rPr lang="ko-KR" altLang="en-US" sz="24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통계 분석에 적합</a:t>
            </a:r>
          </a:p>
          <a:p>
            <a:r>
              <a:rPr lang="en" altLang="ko-KR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TFHE</a:t>
            </a:r>
            <a:r>
              <a:rPr lang="ko-KR" altLang="en-US" sz="2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비트</a:t>
            </a:r>
            <a:r>
              <a:rPr lang="en-US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게이트 단위 연산</a:t>
            </a:r>
            <a:r>
              <a:rPr lang="en-US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비교</a:t>
            </a:r>
            <a:r>
              <a:rPr lang="en-US" altLang="ko-KR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sz="2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논리 연산에 강점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7A5BB43-4885-1D17-9B75-152F90D55036}"/>
              </a:ext>
            </a:extLst>
          </p:cNvPr>
          <p:cNvGraphicFramePr>
            <a:graphicFrameLocks noGrp="1"/>
          </p:cNvGraphicFramePr>
          <p:nvPr/>
        </p:nvGraphicFramePr>
        <p:xfrm>
          <a:off x="410405" y="2695433"/>
          <a:ext cx="11369675" cy="3954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528">
                  <a:extLst>
                    <a:ext uri="{9D8B030D-6E8A-4147-A177-3AD203B41FA5}">
                      <a16:colId xmlns:a16="http://schemas.microsoft.com/office/drawing/2014/main" val="2803544250"/>
                    </a:ext>
                  </a:extLst>
                </a:gridCol>
                <a:gridCol w="2252134">
                  <a:extLst>
                    <a:ext uri="{9D8B030D-6E8A-4147-A177-3AD203B41FA5}">
                      <a16:colId xmlns:a16="http://schemas.microsoft.com/office/drawing/2014/main" val="1063680439"/>
                    </a:ext>
                  </a:extLst>
                </a:gridCol>
                <a:gridCol w="2677143">
                  <a:extLst>
                    <a:ext uri="{9D8B030D-6E8A-4147-A177-3AD203B41FA5}">
                      <a16:colId xmlns:a16="http://schemas.microsoft.com/office/drawing/2014/main" val="3072177373"/>
                    </a:ext>
                  </a:extLst>
                </a:gridCol>
                <a:gridCol w="2273935">
                  <a:extLst>
                    <a:ext uri="{9D8B030D-6E8A-4147-A177-3AD203B41FA5}">
                      <a16:colId xmlns:a16="http://schemas.microsoft.com/office/drawing/2014/main" val="3403905959"/>
                    </a:ext>
                  </a:extLst>
                </a:gridCol>
                <a:gridCol w="2273935">
                  <a:extLst>
                    <a:ext uri="{9D8B030D-6E8A-4147-A177-3AD203B41FA5}">
                      <a16:colId xmlns:a16="http://schemas.microsoft.com/office/drawing/2014/main" val="319266634"/>
                    </a:ext>
                  </a:extLst>
                </a:gridCol>
              </a:tblGrid>
              <a:tr h="3667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구분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BGV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BFV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CKKS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TFHE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254405988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평문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공간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모듈러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정수 (</a:t>
                      </a: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Z_t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모듈러 정수 (Z_t)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실수/복소수 (근사)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부울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/소규모 정수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2494099258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수학적 기반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RLWE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RLWE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RLWE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LWE/GLWE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2467982716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연산 유형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정수 </a:t>
                      </a: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덧셈·곱셈</a:t>
                      </a:r>
                      <a:endParaRPr lang="ko-KR" sz="160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정수 </a:t>
                      </a: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덧셈·곱셈</a:t>
                      </a:r>
                      <a:endParaRPr lang="ko-KR" sz="160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실수 덧셈·곱셈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부울 게이트, 비교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1112751216"/>
                  </a:ext>
                </a:extLst>
              </a:tr>
              <a:tr h="5846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노이즈 관리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Modulus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switching</a:t>
                      </a:r>
                      <a:endParaRPr lang="ko-KR" sz="160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Scale-invariant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br>
                        <a:rPr lang="en-US" alt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</a:b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(단일 </a:t>
                      </a: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모듈러스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Rescaling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Gate bootstrapping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852236635"/>
                  </a:ext>
                </a:extLst>
              </a:tr>
              <a:tr h="5846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부트스트래핑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고비용, 선택적 사용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고비용, 선택적 사용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고비용, 선택적 사용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저비용, 매 게이트 수행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3970511232"/>
                  </a:ext>
                </a:extLst>
              </a:tr>
              <a:tr h="5846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배치 처리</a:t>
                      </a:r>
                    </a:p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(SIMD)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지원 </a:t>
                      </a:r>
                    </a:p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(slot packing)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지원 </a:t>
                      </a:r>
                    </a:p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(slot packing)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지원 </a:t>
                      </a:r>
                    </a:p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slot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packing</a:t>
                      </a: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미지원 (비트 단위)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1242777096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연산 결과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Exact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Exact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Approximate</a:t>
                      </a:r>
                      <a:endParaRPr lang="ko-KR" sz="160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Exact</a:t>
                      </a:r>
                      <a:endParaRPr lang="ko-KR" sz="160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972820269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주요 응용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정수 DB, 배치 통계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전자투표, 암호화 DB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통계, ML, 금융</a:t>
                      </a:r>
                    </a:p>
                  </a:txBody>
                  <a:tcPr marL="7620" marR="7620" marT="7620" marB="76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60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비교 연산, 논리 회로</a:t>
                      </a:r>
                    </a:p>
                  </a:txBody>
                  <a:tcPr marL="7620" marR="7620" marT="7620" marB="7620" anchor="ctr"/>
                </a:tc>
                <a:extLst>
                  <a:ext uri="{0D108BD9-81ED-4DB2-BD59-A6C34878D82A}">
                    <a16:rowId xmlns:a16="http://schemas.microsoft.com/office/drawing/2014/main" val="2123222899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83BDDDE2-B607-EA1B-26FA-77F8A0027899}"/>
              </a:ext>
            </a:extLst>
          </p:cNvPr>
          <p:cNvSpPr/>
          <p:nvPr/>
        </p:nvSpPr>
        <p:spPr>
          <a:xfrm>
            <a:off x="7240106" y="2695432"/>
            <a:ext cx="2261704" cy="3908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8329E6-61C0-0259-1FAE-7927ED9FE966}"/>
              </a:ext>
            </a:extLst>
          </p:cNvPr>
          <p:cNvSpPr/>
          <p:nvPr/>
        </p:nvSpPr>
        <p:spPr>
          <a:xfrm>
            <a:off x="-100953" y="-21167"/>
            <a:ext cx="12586464" cy="1602593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CE0F75-D7AE-B2AC-361D-E47C8E75EBAC}"/>
              </a:ext>
            </a:extLst>
          </p:cNvPr>
          <p:cNvSpPr/>
          <p:nvPr/>
        </p:nvSpPr>
        <p:spPr>
          <a:xfrm>
            <a:off x="-100953" y="2032000"/>
            <a:ext cx="12586464" cy="48768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98CF9D-08BA-C488-8458-59168B42A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3216"/>
            <a:ext cx="12192000" cy="2913257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F709B6-AE6A-23A3-CEEA-7E7515ED5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4315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71B59B-950E-A6DF-2F7B-EF46A222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국내 동형암호 적용 현황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ABCED2-00B7-9AB9-D8E0-9EFCA5DE2E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595116"/>
          </a:xfrm>
        </p:spPr>
        <p:txBody>
          <a:bodyPr>
            <a:normAutofit/>
          </a:bodyPr>
          <a:lstStyle/>
          <a:p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금융 분야 </a:t>
            </a:r>
            <a:r>
              <a:rPr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en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Finance)</a:t>
            </a:r>
            <a:endParaRPr lang="en" altLang="ko-KR" sz="18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5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</a:t>
            </a: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국민연금공단</a:t>
            </a:r>
            <a:r>
              <a:rPr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</a:t>
            </a:r>
            <a:r>
              <a:rPr lang="en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KCB (2020)</a:t>
            </a:r>
          </a:p>
          <a:p>
            <a:pPr lvl="2">
              <a:lnSpc>
                <a:spcPct val="100000"/>
              </a:lnSpc>
            </a:pPr>
            <a:r>
              <a:rPr lang="ko-KR" altLang="en-US" sz="1600" b="1" dirty="0">
                <a:solidFill>
                  <a:schemeClr val="accent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세계 최초 동형암호 상용화 사례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개인정보 노출 없이 </a:t>
            </a:r>
            <a:r>
              <a:rPr lang="ko-KR" altLang="en-US" sz="16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신용평가 모델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구축 및 다기관 데이터 결합 분석 실증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00000"/>
              </a:lnSpc>
            </a:pP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00000"/>
              </a:lnSpc>
            </a:pP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00000"/>
              </a:lnSpc>
            </a:pP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00000"/>
              </a:lnSpc>
            </a:pP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</a:t>
            </a: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신한금융그룹 </a:t>
            </a:r>
            <a:r>
              <a:rPr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(2022)</a:t>
            </a:r>
          </a:p>
          <a:p>
            <a:pPr lvl="2">
              <a:lnSpc>
                <a:spcPct val="100000"/>
              </a:lnSpc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약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500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만 건의 </a:t>
            </a:r>
            <a:r>
              <a:rPr lang="ko-KR" altLang="en-US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금융 데이터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암호화 상태로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분 내 처리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예측 정확도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99.99%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달성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en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PoC)</a:t>
            </a:r>
          </a:p>
          <a:p>
            <a:pPr lvl="1">
              <a:lnSpc>
                <a:spcPct val="100000"/>
              </a:lnSpc>
            </a:pPr>
            <a:endParaRPr lang="en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</a:t>
            </a: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토스 </a:t>
            </a:r>
            <a:r>
              <a:rPr lang="en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(2025)</a:t>
            </a:r>
          </a:p>
          <a:p>
            <a:pPr lvl="2">
              <a:lnSpc>
                <a:spcPct val="100000"/>
              </a:lnSpc>
            </a:pP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기반 얼굴인증 서비스 상용화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원본 생체 데이터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접근 없이 실시간 인증 수행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C0D0ABA-6BEA-3E44-C5C8-8770DE235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678" y="1728645"/>
            <a:ext cx="1652361" cy="43472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20DE241-D1BB-3D27-3FEB-ECDE7F7EE9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7535" y="4211028"/>
            <a:ext cx="1886539" cy="433502"/>
          </a:xfrm>
          <a:prstGeom prst="rect">
            <a:avLst/>
          </a:prstGeom>
        </p:spPr>
      </p:pic>
      <p:pic>
        <p:nvPicPr>
          <p:cNvPr id="13" name="그림 12" descr="토스(금융) - 나무위키">
            <a:extLst>
              <a:ext uri="{FF2B5EF4-FFF2-40B4-BE49-F238E27FC236}">
                <a16:creationId xmlns:a16="http://schemas.microsoft.com/office/drawing/2014/main" id="{3523D10A-D89E-E9AC-2A91-24BD4816C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781" y="5290274"/>
            <a:ext cx="1255519" cy="323822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44F7DBD-DBB7-792C-5DCC-2539763D1288}"/>
              </a:ext>
            </a:extLst>
          </p:cNvPr>
          <p:cNvGrpSpPr/>
          <p:nvPr/>
        </p:nvGrpSpPr>
        <p:grpSpPr>
          <a:xfrm>
            <a:off x="758023" y="2497293"/>
            <a:ext cx="6246241" cy="1313867"/>
            <a:chOff x="758023" y="2497294"/>
            <a:chExt cx="5073849" cy="106726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C433AF4-162D-9745-9FB8-8607F64390FC}"/>
                </a:ext>
              </a:extLst>
            </p:cNvPr>
            <p:cNvGrpSpPr/>
            <p:nvPr/>
          </p:nvGrpSpPr>
          <p:grpSpPr>
            <a:xfrm>
              <a:off x="789553" y="2539334"/>
              <a:ext cx="4983690" cy="1001738"/>
              <a:chOff x="1085214" y="2862932"/>
              <a:chExt cx="4983690" cy="1001738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698F84F8-09BC-C012-A3CA-67B7A0FD44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49423" b="21639"/>
              <a:stretch>
                <a:fillRect/>
              </a:stretch>
            </p:blipFill>
            <p:spPr>
              <a:xfrm>
                <a:off x="1085214" y="3211229"/>
                <a:ext cx="4929026" cy="653441"/>
              </a:xfrm>
              <a:prstGeom prst="rect">
                <a:avLst/>
              </a:prstGeom>
            </p:spPr>
          </p:pic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037B8310-6B8B-CA8C-E85B-71C86BD526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b="74430"/>
              <a:stretch>
                <a:fillRect/>
              </a:stretch>
            </p:blipFill>
            <p:spPr>
              <a:xfrm>
                <a:off x="1139878" y="2862932"/>
                <a:ext cx="4929026" cy="577409"/>
              </a:xfrm>
              <a:prstGeom prst="rect">
                <a:avLst/>
              </a:prstGeom>
            </p:spPr>
          </p:pic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3541525-1A78-4CB2-65A7-E27CB7978724}"/>
                </a:ext>
              </a:extLst>
            </p:cNvPr>
            <p:cNvSpPr/>
            <p:nvPr/>
          </p:nvSpPr>
          <p:spPr>
            <a:xfrm>
              <a:off x="758023" y="2497294"/>
              <a:ext cx="5073849" cy="1067260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ea typeface="맑은 고딕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EE53AB8-CB1D-E7BA-3610-457AA73C7906}"/>
                </a:ext>
              </a:extLst>
            </p:cNvPr>
            <p:cNvSpPr/>
            <p:nvPr/>
          </p:nvSpPr>
          <p:spPr>
            <a:xfrm>
              <a:off x="1301913" y="3158783"/>
              <a:ext cx="2291254" cy="260431"/>
            </a:xfrm>
            <a:prstGeom prst="rect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ea typeface="맑은 고딕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AA6FFC2-4B06-1278-66B6-E9B9BF80FCEE}"/>
              </a:ext>
            </a:extLst>
          </p:cNvPr>
          <p:cNvGrpSpPr/>
          <p:nvPr/>
        </p:nvGrpSpPr>
        <p:grpSpPr>
          <a:xfrm>
            <a:off x="7133840" y="2497294"/>
            <a:ext cx="4341455" cy="2045252"/>
            <a:chOff x="7133841" y="2735266"/>
            <a:chExt cx="3836310" cy="180727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566EB7E-0E05-5378-1E8E-56EA2561B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33841" y="2735266"/>
              <a:ext cx="3836310" cy="180727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52B0C7-C8F5-C516-8959-11936AD1E658}"/>
                </a:ext>
              </a:extLst>
            </p:cNvPr>
            <p:cNvSpPr/>
            <p:nvPr/>
          </p:nvSpPr>
          <p:spPr>
            <a:xfrm>
              <a:off x="8891751" y="3811161"/>
              <a:ext cx="930165" cy="260431"/>
            </a:xfrm>
            <a:prstGeom prst="rect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ea typeface="맑은 고딕"/>
              </a:endParaRPr>
            </a:p>
          </p:txBody>
        </p:sp>
      </p:grp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9BE01D87-35EA-1ADD-B76A-9DDDDD70D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4506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E4461-312E-D69E-5046-F104889E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83A2C-E628-E41A-3780-85FB998B7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국내 동형암호 적용 현황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AD4F76-1040-A786-BF83-3F817A1F56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574096"/>
          </a:xfrm>
        </p:spPr>
        <p:txBody>
          <a:bodyPr>
            <a:normAutofit/>
          </a:bodyPr>
          <a:lstStyle/>
          <a:p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의료</a:t>
            </a:r>
            <a:r>
              <a:rPr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바이오 분야</a:t>
            </a:r>
            <a:r>
              <a:rPr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kumimoji="1" lang="en" altLang="ko-Kore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Medical &amp; Bio)</a:t>
            </a:r>
            <a:endParaRPr lang="en-US" altLang="ko-KR" sz="6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</a:t>
            </a:r>
            <a:r>
              <a:rPr lang="ko-KR" altLang="en-US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</a:t>
            </a:r>
            <a:r>
              <a:rPr lang="ko-KR" altLang="en-US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대 대형병원 공동연구 </a:t>
            </a:r>
            <a:r>
              <a:rPr lang="en-US" altLang="ko-KR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(2024)</a:t>
            </a:r>
          </a:p>
          <a:p>
            <a:pPr lvl="2"/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서울아산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서울대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이화여대 공동 연구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EMR </a:t>
            </a:r>
            <a:r>
              <a:rPr lang="ko-KR" altLang="en-US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활용한 임상 예측 모델 구축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/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AUROC 0.941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달성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평문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데이터 모델과 동등한 수준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pPr lvl="2"/>
            <a:endParaRPr lang="en-US" altLang="ko-KR" sz="5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</a:t>
            </a:r>
            <a:r>
              <a:rPr lang="ko-KR" altLang="en-US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22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마크로젠</a:t>
            </a:r>
            <a:r>
              <a:rPr lang="ko-KR" altLang="en-US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(2024)</a:t>
            </a:r>
          </a:p>
          <a:p>
            <a:pPr lvl="2"/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민감 정보인 </a:t>
            </a:r>
            <a:r>
              <a:rPr lang="ko-KR" altLang="en-US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유전체 데이터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 암호화 상태 분석 및 사업화 추진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/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클라우드</a:t>
            </a:r>
            <a:r>
              <a:rPr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공공 분야 </a:t>
            </a:r>
            <a:r>
              <a:rPr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(Cloud &amp; Public)</a:t>
            </a:r>
            <a:endParaRPr lang="en-US" altLang="ko-KR" sz="5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</a:t>
            </a:r>
            <a:r>
              <a:rPr lang="ko-KR" altLang="en-US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네이버 클라우드 </a:t>
            </a:r>
            <a:r>
              <a:rPr lang="en-US" altLang="ko-KR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(2021)</a:t>
            </a:r>
          </a:p>
          <a:p>
            <a:pPr lvl="2"/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‘</a:t>
            </a:r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HEaaN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Analytics’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출시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세계 최초 동형암호 기반 </a:t>
            </a:r>
            <a:r>
              <a:rPr lang="ko-KR" altLang="en-US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클라우드 분석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서비스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/>
            <a:endParaRPr lang="en-US" altLang="ko-KR" sz="5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</a:t>
            </a:r>
            <a:r>
              <a:rPr lang="ko-KR" altLang="en-US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카카오 엔터프라이즈 </a:t>
            </a:r>
            <a:r>
              <a:rPr lang="en-US" altLang="ko-KR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(2025)</a:t>
            </a:r>
          </a:p>
          <a:p>
            <a:pPr lvl="2"/>
            <a:r>
              <a:rPr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크립토랩과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MOU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체결을 통해 </a:t>
            </a:r>
            <a:r>
              <a:rPr lang="ko-KR" altLang="en-US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클라우드 플랫폼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 동형암호 서비스 추진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/>
            <a:endParaRPr lang="en-US" altLang="ko-KR" sz="5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</a:t>
            </a:r>
            <a:r>
              <a:rPr lang="ko-KR" altLang="en-US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공공 서비스</a:t>
            </a:r>
            <a:r>
              <a:rPr lang="en-US" altLang="ko-KR" sz="22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(2021)</a:t>
            </a:r>
          </a:p>
          <a:p>
            <a:pPr lvl="2"/>
            <a:r>
              <a:rPr lang="ko-KR" altLang="en-US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코로나</a:t>
            </a:r>
            <a:r>
              <a:rPr lang="en-US" altLang="ko-KR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19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대응 과정에서 복호화 없는 동선 매칭 수행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코동이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앱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20C1278-D8CD-3738-9C35-3795F714B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39" y="1647053"/>
            <a:ext cx="1868910" cy="267850"/>
          </a:xfrm>
          <a:prstGeom prst="rect">
            <a:avLst/>
          </a:prstGeom>
        </p:spPr>
      </p:pic>
      <p:pic>
        <p:nvPicPr>
          <p:cNvPr id="10" name="그림 9" descr="서울아산병원">
            <a:extLst>
              <a:ext uri="{FF2B5EF4-FFF2-40B4-BE49-F238E27FC236}">
                <a16:creationId xmlns:a16="http://schemas.microsoft.com/office/drawing/2014/main" id="{FFD5B48D-97E3-7734-489F-C3A61EB5DC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79" t="38828" r="13379" b="39242"/>
          <a:stretch>
            <a:fillRect/>
          </a:stretch>
        </p:blipFill>
        <p:spPr>
          <a:xfrm>
            <a:off x="5248569" y="1602101"/>
            <a:ext cx="1194768" cy="35775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8807349-6A86-1578-358A-EA5CAA77B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5022" y="1602101"/>
            <a:ext cx="1590409" cy="345885"/>
          </a:xfrm>
          <a:prstGeom prst="rect">
            <a:avLst/>
          </a:prstGeom>
        </p:spPr>
      </p:pic>
      <p:pic>
        <p:nvPicPr>
          <p:cNvPr id="14" name="그림 13" descr="MEDI:GATE NEWS : 마크로젠, 비의료기관 바이오뱅크 개설 허가">
            <a:extLst>
              <a:ext uri="{FF2B5EF4-FFF2-40B4-BE49-F238E27FC236}">
                <a16:creationId xmlns:a16="http://schemas.microsoft.com/office/drawing/2014/main" id="{3819F5B9-65ED-5540-EBAF-79AAF8FAF8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595" b="20079"/>
          <a:stretch>
            <a:fillRect/>
          </a:stretch>
        </p:blipFill>
        <p:spPr>
          <a:xfrm>
            <a:off x="3424737" y="2747022"/>
            <a:ext cx="1105677" cy="383329"/>
          </a:xfrm>
          <a:prstGeom prst="rect">
            <a:avLst/>
          </a:prstGeom>
        </p:spPr>
      </p:pic>
      <p:pic>
        <p:nvPicPr>
          <p:cNvPr id="4" name="그림 3" descr="네이버클라우드, 오픈소스 기반 완전관리형 클라우드 데이터베이스 서비스 출시 - 와우테일">
            <a:extLst>
              <a:ext uri="{FF2B5EF4-FFF2-40B4-BE49-F238E27FC236}">
                <a16:creationId xmlns:a16="http://schemas.microsoft.com/office/drawing/2014/main" id="{BFE6079B-AFE0-6257-0212-928D82890A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863" t="31202" r="6896" b="38097"/>
          <a:stretch>
            <a:fillRect/>
          </a:stretch>
        </p:blipFill>
        <p:spPr>
          <a:xfrm>
            <a:off x="4456881" y="4300846"/>
            <a:ext cx="1981827" cy="270249"/>
          </a:xfrm>
          <a:prstGeom prst="rect">
            <a:avLst/>
          </a:prstGeom>
        </p:spPr>
      </p:pic>
      <p:pic>
        <p:nvPicPr>
          <p:cNvPr id="5" name="그림 4" descr="카카오엔터프라이즈, KDB 산업은행으로부터 1천억원 투자 유치 | 카카오엔터프라이즈">
            <a:extLst>
              <a:ext uri="{FF2B5EF4-FFF2-40B4-BE49-F238E27FC236}">
                <a16:creationId xmlns:a16="http://schemas.microsoft.com/office/drawing/2014/main" id="{6C85AB82-6ECF-A49B-4A78-75323D8C6D9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542" t="36638" r="3104" b="43247"/>
          <a:stretch>
            <a:fillRect/>
          </a:stretch>
        </p:blipFill>
        <p:spPr>
          <a:xfrm>
            <a:off x="4845269" y="5019834"/>
            <a:ext cx="2929321" cy="399453"/>
          </a:xfrm>
          <a:prstGeom prst="rect">
            <a:avLst/>
          </a:prstGeom>
        </p:spPr>
      </p:pic>
      <p:pic>
        <p:nvPicPr>
          <p:cNvPr id="6" name="그림 5" descr="Heaan: Homomorphic Encryption for Vector Search and AI Solutions – Intellyx  – The Digital Transformation Experts – Analysts">
            <a:extLst>
              <a:ext uri="{FF2B5EF4-FFF2-40B4-BE49-F238E27FC236}">
                <a16:creationId xmlns:a16="http://schemas.microsoft.com/office/drawing/2014/main" id="{8AD6557B-17A2-0060-A90C-D2558DFC5AC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727" t="31771" r="6592" b="31663"/>
          <a:stretch>
            <a:fillRect/>
          </a:stretch>
        </p:blipFill>
        <p:spPr>
          <a:xfrm>
            <a:off x="6675008" y="4291178"/>
            <a:ext cx="1302344" cy="343364"/>
          </a:xfrm>
          <a:prstGeom prst="rect">
            <a:avLst/>
          </a:prstGeom>
        </p:spPr>
      </p:pic>
      <p:pic>
        <p:nvPicPr>
          <p:cNvPr id="8" name="그림 7" descr="Google Play의 크립토랩 개발자 Android 앱">
            <a:extLst>
              <a:ext uri="{FF2B5EF4-FFF2-40B4-BE49-F238E27FC236}">
                <a16:creationId xmlns:a16="http://schemas.microsoft.com/office/drawing/2014/main" id="{F33975BE-B33F-0724-B2D0-04BFBC6F1A7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6961" b="28370"/>
          <a:stretch>
            <a:fillRect/>
          </a:stretch>
        </p:blipFill>
        <p:spPr>
          <a:xfrm>
            <a:off x="7774590" y="4971354"/>
            <a:ext cx="1140099" cy="50927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F1426F0-B6D0-6B2A-A5D3-11108A22D4A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825" t="10648" r="7336" b="50827"/>
          <a:stretch>
            <a:fillRect/>
          </a:stretch>
        </p:blipFill>
        <p:spPr>
          <a:xfrm>
            <a:off x="9524345" y="5133009"/>
            <a:ext cx="2681826" cy="17032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774E46-B034-E92A-66C2-7FAA9C73A003}"/>
              </a:ext>
            </a:extLst>
          </p:cNvPr>
          <p:cNvSpPr txBox="1"/>
          <p:nvPr/>
        </p:nvSpPr>
        <p:spPr>
          <a:xfrm>
            <a:off x="7820768" y="2358483"/>
            <a:ext cx="18085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*</a:t>
            </a:r>
            <a:r>
              <a:rPr kumimoji="1" lang="en-US" altLang="ko-Kore-KR" sz="1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AUROC: AI</a:t>
            </a:r>
            <a:r>
              <a:rPr kumimoji="1" lang="ko-KR" altLang="en-US" sz="1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의 정확도 지표</a:t>
            </a:r>
            <a:endParaRPr kumimoji="1" lang="ko-Kore-KR" altLang="en-US" sz="10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12B253E-7588-FC76-09BC-F17F6F721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6065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56994-5F4A-B8E2-0AAA-8CA4EAB72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국내 동형암호 적용 현황</a:t>
            </a:r>
            <a:endParaRPr lang="ko-Kore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183E4AC-F67A-C2B8-EF17-52745DCF7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840169"/>
              </p:ext>
            </p:extLst>
          </p:nvPr>
        </p:nvGraphicFramePr>
        <p:xfrm>
          <a:off x="411920" y="1830323"/>
          <a:ext cx="11368915" cy="4771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7140">
                  <a:extLst>
                    <a:ext uri="{9D8B030D-6E8A-4147-A177-3AD203B41FA5}">
                      <a16:colId xmlns:a16="http://schemas.microsoft.com/office/drawing/2014/main" val="4293602867"/>
                    </a:ext>
                  </a:extLst>
                </a:gridCol>
                <a:gridCol w="1638857">
                  <a:extLst>
                    <a:ext uri="{9D8B030D-6E8A-4147-A177-3AD203B41FA5}">
                      <a16:colId xmlns:a16="http://schemas.microsoft.com/office/drawing/2014/main" val="181243042"/>
                    </a:ext>
                  </a:extLst>
                </a:gridCol>
                <a:gridCol w="1388123">
                  <a:extLst>
                    <a:ext uri="{9D8B030D-6E8A-4147-A177-3AD203B41FA5}">
                      <a16:colId xmlns:a16="http://schemas.microsoft.com/office/drawing/2014/main" val="298166858"/>
                    </a:ext>
                  </a:extLst>
                </a:gridCol>
                <a:gridCol w="3631012">
                  <a:extLst>
                    <a:ext uri="{9D8B030D-6E8A-4147-A177-3AD203B41FA5}">
                      <a16:colId xmlns:a16="http://schemas.microsoft.com/office/drawing/2014/main" val="3856477601"/>
                    </a:ext>
                  </a:extLst>
                </a:gridCol>
                <a:gridCol w="2273783">
                  <a:extLst>
                    <a:ext uri="{9D8B030D-6E8A-4147-A177-3AD203B41FA5}">
                      <a16:colId xmlns:a16="http://schemas.microsoft.com/office/drawing/2014/main" val="154815435"/>
                    </a:ext>
                  </a:extLst>
                </a:gridCol>
              </a:tblGrid>
              <a:tr h="589301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사례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분야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주요</a:t>
                      </a: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성과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도입</a:t>
                      </a: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단계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0629427"/>
                  </a:ext>
                </a:extLst>
              </a:tr>
              <a:tr h="597485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국민연금</a:t>
                      </a:r>
                      <a:r>
                        <a:rPr lang="en-US" altLang="ko-Kore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/KCB</a:t>
                      </a:r>
                      <a:endParaRPr lang="ko-Kore-KR" altLang="en-US" sz="16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ko-Kore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금융</a:t>
                      </a: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CKKS</a:t>
                      </a:r>
                      <a:endParaRPr lang="ko-Kore-KR" altLang="en-US" sz="16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세계 최초 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HE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상용화</a:t>
                      </a:r>
                      <a:endParaRPr lang="ko-Kore-KR" altLang="en-US" sz="16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b="1" dirty="0">
                          <a:solidFill>
                            <a:srgbClr val="FF0000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55590"/>
                  </a:ext>
                </a:extLst>
              </a:tr>
              <a:tr h="59748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신한금융 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PoC</a:t>
                      </a:r>
                      <a:endParaRPr lang="ko-Kore-KR" altLang="en-US" sz="16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ore-KR" altLang="en-US" dirty="0">
                        <a:ea typeface="맑은 고딕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ore-KR" altLang="en-US" dirty="0"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00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만 건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/2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분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정확도 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99.99%</a:t>
                      </a:r>
                      <a:endParaRPr lang="ko-Kore-KR" altLang="en-US" sz="16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b="1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344468"/>
                  </a:ext>
                </a:extLst>
              </a:tr>
              <a:tr h="59748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토스 얼굴인증</a:t>
                      </a:r>
                      <a:endParaRPr lang="ko-Kore-KR" altLang="en-US" sz="16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ore-KR" altLang="en-US" dirty="0">
                        <a:ea typeface="맑은 고딕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ore-KR" altLang="en-US" dirty="0"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실시간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생체인증</a:t>
                      </a:r>
                      <a:endParaRPr lang="ko-Kore-KR" altLang="en-US" sz="16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b="1" dirty="0">
                          <a:solidFill>
                            <a:srgbClr val="FF0000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347195"/>
                  </a:ext>
                </a:extLst>
              </a:tr>
              <a:tr h="597485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마크로젠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ore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의료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ore-KR" altLang="en-US" dirty="0"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암호화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유전체 분석</a:t>
                      </a:r>
                      <a:endParaRPr lang="ko-Kore-KR" altLang="en-US" sz="16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b="1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5789534"/>
                  </a:ext>
                </a:extLst>
              </a:tr>
              <a:tr h="597485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서울아산병원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외</a:t>
                      </a:r>
                      <a:endParaRPr lang="ko-Kore-KR" altLang="en-US" sz="16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ore-KR" altLang="en-US" dirty="0">
                        <a:ea typeface="맑은 고딕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ore-KR" altLang="en-US" dirty="0"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다기관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34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만명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AUROC 0.941</a:t>
                      </a:r>
                      <a:endParaRPr lang="ko-Kore-KR" altLang="en-US" sz="16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b="1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연구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468655"/>
                  </a:ext>
                </a:extLst>
              </a:tr>
              <a:tr h="597485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네이버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클라우드</a:t>
                      </a:r>
                      <a:endParaRPr lang="ko-Kore-KR" altLang="en-US" sz="16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ore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클라우드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ore-KR" altLang="en-US" dirty="0"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세계 최초 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HE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클라우드 서비스</a:t>
                      </a:r>
                      <a:endParaRPr lang="ko-Kore-KR" altLang="en-US" sz="16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b="1" dirty="0">
                          <a:solidFill>
                            <a:srgbClr val="FF0000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088694"/>
                  </a:ext>
                </a:extLst>
              </a:tr>
              <a:tr h="597485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카카오엔터</a:t>
                      </a:r>
                      <a:r>
                        <a:rPr lang="ko-KR" altLang="en-US" sz="16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프라이즈</a:t>
                      </a:r>
                      <a:endParaRPr lang="ko-Kore-KR" altLang="en-US" sz="16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ore-KR" altLang="en-US" dirty="0">
                        <a:ea typeface="맑은 고딕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ko-Kore-KR" altLang="en-US" dirty="0"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동형암호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서비스 협력</a:t>
                      </a:r>
                      <a:endParaRPr lang="ko-Kore-KR" altLang="en-US" sz="16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600" b="1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실증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032259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9C5C93-64ED-8A37-0568-A3E5AFA260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174" y="1049228"/>
            <a:ext cx="12032973" cy="3880581"/>
          </a:xfrm>
        </p:spPr>
        <p:txBody>
          <a:bodyPr>
            <a:normAutofit/>
          </a:bodyPr>
          <a:lstStyle/>
          <a:p>
            <a:r>
              <a:rPr lang="ko-KR" altLang="ko-KR" sz="2000" dirty="0">
                <a:highlight>
                  <a:srgbClr val="FFFF00"/>
                </a:highlight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국내 </a:t>
            </a:r>
            <a:r>
              <a:rPr lang="ko-KR" altLang="ko-KR" sz="2000" dirty="0" err="1">
                <a:highlight>
                  <a:srgbClr val="FFFF00"/>
                </a:highlight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금융·의료·클라우드</a:t>
            </a:r>
            <a:r>
              <a:rPr lang="ko-KR" altLang="ko-KR" sz="2000" dirty="0">
                <a:highlight>
                  <a:srgbClr val="FFFF00"/>
                </a:highlight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분야</a:t>
            </a:r>
            <a:r>
              <a:rPr lang="ko-KR" altLang="ko-KR" sz="2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에서 CKKS 기반 동형암호 기술의 상용화와 실증 적용이 빠르게 확대</a:t>
            </a:r>
            <a:endParaRPr lang="en-US" altLang="ko-KR" sz="400" b="1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B25C4B-F6A8-371A-61AF-5006F7818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7476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44D95-7EF1-96DD-E529-37B667D90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국외 동형암호 적용 현황</a:t>
            </a:r>
            <a:endParaRPr lang="ko-Kore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FBEA39-AB0E-292D-BA08-459F27C5E0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1152525"/>
            <a:ext cx="12192000" cy="5497728"/>
          </a:xfrm>
        </p:spPr>
        <p:txBody>
          <a:bodyPr>
            <a:normAutofit/>
          </a:bodyPr>
          <a:lstStyle/>
          <a:p>
            <a:r>
              <a:rPr kumimoji="1"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금융</a:t>
            </a:r>
            <a:r>
              <a:rPr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kumimoji="1"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국가 보안 </a:t>
            </a:r>
            <a:r>
              <a:rPr kumimoji="1"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kumimoji="1" lang="en" altLang="ko-Kore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Finance &amp; Security)</a:t>
            </a:r>
            <a:endParaRPr kumimoji="1" lang="en-US" altLang="ko-Kore-KR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kumimoji="1" lang="en" altLang="ko-Kore-KR" sz="3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kumimoji="1"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</a:t>
            </a:r>
            <a:r>
              <a:rPr kumimoji="1"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글로벌 선도 기업 도입</a:t>
            </a:r>
            <a:endParaRPr kumimoji="1" lang="en-US" altLang="ko-KR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/>
            <a:r>
              <a:rPr kumimoji="1" lang="en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Duality Technologies </a:t>
            </a:r>
            <a:r>
              <a:rPr kumimoji="1"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 주요 기업들이 </a:t>
            </a:r>
            <a:r>
              <a:rPr kumimoji="1" lang="ko-KR" altLang="en-US" sz="16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사기 탐지</a:t>
            </a:r>
            <a:r>
              <a:rPr kumimoji="1" lang="en-US" altLang="ko-KR" sz="16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kumimoji="1" lang="ko-KR" altLang="en-US" sz="16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자금세탁방지</a:t>
            </a:r>
            <a:r>
              <a:rPr kumimoji="1" lang="en-US" altLang="ko-KR" sz="16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kumimoji="1" lang="en" altLang="ko-KR" sz="16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AML), </a:t>
            </a:r>
            <a:r>
              <a:rPr kumimoji="1" lang="ko-KR" altLang="en-US" sz="16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신원 확인</a:t>
            </a:r>
            <a:r>
              <a:rPr kumimoji="1"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kumimoji="1" lang="en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KYC) </a:t>
            </a:r>
            <a:r>
              <a:rPr kumimoji="1"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프로세스에 동형암호 도입</a:t>
            </a:r>
            <a:r>
              <a:rPr kumimoji="1"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endParaRPr kumimoji="1"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/>
            <a:endParaRPr kumimoji="1" lang="en-US" altLang="ko-KR" sz="1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kumimoji="1"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</a:t>
            </a:r>
            <a:r>
              <a:rPr kumimoji="1"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빅테크 협력</a:t>
            </a:r>
            <a:endParaRPr kumimoji="1" lang="en-US" altLang="ko-KR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/>
            <a:r>
              <a:rPr kumimoji="1" lang="en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AWS, Google Cloud, Azure </a:t>
            </a:r>
            <a:r>
              <a:rPr kumimoji="1"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 </a:t>
            </a:r>
            <a:r>
              <a:rPr kumimoji="1" lang="ko-KR" altLang="en-US" sz="18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글로벌 대형 클라우드 플랫폼과의 파트너십 체결 및 분석 플랫폼</a:t>
            </a:r>
            <a:r>
              <a:rPr kumimoji="1"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연동</a:t>
            </a:r>
            <a:endParaRPr kumimoji="1"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/>
            <a:endParaRPr kumimoji="1" lang="en-US" altLang="ko-Kore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kumimoji="1"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의료</a:t>
            </a:r>
            <a:r>
              <a:rPr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kumimoji="1"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바이오 분야 </a:t>
            </a:r>
            <a:r>
              <a:rPr kumimoji="1"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kumimoji="1" lang="en" altLang="ko-Kore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Medical &amp; Bio)</a:t>
            </a:r>
          </a:p>
          <a:p>
            <a:endParaRPr kumimoji="1" lang="en" altLang="ko-Kore-KR" sz="3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kumimoji="1"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</a:t>
            </a:r>
            <a:r>
              <a:rPr kumimoji="1"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en" altLang="ko-Kore-KR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iDASH</a:t>
            </a:r>
            <a:r>
              <a:rPr kumimoji="1" lang="en" altLang="ko-Kore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경진대회 진행 </a:t>
            </a:r>
            <a:r>
              <a:rPr kumimoji="1"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(2014~)</a:t>
            </a:r>
            <a:endParaRPr kumimoji="1"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/>
            <a:r>
              <a:rPr kumimoji="1" lang="ko-KR" altLang="en-US" sz="17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글로벌 연구 기관들이 참여하여 </a:t>
            </a:r>
            <a:r>
              <a:rPr kumimoji="1" lang="ko-KR" altLang="en-US" sz="1700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다기관 유전체 및 임상 데이터</a:t>
            </a:r>
            <a:r>
              <a:rPr kumimoji="1" lang="ko-KR" altLang="en-US" sz="17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결합 시 연산 정확도와 보안을 동시 확보하는 연구 진행</a:t>
            </a:r>
            <a:endParaRPr kumimoji="1" lang="en-US" altLang="ko-KR" sz="17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538925-B14F-653F-E953-4DC7EB6A7C00}"/>
              </a:ext>
            </a:extLst>
          </p:cNvPr>
          <p:cNvSpPr txBox="1"/>
          <p:nvPr/>
        </p:nvSpPr>
        <p:spPr>
          <a:xfrm>
            <a:off x="0" y="6543283"/>
            <a:ext cx="49552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ea typeface="맑은 고딕"/>
              </a:rPr>
              <a:t>[iDASH] iDASH Privacy &amp; Security Workshop, http://www.humangenomeprivacy.org/</a:t>
            </a:r>
          </a:p>
        </p:txBody>
      </p:sp>
      <p:pic>
        <p:nvPicPr>
          <p:cNvPr id="5" name="그림 4" descr="Duality Technologies Named to RegTech100 for 2024">
            <a:extLst>
              <a:ext uri="{FF2B5EF4-FFF2-40B4-BE49-F238E27FC236}">
                <a16:creationId xmlns:a16="http://schemas.microsoft.com/office/drawing/2014/main" id="{57BBB69D-DE36-D87D-176E-4881F714D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958" y="1549097"/>
            <a:ext cx="2259082" cy="674630"/>
          </a:xfrm>
          <a:prstGeom prst="rect">
            <a:avLst/>
          </a:prstGeom>
        </p:spPr>
      </p:pic>
      <p:pic>
        <p:nvPicPr>
          <p:cNvPr id="6" name="그림 5" descr="아마존 웹 서비스 - 위키백과, 우리 모두의 백과사전">
            <a:extLst>
              <a:ext uri="{FF2B5EF4-FFF2-40B4-BE49-F238E27FC236}">
                <a16:creationId xmlns:a16="http://schemas.microsoft.com/office/drawing/2014/main" id="{7D5A44EA-B36E-6779-0037-4E1CE8B01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384" y="2714542"/>
            <a:ext cx="781050" cy="468630"/>
          </a:xfrm>
          <a:prstGeom prst="rect">
            <a:avLst/>
          </a:prstGeom>
        </p:spPr>
      </p:pic>
      <p:pic>
        <p:nvPicPr>
          <p:cNvPr id="7" name="그림 6" descr="Microsoft Azure가 뭐야?">
            <a:extLst>
              <a:ext uri="{FF2B5EF4-FFF2-40B4-BE49-F238E27FC236}">
                <a16:creationId xmlns:a16="http://schemas.microsoft.com/office/drawing/2014/main" id="{1051FF39-ECBB-A9C2-5FFA-BBEF239BB0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930" t="15803" r="16704" b="20596"/>
          <a:stretch>
            <a:fillRect/>
          </a:stretch>
        </p:blipFill>
        <p:spPr>
          <a:xfrm>
            <a:off x="5702471" y="2530677"/>
            <a:ext cx="1206501" cy="652495"/>
          </a:xfrm>
          <a:prstGeom prst="rect">
            <a:avLst/>
          </a:prstGeom>
        </p:spPr>
      </p:pic>
      <p:pic>
        <p:nvPicPr>
          <p:cNvPr id="8" name="그림 7" descr="파일:Google Cloud logo.svg - 위키백과, 우리 모두의 백과사전">
            <a:extLst>
              <a:ext uri="{FF2B5EF4-FFF2-40B4-BE49-F238E27FC236}">
                <a16:creationId xmlns:a16="http://schemas.microsoft.com/office/drawing/2014/main" id="{0FE2B18A-829D-477B-F3F0-31CC8F3D00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9188" y="2800535"/>
            <a:ext cx="1917701" cy="2966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B16AB7E-DF56-B93C-DE20-E6154180F2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5398" y="4355548"/>
            <a:ext cx="507805" cy="518168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DC96AA5-A745-F16A-38E4-916BBA4D5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4517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12BCFB-3767-1F06-B3A8-265329EC9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국외 동형암호 적용 현황</a:t>
            </a:r>
            <a:endParaRPr lang="ko-Kore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844668F4-C105-6560-F35D-08F1871A174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0" y="1152526"/>
                <a:ext cx="12191999" cy="5836854"/>
              </a:xfrm>
            </p:spPr>
            <p:txBody>
              <a:bodyPr>
                <a:normAutofit/>
              </a:bodyPr>
              <a:lstStyle/>
              <a:p>
                <a:r>
                  <a:rPr kumimoji="1" lang="ko-KR" altLang="en-US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블록체인</a:t>
                </a:r>
                <a:r>
                  <a:rPr lang="en-US" altLang="ko-KR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·</a:t>
                </a:r>
                <a:r>
                  <a:rPr kumimoji="1" lang="en" altLang="ko-Kore-KR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Web3 </a:t>
                </a:r>
                <a:r>
                  <a:rPr kumimoji="1" lang="ko-KR" altLang="en-US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분야 </a:t>
                </a:r>
                <a:endParaRPr kumimoji="1" lang="en-US" altLang="ko-KR" sz="5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marL="457200" lvl="1" indent="0">
                  <a:buNone/>
                </a:pPr>
                <a:r>
                  <a:rPr kumimoji="1" lang="en-US" altLang="ko-KR" sz="22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1.</a:t>
                </a:r>
                <a:r>
                  <a:rPr kumimoji="1" lang="ko-KR" altLang="en-US" sz="22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기밀 스마트 </a:t>
                </a:r>
                <a:r>
                  <a:rPr kumimoji="1" lang="ko-KR" altLang="en-US" sz="2200" b="1" dirty="0" err="1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컨트랙트</a:t>
                </a:r>
                <a:r>
                  <a:rPr kumimoji="1" lang="ko-KR" altLang="en-US" sz="22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환경 구축</a:t>
                </a:r>
                <a:endParaRPr kumimoji="1" lang="en" altLang="ko-Kore-KR" sz="2200" b="1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2"/>
                <a:r>
                  <a:rPr kumimoji="1" lang="en" altLang="ko-Kore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Zama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는 </a:t>
                </a:r>
                <a:r>
                  <a:rPr kumimoji="1" lang="en" altLang="ko-Kore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TFHE 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기반 </a:t>
                </a:r>
                <a:r>
                  <a:rPr kumimoji="1" lang="en" altLang="ko-Kore-KR" dirty="0">
                    <a:highlight>
                      <a:srgbClr val="FFFF00"/>
                    </a:highlight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FHE </a:t>
                </a:r>
                <a:r>
                  <a:rPr kumimoji="1" lang="ko-KR" altLang="en-US" dirty="0">
                    <a:highlight>
                      <a:srgbClr val="FFFF00"/>
                    </a:highlight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가상머신</a:t>
                </a:r>
                <a:r>
                  <a:rPr kumimoji="1" lang="en-US" altLang="ko-KR" dirty="0">
                    <a:highlight>
                      <a:srgbClr val="FFFF00"/>
                    </a:highlight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(</a:t>
                </a:r>
                <a:r>
                  <a:rPr kumimoji="1" lang="en" altLang="ko-Kore-KR" dirty="0" err="1">
                    <a:highlight>
                      <a:srgbClr val="FFFF00"/>
                    </a:highlight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fhEVM</a:t>
                </a:r>
                <a:r>
                  <a:rPr kumimoji="1" lang="en" altLang="ko-Kore-KR" dirty="0">
                    <a:highlight>
                      <a:srgbClr val="FFFF00"/>
                    </a:highlight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)</a:t>
                </a:r>
                <a:r>
                  <a:rPr kumimoji="1" lang="ko-KR" altLang="en-US" dirty="0">
                    <a:highlight>
                      <a:srgbClr val="FFFF00"/>
                    </a:highlight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을 개발하여 기밀 스마트 </a:t>
                </a:r>
                <a:r>
                  <a:rPr kumimoji="1" lang="ko-KR" altLang="en-US" dirty="0" err="1">
                    <a:highlight>
                      <a:srgbClr val="FFFF00"/>
                    </a:highlight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컨트랙트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환경 구축</a:t>
                </a:r>
                <a:endParaRPr kumimoji="1" lang="en-US" altLang="ko-KR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2"/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거래 투명성 및 프라이버시 분야</a:t>
                </a:r>
                <a:r>
                  <a:rPr kumimoji="1" lang="en-US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(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토큰 </a:t>
                </a:r>
                <a:r>
                  <a:rPr kumimoji="1" lang="ko-KR" altLang="en-US" dirty="0" err="1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스왑</a:t>
                </a:r>
                <a:r>
                  <a:rPr kumimoji="1" lang="en-US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,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비공개 입찰</a:t>
                </a:r>
                <a:r>
                  <a:rPr kumimoji="1" lang="en-US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)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로 동형암호 적용 범위 확장 중</a:t>
                </a:r>
                <a:endParaRPr kumimoji="1" lang="en-US" altLang="ko-KR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2"/>
                <a:endParaRPr kumimoji="1" lang="en-US" altLang="ko-KR" sz="8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r>
                  <a:rPr kumimoji="1" lang="en" altLang="ko-KR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AI·</a:t>
                </a:r>
                <a:r>
                  <a:rPr kumimoji="1" lang="ko-KR" altLang="en-US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클라우드 분야 </a:t>
                </a:r>
                <a:r>
                  <a:rPr kumimoji="1" lang="en-US" altLang="ko-KR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(</a:t>
                </a:r>
                <a:r>
                  <a:rPr kumimoji="1" lang="en" altLang="ko-KR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AI &amp; Cloud)</a:t>
                </a:r>
                <a:endParaRPr kumimoji="1" lang="en" altLang="ko-KR" sz="500" b="1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marL="457200" lvl="1" indent="0">
                  <a:buNone/>
                </a:pPr>
                <a:r>
                  <a:rPr kumimoji="1" lang="en-US" altLang="ko-KR" sz="22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1.</a:t>
                </a:r>
                <a:r>
                  <a:rPr kumimoji="1" lang="ko-KR" altLang="en-US" sz="22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하이브리드 프레임워크 연구</a:t>
                </a:r>
                <a:endParaRPr kumimoji="1" lang="en-US" altLang="ko-KR" sz="2200" b="1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2"/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프라이버시 보존 </a:t>
                </a:r>
                <a:r>
                  <a:rPr kumimoji="1" lang="ko-KR" altLang="en-US" dirty="0" err="1">
                    <a:highlight>
                      <a:srgbClr val="FFFF00"/>
                    </a:highlight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머신러닝</a:t>
                </a:r>
                <a:r>
                  <a:rPr kumimoji="1" lang="en-US" altLang="ko-KR" dirty="0">
                    <a:highlight>
                      <a:srgbClr val="FFFF00"/>
                    </a:highlight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(</a:t>
                </a:r>
                <a:r>
                  <a:rPr kumimoji="1" lang="en" altLang="ko-KR" dirty="0">
                    <a:highlight>
                      <a:srgbClr val="FFFF00"/>
                    </a:highlight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PPML) </a:t>
                </a:r>
                <a:r>
                  <a:rPr kumimoji="1" lang="ko-KR" altLang="en-US" dirty="0">
                    <a:highlight>
                      <a:srgbClr val="FFFF00"/>
                    </a:highlight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추론 분야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에서 </a:t>
                </a:r>
                <a:r>
                  <a:rPr kumimoji="1" lang="en-US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2016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년 </a:t>
                </a:r>
                <a:r>
                  <a:rPr kumimoji="1" lang="en" altLang="ko-KR" dirty="0" err="1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CryptoNets</a:t>
                </a:r>
                <a:r>
                  <a:rPr kumimoji="1" lang="en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이후 </a:t>
                </a:r>
                <a:r>
                  <a:rPr kumimoji="1" lang="en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GAZELLE, BOLT, BLB 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등 동형암호와 다자간 계산</a:t>
                </a:r>
                <a:r>
                  <a:rPr kumimoji="1" lang="en-US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(</a:t>
                </a:r>
                <a:r>
                  <a:rPr kumimoji="1" lang="en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MPC)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을 결합한 하이브리드 프레임워크 연구 진행</a:t>
                </a:r>
                <a:endParaRPr kumimoji="1" lang="en-US" altLang="ko-KR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2"/>
                <a:endParaRPr kumimoji="1" lang="en-US" altLang="ko-KR" sz="8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marL="457200" lvl="1" indent="0">
                  <a:buNone/>
                </a:pPr>
                <a:r>
                  <a:rPr kumimoji="1" lang="en-US" altLang="ko-KR" sz="22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2.</a:t>
                </a:r>
                <a:r>
                  <a:rPr kumimoji="1" lang="ko-KR" altLang="en-US" sz="22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클라우드 기반 보안 분석</a:t>
                </a:r>
                <a:endParaRPr kumimoji="1" lang="en-US" altLang="ko-KR" sz="2200" b="1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2"/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연산 오버헤드가 초기 </a:t>
                </a:r>
                <a:r>
                  <a:rPr kumimoji="1" lang="ko-KR" altLang="en-US" dirty="0" err="1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평문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대비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ko-KR" altLang="en-US" i="1" smtClean="0">
                            <a:latin typeface="Cambria Math" panose="02040503050406030204" pitchFamily="18" charset="0"/>
                            <a:ea typeface="맑은 고딕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맑은 고딕"/>
                          </a:rPr>
                          <m:t>~10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맑은 고딕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배 수준</a:t>
                </a:r>
                <a:r>
                  <a:rPr kumimoji="1" lang="en-US" altLang="ko-KR" sz="14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[IEEE’24]</a:t>
                </a:r>
                <a:r>
                  <a:rPr kumimoji="1" lang="ko-KR" altLang="en-US" dirty="0" err="1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으로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개선되었으며</a:t>
                </a:r>
                <a:r>
                  <a:rPr kumimoji="1" lang="en-US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, </a:t>
                </a:r>
                <a:br>
                  <a:rPr kumimoji="1" lang="en-US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</a:b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이를 기반으로 </a:t>
                </a:r>
                <a:r>
                  <a:rPr kumimoji="1" lang="en" altLang="ko-KR" dirty="0">
                    <a:highlight>
                      <a:srgbClr val="FFFF00"/>
                    </a:highlight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FHE-as-a-Service </a:t>
                </a:r>
                <a:r>
                  <a:rPr kumimoji="1" lang="ko-KR" altLang="en-US" dirty="0">
                    <a:highlight>
                      <a:srgbClr val="FFFF00"/>
                    </a:highlight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모델이 등장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하여 클라우드 기반 보안 분석으로 확산</a:t>
                </a:r>
                <a:endParaRPr kumimoji="1" lang="en-US" altLang="ko-KR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2"/>
                <a:endParaRPr kumimoji="1" lang="en-US" altLang="ko-KR" sz="8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r>
                  <a:rPr kumimoji="1" lang="ko-KR" altLang="en-US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하드웨어 분야 </a:t>
                </a:r>
                <a:r>
                  <a:rPr kumimoji="1" lang="en-US" altLang="ko-KR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(Hardware</a:t>
                </a:r>
                <a:r>
                  <a:rPr kumimoji="1" lang="en" altLang="ko-KR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)</a:t>
                </a:r>
              </a:p>
              <a:p>
                <a:pPr lvl="1"/>
                <a:r>
                  <a:rPr kumimoji="1" lang="ko-KR" altLang="en-US" sz="20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동형암호 가속을 위한 </a:t>
                </a:r>
                <a:r>
                  <a:rPr kumimoji="1" lang="en" altLang="ko-KR" sz="20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ASIC </a:t>
                </a:r>
                <a:r>
                  <a:rPr kumimoji="1" lang="ko-KR" altLang="en-US" sz="20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설계</a:t>
                </a:r>
                <a:r>
                  <a:rPr kumimoji="1" lang="en-US" altLang="ko-KR" sz="20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,</a:t>
                </a:r>
                <a:r>
                  <a:rPr kumimoji="1" lang="ko-KR" altLang="en-US" sz="20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</a:t>
                </a:r>
                <a:r>
                  <a:rPr kumimoji="1" lang="en" altLang="ko-KR" sz="2000" dirty="0">
                    <a:highlight>
                      <a:srgbClr val="FFFF00"/>
                    </a:highlight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GPU </a:t>
                </a:r>
                <a:r>
                  <a:rPr kumimoji="1" lang="ko-KR" altLang="en-US" sz="2000" dirty="0">
                    <a:highlight>
                      <a:srgbClr val="FFFF00"/>
                    </a:highlight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가속 최적화 연구 진행 중</a:t>
                </a:r>
                <a:r>
                  <a:rPr kumimoji="1" lang="en-US" altLang="ko-KR" sz="14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[HE.org’25]</a:t>
                </a:r>
                <a:r>
                  <a:rPr kumimoji="1" lang="en-US" altLang="ko-KR" sz="12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</a:t>
                </a:r>
                <a:endParaRPr kumimoji="1" lang="ko-KR" altLang="en-US" sz="20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844668F4-C105-6560-F35D-08F1871A1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0" y="1152526"/>
                <a:ext cx="12191999" cy="5836854"/>
              </a:xfrm>
              <a:blipFill>
                <a:blip r:embed="rId2"/>
                <a:stretch>
                  <a:fillRect l="-900" t="-19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 descr="Zama의 에어드롭 가이드: 테스트넷 참여를 통한 ZAMA 토큰 획득 | CoinEx Academy">
            <a:extLst>
              <a:ext uri="{FF2B5EF4-FFF2-40B4-BE49-F238E27FC236}">
                <a16:creationId xmlns:a16="http://schemas.microsoft.com/office/drawing/2014/main" id="{3C01A542-6683-C0EB-4C93-5821770DC5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72" t="31759" r="10642" b="31514"/>
          <a:stretch>
            <a:fillRect/>
          </a:stretch>
        </p:blipFill>
        <p:spPr>
          <a:xfrm>
            <a:off x="4717188" y="1550503"/>
            <a:ext cx="1519240" cy="38888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B182C5C-626B-293C-1D3B-AF9BA055C5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326"/>
          <a:stretch>
            <a:fillRect/>
          </a:stretch>
        </p:blipFill>
        <p:spPr>
          <a:xfrm>
            <a:off x="9106812" y="5471750"/>
            <a:ext cx="3121399" cy="12956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7431B9F-8860-7F70-3DF1-228D7020C4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8793"/>
          <a:stretch>
            <a:fillRect/>
          </a:stretch>
        </p:blipFill>
        <p:spPr>
          <a:xfrm>
            <a:off x="4951310" y="5595312"/>
            <a:ext cx="2977907" cy="4794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D78EA0-B987-D10F-2A6E-385A24622680}"/>
              </a:ext>
            </a:extLst>
          </p:cNvPr>
          <p:cNvSpPr txBox="1"/>
          <p:nvPr/>
        </p:nvSpPr>
        <p:spPr>
          <a:xfrm>
            <a:off x="0" y="6457890"/>
            <a:ext cx="75488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[HE.org’25] HomomorphicEncryption.org, “WAHC 2025,” https://homomorphicencryption.org/wahc-2025/</a:t>
            </a:r>
          </a:p>
          <a:p>
            <a:r>
              <a:rPr kumimoji="1" lang="en-US" altLang="ko-KR" sz="10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[IEEE’24] “Intel’s FHE Accelerator,” IEEE Spectrum, https://spectrum.ieee.org/fhe-intel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34876F-A7EE-3EBB-54BC-D727301D7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5573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6451A-58E0-30A2-6817-66FD13F8B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ore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주요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동형암호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라이브러리 동향</a:t>
            </a:r>
            <a:endParaRPr lang="ko-Kore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5D0999-81DD-3929-050B-9090053DD2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870" y="1345949"/>
            <a:ext cx="11971129" cy="1165072"/>
          </a:xfrm>
        </p:spPr>
        <p:txBody>
          <a:bodyPr>
            <a:normAutofit/>
          </a:bodyPr>
          <a:lstStyle/>
          <a:p>
            <a:r>
              <a:rPr kumimoji="1" lang="ko-KR" altLang="en-US" sz="2000" b="1" dirty="0">
                <a:solidFill>
                  <a:schemeClr val="accent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 목적</a:t>
            </a:r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 지원 </a:t>
            </a:r>
            <a:r>
              <a:rPr kumimoji="1" lang="ko-KR" altLang="en-US" sz="2000" b="1" dirty="0">
                <a:solidFill>
                  <a:schemeClr val="accent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연산 </a:t>
            </a:r>
            <a:r>
              <a:rPr kumimoji="1" lang="ko-KR" altLang="en-US" sz="2000" b="1" dirty="0" err="1">
                <a:solidFill>
                  <a:schemeClr val="accent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</a:t>
            </a:r>
            <a:r>
              <a:rPr kumimoji="1"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kumimoji="1" lang="en" altLang="ko-Kore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BGV, BFV, CKKS, TFHE </a:t>
            </a:r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</a:t>
            </a:r>
            <a:r>
              <a:rPr kumimoji="1"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따라 </a:t>
            </a:r>
            <a:r>
              <a:rPr kumimoji="1" lang="ko-KR" altLang="en-US" sz="2000" b="1" dirty="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다양한 오픈소스 라이브러리</a:t>
            </a:r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개발</a:t>
            </a:r>
            <a:endParaRPr kumimoji="1" lang="en-US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최근에는 고수준 언어를 </a:t>
            </a:r>
            <a:r>
              <a:rPr kumimoji="1" lang="ko-KR" altLang="en-US" sz="2000" b="1" dirty="0">
                <a:solidFill>
                  <a:schemeClr val="accent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연산으로 자동 변환</a:t>
            </a:r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하는 컴파일러 프레임워크 연구까지 진행 중</a:t>
            </a:r>
            <a:endParaRPr kumimoji="1" lang="ko-Kore-KR" altLang="en-US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1FE3470-A288-A029-F839-B27A63583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102483"/>
              </p:ext>
            </p:extLst>
          </p:nvPr>
        </p:nvGraphicFramePr>
        <p:xfrm>
          <a:off x="411163" y="2608221"/>
          <a:ext cx="11133960" cy="3703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575">
                  <a:extLst>
                    <a:ext uri="{9D8B030D-6E8A-4147-A177-3AD203B41FA5}">
                      <a16:colId xmlns:a16="http://schemas.microsoft.com/office/drawing/2014/main" val="157980270"/>
                    </a:ext>
                  </a:extLst>
                </a:gridCol>
                <a:gridCol w="3231186">
                  <a:extLst>
                    <a:ext uri="{9D8B030D-6E8A-4147-A177-3AD203B41FA5}">
                      <a16:colId xmlns:a16="http://schemas.microsoft.com/office/drawing/2014/main" val="3232128511"/>
                    </a:ext>
                  </a:extLst>
                </a:gridCol>
                <a:gridCol w="3747119">
                  <a:extLst>
                    <a:ext uri="{9D8B030D-6E8A-4147-A177-3AD203B41FA5}">
                      <a16:colId xmlns:a16="http://schemas.microsoft.com/office/drawing/2014/main" val="2064466950"/>
                    </a:ext>
                  </a:extLst>
                </a:gridCol>
                <a:gridCol w="2801080">
                  <a:extLst>
                    <a:ext uri="{9D8B030D-6E8A-4147-A177-3AD203B41FA5}">
                      <a16:colId xmlns:a16="http://schemas.microsoft.com/office/drawing/2014/main" val="3185451531"/>
                    </a:ext>
                  </a:extLst>
                </a:gridCol>
              </a:tblGrid>
              <a:tr h="420192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라이브러리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지원</a:t>
                      </a: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ko-KR" altLang="en-US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스킴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개발</a:t>
                      </a:r>
                      <a:r>
                        <a:rPr lang="ko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기관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3125996"/>
                  </a:ext>
                </a:extLst>
              </a:tr>
              <a:tr h="547205">
                <a:tc rowSpan="3">
                  <a:txBody>
                    <a:bodyPr/>
                    <a:lstStyle/>
                    <a:p>
                      <a:pPr algn="ctr"/>
                      <a:r>
                        <a:rPr lang="ko-Kore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미국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OpenFHE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BGV, BFV, CKKS, DM, </a:t>
                      </a:r>
                      <a:r>
                        <a:rPr lang="en-US" altLang="ko-Kore-KR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CGGl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ore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Duality </a:t>
                      </a:r>
                      <a:endParaRPr lang="ko-Kore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057618"/>
                  </a:ext>
                </a:extLst>
              </a:tr>
              <a:tr h="547205">
                <a:tc vMerge="1">
                  <a:txBody>
                    <a:bodyPr/>
                    <a:lstStyle/>
                    <a:p>
                      <a:pPr algn="ctr"/>
                      <a:endParaRPr lang="ko-Kore-KR" altLang="en-US" dirty="0"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Microsoft SEAL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BFV, BGV, CKKS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ore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Microsoft</a:t>
                      </a:r>
                      <a:endParaRPr lang="ko-Kore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396786"/>
                  </a:ext>
                </a:extLst>
              </a:tr>
              <a:tr h="547205">
                <a:tc vMerge="1">
                  <a:txBody>
                    <a:bodyPr/>
                    <a:lstStyle/>
                    <a:p>
                      <a:pPr algn="ctr"/>
                      <a:endParaRPr lang="ko-Kore-KR" altLang="en-US" dirty="0"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HElib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BGV, CKKS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ore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IBM</a:t>
                      </a:r>
                      <a:endParaRPr lang="ko-Kore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8528330"/>
                  </a:ext>
                </a:extLst>
              </a:tr>
              <a:tr h="547205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프랑스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Zama Concrete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TFHE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ore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Zama</a:t>
                      </a:r>
                      <a:endParaRPr lang="ko-Kore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614652"/>
                  </a:ext>
                </a:extLst>
              </a:tr>
              <a:tr h="547205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스위스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Lattigo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CKKS, BFV, BGV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ore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EPFL</a:t>
                      </a:r>
                      <a:endParaRPr lang="ko-Kore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534767"/>
                  </a:ext>
                </a:extLst>
              </a:tr>
              <a:tr h="547205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벨기에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TFHE-lib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TFHE</a:t>
                      </a:r>
                      <a:endParaRPr lang="ko-Kore-KR" altLang="en-US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ore-KR" sz="14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KU Leuven</a:t>
                      </a:r>
                      <a:endParaRPr lang="ko-Kore-KR" alt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018130"/>
                  </a:ext>
                </a:extLst>
              </a:tr>
            </a:tbl>
          </a:graphicData>
        </a:graphic>
      </p:graphicFrame>
      <p:pic>
        <p:nvPicPr>
          <p:cNvPr id="11" name="그림 10" descr="파일:Microsoft logo (2012).svg - 위키백과, 우리 모두의 백과사전">
            <a:extLst>
              <a:ext uri="{FF2B5EF4-FFF2-40B4-BE49-F238E27FC236}">
                <a16:creationId xmlns:a16="http://schemas.microsoft.com/office/drawing/2014/main" id="{FDA0BEE2-C5D4-BF31-DDE6-98CACC26E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2462" y="3709059"/>
            <a:ext cx="1513313" cy="321579"/>
          </a:xfrm>
          <a:prstGeom prst="rect">
            <a:avLst/>
          </a:prstGeom>
        </p:spPr>
      </p:pic>
      <p:pic>
        <p:nvPicPr>
          <p:cNvPr id="12" name="그림 11" descr="파일:IBM logo.svg - 위키백과, 우리 모두의 백과사전">
            <a:extLst>
              <a:ext uri="{FF2B5EF4-FFF2-40B4-BE49-F238E27FC236}">
                <a16:creationId xmlns:a16="http://schemas.microsoft.com/office/drawing/2014/main" id="{6F5E33F8-CDF8-0DC0-D94C-8BC952C6A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5754" y="4238906"/>
            <a:ext cx="861132" cy="321579"/>
          </a:xfrm>
          <a:prstGeom prst="rect">
            <a:avLst/>
          </a:prstGeom>
        </p:spPr>
      </p:pic>
      <p:pic>
        <p:nvPicPr>
          <p:cNvPr id="13" name="그림 12" descr="Duality Technologies Named to RegTech100 for 2024">
            <a:extLst>
              <a:ext uri="{FF2B5EF4-FFF2-40B4-BE49-F238E27FC236}">
                <a16:creationId xmlns:a16="http://schemas.microsoft.com/office/drawing/2014/main" id="{1F9FC04E-A8C3-F43A-9A23-F2B633C13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3229" y="3061959"/>
            <a:ext cx="1695736" cy="506398"/>
          </a:xfrm>
          <a:prstGeom prst="rect">
            <a:avLst/>
          </a:prstGeom>
        </p:spPr>
      </p:pic>
      <p:pic>
        <p:nvPicPr>
          <p:cNvPr id="14" name="그림 13" descr="Zama의 에어드롭 가이드: 테스트넷 참여를 통한 ZAMA 토큰 획득 | CoinEx Academy">
            <a:extLst>
              <a:ext uri="{FF2B5EF4-FFF2-40B4-BE49-F238E27FC236}">
                <a16:creationId xmlns:a16="http://schemas.microsoft.com/office/drawing/2014/main" id="{682052AB-1CF6-C978-1C7C-31A0BAD5B5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372" t="31759" r="10642" b="31514"/>
          <a:stretch>
            <a:fillRect/>
          </a:stretch>
        </p:blipFill>
        <p:spPr>
          <a:xfrm>
            <a:off x="9767281" y="4768753"/>
            <a:ext cx="1427365" cy="36536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35720BE-89C4-E592-98A7-79D7FBA7A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2266" y="5306223"/>
            <a:ext cx="1189000" cy="384725"/>
          </a:xfrm>
          <a:prstGeom prst="rect">
            <a:avLst/>
          </a:prstGeom>
        </p:spPr>
      </p:pic>
      <p:pic>
        <p:nvPicPr>
          <p:cNvPr id="16" name="그림 15" descr="파일:KU Leuven logo.svg">
            <a:extLst>
              <a:ext uri="{FF2B5EF4-FFF2-40B4-BE49-F238E27FC236}">
                <a16:creationId xmlns:a16="http://schemas.microsoft.com/office/drawing/2014/main" id="{40B74233-4304-8227-6572-3E83583667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8386" y="5832063"/>
            <a:ext cx="1189000" cy="42358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91BF0C-40B7-0B3A-FB54-E49239B95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0486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FF3731-4D8F-1F56-F7D0-26F339D8B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기술 발전 및 연구 동향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FB4DC8A-D732-B53F-648E-83F5CB832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480" y="1270010"/>
            <a:ext cx="9783529" cy="5503235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49E8FEC-2C1B-2B39-27BF-B8B438849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A3B25AE0-8A72-B488-C832-F1CB0D02A6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35339" y="1049228"/>
            <a:ext cx="12227339" cy="3880581"/>
          </a:xfrm>
        </p:spPr>
        <p:txBody>
          <a:bodyPr>
            <a:normAutofit/>
          </a:bodyPr>
          <a:lstStyle/>
          <a:p>
            <a:r>
              <a:rPr lang="ko-KR" altLang="ko-KR" sz="1400" dirty="0">
                <a:highlight>
                  <a:srgbClr val="FFFF00"/>
                </a:highlight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부분동형암호(PHE)에서 SWHE·FHE·CKKS 기반 </a:t>
            </a:r>
            <a:r>
              <a:rPr lang="en-US" altLang="ko-KR" sz="1400" dirty="0">
                <a:highlight>
                  <a:srgbClr val="FFFF00"/>
                </a:highlight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F</a:t>
            </a:r>
            <a:r>
              <a:rPr lang="ko-KR" altLang="ko-KR" sz="1400" dirty="0" err="1">
                <a:highlight>
                  <a:srgbClr val="FFFF00"/>
                </a:highlight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HE로</a:t>
            </a:r>
            <a:r>
              <a:rPr lang="ko-KR" altLang="ko-KR" sz="1400" dirty="0">
                <a:highlight>
                  <a:srgbClr val="FFFF00"/>
                </a:highlight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발전하며, 최근에는 </a:t>
            </a:r>
            <a:r>
              <a:rPr lang="ko-KR" altLang="ko-KR" sz="1400" dirty="0" err="1">
                <a:highlight>
                  <a:srgbClr val="FFFF00"/>
                </a:highlight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라이브러리·시스템·하드웨어</a:t>
            </a:r>
            <a:r>
              <a:rPr lang="ko-KR" altLang="ko-KR" sz="1400" dirty="0">
                <a:highlight>
                  <a:srgbClr val="FFFF00"/>
                </a:highlight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가속 중심의 실용화 연구가 활발히 진행</a:t>
            </a:r>
            <a:endParaRPr lang="en-US" altLang="ko-KR" sz="100" b="1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6687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7CE6B-AB07-C45C-55AF-918523010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</a:t>
            </a:r>
            <a:r>
              <a:rPr lang="ko-KR" altLang="en-US" sz="3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기반 프라이버시 보존 </a:t>
            </a:r>
            <a:r>
              <a:rPr lang="ko-KR" altLang="en-US" sz="3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머신러닝</a:t>
            </a:r>
            <a:r>
              <a:rPr lang="ko-KR" altLang="en-US" sz="3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및 통신 효율화 연구 동향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0637BAFE-CB09-EFC6-6868-218F3F7AA6B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-35339" y="1152525"/>
                <a:ext cx="12138991" cy="5057775"/>
              </a:xfrm>
            </p:spPr>
            <p:txBody>
              <a:bodyPr>
                <a:normAutofit/>
              </a:bodyPr>
              <a:lstStyle/>
              <a:p>
                <a:r>
                  <a:rPr kumimoji="1" lang="ko-KR" altLang="en-US" sz="22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최근 </a:t>
                </a:r>
                <a:r>
                  <a:rPr kumimoji="1" lang="en-US" altLang="ko-KR" sz="22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FHE</a:t>
                </a:r>
                <a:r>
                  <a:rPr kumimoji="1" lang="ko-KR" altLang="en-US" sz="22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연구는 이론적 가능성 제시를 넘어 </a:t>
                </a:r>
                <a:r>
                  <a:rPr kumimoji="1" lang="ko-KR" altLang="en-US" sz="2200" b="1" dirty="0">
                    <a:solidFill>
                      <a:srgbClr val="2E75B6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실제 데이터 분석과 </a:t>
                </a:r>
                <a:r>
                  <a:rPr kumimoji="1" lang="ko-KR" altLang="en-US" sz="2200" b="1" dirty="0" err="1">
                    <a:solidFill>
                      <a:srgbClr val="2E75B6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머신러닝</a:t>
                </a:r>
                <a:r>
                  <a:rPr kumimoji="1" lang="ko-KR" altLang="en-US" sz="2200" b="1" dirty="0">
                    <a:solidFill>
                      <a:srgbClr val="2E75B6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적용 </a:t>
                </a:r>
                <a:r>
                  <a:rPr kumimoji="1" lang="ko-KR" altLang="en-US" sz="22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중심으로 발전</a:t>
                </a:r>
                <a:endParaRPr kumimoji="1" lang="en-US" altLang="ko-KR" sz="22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1"/>
                <a:r>
                  <a:rPr kumimoji="1" lang="ko-KR" altLang="en-US" sz="20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특히 </a:t>
                </a:r>
                <a:r>
                  <a:rPr kumimoji="1" lang="ko-KR" altLang="en-US" sz="2000" b="1" dirty="0">
                    <a:solidFill>
                      <a:srgbClr val="2E75B6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민감 데이터</a:t>
                </a:r>
                <a:r>
                  <a:rPr kumimoji="1" lang="en-US" altLang="ko-KR" sz="2000" b="1" dirty="0">
                    <a:solidFill>
                      <a:srgbClr val="2E75B6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(</a:t>
                </a:r>
                <a:r>
                  <a:rPr kumimoji="1" lang="ko-KR" altLang="en-US" sz="2000" b="1" dirty="0">
                    <a:solidFill>
                      <a:srgbClr val="2E75B6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의료</a:t>
                </a:r>
                <a14:m>
                  <m:oMath xmlns:m="http://schemas.openxmlformats.org/officeDocument/2006/math">
                    <m:r>
                      <a:rPr kumimoji="1" lang="ko-KR" altLang="en-US" sz="2000" b="1" i="1" smtClean="0">
                        <a:solidFill>
                          <a:srgbClr val="2E75B6"/>
                        </a:solidFill>
                        <a:latin typeface="Cambria Math" panose="02040503050406030204" pitchFamily="18" charset="0"/>
                        <a:ea typeface="맑은 고딕"/>
                      </a:rPr>
                      <m:t>·</m:t>
                    </m:r>
                  </m:oMath>
                </a14:m>
                <a:r>
                  <a:rPr kumimoji="1" lang="ko-KR" altLang="en-US" sz="2000" b="1" dirty="0">
                    <a:solidFill>
                      <a:srgbClr val="2E75B6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금융 </a:t>
                </a:r>
                <a14:m>
                  <m:oMath xmlns:m="http://schemas.openxmlformats.org/officeDocument/2006/math">
                    <m:r>
                      <a:rPr kumimoji="1" lang="ko-KR" altLang="en-US" sz="2000" b="1" i="1">
                        <a:solidFill>
                          <a:srgbClr val="2E75B6"/>
                        </a:solidFill>
                        <a:latin typeface="Cambria Math" panose="02040503050406030204" pitchFamily="18" charset="0"/>
                        <a:ea typeface="맑은 고딕"/>
                      </a:rPr>
                      <m:t>·</m:t>
                    </m:r>
                  </m:oMath>
                </a14:m>
                <a:r>
                  <a:rPr kumimoji="1" lang="ko-KR" altLang="en-US" sz="2000" b="1" dirty="0">
                    <a:solidFill>
                      <a:srgbClr val="2E75B6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클라우드</a:t>
                </a:r>
                <a:r>
                  <a:rPr kumimoji="1" lang="en-US" altLang="ko-KR" sz="2000" b="1" dirty="0">
                    <a:solidFill>
                      <a:srgbClr val="2E75B6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AI)</a:t>
                </a:r>
                <a:r>
                  <a:rPr kumimoji="1" lang="ko-KR" altLang="en-US" sz="20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를 복호화 없이 처리하기 위한 핵심 기술로 주목받고 있음</a:t>
                </a:r>
                <a:endParaRPr kumimoji="1" lang="en-US" altLang="ko-KR" sz="20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1"/>
                <a:endParaRPr kumimoji="1" lang="en-US" altLang="ko-KR" sz="20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r>
                  <a:rPr kumimoji="1" lang="ko-KR" altLang="en-US" sz="24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최근 연구는 크게 </a:t>
                </a:r>
                <a:r>
                  <a:rPr kumimoji="1" lang="en-US" altLang="ko-KR" sz="2400" b="1" dirty="0">
                    <a:solidFill>
                      <a:srgbClr val="2E75B6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3</a:t>
                </a:r>
                <a:r>
                  <a:rPr kumimoji="1" lang="ko-KR" altLang="en-US" sz="2400" b="1" dirty="0">
                    <a:solidFill>
                      <a:srgbClr val="2E75B6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가지 방향</a:t>
                </a:r>
                <a:r>
                  <a:rPr kumimoji="1" lang="ko-KR" altLang="en-US" sz="2400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으로 전개됨</a:t>
                </a:r>
                <a:endParaRPr kumimoji="1" lang="en-US" altLang="ko-KR" sz="24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1"/>
                <a:r>
                  <a:rPr kumimoji="1" lang="en-US" altLang="ko-KR" sz="20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PPML</a:t>
                </a:r>
                <a:r>
                  <a:rPr kumimoji="1" lang="ko-KR" altLang="en-US" sz="20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동향 정리</a:t>
                </a:r>
                <a:r>
                  <a:rPr kumimoji="1" lang="en-US" altLang="ko-KR" sz="20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[</a:t>
                </a:r>
                <a:r>
                  <a:rPr lang="ko-KR" altLang="ko-KR" sz="2000" b="1" dirty="0" err="1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Hong</a:t>
                </a:r>
                <a:r>
                  <a:rPr lang="en-US" altLang="ko-KR" sz="20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’25]</a:t>
                </a:r>
                <a:endParaRPr kumimoji="1" lang="en-US" altLang="ko-KR" sz="2000" b="1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2"/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</a:t>
                </a:r>
                <a:r>
                  <a:rPr kumimoji="1" lang="en-US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FHE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기반 프라이버시 보존 </a:t>
                </a:r>
                <a:r>
                  <a:rPr kumimoji="1" lang="ko-KR" altLang="en-US" dirty="0" err="1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머신러닝의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구조와 대표 기법 정리</a:t>
                </a:r>
                <a:endParaRPr kumimoji="1" lang="en-US" altLang="ko-KR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1"/>
                <a:endParaRPr kumimoji="1" lang="en-US" altLang="ko-KR" sz="2000" b="1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1"/>
                <a:r>
                  <a:rPr kumimoji="1" lang="ko-KR" altLang="en-US" sz="20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실용화 고려사항 분석</a:t>
                </a:r>
                <a:r>
                  <a:rPr kumimoji="1" lang="en-US" altLang="ko-KR" sz="20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[</a:t>
                </a:r>
                <a:r>
                  <a:rPr lang="ko-KR" altLang="ko-KR" sz="2000" b="1" dirty="0" err="1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Lo</a:t>
                </a:r>
                <a:r>
                  <a:rPr lang="en-US" altLang="ko-KR" sz="20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’24]</a:t>
                </a:r>
                <a:endParaRPr kumimoji="1" lang="en-US" altLang="ko-KR" sz="2000" b="1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2"/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성능</a:t>
                </a:r>
                <a:r>
                  <a:rPr kumimoji="1" lang="en-US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,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정확도</a:t>
                </a:r>
                <a:r>
                  <a:rPr kumimoji="1" lang="en-US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,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파라미터 선택</a:t>
                </a:r>
                <a:r>
                  <a:rPr kumimoji="1" lang="en-US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,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모델 변환 문제 분석</a:t>
                </a:r>
                <a:endParaRPr kumimoji="1" lang="en-US" altLang="ko-KR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1"/>
                <a:endParaRPr kumimoji="1" lang="en-US" altLang="ko-KR" sz="2000" b="1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1"/>
                <a:r>
                  <a:rPr kumimoji="1" lang="ko-KR" altLang="en-US" sz="20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통신 효율화 연구</a:t>
                </a:r>
                <a:r>
                  <a:rPr kumimoji="1" lang="en-US" altLang="ko-KR" sz="20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[</a:t>
                </a:r>
                <a:r>
                  <a:rPr lang="ko-KR" altLang="ko-KR" sz="2000" b="1" dirty="0" err="1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Okada</a:t>
                </a:r>
                <a:r>
                  <a:rPr lang="en-US" altLang="ko-KR" sz="2000" b="1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’25]</a:t>
                </a:r>
                <a:endParaRPr kumimoji="1" lang="en-US" altLang="ko-KR" sz="2000" b="1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2"/>
                <a:r>
                  <a:rPr kumimoji="1" lang="en-US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threshold FHE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및 다자 환경에서의 복호화 </a:t>
                </a:r>
                <a:r>
                  <a:rPr kumimoji="1" lang="en-US" altLang="ko-KR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share </a:t>
                </a:r>
                <a:r>
                  <a:rPr kumimoji="1" lang="ko-KR" altLang="en-US" dirty="0" err="1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통신량</a:t>
                </a:r>
                <a:r>
                  <a:rPr kumimoji="1" lang="ko-KR" altLang="en-US" dirty="0"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 절감</a:t>
                </a:r>
                <a:endParaRPr kumimoji="1" lang="en-US" altLang="ko-KR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  <a:p>
                <a:pPr lvl="1"/>
                <a:endParaRPr kumimoji="1" lang="ko-KR" altLang="en-US" sz="20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0637BAFE-CB09-EFC6-6868-218F3F7AA6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-35339" y="1152525"/>
                <a:ext cx="12138991" cy="5057775"/>
              </a:xfrm>
              <a:blipFill>
                <a:blip r:embed="rId2"/>
                <a:stretch>
                  <a:fillRect l="-653" t="-16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5A15D35-61B3-3FCC-40BD-2D80A5DBBCCC}"/>
              </a:ext>
            </a:extLst>
          </p:cNvPr>
          <p:cNvSpPr txBox="1"/>
          <p:nvPr/>
        </p:nvSpPr>
        <p:spPr>
          <a:xfrm>
            <a:off x="-325834" y="5838917"/>
            <a:ext cx="125178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Hong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’25]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Hong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Cheng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"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Recent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advances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of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privacy-preserving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machine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learning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based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on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Fully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Homomorphic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Encryption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."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Security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and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Safety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4 (2025): 2024012.</a:t>
            </a:r>
            <a:endParaRPr lang="en-US" altLang="ko-KR"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Lo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’24]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Lo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Dan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Chia-Tien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et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al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"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Practical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considerations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of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fully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homomorphic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encryption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privacy-preserving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machine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learning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." 2024 IEEE International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Conference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on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Big Data (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BigData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). IEEE, 2024.</a:t>
            </a:r>
            <a:endParaRPr lang="en-US" altLang="ko-KR"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Okada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’25]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Okada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Hiroki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and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Tsuyoshi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Takagi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"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Low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communication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threshold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FHE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from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standard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module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-) LWE." International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Conference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on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the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Theory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and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Application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of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Cryptology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and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Information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Security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Singapore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Springer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Nature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Singapore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2025.</a:t>
            </a:r>
          </a:p>
          <a:p>
            <a:pPr lvl="1"/>
            <a:endParaRPr lang="en-US" altLang="ko-KR"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C5E791-BDA2-46B0-6FD2-3D7CEE5C0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5332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3A307-00B4-5EEB-315E-105EDBCC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672F5-071F-D312-B1B6-BAAB0E3A5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 기반 PPML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연구 동향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983E87-3CB4-8A7E-AC3F-A004CCD08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029415"/>
            <a:ext cx="11559164" cy="5374617"/>
          </a:xfrm>
        </p:spPr>
        <p:txBody>
          <a:bodyPr>
            <a:normAutofit/>
          </a:bodyPr>
          <a:lstStyle/>
          <a:p>
            <a:r>
              <a:rPr lang="ko-KR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 기반 PPML 연구를 정리한 </a:t>
            </a:r>
            <a:r>
              <a:rPr lang="ko-KR" altLang="ko-KR" sz="20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서베이</a:t>
            </a:r>
            <a:endParaRPr lang="en-US" altLang="ko-KR" sz="20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 </a:t>
            </a:r>
            <a:r>
              <a:rPr lang="ko-KR" altLang="ko-KR" sz="16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</a:t>
            </a:r>
            <a:r>
              <a:rPr lang="ko-KR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ML 응용, 시스템 구</a:t>
            </a:r>
            <a:r>
              <a:rPr lang="ko-KR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현 관점에서 대표 연구를 비교</a:t>
            </a:r>
          </a:p>
          <a:p>
            <a:pPr lvl="1"/>
            <a:r>
              <a:rPr lang="ko-KR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응용 목적에 따라 적절한 </a:t>
            </a:r>
            <a:r>
              <a:rPr lang="ko-KR" altLang="ko-KR" sz="1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스킴과</a:t>
            </a:r>
            <a:r>
              <a:rPr lang="ko-KR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최적화 전략 선택 필요</a:t>
            </a:r>
          </a:p>
          <a:p>
            <a:endParaRPr lang="en-US" altLang="ko-KR" sz="20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 기반 </a:t>
            </a:r>
            <a:r>
              <a:rPr lang="ko-KR" altLang="ko-KR" sz="20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PPML의</a:t>
            </a:r>
            <a:r>
              <a:rPr lang="ko-KR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주요 활용 방향</a:t>
            </a:r>
          </a:p>
          <a:p>
            <a:pPr lvl="1"/>
            <a:r>
              <a:rPr lang="ko-KR" altLang="ko-KR" sz="18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Encrypted</a:t>
            </a:r>
            <a:r>
              <a:rPr lang="ko-KR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inference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	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서버가 입력 데이터를 보지 않고 예측 수행</a:t>
            </a:r>
            <a:endParaRPr lang="en-US" altLang="ko-KR" sz="1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ko-KR" sz="18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Encrypted</a:t>
            </a:r>
            <a:r>
              <a:rPr lang="ko-KR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training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	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학습 과정에서도 데이터 또는 중간 값을 암호화 상태로 보호</a:t>
            </a:r>
            <a:endParaRPr lang="en-US" altLang="ko-KR" sz="1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/>
            <a:r>
              <a:rPr lang="ko-KR" altLang="ko-KR" sz="14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Federated</a:t>
            </a:r>
            <a:r>
              <a:rPr lang="ko-KR" altLang="ko-KR" sz="1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4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learning</a:t>
            </a:r>
            <a:r>
              <a:rPr lang="ko-KR" altLang="ko-KR" sz="1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4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cloud</a:t>
            </a:r>
            <a:r>
              <a:rPr lang="ko-KR" altLang="ko-KR" sz="1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AI, </a:t>
            </a:r>
            <a:r>
              <a:rPr lang="ko-KR" altLang="ko-KR" sz="14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medical</a:t>
            </a:r>
            <a:r>
              <a:rPr lang="ko-KR" altLang="ko-KR" sz="1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ko-KR" sz="14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financial</a:t>
            </a:r>
            <a:r>
              <a:rPr lang="ko-KR" altLang="ko-KR" sz="1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4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analytics</a:t>
            </a:r>
            <a:r>
              <a:rPr lang="ko-KR" altLang="ko-KR" sz="14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와</a:t>
            </a:r>
            <a:r>
              <a:rPr lang="ko-KR" altLang="ko-KR" sz="14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결합 가능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en-US" altLang="ko-KR" sz="20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핵심 기술 과제</a:t>
            </a:r>
            <a:endParaRPr lang="en-US" altLang="ko-KR" sz="20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en-US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스킴별</a:t>
            </a:r>
            <a:r>
              <a:rPr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적합성 차이</a:t>
            </a:r>
            <a:endParaRPr lang="en-US" altLang="ko-KR" sz="1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/>
            <a:r>
              <a:rPr lang="ko-KR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CKKS</a:t>
            </a:r>
            <a:r>
              <a:rPr lang="ko-KR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실수/근사연산 기반 ML 추론에 적합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/>
            <a:r>
              <a:rPr lang="ko-KR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BFV/BGV</a:t>
            </a:r>
            <a:r>
              <a:rPr lang="ko-KR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정확한 정수 연산 및 </a:t>
            </a:r>
            <a:r>
              <a:rPr lang="ko-KR" altLang="ko-KR" sz="1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DB형</a:t>
            </a:r>
            <a:r>
              <a:rPr lang="ko-KR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연산에 적합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/>
            <a:r>
              <a:rPr lang="ko-KR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TFHE</a:t>
            </a:r>
            <a:r>
              <a:rPr lang="ko-KR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비교, 조건문, 비트/논리 연산에 강점</a:t>
            </a:r>
            <a:endParaRPr lang="en-US" altLang="ko-KR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비선형 연산 처리</a:t>
            </a:r>
            <a:r>
              <a:rPr lang="en-US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ReLU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sigmoid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softmax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등</a:t>
            </a:r>
            <a:endParaRPr lang="en-US" altLang="ko-KR" sz="18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ko-KR" sz="18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packing</a:t>
            </a:r>
            <a:r>
              <a:rPr lang="ko-KR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8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parameter</a:t>
            </a:r>
            <a:r>
              <a:rPr lang="ko-KR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selection</a:t>
            </a:r>
            <a:r>
              <a:rPr lang="ko-KR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8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ciphertext</a:t>
            </a:r>
            <a:r>
              <a:rPr lang="ko-KR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size</a:t>
            </a:r>
            <a:r>
              <a:rPr lang="ko-KR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8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runtime</a:t>
            </a:r>
            <a:r>
              <a:rPr lang="ko-KR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최적화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B06C7B-E193-9304-7E1B-942C2EA2CED6}"/>
              </a:ext>
            </a:extLst>
          </p:cNvPr>
          <p:cNvSpPr txBox="1"/>
          <p:nvPr/>
        </p:nvSpPr>
        <p:spPr>
          <a:xfrm>
            <a:off x="-485913" y="6636521"/>
            <a:ext cx="123642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Hong</a:t>
            </a:r>
            <a:r>
              <a:rPr lang="en-US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’25]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Hong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Cheng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"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Recent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advances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of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privacy-preserving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machine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learning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based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on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Fully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Homomorphic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Encryption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."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Security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and </a:t>
            </a:r>
            <a:r>
              <a:rPr lang="ko-KR" altLang="ko-KR" sz="1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Safety</a:t>
            </a:r>
            <a:r>
              <a:rPr lang="ko-KR" altLang="ko-KR" sz="1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4 (2025): 2024012.</a:t>
            </a:r>
            <a:endParaRPr lang="en-US" altLang="ko-KR" sz="1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7E60D4-52FB-71A2-142D-E97D6CA0B591}"/>
              </a:ext>
            </a:extLst>
          </p:cNvPr>
          <p:cNvSpPr txBox="1"/>
          <p:nvPr/>
        </p:nvSpPr>
        <p:spPr>
          <a:xfrm>
            <a:off x="411163" y="6280921"/>
            <a:ext cx="1121958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b="1" dirty="0" err="1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Sensitive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Data → </a:t>
            </a:r>
            <a:r>
              <a:rPr lang="ko-KR" altLang="en-US" b="1" dirty="0" err="1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Encryption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→ FHE-</a:t>
            </a:r>
            <a:r>
              <a:rPr lang="ko-KR" altLang="en-US" b="1" dirty="0" err="1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based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ML → </a:t>
            </a:r>
            <a:r>
              <a:rPr lang="ko-KR" altLang="en-US" b="1" dirty="0" err="1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Encrypted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b="1" dirty="0" err="1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Output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→ </a:t>
            </a:r>
            <a:r>
              <a:rPr lang="ko-KR" altLang="en-US" b="1" dirty="0" err="1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Decryption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→ </a:t>
            </a:r>
            <a:r>
              <a:rPr lang="en-US" altLang="ko-KR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Result</a:t>
            </a:r>
            <a:endParaRPr lang="ko-KR" altLang="en-US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6541E4-4629-CCE6-3E9F-8B98412442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7837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DEAA1-D44B-783C-03C1-584938785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FHE-ML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실용화</a:t>
            </a:r>
            <a:r>
              <a:rPr lang="ko-KR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고려사항</a:t>
            </a:r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9D8B52-627A-ECFA-6143-9A8F26867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35" y="1152525"/>
            <a:ext cx="11670403" cy="5057775"/>
          </a:xfrm>
        </p:spPr>
        <p:txBody>
          <a:bodyPr>
            <a:normAutofit/>
          </a:bodyPr>
          <a:lstStyle/>
          <a:p>
            <a:r>
              <a:rPr lang="ko-KR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실제 FHE 기반 ML 적용 시 고려사항 분석</a:t>
            </a:r>
            <a:endParaRPr kumimoji="1" lang="ko-KR" altLang="en-US" sz="20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kumimoji="1" lang="en-US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</a:t>
            </a:r>
            <a:r>
              <a:rPr kumimoji="1"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프라이버시를 보장하지만</a:t>
            </a:r>
            <a:r>
              <a:rPr kumimoji="1" lang="en-US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kumimoji="1"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ko-KR" altLang="en-US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평문</a:t>
            </a:r>
            <a:r>
              <a:rPr kumimoji="1"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kumimoji="1" lang="en-US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ML</a:t>
            </a:r>
            <a:r>
              <a:rPr kumimoji="1"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보다 연산 비용이 큼</a:t>
            </a:r>
            <a:endParaRPr kumimoji="1" lang="en-US" altLang="ko-KR" sz="1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kumimoji="1"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일반적인 </a:t>
            </a:r>
            <a:r>
              <a:rPr kumimoji="1" lang="en-US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ML </a:t>
            </a:r>
            <a:r>
              <a:rPr kumimoji="1"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모델을 </a:t>
            </a:r>
            <a:r>
              <a:rPr kumimoji="1" lang="en-US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 </a:t>
            </a:r>
            <a:r>
              <a:rPr kumimoji="1"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환경에서 그대로 적용하기 어려움</a:t>
            </a:r>
            <a:endParaRPr kumimoji="1" lang="en-US" altLang="ko-KR" sz="1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kumimoji="1"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실제 적용을 위해 모델 변환과 파라미터 튜닝이 필수</a:t>
            </a:r>
            <a:endParaRPr kumimoji="1" lang="en-US" altLang="ko-KR" sz="1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kumimoji="1" lang="en-US" altLang="ko-KR" sz="20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kumimoji="1"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주요 고려사항</a:t>
            </a:r>
            <a:endParaRPr kumimoji="1" lang="en-US" altLang="ko-KR" sz="20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kumimoji="1"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비선형 함수 처리</a:t>
            </a:r>
            <a:r>
              <a:rPr kumimoji="1" lang="en-US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kumimoji="1"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ReLU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sigmoid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softmax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등은 </a:t>
            </a:r>
            <a:r>
              <a:rPr lang="ko-KR" altLang="ko-KR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FHE에서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직접 계산하기 어려워 다항식 근사 필요</a:t>
            </a:r>
          </a:p>
          <a:p>
            <a:pPr lvl="1"/>
            <a:r>
              <a:rPr kumimoji="1"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연산 깊이 관리</a:t>
            </a:r>
            <a:r>
              <a:rPr kumimoji="1" lang="en-US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kumimoji="1"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multiplicative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depth가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깊어질수록 노이즈와 비용이 증가</a:t>
            </a:r>
            <a:endParaRPr lang="en-US" altLang="ko-KR" sz="1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성능 최적화</a:t>
            </a:r>
            <a:r>
              <a:rPr lang="en-US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batching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packing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parameter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selection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bootstrapping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여부가 전체 성능에 영향</a:t>
            </a:r>
          </a:p>
          <a:p>
            <a:pPr lvl="1"/>
            <a:r>
              <a:rPr lang="en-US" altLang="ko-KR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Trade-off </a:t>
            </a:r>
            <a:r>
              <a:rPr lang="ko-KR" altLang="en-US" sz="1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분석</a:t>
            </a:r>
            <a:r>
              <a:rPr lang="en-US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보안성</a:t>
            </a:r>
            <a:r>
              <a:rPr lang="en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·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정확도</a:t>
            </a:r>
            <a:r>
              <a:rPr lang="en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·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추론 시간</a:t>
            </a:r>
            <a:r>
              <a:rPr lang="en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· 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암호문 크기</a:t>
            </a:r>
            <a:r>
              <a:rPr lang="en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·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메모리</a:t>
            </a:r>
            <a:r>
              <a:rPr lang="en-US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사용량 간 균형 필요</a:t>
            </a:r>
            <a:endParaRPr kumimoji="1" lang="en-US" altLang="ko-KR" sz="1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/>
            <a:endParaRPr kumimoji="1" lang="en-US" altLang="ko-KR" sz="1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/>
            <a:endParaRPr kumimoji="1" lang="en-US" altLang="ko-KR" sz="14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endParaRPr kumimoji="1" lang="en-US" altLang="ko-KR" sz="1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endParaRPr kumimoji="1" lang="ko-KR" altLang="en-US" sz="1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C61F5C-981C-DBCD-1320-3C1FE2197C6B}"/>
              </a:ext>
            </a:extLst>
          </p:cNvPr>
          <p:cNvSpPr txBox="1"/>
          <p:nvPr/>
        </p:nvSpPr>
        <p:spPr>
          <a:xfrm>
            <a:off x="0" y="6669095"/>
            <a:ext cx="1213633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Lo</a:t>
            </a:r>
            <a:r>
              <a:rPr lang="en-US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’24] 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Lo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Dan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Chia-Tien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et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al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"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Practical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considerations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of 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fully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homomorphic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encryption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privacy-preserving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machine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learning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." 2024 IEEE International 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Conference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on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Big Data (</a:t>
            </a:r>
            <a:r>
              <a:rPr lang="ko-KR" altLang="ko-KR" sz="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BigData</a:t>
            </a:r>
            <a:r>
              <a:rPr lang="ko-KR" altLang="ko-KR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). IEEE, 2024.</a:t>
            </a:r>
            <a:endParaRPr lang="en-US" altLang="ko-KR" sz="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FCC7EB-ADF3-9746-36EF-A3ABEDD12210}"/>
              </a:ext>
            </a:extLst>
          </p:cNvPr>
          <p:cNvSpPr txBox="1"/>
          <p:nvPr/>
        </p:nvSpPr>
        <p:spPr>
          <a:xfrm>
            <a:off x="1891748" y="4946012"/>
            <a:ext cx="8090452" cy="1508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</a:t>
            </a:r>
            <a:r>
              <a:rPr kumimoji="1" lang="en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FHE-ML Practical Trade-off</a:t>
            </a:r>
            <a:r>
              <a:rPr kumimoji="1"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]</a:t>
            </a:r>
          </a:p>
          <a:p>
            <a:pPr algn="ctr"/>
            <a:endParaRPr kumimoji="1" lang="en" altLang="ko-KR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kumimoji="1" lang="en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Accuracy </a:t>
            </a:r>
            <a:r>
              <a:rPr kumimoji="1"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유지  ↔  </a:t>
            </a:r>
            <a:r>
              <a:rPr kumimoji="1" lang="en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Polynomial approximation </a:t>
            </a:r>
            <a:r>
              <a:rPr kumimoji="1"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비용</a:t>
            </a:r>
          </a:p>
          <a:p>
            <a:pPr algn="ctr"/>
            <a:r>
              <a:rPr kumimoji="1" lang="en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Security </a:t>
            </a:r>
            <a:r>
              <a:rPr kumimoji="1"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증가  ↔  </a:t>
            </a:r>
            <a:r>
              <a:rPr kumimoji="1" lang="en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Ciphertext size / runtime </a:t>
            </a:r>
            <a:r>
              <a:rPr kumimoji="1"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증가</a:t>
            </a:r>
          </a:p>
          <a:p>
            <a:pPr algn="ctr"/>
            <a:r>
              <a:rPr kumimoji="1" lang="en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Model depth </a:t>
            </a:r>
            <a:r>
              <a:rPr kumimoji="1"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증가  ↔  </a:t>
            </a:r>
            <a:r>
              <a:rPr kumimoji="1" lang="en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Noise / bootstrapping cost </a:t>
            </a:r>
            <a:r>
              <a:rPr kumimoji="1"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7C32D6-4435-6E56-E4FE-90607DDBC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4921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118AE8-7359-1611-7A32-7C83F7EDB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Low-Communication</a:t>
            </a:r>
            <a:r>
              <a:rPr lang="ko-KR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Threshold</a:t>
            </a:r>
            <a:r>
              <a:rPr lang="ko-KR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FHE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708B6-85FC-6D45-6326-A6490F2882AB}"/>
              </a:ext>
            </a:extLst>
          </p:cNvPr>
          <p:cNvSpPr txBox="1"/>
          <p:nvPr/>
        </p:nvSpPr>
        <p:spPr>
          <a:xfrm>
            <a:off x="0" y="6682859"/>
            <a:ext cx="121920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Okada</a:t>
            </a:r>
            <a:r>
              <a:rPr lang="en-US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’25]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Okada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Hiroki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and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Tsuyoshi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Takagi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"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Low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communication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threshold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FHE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from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standard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module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-) LWE." International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Conference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on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the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Theory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and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Application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of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Cryptology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and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Information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Security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Singapore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Springer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Nature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Singapore</a:t>
            </a:r>
            <a:r>
              <a:rPr lang="ko-KR" altLang="ko-KR" sz="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2025.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10FAD1-6A17-4D27-EA4B-82B6C09E35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93" r="6348"/>
          <a:stretch>
            <a:fillRect/>
          </a:stretch>
        </p:blipFill>
        <p:spPr>
          <a:xfrm>
            <a:off x="8481191" y="4892936"/>
            <a:ext cx="3560618" cy="1757317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0C6C21-D018-DCFE-F2A7-FEAB7EA75C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57" y="1152525"/>
            <a:ext cx="11741081" cy="5057775"/>
          </a:xfrm>
        </p:spPr>
        <p:txBody>
          <a:bodyPr>
            <a:normAutofit/>
          </a:bodyPr>
          <a:lstStyle/>
          <a:p>
            <a:r>
              <a:rPr kumimoji="1" lang="en-US" altLang="ko-KR" sz="20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Thre</a:t>
            </a:r>
            <a:r>
              <a:rPr lang="ko-KR" altLang="ko-KR" sz="20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shold</a:t>
            </a:r>
            <a:r>
              <a:rPr lang="ko-KR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20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FHE는</a:t>
            </a:r>
            <a:r>
              <a:rPr lang="ko-KR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여러 참여자가 복호화 권한을 분산 보유하는 구조</a:t>
            </a:r>
          </a:p>
          <a:p>
            <a:pPr lvl="1"/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단일 기관이 비밀키 전체를 갖지 않아도 공동 복호화 가능</a:t>
            </a:r>
          </a:p>
          <a:p>
            <a:pPr lvl="1"/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다기관 의료 분석, 금융기관 공동 분석, 연합학습 기반 </a:t>
            </a:r>
            <a:r>
              <a:rPr lang="ko-KR" altLang="ko-KR" sz="18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PPML에</a:t>
            </a:r>
            <a:r>
              <a:rPr lang="ko-KR" altLang="ko-KR" sz="1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적합</a:t>
            </a:r>
            <a:endParaRPr lang="en-US" altLang="ko-KR" sz="1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endParaRPr lang="ko-KR" altLang="ko-KR" sz="18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kumimoji="1"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</a:t>
            </a:r>
            <a:r>
              <a:rPr lang="ko-KR" altLang="ko-KR" sz="20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Okada</a:t>
            </a:r>
            <a:r>
              <a:rPr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’25]</a:t>
            </a: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다자 환경에서 사용할 수 있는 </a:t>
            </a:r>
            <a:r>
              <a:rPr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low-</a:t>
            </a:r>
            <a:r>
              <a:rPr lang="ko-KR" altLang="ko-KR" sz="20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communication</a:t>
            </a:r>
            <a:r>
              <a:rPr lang="ko-KR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20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threshold</a:t>
            </a:r>
            <a:r>
              <a:rPr lang="ko-KR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FHE 구성 제안</a:t>
            </a:r>
            <a:endParaRPr lang="en-US" altLang="ko-KR" sz="20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en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standard LWE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및 </a:t>
            </a:r>
            <a:r>
              <a:rPr lang="en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module-LWE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기반에서 </a:t>
            </a:r>
            <a:r>
              <a:rPr lang="en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simulation-secure threshold FHE </a:t>
            </a:r>
            <a:r>
              <a: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구성</a:t>
            </a:r>
            <a:endParaRPr lang="en-US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ko-KR" sz="2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decryption</a:t>
            </a:r>
            <a:r>
              <a:rPr lang="ko-KR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sz="20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share의</a:t>
            </a:r>
            <a:r>
              <a:rPr lang="ko-KR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크기를 작게 유지하여 통신 부담을 줄이는 것이 핵심 목표</a:t>
            </a:r>
            <a:endParaRPr lang="en-US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endParaRPr lang="ko-KR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kumimoji="1"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[Threshold FHE Communication Efficiency]</a:t>
            </a:r>
          </a:p>
          <a:p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기존 문제</a:t>
            </a:r>
            <a:r>
              <a:rPr kumimoji="1"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참여자별 </a:t>
            </a:r>
            <a:r>
              <a:rPr kumimoji="1"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decryption share </a:t>
            </a:r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교환 → </a:t>
            </a:r>
            <a:r>
              <a:rPr kumimoji="1" lang="ko-KR" altLang="en-US" sz="20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통신량</a:t>
            </a:r>
            <a:r>
              <a:rPr kumimoji="1"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증가</a:t>
            </a:r>
          </a:p>
          <a:p>
            <a:r>
              <a:rPr kumimoji="1" lang="ko-KR" altLang="en-US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제안 방향</a:t>
            </a:r>
            <a:r>
              <a:rPr kumimoji="1" lang="en-US" altLang="ko-KR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polynomial small decryption shares → </a:t>
            </a:r>
            <a:r>
              <a:rPr kumimoji="1" lang="ko-KR" altLang="en-US" sz="2000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통신 오버헤드 완화</a:t>
            </a:r>
          </a:p>
          <a:p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의미</a:t>
            </a:r>
            <a:r>
              <a:rPr kumimoji="1" lang="en-US" altLang="ko-KR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FHE </a:t>
            </a:r>
            <a:r>
              <a:rPr kumimoji="1"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기반 다자 공동 분석에서 통신 효율이 핵심 설계 요소</a:t>
            </a:r>
            <a:endParaRPr kumimoji="1" lang="en-US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kumimoji="1" lang="en-US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kumimoji="1" lang="ko-KR" altLang="en-US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11D741-2700-5E3C-8007-3DF1A573E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0859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9C067-A36B-9101-0A6D-CE514548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TenSEAL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기반 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Benchmark</a:t>
            </a:r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5CFC82-F180-60CF-1A91-B8A129428A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TenSEAL</a:t>
            </a:r>
            <a:r>
              <a:rPr lang="en-US" altLang="ko-KR" b="1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(Tensor for Homomorphic Encryption)</a:t>
            </a:r>
          </a:p>
          <a:p>
            <a:pPr lvl="1"/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Microsoft SEAL 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기반으로 구현된 고수준 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FHE 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인터페이스</a:t>
            </a:r>
          </a:p>
          <a:p>
            <a:pPr lvl="1"/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BFV(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정수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), CKKS(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실수 근사 연산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 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지원</a:t>
            </a:r>
          </a:p>
          <a:p>
            <a:pPr lvl="1"/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암호화된 상태에서 벡터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·</a:t>
            </a:r>
            <a:r>
              <a:rPr lang="ko-KR" altLang="en-US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텐서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연산 수행 가능</a:t>
            </a:r>
          </a:p>
          <a:p>
            <a:pPr lvl="1"/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Privacy-Preserving AI / Secure ML 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연구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·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교육에 활용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92472A-4828-360B-108F-378219CC6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327B15-431D-E636-9631-989778BD7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802039"/>
              </p:ext>
            </p:extLst>
          </p:nvPr>
        </p:nvGraphicFramePr>
        <p:xfrm>
          <a:off x="838200" y="3734484"/>
          <a:ext cx="10515600" cy="219456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3300557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45150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6689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Encrypted 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암호화된 벡터 연산 지원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639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SIMD Packing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병렬 연산 최적화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652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 err="1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Dot</a:t>
                      </a:r>
                      <a:r>
                        <a:rPr lang="ko-KR" dirty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 </a:t>
                      </a:r>
                      <a:r>
                        <a:rPr lang="ko-KR" dirty="0" err="1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Product</a:t>
                      </a:r>
                      <a:endParaRPr lang="ko-KR" dirty="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ML 추론 연산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936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CKKS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실수 기반 AI 연산 지원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1281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Python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실습 및 연구 용이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244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156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31CD2A-B9D6-3644-F0E3-406115CAB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719773F-43F3-4A82-9BB3-2328D4307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" y="0"/>
            <a:ext cx="4380793" cy="514184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059BAD-782E-BC91-101D-E672B265F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240" y="0"/>
            <a:ext cx="3861736" cy="557474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5B1D330-0789-576E-5B7B-FA4E70052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3976" y="0"/>
            <a:ext cx="3783917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CC3B213-7AD9-1E13-0B94-2D9EE31E8728}"/>
              </a:ext>
            </a:extLst>
          </p:cNvPr>
          <p:cNvSpPr/>
          <p:nvPr/>
        </p:nvSpPr>
        <p:spPr>
          <a:xfrm>
            <a:off x="0" y="3603062"/>
            <a:ext cx="1861457" cy="1912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7A8FB7-3A56-EEF0-F8CA-7365FC4B52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850" r="56639" b="25391"/>
          <a:stretch>
            <a:fillRect/>
          </a:stretch>
        </p:blipFill>
        <p:spPr>
          <a:xfrm>
            <a:off x="0" y="5583866"/>
            <a:ext cx="4910024" cy="63250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9A164BF-C7FA-0BD8-0645-F48D24F141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84" t="30401" r="10670" b="65821"/>
          <a:stretch>
            <a:fillRect/>
          </a:stretch>
        </p:blipFill>
        <p:spPr>
          <a:xfrm>
            <a:off x="4235731" y="6148366"/>
            <a:ext cx="7956269" cy="66970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A0DADD-8A7A-6578-9CC2-E80B1D887FA8}"/>
              </a:ext>
            </a:extLst>
          </p:cNvPr>
          <p:cNvSpPr/>
          <p:nvPr/>
        </p:nvSpPr>
        <p:spPr>
          <a:xfrm>
            <a:off x="8686800" y="2128431"/>
            <a:ext cx="2962141" cy="196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962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8F622B-74B8-87D3-7FE0-B00A72549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390195-0969-048A-7BD6-D2EE0E82B5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0"/>
          <a:stretch>
            <a:fillRect/>
          </a:stretch>
        </p:blipFill>
        <p:spPr>
          <a:xfrm>
            <a:off x="0" y="1006475"/>
            <a:ext cx="12192000" cy="481675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0FDE2B6-CEDE-D715-F1FE-D96B2F70D465}"/>
              </a:ext>
            </a:extLst>
          </p:cNvPr>
          <p:cNvSpPr/>
          <p:nvPr/>
        </p:nvSpPr>
        <p:spPr>
          <a:xfrm>
            <a:off x="-6439" y="3925036"/>
            <a:ext cx="5254580" cy="3056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A35A9F8-EAAA-96A9-B108-DB3F07ED7279}"/>
              </a:ext>
            </a:extLst>
          </p:cNvPr>
          <p:cNvSpPr/>
          <p:nvPr/>
        </p:nvSpPr>
        <p:spPr>
          <a:xfrm>
            <a:off x="-6439" y="2332521"/>
            <a:ext cx="5615188" cy="3056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607C0A-96D4-FA67-059B-D181117925EA}"/>
              </a:ext>
            </a:extLst>
          </p:cNvPr>
          <p:cNvSpPr/>
          <p:nvPr/>
        </p:nvSpPr>
        <p:spPr>
          <a:xfrm>
            <a:off x="-6439" y="1210984"/>
            <a:ext cx="5615188" cy="3056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355F79-1A62-A382-9FD1-97CD29DEB387}"/>
              </a:ext>
            </a:extLst>
          </p:cNvPr>
          <p:cNvSpPr txBox="1"/>
          <p:nvPr/>
        </p:nvSpPr>
        <p:spPr>
          <a:xfrm>
            <a:off x="6735650" y="2235929"/>
            <a:ext cx="39966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solidFill>
                  <a:srgbClr val="FF000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속도와 메모리 병목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FE79BE-92CC-B130-2492-B24C7BBAEB6F}"/>
              </a:ext>
            </a:extLst>
          </p:cNvPr>
          <p:cNvSpPr txBox="1"/>
          <p:nvPr/>
        </p:nvSpPr>
        <p:spPr>
          <a:xfrm>
            <a:off x="6735650" y="5577996"/>
            <a:ext cx="39966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solidFill>
                  <a:srgbClr val="00B0F0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기능은 제대로 동작</a:t>
            </a:r>
          </a:p>
        </p:txBody>
      </p:sp>
    </p:spTree>
    <p:extLst>
      <p:ext uri="{BB962C8B-B14F-4D97-AF65-F5344CB8AC3E}">
        <p14:creationId xmlns:p14="http://schemas.microsoft.com/office/powerpoint/2010/main" val="333172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59E0D-014A-4823-4A01-AA1BD0DE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9EBA9-A0D7-F22F-935A-27E50AC14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 추진 방향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7BA555-3550-198D-BA41-50878FF60D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73012" y="1149423"/>
            <a:ext cx="7245976" cy="5499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이용 가이드는 </a:t>
            </a:r>
            <a:r>
              <a:rPr lang="en-US" altLang="ko-KR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6</a:t>
            </a:r>
            <a:r>
              <a:rPr lang="ko-KR" altLang="en-US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가지 항목으로</a:t>
            </a: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구성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EDE3C6E7-126F-5DF8-363B-54743127C148}"/>
              </a:ext>
            </a:extLst>
          </p:cNvPr>
          <p:cNvSpPr txBox="1">
            <a:spLocks/>
          </p:cNvSpPr>
          <p:nvPr/>
        </p:nvSpPr>
        <p:spPr>
          <a:xfrm>
            <a:off x="551868" y="6099049"/>
            <a:ext cx="11088264" cy="6895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국내외 적용 사례 </a:t>
            </a:r>
            <a:r>
              <a:rPr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20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</a:t>
            </a: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성능 분석을 기반으로 </a:t>
            </a:r>
            <a:r>
              <a:rPr lang="ko-KR" altLang="en-US" sz="2000" b="1" dirty="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실무 활용 가능한 이용 가이드 개발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CE51D53-0CC3-694A-4C54-19CBD4E09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548726"/>
              </p:ext>
            </p:extLst>
          </p:nvPr>
        </p:nvGraphicFramePr>
        <p:xfrm>
          <a:off x="479926" y="1752736"/>
          <a:ext cx="11160207" cy="4135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21">
                  <a:extLst>
                    <a:ext uri="{9D8B030D-6E8A-4147-A177-3AD203B41FA5}">
                      <a16:colId xmlns:a16="http://schemas.microsoft.com/office/drawing/2014/main" val="4216684208"/>
                    </a:ext>
                  </a:extLst>
                </a:gridCol>
                <a:gridCol w="2935706">
                  <a:extLst>
                    <a:ext uri="{9D8B030D-6E8A-4147-A177-3AD203B41FA5}">
                      <a16:colId xmlns:a16="http://schemas.microsoft.com/office/drawing/2014/main" val="1607188352"/>
                    </a:ext>
                  </a:extLst>
                </a:gridCol>
                <a:gridCol w="7086180">
                  <a:extLst>
                    <a:ext uri="{9D8B030D-6E8A-4147-A177-3AD203B41FA5}">
                      <a16:colId xmlns:a16="http://schemas.microsoft.com/office/drawing/2014/main" val="2144402439"/>
                    </a:ext>
                  </a:extLst>
                </a:gridCol>
              </a:tblGrid>
              <a:tr h="5908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세부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9288015"/>
                  </a:ext>
                </a:extLst>
              </a:tr>
              <a:tr h="59080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준비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① 개발 환경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OS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별 설치 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·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설정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라이브러리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예제 실행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648880"/>
                  </a:ext>
                </a:extLst>
              </a:tr>
              <a:tr h="59080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② 성능 분석 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·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병목 식별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프로파일링 기반 병목 분석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연산별 소요 시간 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·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메모리 사용량 정리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924427"/>
                  </a:ext>
                </a:extLst>
              </a:tr>
              <a:tr h="59080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설계</a:t>
                      </a:r>
                    </a:p>
                  </a:txBody>
                  <a:tcPr anchor="ctr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③ 시나리오별 적용 방안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응용 목적별 적합 </a:t>
                      </a:r>
                      <a:r>
                        <a:rPr lang="ko-KR" altLang="en-US" sz="16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스킴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분류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프라이버시 보호 기술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(MPC·TEE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등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과 비교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039656"/>
                  </a:ext>
                </a:extLst>
              </a:tr>
              <a:tr h="59080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④ 파라미터 설정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128-bit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보안수준 기준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연산 깊이 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·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정밀도 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·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성능 간 트레이드 오프 고려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862833"/>
                  </a:ext>
                </a:extLst>
              </a:tr>
              <a:tr h="59080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ea typeface="맑은 고딕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⑤ 성능 최적화 전략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병렬 연산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(SIMD)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활용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6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부트스트래핑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비용 최소화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758401"/>
                  </a:ext>
                </a:extLst>
              </a:tr>
              <a:tr h="5908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활용</a:t>
                      </a:r>
                    </a:p>
                  </a:txBody>
                  <a:tcPr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⑥ 적용 예제 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·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템플릿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암호문 기반 데이터 분석 예제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통계 계산 예제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코드 템플릿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제공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930527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A662CB-71B0-6A4B-43D3-E84CE6383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16832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5CAB6-AA4D-3260-6166-9CEADB97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D9CCB-44F4-2440-309A-3CCCF370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 추진 방향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695FF2-3C30-24B8-74CC-A7399BBADD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8576" y="1179055"/>
            <a:ext cx="4894847" cy="5204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이용 가이드 목차</a:t>
            </a:r>
            <a:r>
              <a:rPr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안</a:t>
            </a:r>
            <a:r>
              <a:rPr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lang="ko-KR" altLang="en-US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828D2AC5-C826-135F-D605-5007D995322F}"/>
              </a:ext>
            </a:extLst>
          </p:cNvPr>
          <p:cNvSpPr txBox="1">
            <a:spLocks/>
          </p:cNvSpPr>
          <p:nvPr/>
        </p:nvSpPr>
        <p:spPr>
          <a:xfrm>
            <a:off x="509094" y="1901913"/>
            <a:ext cx="5157779" cy="454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서론</a:t>
            </a:r>
            <a:endParaRPr lang="en-US" altLang="ko-KR" sz="20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1.1 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가이드 목적 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범위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1.2 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활용 대상 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방안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개요</a:t>
            </a:r>
            <a:endParaRPr lang="en-US" altLang="ko-KR" sz="20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2.1 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개념과 유형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(PHE/SHE/FHE)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2.2 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주요 </a:t>
            </a:r>
            <a:r>
              <a:rPr lang="ko-KR" altLang="en-US" sz="1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특성 비교</a:t>
            </a:r>
            <a:endParaRPr lang="en-US" altLang="ko-KR" sz="2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개발 환경 구축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3.1  OS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별 설치 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설정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3.2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라이브러리 빌드 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예제 실행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</a:t>
            </a: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라이브러리</a:t>
            </a:r>
            <a:endParaRPr lang="en-US" altLang="ko-KR" sz="20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4.1 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연산 유형별 적합 </a:t>
            </a:r>
            <a:r>
              <a:rPr lang="ko-KR" altLang="en-US" sz="1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4.2 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라이브러리 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MPC · TEE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비교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9DFB72D8-47D1-1B6A-868E-302331E64B01}"/>
              </a:ext>
            </a:extLst>
          </p:cNvPr>
          <p:cNvSpPr txBox="1">
            <a:spLocks/>
          </p:cNvSpPr>
          <p:nvPr/>
        </p:nvSpPr>
        <p:spPr>
          <a:xfrm>
            <a:off x="551868" y="6099049"/>
            <a:ext cx="11088264" cy="6895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각 장은 표 </a:t>
            </a:r>
            <a:r>
              <a:rPr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체크리스트 </a:t>
            </a:r>
            <a:r>
              <a:rPr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코드 등 </a:t>
            </a:r>
            <a:r>
              <a:rPr lang="ko-KR" altLang="en-US" sz="2000" b="1" dirty="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바로 활용 가능한 산출물 중심으로 구성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E5D7A099-61CE-5FB8-815F-4D96CE1BEBAB}"/>
              </a:ext>
            </a:extLst>
          </p:cNvPr>
          <p:cNvSpPr txBox="1">
            <a:spLocks/>
          </p:cNvSpPr>
          <p:nvPr/>
        </p:nvSpPr>
        <p:spPr>
          <a:xfrm>
            <a:off x="6525127" y="1901913"/>
            <a:ext cx="5157779" cy="454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5.   </a:t>
            </a: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파라미터 설정</a:t>
            </a:r>
            <a:endParaRPr lang="en-US" altLang="ko-KR" sz="20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5.1 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보안 수준 기준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5.2 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연산 깊이 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정밀도 설정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5.3 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파라미터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·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성능 트레이드오프</a:t>
            </a:r>
          </a:p>
          <a:p>
            <a:pPr marL="0" indent="0">
              <a:buNone/>
            </a:pPr>
            <a:r>
              <a:rPr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6.   </a:t>
            </a: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성능 분석 </a:t>
            </a:r>
            <a:r>
              <a:rPr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최적화</a:t>
            </a:r>
            <a:endParaRPr lang="en-US" altLang="ko-KR" sz="20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6.1 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프로파일링 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병목 식별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6.2  SIMD </a:t>
            </a:r>
            <a:r>
              <a:rPr lang="ko-KR" altLang="en-US" sz="1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배칭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병렬화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6.3  </a:t>
            </a:r>
            <a:r>
              <a:rPr lang="ko-KR" altLang="en-US" sz="16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부트스트래핑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비용 최소화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7.   </a:t>
            </a: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적용 시나리오 </a:t>
            </a:r>
            <a:r>
              <a:rPr lang="en-US" altLang="ko-KR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20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예제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7.1 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분야별 적용 시나리오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7.2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추론 </a:t>
            </a: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 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통계 예제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7.3</a:t>
            </a:r>
            <a:r>
              <a:rPr lang="ko-KR" altLang="en-US" sz="16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코드 템플릿 제공</a:t>
            </a: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endParaRPr lang="en-US" altLang="ko-KR" sz="16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7724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F2B77-7079-5EC0-D5A2-E5B87F21A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86926-433E-6DA0-BB4D-C6436ED1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 추진 방향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AFF127-1BFC-115D-E5A4-A44BE7D14D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0010" y="1190556"/>
            <a:ext cx="6871980" cy="501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이용 가이드 예시</a:t>
            </a:r>
            <a:r>
              <a:rPr lang="en-US" altLang="ko-KR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ko-KR" b="1" dirty="0" err="1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</a:t>
            </a:r>
            <a:r>
              <a:rPr lang="ko-KR" altLang="ko-KR" b="1" dirty="0">
                <a:solidFill>
                  <a:srgbClr val="2E75B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선택 · 성능 최적화</a:t>
            </a:r>
            <a:endParaRPr lang="ko-KR" altLang="en-US" b="1" dirty="0">
              <a:solidFill>
                <a:srgbClr val="2E75B6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0" name="적용 설계 Label"/>
          <p:cNvSpPr txBox="1"/>
          <p:nvPr/>
        </p:nvSpPr>
        <p:spPr>
          <a:xfrm>
            <a:off x="482600" y="1850503"/>
            <a:ext cx="111633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스킴 선택 가이드</a:t>
            </a:r>
            <a:r>
              <a:rPr lang="en-US" altLang="ko-KR" sz="2000" b="1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계산 유형에 따른 스킴 선택 기준 제시</a:t>
            </a:r>
          </a:p>
        </p:txBody>
      </p:sp>
      <p:graphicFrame>
        <p:nvGraphicFramePr>
          <p:cNvPr id="200" name="Table Ne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108300"/>
              </p:ext>
            </p:extLst>
          </p:nvPr>
        </p:nvGraphicFramePr>
        <p:xfrm>
          <a:off x="482600" y="2304208"/>
          <a:ext cx="11163300" cy="2104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0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계산 유형 예시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주요 활용 사례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권장 </a:t>
                      </a:r>
                      <a:r>
                        <a:rPr lang="ko-KR" altLang="en-US" sz="16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스킴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예시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0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정수 연산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갯수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점수, 금액 등 정수 계산이 필요한 연산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solidFill>
                            <a:srgbClr val="2E75B6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BFV · BGV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70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소수점 연산</a:t>
                      </a:r>
                      <a:r>
                        <a:rPr lang="en-US" altLang="ko-KR" sz="1600" b="1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ko-KR" altLang="en-US" sz="1600" b="1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· 통계/AI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평균, 통계</a:t>
                      </a:r>
                      <a:r>
                        <a:rPr lang="en-US" altLang="ko-KR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16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머신러닝</a:t>
                      </a:r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등 실수 기반 연산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solidFill>
                            <a:srgbClr val="2E75B6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CKKS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70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비교 · 논리 연산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크기 비교, 조건 분기, AND/OR 등 논리 연산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solidFill>
                            <a:srgbClr val="2E75B6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TFHE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1" name="성능 최적화 Label"/>
          <p:cNvSpPr txBox="1"/>
          <p:nvPr/>
        </p:nvSpPr>
        <p:spPr>
          <a:xfrm>
            <a:off x="482600" y="4741482"/>
            <a:ext cx="111633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성능 최적화</a:t>
            </a:r>
            <a:r>
              <a:rPr lang="ko-KR" altLang="en-US" sz="2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가이드</a:t>
            </a:r>
            <a:r>
              <a:rPr lang="en-US" altLang="ko-KR" sz="2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주요 최적화 기법과 활용 방향 제시</a:t>
            </a:r>
          </a:p>
        </p:txBody>
      </p:sp>
      <p:sp>
        <p:nvSpPr>
          <p:cNvPr id="102" name="성능 최적화 Bullets"/>
          <p:cNvSpPr txBox="1"/>
          <p:nvPr/>
        </p:nvSpPr>
        <p:spPr>
          <a:xfrm>
            <a:off x="635000" y="5185982"/>
            <a:ext cx="110109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SIMD 배칭(Batching) 활용</a:t>
            </a:r>
            <a:r>
              <a:rPr lang="ko-KR" altLang="en-US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	</a:t>
            </a:r>
            <a:r>
              <a:rPr lang="ko-KR" altLang="en-US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여러 데이터를 하나의 암호문에 묶어</a:t>
            </a:r>
            <a:r>
              <a:rPr lang="en-US" altLang="ko-KR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연산 한 번으로 동시 처리</a:t>
            </a:r>
            <a:endParaRPr lang="en-US" altLang="ko-KR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2000" b="1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부트스트래핑</a:t>
            </a:r>
            <a:r>
              <a:rPr lang="ko-KR" altLang="en-US" sz="2000" b="1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비용 절감</a:t>
            </a:r>
            <a:r>
              <a:rPr lang="ko-KR" altLang="en-US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	</a:t>
            </a:r>
            <a:r>
              <a:rPr lang="ko-KR" altLang="en-US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부트스트래핑</a:t>
            </a:r>
            <a:r>
              <a:rPr lang="ko-KR" altLang="en-US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호출 빈도를 줄여 전체 연산 시간 단축</a:t>
            </a:r>
          </a:p>
          <a:p>
            <a:pPr marL="228600" indent="-22860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컴파일러·자동화 도구 활용</a:t>
            </a:r>
            <a:r>
              <a:rPr lang="ko-KR" altLang="en-US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	</a:t>
            </a:r>
            <a:r>
              <a:rPr lang="ko-KR" altLang="en-US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회로 설계, 파라미터 선정, 코드 최적화 과정의 자동화 지원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4C4092-AF96-8B5B-6AA5-BB4E31DE47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0298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AA96A-FF99-B28F-8CB4-90CD6BB2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DA4125-F456-851F-C5D5-BB4AEF305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1BEFC4-0DF7-4A98-359B-034C11A20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667106" cy="5596293"/>
          </a:xfrm>
        </p:spPr>
        <p:txBody>
          <a:bodyPr>
            <a:normAutofit/>
          </a:bodyPr>
          <a:lstStyle/>
          <a:p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동형암호는 국내외에서 적용 사례 증가 중</a:t>
            </a:r>
            <a:endParaRPr lang="en-US" altLang="ko-KR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상용화도 진행 중이나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실무 가이드와 </a:t>
            </a:r>
            <a:r>
              <a:rPr lang="en-US" altLang="ko-KR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FHE </a:t>
            </a:r>
            <a:r>
              <a:rPr lang="ko-KR" altLang="en-US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국제표준은 여전히 부재</a:t>
            </a:r>
          </a:p>
          <a:p>
            <a:pPr lvl="1"/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실무 도입을 위한 </a:t>
            </a:r>
            <a:r>
              <a:rPr lang="ko-KR" altLang="en-US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판단 기준이 부족</a:t>
            </a: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한 상황</a:t>
            </a:r>
            <a:endParaRPr lang="en-US" altLang="ko-KR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기법 선택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파라미터 설정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·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성능 최적화 등 실무 지침 부재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en-US" altLang="ko-KR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실무 중심의 </a:t>
            </a:r>
            <a:r>
              <a:rPr lang="ko-KR" altLang="en-US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이용 가이드 개발</a:t>
            </a: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필요</a:t>
            </a:r>
          </a:p>
          <a:p>
            <a:pPr lvl="1"/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국내외 동형암호 적용 사례 분석을 기반으로 개발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이를 통해 </a:t>
            </a:r>
            <a:r>
              <a:rPr lang="ko-KR" altLang="en-US" b="1" dirty="0">
                <a:highlight>
                  <a:srgbClr val="FFFF00"/>
                </a:highlight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동형암호 도입 장벽 완화</a:t>
            </a:r>
            <a:r>
              <a:rPr lang="ko-KR" altLang="en-US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기대 가능</a:t>
            </a:r>
            <a:endParaRPr lang="en-US" altLang="ko-KR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/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향후 국가 가이드라인 수립을 위한 기초 자료로 활용 기대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4C4C59-C740-43C9-7F35-D7D252DE8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8DAAC8-442A-4C15-9819-F07FF5E73150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3369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571252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CLEAN]_CryptoCraft Lab PPT 양식" id="{E712E38C-1C04-504C-B5D5-8F368DAED54C}" vid="{E15818DC-538F-214A-8100-A2D2BA8DAB29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51A79B-48D5-4CD6-9BFE-067013CF772C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1f209785-c9a2-48ae-89c6-90b67e1e38a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CryptoCraft 테마</Template>
  <TotalTime>3329</TotalTime>
  <Words>3734</Words>
  <Application>Microsoft Macintosh PowerPoint</Application>
  <PresentationFormat>와이드스크린</PresentationFormat>
  <Paragraphs>664</Paragraphs>
  <Slides>31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맑은 고딕</vt:lpstr>
      <vt:lpstr>G마켓 산스 Medium</vt:lpstr>
      <vt:lpstr>G마켓 산스 TTF Medium</vt:lpstr>
      <vt:lpstr>Arial</vt:lpstr>
      <vt:lpstr>Cambria Math</vt:lpstr>
      <vt:lpstr>제목 테마</vt:lpstr>
      <vt:lpstr>국내외 동형암호 적용 사례 분석 및 이용 가이드 개발</vt:lpstr>
      <vt:lpstr>PowerPoint 프레젠테이션</vt:lpstr>
      <vt:lpstr>연구과제 목표</vt:lpstr>
      <vt:lpstr>연구과제의 필요성</vt:lpstr>
      <vt:lpstr>연구과제의 필요성</vt:lpstr>
      <vt:lpstr>연구과제의 필요성</vt:lpstr>
      <vt:lpstr>연구과제의 필요성</vt:lpstr>
      <vt:lpstr>연구과제의 필요성</vt:lpstr>
      <vt:lpstr>동형암호</vt:lpstr>
      <vt:lpstr>동형암호의 종류</vt:lpstr>
      <vt:lpstr>완전동형암호의 주요 특성</vt:lpstr>
      <vt:lpstr>완전동형암호의 주요 특성</vt:lpstr>
      <vt:lpstr>국내 동형암호 적용 현황</vt:lpstr>
      <vt:lpstr>국내 동형암호 적용 현황</vt:lpstr>
      <vt:lpstr>국내 동형암호 적용 현황</vt:lpstr>
      <vt:lpstr>국외 동형암호 적용 현황</vt:lpstr>
      <vt:lpstr>국외 동형암호 적용 현황</vt:lpstr>
      <vt:lpstr>주요 동형암호 라이브러리 동향</vt:lpstr>
      <vt:lpstr>동형암호 기술 발전 및 연구 동향</vt:lpstr>
      <vt:lpstr>FHE 기반 프라이버시 보존 머신러닝 및 통신 효율화 연구 동향</vt:lpstr>
      <vt:lpstr>FHE 기반 PPML 연구 동향</vt:lpstr>
      <vt:lpstr>FHE-ML 실용화 고려사항</vt:lpstr>
      <vt:lpstr>Low-Communication Threshold FHE</vt:lpstr>
      <vt:lpstr>TenSEAL 기반 Benchmark</vt:lpstr>
      <vt:lpstr>PowerPoint 프레젠테이션</vt:lpstr>
      <vt:lpstr>PowerPoint 프레젠테이션</vt:lpstr>
      <vt:lpstr>과제 추진 방향</vt:lpstr>
      <vt:lpstr>과제 추진 방향</vt:lpstr>
      <vt:lpstr>과제 추진 방향</vt:lpstr>
      <vt:lpstr>결론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심민주</dc:creator>
  <cp:lastModifiedBy>Minwoo Lee</cp:lastModifiedBy>
  <cp:revision>58</cp:revision>
  <dcterms:created xsi:type="dcterms:W3CDTF">2025-07-14T05:44:00Z</dcterms:created>
  <dcterms:modified xsi:type="dcterms:W3CDTF">2026-06-15T14:55:55Z</dcterms:modified>
</cp:coreProperties>
</file>