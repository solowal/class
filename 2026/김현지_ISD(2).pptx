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5" r:id="rId2"/>
  </p:sldMasterIdLst>
  <p:notesMasterIdLst>
    <p:notesMasterId r:id="rId12"/>
  </p:notesMasterIdLst>
  <p:sldIdLst>
    <p:sldId id="257" r:id="rId3"/>
    <p:sldId id="266" r:id="rId4"/>
    <p:sldId id="260" r:id="rId5"/>
    <p:sldId id="258" r:id="rId6"/>
    <p:sldId id="261" r:id="rId7"/>
    <p:sldId id="268" r:id="rId8"/>
    <p:sldId id="263" r:id="rId9"/>
    <p:sldId id="265" r:id="rId10"/>
    <p:sldId id="25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9"/>
    <p:restoredTop sz="94697"/>
  </p:normalViewPr>
  <p:slideViewPr>
    <p:cSldViewPr snapToGrid="0" snapToObjects="1">
      <p:cViewPr varScale="1">
        <p:scale>
          <a:sx n="117" d="100"/>
          <a:sy n="117" d="100"/>
        </p:scale>
        <p:origin x="131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67D3-7AC7-3741-AD63-2D8018731C77}" type="datetimeFigureOut">
              <a:rPr kumimoji="1" lang="ko-KR" altLang="en-US" smtClean="0"/>
              <a:t>2026. 3. 30.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26729-B2AC-DF4D-8092-F3CD4AAD30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959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참고로 이전 발표자료에 적힌 </a:t>
            </a:r>
            <a:r>
              <a:rPr kumimoji="1" lang="en-US" altLang="ko-KR" dirty="0"/>
              <a:t>T</a:t>
            </a:r>
            <a:r>
              <a:rPr kumimoji="1" lang="ko-KR" altLang="en-US" dirty="0"/>
              <a:t>게이트 수는 </a:t>
            </a:r>
            <a:r>
              <a:rPr kumimoji="1" lang="en-US" altLang="ko-KR" dirty="0"/>
              <a:t>comparator</a:t>
            </a:r>
            <a:r>
              <a:rPr kumimoji="1" lang="ko-KR" altLang="en-US" dirty="0"/>
              <a:t> 수로 </a:t>
            </a:r>
            <a:r>
              <a:rPr kumimoji="1" lang="ko-KR" altLang="en-US" dirty="0" err="1"/>
              <a:t>적혀있었는데</a:t>
            </a:r>
            <a:r>
              <a:rPr kumimoji="1" lang="ko-KR" altLang="en-US" dirty="0"/>
              <a:t> </a:t>
            </a:r>
            <a:r>
              <a:rPr kumimoji="1" lang="en-US" altLang="ko-KR" dirty="0"/>
              <a:t>comparator</a:t>
            </a:r>
            <a:r>
              <a:rPr kumimoji="1" lang="ko-KR" altLang="en-US" dirty="0"/>
              <a:t>가 내부에서 </a:t>
            </a:r>
            <a:r>
              <a:rPr kumimoji="1" lang="ko-KR" altLang="en-US" dirty="0" err="1"/>
              <a:t>토폴리를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여러개</a:t>
            </a:r>
            <a:r>
              <a:rPr kumimoji="1" lang="ko-KR" altLang="en-US" dirty="0"/>
              <a:t> 씀 그래서 그 수치보단 늘어남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403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우측 아래만 갱신하는 후속 연산에는 영향이 없지만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결과적으로 행단위의 등식이 깨져서 나중에 </a:t>
            </a:r>
            <a:r>
              <a:rPr kumimoji="1" lang="ko-KR" altLang="en-US" dirty="0" err="1"/>
              <a:t>보정해줘야함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407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9153-D9C9-C545-3E08-6E625382E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DB1D32-155C-E7E6-1CFE-CD660AEAA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1A7F3-1C17-086E-2EBE-835F0C5CC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dirty="0"/>
              <a:t>우측 아래만 갱신하는 후속 연산에는 영향이 없지만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결과적으로 행단위의 등식이 깨져서 나중에 </a:t>
            </a:r>
            <a:r>
              <a:rPr kumimoji="1" lang="ko-KR" altLang="en-US" dirty="0" err="1"/>
              <a:t>보정해줘야함</a:t>
            </a:r>
            <a:endParaRPr kumimoji="1" lang="en-US" altLang="ko-KR" dirty="0"/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A7FEA2-7C4B-B986-7411-3052BEFE8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26729-B2AC-DF4D-8092-F3CD4AAD306F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3145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2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519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216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730914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15641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437B6-A43D-EA47-9F3F-E60C6642F8D2}" type="datetimeFigureOut">
              <a:rPr kumimoji="1" lang="ko-Kore-KR" altLang="en-US" smtClean="0"/>
              <a:t>3/30/26</a:t>
            </a:fld>
            <a:endParaRPr kumimoji="1" lang="ko-Kore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1A878-7EBC-2E42-A824-62C83D9372A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489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575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F9506-9EB3-1147-8806-F4FEE97D8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en-US" dirty="0"/>
              <a:t>Quantum ISD (2)</a:t>
            </a:r>
            <a:endParaRPr kumimoji="1" lang="ko-Kore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976B76-57E6-744E-80BD-56E31CBB47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" altLang="ko-KR" dirty="0"/>
              <a:t>https://</a:t>
            </a:r>
            <a:r>
              <a:rPr kumimoji="1" lang="en" altLang="ko-KR" dirty="0" err="1"/>
              <a:t>youtu.be</a:t>
            </a:r>
            <a:r>
              <a:rPr kumimoji="1" lang="en" altLang="ko-KR"/>
              <a:t>/QdaYmt1guR4</a:t>
            </a:r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9042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94B49-F6AF-D423-30EB-542A7A28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C43FD-8BBD-3763-AF79-ED7117C5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QISD</a:t>
            </a:r>
            <a:endParaRPr kumimoji="1" lang="ko-Kore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2D9A4BD-FDB6-5246-9151-E09139C7B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12" y="1140097"/>
            <a:ext cx="11517067" cy="553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EB50-6659-825B-E777-C50E8409E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A3797-D595-86DB-1FFA-51909ED37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QISD</a:t>
            </a:r>
            <a:endParaRPr kumimoji="1" lang="ko-Kore-KR" altLang="en-US" dirty="0"/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D16BF186-91F7-E89D-4F87-40A628781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r>
              <a:rPr kumimoji="1" lang="ko-KR" altLang="en-US" dirty="0"/>
              <a:t>오라클은 </a:t>
            </a:r>
            <a:r>
              <a:rPr kumimoji="1" lang="en-US" altLang="ko-KR" dirty="0"/>
              <a:t>3</a:t>
            </a:r>
            <a:r>
              <a:rPr kumimoji="1" lang="ko-KR" altLang="en-US" dirty="0"/>
              <a:t>단계로 구성됨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Information set, Gauss-Jordan Elimination, Hamming weight 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7E45F-9AA3-8F64-03BA-481CA43DB5F0}"/>
              </a:ext>
            </a:extLst>
          </p:cNvPr>
          <p:cNvSpPr txBox="1"/>
          <p:nvPr/>
        </p:nvSpPr>
        <p:spPr>
          <a:xfrm>
            <a:off x="81466" y="6317827"/>
            <a:ext cx="11198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[1]</a:t>
            </a:r>
            <a:r>
              <a:rPr kumimoji="1" lang="ko-KR" altLang="en-US" sz="1000" dirty="0"/>
              <a:t> </a:t>
            </a:r>
            <a:r>
              <a:rPr kumimoji="1" lang="en" altLang="ko-KR" sz="1000" dirty="0"/>
              <a:t>Perriello, S., </a:t>
            </a:r>
            <a:r>
              <a:rPr kumimoji="1" lang="en" altLang="ko-KR" sz="1000" dirty="0" err="1"/>
              <a:t>Barenghi</a:t>
            </a:r>
            <a:r>
              <a:rPr kumimoji="1" lang="en" altLang="ko-KR" sz="1000" dirty="0"/>
              <a:t>, A., &amp; Pelosi, G. (2023). Improving the efficiency of quantum circuits for information set decoding. ACM Transactions on Quantum Computing, 4(4), 1-40.</a:t>
            </a:r>
            <a:endParaRPr kumimoji="1" lang="en-US" altLang="ko-KR" sz="1000" baseline="30000" dirty="0"/>
          </a:p>
          <a:p>
            <a:r>
              <a:rPr kumimoji="1" lang="en-US" altLang="ko-KR" sz="1000" dirty="0"/>
              <a:t>[2]</a:t>
            </a:r>
            <a:r>
              <a:rPr kumimoji="1" lang="ko-KR" altLang="en-US" sz="1000" dirty="0"/>
              <a:t> </a:t>
            </a:r>
            <a:r>
              <a:rPr lang="en" altLang="ko-KR" sz="1000" dirty="0"/>
              <a:t>Jang, K., Oh, Y., &amp; Seo, H. (2024). Depth-optimized quantum circuit of Gauss–Jordan elimination. </a:t>
            </a:r>
            <a:r>
              <a:rPr lang="en" altLang="ko-KR" sz="1000" i="1" dirty="0"/>
              <a:t>Applied Sciences</a:t>
            </a:r>
            <a:r>
              <a:rPr lang="en" altLang="ko-KR" sz="1000" dirty="0"/>
              <a:t>, </a:t>
            </a:r>
            <a:r>
              <a:rPr lang="en" altLang="ko-KR" sz="1000" i="1" dirty="0"/>
              <a:t>14</a:t>
            </a:r>
            <a:r>
              <a:rPr lang="en" altLang="ko-KR" sz="1000" dirty="0"/>
              <a:t>(19), 8579.</a:t>
            </a:r>
            <a:endParaRPr kumimoji="1" lang="en" altLang="ko-KR" sz="100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936380D-AF15-F347-9D8D-E87A42CEBB11}"/>
              </a:ext>
            </a:extLst>
          </p:cNvPr>
          <p:cNvGrpSpPr/>
          <p:nvPr/>
        </p:nvGrpSpPr>
        <p:grpSpPr>
          <a:xfrm>
            <a:off x="411162" y="2359742"/>
            <a:ext cx="7649884" cy="3048000"/>
            <a:chOff x="1170039" y="2359742"/>
            <a:chExt cx="7649884" cy="3048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B5E1004-726F-106E-3EA3-82F6E0262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22" t="4628" r="60224" b="25104"/>
            <a:stretch>
              <a:fillRect/>
            </a:stretch>
          </p:blipFill>
          <p:spPr>
            <a:xfrm>
              <a:off x="1170039" y="2359742"/>
              <a:ext cx="3902704" cy="3048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1BF73B-49AE-442E-D7FE-5FBF1E4E77C7}"/>
                </a:ext>
              </a:extLst>
            </p:cNvPr>
            <p:cNvSpPr txBox="1"/>
            <p:nvPr/>
          </p:nvSpPr>
          <p:spPr>
            <a:xfrm>
              <a:off x="5510666" y="3312080"/>
              <a:ext cx="33092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/>
                <a:t>기존 방식 사용</a:t>
              </a:r>
              <a:r>
                <a:rPr kumimoji="1" lang="en-US" altLang="ko-KR" baseline="30000" dirty="0"/>
                <a:t>[1]</a:t>
              </a:r>
              <a:endParaRPr kumimoji="1" lang="ko-KR" altLang="en-US" baseline="30000" dirty="0"/>
            </a:p>
          </p:txBody>
        </p:sp>
        <p:sp>
          <p:nvSpPr>
            <p:cNvPr id="7" name="오른쪽 중괄호[R] 6">
              <a:extLst>
                <a:ext uri="{FF2B5EF4-FFF2-40B4-BE49-F238E27FC236}">
                  <a16:creationId xmlns:a16="http://schemas.microsoft.com/office/drawing/2014/main" id="{7B8F9920-EA74-4458-38AB-A0B76D15EB6D}"/>
                </a:ext>
              </a:extLst>
            </p:cNvPr>
            <p:cNvSpPr/>
            <p:nvPr/>
          </p:nvSpPr>
          <p:spPr>
            <a:xfrm>
              <a:off x="5090299" y="2723535"/>
              <a:ext cx="437923" cy="1604303"/>
            </a:xfrm>
            <a:prstGeom prst="righ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288873-0D14-F64E-FBD3-A498DEDFB7AD}"/>
                </a:ext>
              </a:extLst>
            </p:cNvPr>
            <p:cNvSpPr txBox="1"/>
            <p:nvPr/>
          </p:nvSpPr>
          <p:spPr>
            <a:xfrm>
              <a:off x="5510666" y="4731717"/>
              <a:ext cx="1249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dirty="0"/>
                <a:t>[2]</a:t>
              </a:r>
              <a:r>
                <a:rPr kumimoji="1" lang="ko-KR" altLang="en-US" dirty="0" err="1"/>
                <a:t>를</a:t>
              </a:r>
              <a:r>
                <a:rPr kumimoji="1" lang="ko-KR" altLang="en-US" dirty="0"/>
                <a:t> 개선</a:t>
              </a:r>
              <a:endParaRPr kumimoji="1" lang="ko-KR" altLang="en-US" baseline="30000" dirty="0"/>
            </a:p>
          </p:txBody>
        </p:sp>
        <p:sp>
          <p:nvSpPr>
            <p:cNvPr id="9" name="오른쪽 중괄호[R] 8">
              <a:extLst>
                <a:ext uri="{FF2B5EF4-FFF2-40B4-BE49-F238E27FC236}">
                  <a16:creationId xmlns:a16="http://schemas.microsoft.com/office/drawing/2014/main" id="{7CD1FC7C-476C-721D-A4E8-651F88A99051}"/>
                </a:ext>
              </a:extLst>
            </p:cNvPr>
            <p:cNvSpPr/>
            <p:nvPr/>
          </p:nvSpPr>
          <p:spPr>
            <a:xfrm>
              <a:off x="5092407" y="4377969"/>
              <a:ext cx="437923" cy="980611"/>
            </a:xfrm>
            <a:prstGeom prst="rightBrac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3203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3F219CC-32AD-044F-84AE-0B176F85A03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Information Set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-US" altLang="ko-KR" dirty="0"/>
                  <a:t>)</a:t>
                </a:r>
                <a:r>
                  <a:rPr kumimoji="1" lang="ko-KR" altLang="en-US" dirty="0"/>
                  <a:t> 구축</a:t>
                </a:r>
                <a:endParaRPr kumimoji="1" lang="ko-Kore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3F219CC-32AD-044F-84AE-0B176F85A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674" t="-6557" b="-18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2333B2FF-BB30-2D58-2AA3-399D8FC264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152525"/>
            <a:ext cx="12192000" cy="5057775"/>
          </a:xfrm>
        </p:spPr>
        <p:txBody>
          <a:bodyPr>
            <a:normAutofit/>
          </a:bodyPr>
          <a:lstStyle/>
          <a:p>
            <a:r>
              <a:rPr kumimoji="1" lang="ko-KR" altLang="en-US" sz="2000" b="1" dirty="0"/>
              <a:t>기존 방식 그대로 사용</a:t>
            </a:r>
            <a:r>
              <a:rPr kumimoji="1" lang="ko-KR" altLang="en-US" sz="2000" dirty="0"/>
              <a:t>하지만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</a:t>
            </a:r>
            <a:r>
              <a:rPr kumimoji="1" lang="ko-KR" altLang="en-US" sz="2000" dirty="0" err="1"/>
              <a:t>비용식</a:t>
            </a:r>
            <a:r>
              <a:rPr kumimoji="1" lang="ko-KR" altLang="en-US" sz="2000" dirty="0"/>
              <a:t> 다시 계산</a:t>
            </a:r>
            <a:endParaRPr kumimoji="1" lang="en-US" altLang="ko-KR" sz="2000" dirty="0"/>
          </a:p>
          <a:p>
            <a:pPr lvl="1"/>
            <a:r>
              <a:rPr kumimoji="1" lang="ko-KR" altLang="en-US" sz="1800" dirty="0"/>
              <a:t>본문에 적힌 내용과 회로 구현과 </a:t>
            </a:r>
            <a:r>
              <a:rPr kumimoji="1" lang="en-US" altLang="ko-KR" sz="1800" dirty="0"/>
              <a:t>Table 1</a:t>
            </a:r>
            <a:r>
              <a:rPr kumimoji="1" lang="ko-KR" altLang="en-US" sz="1800" dirty="0" err="1"/>
              <a:t>에</a:t>
            </a:r>
            <a:r>
              <a:rPr kumimoji="1" lang="ko-KR" altLang="en-US" sz="1800" dirty="0"/>
              <a:t> 나오는 식의 일부가 다름</a:t>
            </a:r>
            <a:endParaRPr kumimoji="1" lang="en-US" altLang="ko-KR" sz="1800" dirty="0"/>
          </a:p>
          <a:p>
            <a:pPr lvl="1"/>
            <a:r>
              <a:rPr kumimoji="1" lang="ko-KR" altLang="en-US" sz="1800" dirty="0" err="1"/>
              <a:t>재구현해서</a:t>
            </a:r>
            <a:r>
              <a:rPr kumimoji="1" lang="ko-KR" altLang="en-US" sz="1800" dirty="0"/>
              <a:t> 비용 추정해본 결과 </a:t>
            </a:r>
            <a:r>
              <a:rPr kumimoji="1" lang="ko-KR" altLang="en-US" sz="1800" dirty="0" err="1"/>
              <a:t>뎁스는</a:t>
            </a:r>
            <a:r>
              <a:rPr kumimoji="1" lang="ko-KR" altLang="en-US" sz="1800" dirty="0"/>
              <a:t> 맞는데 게이트 수가 다름 </a:t>
            </a:r>
            <a:r>
              <a:rPr kumimoji="1" lang="en-US" altLang="ko-KR" sz="1800" dirty="0"/>
              <a:t>(</a:t>
            </a:r>
            <a:r>
              <a:rPr kumimoji="1" lang="ko-KR" altLang="en-US" sz="1800" dirty="0"/>
              <a:t>논문이 더 높게 </a:t>
            </a:r>
            <a:r>
              <a:rPr kumimoji="1" lang="ko-KR" altLang="en-US" sz="1800" dirty="0" err="1"/>
              <a:t>써져있음</a:t>
            </a:r>
            <a:r>
              <a:rPr kumimoji="1" lang="en-US" altLang="ko-KR" sz="1800" dirty="0"/>
              <a:t>)</a:t>
            </a:r>
          </a:p>
          <a:p>
            <a:pPr lvl="2"/>
            <a:r>
              <a:rPr kumimoji="1" lang="ko-KR" altLang="en-US" sz="1800" dirty="0"/>
              <a:t>해당 모듈에서 </a:t>
            </a:r>
            <a:r>
              <a:rPr kumimoji="1" lang="en-US" altLang="ko-KR" sz="1800" dirty="0"/>
              <a:t>comparator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(a)</a:t>
            </a:r>
            <a:r>
              <a:rPr kumimoji="1" lang="ko-KR" altLang="en-US" sz="1800" dirty="0"/>
              <a:t>가 필요하고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여러 레벨 </a:t>
            </a:r>
            <a:r>
              <a:rPr kumimoji="1" lang="en-US" altLang="ko-KR" sz="1800" dirty="0"/>
              <a:t>(b)</a:t>
            </a:r>
            <a:r>
              <a:rPr kumimoji="1" lang="ko-KR" altLang="en-US" sz="1800" dirty="0" err="1"/>
              <a:t>에</a:t>
            </a:r>
            <a:r>
              <a:rPr kumimoji="1" lang="ko-KR" altLang="en-US" sz="1800" dirty="0"/>
              <a:t> 대해 수행됨</a:t>
            </a:r>
            <a:endParaRPr kumimoji="1" lang="en-US" altLang="ko-KR" sz="1800" dirty="0"/>
          </a:p>
          <a:p>
            <a:pPr lvl="2"/>
            <a:r>
              <a:rPr kumimoji="1" lang="en-US" altLang="ko-KR" sz="1800" dirty="0"/>
              <a:t>E.g., 4</a:t>
            </a:r>
            <a:r>
              <a:rPr kumimoji="1" lang="ko-KR" altLang="en-US" sz="1800" dirty="0"/>
              <a:t>비트에 대해서</a:t>
            </a:r>
            <a:r>
              <a:rPr kumimoji="1" lang="en-US" altLang="ko-KR" sz="1800" dirty="0"/>
              <a:t>,</a:t>
            </a:r>
            <a:r>
              <a:rPr kumimoji="1" lang="ko-KR" altLang="en-US" sz="1800" dirty="0"/>
              <a:t> </a:t>
            </a:r>
            <a:r>
              <a:rPr kumimoji="1" lang="en-US" altLang="ko-KR" sz="1800" dirty="0"/>
              <a:t>Comparator</a:t>
            </a:r>
            <a:r>
              <a:rPr kumimoji="1" lang="ko-KR" altLang="en-US" sz="1800" dirty="0"/>
              <a:t>는 </a:t>
            </a:r>
            <a:r>
              <a:rPr kumimoji="1" lang="en-US" altLang="ko-KR" sz="1800" dirty="0"/>
              <a:t>6</a:t>
            </a:r>
            <a:r>
              <a:rPr kumimoji="1" lang="ko-KR" altLang="en-US" sz="1800" dirty="0"/>
              <a:t>개 </a:t>
            </a:r>
            <a:r>
              <a:rPr kumimoji="1" lang="en-US" altLang="ko-KR" sz="1800" dirty="0"/>
              <a:t>(=2</a:t>
            </a:r>
            <a:r>
              <a:rPr kumimoji="1" lang="ko-KR" altLang="en-US" sz="1800" dirty="0"/>
              <a:t>*</a:t>
            </a:r>
            <a:r>
              <a:rPr kumimoji="1" lang="en-US" altLang="ko-KR" sz="1800" dirty="0"/>
              <a:t>3)</a:t>
            </a:r>
            <a:r>
              <a:rPr kumimoji="1" lang="ko-KR" altLang="en-US" sz="1800" dirty="0"/>
              <a:t> 필요하지만 제시된 수식은 그 이상이 쓰일 때 </a:t>
            </a:r>
            <a:r>
              <a:rPr kumimoji="1" lang="ko-KR" altLang="en-US" sz="1800" dirty="0" err="1"/>
              <a:t>비용같음</a:t>
            </a:r>
            <a:endParaRPr kumimoji="1" lang="en-US" altLang="ko-KR" sz="1800" dirty="0"/>
          </a:p>
          <a:p>
            <a:pPr lvl="1"/>
            <a:endParaRPr kumimoji="1" lang="en-US" altLang="ko-KR" sz="1800" dirty="0"/>
          </a:p>
          <a:p>
            <a:endParaRPr kumimoji="1" lang="en-US" altLang="ko-KR" sz="2000" b="1" dirty="0"/>
          </a:p>
          <a:p>
            <a:endParaRPr kumimoji="1" lang="en-US" altLang="ko-KR" sz="2000" b="1" dirty="0"/>
          </a:p>
          <a:p>
            <a:r>
              <a:rPr kumimoji="1" lang="ko-KR" altLang="en-US" sz="2000" b="1" dirty="0" err="1"/>
              <a:t>재구현</a:t>
            </a:r>
            <a:r>
              <a:rPr kumimoji="1" lang="ko-KR" altLang="en-US" sz="2000" b="1" dirty="0"/>
              <a:t> 결과와 논문 내용을 토대로 아래와 같은 비용 모델 도출</a:t>
            </a:r>
            <a:endParaRPr kumimoji="1" lang="en-US" altLang="ko-KR" sz="2000" b="1" dirty="0"/>
          </a:p>
          <a:p>
            <a:endParaRPr kumimoji="1" lang="en-US" altLang="ko-KR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CD71F8A-5FEC-6F6D-31A3-4BF518CC9E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66" t="11222" b="5997"/>
          <a:stretch>
            <a:fillRect/>
          </a:stretch>
        </p:blipFill>
        <p:spPr>
          <a:xfrm>
            <a:off x="7847661" y="2859577"/>
            <a:ext cx="3790769" cy="1318908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E3464CE-BD40-4DDE-0A5E-8304CFCD61BE}"/>
              </a:ext>
            </a:extLst>
          </p:cNvPr>
          <p:cNvGrpSpPr/>
          <p:nvPr/>
        </p:nvGrpSpPr>
        <p:grpSpPr>
          <a:xfrm>
            <a:off x="885487" y="4244309"/>
            <a:ext cx="3506593" cy="2613691"/>
            <a:chOff x="-57806" y="3344608"/>
            <a:chExt cx="4089685" cy="304830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8379C76-22B2-3BA1-99E1-2581DDE2C433}"/>
                </a:ext>
              </a:extLst>
            </p:cNvPr>
            <p:cNvSpPr txBox="1"/>
            <p:nvPr/>
          </p:nvSpPr>
          <p:spPr>
            <a:xfrm>
              <a:off x="-57806" y="3829866"/>
              <a:ext cx="13962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Qubit</a:t>
              </a:r>
              <a:endParaRPr lang="ko-KR" altLang="en-US" sz="1600" b="1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D7410F-C76F-EB6D-1B81-C7EAB867CBCE}"/>
                </a:ext>
              </a:extLst>
            </p:cNvPr>
            <p:cNvSpPr txBox="1"/>
            <p:nvPr/>
          </p:nvSpPr>
          <p:spPr>
            <a:xfrm>
              <a:off x="-57806" y="4838075"/>
              <a:ext cx="16674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CNOT</a:t>
              </a:r>
              <a:endParaRPr lang="ko-KR" altLang="en-US" sz="1600" b="1" dirty="0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190F67C-6478-F251-0983-AC0A37B9DE36}"/>
                </a:ext>
              </a:extLst>
            </p:cNvPr>
            <p:cNvGrpSpPr/>
            <p:nvPr/>
          </p:nvGrpSpPr>
          <p:grpSpPr>
            <a:xfrm>
              <a:off x="177057" y="3344608"/>
              <a:ext cx="3854822" cy="3048307"/>
              <a:chOff x="177057" y="3344608"/>
              <a:chExt cx="3854822" cy="3048307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522BC36F-4120-FEAA-184D-EE5FD4803B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42312" t="1616" r="10709" b="47641"/>
              <a:stretch>
                <a:fillRect/>
              </a:stretch>
            </p:blipFill>
            <p:spPr>
              <a:xfrm>
                <a:off x="1042147" y="3344608"/>
                <a:ext cx="2989732" cy="3048307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126555-79C7-595A-29BF-2E437D15054B}"/>
                  </a:ext>
                </a:extLst>
              </p:cNvPr>
              <p:cNvSpPr txBox="1"/>
              <p:nvPr/>
            </p:nvSpPr>
            <p:spPr>
              <a:xfrm>
                <a:off x="177057" y="5878759"/>
                <a:ext cx="16674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b="1" dirty="0"/>
                  <a:t>T</a:t>
                </a:r>
                <a:endParaRPr lang="ko-KR" altLang="en-US" sz="1600" b="1" dirty="0"/>
              </a:p>
            </p:txBody>
          </p:sp>
        </p:grp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578AEDF-68C2-3BF5-BCB3-EAA08FA44A20}"/>
              </a:ext>
            </a:extLst>
          </p:cNvPr>
          <p:cNvGrpSpPr/>
          <p:nvPr/>
        </p:nvGrpSpPr>
        <p:grpSpPr>
          <a:xfrm>
            <a:off x="5904385" y="4573658"/>
            <a:ext cx="2783580" cy="1241469"/>
            <a:chOff x="4452103" y="4492415"/>
            <a:chExt cx="3246446" cy="1447906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FC7D598E-3455-0EED-6CF9-5AE329F23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383" t="59607" r="14574" b="32220"/>
            <a:stretch>
              <a:fillRect/>
            </a:stretch>
          </p:blipFill>
          <p:spPr>
            <a:xfrm>
              <a:off x="5150227" y="4492415"/>
              <a:ext cx="2548322" cy="49098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FF7CBE-1BD0-8031-2CFB-53903DB66B20}"/>
                </a:ext>
              </a:extLst>
            </p:cNvPr>
            <p:cNvSpPr txBox="1"/>
            <p:nvPr/>
          </p:nvSpPr>
          <p:spPr>
            <a:xfrm>
              <a:off x="4452103" y="4547511"/>
              <a:ext cx="13962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Td</a:t>
              </a:r>
              <a:endParaRPr lang="ko-KR" altLang="en-US" sz="16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6C06D2-6E45-CD42-FAD0-C67D31C631F4}"/>
                </a:ext>
              </a:extLst>
            </p:cNvPr>
            <p:cNvSpPr txBox="1"/>
            <p:nvPr/>
          </p:nvSpPr>
          <p:spPr>
            <a:xfrm>
              <a:off x="4452103" y="5520698"/>
              <a:ext cx="13962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FD</a:t>
              </a:r>
              <a:endParaRPr lang="ko-KR" altLang="en-US" sz="1600" b="1" dirty="0"/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CC61E0E-8875-7D45-DBEF-89A7455D6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383" t="88223" r="14574" b="3442"/>
            <a:stretch>
              <a:fillRect/>
            </a:stretch>
          </p:blipFill>
          <p:spPr>
            <a:xfrm>
              <a:off x="5150227" y="5439629"/>
              <a:ext cx="2548322" cy="5006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0217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6B943-4238-08E9-163F-47A873CF3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684D3F-4ECA-005B-3890-CE1FBC8B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Gauss-Jordan Elimination</a:t>
            </a:r>
            <a:endParaRPr kumimoji="1" lang="ko-Kore-KR" altLang="en-US" dirty="0"/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2C345F14-99D1-172A-EAF1-F047DCC12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>
            <a:normAutofit/>
          </a:bodyPr>
          <a:lstStyle/>
          <a:p>
            <a:r>
              <a:rPr kumimoji="1" lang="ko-KR" altLang="en-US" sz="2000" b="1" dirty="0" err="1"/>
              <a:t>연산량과</a:t>
            </a:r>
            <a:r>
              <a:rPr kumimoji="1" lang="ko-KR" altLang="en-US" sz="2000" b="1" dirty="0"/>
              <a:t> 큐비트를 줄이도록 변경</a:t>
            </a:r>
            <a:endParaRPr kumimoji="1" lang="en-US" altLang="ko-KR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9502EB-4745-D3A2-31DE-D927B30D6EB7}"/>
                  </a:ext>
                </a:extLst>
              </p:cNvPr>
              <p:cNvSpPr txBox="1"/>
              <p:nvPr/>
            </p:nvSpPr>
            <p:spPr>
              <a:xfrm>
                <a:off x="282388" y="4577619"/>
                <a:ext cx="703217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b="1" dirty="0"/>
                  <a:t>기존 방식</a:t>
                </a:r>
                <a:endParaRPr kumimoji="1" lang="en-US" altLang="ko-KR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/>
                  <a:t>Pivot (P)</a:t>
                </a:r>
                <a:r>
                  <a:rPr kumimoji="1" lang="ko-KR" altLang="en-US" dirty="0"/>
                  <a:t>을 기준으로 왼쪽 아래</a:t>
                </a:r>
                <a:r>
                  <a:rPr kumimoji="1" lang="en-US" altLang="ko-KR" dirty="0"/>
                  <a:t>/</a:t>
                </a:r>
                <a:r>
                  <a:rPr kumimoji="1" lang="ko-KR" altLang="en-US" dirty="0"/>
                  <a:t>오른쪽 아래를 모두 업데이트</a:t>
                </a:r>
                <a:endParaRPr kumimoji="1"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/>
                  <a:t>L</a:t>
                </a:r>
                <a:r>
                  <a:rPr kumimoji="1" lang="ko-KR" altLang="en-US" dirty="0"/>
                  <a:t>은 다음 단계 연산에는</a:t>
                </a:r>
                <a:r>
                  <a:rPr kumimoji="1" lang="en-US" altLang="ko-KR" dirty="0"/>
                  <a:t> </a:t>
                </a:r>
                <a:r>
                  <a:rPr kumimoji="1" lang="ko-KR" altLang="en-US" dirty="0"/>
                  <a:t>필요 없지만 </a:t>
                </a:r>
                <a:r>
                  <a:rPr kumimoji="1" lang="en-US" altLang="ko-KR" dirty="0"/>
                  <a:t>c</a:t>
                </a:r>
                <a:r>
                  <a:rPr kumimoji="1" lang="ko-KR" altLang="en-US" dirty="0"/>
                  <a:t> 갱신에 영향을 주는 요소</a:t>
                </a:r>
                <a:endParaRPr kumimoji="1"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dirty="0"/>
                  <a:t>c</a:t>
                </a:r>
                <a:r>
                  <a:rPr kumimoji="1" lang="ko-KR" altLang="en-US" dirty="0"/>
                  <a:t>를 해 벡터로 만들기 위한 업데이트 과정이 병렬성이 높음</a:t>
                </a:r>
                <a:endParaRPr kumimoji="1" lang="en-US" altLang="ko-KR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kumimoji="1" lang="en-US" altLang="ko-KR" sz="1600" dirty="0"/>
                  <a:t> c </a:t>
                </a:r>
                <a:r>
                  <a:rPr kumimoji="1" lang="ko-KR" altLang="en-US" sz="1600" dirty="0"/>
                  <a:t>사용하여 </a:t>
                </a:r>
                <a:r>
                  <a:rPr kumimoji="1" lang="en-US" altLang="ko-KR" sz="1600" dirty="0"/>
                  <a:t>c </a:t>
                </a:r>
                <a:r>
                  <a:rPr kumimoji="1" lang="ko-KR" altLang="en-US" sz="1600" dirty="0"/>
                  <a:t>갱신 </a:t>
                </a:r>
                <a:r>
                  <a:rPr kumimoji="1" lang="en-US" altLang="ko-KR" sz="1600" dirty="0"/>
                  <a:t>(Toffoli)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9502EB-4745-D3A2-31DE-D927B30D6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88" y="4577619"/>
                <a:ext cx="7032171" cy="1477328"/>
              </a:xfrm>
              <a:prstGeom prst="rect">
                <a:avLst/>
              </a:prstGeom>
              <a:blipFill>
                <a:blip r:embed="rId3"/>
                <a:stretch>
                  <a:fillRect l="-693" t="-2479" b="-28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C03FCDB6-976D-CFDF-1340-CEF6D59DA608}"/>
              </a:ext>
            </a:extLst>
          </p:cNvPr>
          <p:cNvGrpSpPr/>
          <p:nvPr/>
        </p:nvGrpSpPr>
        <p:grpSpPr>
          <a:xfrm>
            <a:off x="660689" y="1615693"/>
            <a:ext cx="7248767" cy="2658621"/>
            <a:chOff x="660689" y="1615693"/>
            <a:chExt cx="7248767" cy="2658621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F04190A5-22EA-0C5F-071F-BEA22C7F7EB0}"/>
                </a:ext>
              </a:extLst>
            </p:cNvPr>
            <p:cNvGrpSpPr/>
            <p:nvPr/>
          </p:nvGrpSpPr>
          <p:grpSpPr>
            <a:xfrm>
              <a:off x="660689" y="1615693"/>
              <a:ext cx="7119993" cy="2658621"/>
              <a:chOff x="660689" y="1433078"/>
              <a:chExt cx="7119993" cy="265862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DB1690-CB5A-B67E-0B00-545B420F74A5}"/>
                  </a:ext>
                </a:extLst>
              </p:cNvPr>
              <p:cNvSpPr txBox="1"/>
              <p:nvPr/>
            </p:nvSpPr>
            <p:spPr>
              <a:xfrm>
                <a:off x="1988525" y="1433078"/>
                <a:ext cx="44643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R" altLang="en-US" sz="1200" dirty="0"/>
                  <a:t>현재 </a:t>
                </a:r>
                <a:r>
                  <a:rPr kumimoji="1" lang="en-US" altLang="ko-KR" sz="1200" dirty="0"/>
                  <a:t>pivot</a:t>
                </a:r>
                <a:r>
                  <a:rPr kumimoji="1" lang="ko-KR" altLang="en-US" sz="1200" dirty="0"/>
                  <a:t>이 </a:t>
                </a:r>
                <a:r>
                  <a:rPr kumimoji="1" lang="en-US" altLang="ko-KR" sz="1200" dirty="0"/>
                  <a:t>row2,</a:t>
                </a:r>
                <a:r>
                  <a:rPr kumimoji="1" lang="ko-KR" altLang="en-US" sz="1200" dirty="0"/>
                  <a:t> </a:t>
                </a:r>
                <a:r>
                  <a:rPr kumimoji="1" lang="en-US" altLang="ko-KR" sz="1200" dirty="0"/>
                  <a:t>col2</a:t>
                </a:r>
                <a:r>
                  <a:rPr kumimoji="1" lang="ko-KR" altLang="en-US" sz="1200" dirty="0"/>
                  <a:t>인 상태에 대한 예시</a:t>
                </a:r>
                <a:endParaRPr kumimoji="1" lang="en-US" altLang="ko-KR" sz="1200" dirty="0"/>
              </a:p>
            </p:txBody>
          </p: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41FD502C-C345-219F-A7FF-7319E8354F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0689" y="1687359"/>
                <a:ext cx="7119993" cy="2404340"/>
              </a:xfrm>
              <a:prstGeom prst="rect">
                <a:avLst/>
              </a:prstGeom>
            </p:spPr>
          </p:pic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0EFD87A-A968-5307-A954-8717048298EE}"/>
                </a:ext>
              </a:extLst>
            </p:cNvPr>
            <p:cNvSpPr/>
            <p:nvPr/>
          </p:nvSpPr>
          <p:spPr>
            <a:xfrm>
              <a:off x="4511487" y="1869974"/>
              <a:ext cx="3397969" cy="2118507"/>
            </a:xfrm>
            <a:prstGeom prst="rect">
              <a:avLst/>
            </a:prstGeom>
            <a:solidFill>
              <a:srgbClr val="7F7F7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9E2922-EE7E-6ECA-C100-4E48CA2B6048}"/>
                  </a:ext>
                </a:extLst>
              </p:cNvPr>
              <p:cNvSpPr txBox="1"/>
              <p:nvPr/>
            </p:nvSpPr>
            <p:spPr>
              <a:xfrm>
                <a:off x="619933" y="1869974"/>
                <a:ext cx="5109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59E2922-EE7E-6ECA-C100-4E48CA2B6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33" y="1869974"/>
                <a:ext cx="510988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23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675C-A58C-23D7-939E-4E32845D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02630-3300-BBA4-EB9F-6D69CE07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Gauss-Jordan Elimination</a:t>
            </a:r>
            <a:endParaRPr kumimoji="1" lang="ko-Kore-KR" altLang="en-US" dirty="0"/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D47F2309-E434-EEC9-04BE-08EBE7F044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>
            <a:normAutofit/>
          </a:bodyPr>
          <a:lstStyle/>
          <a:p>
            <a:r>
              <a:rPr kumimoji="1" lang="ko-KR" altLang="en-US" sz="2000" b="1" dirty="0"/>
              <a:t>이전 방식에서 </a:t>
            </a:r>
            <a:r>
              <a:rPr kumimoji="1" lang="ko-KR" altLang="en-US" sz="2000" b="1" dirty="0" err="1"/>
              <a:t>연산량과</a:t>
            </a:r>
            <a:r>
              <a:rPr kumimoji="1" lang="ko-KR" altLang="en-US" sz="2000" b="1" dirty="0"/>
              <a:t> 큐비트를 줄이도록 변경</a:t>
            </a:r>
            <a:endParaRPr kumimoji="1" lang="en-US" altLang="ko-KR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DE672-69C0-DFD8-AE95-53503047D93F}"/>
              </a:ext>
            </a:extLst>
          </p:cNvPr>
          <p:cNvSpPr txBox="1"/>
          <p:nvPr/>
        </p:nvSpPr>
        <p:spPr>
          <a:xfrm>
            <a:off x="257357" y="4310372"/>
            <a:ext cx="94648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b="1" dirty="0"/>
              <a:t>개선 방식</a:t>
            </a:r>
            <a:endParaRPr kumimoji="1"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오른쪽 아래 </a:t>
            </a:r>
            <a:r>
              <a:rPr kumimoji="1" lang="en-US" altLang="ko-KR" dirty="0"/>
              <a:t>(R)</a:t>
            </a:r>
            <a:r>
              <a:rPr kumimoji="1" lang="ko-KR" altLang="en-US" dirty="0"/>
              <a:t>만 갱신 </a:t>
            </a:r>
            <a:r>
              <a:rPr kumimoji="1" lang="en-US" altLang="ko-KR" dirty="0"/>
              <a:t>(</a:t>
            </a:r>
            <a:r>
              <a:rPr kumimoji="1" lang="ko-KR" altLang="en-US" dirty="0"/>
              <a:t>다음 </a:t>
            </a:r>
            <a:r>
              <a:rPr kumimoji="1" lang="en-US" altLang="ko-KR" dirty="0"/>
              <a:t>pivot</a:t>
            </a:r>
            <a:r>
              <a:rPr kumimoji="1" lang="ko-KR" altLang="en-US" dirty="0"/>
              <a:t> 연산에 필요한 부분만</a:t>
            </a:r>
            <a:r>
              <a:rPr kumimoji="1"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c</a:t>
            </a:r>
            <a:r>
              <a:rPr kumimoji="1" lang="ko-KR" altLang="en-US" dirty="0"/>
              <a:t>를 해 벡터로 만들기 위한 과정이 </a:t>
            </a:r>
            <a:r>
              <a:rPr kumimoji="1" lang="en-US" altLang="ko-KR" dirty="0"/>
              <a:t>L </a:t>
            </a:r>
            <a:r>
              <a:rPr kumimoji="1" lang="ko-KR" altLang="en-US" dirty="0"/>
              <a:t>생략으로 인해 변경됨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이로 인해 마지막 </a:t>
            </a:r>
            <a:r>
              <a:rPr kumimoji="1" lang="en-US" altLang="ko-KR" dirty="0"/>
              <a:t>c</a:t>
            </a:r>
            <a:r>
              <a:rPr kumimoji="1" lang="ko-KR" altLang="en-US" dirty="0"/>
              <a:t> 보정 과정이 추가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73A7909-032B-1616-A3FE-514EBD5E388C}"/>
              </a:ext>
            </a:extLst>
          </p:cNvPr>
          <p:cNvGrpSpPr/>
          <p:nvPr/>
        </p:nvGrpSpPr>
        <p:grpSpPr>
          <a:xfrm>
            <a:off x="543562" y="1615693"/>
            <a:ext cx="7237120" cy="2658621"/>
            <a:chOff x="543562" y="1615693"/>
            <a:chExt cx="7237120" cy="2658621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215E2AFB-6A2F-FC80-D886-78B9D2605D2F}"/>
                </a:ext>
              </a:extLst>
            </p:cNvPr>
            <p:cNvGrpSpPr/>
            <p:nvPr/>
          </p:nvGrpSpPr>
          <p:grpSpPr>
            <a:xfrm>
              <a:off x="660689" y="1615693"/>
              <a:ext cx="7119993" cy="2658621"/>
              <a:chOff x="660689" y="1433078"/>
              <a:chExt cx="7119993" cy="265862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4437B9-00D9-20A6-6122-16043F13DF8C}"/>
                  </a:ext>
                </a:extLst>
              </p:cNvPr>
              <p:cNvSpPr txBox="1"/>
              <p:nvPr/>
            </p:nvSpPr>
            <p:spPr>
              <a:xfrm>
                <a:off x="1988525" y="1433078"/>
                <a:ext cx="44643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R" altLang="en-US" sz="1200" dirty="0"/>
                  <a:t>현재 </a:t>
                </a:r>
                <a:r>
                  <a:rPr kumimoji="1" lang="en-US" altLang="ko-KR" sz="1200" dirty="0"/>
                  <a:t>pivot</a:t>
                </a:r>
                <a:r>
                  <a:rPr kumimoji="1" lang="ko-KR" altLang="en-US" sz="1200" dirty="0"/>
                  <a:t>이 </a:t>
                </a:r>
                <a:r>
                  <a:rPr kumimoji="1" lang="en-US" altLang="ko-KR" sz="1200" dirty="0"/>
                  <a:t>row2,</a:t>
                </a:r>
                <a:r>
                  <a:rPr kumimoji="1" lang="ko-KR" altLang="en-US" sz="1200" dirty="0"/>
                  <a:t> </a:t>
                </a:r>
                <a:r>
                  <a:rPr kumimoji="1" lang="en-US" altLang="ko-KR" sz="1200" dirty="0"/>
                  <a:t>col2</a:t>
                </a:r>
                <a:r>
                  <a:rPr kumimoji="1" lang="ko-KR" altLang="en-US" sz="1200" dirty="0"/>
                  <a:t>인 상태에 대한 예시</a:t>
                </a:r>
                <a:endParaRPr kumimoji="1" lang="en-US" altLang="ko-KR" sz="1200" dirty="0"/>
              </a:p>
            </p:txBody>
          </p:sp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087CB5CE-B543-99BA-A730-DFE1B77427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0689" y="1687359"/>
                <a:ext cx="7119993" cy="2404340"/>
              </a:xfrm>
              <a:prstGeom prst="rect">
                <a:avLst/>
              </a:prstGeom>
            </p:spPr>
          </p:pic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30DA4AD-F034-9AC9-99EA-506CF02A7347}"/>
                </a:ext>
              </a:extLst>
            </p:cNvPr>
            <p:cNvSpPr/>
            <p:nvPr/>
          </p:nvSpPr>
          <p:spPr>
            <a:xfrm>
              <a:off x="543562" y="1869974"/>
              <a:ext cx="3397969" cy="2118507"/>
            </a:xfrm>
            <a:prstGeom prst="rect">
              <a:avLst/>
            </a:prstGeom>
            <a:solidFill>
              <a:srgbClr val="7F7F7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860652-29A7-B00C-73CC-E7666BD783ED}"/>
                  </a:ext>
                </a:extLst>
              </p:cNvPr>
              <p:cNvSpPr txBox="1"/>
              <p:nvPr/>
            </p:nvSpPr>
            <p:spPr>
              <a:xfrm>
                <a:off x="4430705" y="1837795"/>
                <a:ext cx="5109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860652-29A7-B00C-73CC-E7666BD78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705" y="1837795"/>
                <a:ext cx="5109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440D597-CA94-A381-006E-5E47E559ECEC}"/>
              </a:ext>
            </a:extLst>
          </p:cNvPr>
          <p:cNvSpPr txBox="1"/>
          <p:nvPr/>
        </p:nvSpPr>
        <p:spPr>
          <a:xfrm>
            <a:off x="257357" y="5545725"/>
            <a:ext cx="91786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효과</a:t>
            </a: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연산 수 감소</a:t>
            </a:r>
            <a:r>
              <a:rPr lang="en-US" altLang="ko-KR" dirty="0"/>
              <a:t>: </a:t>
            </a:r>
            <a:r>
              <a:rPr lang="ko-KR" altLang="en-US" dirty="0"/>
              <a:t>매 </a:t>
            </a:r>
            <a:r>
              <a:rPr lang="en-US" altLang="ko-KR" dirty="0"/>
              <a:t>pivot</a:t>
            </a:r>
            <a:r>
              <a:rPr lang="ko-KR" altLang="en-US" dirty="0"/>
              <a:t>에서 </a:t>
            </a:r>
            <a:r>
              <a:rPr lang="en-US" altLang="ko-KR" dirty="0"/>
              <a:t>L</a:t>
            </a:r>
            <a:r>
              <a:rPr lang="ko-KR" altLang="en-US" dirty="0"/>
              <a:t> 갱신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C</a:t>
            </a:r>
            <a:r>
              <a:rPr lang="ko-KR" altLang="en-US" dirty="0"/>
              <a:t> 보정 </a:t>
            </a:r>
            <a:r>
              <a:rPr lang="en-US" altLang="ko-KR" dirty="0"/>
              <a:t>(</a:t>
            </a:r>
            <a:r>
              <a:rPr lang="ko-KR" altLang="en-US" dirty="0"/>
              <a:t>반복 연산 </a:t>
            </a:r>
            <a:r>
              <a:rPr lang="en-US" altLang="ko-KR" dirty="0"/>
              <a:t>vs. </a:t>
            </a:r>
            <a:r>
              <a:rPr lang="ko-KR" altLang="en-US" dirty="0"/>
              <a:t>일회성 연산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 err="1"/>
              <a:t>큐비트</a:t>
            </a:r>
            <a:r>
              <a:rPr lang="ko-KR" altLang="en-US" b="1" dirty="0"/>
              <a:t> 감소</a:t>
            </a:r>
            <a:r>
              <a:rPr lang="en-US" altLang="ko-KR" dirty="0"/>
              <a:t>: L</a:t>
            </a:r>
            <a:r>
              <a:rPr lang="ko-KR" altLang="en-US" dirty="0"/>
              <a:t>에 대한 </a:t>
            </a:r>
            <a:r>
              <a:rPr lang="ko-KR" altLang="en-US" dirty="0" err="1"/>
              <a:t>안실라</a:t>
            </a:r>
            <a:r>
              <a:rPr lang="ko-KR" altLang="en-US" dirty="0"/>
              <a:t> 불필요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 err="1"/>
              <a:t>뎁스</a:t>
            </a:r>
            <a:r>
              <a:rPr lang="ko-KR" altLang="en-US" b="1" dirty="0"/>
              <a:t> 증가 </a:t>
            </a:r>
            <a:r>
              <a:rPr lang="en-US" altLang="ko-KR" dirty="0"/>
              <a:t>: c </a:t>
            </a:r>
            <a:r>
              <a:rPr lang="ko-KR" altLang="en-US" dirty="0"/>
              <a:t>보정 연산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3405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B2DB-8A74-55C9-73A8-1D0CF1594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71E23-683B-DD7B-D188-E21447F4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dirty="0"/>
              <a:t>소거 단계 전체에 대한 리소스 비교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텍스트 개체 틀 2">
                <a:extLst>
                  <a:ext uri="{FF2B5EF4-FFF2-40B4-BE49-F238E27FC236}">
                    <a16:creationId xmlns:a16="http://schemas.microsoft.com/office/drawing/2014/main" id="{8D2336D5-2851-D076-C7A9-7DC296A71C91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0" y="969910"/>
                <a:ext cx="12270441" cy="5057775"/>
              </a:xfrm>
            </p:spPr>
            <p:txBody>
              <a:bodyPr>
                <a:noAutofit/>
              </a:bodyPr>
              <a:lstStyle/>
              <a:p>
                <a:r>
                  <a:rPr kumimoji="1" lang="en-US" altLang="ko-KR" sz="1600" b="1" dirty="0">
                    <a:latin typeface="+mj-ea"/>
                    <a:ea typeface="+mj-ea"/>
                  </a:rPr>
                  <a:t>T-count (#T)</a:t>
                </a:r>
              </a:p>
              <a:p>
                <a:pPr lvl="1"/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12%~18% 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감소 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(k 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커질수록 </a:t>
                </a:r>
                <a:r>
                  <a:rPr kumimoji="1" lang="ko-KR" altLang="en-US" sz="1400" b="1" dirty="0" err="1">
                    <a:solidFill>
                      <a:srgbClr val="0070C0"/>
                    </a:solidFill>
                    <a:latin typeface="+mj-ea"/>
                    <a:ea typeface="+mj-ea"/>
                  </a:rPr>
                  <a:t>개선율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 증가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)</a:t>
                </a:r>
                <a:r>
                  <a:rPr kumimoji="1" lang="en-US" altLang="ko-KR" sz="16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 </a:t>
                </a:r>
                <a:r>
                  <a:rPr kumimoji="1" lang="en-US" altLang="ko-KR" sz="1000" dirty="0">
                    <a:latin typeface="+mj-ea"/>
                    <a:ea typeface="+mj-ea"/>
                    <a:sym typeface="Wingdings" panose="05000000000000000000" pitchFamily="2" charset="2"/>
                  </a:rPr>
                  <a:t> (</a:t>
                </a:r>
                <a:r>
                  <a:rPr kumimoji="1" lang="ko-KR" altLang="en-US" sz="1000" dirty="0">
                    <a:latin typeface="+mj-ea"/>
                    <a:ea typeface="+mj-ea"/>
                    <a:sym typeface="Wingdings" panose="05000000000000000000" pitchFamily="2" charset="2"/>
                  </a:rPr>
                  <a:t>참고</a:t>
                </a:r>
                <a:r>
                  <a:rPr kumimoji="1" lang="en-US" altLang="ko-KR" sz="1000" dirty="0">
                    <a:latin typeface="+mj-ea"/>
                    <a:ea typeface="+mj-ea"/>
                    <a:sym typeface="Wingdings" panose="05000000000000000000" pitchFamily="2" charset="2"/>
                  </a:rPr>
                  <a:t>) </a:t>
                </a:r>
                <a:r>
                  <a:rPr kumimoji="1" lang="ko-KR" altLang="en-US" sz="1000" dirty="0">
                    <a:latin typeface="+mj-ea"/>
                    <a:ea typeface="+mj-ea"/>
                    <a:sym typeface="Wingdings" panose="05000000000000000000" pitchFamily="2" charset="2"/>
                  </a:rPr>
                  <a:t>수식 기반으로 </a:t>
                </a:r>
                <a:r>
                  <a:rPr kumimoji="1" lang="ko-KR" altLang="en-US" sz="1000" dirty="0" err="1">
                    <a:latin typeface="+mj-ea"/>
                    <a:ea typeface="+mj-ea"/>
                    <a:sym typeface="Wingdings" panose="05000000000000000000" pitchFamily="2" charset="2"/>
                  </a:rPr>
                  <a:t>개선율</a:t>
                </a:r>
                <a:r>
                  <a:rPr kumimoji="1" lang="ko-KR" altLang="en-US" sz="1000" dirty="0">
                    <a:latin typeface="+mj-ea"/>
                    <a:ea typeface="+mj-ea"/>
                    <a:sym typeface="Wingdings" panose="05000000000000000000" pitchFamily="2" charset="2"/>
                  </a:rPr>
                  <a:t> 극한 계산하면 </a:t>
                </a:r>
                <a:r>
                  <a:rPr kumimoji="1" lang="ko-KR" altLang="en-US" sz="1000" dirty="0">
                    <a:latin typeface="+mj-ea"/>
                    <a:ea typeface="+mj-ea"/>
                  </a:rPr>
                  <a:t>약 </a:t>
                </a:r>
                <a:r>
                  <a:rPr kumimoji="1" lang="en-US" altLang="ko-KR" sz="1000" dirty="0">
                    <a:latin typeface="+mj-ea"/>
                    <a:ea typeface="+mj-ea"/>
                  </a:rPr>
                  <a:t>20%</a:t>
                </a:r>
                <a:r>
                  <a:rPr kumimoji="1" lang="ko-KR" altLang="en-US" sz="1000" dirty="0">
                    <a:latin typeface="+mj-ea"/>
                    <a:ea typeface="+mj-ea"/>
                  </a:rPr>
                  <a:t> 감소까지 가능 </a:t>
                </a:r>
              </a:p>
              <a:p>
                <a:endParaRPr kumimoji="1" lang="en-US" altLang="ko-KR" sz="1800" dirty="0">
                  <a:latin typeface="+mj-ea"/>
                  <a:ea typeface="+mj-ea"/>
                </a:endParaRPr>
              </a:p>
              <a:p>
                <a:pPr marL="0" indent="0">
                  <a:buNone/>
                </a:pPr>
                <a:endParaRPr kumimoji="1" lang="en-US" altLang="ko-KR" sz="1800" dirty="0">
                  <a:latin typeface="+mj-ea"/>
                  <a:ea typeface="+mj-ea"/>
                </a:endParaRPr>
              </a:p>
              <a:p>
                <a:pPr marL="0" indent="0">
                  <a:buNone/>
                </a:pPr>
                <a:endParaRPr kumimoji="1" lang="en-US" altLang="ko-KR" sz="800" dirty="0">
                  <a:latin typeface="+mj-ea"/>
                  <a:ea typeface="+mj-ea"/>
                </a:endParaRPr>
              </a:p>
              <a:p>
                <a:r>
                  <a:rPr kumimoji="1" lang="en-US" altLang="ko-KR" sz="1600" b="1" dirty="0">
                    <a:latin typeface="+mj-ea"/>
                    <a:ea typeface="+mj-ea"/>
                  </a:rPr>
                  <a:t>T-depth (Td)</a:t>
                </a:r>
              </a:p>
              <a:p>
                <a:pPr lvl="1"/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6%~20% 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증가 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(k 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커질수록 증가율 감소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) </a:t>
                </a:r>
                <a:r>
                  <a:rPr kumimoji="1" lang="en-US" altLang="ko-KR" sz="1000" dirty="0">
                    <a:latin typeface="+mj-ea"/>
                    <a:ea typeface="+mj-ea"/>
                    <a:sym typeface="Wingdings" panose="05000000000000000000" pitchFamily="2" charset="2"/>
                  </a:rPr>
                  <a:t> </a:t>
                </a:r>
                <a:r>
                  <a:rPr kumimoji="1" lang="ko-KR" altLang="en-US" sz="1000" dirty="0">
                    <a:latin typeface="+mj-ea"/>
                    <a:ea typeface="+mj-ea"/>
                    <a:sym typeface="Wingdings" panose="05000000000000000000" pitchFamily="2" charset="2"/>
                  </a:rPr>
                  <a:t>계산 상 약 </a:t>
                </a:r>
                <a:r>
                  <a:rPr kumimoji="1" lang="en-US" altLang="ko-KR" sz="1000" dirty="0">
                    <a:latin typeface="+mj-ea"/>
                    <a:ea typeface="+mj-ea"/>
                    <a:sym typeface="Wingdings" panose="05000000000000000000" pitchFamily="2" charset="2"/>
                  </a:rPr>
                  <a:t>1% </a:t>
                </a:r>
                <a:r>
                  <a:rPr kumimoji="1" lang="ko-KR" altLang="en-US" sz="1000" dirty="0">
                    <a:latin typeface="+mj-ea"/>
                    <a:ea typeface="+mj-ea"/>
                    <a:sym typeface="Wingdings" panose="05000000000000000000" pitchFamily="2" charset="2"/>
                  </a:rPr>
                  <a:t>증가까지 개선 가능</a:t>
                </a:r>
                <a:r>
                  <a:rPr kumimoji="1" lang="ko-KR" altLang="en-US" sz="1400" dirty="0">
                    <a:latin typeface="+mj-ea"/>
                    <a:ea typeface="+mj-ea"/>
                    <a:sym typeface="Wingdings" panose="05000000000000000000" pitchFamily="2" charset="2"/>
                  </a:rPr>
                  <a:t> </a:t>
                </a:r>
                <a:r>
                  <a:rPr kumimoji="1" lang="en-US" altLang="ko-KR" sz="1050" dirty="0">
                    <a:latin typeface="+mj-ea"/>
                    <a:ea typeface="+mj-ea"/>
                    <a:sym typeface="Wingdings" panose="05000000000000000000" pitchFamily="2" charset="2"/>
                  </a:rPr>
                  <a:t>(</a:t>
                </a:r>
                <a:r>
                  <a:rPr kumimoji="1" lang="ko-KR" altLang="en-US" sz="1050" dirty="0">
                    <a:latin typeface="+mj-ea"/>
                    <a:ea typeface="+mj-ea"/>
                    <a:sym typeface="Wingdings" panose="05000000000000000000" pitchFamily="2" charset="2"/>
                  </a:rPr>
                  <a:t>소거가 연산 대부분을 차지</a:t>
                </a:r>
                <a:r>
                  <a:rPr kumimoji="1" lang="en-US" altLang="ko-KR" sz="1050" dirty="0">
                    <a:latin typeface="+mj-ea"/>
                    <a:ea typeface="+mj-ea"/>
                    <a:sym typeface="Wingdings" panose="05000000000000000000" pitchFamily="2" charset="2"/>
                  </a:rPr>
                  <a:t>, </a:t>
                </a:r>
                <a:r>
                  <a:rPr kumimoji="1" lang="ko-KR" altLang="en-US" sz="1050" dirty="0" err="1">
                    <a:latin typeface="+mj-ea"/>
                    <a:ea typeface="+mj-ea"/>
                    <a:sym typeface="Wingdings" panose="05000000000000000000" pitchFamily="2" charset="2"/>
                  </a:rPr>
                  <a:t>뎁스</a:t>
                </a:r>
                <a:r>
                  <a:rPr kumimoji="1" lang="ko-KR" altLang="en-US" sz="1050" dirty="0">
                    <a:latin typeface="+mj-ea"/>
                    <a:ea typeface="+mj-ea"/>
                    <a:sym typeface="Wingdings" panose="05000000000000000000" pitchFamily="2" charset="2"/>
                  </a:rPr>
                  <a:t> 증가 원인인 </a:t>
                </a:r>
                <a:r>
                  <a:rPr kumimoji="1" lang="en-US" altLang="ko-KR" sz="1050" dirty="0">
                    <a:latin typeface="+mj-ea"/>
                    <a:ea typeface="+mj-ea"/>
                    <a:sym typeface="Wingdings" panose="05000000000000000000" pitchFamily="2" charset="2"/>
                  </a:rPr>
                  <a:t>c </a:t>
                </a:r>
                <a:r>
                  <a:rPr kumimoji="1" lang="ko-KR" altLang="en-US" sz="1050" dirty="0">
                    <a:latin typeface="+mj-ea"/>
                    <a:ea typeface="+mj-ea"/>
                    <a:sym typeface="Wingdings" panose="05000000000000000000" pitchFamily="2" charset="2"/>
                  </a:rPr>
                  <a:t>보정 단계는 소규모라서</a:t>
                </a:r>
                <a:r>
                  <a:rPr kumimoji="1" lang="en-US" altLang="ko-KR" sz="1050" dirty="0">
                    <a:latin typeface="+mj-ea"/>
                    <a:ea typeface="+mj-ea"/>
                    <a:sym typeface="Wingdings" panose="05000000000000000000" pitchFamily="2" charset="2"/>
                  </a:rPr>
                  <a:t> </a:t>
                </a:r>
                <a:r>
                  <a:rPr kumimoji="1" lang="ko-KR" altLang="en-US" sz="1050" dirty="0" err="1">
                    <a:latin typeface="+mj-ea"/>
                    <a:ea typeface="+mj-ea"/>
                    <a:sym typeface="Wingdings" panose="05000000000000000000" pitchFamily="2" charset="2"/>
                  </a:rPr>
                  <a:t>그런듯</a:t>
                </a:r>
                <a:r>
                  <a:rPr kumimoji="1" lang="en-US" altLang="ko-KR" sz="1050" dirty="0">
                    <a:latin typeface="+mj-ea"/>
                    <a:ea typeface="+mj-ea"/>
                    <a:sym typeface="Wingdings" panose="05000000000000000000" pitchFamily="2" charset="2"/>
                  </a:rPr>
                  <a:t>)</a:t>
                </a:r>
                <a:endParaRPr kumimoji="1" lang="en-US" altLang="ko-KR" sz="1400" dirty="0">
                  <a:latin typeface="+mj-ea"/>
                  <a:ea typeface="+mj-ea"/>
                </a:endParaRPr>
              </a:p>
              <a:p>
                <a:endParaRPr kumimoji="1" lang="en-US" altLang="ko-KR" sz="1800" dirty="0">
                  <a:latin typeface="+mj-ea"/>
                  <a:ea typeface="+mj-ea"/>
                </a:endParaRPr>
              </a:p>
              <a:p>
                <a:endParaRPr kumimoji="1" lang="en-US" altLang="ko-KR" sz="1800" dirty="0">
                  <a:latin typeface="+mj-ea"/>
                  <a:ea typeface="+mj-ea"/>
                </a:endParaRPr>
              </a:p>
              <a:p>
                <a:r>
                  <a:rPr kumimoji="1" lang="en-US" altLang="ko-KR" sz="1600" b="1" dirty="0">
                    <a:latin typeface="+mj-ea"/>
                    <a:ea typeface="+mj-ea"/>
                  </a:rPr>
                  <a:t>Qubit count</a:t>
                </a:r>
                <a:r>
                  <a:rPr kumimoji="1" lang="en-US" altLang="ko-KR" sz="1600" dirty="0">
                    <a:latin typeface="+mj-ea"/>
                    <a:ea typeface="+mj-ea"/>
                  </a:rPr>
                  <a:t> </a:t>
                </a:r>
                <a:r>
                  <a:rPr kumimoji="1" lang="en-US" altLang="ko-KR" sz="1100" dirty="0">
                    <a:latin typeface="+mj-ea"/>
                    <a:ea typeface="+mj-ea"/>
                  </a:rPr>
                  <a:t>(</a:t>
                </a:r>
                <a:r>
                  <a:rPr kumimoji="1" lang="ko-KR" altLang="en-US" sz="1100" dirty="0">
                    <a:latin typeface="+mj-ea"/>
                    <a:ea typeface="+mj-ea"/>
                  </a:rPr>
                  <a:t>인풋 </a:t>
                </a:r>
                <a:r>
                  <a:rPr kumimoji="1" lang="ko-KR" altLang="en-US" sz="1100" dirty="0" err="1">
                    <a:latin typeface="+mj-ea"/>
                    <a:ea typeface="+mj-ea"/>
                  </a:rPr>
                  <a:t>큐빗</a:t>
                </a:r>
                <a:r>
                  <a:rPr kumimoji="1" lang="ko-KR" altLang="en-US" sz="1100" dirty="0">
                    <a:latin typeface="+mj-ea"/>
                    <a:ea typeface="+mj-ea"/>
                  </a:rPr>
                  <a:t> </a:t>
                </a:r>
                <a:r>
                  <a:rPr kumimoji="1" lang="en-US" altLang="ko-KR" sz="1100" dirty="0">
                    <a:latin typeface="+mj-ea"/>
                    <a:ea typeface="+mj-ea"/>
                  </a:rPr>
                  <a:t>H </a:t>
                </a:r>
                <a:r>
                  <a:rPr kumimoji="1" lang="ko-KR" altLang="en-US" sz="1100" dirty="0">
                    <a:latin typeface="+mj-ea"/>
                    <a:ea typeface="+mj-ea"/>
                  </a:rPr>
                  <a:t>포함</a:t>
                </a:r>
                <a:r>
                  <a:rPr kumimoji="1" lang="en-US" altLang="ko-KR" sz="1100" dirty="0">
                    <a:latin typeface="+mj-ea"/>
                    <a:ea typeface="+mj-ea"/>
                  </a:rPr>
                  <a:t>)</a:t>
                </a:r>
                <a:endParaRPr kumimoji="1" lang="en-US" altLang="ko-KR" sz="1600" dirty="0">
                  <a:latin typeface="+mj-ea"/>
                  <a:ea typeface="+mj-ea"/>
                </a:endParaRPr>
              </a:p>
              <a:p>
                <a:pPr lvl="1"/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  <a:sym typeface="Wingdings" panose="05000000000000000000" pitchFamily="2" charset="2"/>
                  </a:rPr>
                  <a:t>16%~21%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  <a:sym typeface="Wingdings" panose="05000000000000000000" pitchFamily="2" charset="2"/>
                  </a:rPr>
                  <a:t> 감소 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  <a:sym typeface="Wingdings" panose="05000000000000000000" pitchFamily="2" charset="2"/>
                  </a:rPr>
                  <a:t>(k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  <a:sym typeface="Wingdings" panose="05000000000000000000" pitchFamily="2" charset="2"/>
                  </a:rPr>
                  <a:t> 커질수록 </a:t>
                </a:r>
                <a:r>
                  <a:rPr kumimoji="1" lang="ko-KR" altLang="en-US" sz="1400" b="1" dirty="0" err="1">
                    <a:solidFill>
                      <a:srgbClr val="0070C0"/>
                    </a:solidFill>
                    <a:latin typeface="+mj-ea"/>
                    <a:ea typeface="+mj-ea"/>
                    <a:sym typeface="Wingdings" panose="05000000000000000000" pitchFamily="2" charset="2"/>
                  </a:rPr>
                  <a:t>개선율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  <a:sym typeface="Wingdings" panose="05000000000000000000" pitchFamily="2" charset="2"/>
                  </a:rPr>
                  <a:t> 증가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  <a:sym typeface="Wingdings" panose="05000000000000000000" pitchFamily="2" charset="2"/>
                  </a:rPr>
                  <a:t>)</a:t>
                </a:r>
                <a:r>
                  <a:rPr kumimoji="1" lang="en-US" altLang="ko-KR" sz="1400" dirty="0">
                    <a:latin typeface="+mj-ea"/>
                    <a:sym typeface="Wingdings" panose="05000000000000000000" pitchFamily="2" charset="2"/>
                  </a:rPr>
                  <a:t> </a:t>
                </a:r>
                <a:r>
                  <a:rPr kumimoji="1" lang="en-US" altLang="ko-KR" sz="1000" dirty="0">
                    <a:latin typeface="+mj-ea"/>
                    <a:sym typeface="Wingdings" panose="05000000000000000000" pitchFamily="2" charset="2"/>
                  </a:rPr>
                  <a:t> </a:t>
                </a:r>
                <a:r>
                  <a:rPr kumimoji="1" lang="ko-KR" altLang="en-US" sz="1000" dirty="0">
                    <a:latin typeface="+mj-ea"/>
                    <a:sym typeface="Wingdings" panose="05000000000000000000" pitchFamily="2" charset="2"/>
                  </a:rPr>
                  <a:t>계산 상 약 </a:t>
                </a:r>
                <a:r>
                  <a:rPr kumimoji="1" lang="en-US" altLang="ko-KR" sz="1000" dirty="0">
                    <a:latin typeface="+mj-ea"/>
                    <a:sym typeface="Wingdings" panose="05000000000000000000" pitchFamily="2" charset="2"/>
                  </a:rPr>
                  <a:t>22% </a:t>
                </a:r>
                <a:r>
                  <a:rPr kumimoji="1" lang="ko-KR" altLang="en-US" sz="1000" dirty="0">
                    <a:latin typeface="+mj-ea"/>
                    <a:sym typeface="Wingdings" panose="05000000000000000000" pitchFamily="2" charset="2"/>
                  </a:rPr>
                  <a:t>감소까지 가능</a:t>
                </a:r>
                <a:endParaRPr kumimoji="1" lang="en-US" altLang="ko-KR" sz="1400" b="1" dirty="0">
                  <a:solidFill>
                    <a:srgbClr val="0070C0"/>
                  </a:solidFill>
                  <a:latin typeface="+mj-ea"/>
                  <a:ea typeface="+mj-ea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(7</m:t>
                        </m:r>
                        <m:sSup>
                          <m:sSupPr>
                            <m:ctrlPr>
                              <a:rPr kumimoji="1" lang="en-US" altLang="ko-KR" sz="1600" i="1" smtClean="0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pPr>
                          <m:e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𝑘</m:t>
                            </m:r>
                          </m:e>
                          <m:sup>
                            <m:r>
                              <a:rPr kumimoji="1" lang="en-US" altLang="ko-KR" sz="1600" b="0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−5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+4)</m:t>
                        </m:r>
                      </m:num>
                      <m:den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ko-KR" sz="1600" dirty="0">
                  <a:latin typeface="+mj-ea"/>
                  <a:ea typeface="+mj-ea"/>
                </a:endParaRPr>
              </a:p>
              <a:p>
                <a:r>
                  <a:rPr kumimoji="1" lang="en-US" altLang="ko-KR" sz="1600" b="1" dirty="0">
                    <a:latin typeface="+mj-ea"/>
                    <a:ea typeface="+mj-ea"/>
                  </a:rPr>
                  <a:t>Full-depth</a:t>
                </a:r>
                <a:r>
                  <a:rPr kumimoji="1" lang="ko-KR" altLang="en-US" sz="1600" b="1" dirty="0">
                    <a:latin typeface="+mj-ea"/>
                    <a:ea typeface="+mj-ea"/>
                  </a:rPr>
                  <a:t> </a:t>
                </a:r>
                <a:r>
                  <a:rPr kumimoji="1" lang="en-US" altLang="ko-KR" sz="1600" b="1" dirty="0">
                    <a:latin typeface="+mj-ea"/>
                    <a:ea typeface="+mj-ea"/>
                  </a:rPr>
                  <a:t>(FD)</a:t>
                </a:r>
              </a:p>
              <a:p>
                <a:pPr lvl="1"/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2%~9% 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증가 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(k 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커질수록 증가율 감소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) </a:t>
                </a:r>
                <a:r>
                  <a:rPr kumimoji="1" lang="en-US" altLang="ko-KR" sz="1000" dirty="0">
                    <a:latin typeface="+mj-ea"/>
                    <a:sym typeface="Wingdings" panose="05000000000000000000" pitchFamily="2" charset="2"/>
                  </a:rPr>
                  <a:t> </a:t>
                </a:r>
                <a:r>
                  <a:rPr kumimoji="1" lang="ko-KR" altLang="en-US" sz="1000" dirty="0">
                    <a:latin typeface="+mj-ea"/>
                    <a:sym typeface="Wingdings" panose="05000000000000000000" pitchFamily="2" charset="2"/>
                  </a:rPr>
                  <a:t>계산 상 약 </a:t>
                </a:r>
                <a:r>
                  <a:rPr kumimoji="1" lang="en-US" altLang="ko-KR" sz="1000" dirty="0">
                    <a:latin typeface="+mj-ea"/>
                    <a:sym typeface="Wingdings" panose="05000000000000000000" pitchFamily="2" charset="2"/>
                  </a:rPr>
                  <a:t>1% </a:t>
                </a:r>
                <a:r>
                  <a:rPr kumimoji="1" lang="ko-KR" altLang="en-US" sz="1000" dirty="0">
                    <a:latin typeface="+mj-ea"/>
                    <a:sym typeface="Wingdings" panose="05000000000000000000" pitchFamily="2" charset="2"/>
                  </a:rPr>
                  <a:t>증가까지 가능</a:t>
                </a:r>
                <a:endParaRPr kumimoji="1" lang="en-US" altLang="ko-KR" sz="1000" b="1" dirty="0">
                  <a:solidFill>
                    <a:srgbClr val="0070C0"/>
                  </a:solidFill>
                  <a:latin typeface="+mj-ea"/>
                  <a:ea typeface="+mj-ea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fPr>
                      <m:num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349</m:t>
                        </m:r>
                      </m:num>
                      <m:den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1024</m:t>
                        </m:r>
                      </m:den>
                    </m:f>
                    <m:sSup>
                      <m:sSupPr>
                        <m:ctrlPr>
                          <a:rPr kumimoji="1" lang="en-US" altLang="ko-KR" sz="1600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𝑘</m:t>
                        </m:r>
                      </m:e>
                      <m: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  <a:ea typeface="+mj-ea"/>
                          </a:rPr>
                          <m:t>3</m:t>
                        </m:r>
                      </m:sup>
                    </m:sSup>
                    <m:r>
                      <a:rPr kumimoji="1" lang="en-US" altLang="ko-KR" sz="1600" b="0" i="1" smtClean="0"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</m:oMath>
                </a14:m>
                <a:r>
                  <a:rPr kumimoji="1" lang="en-US" altLang="ko-KR" sz="16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p>
                      <m:sSup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1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ko-KR" sz="1600" i="1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kumimoji="1"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497</m:t>
                        </m:r>
                      </m:num>
                      <m:den>
                        <m:r>
                          <a:rPr kumimoji="1" lang="en-US" altLang="ko-KR" sz="16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kumimoji="1" lang="en-US" altLang="ko-KR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kumimoji="1" lang="en-US" altLang="ko-KR" sz="1600" dirty="0">
                  <a:latin typeface="+mj-ea"/>
                  <a:ea typeface="+mj-ea"/>
                </a:endParaRPr>
              </a:p>
              <a:p>
                <a:r>
                  <a:rPr kumimoji="1" lang="en-US" altLang="ko-KR" sz="1600" b="1" dirty="0">
                    <a:latin typeface="+mj-ea"/>
                    <a:ea typeface="+mj-ea"/>
                  </a:rPr>
                  <a:t>FD-M</a:t>
                </a:r>
              </a:p>
              <a:p>
                <a:pPr lvl="1"/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9%~20% 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감소 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(k 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커질수록 </a:t>
                </a:r>
                <a:r>
                  <a:rPr kumimoji="1" lang="ko-KR" altLang="en-US" sz="1400" b="1" dirty="0" err="1">
                    <a:solidFill>
                      <a:srgbClr val="0070C0"/>
                    </a:solidFill>
                    <a:latin typeface="+mj-ea"/>
                    <a:ea typeface="+mj-ea"/>
                  </a:rPr>
                  <a:t>개선율</a:t>
                </a:r>
                <a:r>
                  <a:rPr kumimoji="1" lang="ko-KR" altLang="en-US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 증가</a:t>
                </a:r>
                <a:r>
                  <a:rPr kumimoji="1" lang="en-US" altLang="ko-KR" sz="1400" b="1" dirty="0">
                    <a:solidFill>
                      <a:srgbClr val="0070C0"/>
                    </a:solidFill>
                    <a:latin typeface="+mj-ea"/>
                    <a:ea typeface="+mj-ea"/>
                  </a:rPr>
                  <a:t>)</a:t>
                </a:r>
                <a:endParaRPr kumimoji="1" lang="en-US" altLang="ko-KR" sz="1600" b="1" dirty="0">
                  <a:solidFill>
                    <a:srgbClr val="0070C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7" name="텍스트 개체 틀 2">
                <a:extLst>
                  <a:ext uri="{FF2B5EF4-FFF2-40B4-BE49-F238E27FC236}">
                    <a16:creationId xmlns:a16="http://schemas.microsoft.com/office/drawing/2014/main" id="{8D2336D5-2851-D076-C7A9-7DC296A71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0" y="969910"/>
                <a:ext cx="12270441" cy="5057775"/>
              </a:xfrm>
              <a:blipFill>
                <a:blip r:embed="rId2"/>
                <a:stretch>
                  <a:fillRect l="-199" t="-843" b="-89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66D4F6-E074-2F0F-62B9-896EA6574A4F}"/>
                  </a:ext>
                </a:extLst>
              </p:cNvPr>
              <p:cNvSpPr txBox="1"/>
              <p:nvPr/>
            </p:nvSpPr>
            <p:spPr>
              <a:xfrm>
                <a:off x="855762" y="3143653"/>
                <a:ext cx="2815514" cy="605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𝑇𝑑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𝑜𝑙𝑑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US" altLang="ko-KR" sz="900" dirty="0"/>
                  <a:t>  (</a:t>
                </a:r>
                <a:r>
                  <a:rPr lang="ko-KR" altLang="en-US" sz="900" dirty="0"/>
                  <a:t>작년 발표자료 기준</a:t>
                </a:r>
                <a:r>
                  <a:rPr lang="en-US" altLang="ko-KR" sz="900" dirty="0"/>
                  <a:t>)</a:t>
                </a:r>
                <a:endParaRPr lang="en-US" altLang="ko-KR" sz="1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𝑇𝑑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𝑛𝑒𝑤</m:t>
                            </m:r>
                          </m:sub>
                        </m:s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lang="en-US" altLang="ko-KR" sz="14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66D4F6-E074-2F0F-62B9-896EA6574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62" y="3143653"/>
                <a:ext cx="2815514" cy="605294"/>
              </a:xfrm>
              <a:prstGeom prst="rect">
                <a:avLst/>
              </a:prstGeom>
              <a:blipFill>
                <a:blip r:embed="rId3"/>
                <a:stretch>
                  <a:fillRect l="-2165" r="-1732" b="-40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그룹 60">
            <a:extLst>
              <a:ext uri="{FF2B5EF4-FFF2-40B4-BE49-F238E27FC236}">
                <a16:creationId xmlns:a16="http://schemas.microsoft.com/office/drawing/2014/main" id="{95D9BFC2-B2A7-532B-960A-566756C99A7F}"/>
              </a:ext>
            </a:extLst>
          </p:cNvPr>
          <p:cNvGrpSpPr/>
          <p:nvPr/>
        </p:nvGrpSpPr>
        <p:grpSpPr>
          <a:xfrm>
            <a:off x="708104" y="1480465"/>
            <a:ext cx="6707018" cy="970018"/>
            <a:chOff x="1077899" y="1663080"/>
            <a:chExt cx="6707018" cy="970018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82573313-AF30-3706-0B99-D54088D83765}"/>
                </a:ext>
              </a:extLst>
            </p:cNvPr>
            <p:cNvGrpSpPr/>
            <p:nvPr/>
          </p:nvGrpSpPr>
          <p:grpSpPr>
            <a:xfrm>
              <a:off x="1077899" y="1809528"/>
              <a:ext cx="6707018" cy="823570"/>
              <a:chOff x="1185337" y="1825979"/>
              <a:chExt cx="6707018" cy="823570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AB9EF9A1-A3D9-7789-663B-BDEAEE36C9C2}"/>
                  </a:ext>
                </a:extLst>
              </p:cNvPr>
              <p:cNvGrpSpPr/>
              <p:nvPr/>
            </p:nvGrpSpPr>
            <p:grpSpPr>
              <a:xfrm>
                <a:off x="1185337" y="1825979"/>
                <a:ext cx="6707018" cy="823570"/>
                <a:chOff x="933842" y="2195773"/>
                <a:chExt cx="9292671" cy="1135264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8CF86D3C-868B-C38F-B301-98083C1BD5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46271" t="22686" r="7605" b="45622"/>
                <a:stretch>
                  <a:fillRect/>
                </a:stretch>
              </p:blipFill>
              <p:spPr>
                <a:xfrm>
                  <a:off x="933842" y="2195773"/>
                  <a:ext cx="2931633" cy="1135264"/>
                </a:xfrm>
                <a:prstGeom prst="rect">
                  <a:avLst/>
                </a:prstGeom>
              </p:spPr>
            </p:pic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372AA2AE-3A45-12FE-3AA9-CFDD36387E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42186" t="16936" r="27707" b="54826"/>
                <a:stretch>
                  <a:fillRect/>
                </a:stretch>
              </p:blipFill>
              <p:spPr>
                <a:xfrm>
                  <a:off x="7886494" y="2363294"/>
                  <a:ext cx="2340019" cy="739587"/>
                </a:xfrm>
                <a:prstGeom prst="rect">
                  <a:avLst/>
                </a:prstGeom>
              </p:spPr>
            </p:pic>
          </p:grpSp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932143F9-5E6E-662E-7C83-4B9C42C530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5780" t="72415" r="7605" b="13500"/>
              <a:stretch>
                <a:fillRect/>
              </a:stretch>
            </p:blipFill>
            <p:spPr>
              <a:xfrm>
                <a:off x="3207574" y="2032752"/>
                <a:ext cx="2597182" cy="366038"/>
              </a:xfrm>
              <a:prstGeom prst="rect">
                <a:avLst/>
              </a:prstGeom>
            </p:spPr>
          </p:pic>
          <p:sp>
            <p:nvSpPr>
              <p:cNvPr id="10" name="화살표: 오른쪽 9">
                <a:extLst>
                  <a:ext uri="{FF2B5EF4-FFF2-40B4-BE49-F238E27FC236}">
                    <a16:creationId xmlns:a16="http://schemas.microsoft.com/office/drawing/2014/main" id="{29D0A591-D8A4-547A-9836-247057071D23}"/>
                  </a:ext>
                </a:extLst>
              </p:cNvPr>
              <p:cNvSpPr/>
              <p:nvPr/>
            </p:nvSpPr>
            <p:spPr>
              <a:xfrm>
                <a:off x="3068263" y="2133880"/>
                <a:ext cx="141194" cy="168088"/>
              </a:xfrm>
              <a:prstGeom prst="right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" name="화살표: 오른쪽 10">
                <a:extLst>
                  <a:ext uri="{FF2B5EF4-FFF2-40B4-BE49-F238E27FC236}">
                    <a16:creationId xmlns:a16="http://schemas.microsoft.com/office/drawing/2014/main" id="{B2715471-F39A-E104-4A29-A4C9871C7908}"/>
                  </a:ext>
                </a:extLst>
              </p:cNvPr>
              <p:cNvSpPr/>
              <p:nvPr/>
            </p:nvSpPr>
            <p:spPr>
              <a:xfrm>
                <a:off x="5862903" y="2118192"/>
                <a:ext cx="141194" cy="168088"/>
              </a:xfrm>
              <a:prstGeom prst="right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C12985F-4E1B-EF87-87B9-2986FE33473E}"/>
                </a:ext>
              </a:extLst>
            </p:cNvPr>
            <p:cNvSpPr txBox="1"/>
            <p:nvPr/>
          </p:nvSpPr>
          <p:spPr>
            <a:xfrm>
              <a:off x="1543859" y="1663080"/>
              <a:ext cx="118399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 (</a:t>
              </a:r>
              <a:r>
                <a:rPr lang="ko-KR" altLang="en-US" sz="800" dirty="0"/>
                <a:t>작년 발표자료 기준</a:t>
              </a:r>
              <a:r>
                <a:rPr lang="en-US" altLang="ko-KR" sz="800" dirty="0"/>
                <a:t>)</a:t>
              </a:r>
              <a:endParaRPr lang="ko-KR" altLang="en-US" sz="800" dirty="0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C768A50-012F-EC40-94DC-9DDE73435B68}"/>
              </a:ext>
            </a:extLst>
          </p:cNvPr>
          <p:cNvGrpSpPr/>
          <p:nvPr/>
        </p:nvGrpSpPr>
        <p:grpSpPr>
          <a:xfrm>
            <a:off x="6027161" y="4813800"/>
            <a:ext cx="5710913" cy="1282508"/>
            <a:chOff x="6069925" y="4228970"/>
            <a:chExt cx="5710913" cy="1282508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08A342A1-8555-09FB-4DBD-7F8ADF577F03}"/>
                </a:ext>
              </a:extLst>
            </p:cNvPr>
            <p:cNvGrpSpPr/>
            <p:nvPr/>
          </p:nvGrpSpPr>
          <p:grpSpPr>
            <a:xfrm>
              <a:off x="6069925" y="4228970"/>
              <a:ext cx="5710913" cy="866799"/>
              <a:chOff x="5642401" y="4306887"/>
              <a:chExt cx="5710913" cy="866799"/>
            </a:xfrm>
          </p:grpSpPr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2C132377-62A3-D31E-62BB-3FA6DCFD6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5175"/>
              <a:stretch>
                <a:fillRect/>
              </a:stretch>
            </p:blipFill>
            <p:spPr>
              <a:xfrm>
                <a:off x="8355691" y="4325843"/>
                <a:ext cx="2997623" cy="847843"/>
              </a:xfrm>
              <a:prstGeom prst="rect">
                <a:avLst/>
              </a:prstGeom>
              <a:ln>
                <a:noFill/>
              </a:ln>
            </p:spPr>
          </p:pic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B40561D3-B477-187B-2FAC-29021D4FE6BF}"/>
                  </a:ext>
                </a:extLst>
              </p:cNvPr>
              <p:cNvGrpSpPr/>
              <p:nvPr/>
            </p:nvGrpSpPr>
            <p:grpSpPr>
              <a:xfrm>
                <a:off x="5642401" y="4306887"/>
                <a:ext cx="5710912" cy="858223"/>
                <a:chOff x="3864162" y="5147759"/>
                <a:chExt cx="5710912" cy="858223"/>
              </a:xfrm>
            </p:grpSpPr>
            <p:grpSp>
              <p:nvGrpSpPr>
                <p:cNvPr id="46" name="그룹 45">
                  <a:extLst>
                    <a:ext uri="{FF2B5EF4-FFF2-40B4-BE49-F238E27FC236}">
                      <a16:creationId xmlns:a16="http://schemas.microsoft.com/office/drawing/2014/main" id="{96A558E1-E493-E7C3-E953-255F12F3E53A}"/>
                    </a:ext>
                  </a:extLst>
                </p:cNvPr>
                <p:cNvGrpSpPr/>
                <p:nvPr/>
              </p:nvGrpSpPr>
              <p:grpSpPr>
                <a:xfrm>
                  <a:off x="3864162" y="5147759"/>
                  <a:ext cx="4647137" cy="858223"/>
                  <a:chOff x="4113211" y="4915667"/>
                  <a:chExt cx="4647137" cy="858223"/>
                </a:xfrm>
              </p:grpSpPr>
              <p:pic>
                <p:nvPicPr>
                  <p:cNvPr id="45" name="그림 44">
                    <a:extLst>
                      <a:ext uri="{FF2B5EF4-FFF2-40B4-BE49-F238E27FC236}">
                        <a16:creationId xmlns:a16="http://schemas.microsoft.com/office/drawing/2014/main" id="{C1404E89-F001-AC50-C476-F3DFD82C72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rcRect r="59427"/>
                  <a:stretch>
                    <a:fillRect/>
                  </a:stretch>
                </p:blipFill>
                <p:spPr>
                  <a:xfrm>
                    <a:off x="4113211" y="4926047"/>
                    <a:ext cx="2713290" cy="847843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24" name="직사각형 23">
                    <a:extLst>
                      <a:ext uri="{FF2B5EF4-FFF2-40B4-BE49-F238E27FC236}">
                        <a16:creationId xmlns:a16="http://schemas.microsoft.com/office/drawing/2014/main" id="{F5A0BF25-5606-DEDC-F090-FAB00EBD3482}"/>
                      </a:ext>
                    </a:extLst>
                  </p:cNvPr>
                  <p:cNvSpPr/>
                  <p:nvPr/>
                </p:nvSpPr>
                <p:spPr>
                  <a:xfrm>
                    <a:off x="8091199" y="4937172"/>
                    <a:ext cx="669149" cy="209842"/>
                  </a:xfrm>
                  <a:prstGeom prst="rect">
                    <a:avLst/>
                  </a:prstGeom>
                  <a:solidFill>
                    <a:srgbClr val="C00000">
                      <a:alpha val="3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7" name="직사각형 26">
                    <a:extLst>
                      <a:ext uri="{FF2B5EF4-FFF2-40B4-BE49-F238E27FC236}">
                        <a16:creationId xmlns:a16="http://schemas.microsoft.com/office/drawing/2014/main" id="{C644AD36-274A-41D6-B8D6-3F16B7C7E5F7}"/>
                      </a:ext>
                    </a:extLst>
                  </p:cNvPr>
                  <p:cNvSpPr/>
                  <p:nvPr/>
                </p:nvSpPr>
                <p:spPr>
                  <a:xfrm>
                    <a:off x="6157351" y="4915667"/>
                    <a:ext cx="669149" cy="232092"/>
                  </a:xfrm>
                  <a:prstGeom prst="rect">
                    <a:avLst/>
                  </a:prstGeom>
                  <a:solidFill>
                    <a:srgbClr val="FFC000">
                      <a:alpha val="3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8" name="직사각형 27">
                    <a:extLst>
                      <a:ext uri="{FF2B5EF4-FFF2-40B4-BE49-F238E27FC236}">
                        <a16:creationId xmlns:a16="http://schemas.microsoft.com/office/drawing/2014/main" id="{9334936A-E660-4F88-518D-1560EC7D09E2}"/>
                      </a:ext>
                    </a:extLst>
                  </p:cNvPr>
                  <p:cNvSpPr/>
                  <p:nvPr/>
                </p:nvSpPr>
                <p:spPr>
                  <a:xfrm>
                    <a:off x="5484133" y="4926047"/>
                    <a:ext cx="669149" cy="232092"/>
                  </a:xfrm>
                  <a:prstGeom prst="rect">
                    <a:avLst/>
                  </a:prstGeom>
                  <a:solidFill>
                    <a:schemeClr val="accent6">
                      <a:alpha val="30196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5EDB4EB5-3ED4-F269-E1E9-BEF743D24CD3}"/>
                    </a:ext>
                  </a:extLst>
                </p:cNvPr>
                <p:cNvSpPr/>
                <p:nvPr/>
              </p:nvSpPr>
              <p:spPr>
                <a:xfrm>
                  <a:off x="8569273" y="5176584"/>
                  <a:ext cx="1005801" cy="209842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30196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33671E0-EA76-EC65-AEE3-6864467E722F}"/>
                </a:ext>
              </a:extLst>
            </p:cNvPr>
            <p:cNvSpPr txBox="1"/>
            <p:nvPr/>
          </p:nvSpPr>
          <p:spPr>
            <a:xfrm>
              <a:off x="7073153" y="5203701"/>
              <a:ext cx="3563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현재 버전 실제 리소스 </a:t>
              </a:r>
              <a:r>
                <a:rPr lang="en-US" altLang="ko-KR" sz="1400" b="1" dirty="0"/>
                <a:t>(</a:t>
              </a:r>
              <a:r>
                <a:rPr lang="ko-KR" altLang="en-US" sz="1400" b="1" dirty="0"/>
                <a:t>자원 비용 식 아님</a:t>
              </a:r>
              <a:r>
                <a:rPr lang="en-US" altLang="ko-KR" sz="1400" b="1" dirty="0"/>
                <a:t>)</a:t>
              </a:r>
              <a:endParaRPr lang="ko-KR" altLang="en-US" sz="1400" b="1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27C5E2A-0320-3C7D-63FC-F257E6D78521}"/>
              </a:ext>
            </a:extLst>
          </p:cNvPr>
          <p:cNvGrpSpPr/>
          <p:nvPr/>
        </p:nvGrpSpPr>
        <p:grpSpPr>
          <a:xfrm>
            <a:off x="5048736" y="3219637"/>
            <a:ext cx="6987211" cy="1346565"/>
            <a:chOff x="5048736" y="3219637"/>
            <a:chExt cx="6987211" cy="1346565"/>
          </a:xfrm>
        </p:grpSpPr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072B63DD-CBFB-CABC-309B-FA00044C21ED}"/>
                </a:ext>
              </a:extLst>
            </p:cNvPr>
            <p:cNvGrpSpPr/>
            <p:nvPr/>
          </p:nvGrpSpPr>
          <p:grpSpPr>
            <a:xfrm>
              <a:off x="5048736" y="3219637"/>
              <a:ext cx="6987211" cy="979312"/>
              <a:chOff x="4126433" y="2746386"/>
              <a:chExt cx="7928928" cy="1111301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8E409567-7B48-AD35-1F06-721BEA34E998}"/>
                  </a:ext>
                </a:extLst>
              </p:cNvPr>
              <p:cNvGrpSpPr/>
              <p:nvPr/>
            </p:nvGrpSpPr>
            <p:grpSpPr>
              <a:xfrm>
                <a:off x="4126433" y="2746386"/>
                <a:ext cx="7928928" cy="1111301"/>
                <a:chOff x="4045678" y="2873978"/>
                <a:chExt cx="7928928" cy="1111301"/>
              </a:xfrm>
            </p:grpSpPr>
            <p:grpSp>
              <p:nvGrpSpPr>
                <p:cNvPr id="31" name="그룹 30">
                  <a:extLst>
                    <a:ext uri="{FF2B5EF4-FFF2-40B4-BE49-F238E27FC236}">
                      <a16:creationId xmlns:a16="http://schemas.microsoft.com/office/drawing/2014/main" id="{7634F26A-24F4-7264-22DE-D5DCBF2B4F62}"/>
                    </a:ext>
                  </a:extLst>
                </p:cNvPr>
                <p:cNvGrpSpPr/>
                <p:nvPr/>
              </p:nvGrpSpPr>
              <p:grpSpPr>
                <a:xfrm>
                  <a:off x="4045678" y="2873978"/>
                  <a:ext cx="7928928" cy="1111301"/>
                  <a:chOff x="3945434" y="3660737"/>
                  <a:chExt cx="7928928" cy="1111301"/>
                </a:xfrm>
              </p:grpSpPr>
              <p:grpSp>
                <p:nvGrpSpPr>
                  <p:cNvPr id="23" name="그룹 22">
                    <a:extLst>
                      <a:ext uri="{FF2B5EF4-FFF2-40B4-BE49-F238E27FC236}">
                        <a16:creationId xmlns:a16="http://schemas.microsoft.com/office/drawing/2014/main" id="{5DCA6820-18B8-8C96-CD42-542E0237316F}"/>
                      </a:ext>
                    </a:extLst>
                  </p:cNvPr>
                  <p:cNvGrpSpPr/>
                  <p:nvPr/>
                </p:nvGrpSpPr>
                <p:grpSpPr>
                  <a:xfrm>
                    <a:off x="3945434" y="3660737"/>
                    <a:ext cx="7928928" cy="1111301"/>
                    <a:chOff x="3945434" y="3660737"/>
                    <a:chExt cx="7928928" cy="1111301"/>
                  </a:xfrm>
                </p:grpSpPr>
                <p:grpSp>
                  <p:nvGrpSpPr>
                    <p:cNvPr id="20" name="그룹 19">
                      <a:extLst>
                        <a:ext uri="{FF2B5EF4-FFF2-40B4-BE49-F238E27FC236}">
                          <a16:creationId xmlns:a16="http://schemas.microsoft.com/office/drawing/2014/main" id="{D8A7F50A-F61F-FAE8-70FF-7FD16FC1D5E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66853" y="3660737"/>
                      <a:ext cx="7807509" cy="1100921"/>
                      <a:chOff x="-759758" y="1834972"/>
                      <a:chExt cx="12087607" cy="1704449"/>
                    </a:xfrm>
                  </p:grpSpPr>
                  <p:pic>
                    <p:nvPicPr>
                      <p:cNvPr id="18" name="그림 17">
                        <a:extLst>
                          <a:ext uri="{FF2B5EF4-FFF2-40B4-BE49-F238E27FC236}">
                            <a16:creationId xmlns:a16="http://schemas.microsoft.com/office/drawing/2014/main" id="{6675ACAF-4272-5854-7316-02925AE0D5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rcRect r="856" b="50805"/>
                      <a:stretch>
                        <a:fillRect/>
                      </a:stretch>
                    </p:blipFill>
                    <p:spPr>
                      <a:xfrm>
                        <a:off x="-759758" y="1834972"/>
                        <a:ext cx="12087607" cy="982188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9" name="그림 18">
                        <a:extLst>
                          <a:ext uri="{FF2B5EF4-FFF2-40B4-BE49-F238E27FC236}">
                            <a16:creationId xmlns:a16="http://schemas.microsoft.com/office/drawing/2014/main" id="{0AC54FA3-6031-50CF-DFCB-0FC69447E7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rcRect l="1" t="63019" r="854"/>
                      <a:stretch>
                        <a:fillRect/>
                      </a:stretch>
                    </p:blipFill>
                    <p:spPr>
                      <a:xfrm>
                        <a:off x="-759758" y="2801089"/>
                        <a:ext cx="12087607" cy="738332"/>
                      </a:xfrm>
                      <a:prstGeom prst="rect">
                        <a:avLst/>
                      </a:prstGeom>
                    </p:spPr>
                  </p:pic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1" name="TextBox 20">
                          <a:extLst>
                            <a:ext uri="{FF2B5EF4-FFF2-40B4-BE49-F238E27FC236}">
                              <a16:creationId xmlns:a16="http://schemas.microsoft.com/office/drawing/2014/main" id="{AE3C2073-7E73-6A67-7A06-57F416E149C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945434" y="4389751"/>
                          <a:ext cx="302559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21" name="TextBox 20">
                          <a:extLst>
                            <a:ext uri="{FF2B5EF4-FFF2-40B4-BE49-F238E27FC236}">
                              <a16:creationId xmlns:a16="http://schemas.microsoft.com/office/drawing/2014/main" id="{AE3C2073-7E73-6A67-7A06-57F416E149C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945434" y="4389751"/>
                          <a:ext cx="302559" cy="307777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b="-454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ko-KR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22" name="왼쪽 중괄호 21">
                      <a:extLst>
                        <a:ext uri="{FF2B5EF4-FFF2-40B4-BE49-F238E27FC236}">
                          <a16:creationId xmlns:a16="http://schemas.microsoft.com/office/drawing/2014/main" id="{6402155E-E06B-8205-AA16-750D583BD4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8761" y="4295142"/>
                      <a:ext cx="86128" cy="476896"/>
                    </a:xfrm>
                    <a:prstGeom prst="leftBrace">
                      <a:avLst/>
                    </a:prstGeom>
                    <a:ln w="12700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26" name="직사각형 25">
                    <a:extLst>
                      <a:ext uri="{FF2B5EF4-FFF2-40B4-BE49-F238E27FC236}">
                        <a16:creationId xmlns:a16="http://schemas.microsoft.com/office/drawing/2014/main" id="{00D0A09B-AE30-E5A1-E248-F83039F3AFCA}"/>
                      </a:ext>
                    </a:extLst>
                  </p:cNvPr>
                  <p:cNvSpPr/>
                  <p:nvPr/>
                </p:nvSpPr>
                <p:spPr>
                  <a:xfrm>
                    <a:off x="8884987" y="3766911"/>
                    <a:ext cx="669149" cy="422056"/>
                  </a:xfrm>
                  <a:prstGeom prst="rect">
                    <a:avLst/>
                  </a:prstGeom>
                  <a:solidFill>
                    <a:srgbClr val="FFC000">
                      <a:alpha val="30196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9" name="직사각형 28">
                    <a:extLst>
                      <a:ext uri="{FF2B5EF4-FFF2-40B4-BE49-F238E27FC236}">
                        <a16:creationId xmlns:a16="http://schemas.microsoft.com/office/drawing/2014/main" id="{0593A24B-0246-1F6F-F4A6-0D45AE4CC6FC}"/>
                      </a:ext>
                    </a:extLst>
                  </p:cNvPr>
                  <p:cNvSpPr/>
                  <p:nvPr/>
                </p:nvSpPr>
                <p:spPr>
                  <a:xfrm>
                    <a:off x="6544129" y="3856704"/>
                    <a:ext cx="669149" cy="232092"/>
                  </a:xfrm>
                  <a:prstGeom prst="rect">
                    <a:avLst/>
                  </a:prstGeom>
                  <a:solidFill>
                    <a:schemeClr val="accent6">
                      <a:alpha val="30196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1C050F11-92C4-A6A4-F9C8-4B92F1DAFA36}"/>
                    </a:ext>
                  </a:extLst>
                </p:cNvPr>
                <p:cNvSpPr/>
                <p:nvPr/>
              </p:nvSpPr>
              <p:spPr>
                <a:xfrm>
                  <a:off x="11338908" y="2984640"/>
                  <a:ext cx="595357" cy="422055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30196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02D78A11-FA71-AD1C-82A0-ED08778A49D6}"/>
                  </a:ext>
                </a:extLst>
              </p:cNvPr>
              <p:cNvSpPr/>
              <p:nvPr/>
            </p:nvSpPr>
            <p:spPr>
              <a:xfrm>
                <a:off x="9803915" y="2858233"/>
                <a:ext cx="669149" cy="413844"/>
              </a:xfrm>
              <a:prstGeom prst="rect">
                <a:avLst/>
              </a:prstGeom>
              <a:solidFill>
                <a:srgbClr val="C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CBCF10A-9A01-AD02-6EDD-22D8F4C88B14}"/>
                </a:ext>
              </a:extLst>
            </p:cNvPr>
            <p:cNvSpPr txBox="1"/>
            <p:nvPr/>
          </p:nvSpPr>
          <p:spPr>
            <a:xfrm>
              <a:off x="7137223" y="4258425"/>
              <a:ext cx="3563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이전 버전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8406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97A2-8CF2-122B-56CE-5D857563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9EAE6-627D-FB6A-F5D0-128E5AA4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Hamming weight</a:t>
            </a:r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텍스트 개체 틀 2">
                <a:extLst>
                  <a:ext uri="{FF2B5EF4-FFF2-40B4-BE49-F238E27FC236}">
                    <a16:creationId xmlns:a16="http://schemas.microsoft.com/office/drawing/2014/main" id="{489BC10A-0FB1-80E3-4B69-EB394AD39F8A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780837" cy="5057775"/>
              </a:xfrm>
            </p:spPr>
            <p:txBody>
              <a:bodyPr>
                <a:normAutofit/>
              </a:bodyPr>
              <a:lstStyle/>
              <a:p>
                <a:r>
                  <a:rPr kumimoji="1" lang="ko-KR" altLang="en-US" sz="1800" dirty="0"/>
                  <a:t>결과 벡터가 </a:t>
                </a:r>
                <a:r>
                  <a:rPr kumimoji="1" lang="en-US" altLang="ko-KR" sz="1800" dirty="0"/>
                  <a:t>10110101 </a:t>
                </a:r>
                <a:r>
                  <a:rPr kumimoji="1" lang="ko-KR" altLang="en-US" sz="1800" dirty="0"/>
                  <a:t>인 경우</a:t>
                </a:r>
                <a:r>
                  <a:rPr kumimoji="1" lang="en-US" altLang="ko-KR" sz="1800" dirty="0"/>
                  <a:t>, 1+0+1+1+…+1 </a:t>
                </a:r>
                <a:r>
                  <a:rPr kumimoji="1" lang="ko-KR" altLang="en-US" sz="1800" dirty="0"/>
                  <a:t>과 같이 모든 비트를 </a:t>
                </a:r>
                <a:r>
                  <a:rPr kumimoji="1" lang="ko-KR" altLang="en-US" sz="1800" dirty="0" err="1"/>
                  <a:t>더해야함</a:t>
                </a:r>
                <a:endParaRPr kumimoji="1" lang="en-US" altLang="ko-KR" sz="1800" dirty="0"/>
              </a:p>
              <a:p>
                <a:r>
                  <a:rPr kumimoji="1" lang="ko-KR" altLang="en-US" sz="1800" dirty="0"/>
                  <a:t>기존 방식은 </a:t>
                </a:r>
                <a:r>
                  <a:rPr kumimoji="1" lang="en-US" altLang="ko-KR" sz="1800" dirty="0"/>
                  <a:t>log(k) </a:t>
                </a:r>
                <a:r>
                  <a:rPr kumimoji="1" lang="ko-KR" altLang="en-US" sz="1800" dirty="0"/>
                  <a:t>레이어의 덧셈 트리가 필요하며</a:t>
                </a:r>
                <a:r>
                  <a:rPr kumimoji="1" lang="en-US" altLang="ko-KR" sz="1800" dirty="0"/>
                  <a:t>, </a:t>
                </a:r>
                <a:r>
                  <a:rPr kumimoji="1" lang="ko-KR" altLang="en-US" sz="1800" dirty="0"/>
                  <a:t>총 </a:t>
                </a:r>
                <a:r>
                  <a:rPr kumimoji="1" lang="en-US" altLang="ko-KR" sz="1800" dirty="0"/>
                  <a:t>n-1</a:t>
                </a:r>
                <a:r>
                  <a:rPr kumimoji="1" lang="ko-KR" altLang="en-US" sz="1800" dirty="0"/>
                  <a:t>번의 덧셈 필요</a:t>
                </a:r>
                <a:endParaRPr kumimoji="1" lang="en-US" altLang="ko-KR" sz="1800" dirty="0"/>
              </a:p>
              <a:p>
                <a:r>
                  <a:rPr kumimoji="1" lang="ko-KR" altLang="en-US" sz="1800" b="1" dirty="0"/>
                  <a:t>각 비트를 한 번에 더하는 멀티 오퍼랜드 덧셈 </a:t>
                </a:r>
                <a:r>
                  <a:rPr kumimoji="1" lang="en-US" altLang="ko-KR" sz="1800" b="1" dirty="0"/>
                  <a:t>(QCSA)</a:t>
                </a:r>
                <a:r>
                  <a:rPr kumimoji="1" lang="ko-KR" altLang="en-US" sz="1800" b="1" dirty="0"/>
                  <a:t> 으로 변경</a:t>
                </a:r>
                <a:endParaRPr kumimoji="1" lang="en-US" altLang="ko-KR" sz="1800" b="1" dirty="0"/>
              </a:p>
              <a:p>
                <a:pPr lvl="1"/>
                <a:r>
                  <a:rPr kumimoji="1" lang="en-US" altLang="ko-KR" sz="1600" dirty="0">
                    <a:sym typeface="Wingdings" panose="05000000000000000000" pitchFamily="2" charset="2"/>
                  </a:rPr>
                  <a:t>1</a:t>
                </a:r>
                <a:r>
                  <a:rPr kumimoji="1" lang="ko-KR" altLang="en-US" sz="1600" dirty="0">
                    <a:sym typeface="Wingdings" panose="05000000000000000000" pitchFamily="2" charset="2"/>
                  </a:rPr>
                  <a:t>번으로 해결 </a:t>
                </a:r>
                <a:r>
                  <a:rPr kumimoji="1" lang="en-US" altLang="ko-KR" sz="1600" dirty="0">
                    <a:sym typeface="Wingdings" panose="05000000000000000000" pitchFamily="2" charset="2"/>
                  </a:rPr>
                  <a:t>+ </a:t>
                </a:r>
                <a:r>
                  <a:rPr kumimoji="1" lang="ko-KR" altLang="en-US" sz="1600" dirty="0">
                    <a:sym typeface="Wingdings" panose="05000000000000000000" pitchFamily="2" charset="2"/>
                  </a:rPr>
                  <a:t>낮은 </a:t>
                </a:r>
                <a:r>
                  <a:rPr kumimoji="1" lang="ko-KR" altLang="en-US" sz="1600" dirty="0" err="1">
                    <a:sym typeface="Wingdings" panose="05000000000000000000" pitchFamily="2" charset="2"/>
                  </a:rPr>
                  <a:t>뎁스의</a:t>
                </a:r>
                <a:r>
                  <a:rPr kumimoji="1" lang="ko-KR" altLang="en-US" sz="1600" dirty="0">
                    <a:sym typeface="Wingdings" panose="05000000000000000000" pitchFamily="2" charset="2"/>
                  </a:rPr>
                  <a:t> </a:t>
                </a:r>
                <a:r>
                  <a:rPr kumimoji="1" lang="ko-KR" altLang="en-US" sz="1600" dirty="0" err="1">
                    <a:sym typeface="Wingdings" panose="05000000000000000000" pitchFamily="2" charset="2"/>
                  </a:rPr>
                  <a:t>덧셈기</a:t>
                </a:r>
                <a:endParaRPr kumimoji="1" lang="en-US" altLang="ko-KR" sz="1600" dirty="0">
                  <a:sym typeface="Wingdings" panose="05000000000000000000" pitchFamily="2" charset="2"/>
                </a:endParaRPr>
              </a:p>
              <a:p>
                <a:pPr lvl="1"/>
                <a:r>
                  <a:rPr kumimoji="1" lang="ko-KR" altLang="en-US" sz="1600" dirty="0">
                    <a:sym typeface="Wingdings" panose="05000000000000000000" pitchFamily="2" charset="2"/>
                  </a:rPr>
                  <a:t>큐비트는 많이 필요하지만</a:t>
                </a:r>
                <a:r>
                  <a:rPr kumimoji="1" lang="en-US" altLang="ko-KR" sz="1600" dirty="0">
                    <a:sym typeface="Wingdings" panose="05000000000000000000" pitchFamily="2" charset="2"/>
                  </a:rPr>
                  <a:t>, </a:t>
                </a:r>
                <a:r>
                  <a:rPr kumimoji="1" lang="ko-KR" altLang="en-US" sz="1600" dirty="0" err="1">
                    <a:sym typeface="Wingdings" panose="05000000000000000000" pitchFamily="2" charset="2"/>
                  </a:rPr>
                  <a:t>큐빗</a:t>
                </a:r>
                <a:r>
                  <a:rPr kumimoji="1" lang="ko-KR" altLang="en-US" sz="1600" dirty="0">
                    <a:sym typeface="Wingdings" panose="05000000000000000000" pitchFamily="2" charset="2"/>
                  </a:rPr>
                  <a:t> 최대 병목인 소거에서 사용한 </a:t>
                </a:r>
                <a:r>
                  <a:rPr kumimoji="1" lang="ko-KR" altLang="en-US" sz="1600" dirty="0" err="1">
                    <a:sym typeface="Wingdings" panose="05000000000000000000" pitchFamily="2" charset="2"/>
                  </a:rPr>
                  <a:t>안실라로</a:t>
                </a:r>
                <a:r>
                  <a:rPr kumimoji="1" lang="ko-KR" altLang="en-US" sz="1600" dirty="0">
                    <a:sym typeface="Wingdings" panose="05000000000000000000" pitchFamily="2" charset="2"/>
                  </a:rPr>
                  <a:t> 전체 커버 가능</a:t>
                </a:r>
                <a:endParaRPr kumimoji="1" lang="en-US" altLang="ko-KR" sz="1400" dirty="0">
                  <a:sym typeface="Wingdings" panose="05000000000000000000" pitchFamily="2" charset="2"/>
                </a:endParaRPr>
              </a:p>
              <a:p>
                <a:endParaRPr kumimoji="1" lang="en-US" altLang="ko-KR" sz="1800" dirty="0">
                  <a:sym typeface="Wingdings" panose="05000000000000000000" pitchFamily="2" charset="2"/>
                </a:endParaRPr>
              </a:p>
              <a:p>
                <a:r>
                  <a:rPr kumimoji="1" lang="ko-KR" altLang="en-US" sz="1800" dirty="0">
                    <a:sym typeface="Wingdings" panose="05000000000000000000" pitchFamily="2" charset="2"/>
                  </a:rPr>
                  <a:t>현재 방식이 수식으로 표현하기 깔끔하지 않아서 코드로 대체</a:t>
                </a:r>
                <a:endParaRPr kumimoji="1" lang="en-US" altLang="ko-KR" sz="1800" dirty="0">
                  <a:sym typeface="Wingdings" panose="05000000000000000000" pitchFamily="2" charset="2"/>
                </a:endParaRPr>
              </a:p>
              <a:p>
                <a:pPr lvl="1"/>
                <a:r>
                  <a:rPr kumimoji="1" lang="ko-KR" altLang="en-US" sz="1600" dirty="0"/>
                  <a:t>기존 방식</a:t>
                </a:r>
                <a:endParaRPr kumimoji="1" lang="en-US" altLang="ko-KR" sz="1600" dirty="0"/>
              </a:p>
              <a:p>
                <a:pPr lvl="2"/>
                <a:r>
                  <a:rPr kumimoji="1" lang="en-US" altLang="ko-KR" sz="1600" dirty="0"/>
                  <a:t>#T: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nor/>
                          </m:rPr>
                          <a:rPr lang="ko-KR" altLang="en-US" sz="1600" dirty="0"/>
                          <m:t> 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ko-KR" sz="1600" dirty="0"/>
              </a:p>
              <a:p>
                <a:pPr lvl="2"/>
                <a:r>
                  <a:rPr kumimoji="1" lang="en-US" altLang="ko-KR" sz="1600" dirty="0"/>
                  <a:t>Td:</a:t>
                </a:r>
                <a14:m>
                  <m:oMath xmlns:m="http://schemas.openxmlformats.org/officeDocument/2006/math">
                    <m:r>
                      <a:rPr lang="en-US" altLang="ko-KR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10.5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7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</m:d>
                        <m:r>
                          <m:rPr>
                            <m:nor/>
                          </m:rPr>
                          <a:rPr lang="ko-KR" altLang="en-US" sz="1600" dirty="0"/>
                          <m:t> </m:t>
                        </m:r>
                      </m:e>
                      <m:sup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sz="1600" dirty="0"/>
              </a:p>
              <a:p>
                <a:pPr lvl="2"/>
                <a:endParaRPr kumimoji="1" lang="ko-KR" altLang="en-US" sz="1600" dirty="0"/>
              </a:p>
            </p:txBody>
          </p:sp>
        </mc:Choice>
        <mc:Fallback xmlns="">
          <p:sp>
            <p:nvSpPr>
              <p:cNvPr id="17" name="텍스트 개체 틀 2">
                <a:extLst>
                  <a:ext uri="{FF2B5EF4-FFF2-40B4-BE49-F238E27FC236}">
                    <a16:creationId xmlns:a16="http://schemas.microsoft.com/office/drawing/2014/main" id="{489BC10A-0FB1-80E3-4B69-EB394AD39F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780837" cy="5057775"/>
              </a:xfrm>
              <a:blipFill>
                <a:blip r:embed="rId2"/>
                <a:stretch>
                  <a:fillRect l="-310" t="-1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C75D5BB-7487-225F-EE37-224C9B89FDCF}"/>
              </a:ext>
            </a:extLst>
          </p:cNvPr>
          <p:cNvSpPr txBox="1"/>
          <p:nvPr/>
        </p:nvSpPr>
        <p:spPr>
          <a:xfrm>
            <a:off x="6499231" y="6156304"/>
            <a:ext cx="3563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현재 버전 실제 리소스 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자원 비용 식 아님</a:t>
            </a:r>
            <a:r>
              <a:rPr lang="en-US" altLang="ko-KR" sz="1400" b="1" dirty="0"/>
              <a:t>)</a:t>
            </a:r>
            <a:endParaRPr lang="ko-KR" altLang="en-US" sz="1400" b="1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1290D09-69FB-A807-2C76-A2AC479B76F4}"/>
              </a:ext>
            </a:extLst>
          </p:cNvPr>
          <p:cNvGrpSpPr/>
          <p:nvPr/>
        </p:nvGrpSpPr>
        <p:grpSpPr>
          <a:xfrm>
            <a:off x="889566" y="4829381"/>
            <a:ext cx="3563471" cy="1669613"/>
            <a:chOff x="3720172" y="4610512"/>
            <a:chExt cx="3563471" cy="1669613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61A2090-9701-17E2-A276-3D48C8A43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3935" y="4610512"/>
              <a:ext cx="1772065" cy="126694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3665E58-3A84-E7AD-BA43-642D769F70BA}"/>
                </a:ext>
              </a:extLst>
            </p:cNvPr>
            <p:cNvSpPr txBox="1"/>
            <p:nvPr/>
          </p:nvSpPr>
          <p:spPr>
            <a:xfrm>
              <a:off x="3720172" y="5972348"/>
              <a:ext cx="3563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기존 방식 </a:t>
              </a:r>
              <a:r>
                <a:rPr lang="en-US" altLang="ko-KR" sz="1100" dirty="0"/>
                <a:t>([1], </a:t>
              </a:r>
              <a:r>
                <a:rPr lang="ko-KR" altLang="en-US" sz="1100" dirty="0"/>
                <a:t>작년 발표자료 수식 기준</a:t>
              </a:r>
              <a:r>
                <a:rPr lang="en-US" altLang="ko-KR" sz="1100" dirty="0"/>
                <a:t>)</a:t>
              </a:r>
              <a:endParaRPr lang="ko-KR" altLang="en-US" sz="14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107C91C-E741-7B69-C381-01F781774170}"/>
              </a:ext>
            </a:extLst>
          </p:cNvPr>
          <p:cNvSpPr txBox="1"/>
          <p:nvPr/>
        </p:nvSpPr>
        <p:spPr>
          <a:xfrm>
            <a:off x="45382" y="6598331"/>
            <a:ext cx="105307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000" dirty="0"/>
              <a:t>[1]</a:t>
            </a:r>
            <a:r>
              <a:rPr kumimoji="1" lang="ko-KR" altLang="en-US" sz="1000" dirty="0"/>
              <a:t> </a:t>
            </a:r>
            <a:r>
              <a:rPr kumimoji="1" lang="en" altLang="ko-KR" sz="1000" dirty="0"/>
              <a:t>Perriello, S., Barenghi, A., &amp; Pelosi, G. (2023). Improving the efficiency of quantum circuits for information set decoding. ACM Transactions on Quantum Computing, 4(4), 1-40.</a:t>
            </a:r>
            <a:endParaRPr kumimoji="1" lang="en-US" altLang="ko-KR" sz="1000" baseline="30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451674-71BC-53E0-C6AF-983AE3C05547}"/>
              </a:ext>
            </a:extLst>
          </p:cNvPr>
          <p:cNvSpPr txBox="1"/>
          <p:nvPr/>
        </p:nvSpPr>
        <p:spPr>
          <a:xfrm>
            <a:off x="4652682" y="3610654"/>
            <a:ext cx="76312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600" dirty="0"/>
              <a:t>현재 방식</a:t>
            </a:r>
            <a:endParaRPr kumimoji="1"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#T: </a:t>
            </a:r>
            <a:r>
              <a:rPr kumimoji="1" lang="ko-KR" altLang="en-US" sz="1600" dirty="0"/>
              <a:t>증가하지만 오라클 전체 관점에서 거의 영향 없음</a:t>
            </a:r>
            <a:endParaRPr kumimoji="1"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1600" dirty="0"/>
              <a:t>Td: </a:t>
            </a:r>
            <a:r>
              <a:rPr kumimoji="1" lang="ko-KR" altLang="en-US" sz="1600" dirty="0"/>
              <a:t>감소하지만 사실 전체 관점에서 큰 차이는 아님 </a:t>
            </a:r>
            <a:r>
              <a:rPr kumimoji="1" lang="en-US" altLang="ko-KR" sz="1050" dirty="0"/>
              <a:t>(</a:t>
            </a:r>
            <a:r>
              <a:rPr kumimoji="1" lang="ko-KR" altLang="en-US" sz="1050" dirty="0"/>
              <a:t>굳이 따지자면 </a:t>
            </a:r>
            <a:r>
              <a:rPr kumimoji="1" lang="en-US" altLang="ko-KR" sz="1050" dirty="0"/>
              <a:t>Td </a:t>
            </a:r>
            <a:r>
              <a:rPr kumimoji="1" lang="ko-KR" altLang="en-US" sz="1050" dirty="0"/>
              <a:t>감소량이 더 큼</a:t>
            </a:r>
            <a:r>
              <a:rPr kumimoji="1" lang="en-US" altLang="ko-KR" sz="1050" dirty="0"/>
              <a:t>)</a:t>
            </a:r>
            <a:endParaRPr kumimoji="1"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sz="1600" b="1" dirty="0">
                <a:solidFill>
                  <a:srgbClr val="0070C0"/>
                </a:solidFill>
              </a:rPr>
              <a:t>큰 의미는 없음</a:t>
            </a:r>
            <a:endParaRPr kumimoji="1" lang="en-US" altLang="ko-KR" sz="1600" b="1" dirty="0">
              <a:solidFill>
                <a:srgbClr val="0070C0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9A4113E-ABFC-5C1D-205C-749DCA7B4678}"/>
              </a:ext>
            </a:extLst>
          </p:cNvPr>
          <p:cNvGrpSpPr/>
          <p:nvPr/>
        </p:nvGrpSpPr>
        <p:grpSpPr>
          <a:xfrm>
            <a:off x="7294894" y="4838877"/>
            <a:ext cx="1740598" cy="1247949"/>
            <a:chOff x="5708141" y="4884886"/>
            <a:chExt cx="1740598" cy="1247949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92A6022F-584C-63E1-7C4E-25A83B9022B7}"/>
                </a:ext>
              </a:extLst>
            </p:cNvPr>
            <p:cNvGrpSpPr/>
            <p:nvPr/>
          </p:nvGrpSpPr>
          <p:grpSpPr>
            <a:xfrm>
              <a:off x="6096000" y="4905058"/>
              <a:ext cx="1352739" cy="1201577"/>
              <a:chOff x="4453037" y="4653114"/>
              <a:chExt cx="1352739" cy="1201577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8FCD662D-03C6-0F9C-560B-E7ECCFC65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3037" y="4654373"/>
                <a:ext cx="685896" cy="1200318"/>
              </a:xfrm>
              <a:prstGeom prst="rect">
                <a:avLst/>
              </a:prstGeom>
            </p:spPr>
          </p:pic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FF72389E-5842-3595-AB9F-2E54FCE12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25805"/>
              <a:stretch>
                <a:fillRect/>
              </a:stretch>
            </p:blipFill>
            <p:spPr>
              <a:xfrm>
                <a:off x="5138933" y="4653114"/>
                <a:ext cx="666843" cy="1201577"/>
              </a:xfrm>
              <a:prstGeom prst="rect">
                <a:avLst/>
              </a:prstGeom>
            </p:spPr>
          </p:pic>
        </p:grp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2D39B476-F1DA-D0C8-4FD5-87D6142BD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08141" y="4884886"/>
              <a:ext cx="638264" cy="12479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8882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13457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3E351AFA-C5CD-FF45-AA6F-7CB5D626CE94}"/>
    </a:ext>
  </a:extLst>
</a:theme>
</file>

<file path=ppt/theme/theme2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yptoleb_clean" id="{52588569-4439-E744-A786-7B9A48D01E82}" vid="{9E614CC1-025E-7F4F-ADE5-A242777675E7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제목 테마</Template>
  <TotalTime>8013</TotalTime>
  <Words>770</Words>
  <Application>Microsoft Macintosh PowerPoint</Application>
  <PresentationFormat>와이드스크린</PresentationFormat>
  <Paragraphs>94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</vt:lpstr>
      <vt:lpstr>Cambria Math</vt:lpstr>
      <vt:lpstr>Wingdings</vt:lpstr>
      <vt:lpstr>제목 테마</vt:lpstr>
      <vt:lpstr>CryptoCraft 테마</vt:lpstr>
      <vt:lpstr>Quantum ISD (2)</vt:lpstr>
      <vt:lpstr>QISD</vt:lpstr>
      <vt:lpstr>QISD</vt:lpstr>
      <vt:lpstr>Information Set (H_k) 구축</vt:lpstr>
      <vt:lpstr>Gauss-Jordan Elimination</vt:lpstr>
      <vt:lpstr>Gauss-Jordan Elimination</vt:lpstr>
      <vt:lpstr>소거 단계 전체에 대한 리소스 비교</vt:lpstr>
      <vt:lpstr>Hamming weight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심민주</dc:creator>
  <cp:keywords/>
  <dc:description/>
  <cp:lastModifiedBy>hyunji kim</cp:lastModifiedBy>
  <cp:revision>129</cp:revision>
  <dcterms:created xsi:type="dcterms:W3CDTF">2026-03-08T04:09:13Z</dcterms:created>
  <dcterms:modified xsi:type="dcterms:W3CDTF">2026-03-29T18:25:16Z</dcterms:modified>
  <cp:category/>
</cp:coreProperties>
</file>