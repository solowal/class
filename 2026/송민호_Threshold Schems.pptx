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4" r:id="rId2"/>
  </p:sldMasterIdLst>
  <p:notesMasterIdLst>
    <p:notesMasterId r:id="rId13"/>
  </p:notesMasterIdLst>
  <p:handoutMasterIdLst>
    <p:handoutMasterId r:id="rId14"/>
  </p:handoutMasterIdLst>
  <p:sldIdLst>
    <p:sldId id="269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74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96" autoAdjust="0"/>
    <p:restoredTop sz="94660"/>
  </p:normalViewPr>
  <p:slideViewPr>
    <p:cSldViewPr snapToGrid="0">
      <p:cViewPr varScale="1">
        <p:scale>
          <a:sx n="73" d="100"/>
          <a:sy n="73" d="100"/>
        </p:scale>
        <p:origin x="84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0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46E7E-6CE1-4F62-BC39-1BE7148D0D0D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56489-CFDC-4DF4-92D1-C366C0FB17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84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A1C54-2D0D-48EB-888A-9786B070F533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2C913-610E-4BF0-B55F-9CE65BBA65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976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19850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8796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" y="6195047"/>
            <a:ext cx="3026852" cy="64278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202" y="6215220"/>
            <a:ext cx="1311798" cy="64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63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 userDrawn="1"/>
        </p:nvCxnSpPr>
        <p:spPr>
          <a:xfrm>
            <a:off x="4863597" y="2208981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1691017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2606858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526039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9" name="텍스트 개체 틀 4"/>
          <p:cNvSpPr>
            <a:spLocks noGrp="1"/>
          </p:cNvSpPr>
          <p:nvPr>
            <p:ph type="body" sz="quarter" idx="29" hasCustomPrompt="1"/>
          </p:nvPr>
        </p:nvSpPr>
        <p:spPr>
          <a:xfrm>
            <a:off x="1055593" y="4441880"/>
            <a:ext cx="10071849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 userDrawn="1"/>
        </p:nvSpPr>
        <p:spPr>
          <a:xfrm>
            <a:off x="1064556" y="1691018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 userDrawn="1"/>
        </p:nvSpPr>
        <p:spPr>
          <a:xfrm>
            <a:off x="1064556" y="26036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 userDrawn="1"/>
        </p:nvSpPr>
        <p:spPr>
          <a:xfrm>
            <a:off x="1064556" y="353261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9">
            <a:extLst>
              <a:ext uri="{FF2B5EF4-FFF2-40B4-BE49-F238E27FC236}">
                <a16:creationId xmlns:a16="http://schemas.microsoft.com/office/drawing/2014/main" id="{7B5C337D-B310-4C62-8229-6DD25DC8C899}"/>
              </a:ext>
            </a:extLst>
          </p:cNvPr>
          <p:cNvSpPr/>
          <p:nvPr userDrawn="1"/>
        </p:nvSpPr>
        <p:spPr>
          <a:xfrm>
            <a:off x="1064556" y="44452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14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9438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8623390" y="6412231"/>
            <a:ext cx="3568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86B743E8-9D27-4F69-87ED-4623B89CBF9F}" type="slidenum">
              <a:rPr lang="ko-KR" altLang="en-US" sz="2000" smtClean="0">
                <a:solidFill>
                  <a:schemeClr val="tx1"/>
                </a:solidFill>
                <a:latin typeface="+mn-lt"/>
              </a:rPr>
              <a:t>‹#›</a:t>
            </a:fld>
            <a:endParaRPr lang="ko-KR" altLang="en-US" sz="2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6993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70" r:id="rId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DAAC8-442A-4C15-9819-F07FF5E7315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666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9" r:id="rId3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jpe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jpe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26" Type="http://schemas.openxmlformats.org/officeDocument/2006/relationships/image" Target="../media/image63.png"/><Relationship Id="rId3" Type="http://schemas.openxmlformats.org/officeDocument/2006/relationships/image" Target="../media/image40.png"/><Relationship Id="rId21" Type="http://schemas.openxmlformats.org/officeDocument/2006/relationships/image" Target="../media/image58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5" Type="http://schemas.openxmlformats.org/officeDocument/2006/relationships/image" Target="../media/image6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24" Type="http://schemas.openxmlformats.org/officeDocument/2006/relationships/image" Target="../media/image61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23" Type="http://schemas.openxmlformats.org/officeDocument/2006/relationships/image" Target="../media/image60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1.png"/><Relationship Id="rId9" Type="http://schemas.openxmlformats.org/officeDocument/2006/relationships/image" Target="../media/image46.jpeg"/><Relationship Id="rId14" Type="http://schemas.openxmlformats.org/officeDocument/2006/relationships/image" Target="../media/image51.png"/><Relationship Id="rId22" Type="http://schemas.openxmlformats.org/officeDocument/2006/relationships/image" Target="../media/image59.png"/><Relationship Id="rId27" Type="http://schemas.openxmlformats.org/officeDocument/2006/relationships/image" Target="../media/image6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3" Type="http://schemas.openxmlformats.org/officeDocument/2006/relationships/image" Target="../media/image3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6.png"/><Relationship Id="rId18" Type="http://schemas.openxmlformats.org/officeDocument/2006/relationships/image" Target="../media/image89.png"/><Relationship Id="rId3" Type="http://schemas.openxmlformats.org/officeDocument/2006/relationships/image" Target="../media/image3.png"/><Relationship Id="rId7" Type="http://schemas.openxmlformats.org/officeDocument/2006/relationships/image" Target="../media/image83.png"/><Relationship Id="rId12" Type="http://schemas.openxmlformats.org/officeDocument/2006/relationships/image" Target="../media/image85.png"/><Relationship Id="rId17" Type="http://schemas.openxmlformats.org/officeDocument/2006/relationships/image" Target="../media/image7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71.png"/><Relationship Id="rId5" Type="http://schemas.openxmlformats.org/officeDocument/2006/relationships/image" Target="../media/image81.png"/><Relationship Id="rId15" Type="http://schemas.openxmlformats.org/officeDocument/2006/relationships/image" Target="../media/image88.png"/><Relationship Id="rId10" Type="http://schemas.openxmlformats.org/officeDocument/2006/relationships/image" Target="../media/image70.png"/><Relationship Id="rId19" Type="http://schemas.openxmlformats.org/officeDocument/2006/relationships/image" Target="../media/image90.png"/><Relationship Id="rId4" Type="http://schemas.openxmlformats.org/officeDocument/2006/relationships/image" Target="../media/image80.png"/><Relationship Id="rId9" Type="http://schemas.openxmlformats.org/officeDocument/2006/relationships/image" Target="../media/image69.png"/><Relationship Id="rId14" Type="http://schemas.openxmlformats.org/officeDocument/2006/relationships/image" Target="../media/image8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3" Type="http://schemas.openxmlformats.org/officeDocument/2006/relationships/image" Target="../media/image40.png"/><Relationship Id="rId21" Type="http://schemas.openxmlformats.org/officeDocument/2006/relationships/image" Target="../media/image108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24" Type="http://schemas.openxmlformats.org/officeDocument/2006/relationships/image" Target="../media/image111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23" Type="http://schemas.openxmlformats.org/officeDocument/2006/relationships/image" Target="../media/image110.png"/><Relationship Id="rId10" Type="http://schemas.openxmlformats.org/officeDocument/2006/relationships/image" Target="../media/image97.png"/><Relationship Id="rId19" Type="http://schemas.openxmlformats.org/officeDocument/2006/relationships/image" Target="../media/image106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Relationship Id="rId22" Type="http://schemas.openxmlformats.org/officeDocument/2006/relationships/image" Target="../media/image10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22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12" Type="http://schemas.openxmlformats.org/officeDocument/2006/relationships/image" Target="../media/image12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11" Type="http://schemas.openxmlformats.org/officeDocument/2006/relationships/image" Target="../media/image120.png"/><Relationship Id="rId5" Type="http://schemas.openxmlformats.org/officeDocument/2006/relationships/image" Target="../media/image114.png"/><Relationship Id="rId15" Type="http://schemas.openxmlformats.org/officeDocument/2006/relationships/image" Target="../media/image124.png"/><Relationship Id="rId10" Type="http://schemas.openxmlformats.org/officeDocument/2006/relationships/image" Target="../media/image119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Relationship Id="rId14" Type="http://schemas.openxmlformats.org/officeDocument/2006/relationships/image" Target="../media/image1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3.png"/><Relationship Id="rId7" Type="http://schemas.openxmlformats.org/officeDocument/2006/relationships/image" Target="../media/image129.png"/><Relationship Id="rId12" Type="http://schemas.openxmlformats.org/officeDocument/2006/relationships/image" Target="../media/image1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11" Type="http://schemas.openxmlformats.org/officeDocument/2006/relationships/image" Target="../media/image133.png"/><Relationship Id="rId5" Type="http://schemas.openxmlformats.org/officeDocument/2006/relationships/image" Target="../media/image127.png"/><Relationship Id="rId10" Type="http://schemas.openxmlformats.org/officeDocument/2006/relationships/image" Target="../media/image132.png"/><Relationship Id="rId4" Type="http://schemas.openxmlformats.org/officeDocument/2006/relationships/image" Target="../media/image126.png"/><Relationship Id="rId9" Type="http://schemas.openxmlformats.org/officeDocument/2006/relationships/image" Target="../media/image13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Threshold</a:t>
            </a:r>
            <a:r>
              <a:rPr lang="ko-KR" altLang="en-US" dirty="0"/>
              <a:t> </a:t>
            </a:r>
            <a:r>
              <a:rPr lang="en-US" altLang="ko-KR" dirty="0"/>
              <a:t>Schemes 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송민호</a:t>
            </a:r>
            <a:endParaRPr lang="en-US" altLang="ko-KR" dirty="0"/>
          </a:p>
          <a:p>
            <a:r>
              <a:rPr lang="ko-KR" altLang="en-US" dirty="0"/>
              <a:t>유튜브</a:t>
            </a:r>
            <a:r>
              <a:rPr lang="en-US" altLang="ko-KR"/>
              <a:t>: https://youtu.be/QrnsFZqmQ6g</a:t>
            </a:r>
            <a:r>
              <a:rPr lang="ko-KR" altLang="en-US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6322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889797" y="0"/>
            <a:ext cx="4067251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70000"/>
          </a:blip>
          <a:srcRect/>
          <a:stretch/>
        </p:blipFill>
        <p:spPr>
          <a:xfrm>
            <a:off x="0" y="4419295"/>
            <a:ext cx="2438705" cy="24387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191463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" name="Text 3"/>
          <p:cNvSpPr txBox="1"/>
          <p:nvPr/>
        </p:nvSpPr>
        <p:spPr>
          <a:xfrm>
            <a:off x="914400" y="381305"/>
            <a:ext cx="4819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609905"/>
            <a:ext cx="57186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Single Trusted Party Model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8161934" y="771754"/>
            <a:ext cx="31199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신뢰 주체의 구조적 취약점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3409798"/>
            <a:ext cx="4572000" cy="1047902"/>
          </a:xfrm>
          <a:prstGeom prst="roundRect">
            <a:avLst>
              <a:gd name="adj" fmla="val 19039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1" name="Text 7"/>
          <p:cNvSpPr txBox="1"/>
          <p:nvPr/>
        </p:nvSpPr>
        <p:spPr>
          <a:xfrm>
            <a:off x="871423" y="3571646"/>
            <a:ext cx="407273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기존 암호 시스템은 </a:t>
            </a: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장치</a:t>
            </a: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모든 </a:t>
            </a: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Private Key</a:t>
            </a: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작업을 독점 수행합니다. 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9049" y="4143146"/>
            <a:ext cx="19202" cy="152705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3" name="Text 9"/>
          <p:cNvSpPr txBox="1"/>
          <p:nvPr/>
        </p:nvSpPr>
        <p:spPr>
          <a:xfrm>
            <a:off x="943661" y="4143146"/>
            <a:ext cx="581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생성(Gen)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90956" y="4162349"/>
            <a:ext cx="114300" cy="1143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71523" y="4143146"/>
            <a:ext cx="7717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저장(Storage)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18818" y="4162349"/>
            <a:ext cx="114300" cy="1143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564892" y="4143146"/>
            <a:ext cx="5248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연산(Op)</a:t>
            </a:r>
            <a:endParaRPr lang="en-US" sz="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2441448" y="4162349"/>
            <a:ext cx="85954" cy="1143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457200" y="4610405"/>
            <a:ext cx="4572000" cy="2018995"/>
          </a:xfrm>
          <a:prstGeom prst="roundRect">
            <a:avLst>
              <a:gd name="adj" fmla="val 512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Shape 13"/>
          <p:cNvSpPr/>
          <p:nvPr/>
        </p:nvSpPr>
        <p:spPr>
          <a:xfrm>
            <a:off x="619049" y="5000854"/>
            <a:ext cx="4248302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1" name="Text 14"/>
          <p:cNvSpPr txBox="1"/>
          <p:nvPr/>
        </p:nvSpPr>
        <p:spPr>
          <a:xfrm>
            <a:off x="619049" y="4772254"/>
            <a:ext cx="4362602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Typical Examples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923544" y="5086807"/>
            <a:ext cx="4058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Digital Signature &amp; PKI </a:t>
            </a:r>
            <a:endParaRPr lang="en-US" sz="10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690372" y="5143500"/>
            <a:ext cx="85954" cy="1143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23544" y="5391302"/>
            <a:ext cx="4058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Public Key Encryption </a:t>
            </a:r>
            <a:endParaRPr lang="en-US" sz="10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681228" y="5447995"/>
            <a:ext cx="105156" cy="11430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23544" y="5695798"/>
            <a:ext cx="4058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Authentication Systems </a:t>
            </a:r>
            <a:endParaRPr lang="en-US" sz="10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rcRect l="-1911" r="-1911"/>
          <a:stretch/>
        </p:blipFill>
        <p:spPr>
          <a:xfrm>
            <a:off x="666598" y="5753405"/>
            <a:ext cx="133502" cy="11430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923544" y="6001207"/>
            <a:ext cx="4058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Blockchain Transaction Signing </a:t>
            </a:r>
            <a:endParaRPr lang="en-US" sz="10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76656" y="6057900"/>
            <a:ext cx="114300" cy="114300"/>
          </a:xfrm>
          <a:prstGeom prst="rect">
            <a:avLst/>
          </a:prstGeom>
        </p:spPr>
      </p:pic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333695" y="1466698"/>
            <a:ext cx="6400800" cy="1371600"/>
          </a:xfrm>
          <a:prstGeom prst="rect">
            <a:avLst/>
          </a:prstGeom>
        </p:spPr>
      </p:pic>
      <p:sp>
        <p:nvSpPr>
          <p:cNvPr id="31" name="Shape 19"/>
          <p:cNvSpPr/>
          <p:nvPr/>
        </p:nvSpPr>
        <p:spPr>
          <a:xfrm>
            <a:off x="5600700" y="1657807"/>
            <a:ext cx="457200" cy="457200"/>
          </a:xfrm>
          <a:prstGeom prst="ellipse">
            <a:avLst/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715000" y="1772107"/>
            <a:ext cx="228600" cy="228600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6248095" y="1657807"/>
            <a:ext cx="167792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Confidentiality</a:t>
            </a:r>
            <a:endParaRPr lang="en-US" sz="1500" dirty="0"/>
          </a:p>
        </p:txBody>
      </p:sp>
      <p:sp>
        <p:nvSpPr>
          <p:cNvPr id="34" name="Shape 21"/>
          <p:cNvSpPr/>
          <p:nvPr/>
        </p:nvSpPr>
        <p:spPr>
          <a:xfrm>
            <a:off x="10833811" y="1695298"/>
            <a:ext cx="714146" cy="190195"/>
          </a:xfrm>
          <a:prstGeom prst="roundRect">
            <a:avLst>
              <a:gd name="adj" fmla="val 480770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5" name="Text 22"/>
          <p:cNvSpPr/>
          <p:nvPr/>
        </p:nvSpPr>
        <p:spPr>
          <a:xfrm>
            <a:off x="10796321" y="1695298"/>
            <a:ext cx="790956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기밀성 위협</a:t>
            </a:r>
            <a:endParaRPr lang="en-US" sz="900" dirty="0"/>
          </a:p>
        </p:txBody>
      </p:sp>
      <p:sp>
        <p:nvSpPr>
          <p:cNvPr id="36" name="Text 23"/>
          <p:cNvSpPr txBox="1"/>
          <p:nvPr/>
        </p:nvSpPr>
        <p:spPr>
          <a:xfrm>
            <a:off x="6248095" y="1962302"/>
            <a:ext cx="53721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Private Key가 유출되면 시스템 방어 체계가 무력화되며, 공격자가 모든 권한을 획득합니다.</a:t>
            </a:r>
            <a:endParaRPr lang="en-US" sz="120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4"/>
          <a:srcRect t="-10" b="-10"/>
          <a:stretch/>
        </p:blipFill>
        <p:spPr>
          <a:xfrm>
            <a:off x="5333695" y="3381451"/>
            <a:ext cx="6400800" cy="1524305"/>
          </a:xfrm>
          <a:prstGeom prst="rect">
            <a:avLst/>
          </a:prstGeom>
        </p:spPr>
      </p:pic>
      <p:sp>
        <p:nvSpPr>
          <p:cNvPr id="38" name="Shape 24"/>
          <p:cNvSpPr/>
          <p:nvPr/>
        </p:nvSpPr>
        <p:spPr>
          <a:xfrm>
            <a:off x="5600700" y="3571646"/>
            <a:ext cx="457200" cy="45720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15"/>
          <a:srcRect t="-45" b="-45"/>
          <a:stretch/>
        </p:blipFill>
        <p:spPr>
          <a:xfrm>
            <a:off x="5700370" y="3685946"/>
            <a:ext cx="256946" cy="228600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6248095" y="3571646"/>
            <a:ext cx="9756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Integrity</a:t>
            </a:r>
            <a:endParaRPr lang="en-US" sz="1500" dirty="0"/>
          </a:p>
        </p:txBody>
      </p:sp>
      <p:sp>
        <p:nvSpPr>
          <p:cNvPr id="41" name="Shape 26"/>
          <p:cNvSpPr/>
          <p:nvPr/>
        </p:nvSpPr>
        <p:spPr>
          <a:xfrm>
            <a:off x="10833811" y="3610051"/>
            <a:ext cx="714146" cy="190195"/>
          </a:xfrm>
          <a:prstGeom prst="roundRect">
            <a:avLst>
              <a:gd name="adj" fmla="val 480770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2" name="Text 27"/>
          <p:cNvSpPr/>
          <p:nvPr/>
        </p:nvSpPr>
        <p:spPr>
          <a:xfrm>
            <a:off x="10796321" y="3610051"/>
            <a:ext cx="790956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무결성 위협</a:t>
            </a:r>
            <a:endParaRPr lang="en-US" sz="900" dirty="0"/>
          </a:p>
        </p:txBody>
      </p:sp>
      <p:sp>
        <p:nvSpPr>
          <p:cNvPr id="43" name="Text 28"/>
          <p:cNvSpPr txBox="1"/>
          <p:nvPr/>
        </p:nvSpPr>
        <p:spPr>
          <a:xfrm>
            <a:off x="6248095" y="3877056"/>
            <a:ext cx="53721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키를 탈취한 공격자는 시스템을 속여 무단 작업을 정상적인 것처럼 수행할 수 있습니다.</a:t>
            </a:r>
            <a:endParaRPr lang="en-US" sz="1200" dirty="0"/>
          </a:p>
        </p:txBody>
      </p:sp>
      <p:sp>
        <p:nvSpPr>
          <p:cNvPr id="44" name="Text 29"/>
          <p:cNvSpPr txBox="1"/>
          <p:nvPr/>
        </p:nvSpPr>
        <p:spPr>
          <a:xfrm>
            <a:off x="6390742" y="4334256"/>
            <a:ext cx="26581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위조 서명 생성</a:t>
            </a:r>
            <a:endParaRPr lang="en-US" sz="900" dirty="0"/>
          </a:p>
        </p:txBody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16"/>
          <a:srcRect l="-133" r="-133"/>
          <a:stretch/>
        </p:blipFill>
        <p:spPr>
          <a:xfrm>
            <a:off x="6248095" y="4352544"/>
            <a:ext cx="85954" cy="114300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9077249" y="4334256"/>
            <a:ext cx="26581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허위 인증서 발급</a:t>
            </a:r>
            <a:endParaRPr lang="en-US" sz="9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6"/>
          <a:srcRect l="-133" r="-133"/>
          <a:stretch/>
        </p:blipFill>
        <p:spPr>
          <a:xfrm>
            <a:off x="8934602" y="4352544"/>
            <a:ext cx="85954" cy="114300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6390742" y="4562856"/>
            <a:ext cx="26581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불법 트랜잭션</a:t>
            </a:r>
            <a:endParaRPr lang="en-US" sz="900" dirty="0"/>
          </a:p>
        </p:txBody>
      </p:sp>
      <p:pic>
        <p:nvPicPr>
          <p:cNvPr id="49" name="Image 15" descr="preencoded.png"/>
          <p:cNvPicPr>
            <a:picLocks noChangeAspect="1"/>
          </p:cNvPicPr>
          <p:nvPr/>
        </p:nvPicPr>
        <p:blipFill>
          <a:blip r:embed="rId16"/>
          <a:srcRect l="-133" r="-133"/>
          <a:stretch/>
        </p:blipFill>
        <p:spPr>
          <a:xfrm>
            <a:off x="6248095" y="4581144"/>
            <a:ext cx="85954" cy="114300"/>
          </a:xfrm>
          <a:prstGeom prst="rect">
            <a:avLst/>
          </a:prstGeom>
        </p:spPr>
      </p:pic>
      <p:pic>
        <p:nvPicPr>
          <p:cNvPr id="50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5333695" y="5447995"/>
            <a:ext cx="6400800" cy="1143000"/>
          </a:xfrm>
          <a:prstGeom prst="rect">
            <a:avLst/>
          </a:prstGeom>
        </p:spPr>
      </p:pic>
      <p:sp>
        <p:nvSpPr>
          <p:cNvPr id="51" name="Shape 32"/>
          <p:cNvSpPr/>
          <p:nvPr/>
        </p:nvSpPr>
        <p:spPr>
          <a:xfrm>
            <a:off x="5600700" y="5639105"/>
            <a:ext cx="457200" cy="45720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52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5715000" y="5753405"/>
            <a:ext cx="228600" cy="228600"/>
          </a:xfrm>
          <a:prstGeom prst="rect">
            <a:avLst/>
          </a:prstGeom>
        </p:spPr>
      </p:pic>
      <p:sp>
        <p:nvSpPr>
          <p:cNvPr id="53" name="Text 33"/>
          <p:cNvSpPr txBox="1"/>
          <p:nvPr/>
        </p:nvSpPr>
        <p:spPr>
          <a:xfrm>
            <a:off x="6248095" y="5639105"/>
            <a:ext cx="125821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Availability</a:t>
            </a:r>
            <a:endParaRPr lang="en-US" sz="1500" dirty="0"/>
          </a:p>
        </p:txBody>
      </p:sp>
      <p:sp>
        <p:nvSpPr>
          <p:cNvPr id="54" name="Shape 34"/>
          <p:cNvSpPr/>
          <p:nvPr/>
        </p:nvSpPr>
        <p:spPr>
          <a:xfrm>
            <a:off x="10833811" y="5676595"/>
            <a:ext cx="714146" cy="190195"/>
          </a:xfrm>
          <a:prstGeom prst="roundRect">
            <a:avLst>
              <a:gd name="adj" fmla="val 480770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5" name="Text 35"/>
          <p:cNvSpPr/>
          <p:nvPr/>
        </p:nvSpPr>
        <p:spPr>
          <a:xfrm>
            <a:off x="10796321" y="5676595"/>
            <a:ext cx="790956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가용성 위협</a:t>
            </a:r>
            <a:endParaRPr lang="en-US" sz="900" dirty="0"/>
          </a:p>
        </p:txBody>
      </p:sp>
      <p:sp>
        <p:nvSpPr>
          <p:cNvPr id="56" name="Text 36"/>
          <p:cNvSpPr txBox="1"/>
          <p:nvPr/>
        </p:nvSpPr>
        <p:spPr>
          <a:xfrm>
            <a:off x="6248095" y="5943600"/>
            <a:ext cx="62444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중앙화된 단일 장치(Single Device)에 장애가 발생하면 전체 서비스가 중단됩니다.</a:t>
            </a:r>
            <a:endParaRPr lang="en-US" sz="1200" dirty="0"/>
          </a:p>
        </p:txBody>
      </p:sp>
      <p:sp>
        <p:nvSpPr>
          <p:cNvPr id="57" name="Shape 37"/>
          <p:cNvSpPr/>
          <p:nvPr/>
        </p:nvSpPr>
        <p:spPr>
          <a:xfrm>
            <a:off x="6248095" y="6191402"/>
            <a:ext cx="819302" cy="209398"/>
          </a:xfrm>
          <a:prstGeom prst="roundRect">
            <a:avLst>
              <a:gd name="adj" fmla="val 15879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8" name="Text 38"/>
          <p:cNvSpPr txBox="1"/>
          <p:nvPr/>
        </p:nvSpPr>
        <p:spPr>
          <a:xfrm>
            <a:off x="6485839" y="6191402"/>
            <a:ext cx="639166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HSM 장애 </a:t>
            </a:r>
            <a:endParaRPr lang="en-US" sz="900" dirty="0"/>
          </a:p>
        </p:txBody>
      </p:sp>
      <p:sp>
        <p:nvSpPr>
          <p:cNvPr id="59" name="Shape 39"/>
          <p:cNvSpPr/>
          <p:nvPr/>
        </p:nvSpPr>
        <p:spPr>
          <a:xfrm>
            <a:off x="7173468" y="6191402"/>
            <a:ext cx="1171346" cy="209398"/>
          </a:xfrm>
          <a:prstGeom prst="roundRect">
            <a:avLst>
              <a:gd name="adj" fmla="val 15879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0" name="Text 40"/>
          <p:cNvSpPr txBox="1"/>
          <p:nvPr/>
        </p:nvSpPr>
        <p:spPr>
          <a:xfrm>
            <a:off x="7440473" y="6191402"/>
            <a:ext cx="961949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Server 다운 </a:t>
            </a:r>
            <a:endParaRPr lang="en-US" sz="900" dirty="0"/>
          </a:p>
        </p:txBody>
      </p:sp>
      <p:pic>
        <p:nvPicPr>
          <p:cNvPr id="61" name="Image 18" descr="preencoded.png"/>
          <p:cNvPicPr>
            <a:picLocks noChangeAspect="1"/>
          </p:cNvPicPr>
          <p:nvPr/>
        </p:nvPicPr>
        <p:blipFill>
          <a:blip r:embed="rId19"/>
          <a:srcRect t="-43" b="-43"/>
          <a:stretch/>
        </p:blipFill>
        <p:spPr>
          <a:xfrm>
            <a:off x="619049" y="3629254"/>
            <a:ext cx="133502" cy="152705"/>
          </a:xfrm>
          <a:prstGeom prst="rect">
            <a:avLst/>
          </a:prstGeom>
        </p:spPr>
      </p:pic>
      <p:sp>
        <p:nvSpPr>
          <p:cNvPr id="62" name="Shape 41"/>
          <p:cNvSpPr/>
          <p:nvPr/>
        </p:nvSpPr>
        <p:spPr>
          <a:xfrm>
            <a:off x="6248095" y="2457907"/>
            <a:ext cx="2980944" cy="190195"/>
          </a:xfrm>
          <a:prstGeom prst="roundRect">
            <a:avLst>
              <a:gd name="adj" fmla="val 192308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3" name="Text 42"/>
          <p:cNvSpPr txBox="1"/>
          <p:nvPr/>
        </p:nvSpPr>
        <p:spPr>
          <a:xfrm>
            <a:off x="6508699" y="2457907"/>
            <a:ext cx="3104388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Critical Impact: CA Root Key 유출 시 전역 신뢰 붕괴 </a:t>
            </a:r>
            <a:endParaRPr lang="en-US" sz="900" dirty="0"/>
          </a:p>
        </p:txBody>
      </p:sp>
      <p:pic>
        <p:nvPicPr>
          <p:cNvPr id="64" name="Image 19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6324905" y="2499970"/>
            <a:ext cx="114300" cy="114300"/>
          </a:xfrm>
          <a:prstGeom prst="rect">
            <a:avLst/>
          </a:prstGeom>
        </p:spPr>
      </p:pic>
      <p:pic>
        <p:nvPicPr>
          <p:cNvPr id="65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6334049" y="6243523"/>
            <a:ext cx="114300" cy="114300"/>
          </a:xfrm>
          <a:prstGeom prst="rect">
            <a:avLst/>
          </a:prstGeom>
        </p:spPr>
      </p:pic>
      <p:pic>
        <p:nvPicPr>
          <p:cNvPr id="66" name="Image 21" descr="preencoded.png"/>
          <p:cNvPicPr>
            <a:picLocks noChangeAspect="1"/>
          </p:cNvPicPr>
          <p:nvPr/>
        </p:nvPicPr>
        <p:blipFill>
          <a:blip r:embed="rId22"/>
          <a:srcRect t="-80" b="-80"/>
          <a:stretch/>
        </p:blipFill>
        <p:spPr>
          <a:xfrm>
            <a:off x="7258507" y="6243523"/>
            <a:ext cx="142646" cy="114300"/>
          </a:xfrm>
          <a:prstGeom prst="rect">
            <a:avLst/>
          </a:prstGeom>
        </p:spPr>
      </p:pic>
      <p:pic>
        <p:nvPicPr>
          <p:cNvPr id="67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457200" y="1429207"/>
            <a:ext cx="4572000" cy="1828800"/>
          </a:xfrm>
          <a:prstGeom prst="rect">
            <a:avLst/>
          </a:prstGeom>
        </p:spPr>
      </p:pic>
      <p:sp>
        <p:nvSpPr>
          <p:cNvPr id="68" name="Shape 43"/>
          <p:cNvSpPr/>
          <p:nvPr/>
        </p:nvSpPr>
        <p:spPr>
          <a:xfrm>
            <a:off x="466344" y="1438351"/>
            <a:ext cx="4552798" cy="1809598"/>
          </a:xfrm>
          <a:prstGeom prst="roundRect">
            <a:avLst>
              <a:gd name="adj" fmla="val 6383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69" name="Image 23" descr="preencoded.png"/>
          <p:cNvPicPr>
            <a:picLocks noChangeAspect="1"/>
          </p:cNvPicPr>
          <p:nvPr/>
        </p:nvPicPr>
        <p:blipFill>
          <a:blip r:embed="rId24"/>
          <a:srcRect t="14393" b="14393"/>
          <a:stretch/>
        </p:blipFill>
        <p:spPr>
          <a:xfrm>
            <a:off x="466344" y="1438351"/>
            <a:ext cx="4552798" cy="1809598"/>
          </a:xfrm>
          <a:prstGeom prst="rect">
            <a:avLst/>
          </a:prstGeom>
        </p:spPr>
      </p:pic>
      <p:sp>
        <p:nvSpPr>
          <p:cNvPr id="70" name="Shape 44"/>
          <p:cNvSpPr/>
          <p:nvPr/>
        </p:nvSpPr>
        <p:spPr>
          <a:xfrm>
            <a:off x="466344" y="2752344"/>
            <a:ext cx="4552798" cy="495605"/>
          </a:xfrm>
          <a:prstGeom prst="roundRect">
            <a:avLst>
              <a:gd name="adj" fmla="val 85155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1" name="Text 45"/>
          <p:cNvSpPr txBox="1"/>
          <p:nvPr/>
        </p:nvSpPr>
        <p:spPr>
          <a:xfrm>
            <a:off x="828446" y="2866644"/>
            <a:ext cx="4191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Single Point of Failure (SPoF) </a:t>
            </a:r>
            <a:endParaRPr lang="en-US" sz="1300" dirty="0"/>
          </a:p>
        </p:txBody>
      </p:sp>
      <p:pic>
        <p:nvPicPr>
          <p:cNvPr id="72" name="Image 24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580644" y="2915107"/>
            <a:ext cx="171907" cy="171907"/>
          </a:xfrm>
          <a:prstGeom prst="rect">
            <a:avLst/>
          </a:prstGeom>
        </p:spPr>
      </p:pic>
      <p:sp>
        <p:nvSpPr>
          <p:cNvPr id="73" name="Shape 46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74" name="Shape 47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5" name="Text 48"/>
          <p:cNvSpPr txBox="1"/>
          <p:nvPr/>
        </p:nvSpPr>
        <p:spPr>
          <a:xfrm>
            <a:off x="457200" y="6596482"/>
            <a:ext cx="220187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Threshold Cryptography Overview</a:t>
            </a:r>
            <a:endParaRPr lang="en-US" sz="900" dirty="0"/>
          </a:p>
        </p:txBody>
      </p:sp>
      <p:sp>
        <p:nvSpPr>
          <p:cNvPr id="76" name="Text 49"/>
          <p:cNvSpPr txBox="1"/>
          <p:nvPr/>
        </p:nvSpPr>
        <p:spPr>
          <a:xfrm>
            <a:off x="11224260" y="6577279"/>
            <a:ext cx="2386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000" dirty="0"/>
          </a:p>
        </p:txBody>
      </p:sp>
      <p:sp>
        <p:nvSpPr>
          <p:cNvPr id="77" name="Text 50"/>
          <p:cNvSpPr txBox="1"/>
          <p:nvPr/>
        </p:nvSpPr>
        <p:spPr>
          <a:xfrm>
            <a:off x="11458346" y="6577279"/>
            <a:ext cx="1335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endParaRPr lang="en-US" sz="1000" dirty="0"/>
          </a:p>
        </p:txBody>
      </p:sp>
      <p:sp>
        <p:nvSpPr>
          <p:cNvPr id="78" name="Text 51"/>
          <p:cNvSpPr txBox="1"/>
          <p:nvPr/>
        </p:nvSpPr>
        <p:spPr>
          <a:xfrm>
            <a:off x="11586362" y="6577279"/>
            <a:ext cx="228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0" y="0"/>
            <a:ext cx="6096305" cy="6858000"/>
          </a:xfrm>
          <a:prstGeom prst="rect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60000"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4495" y="1114654"/>
            <a:ext cx="115827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" name="Text 3"/>
          <p:cNvSpPr txBox="1"/>
          <p:nvPr/>
        </p:nvSpPr>
        <p:spPr>
          <a:xfrm>
            <a:off x="761695" y="304495"/>
            <a:ext cx="4362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Concept Overview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761695" y="533095"/>
            <a:ext cx="486826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Threshold Cryptography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9106510" y="694944"/>
            <a:ext cx="232531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신뢰의 분산과 보안 강화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t="-10" b="-10"/>
          <a:stretch/>
        </p:blipFill>
        <p:spPr>
          <a:xfrm>
            <a:off x="6248095" y="1352398"/>
            <a:ext cx="5486400" cy="130667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39205" y="1505102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05956" y="1571854"/>
            <a:ext cx="171907" cy="171907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858000" y="1505102"/>
            <a:ext cx="39246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Shares 분산 (Secret Sharing)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6858000" y="1809598"/>
            <a:ext cx="44961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Private Key </a:t>
            </a:r>
            <a:r>
              <a:rPr lang="en-US" sz="1000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K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여러 조각 </a:t>
            </a:r>
            <a:r>
              <a:rPr lang="en-US" sz="1000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Ki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나누어 각 참여자 </a:t>
            </a:r>
            <a:r>
              <a:rPr lang="en-US" sz="10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Pi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보유합니다. 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6858000" y="2121408"/>
            <a:ext cx="3810305" cy="352044"/>
          </a:xfrm>
          <a:prstGeom prst="roundRect">
            <a:avLst>
              <a:gd name="adj" fmla="val 5616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6" name="Shape 10"/>
          <p:cNvSpPr/>
          <p:nvPr/>
        </p:nvSpPr>
        <p:spPr>
          <a:xfrm>
            <a:off x="6858000" y="2121408"/>
            <a:ext cx="38405" cy="352044"/>
          </a:xfrm>
          <a:prstGeom prst="roundRect">
            <a:avLst>
              <a:gd name="adj" fmla="val 51479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 11"/>
          <p:cNvSpPr txBox="1"/>
          <p:nvPr/>
        </p:nvSpPr>
        <p:spPr>
          <a:xfrm>
            <a:off x="7048195" y="2198218"/>
            <a:ext cx="35817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Key K → Shares (K1, K2, ..., Kn)</a:t>
            </a:r>
            <a:endParaRPr lang="en-US" sz="10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t="-9" b="-9"/>
          <a:stretch/>
        </p:blipFill>
        <p:spPr>
          <a:xfrm>
            <a:off x="6248095" y="2811780"/>
            <a:ext cx="5486400" cy="1740103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439205" y="2963570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 l="-760" r="-760"/>
          <a:stretch/>
        </p:blipFill>
        <p:spPr>
          <a:xfrm>
            <a:off x="6515100" y="3030322"/>
            <a:ext cx="152705" cy="171907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858000" y="2963570"/>
            <a:ext cx="48390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Share의 보안성</a:t>
            </a:r>
            <a:endParaRPr lang="en-US" sz="1300" dirty="0"/>
          </a:p>
        </p:txBody>
      </p:sp>
      <p:sp>
        <p:nvSpPr>
          <p:cNvPr id="22" name="Text 14"/>
          <p:cNvSpPr txBox="1"/>
          <p:nvPr/>
        </p:nvSpPr>
        <p:spPr>
          <a:xfrm>
            <a:off x="6858000" y="3268980"/>
            <a:ext cx="4800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개별 참여자의 </a:t>
            </a:r>
            <a:r>
              <a:rPr lang="en-US" sz="1000" dirty="0">
                <a:solidFill>
                  <a:srgbClr val="7C3AE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Key Share (Ki)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만으로는 </a:t>
            </a: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단독으로는 완전한 서명/복호화를 수행할 수 없습니다.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각 참여자는 자신의 Share로 부분 연산(partial signature)을 수행하고, 이를 합쳐 최종 결과를 완성합니다. 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6858000" y="4014216"/>
            <a:ext cx="4724705" cy="352044"/>
          </a:xfrm>
          <a:prstGeom prst="roundRect">
            <a:avLst>
              <a:gd name="adj" fmla="val 5616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4" name="Shape 16"/>
          <p:cNvSpPr/>
          <p:nvPr/>
        </p:nvSpPr>
        <p:spPr>
          <a:xfrm>
            <a:off x="6858000" y="4014216"/>
            <a:ext cx="38405" cy="352044"/>
          </a:xfrm>
          <a:prstGeom prst="roundRect">
            <a:avLst>
              <a:gd name="adj" fmla="val 51479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5" name="Text 17"/>
          <p:cNvSpPr txBox="1"/>
          <p:nvPr/>
        </p:nvSpPr>
        <p:spPr>
          <a:xfrm>
            <a:off x="7048195" y="4090111"/>
            <a:ext cx="44961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 Op(Ki) + ... → Final Signature</a:t>
            </a:r>
            <a:endParaRPr lang="en-US" sz="10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l="-8" r="-8"/>
          <a:stretch/>
        </p:blipFill>
        <p:spPr>
          <a:xfrm>
            <a:off x="6248095" y="4703674"/>
            <a:ext cx="5486400" cy="1500530"/>
          </a:xfrm>
          <a:prstGeom prst="rect">
            <a:avLst/>
          </a:prstGeom>
        </p:spPr>
      </p:pic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rcRect l="-1064" r="-1064"/>
          <a:stretch/>
        </p:blipFill>
        <p:spPr>
          <a:xfrm>
            <a:off x="6482182" y="4922215"/>
            <a:ext cx="219456" cy="171907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6858000" y="4856378"/>
            <a:ext cx="42958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협력 기반 연산 (Threshold Operation)</a:t>
            </a:r>
            <a:endParaRPr lang="en-US" sz="1300" dirty="0"/>
          </a:p>
        </p:txBody>
      </p:sp>
      <p:sp>
        <p:nvSpPr>
          <p:cNvPr id="29" name="Text 19"/>
          <p:cNvSpPr txBox="1"/>
          <p:nvPr/>
        </p:nvSpPr>
        <p:spPr>
          <a:xfrm>
            <a:off x="6858000" y="5160874"/>
            <a:ext cx="516727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일정 개수(</a:t>
            </a:r>
            <a:r>
              <a:rPr lang="en-US" sz="10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이상의 Share가 모여야만 서명 생성이나 복호화가 가능합니다. </a:t>
            </a:r>
            <a:endParaRPr lang="en-US" sz="1000" dirty="0"/>
          </a:p>
        </p:txBody>
      </p:sp>
      <p:sp>
        <p:nvSpPr>
          <p:cNvPr id="30" name="Shape 20"/>
          <p:cNvSpPr/>
          <p:nvPr/>
        </p:nvSpPr>
        <p:spPr>
          <a:xfrm>
            <a:off x="6858000" y="5472684"/>
            <a:ext cx="4181551" cy="543154"/>
          </a:xfrm>
          <a:prstGeom prst="roundRect">
            <a:avLst>
              <a:gd name="adj" fmla="val 23628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1" name="Shape 21"/>
          <p:cNvSpPr/>
          <p:nvPr/>
        </p:nvSpPr>
        <p:spPr>
          <a:xfrm>
            <a:off x="6858000" y="5472684"/>
            <a:ext cx="38405" cy="543154"/>
          </a:xfrm>
          <a:prstGeom prst="roundRect">
            <a:avLst>
              <a:gd name="adj" fmla="val 334167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2" name="Text 22"/>
          <p:cNvSpPr txBox="1"/>
          <p:nvPr/>
        </p:nvSpPr>
        <p:spPr>
          <a:xfrm>
            <a:off x="7048195" y="5548579"/>
            <a:ext cx="39529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#Shares ≥ t → Operation Possible</a:t>
            </a:r>
            <a:endParaRPr lang="en-US" sz="1000" dirty="0"/>
          </a:p>
        </p:txBody>
      </p:sp>
      <p:sp>
        <p:nvSpPr>
          <p:cNvPr id="33" name="Text 23"/>
          <p:cNvSpPr txBox="1"/>
          <p:nvPr/>
        </p:nvSpPr>
        <p:spPr>
          <a:xfrm>
            <a:off x="7048195" y="5743346"/>
            <a:ext cx="39529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#Shares &lt; t → Operation Impossible</a:t>
            </a:r>
            <a:endParaRPr lang="en-US" sz="10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1"/>
          <a:srcRect l="-24" r="-24"/>
          <a:stretch/>
        </p:blipFill>
        <p:spPr>
          <a:xfrm>
            <a:off x="6248095" y="6432804"/>
            <a:ext cx="5486400" cy="647395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6362395" y="6547104"/>
            <a:ext cx="37627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Distributed Trust Model</a:t>
            </a:r>
            <a:endParaRPr lang="en-US" sz="900" dirty="0"/>
          </a:p>
        </p:txBody>
      </p:sp>
      <p:sp>
        <p:nvSpPr>
          <p:cNvPr id="36" name="Text 25"/>
          <p:cNvSpPr txBox="1"/>
          <p:nvPr/>
        </p:nvSpPr>
        <p:spPr>
          <a:xfrm>
            <a:off x="6362395" y="6737299"/>
            <a:ext cx="4310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Trust = Group of Participants (Not Single Device)</a:t>
            </a:r>
            <a:endParaRPr lang="en-US" sz="120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1430000" y="6661404"/>
            <a:ext cx="190195" cy="190195"/>
          </a:xfrm>
          <a:prstGeom prst="rect">
            <a:avLst/>
          </a:prstGeom>
        </p:spPr>
      </p:pic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57200" y="1276502"/>
            <a:ext cx="5486400" cy="5880506"/>
          </a:xfrm>
          <a:prstGeom prst="rect">
            <a:avLst/>
          </a:prstGeom>
        </p:spPr>
      </p:pic>
      <p:sp>
        <p:nvSpPr>
          <p:cNvPr id="39" name="Shape 26"/>
          <p:cNvSpPr/>
          <p:nvPr/>
        </p:nvSpPr>
        <p:spPr>
          <a:xfrm>
            <a:off x="466344" y="1285646"/>
            <a:ext cx="5467198" cy="466344"/>
          </a:xfrm>
          <a:prstGeom prst="roundRect">
            <a:avLst>
              <a:gd name="adj" fmla="val 128051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40" name="Shape 27"/>
          <p:cNvSpPr/>
          <p:nvPr/>
        </p:nvSpPr>
        <p:spPr>
          <a:xfrm>
            <a:off x="466344" y="1742846"/>
            <a:ext cx="5467198" cy="9144"/>
          </a:xfrm>
          <a:prstGeom prst="roundRect">
            <a:avLst>
              <a:gd name="adj" fmla="val 6530612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1" name="Text 28"/>
          <p:cNvSpPr txBox="1"/>
          <p:nvPr/>
        </p:nvSpPr>
        <p:spPr>
          <a:xfrm>
            <a:off x="942746" y="1399946"/>
            <a:ext cx="2496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Share Distribution Model</a:t>
            </a:r>
            <a:endParaRPr lang="en-US" sz="1200" dirty="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4"/>
          <a:srcRect l="-33" r="-33"/>
          <a:stretch/>
        </p:blipFill>
        <p:spPr>
          <a:xfrm>
            <a:off x="694944" y="1447495"/>
            <a:ext cx="171907" cy="152705"/>
          </a:xfrm>
          <a:prstGeom prst="rect">
            <a:avLst/>
          </a:prstGeom>
        </p:spPr>
      </p:pic>
      <p:sp>
        <p:nvSpPr>
          <p:cNvPr id="43" name="Shape 29"/>
          <p:cNvSpPr/>
          <p:nvPr/>
        </p:nvSpPr>
        <p:spPr>
          <a:xfrm>
            <a:off x="5286146" y="1457554"/>
            <a:ext cx="114300" cy="1143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4" name="Shape 30"/>
          <p:cNvSpPr/>
          <p:nvPr/>
        </p:nvSpPr>
        <p:spPr>
          <a:xfrm>
            <a:off x="5438851" y="1457554"/>
            <a:ext cx="114300" cy="1143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5" name="Shape 31"/>
          <p:cNvSpPr/>
          <p:nvPr/>
        </p:nvSpPr>
        <p:spPr>
          <a:xfrm>
            <a:off x="5591556" y="1457554"/>
            <a:ext cx="114300" cy="1143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6" name="Shape 32"/>
          <p:cNvSpPr/>
          <p:nvPr/>
        </p:nvSpPr>
        <p:spPr>
          <a:xfrm>
            <a:off x="466344" y="1752905"/>
            <a:ext cx="5467198" cy="45527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5"/>
          <a:srcRect l="75" r="75"/>
          <a:stretch/>
        </p:blipFill>
        <p:spPr>
          <a:xfrm>
            <a:off x="619049" y="2585009"/>
            <a:ext cx="5162702" cy="2885846"/>
          </a:xfrm>
          <a:prstGeom prst="rect">
            <a:avLst/>
          </a:prstGeom>
        </p:spPr>
      </p:pic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16">
            <a:alphaModFix amt="90000"/>
          </a:blip>
          <a:srcRect t="-31" b="-31"/>
          <a:stretch/>
        </p:blipFill>
        <p:spPr>
          <a:xfrm>
            <a:off x="619049" y="1904695"/>
            <a:ext cx="920801" cy="247802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705002" y="1952244"/>
            <a:ext cx="8961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Private Key K</a:t>
            </a:r>
            <a:endParaRPr lang="en-US" sz="900" dirty="0"/>
          </a:p>
        </p:txBody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7">
            <a:alphaModFix amt="90000"/>
          </a:blip>
          <a:srcRect t="-15" b="-15"/>
          <a:stretch/>
        </p:blipFill>
        <p:spPr>
          <a:xfrm>
            <a:off x="4411066" y="5899709"/>
            <a:ext cx="1370686" cy="247802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4497019" y="5947258"/>
            <a:ext cx="142829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5F4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Participants (P1...P5)</a:t>
            </a:r>
            <a:endParaRPr lang="en-US" sz="900" dirty="0"/>
          </a:p>
        </p:txBody>
      </p:sp>
      <p:sp>
        <p:nvSpPr>
          <p:cNvPr id="52" name="Shape 35"/>
          <p:cNvSpPr/>
          <p:nvPr/>
        </p:nvSpPr>
        <p:spPr>
          <a:xfrm>
            <a:off x="466344" y="6299302"/>
            <a:ext cx="5467198" cy="847649"/>
          </a:xfrm>
          <a:prstGeom prst="roundRect">
            <a:avLst>
              <a:gd name="adj" fmla="val 38786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53" name="Shape 36"/>
          <p:cNvSpPr/>
          <p:nvPr/>
        </p:nvSpPr>
        <p:spPr>
          <a:xfrm>
            <a:off x="466344" y="6299302"/>
            <a:ext cx="5467198" cy="9144"/>
          </a:xfrm>
          <a:prstGeom prst="roundRect">
            <a:avLst>
              <a:gd name="adj" fmla="val 3595506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4" name="Text 37"/>
          <p:cNvSpPr txBox="1"/>
          <p:nvPr/>
        </p:nvSpPr>
        <p:spPr>
          <a:xfrm>
            <a:off x="523951" y="6461150"/>
            <a:ext cx="53538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"논리적으로 존재하지만 물리적으로는 어디에도 없음"</a:t>
            </a:r>
            <a:endParaRPr lang="en-US" sz="1000" dirty="0"/>
          </a:p>
        </p:txBody>
      </p:sp>
      <p:sp>
        <p:nvSpPr>
          <p:cNvPr id="55" name="Text 38"/>
          <p:cNvSpPr txBox="1"/>
          <p:nvPr/>
        </p:nvSpPr>
        <p:spPr>
          <a:xfrm>
            <a:off x="580644" y="6689750"/>
            <a:ext cx="52395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Private Key는 생성 즉시 여러 조각(Share)으로 나뉘며,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완전한 키 형태는 어느 한 곳에도 존재하지 않습니다.</a:t>
            </a:r>
            <a:endParaRPr lang="en-US" sz="900" dirty="0"/>
          </a:p>
        </p:txBody>
      </p:sp>
      <p:sp>
        <p:nvSpPr>
          <p:cNvPr id="56" name="Shape 39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57" name="Shape 40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8" name="Text 41"/>
          <p:cNvSpPr txBox="1"/>
          <p:nvPr/>
        </p:nvSpPr>
        <p:spPr>
          <a:xfrm>
            <a:off x="457200" y="6596482"/>
            <a:ext cx="220187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Threshold Cryptography Overview</a:t>
            </a:r>
            <a:endParaRPr lang="en-US" sz="900" dirty="0"/>
          </a:p>
        </p:txBody>
      </p:sp>
      <p:sp>
        <p:nvSpPr>
          <p:cNvPr id="59" name="Text 42"/>
          <p:cNvSpPr txBox="1"/>
          <p:nvPr/>
        </p:nvSpPr>
        <p:spPr>
          <a:xfrm>
            <a:off x="11351362" y="6596482"/>
            <a:ext cx="2194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900" dirty="0"/>
          </a:p>
        </p:txBody>
      </p:sp>
      <p:sp>
        <p:nvSpPr>
          <p:cNvPr id="60" name="Text 43"/>
          <p:cNvSpPr txBox="1"/>
          <p:nvPr/>
        </p:nvSpPr>
        <p:spPr>
          <a:xfrm>
            <a:off x="11525098" y="6596482"/>
            <a:ext cx="124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endParaRPr lang="en-US" sz="900" dirty="0"/>
          </a:p>
        </p:txBody>
      </p:sp>
      <p:sp>
        <p:nvSpPr>
          <p:cNvPr id="61" name="Text 44"/>
          <p:cNvSpPr txBox="1"/>
          <p:nvPr/>
        </p:nvSpPr>
        <p:spPr>
          <a:xfrm>
            <a:off x="11607394" y="6596482"/>
            <a:ext cx="210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87898" y="0"/>
            <a:ext cx="8134502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60000"/>
          </a:blip>
          <a:srcRect/>
          <a:stretch/>
        </p:blipFill>
        <p:spPr>
          <a:xfrm>
            <a:off x="0" y="4419295"/>
            <a:ext cx="2438705" cy="24387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4495" y="1191463"/>
            <a:ext cx="115827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" name="Text 3"/>
          <p:cNvSpPr txBox="1"/>
          <p:nvPr/>
        </p:nvSpPr>
        <p:spPr>
          <a:xfrm>
            <a:off x="761695" y="381305"/>
            <a:ext cx="4200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Threshold Model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761695" y="609905"/>
            <a:ext cx="529346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(t, n) Model &amp; Trade-off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9230868" y="771754"/>
            <a:ext cx="22073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보안성과 가용성의 균형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3715207"/>
            <a:ext cx="4572000" cy="2915107"/>
          </a:xfrm>
          <a:prstGeom prst="roundRect">
            <a:avLst>
              <a:gd name="adj" fmla="val 246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1" name="Shape 7"/>
          <p:cNvSpPr/>
          <p:nvPr/>
        </p:nvSpPr>
        <p:spPr>
          <a:xfrm>
            <a:off x="657454" y="4257446"/>
            <a:ext cx="4172407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Text 8"/>
          <p:cNvSpPr txBox="1"/>
          <p:nvPr/>
        </p:nvSpPr>
        <p:spPr>
          <a:xfrm>
            <a:off x="886054" y="3914546"/>
            <a:ext cx="4134002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파라미터 정의 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760" r="-760"/>
          <a:stretch/>
        </p:blipFill>
        <p:spPr>
          <a:xfrm>
            <a:off x="657454" y="3962095"/>
            <a:ext cx="152705" cy="171907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l="-15" r="-15"/>
          <a:stretch/>
        </p:blipFill>
        <p:spPr>
          <a:xfrm>
            <a:off x="657454" y="4381805"/>
            <a:ext cx="2029054" cy="78089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80898" y="4505249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6" name="Text 10"/>
          <p:cNvSpPr txBox="1"/>
          <p:nvPr/>
        </p:nvSpPr>
        <p:spPr>
          <a:xfrm>
            <a:off x="743407" y="4505249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1162202" y="4581144"/>
            <a:ext cx="438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Total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780898" y="4848149"/>
            <a:ext cx="19238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참여자 수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l="-15" r="-15"/>
          <a:stretch/>
        </p:blipFill>
        <p:spPr>
          <a:xfrm>
            <a:off x="2800807" y="4381805"/>
            <a:ext cx="2029054" cy="78089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2924251" y="4505249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1" name="Text 14"/>
          <p:cNvSpPr txBox="1"/>
          <p:nvPr/>
        </p:nvSpPr>
        <p:spPr>
          <a:xfrm>
            <a:off x="2885846" y="4505249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3305556" y="4581144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Threshold</a:t>
            </a:r>
            <a:endParaRPr lang="en-US" sz="900" dirty="0"/>
          </a:p>
        </p:txBody>
      </p:sp>
      <p:sp>
        <p:nvSpPr>
          <p:cNvPr id="23" name="Text 16"/>
          <p:cNvSpPr txBox="1"/>
          <p:nvPr/>
        </p:nvSpPr>
        <p:spPr>
          <a:xfrm>
            <a:off x="2924251" y="4848149"/>
            <a:ext cx="19238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필요 참여자 수</a:t>
            </a:r>
            <a:endParaRPr lang="en-US" sz="10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 l="-7" r="-7"/>
          <a:stretch/>
        </p:blipFill>
        <p:spPr>
          <a:xfrm>
            <a:off x="457200" y="1429207"/>
            <a:ext cx="4572000" cy="2133295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466344" y="1438351"/>
            <a:ext cx="4552798" cy="2115007"/>
          </a:xfrm>
          <a:prstGeom prst="roundRect">
            <a:avLst>
              <a:gd name="adj" fmla="val 6232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t="89" b="89"/>
          <a:stretch/>
        </p:blipFill>
        <p:spPr>
          <a:xfrm>
            <a:off x="1121969" y="1591056"/>
            <a:ext cx="3247949" cy="180959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47726" y="1552651"/>
            <a:ext cx="1743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Example: (3, 5) Threshold</a:t>
            </a:r>
            <a:endParaRPr lang="en-US" sz="9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rcRect l="-13" r="-13"/>
          <a:stretch/>
        </p:blipFill>
        <p:spPr>
          <a:xfrm>
            <a:off x="657454" y="5419649"/>
            <a:ext cx="4172407" cy="1009498"/>
          </a:xfrm>
          <a:prstGeom prst="rect">
            <a:avLst/>
          </a:prstGeom>
        </p:spPr>
      </p:pic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rcRect l="-416" r="-416"/>
          <a:stretch/>
        </p:blipFill>
        <p:spPr>
          <a:xfrm>
            <a:off x="666598" y="5429707"/>
            <a:ext cx="38405" cy="990295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952805" y="5544007"/>
            <a:ext cx="38669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Security Condition </a:t>
            </a:r>
            <a:endParaRPr lang="en-US" sz="10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80898" y="5579669"/>
            <a:ext cx="133502" cy="133502"/>
          </a:xfrm>
          <a:prstGeom prst="rect">
            <a:avLst/>
          </a:prstGeom>
        </p:spPr>
      </p:pic>
      <p:sp>
        <p:nvSpPr>
          <p:cNvPr id="32" name="Shape 20"/>
          <p:cNvSpPr/>
          <p:nvPr/>
        </p:nvSpPr>
        <p:spPr>
          <a:xfrm>
            <a:off x="780898" y="5772607"/>
            <a:ext cx="3924605" cy="342900"/>
          </a:xfrm>
          <a:prstGeom prst="roundRect">
            <a:avLst>
              <a:gd name="adj" fmla="val 59259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3" name="Text 21"/>
          <p:cNvSpPr txBox="1"/>
          <p:nvPr/>
        </p:nvSpPr>
        <p:spPr>
          <a:xfrm>
            <a:off x="724205" y="5772607"/>
            <a:ext cx="4038905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38100" rIns="0" bIns="381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Corrupted Parties &lt; </a:t>
            </a:r>
            <a:r>
              <a:rPr lang="en-US" sz="1300" b="1" dirty="0">
                <a:solidFill>
                  <a:srgbClr val="0596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</a:t>
            </a:r>
            <a:endParaRPr lang="en-US" sz="1300" dirty="0"/>
          </a:p>
        </p:txBody>
      </p:sp>
      <p:sp>
        <p:nvSpPr>
          <p:cNvPr id="34" name="Text 22"/>
          <p:cNvSpPr txBox="1"/>
          <p:nvPr/>
        </p:nvSpPr>
        <p:spPr>
          <a:xfrm>
            <a:off x="685800" y="6152998"/>
            <a:ext cx="41148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공격자가 t명 미만을 장악하면 시스템은 안전함</a:t>
            </a:r>
            <a:endParaRPr lang="en-US" sz="90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3"/>
          <a:srcRect t="-4" b="-4"/>
          <a:stretch/>
        </p:blipFill>
        <p:spPr>
          <a:xfrm>
            <a:off x="5333695" y="1429207"/>
            <a:ext cx="6400800" cy="5201107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5886907" y="1666951"/>
            <a:ext cx="57250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Security vs Availability Trade-off </a:t>
            </a:r>
            <a:endParaRPr lang="en-US" sz="150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5572354" y="1705356"/>
            <a:ext cx="237744" cy="190195"/>
          </a:xfrm>
          <a:prstGeom prst="rect">
            <a:avLst/>
          </a:prstGeom>
        </p:spPr>
      </p:pic>
      <p:sp>
        <p:nvSpPr>
          <p:cNvPr id="38" name="Shape 24"/>
          <p:cNvSpPr/>
          <p:nvPr/>
        </p:nvSpPr>
        <p:spPr>
          <a:xfrm>
            <a:off x="5572354" y="2085746"/>
            <a:ext cx="5924398" cy="1295705"/>
          </a:xfrm>
          <a:prstGeom prst="roundRect">
            <a:avLst>
              <a:gd name="adj" fmla="val 830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9" name="Text 25"/>
          <p:cNvSpPr txBox="1"/>
          <p:nvPr/>
        </p:nvSpPr>
        <p:spPr>
          <a:xfrm>
            <a:off x="5734202" y="2257654"/>
            <a:ext cx="29132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Case A</a:t>
            </a: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 Threshold (낮은 t 값)</a:t>
            </a:r>
            <a:endParaRPr lang="en-US" sz="1200" dirty="0"/>
          </a:p>
        </p:txBody>
      </p:sp>
      <p:sp>
        <p:nvSpPr>
          <p:cNvPr id="40" name="Shape 26"/>
          <p:cNvSpPr/>
          <p:nvPr/>
        </p:nvSpPr>
        <p:spPr>
          <a:xfrm>
            <a:off x="10288829" y="2247595"/>
            <a:ext cx="1047902" cy="247802"/>
          </a:xfrm>
          <a:prstGeom prst="roundRect">
            <a:avLst>
              <a:gd name="adj" fmla="val 113540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1" name="Text 27"/>
          <p:cNvSpPr txBox="1"/>
          <p:nvPr/>
        </p:nvSpPr>
        <p:spPr>
          <a:xfrm>
            <a:off x="10288829" y="2247595"/>
            <a:ext cx="110551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Availability 우선</a:t>
            </a:r>
            <a:endParaRPr lang="en-US" sz="900" dirty="0"/>
          </a:p>
        </p:txBody>
      </p:sp>
      <p:sp>
        <p:nvSpPr>
          <p:cNvPr id="42" name="Text 28"/>
          <p:cNvSpPr txBox="1"/>
          <p:nvPr/>
        </p:nvSpPr>
        <p:spPr>
          <a:xfrm>
            <a:off x="5734202" y="2572207"/>
            <a:ext cx="123626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Availability (가용성)</a:t>
            </a:r>
            <a:endParaRPr lang="en-US" sz="900" dirty="0"/>
          </a:p>
        </p:txBody>
      </p:sp>
      <p:sp>
        <p:nvSpPr>
          <p:cNvPr id="43" name="Text 29"/>
          <p:cNvSpPr txBox="1"/>
          <p:nvPr/>
        </p:nvSpPr>
        <p:spPr>
          <a:xfrm>
            <a:off x="8077810" y="2572207"/>
            <a:ext cx="4572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</a:t>
            </a:r>
            <a:endParaRPr lang="en-US" sz="900" dirty="0"/>
          </a:p>
        </p:txBody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15"/>
          <a:srcRect l="-198" r="-198"/>
          <a:stretch/>
        </p:blipFill>
        <p:spPr>
          <a:xfrm>
            <a:off x="5734202" y="2762402"/>
            <a:ext cx="2723998" cy="75895"/>
          </a:xfrm>
          <a:prstGeom prst="rect">
            <a:avLst/>
          </a:prstGeom>
        </p:spPr>
      </p:pic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16"/>
          <a:srcRect l="-196" r="-196"/>
          <a:stretch/>
        </p:blipFill>
        <p:spPr>
          <a:xfrm>
            <a:off x="5734202" y="2762402"/>
            <a:ext cx="2315261" cy="75895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8610905" y="2572207"/>
            <a:ext cx="10543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Security (보안성)</a:t>
            </a:r>
            <a:endParaRPr lang="en-US" sz="900" dirty="0"/>
          </a:p>
        </p:txBody>
      </p:sp>
      <p:sp>
        <p:nvSpPr>
          <p:cNvPr id="47" name="Text 31"/>
          <p:cNvSpPr txBox="1"/>
          <p:nvPr/>
        </p:nvSpPr>
        <p:spPr>
          <a:xfrm>
            <a:off x="10984687" y="2572207"/>
            <a:ext cx="4288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 </a:t>
            </a:r>
            <a:endParaRPr lang="en-US" sz="900" dirty="0"/>
          </a:p>
        </p:txBody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15"/>
          <a:srcRect l="-198" r="-198"/>
          <a:stretch/>
        </p:blipFill>
        <p:spPr>
          <a:xfrm>
            <a:off x="8610905" y="2762402"/>
            <a:ext cx="2723998" cy="75895"/>
          </a:xfrm>
          <a:prstGeom prst="rect">
            <a:avLst/>
          </a:prstGeom>
        </p:spPr>
      </p:pic>
      <p:pic>
        <p:nvPicPr>
          <p:cNvPr id="49" name="Image 15" descr="preencoded.png"/>
          <p:cNvPicPr>
            <a:picLocks noChangeAspect="1"/>
          </p:cNvPicPr>
          <p:nvPr/>
        </p:nvPicPr>
        <p:blipFill>
          <a:blip r:embed="rId17"/>
          <a:srcRect l="-219" r="-219"/>
          <a:stretch/>
        </p:blipFill>
        <p:spPr>
          <a:xfrm>
            <a:off x="8610905" y="2762402"/>
            <a:ext cx="1089965" cy="75895"/>
          </a:xfrm>
          <a:prstGeom prst="rect">
            <a:avLst/>
          </a:prstGeom>
        </p:spPr>
      </p:pic>
      <p:sp>
        <p:nvSpPr>
          <p:cNvPr id="50" name="Text 32"/>
          <p:cNvSpPr txBox="1"/>
          <p:nvPr/>
        </p:nvSpPr>
        <p:spPr>
          <a:xfrm>
            <a:off x="5994806" y="2915107"/>
            <a:ext cx="541690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적은 수의 참여자만으로 복구 가능하지만, 소수 공모로 키 노출 위험 증가 </a:t>
            </a:r>
            <a:endParaRPr lang="en-US" sz="900" dirty="0"/>
          </a:p>
        </p:txBody>
      </p:sp>
      <p:sp>
        <p:nvSpPr>
          <p:cNvPr id="51" name="Shape 33"/>
          <p:cNvSpPr/>
          <p:nvPr/>
        </p:nvSpPr>
        <p:spPr>
          <a:xfrm>
            <a:off x="5572354" y="3534156"/>
            <a:ext cx="5924398" cy="1295705"/>
          </a:xfrm>
          <a:prstGeom prst="roundRect">
            <a:avLst>
              <a:gd name="adj" fmla="val 830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2" name="Text 34"/>
          <p:cNvSpPr txBox="1"/>
          <p:nvPr/>
        </p:nvSpPr>
        <p:spPr>
          <a:xfrm>
            <a:off x="5734202" y="3705149"/>
            <a:ext cx="29589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Case B</a:t>
            </a: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Threshold (높은 t 값)</a:t>
            </a:r>
            <a:endParaRPr lang="en-US" sz="1200" dirty="0"/>
          </a:p>
        </p:txBody>
      </p:sp>
      <p:sp>
        <p:nvSpPr>
          <p:cNvPr id="53" name="Shape 35"/>
          <p:cNvSpPr/>
          <p:nvPr/>
        </p:nvSpPr>
        <p:spPr>
          <a:xfrm>
            <a:off x="10451592" y="3696005"/>
            <a:ext cx="886054" cy="247802"/>
          </a:xfrm>
          <a:prstGeom prst="roundRect">
            <a:avLst>
              <a:gd name="adj" fmla="val 113540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4" name="Text 36"/>
          <p:cNvSpPr txBox="1"/>
          <p:nvPr/>
        </p:nvSpPr>
        <p:spPr>
          <a:xfrm>
            <a:off x="10451592" y="3696005"/>
            <a:ext cx="94366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Security 우선</a:t>
            </a:r>
            <a:endParaRPr lang="en-US" sz="900" dirty="0"/>
          </a:p>
        </p:txBody>
      </p:sp>
      <p:sp>
        <p:nvSpPr>
          <p:cNvPr id="55" name="Text 37"/>
          <p:cNvSpPr txBox="1"/>
          <p:nvPr/>
        </p:nvSpPr>
        <p:spPr>
          <a:xfrm>
            <a:off x="5734202" y="4019702"/>
            <a:ext cx="123626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Availability (가용성)</a:t>
            </a:r>
            <a:endParaRPr lang="en-US" sz="900" dirty="0"/>
          </a:p>
        </p:txBody>
      </p:sp>
      <p:sp>
        <p:nvSpPr>
          <p:cNvPr id="56" name="Text 38"/>
          <p:cNvSpPr txBox="1"/>
          <p:nvPr/>
        </p:nvSpPr>
        <p:spPr>
          <a:xfrm>
            <a:off x="8107985" y="4019702"/>
            <a:ext cx="4288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 </a:t>
            </a:r>
            <a:endParaRPr lang="en-US" sz="900" dirty="0"/>
          </a:p>
        </p:txBody>
      </p:sp>
      <p:pic>
        <p:nvPicPr>
          <p:cNvPr id="57" name="Image 16" descr="preencoded.png"/>
          <p:cNvPicPr>
            <a:picLocks noChangeAspect="1"/>
          </p:cNvPicPr>
          <p:nvPr/>
        </p:nvPicPr>
        <p:blipFill>
          <a:blip r:embed="rId15"/>
          <a:srcRect l="-198" r="-198"/>
          <a:stretch/>
        </p:blipFill>
        <p:spPr>
          <a:xfrm>
            <a:off x="5734202" y="4209898"/>
            <a:ext cx="2723998" cy="75895"/>
          </a:xfrm>
          <a:prstGeom prst="rect">
            <a:avLst/>
          </a:prstGeom>
        </p:spPr>
      </p:pic>
      <p:pic>
        <p:nvPicPr>
          <p:cNvPr id="58" name="Image 17" descr="preencoded.png"/>
          <p:cNvPicPr>
            <a:picLocks noChangeAspect="1"/>
          </p:cNvPicPr>
          <p:nvPr/>
        </p:nvPicPr>
        <p:blipFill>
          <a:blip r:embed="rId18"/>
          <a:srcRect l="-218" r="-218"/>
          <a:stretch/>
        </p:blipFill>
        <p:spPr>
          <a:xfrm>
            <a:off x="5734202" y="4209898"/>
            <a:ext cx="953719" cy="75895"/>
          </a:xfrm>
          <a:prstGeom prst="rect">
            <a:avLst/>
          </a:prstGeom>
        </p:spPr>
      </p:pic>
      <p:sp>
        <p:nvSpPr>
          <p:cNvPr id="59" name="Text 39"/>
          <p:cNvSpPr txBox="1"/>
          <p:nvPr/>
        </p:nvSpPr>
        <p:spPr>
          <a:xfrm>
            <a:off x="8610905" y="4019702"/>
            <a:ext cx="10543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Security (보안성)</a:t>
            </a:r>
            <a:endParaRPr lang="en-US" sz="900" dirty="0"/>
          </a:p>
        </p:txBody>
      </p:sp>
      <p:sp>
        <p:nvSpPr>
          <p:cNvPr id="60" name="Text 40"/>
          <p:cNvSpPr txBox="1"/>
          <p:nvPr/>
        </p:nvSpPr>
        <p:spPr>
          <a:xfrm>
            <a:off x="10954512" y="4019702"/>
            <a:ext cx="4572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</a:t>
            </a:r>
            <a:endParaRPr lang="en-US" sz="900" dirty="0"/>
          </a:p>
        </p:txBody>
      </p:sp>
      <p:pic>
        <p:nvPicPr>
          <p:cNvPr id="61" name="Image 18" descr="preencoded.png"/>
          <p:cNvPicPr>
            <a:picLocks noChangeAspect="1"/>
          </p:cNvPicPr>
          <p:nvPr/>
        </p:nvPicPr>
        <p:blipFill>
          <a:blip r:embed="rId15"/>
          <a:srcRect l="-198" r="-198"/>
          <a:stretch/>
        </p:blipFill>
        <p:spPr>
          <a:xfrm>
            <a:off x="8610905" y="4209898"/>
            <a:ext cx="2723998" cy="75895"/>
          </a:xfrm>
          <a:prstGeom prst="rect">
            <a:avLst/>
          </a:prstGeom>
        </p:spPr>
      </p:pic>
      <p:pic>
        <p:nvPicPr>
          <p:cNvPr id="62" name="Image 19" descr="preencoded.png"/>
          <p:cNvPicPr>
            <a:picLocks noChangeAspect="1"/>
          </p:cNvPicPr>
          <p:nvPr/>
        </p:nvPicPr>
        <p:blipFill>
          <a:blip r:embed="rId19"/>
          <a:srcRect l="-198" r="-198"/>
          <a:stretch/>
        </p:blipFill>
        <p:spPr>
          <a:xfrm>
            <a:off x="8610905" y="4209898"/>
            <a:ext cx="2451506" cy="75895"/>
          </a:xfrm>
          <a:prstGeom prst="rect">
            <a:avLst/>
          </a:prstGeom>
        </p:spPr>
      </p:pic>
      <p:sp>
        <p:nvSpPr>
          <p:cNvPr id="63" name="Text 41"/>
          <p:cNvSpPr txBox="1"/>
          <p:nvPr/>
        </p:nvSpPr>
        <p:spPr>
          <a:xfrm>
            <a:off x="5994806" y="4362602"/>
            <a:ext cx="541690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많은 참여자가 필요해 키 노출은 어렵지만, 몇 명의 장애로도 서비스 중단 가능성 </a:t>
            </a:r>
            <a:endParaRPr lang="en-US" sz="900" dirty="0"/>
          </a:p>
        </p:txBody>
      </p:sp>
      <p:pic>
        <p:nvPicPr>
          <p:cNvPr id="64" name="Image 20" descr="preencoded.png"/>
          <p:cNvPicPr>
            <a:picLocks noChangeAspect="1"/>
          </p:cNvPicPr>
          <p:nvPr/>
        </p:nvPicPr>
        <p:blipFill>
          <a:blip r:embed="rId20"/>
          <a:srcRect t="-17" b="-17"/>
          <a:stretch/>
        </p:blipFill>
        <p:spPr>
          <a:xfrm>
            <a:off x="5572354" y="5438851"/>
            <a:ext cx="5924398" cy="952805"/>
          </a:xfrm>
          <a:prstGeom prst="rect">
            <a:avLst/>
          </a:prstGeom>
        </p:spPr>
      </p:pic>
      <p:sp>
        <p:nvSpPr>
          <p:cNvPr id="65" name="Shape 42"/>
          <p:cNvSpPr/>
          <p:nvPr/>
        </p:nvSpPr>
        <p:spPr>
          <a:xfrm>
            <a:off x="5686654" y="5553151"/>
            <a:ext cx="647395" cy="190195"/>
          </a:xfrm>
          <a:prstGeom prst="roundRect">
            <a:avLst>
              <a:gd name="adj" fmla="val 192308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6" name="Text 43"/>
          <p:cNvSpPr txBox="1"/>
          <p:nvPr/>
        </p:nvSpPr>
        <p:spPr>
          <a:xfrm>
            <a:off x="5686654" y="5553151"/>
            <a:ext cx="7242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Scenario</a:t>
            </a:r>
            <a:endParaRPr lang="en-US" sz="900" dirty="0"/>
          </a:p>
        </p:txBody>
      </p:sp>
      <p:sp>
        <p:nvSpPr>
          <p:cNvPr id="67" name="Text 44"/>
          <p:cNvSpPr txBox="1"/>
          <p:nvPr/>
        </p:nvSpPr>
        <p:spPr>
          <a:xfrm>
            <a:off x="6406286" y="5553151"/>
            <a:ext cx="26298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Example: (3, 5) Threshold System</a:t>
            </a:r>
            <a:endParaRPr lang="en-US" sz="1000" dirty="0"/>
          </a:p>
        </p:txBody>
      </p:sp>
      <p:sp>
        <p:nvSpPr>
          <p:cNvPr id="68" name="Shape 45"/>
          <p:cNvSpPr/>
          <p:nvPr/>
        </p:nvSpPr>
        <p:spPr>
          <a:xfrm>
            <a:off x="5686654" y="5820156"/>
            <a:ext cx="2809951" cy="457200"/>
          </a:xfrm>
          <a:prstGeom prst="roundRect">
            <a:avLst>
              <a:gd name="adj" fmla="val 33333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69" name="Image 21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5762549" y="5962802"/>
            <a:ext cx="171907" cy="171907"/>
          </a:xfrm>
          <a:prstGeom prst="rect">
            <a:avLst/>
          </a:prstGeom>
        </p:spPr>
      </p:pic>
      <p:sp>
        <p:nvSpPr>
          <p:cNvPr id="70" name="Text 46"/>
          <p:cNvSpPr txBox="1"/>
          <p:nvPr/>
        </p:nvSpPr>
        <p:spPr>
          <a:xfrm>
            <a:off x="6010351" y="5896051"/>
            <a:ext cx="14008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Security:</a:t>
            </a:r>
            <a:endParaRPr lang="en-US" sz="900" dirty="0"/>
          </a:p>
        </p:txBody>
      </p:sp>
      <p:sp>
        <p:nvSpPr>
          <p:cNvPr id="71" name="Text 47"/>
          <p:cNvSpPr txBox="1"/>
          <p:nvPr/>
        </p:nvSpPr>
        <p:spPr>
          <a:xfrm>
            <a:off x="6010351" y="6048756"/>
            <a:ext cx="169346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2명(t-1)까지 부패해도 안전</a:t>
            </a:r>
            <a:endParaRPr lang="en-US" sz="900" dirty="0"/>
          </a:p>
        </p:txBody>
      </p:sp>
      <p:sp>
        <p:nvSpPr>
          <p:cNvPr id="72" name="Shape 48"/>
          <p:cNvSpPr/>
          <p:nvPr/>
        </p:nvSpPr>
        <p:spPr>
          <a:xfrm>
            <a:off x="8572500" y="5820156"/>
            <a:ext cx="2809951" cy="457200"/>
          </a:xfrm>
          <a:prstGeom prst="roundRect">
            <a:avLst>
              <a:gd name="adj" fmla="val 33333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73" name="Image 22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8648395" y="5962802"/>
            <a:ext cx="171907" cy="171907"/>
          </a:xfrm>
          <a:prstGeom prst="rect">
            <a:avLst/>
          </a:prstGeom>
        </p:spPr>
      </p:pic>
      <p:sp>
        <p:nvSpPr>
          <p:cNvPr id="74" name="Text 49"/>
          <p:cNvSpPr txBox="1"/>
          <p:nvPr/>
        </p:nvSpPr>
        <p:spPr>
          <a:xfrm>
            <a:off x="8896198" y="5896051"/>
            <a:ext cx="12006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Availability:</a:t>
            </a:r>
            <a:endParaRPr lang="en-US" sz="900" dirty="0"/>
          </a:p>
        </p:txBody>
      </p:sp>
      <p:sp>
        <p:nvSpPr>
          <p:cNvPr id="75" name="Text 50"/>
          <p:cNvSpPr txBox="1"/>
          <p:nvPr/>
        </p:nvSpPr>
        <p:spPr>
          <a:xfrm>
            <a:off x="8896198" y="6048756"/>
            <a:ext cx="13377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2명(n-t)까지 장애 허용</a:t>
            </a:r>
            <a:endParaRPr lang="en-US" sz="900" dirty="0"/>
          </a:p>
        </p:txBody>
      </p:sp>
      <p:pic>
        <p:nvPicPr>
          <p:cNvPr id="76" name="Image 23" descr="preencoded.png"/>
          <p:cNvPicPr>
            <a:picLocks noChangeAspect="1"/>
          </p:cNvPicPr>
          <p:nvPr/>
        </p:nvPicPr>
        <p:blipFill>
          <a:blip r:embed="rId23"/>
          <a:srcRect l="-133" r="-133"/>
          <a:stretch/>
        </p:blipFill>
        <p:spPr>
          <a:xfrm>
            <a:off x="8372246" y="2595982"/>
            <a:ext cx="85954" cy="114300"/>
          </a:xfrm>
          <a:prstGeom prst="rect">
            <a:avLst/>
          </a:prstGeom>
        </p:spPr>
      </p:pic>
      <p:pic>
        <p:nvPicPr>
          <p:cNvPr id="77" name="Image 24" descr="preencoded.png"/>
          <p:cNvPicPr>
            <a:picLocks noChangeAspect="1"/>
          </p:cNvPicPr>
          <p:nvPr/>
        </p:nvPicPr>
        <p:blipFill>
          <a:blip r:embed="rId24"/>
          <a:srcRect l="-133" r="-133"/>
          <a:stretch/>
        </p:blipFill>
        <p:spPr>
          <a:xfrm>
            <a:off x="11248949" y="2595982"/>
            <a:ext cx="85954" cy="114300"/>
          </a:xfrm>
          <a:prstGeom prst="rect">
            <a:avLst/>
          </a:prstGeom>
        </p:spPr>
      </p:pic>
      <p:pic>
        <p:nvPicPr>
          <p:cNvPr id="78" name="Image 25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5810098" y="3014777"/>
            <a:ext cx="114300" cy="114300"/>
          </a:xfrm>
          <a:prstGeom prst="rect">
            <a:avLst/>
          </a:prstGeom>
        </p:spPr>
      </p:pic>
      <p:pic>
        <p:nvPicPr>
          <p:cNvPr id="79" name="Image 26" descr="preencoded.png"/>
          <p:cNvPicPr>
            <a:picLocks noChangeAspect="1"/>
          </p:cNvPicPr>
          <p:nvPr/>
        </p:nvPicPr>
        <p:blipFill>
          <a:blip r:embed="rId24"/>
          <a:srcRect l="-133" r="-133"/>
          <a:stretch/>
        </p:blipFill>
        <p:spPr>
          <a:xfrm>
            <a:off x="8372246" y="4043477"/>
            <a:ext cx="85954" cy="114300"/>
          </a:xfrm>
          <a:prstGeom prst="rect">
            <a:avLst/>
          </a:prstGeom>
        </p:spPr>
      </p:pic>
      <p:pic>
        <p:nvPicPr>
          <p:cNvPr id="80" name="Image 27" descr="preencoded.png"/>
          <p:cNvPicPr>
            <a:picLocks noChangeAspect="1"/>
          </p:cNvPicPr>
          <p:nvPr/>
        </p:nvPicPr>
        <p:blipFill>
          <a:blip r:embed="rId26"/>
          <a:srcRect l="-133" r="-133"/>
          <a:stretch/>
        </p:blipFill>
        <p:spPr>
          <a:xfrm>
            <a:off x="11248949" y="4043477"/>
            <a:ext cx="85954" cy="114300"/>
          </a:xfrm>
          <a:prstGeom prst="rect">
            <a:avLst/>
          </a:prstGeom>
        </p:spPr>
      </p:pic>
      <p:pic>
        <p:nvPicPr>
          <p:cNvPr id="81" name="Image 28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5810098" y="4462272"/>
            <a:ext cx="114300" cy="114300"/>
          </a:xfrm>
          <a:prstGeom prst="rect">
            <a:avLst/>
          </a:prstGeom>
        </p:spPr>
      </p:pic>
      <p:sp>
        <p:nvSpPr>
          <p:cNvPr id="82" name="Shape 51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83" name="Shape 52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4" name="Text 53"/>
          <p:cNvSpPr txBox="1"/>
          <p:nvPr/>
        </p:nvSpPr>
        <p:spPr>
          <a:xfrm>
            <a:off x="457200" y="6596482"/>
            <a:ext cx="220187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Threshold Cryptography Overview</a:t>
            </a:r>
            <a:endParaRPr lang="en-US" sz="900" dirty="0"/>
          </a:p>
        </p:txBody>
      </p:sp>
      <p:sp>
        <p:nvSpPr>
          <p:cNvPr id="85" name="Text 54"/>
          <p:cNvSpPr txBox="1"/>
          <p:nvPr/>
        </p:nvSpPr>
        <p:spPr>
          <a:xfrm>
            <a:off x="11351362" y="6596482"/>
            <a:ext cx="2194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900" dirty="0"/>
          </a:p>
        </p:txBody>
      </p:sp>
      <p:sp>
        <p:nvSpPr>
          <p:cNvPr id="86" name="Text 55"/>
          <p:cNvSpPr txBox="1"/>
          <p:nvPr/>
        </p:nvSpPr>
        <p:spPr>
          <a:xfrm>
            <a:off x="11525098" y="6596482"/>
            <a:ext cx="124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endParaRPr lang="en-US" sz="900" dirty="0"/>
          </a:p>
        </p:txBody>
      </p:sp>
      <p:sp>
        <p:nvSpPr>
          <p:cNvPr id="87" name="Text 56"/>
          <p:cNvSpPr txBox="1"/>
          <p:nvPr/>
        </p:nvSpPr>
        <p:spPr>
          <a:xfrm>
            <a:off x="11607394" y="6596482"/>
            <a:ext cx="210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" name="Shape 2"/>
          <p:cNvSpPr/>
          <p:nvPr/>
        </p:nvSpPr>
        <p:spPr>
          <a:xfrm>
            <a:off x="9296705" y="-761695"/>
            <a:ext cx="3657600" cy="3657600"/>
          </a:xfrm>
          <a:prstGeom prst="ellipse">
            <a:avLst/>
          </a:prstGeom>
          <a:solidFill>
            <a:srgbClr val="EDE9FE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" name="Shape 3"/>
          <p:cNvSpPr/>
          <p:nvPr/>
        </p:nvSpPr>
        <p:spPr>
          <a:xfrm>
            <a:off x="761695" y="3810305"/>
            <a:ext cx="3047695" cy="3047695"/>
          </a:xfrm>
          <a:prstGeom prst="ellipse">
            <a:avLst/>
          </a:prstGeom>
          <a:solidFill>
            <a:srgbClr val="DBEAFE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" name="Shape 4"/>
          <p:cNvSpPr/>
          <p:nvPr/>
        </p:nvSpPr>
        <p:spPr>
          <a:xfrm>
            <a:off x="304495" y="1191463"/>
            <a:ext cx="115827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61695" y="381305"/>
            <a:ext cx="3963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Verifiable Secret Sharing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609905"/>
            <a:ext cx="46552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VSS Evolution Process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8298180" y="771754"/>
            <a:ext cx="31400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가능한 키 분산 기술의 진화</a:t>
            </a:r>
            <a:endParaRPr lang="en-US" sz="15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8" b="-8"/>
          <a:stretch/>
        </p:blipFill>
        <p:spPr>
          <a:xfrm>
            <a:off x="304495" y="1429207"/>
            <a:ext cx="3733495" cy="5201107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5605" y="1657807"/>
            <a:ext cx="381305" cy="381305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9846" y="1762049"/>
            <a:ext cx="171907" cy="17190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90295" y="1714500"/>
            <a:ext cx="22677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Shamir Secret Sharing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495605" y="2152498"/>
            <a:ext cx="3353105" cy="3400654"/>
          </a:xfrm>
          <a:prstGeom prst="roundRect">
            <a:avLst>
              <a:gd name="adj" fmla="val 1240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6" name="Text 10"/>
          <p:cNvSpPr txBox="1"/>
          <p:nvPr/>
        </p:nvSpPr>
        <p:spPr>
          <a:xfrm>
            <a:off x="619049" y="2276856"/>
            <a:ext cx="3219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Polynomial Generation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619049" y="2467051"/>
            <a:ext cx="3105302" cy="371246"/>
          </a:xfrm>
          <a:prstGeom prst="roundRect">
            <a:avLst>
              <a:gd name="adj" fmla="val 7578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8" name="Text 12"/>
          <p:cNvSpPr txBox="1"/>
          <p:nvPr/>
        </p:nvSpPr>
        <p:spPr>
          <a:xfrm>
            <a:off x="580644" y="2467051"/>
            <a:ext cx="3182112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76200" rIns="38100" bIns="7620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f(x) = a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a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 + ... + a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t-1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t-1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562356" y="2906878"/>
            <a:ext cx="3219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Secret:</a:t>
            </a: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</a:t>
            </a:r>
            <a:r>
              <a:rPr lang="en-US" sz="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s 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562356" y="3097073"/>
            <a:ext cx="3219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Share Generation:</a:t>
            </a: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share</a:t>
            </a:r>
            <a:r>
              <a:rPr lang="en-US" sz="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</a:t>
            </a: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f(i) 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495605" y="5667451"/>
            <a:ext cx="34290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Dealer가 다항식을 생성하여 각 참여자에게 f(i)를 전달함. t개 이상의 share가 모이면 복원 가능.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495605" y="6115507"/>
            <a:ext cx="3353105" cy="323698"/>
          </a:xfrm>
          <a:prstGeom prst="roundRect">
            <a:avLst>
              <a:gd name="adj" fmla="val 132934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19049" y="6210605"/>
            <a:ext cx="133502" cy="13350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28446" y="6115507"/>
            <a:ext cx="267736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Problem: Dealer의 부정직함(가짜 share) 감지 불가</a:t>
            </a:r>
            <a:endParaRPr lang="en-US" sz="9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 l="-607" r="-607"/>
          <a:stretch/>
        </p:blipFill>
        <p:spPr>
          <a:xfrm>
            <a:off x="3972154" y="3899002"/>
            <a:ext cx="181051" cy="286207"/>
          </a:xfrm>
          <a:prstGeom prst="rect">
            <a:avLst/>
          </a:prstGeom>
        </p:spPr>
      </p:pic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t="-8" b="-8"/>
          <a:stretch/>
        </p:blipFill>
        <p:spPr>
          <a:xfrm>
            <a:off x="4229100" y="1429207"/>
            <a:ext cx="3733495" cy="5201107"/>
          </a:xfrm>
          <a:prstGeom prst="rect">
            <a:avLst/>
          </a:prstGeom>
        </p:spPr>
      </p:pic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419295" y="1657807"/>
            <a:ext cx="381305" cy="381305"/>
          </a:xfrm>
          <a:prstGeom prst="rect">
            <a:avLst/>
          </a:prstGeom>
        </p:spPr>
      </p:pic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1"/>
          <a:srcRect l="-760" r="-760"/>
          <a:stretch/>
        </p:blipFill>
        <p:spPr>
          <a:xfrm>
            <a:off x="4533595" y="1762049"/>
            <a:ext cx="152705" cy="171907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4914900" y="1714500"/>
            <a:ext cx="12143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Feldman VSS</a:t>
            </a:r>
            <a:endParaRPr lang="en-US" sz="1300" dirty="0"/>
          </a:p>
        </p:txBody>
      </p:sp>
      <p:sp>
        <p:nvSpPr>
          <p:cNvPr id="30" name="Shape 19"/>
          <p:cNvSpPr/>
          <p:nvPr/>
        </p:nvSpPr>
        <p:spPr>
          <a:xfrm>
            <a:off x="4419295" y="2152498"/>
            <a:ext cx="3353105" cy="3076956"/>
          </a:xfrm>
          <a:prstGeom prst="roundRect">
            <a:avLst>
              <a:gd name="adj" fmla="val 1472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1" name="Text 20"/>
          <p:cNvSpPr txBox="1"/>
          <p:nvPr/>
        </p:nvSpPr>
        <p:spPr>
          <a:xfrm>
            <a:off x="4543654" y="2276856"/>
            <a:ext cx="3219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6366F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Verification Logic</a:t>
            </a:r>
            <a:endParaRPr lang="en-US" sz="900" dirty="0"/>
          </a:p>
        </p:txBody>
      </p:sp>
      <p:sp>
        <p:nvSpPr>
          <p:cNvPr id="32" name="Shape 21"/>
          <p:cNvSpPr/>
          <p:nvPr/>
        </p:nvSpPr>
        <p:spPr>
          <a:xfrm>
            <a:off x="4543654" y="2467051"/>
            <a:ext cx="3105302" cy="371246"/>
          </a:xfrm>
          <a:prstGeom prst="roundRect">
            <a:avLst>
              <a:gd name="adj" fmla="val 7578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3" name="Text 22"/>
          <p:cNvSpPr txBox="1"/>
          <p:nvPr/>
        </p:nvSpPr>
        <p:spPr>
          <a:xfrm>
            <a:off x="4505249" y="2467051"/>
            <a:ext cx="3182112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76200" rIns="38100" bIns="7620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Commitment: C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g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(public) </a:t>
            </a:r>
            <a:endParaRPr lang="en-US" sz="1000" dirty="0"/>
          </a:p>
        </p:txBody>
      </p:sp>
      <p:sp>
        <p:nvSpPr>
          <p:cNvPr id="34" name="Text 23"/>
          <p:cNvSpPr txBox="1"/>
          <p:nvPr/>
        </p:nvSpPr>
        <p:spPr>
          <a:xfrm>
            <a:off x="4486046" y="2906878"/>
            <a:ext cx="3219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30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Verification Equation:</a:t>
            </a:r>
            <a:endParaRPr lang="en-US" sz="900" dirty="0"/>
          </a:p>
        </p:txBody>
      </p:sp>
      <p:sp>
        <p:nvSpPr>
          <p:cNvPr id="35" name="Shape 24"/>
          <p:cNvSpPr/>
          <p:nvPr/>
        </p:nvSpPr>
        <p:spPr>
          <a:xfrm>
            <a:off x="4543654" y="3097073"/>
            <a:ext cx="3105302" cy="371246"/>
          </a:xfrm>
          <a:prstGeom prst="roundRect">
            <a:avLst>
              <a:gd name="adj" fmla="val 7578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6" name="Text 25"/>
          <p:cNvSpPr txBox="1"/>
          <p:nvPr/>
        </p:nvSpPr>
        <p:spPr>
          <a:xfrm>
            <a:off x="4505249" y="3097073"/>
            <a:ext cx="3182112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76200" rIns="38100" bIns="7620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g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sharei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C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(C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... · (C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t-1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it-1</a:t>
            </a:r>
            <a:endParaRPr lang="en-US" sz="1000" dirty="0"/>
          </a:p>
        </p:txBody>
      </p:sp>
      <p:sp>
        <p:nvSpPr>
          <p:cNvPr id="37" name="Text 26"/>
          <p:cNvSpPr txBox="1"/>
          <p:nvPr/>
        </p:nvSpPr>
        <p:spPr>
          <a:xfrm>
            <a:off x="4419295" y="5343754"/>
            <a:ext cx="34290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Discrete Logarithm 문제에 기반하여, 자신의 share가 다항식 위에 있는지 검증 가능.</a:t>
            </a:r>
            <a:endParaRPr lang="en-US" sz="900" dirty="0"/>
          </a:p>
        </p:txBody>
      </p:sp>
      <p:sp>
        <p:nvSpPr>
          <p:cNvPr id="38" name="Shape 27"/>
          <p:cNvSpPr/>
          <p:nvPr/>
        </p:nvSpPr>
        <p:spPr>
          <a:xfrm>
            <a:off x="4419295" y="5790895"/>
            <a:ext cx="3353105" cy="286207"/>
          </a:xfrm>
          <a:prstGeom prst="roundRect">
            <a:avLst>
              <a:gd name="adj" fmla="val 170394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2"/>
          <a:srcRect l="-2571" r="-2571"/>
          <a:stretch/>
        </p:blipFill>
        <p:spPr>
          <a:xfrm>
            <a:off x="4505249" y="5876849"/>
            <a:ext cx="105156" cy="114300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4686300" y="5790895"/>
            <a:ext cx="11722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Verifiable (검증 가능)</a:t>
            </a:r>
            <a:endParaRPr lang="en-US" sz="900" dirty="0"/>
          </a:p>
        </p:txBody>
      </p:sp>
      <p:sp>
        <p:nvSpPr>
          <p:cNvPr id="41" name="Shape 29"/>
          <p:cNvSpPr/>
          <p:nvPr/>
        </p:nvSpPr>
        <p:spPr>
          <a:xfrm>
            <a:off x="4419295" y="6152998"/>
            <a:ext cx="3353105" cy="286207"/>
          </a:xfrm>
          <a:prstGeom prst="roundRect">
            <a:avLst>
              <a:gd name="adj" fmla="val 170394"/>
            </a:avLst>
          </a:prstGeom>
          <a:solidFill>
            <a:srgbClr val="FFFBEB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3"/>
          <a:srcRect l="-1911" r="-1911"/>
          <a:stretch/>
        </p:blipFill>
        <p:spPr>
          <a:xfrm>
            <a:off x="4505249" y="6238951"/>
            <a:ext cx="133502" cy="114300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4714646" y="6152998"/>
            <a:ext cx="154625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Weakness: g</a:t>
            </a:r>
            <a:r>
              <a:rPr lang="en-US" sz="8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a0</a:t>
            </a:r>
            <a:r>
              <a:rPr lang="en-US" sz="9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(Secret) 노출</a:t>
            </a:r>
            <a:endParaRPr lang="en-US" sz="900" dirty="0"/>
          </a:p>
        </p:txBody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8"/>
          <a:srcRect l="-607" r="-607"/>
          <a:stretch/>
        </p:blipFill>
        <p:spPr>
          <a:xfrm>
            <a:off x="7895844" y="3899002"/>
            <a:ext cx="181051" cy="286207"/>
          </a:xfrm>
          <a:prstGeom prst="rect">
            <a:avLst/>
          </a:prstGeom>
        </p:spPr>
      </p:pic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4"/>
          <a:srcRect t="-8" b="-8"/>
          <a:stretch/>
        </p:blipFill>
        <p:spPr>
          <a:xfrm>
            <a:off x="8153705" y="1429207"/>
            <a:ext cx="3733495" cy="5201107"/>
          </a:xfrm>
          <a:prstGeom prst="rect">
            <a:avLst/>
          </a:prstGeom>
        </p:spPr>
      </p:pic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43900" y="1657807"/>
            <a:ext cx="381305" cy="381305"/>
          </a:xfrm>
          <a:prstGeom prst="rect">
            <a:avLst/>
          </a:prstGeom>
        </p:spPr>
      </p:pic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449056" y="1762049"/>
            <a:ext cx="171907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8839505" y="1714500"/>
            <a:ext cx="132222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Pedersen VSS</a:t>
            </a:r>
            <a:endParaRPr lang="en-US" sz="1300" dirty="0"/>
          </a:p>
        </p:txBody>
      </p:sp>
      <p:sp>
        <p:nvSpPr>
          <p:cNvPr id="49" name="Shape 32"/>
          <p:cNvSpPr/>
          <p:nvPr/>
        </p:nvSpPr>
        <p:spPr>
          <a:xfrm>
            <a:off x="8343900" y="2152498"/>
            <a:ext cx="3353105" cy="3267151"/>
          </a:xfrm>
          <a:prstGeom prst="roundRect">
            <a:avLst>
              <a:gd name="adj" fmla="val 1306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0" name="Text 33"/>
          <p:cNvSpPr txBox="1"/>
          <p:nvPr/>
        </p:nvSpPr>
        <p:spPr>
          <a:xfrm>
            <a:off x="8467344" y="2276856"/>
            <a:ext cx="3219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Perfect Hiding Scheme</a:t>
            </a:r>
            <a:endParaRPr lang="en-US" sz="900" dirty="0"/>
          </a:p>
        </p:txBody>
      </p:sp>
      <p:sp>
        <p:nvSpPr>
          <p:cNvPr id="51" name="Shape 34"/>
          <p:cNvSpPr/>
          <p:nvPr/>
        </p:nvSpPr>
        <p:spPr>
          <a:xfrm>
            <a:off x="8467344" y="2467051"/>
            <a:ext cx="3105302" cy="371246"/>
          </a:xfrm>
          <a:prstGeom prst="roundRect">
            <a:avLst>
              <a:gd name="adj" fmla="val 7578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2" name="Text 35"/>
          <p:cNvSpPr txBox="1"/>
          <p:nvPr/>
        </p:nvSpPr>
        <p:spPr>
          <a:xfrm>
            <a:off x="8429854" y="2467051"/>
            <a:ext cx="3182112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76200" rIns="38100" bIns="7620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g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h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bk</a:t>
            </a:r>
            <a:endParaRPr lang="en-US" sz="1000" dirty="0"/>
          </a:p>
        </p:txBody>
      </p:sp>
      <p:sp>
        <p:nvSpPr>
          <p:cNvPr id="53" name="Text 36"/>
          <p:cNvSpPr txBox="1"/>
          <p:nvPr/>
        </p:nvSpPr>
        <p:spPr>
          <a:xfrm>
            <a:off x="8410651" y="2906878"/>
            <a:ext cx="3219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Randomness:</a:t>
            </a: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</a:t>
            </a:r>
            <a:r>
              <a:rPr lang="en-US" sz="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</a:t>
            </a: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(Blinding factor) </a:t>
            </a:r>
            <a:endParaRPr lang="en-US" sz="900" dirty="0"/>
          </a:p>
        </p:txBody>
      </p:sp>
      <p:sp>
        <p:nvSpPr>
          <p:cNvPr id="54" name="Text 37"/>
          <p:cNvSpPr txBox="1"/>
          <p:nvPr/>
        </p:nvSpPr>
        <p:spPr>
          <a:xfrm>
            <a:off x="8313725" y="3097073"/>
            <a:ext cx="341437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랜덤값 h</a:t>
            </a:r>
            <a:r>
              <a:rPr 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bk</a:t>
            </a: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추가되어 a</a:t>
            </a:r>
            <a:r>
              <a:rPr 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</a:t>
            </a: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수학적으로 완벽히 은닉함 </a:t>
            </a:r>
            <a:endParaRPr lang="en-US" sz="900" dirty="0"/>
          </a:p>
        </p:txBody>
      </p:sp>
      <p:sp>
        <p:nvSpPr>
          <p:cNvPr id="55" name="Text 38"/>
          <p:cNvSpPr txBox="1"/>
          <p:nvPr/>
        </p:nvSpPr>
        <p:spPr>
          <a:xfrm>
            <a:off x="8343900" y="5529377"/>
            <a:ext cx="374904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Feldman VSS의 정보 노출 문제를 해결. 정보 이론적 안전성 제공.</a:t>
            </a:r>
            <a:endParaRPr lang="en-US" sz="900" dirty="0"/>
          </a:p>
        </p:txBody>
      </p:sp>
      <p:sp>
        <p:nvSpPr>
          <p:cNvPr id="56" name="Shape 39"/>
          <p:cNvSpPr/>
          <p:nvPr/>
        </p:nvSpPr>
        <p:spPr>
          <a:xfrm>
            <a:off x="8343900" y="5790895"/>
            <a:ext cx="3353105" cy="286207"/>
          </a:xfrm>
          <a:prstGeom prst="roundRect">
            <a:avLst>
              <a:gd name="adj" fmla="val 170394"/>
            </a:avLst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17"/>
          <a:srcRect l="-2571" r="-2571"/>
          <a:stretch/>
        </p:blipFill>
        <p:spPr>
          <a:xfrm>
            <a:off x="8429854" y="5876849"/>
            <a:ext cx="105156" cy="114300"/>
          </a:xfrm>
          <a:prstGeom prst="rect">
            <a:avLst/>
          </a:prstGeom>
        </p:spPr>
      </p:pic>
      <p:sp>
        <p:nvSpPr>
          <p:cNvPr id="58" name="Text 40"/>
          <p:cNvSpPr txBox="1"/>
          <p:nvPr/>
        </p:nvSpPr>
        <p:spPr>
          <a:xfrm>
            <a:off x="8610905" y="5790895"/>
            <a:ext cx="153619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Perfect Hiding (정보 노출 0)</a:t>
            </a:r>
            <a:endParaRPr lang="en-US" sz="900" dirty="0"/>
          </a:p>
        </p:txBody>
      </p:sp>
      <p:sp>
        <p:nvSpPr>
          <p:cNvPr id="59" name="Shape 41"/>
          <p:cNvSpPr/>
          <p:nvPr/>
        </p:nvSpPr>
        <p:spPr>
          <a:xfrm>
            <a:off x="8343900" y="6152998"/>
            <a:ext cx="3353105" cy="286207"/>
          </a:xfrm>
          <a:prstGeom prst="roundRect">
            <a:avLst>
              <a:gd name="adj" fmla="val 170394"/>
            </a:avLst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60" name="Image 16" descr="preencoded.png"/>
          <p:cNvPicPr>
            <a:picLocks noChangeAspect="1"/>
          </p:cNvPicPr>
          <p:nvPr/>
        </p:nvPicPr>
        <p:blipFill>
          <a:blip r:embed="rId18"/>
          <a:srcRect t="-80" b="-80"/>
          <a:stretch/>
        </p:blipFill>
        <p:spPr>
          <a:xfrm>
            <a:off x="8429854" y="6238951"/>
            <a:ext cx="142646" cy="114300"/>
          </a:xfrm>
          <a:prstGeom prst="rect">
            <a:avLst/>
          </a:prstGeom>
        </p:spPr>
      </p:pic>
      <p:sp>
        <p:nvSpPr>
          <p:cNvPr id="61" name="Text 42"/>
          <p:cNvSpPr txBox="1"/>
          <p:nvPr/>
        </p:nvSpPr>
        <p:spPr>
          <a:xfrm>
            <a:off x="8648395" y="6152998"/>
            <a:ext cx="13716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Computational Binding</a:t>
            </a:r>
            <a:endParaRPr lang="en-US" sz="900" dirty="0"/>
          </a:p>
        </p:txBody>
      </p:sp>
      <p:sp>
        <p:nvSpPr>
          <p:cNvPr id="62" name="Shape 43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3" name="Shape 44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4" name="Text 45"/>
          <p:cNvSpPr txBox="1"/>
          <p:nvPr/>
        </p:nvSpPr>
        <p:spPr>
          <a:xfrm>
            <a:off x="457200" y="6596482"/>
            <a:ext cx="220187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Threshold Cryptography Overview</a:t>
            </a:r>
            <a:endParaRPr lang="en-US" sz="900" dirty="0"/>
          </a:p>
        </p:txBody>
      </p:sp>
      <p:sp>
        <p:nvSpPr>
          <p:cNvPr id="65" name="Text 46"/>
          <p:cNvSpPr txBox="1"/>
          <p:nvPr/>
        </p:nvSpPr>
        <p:spPr>
          <a:xfrm>
            <a:off x="11351362" y="6596482"/>
            <a:ext cx="2194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900" dirty="0"/>
          </a:p>
        </p:txBody>
      </p:sp>
      <p:sp>
        <p:nvSpPr>
          <p:cNvPr id="66" name="Text 47"/>
          <p:cNvSpPr txBox="1"/>
          <p:nvPr/>
        </p:nvSpPr>
        <p:spPr>
          <a:xfrm>
            <a:off x="11525098" y="6596482"/>
            <a:ext cx="124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endParaRPr lang="en-US" sz="900" dirty="0"/>
          </a:p>
        </p:txBody>
      </p:sp>
      <p:sp>
        <p:nvSpPr>
          <p:cNvPr id="67" name="Text 48"/>
          <p:cNvSpPr txBox="1"/>
          <p:nvPr/>
        </p:nvSpPr>
        <p:spPr>
          <a:xfrm>
            <a:off x="11607394" y="6596482"/>
            <a:ext cx="210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" name="Shape 2"/>
          <p:cNvSpPr/>
          <p:nvPr/>
        </p:nvSpPr>
        <p:spPr>
          <a:xfrm>
            <a:off x="9296705" y="-761695"/>
            <a:ext cx="3657600" cy="3657600"/>
          </a:xfrm>
          <a:prstGeom prst="ellipse">
            <a:avLst/>
          </a:prstGeom>
          <a:solidFill>
            <a:srgbClr val="E0E7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" name="Shape 3"/>
          <p:cNvSpPr/>
          <p:nvPr/>
        </p:nvSpPr>
        <p:spPr>
          <a:xfrm>
            <a:off x="761695" y="3810305"/>
            <a:ext cx="3047695" cy="3047695"/>
          </a:xfrm>
          <a:prstGeom prst="ellipse">
            <a:avLst/>
          </a:prstGeom>
          <a:solidFill>
            <a:srgbClr val="EDE9FE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" name="Shape 4"/>
          <p:cNvSpPr/>
          <p:nvPr/>
        </p:nvSpPr>
        <p:spPr>
          <a:xfrm>
            <a:off x="304495" y="1191463"/>
            <a:ext cx="115827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61695" y="381305"/>
            <a:ext cx="240670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Distributed Key Generation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609905"/>
            <a:ext cx="251917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DKG Process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7814462" y="771754"/>
            <a:ext cx="3620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참여자 간 협력을 통한 안전한 키 생성</a:t>
            </a:r>
            <a:endParaRPr lang="en-US" sz="15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8" b="-8"/>
          <a:stretch/>
        </p:blipFill>
        <p:spPr>
          <a:xfrm>
            <a:off x="304495" y="1429207"/>
            <a:ext cx="3733495" cy="5201107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5605" y="1657807"/>
            <a:ext cx="381305" cy="381305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9846" y="1762049"/>
            <a:ext cx="171907" cy="17190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90295" y="1714500"/>
            <a:ext cx="154167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Contribution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495605" y="2152498"/>
            <a:ext cx="3353105" cy="3400654"/>
          </a:xfrm>
          <a:prstGeom prst="roundRect">
            <a:avLst>
              <a:gd name="adj" fmla="val 124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6" name="Text 10"/>
          <p:cNvSpPr txBox="1"/>
          <p:nvPr/>
        </p:nvSpPr>
        <p:spPr>
          <a:xfrm>
            <a:off x="619049" y="2276856"/>
            <a:ext cx="3219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Generate Polynomials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619049" y="2467051"/>
            <a:ext cx="3105302" cy="580644"/>
          </a:xfrm>
          <a:prstGeom prst="roundRect">
            <a:avLst>
              <a:gd name="adj" fmla="val 309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8" name="Text 12"/>
          <p:cNvSpPr txBox="1"/>
          <p:nvPr/>
        </p:nvSpPr>
        <p:spPr>
          <a:xfrm>
            <a:off x="384048" y="2553005"/>
            <a:ext cx="35762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(x) = a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i,0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a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i,1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 + ... + a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i,t-1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t-1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384048" y="2772461"/>
            <a:ext cx="35762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(x) = b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i,0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b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i,1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 + ... + b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i,t-1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t-1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562356" y="3115361"/>
            <a:ext cx="3219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Secret:</a:t>
            </a: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</a:t>
            </a:r>
            <a:r>
              <a:rPr lang="en-US" sz="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i,0</a:t>
            </a: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(Participant i's contribution) </a:t>
            </a:r>
            <a:endParaRPr lang="en-US" sz="9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524305" y="3343961"/>
            <a:ext cx="381305" cy="38130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95044" y="3343961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P1</a:t>
            </a:r>
            <a:endParaRPr lang="en-US" sz="9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981505" y="3343961"/>
            <a:ext cx="381305" cy="38130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952244" y="3343961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P2</a:t>
            </a:r>
            <a:endParaRPr lang="en-US" sz="9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438705" y="3343961"/>
            <a:ext cx="381305" cy="381305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2409444" y="3343961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P3</a:t>
            </a:r>
            <a:endParaRPr lang="en-US" sz="900" dirty="0"/>
          </a:p>
        </p:txBody>
      </p:sp>
      <p:sp>
        <p:nvSpPr>
          <p:cNvPr id="27" name="Text 18"/>
          <p:cNvSpPr txBox="1"/>
          <p:nvPr/>
        </p:nvSpPr>
        <p:spPr>
          <a:xfrm>
            <a:off x="495605" y="5667451"/>
            <a:ext cx="34290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모든 참여자(P</a:t>
            </a:r>
            <a:r>
              <a:rPr lang="en-US" sz="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</a:t>
            </a: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)가 각자 Dealer가 되어 2개의 랜덤 다항식(f, r)을 생성합니다. </a:t>
            </a:r>
            <a:endParaRPr lang="en-US" sz="900" dirty="0"/>
          </a:p>
        </p:txBody>
      </p:sp>
      <p:sp>
        <p:nvSpPr>
          <p:cNvPr id="28" name="Shape 19"/>
          <p:cNvSpPr/>
          <p:nvPr/>
        </p:nvSpPr>
        <p:spPr>
          <a:xfrm>
            <a:off x="495605" y="6115507"/>
            <a:ext cx="3353105" cy="323698"/>
          </a:xfrm>
          <a:prstGeom prst="roundRect">
            <a:avLst>
              <a:gd name="adj" fmla="val 13293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619049" y="6210605"/>
            <a:ext cx="114300" cy="133502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809244" y="6115507"/>
            <a:ext cx="155539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Multiple Dealers (신뢰 분산)</a:t>
            </a:r>
            <a:endParaRPr lang="en-US" sz="9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9"/>
          <a:srcRect l="-607" r="-607"/>
          <a:stretch/>
        </p:blipFill>
        <p:spPr>
          <a:xfrm>
            <a:off x="3972154" y="3899002"/>
            <a:ext cx="181051" cy="286207"/>
          </a:xfrm>
          <a:prstGeom prst="rect">
            <a:avLst/>
          </a:prstGeom>
        </p:spPr>
      </p:pic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0"/>
          <a:srcRect t="-8" b="-8"/>
          <a:stretch/>
        </p:blipFill>
        <p:spPr>
          <a:xfrm>
            <a:off x="4229100" y="1429207"/>
            <a:ext cx="3733495" cy="5201107"/>
          </a:xfrm>
          <a:prstGeom prst="rect">
            <a:avLst/>
          </a:prstGeom>
        </p:spPr>
      </p:pic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419295" y="1657807"/>
            <a:ext cx="381305" cy="381305"/>
          </a:xfrm>
          <a:prstGeom prst="rect">
            <a:avLst/>
          </a:prstGeom>
        </p:spPr>
      </p:pic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12"/>
          <a:srcRect l="-760" r="-760"/>
          <a:stretch/>
        </p:blipFill>
        <p:spPr>
          <a:xfrm>
            <a:off x="4533595" y="1762049"/>
            <a:ext cx="152705" cy="171907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4914900" y="1714500"/>
            <a:ext cx="209763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Distribution &amp; VSS</a:t>
            </a:r>
            <a:endParaRPr lang="en-US" sz="1300" dirty="0"/>
          </a:p>
        </p:txBody>
      </p:sp>
      <p:sp>
        <p:nvSpPr>
          <p:cNvPr id="36" name="Shape 22"/>
          <p:cNvSpPr/>
          <p:nvPr/>
        </p:nvSpPr>
        <p:spPr>
          <a:xfrm>
            <a:off x="4419295" y="2152498"/>
            <a:ext cx="3353105" cy="3400654"/>
          </a:xfrm>
          <a:prstGeom prst="roundRect">
            <a:avLst>
              <a:gd name="adj" fmla="val 1240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7" name="Text 23"/>
          <p:cNvSpPr txBox="1"/>
          <p:nvPr/>
        </p:nvSpPr>
        <p:spPr>
          <a:xfrm>
            <a:off x="4543654" y="2276856"/>
            <a:ext cx="3219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6366F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Share Exchange</a:t>
            </a:r>
            <a:endParaRPr lang="en-US" sz="900" dirty="0"/>
          </a:p>
        </p:txBody>
      </p:sp>
      <p:sp>
        <p:nvSpPr>
          <p:cNvPr id="38" name="Shape 24"/>
          <p:cNvSpPr/>
          <p:nvPr/>
        </p:nvSpPr>
        <p:spPr>
          <a:xfrm>
            <a:off x="4543654" y="2467051"/>
            <a:ext cx="3105302" cy="580644"/>
          </a:xfrm>
          <a:prstGeom prst="roundRect">
            <a:avLst>
              <a:gd name="adj" fmla="val 309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9" name="Text 25"/>
          <p:cNvSpPr txBox="1"/>
          <p:nvPr/>
        </p:nvSpPr>
        <p:spPr>
          <a:xfrm>
            <a:off x="4368089" y="2553005"/>
            <a:ext cx="34564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Send s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ij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f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(j), s'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ij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r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(j) to P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000" dirty="0"/>
          </a:p>
        </p:txBody>
      </p:sp>
      <p:sp>
        <p:nvSpPr>
          <p:cNvPr id="40" name="Text 26"/>
          <p:cNvSpPr txBox="1"/>
          <p:nvPr/>
        </p:nvSpPr>
        <p:spPr>
          <a:xfrm>
            <a:off x="4533595" y="2772461"/>
            <a:ext cx="3124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Broadcast C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ik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g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aik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h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bik</a:t>
            </a:r>
            <a:endParaRPr lang="en-US" sz="1000" dirty="0"/>
          </a:p>
        </p:txBody>
      </p:sp>
      <p:sp>
        <p:nvSpPr>
          <p:cNvPr id="41" name="Text 27"/>
          <p:cNvSpPr txBox="1"/>
          <p:nvPr/>
        </p:nvSpPr>
        <p:spPr>
          <a:xfrm>
            <a:off x="4419295" y="5667451"/>
            <a:ext cx="34290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</a:t>
            </a:r>
            <a:r>
              <a:rPr lang="en-US" sz="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</a:t>
            </a: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P</a:t>
            </a:r>
            <a:r>
              <a:rPr lang="en-US" sz="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</a:t>
            </a: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에게 share를 전달하고, P</a:t>
            </a:r>
            <a:r>
              <a:rPr lang="en-US" sz="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</a:t>
            </a: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Pedersen VSS로 이를 검증합니다. </a:t>
            </a:r>
            <a:endParaRPr lang="en-US" sz="900" dirty="0"/>
          </a:p>
        </p:txBody>
      </p:sp>
      <p:sp>
        <p:nvSpPr>
          <p:cNvPr id="42" name="Shape 28"/>
          <p:cNvSpPr/>
          <p:nvPr/>
        </p:nvSpPr>
        <p:spPr>
          <a:xfrm>
            <a:off x="4419295" y="6115507"/>
            <a:ext cx="3353105" cy="323698"/>
          </a:xfrm>
          <a:prstGeom prst="roundRect">
            <a:avLst>
              <a:gd name="adj" fmla="val 132934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543654" y="6210605"/>
            <a:ext cx="133502" cy="133502"/>
          </a:xfrm>
          <a:prstGeom prst="rect">
            <a:avLst/>
          </a:prstGeom>
        </p:spPr>
      </p:pic>
      <p:sp>
        <p:nvSpPr>
          <p:cNvPr id="44" name="Text 29"/>
          <p:cNvSpPr txBox="1"/>
          <p:nvPr/>
        </p:nvSpPr>
        <p:spPr>
          <a:xfrm>
            <a:off x="4753051" y="6115507"/>
            <a:ext cx="1753819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338C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Verify &amp; Complaint Procedure</a:t>
            </a:r>
            <a:endParaRPr lang="en-US" sz="900" dirty="0"/>
          </a:p>
        </p:txBody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5982005" y="3306470"/>
            <a:ext cx="228600" cy="228600"/>
          </a:xfrm>
          <a:prstGeom prst="rect">
            <a:avLst/>
          </a:prstGeom>
        </p:spPr>
      </p:pic>
      <p:pic>
        <p:nvPicPr>
          <p:cNvPr id="46" name="Image 14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543654" y="3115361"/>
            <a:ext cx="381305" cy="381305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4515307" y="3115361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P1</a:t>
            </a:r>
            <a:endParaRPr lang="en-US" sz="900" dirty="0"/>
          </a:p>
        </p:txBody>
      </p:sp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267651" y="3115361"/>
            <a:ext cx="381305" cy="381305"/>
          </a:xfrm>
          <a:prstGeom prst="rect">
            <a:avLst/>
          </a:prstGeom>
        </p:spPr>
      </p:pic>
      <p:sp>
        <p:nvSpPr>
          <p:cNvPr id="49" name="Text 31"/>
          <p:cNvSpPr/>
          <p:nvPr/>
        </p:nvSpPr>
        <p:spPr>
          <a:xfrm>
            <a:off x="7239305" y="3115361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P2</a:t>
            </a:r>
            <a:endParaRPr lang="en-US" sz="900" dirty="0"/>
          </a:p>
        </p:txBody>
      </p:sp>
      <p:pic>
        <p:nvPicPr>
          <p:cNvPr id="50" name="Image 16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905195" y="3343961"/>
            <a:ext cx="381305" cy="381305"/>
          </a:xfrm>
          <a:prstGeom prst="rect">
            <a:avLst/>
          </a:prstGeom>
        </p:spPr>
      </p:pic>
      <p:sp>
        <p:nvSpPr>
          <p:cNvPr id="51" name="Text 32"/>
          <p:cNvSpPr/>
          <p:nvPr/>
        </p:nvSpPr>
        <p:spPr>
          <a:xfrm>
            <a:off x="5876849" y="3343961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P3</a:t>
            </a:r>
            <a:endParaRPr lang="en-US" sz="900" dirty="0"/>
          </a:p>
        </p:txBody>
      </p:sp>
      <p:pic>
        <p:nvPicPr>
          <p:cNvPr id="52" name="Image 17" descr="preencoded.png"/>
          <p:cNvPicPr>
            <a:picLocks noChangeAspect="1"/>
          </p:cNvPicPr>
          <p:nvPr/>
        </p:nvPicPr>
        <p:blipFill>
          <a:blip r:embed="rId9"/>
          <a:srcRect l="-607" r="-607"/>
          <a:stretch/>
        </p:blipFill>
        <p:spPr>
          <a:xfrm>
            <a:off x="7895844" y="3899002"/>
            <a:ext cx="181051" cy="286207"/>
          </a:xfrm>
          <a:prstGeom prst="rect">
            <a:avLst/>
          </a:prstGeom>
        </p:spPr>
      </p:pic>
      <p:pic>
        <p:nvPicPr>
          <p:cNvPr id="53" name="Image 18" descr="preencoded.png"/>
          <p:cNvPicPr>
            <a:picLocks noChangeAspect="1"/>
          </p:cNvPicPr>
          <p:nvPr/>
        </p:nvPicPr>
        <p:blipFill>
          <a:blip r:embed="rId16"/>
          <a:srcRect t="-8" b="-8"/>
          <a:stretch/>
        </p:blipFill>
        <p:spPr>
          <a:xfrm>
            <a:off x="8153705" y="1429207"/>
            <a:ext cx="3733495" cy="5201107"/>
          </a:xfrm>
          <a:prstGeom prst="rect">
            <a:avLst/>
          </a:prstGeom>
        </p:spPr>
      </p:pic>
      <p:pic>
        <p:nvPicPr>
          <p:cNvPr id="54" name="Image 19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343900" y="1657807"/>
            <a:ext cx="381305" cy="381305"/>
          </a:xfrm>
          <a:prstGeom prst="rect">
            <a:avLst/>
          </a:prstGeom>
        </p:spPr>
      </p:pic>
      <p:pic>
        <p:nvPicPr>
          <p:cNvPr id="55" name="Image 20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449056" y="1762049"/>
            <a:ext cx="171907" cy="171907"/>
          </a:xfrm>
          <a:prstGeom prst="rect">
            <a:avLst/>
          </a:prstGeom>
        </p:spPr>
      </p:pic>
      <p:sp>
        <p:nvSpPr>
          <p:cNvPr id="56" name="Text 33"/>
          <p:cNvSpPr txBox="1"/>
          <p:nvPr/>
        </p:nvSpPr>
        <p:spPr>
          <a:xfrm>
            <a:off x="8839505" y="1714500"/>
            <a:ext cx="18141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Final Key Share</a:t>
            </a:r>
            <a:endParaRPr lang="en-US" sz="1300" dirty="0"/>
          </a:p>
        </p:txBody>
      </p:sp>
      <p:sp>
        <p:nvSpPr>
          <p:cNvPr id="57" name="Shape 34"/>
          <p:cNvSpPr/>
          <p:nvPr/>
        </p:nvSpPr>
        <p:spPr>
          <a:xfrm>
            <a:off x="8343900" y="2152498"/>
            <a:ext cx="3353105" cy="3400654"/>
          </a:xfrm>
          <a:prstGeom prst="roundRect">
            <a:avLst>
              <a:gd name="adj" fmla="val 1240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8" name="Text 35"/>
          <p:cNvSpPr txBox="1"/>
          <p:nvPr/>
        </p:nvSpPr>
        <p:spPr>
          <a:xfrm>
            <a:off x="8467344" y="2276856"/>
            <a:ext cx="3219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Aggregate Shares</a:t>
            </a:r>
            <a:endParaRPr lang="en-US" sz="900" dirty="0"/>
          </a:p>
        </p:txBody>
      </p:sp>
      <p:sp>
        <p:nvSpPr>
          <p:cNvPr id="59" name="Shape 36"/>
          <p:cNvSpPr/>
          <p:nvPr/>
        </p:nvSpPr>
        <p:spPr>
          <a:xfrm>
            <a:off x="8467344" y="2467051"/>
            <a:ext cx="3105302" cy="552298"/>
          </a:xfrm>
          <a:prstGeom prst="roundRect">
            <a:avLst>
              <a:gd name="adj" fmla="val 3425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0" name="Text 37"/>
          <p:cNvSpPr txBox="1"/>
          <p:nvPr/>
        </p:nvSpPr>
        <p:spPr>
          <a:xfrm>
            <a:off x="8458200" y="2553005"/>
            <a:ext cx="3124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r>
              <a:rPr lang="en-US" sz="800" b="1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000" b="1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Σ</a:t>
            </a:r>
            <a:r>
              <a:rPr lang="en-US" sz="800" b="1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j∈Q</a:t>
            </a:r>
            <a:r>
              <a:rPr lang="en-US" sz="1000" b="1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</a:t>
            </a:r>
            <a:r>
              <a:rPr lang="en-US" sz="800" b="1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</a:t>
            </a:r>
            <a:r>
              <a:rPr lang="en-US" sz="1000" b="1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(mod q)</a:t>
            </a:r>
            <a:endParaRPr lang="en-US" sz="1000" dirty="0"/>
          </a:p>
        </p:txBody>
      </p:sp>
      <p:sp>
        <p:nvSpPr>
          <p:cNvPr id="61" name="Text 38"/>
          <p:cNvSpPr txBox="1"/>
          <p:nvPr/>
        </p:nvSpPr>
        <p:spPr>
          <a:xfrm>
            <a:off x="8458200" y="2772461"/>
            <a:ext cx="31245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Private Key: x = Σ</a:t>
            </a:r>
            <a:r>
              <a:rPr lang="en-US" sz="8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i∈Q</a:t>
            </a:r>
            <a:r>
              <a:rPr lang="en-US" sz="9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x</a:t>
            </a:r>
            <a:r>
              <a:rPr lang="en-US" sz="8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900" dirty="0"/>
          </a:p>
        </p:txBody>
      </p:sp>
      <p:sp>
        <p:nvSpPr>
          <p:cNvPr id="62" name="Shape 39"/>
          <p:cNvSpPr/>
          <p:nvPr/>
        </p:nvSpPr>
        <p:spPr>
          <a:xfrm>
            <a:off x="8467344" y="3086100"/>
            <a:ext cx="3105302" cy="362102"/>
          </a:xfrm>
          <a:prstGeom prst="roundRect">
            <a:avLst>
              <a:gd name="adj" fmla="val 7974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3" name="Text 40"/>
          <p:cNvSpPr txBox="1"/>
          <p:nvPr/>
        </p:nvSpPr>
        <p:spPr>
          <a:xfrm>
            <a:off x="8458200" y="3172054"/>
            <a:ext cx="3124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Public Key: y = Π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i∈Q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y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0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g</a:t>
            </a:r>
            <a:r>
              <a:rPr lang="en-US" sz="800" i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00" dirty="0"/>
          </a:p>
        </p:txBody>
      </p:sp>
      <p:sp>
        <p:nvSpPr>
          <p:cNvPr id="64" name="Text 41"/>
          <p:cNvSpPr txBox="1"/>
          <p:nvPr/>
        </p:nvSpPr>
        <p:spPr>
          <a:xfrm>
            <a:off x="8410651" y="3515868"/>
            <a:ext cx="3219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 = Set of valid participants</a:t>
            </a:r>
            <a:endParaRPr lang="en-US" sz="900" dirty="0"/>
          </a:p>
        </p:txBody>
      </p:sp>
      <p:sp>
        <p:nvSpPr>
          <p:cNvPr id="65" name="Text 42"/>
          <p:cNvSpPr txBox="1"/>
          <p:nvPr/>
        </p:nvSpPr>
        <p:spPr>
          <a:xfrm>
            <a:off x="8343900" y="5667451"/>
            <a:ext cx="34290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각자 받은 share들의 합이 최종 x</a:t>
            </a:r>
            <a:r>
              <a:rPr lang="en-US" sz="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</a:t>
            </a: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되며, 전체 키 x는 아무도 모릅니다. </a:t>
            </a:r>
            <a:endParaRPr lang="en-US" sz="900" dirty="0"/>
          </a:p>
        </p:txBody>
      </p:sp>
      <p:sp>
        <p:nvSpPr>
          <p:cNvPr id="66" name="Shape 43"/>
          <p:cNvSpPr/>
          <p:nvPr/>
        </p:nvSpPr>
        <p:spPr>
          <a:xfrm>
            <a:off x="8343900" y="6115507"/>
            <a:ext cx="3353105" cy="323698"/>
          </a:xfrm>
          <a:prstGeom prst="roundRect">
            <a:avLst>
              <a:gd name="adj" fmla="val 132934"/>
            </a:avLst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67" name="Image 21" descr="preencoded.png"/>
          <p:cNvPicPr>
            <a:picLocks noChangeAspect="1"/>
          </p:cNvPicPr>
          <p:nvPr/>
        </p:nvPicPr>
        <p:blipFill>
          <a:blip r:embed="rId19"/>
          <a:srcRect t="-1100" b="-1100"/>
          <a:stretch/>
        </p:blipFill>
        <p:spPr>
          <a:xfrm>
            <a:off x="8467344" y="6210605"/>
            <a:ext cx="114300" cy="133502"/>
          </a:xfrm>
          <a:prstGeom prst="rect">
            <a:avLst/>
          </a:prstGeom>
        </p:spPr>
      </p:pic>
      <p:sp>
        <p:nvSpPr>
          <p:cNvPr id="68" name="Text 44"/>
          <p:cNvSpPr txBox="1"/>
          <p:nvPr/>
        </p:nvSpPr>
        <p:spPr>
          <a:xfrm>
            <a:off x="8658454" y="6115507"/>
            <a:ext cx="14767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Never Reconstructed</a:t>
            </a:r>
            <a:endParaRPr lang="en-US" sz="900" dirty="0"/>
          </a:p>
        </p:txBody>
      </p:sp>
      <p:sp>
        <p:nvSpPr>
          <p:cNvPr id="69" name="Shape 45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70" name="Shape 46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1" name="Text 47"/>
          <p:cNvSpPr txBox="1"/>
          <p:nvPr/>
        </p:nvSpPr>
        <p:spPr>
          <a:xfrm>
            <a:off x="457200" y="6596482"/>
            <a:ext cx="23125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Distributed Key Generation Process</a:t>
            </a:r>
            <a:endParaRPr lang="en-US" sz="900" dirty="0"/>
          </a:p>
        </p:txBody>
      </p:sp>
      <p:sp>
        <p:nvSpPr>
          <p:cNvPr id="72" name="Text 48"/>
          <p:cNvSpPr txBox="1"/>
          <p:nvPr/>
        </p:nvSpPr>
        <p:spPr>
          <a:xfrm>
            <a:off x="11351362" y="6596482"/>
            <a:ext cx="2194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900" dirty="0"/>
          </a:p>
        </p:txBody>
      </p:sp>
      <p:sp>
        <p:nvSpPr>
          <p:cNvPr id="73" name="Text 49"/>
          <p:cNvSpPr txBox="1"/>
          <p:nvPr/>
        </p:nvSpPr>
        <p:spPr>
          <a:xfrm>
            <a:off x="11525098" y="6596482"/>
            <a:ext cx="124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endParaRPr lang="en-US" sz="900" dirty="0"/>
          </a:p>
        </p:txBody>
      </p:sp>
      <p:sp>
        <p:nvSpPr>
          <p:cNvPr id="74" name="Text 50"/>
          <p:cNvSpPr txBox="1"/>
          <p:nvPr/>
        </p:nvSpPr>
        <p:spPr>
          <a:xfrm>
            <a:off x="11607394" y="6596482"/>
            <a:ext cx="210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889797" y="0"/>
            <a:ext cx="4067251" cy="685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60000"/>
          </a:blip>
          <a:srcRect/>
          <a:stretch/>
        </p:blipFill>
        <p:spPr>
          <a:xfrm>
            <a:off x="0" y="4419295"/>
            <a:ext cx="2438705" cy="24387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4495" y="1191463"/>
            <a:ext cx="115827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" name="Text 3"/>
          <p:cNvSpPr txBox="1"/>
          <p:nvPr/>
        </p:nvSpPr>
        <p:spPr>
          <a:xfrm>
            <a:off x="761695" y="381305"/>
            <a:ext cx="5229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Protocol Workflow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761695" y="609905"/>
            <a:ext cx="61438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Threshold Signature Protocol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8111642" y="771754"/>
            <a:ext cx="33229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협력을 통한 안전한 서명 생성 과정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l="-1" r="-1"/>
          <a:stretch/>
        </p:blipFill>
        <p:spPr>
          <a:xfrm>
            <a:off x="533095" y="5048402"/>
            <a:ext cx="11125505" cy="12573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24205" y="5298034"/>
            <a:ext cx="400507" cy="476402"/>
          </a:xfrm>
          <a:prstGeom prst="roundRect">
            <a:avLst>
              <a:gd name="adj" fmla="val 86975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Text 7"/>
          <p:cNvSpPr txBox="1"/>
          <p:nvPr/>
        </p:nvSpPr>
        <p:spPr>
          <a:xfrm>
            <a:off x="1276502" y="5298034"/>
            <a:ext cx="69915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1276502" y="5603443"/>
            <a:ext cx="6954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최종 생성된 서명 </a:t>
            </a:r>
            <a:r>
              <a:rPr lang="en-US" sz="1000" dirty="0">
                <a:solidFill>
                  <a:srgbClr val="FCD34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σ = (R, s)</a:t>
            </a: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</a:t>
            </a:r>
            <a:r>
              <a:rPr lang="en-US" sz="1000" b="1" u="sng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개인키로 생성한 일반 서명과 수학적으로 동일</a:t>
            </a: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따라서 검증자(Verifier)는 Threshold 방식 사용 여부를 알 필요 없이 표준 알고리즘(ECDSA/Schnorr)으로 검증 가능합니다. 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9250985" y="5238598"/>
            <a:ext cx="9144" cy="875995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9488729" y="5238598"/>
            <a:ext cx="20610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Benefits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9669780" y="5467198"/>
            <a:ext cx="21387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Non-interactive Verification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9488729" y="5505602"/>
            <a:ext cx="105156" cy="1143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669780" y="5695798"/>
            <a:ext cx="21387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Fault Tolerance (Robustness)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9488729" y="5734202"/>
            <a:ext cx="105156" cy="1143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669780" y="5924398"/>
            <a:ext cx="18800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Key Secrecy Preserved</a:t>
            </a:r>
            <a:endParaRPr lang="en-US" sz="10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9488729" y="5962802"/>
            <a:ext cx="105156" cy="114300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38505" y="5412334"/>
            <a:ext cx="171907" cy="228600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rcRect t="-399" b="-399"/>
          <a:stretch/>
        </p:blipFill>
        <p:spPr>
          <a:xfrm>
            <a:off x="761695" y="2361895"/>
            <a:ext cx="10668305" cy="38405"/>
          </a:xfrm>
          <a:prstGeom prst="rect">
            <a:avLst/>
          </a:prstGeom>
        </p:spPr>
      </p:pic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9"/>
          <a:srcRect t="-13" b="-13"/>
          <a:stretch/>
        </p:blipFill>
        <p:spPr>
          <a:xfrm>
            <a:off x="457200" y="2152498"/>
            <a:ext cx="2133295" cy="2667305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1257300" y="2352751"/>
            <a:ext cx="533095" cy="5330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80" r="-80"/>
          <a:stretch/>
        </p:blipFill>
        <p:spPr>
          <a:xfrm>
            <a:off x="1380744" y="2505456"/>
            <a:ext cx="286207" cy="228600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839419" y="3038551"/>
            <a:ext cx="13706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Nonce Generation</a:t>
            </a:r>
            <a:endParaRPr lang="en-US" sz="1000" dirty="0"/>
          </a:p>
        </p:txBody>
      </p:sp>
      <p:sp>
        <p:nvSpPr>
          <p:cNvPr id="28" name="Shape 16"/>
          <p:cNvSpPr/>
          <p:nvPr/>
        </p:nvSpPr>
        <p:spPr>
          <a:xfrm>
            <a:off x="657454" y="3267151"/>
            <a:ext cx="1733702" cy="228600"/>
          </a:xfrm>
          <a:prstGeom prst="roundRect">
            <a:avLst>
              <a:gd name="adj" fmla="val 133333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9" name="Text 17"/>
          <p:cNvSpPr txBox="1"/>
          <p:nvPr/>
        </p:nvSpPr>
        <p:spPr>
          <a:xfrm>
            <a:off x="622706" y="3267151"/>
            <a:ext cx="180319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Distributed Randomness</a:t>
            </a:r>
            <a:endParaRPr lang="en-US" sz="900" dirty="0"/>
          </a:p>
        </p:txBody>
      </p:sp>
      <p:sp>
        <p:nvSpPr>
          <p:cNvPr id="30" name="Text 18"/>
          <p:cNvSpPr txBox="1"/>
          <p:nvPr/>
        </p:nvSpPr>
        <p:spPr>
          <a:xfrm>
            <a:off x="622706" y="3633826"/>
            <a:ext cx="180319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각 참여자 </a:t>
            </a:r>
            <a:r>
              <a:rPr lang="en-US" sz="900" i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r>
              <a:rPr lang="en-US" sz="800" i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임의의 난수값(Ephem. Key)을 생성합니다. </a:t>
            </a:r>
            <a:endParaRPr lang="en-US" sz="900" dirty="0"/>
          </a:p>
        </p:txBody>
      </p:sp>
      <p:sp>
        <p:nvSpPr>
          <p:cNvPr id="31" name="Shape 19"/>
          <p:cNvSpPr/>
          <p:nvPr/>
        </p:nvSpPr>
        <p:spPr>
          <a:xfrm>
            <a:off x="657454" y="4033418"/>
            <a:ext cx="1733702" cy="286207"/>
          </a:xfrm>
          <a:prstGeom prst="roundRect">
            <a:avLst>
              <a:gd name="adj" fmla="val 851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2" name="Text 20"/>
          <p:cNvSpPr txBox="1"/>
          <p:nvPr/>
        </p:nvSpPr>
        <p:spPr>
          <a:xfrm>
            <a:off x="622706" y="4033418"/>
            <a:ext cx="180319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38100" rIns="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r</a:t>
            </a:r>
            <a:r>
              <a:rPr lang="en-US" sz="800" b="1" dirty="0">
                <a:solidFill>
                  <a:srgbClr val="1E40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</a:t>
            </a:r>
            <a:r>
              <a:rPr lang="en-US" sz="1000" b="1" dirty="0">
                <a:solidFill>
                  <a:srgbClr val="1E40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← Z</a:t>
            </a:r>
            <a:r>
              <a:rPr lang="en-US" sz="800" b="1" dirty="0">
                <a:solidFill>
                  <a:srgbClr val="1E40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q</a:t>
            </a:r>
            <a:endParaRPr lang="en-US" sz="1000" dirty="0"/>
          </a:p>
        </p:txBody>
      </p:sp>
      <p:sp>
        <p:nvSpPr>
          <p:cNvPr id="33" name="Shape 21"/>
          <p:cNvSpPr/>
          <p:nvPr/>
        </p:nvSpPr>
        <p:spPr>
          <a:xfrm>
            <a:off x="657454" y="4381805"/>
            <a:ext cx="17337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4" name="Text 22"/>
          <p:cNvSpPr txBox="1"/>
          <p:nvPr/>
        </p:nvSpPr>
        <p:spPr>
          <a:xfrm>
            <a:off x="1270102" y="4466844"/>
            <a:ext cx="11978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Secret Kept</a:t>
            </a:r>
            <a:endParaRPr lang="en-US" sz="90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1127455" y="4490618"/>
            <a:ext cx="105156" cy="114300"/>
          </a:xfrm>
          <a:prstGeom prst="rect">
            <a:avLst/>
          </a:prstGeom>
        </p:spPr>
      </p:pic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9"/>
          <a:srcRect t="-13" b="-13"/>
          <a:stretch/>
        </p:blipFill>
        <p:spPr>
          <a:xfrm>
            <a:off x="2743200" y="2152498"/>
            <a:ext cx="2133295" cy="2667305"/>
          </a:xfrm>
          <a:prstGeom prst="rect">
            <a:avLst/>
          </a:prstGeom>
        </p:spPr>
      </p:pic>
      <p:sp>
        <p:nvSpPr>
          <p:cNvPr id="37" name="Shape 23"/>
          <p:cNvSpPr/>
          <p:nvPr/>
        </p:nvSpPr>
        <p:spPr>
          <a:xfrm>
            <a:off x="3543300" y="2352751"/>
            <a:ext cx="533095" cy="533095"/>
          </a:xfrm>
          <a:prstGeom prst="ellipse">
            <a:avLst/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2"/>
          <a:srcRect l="-80" r="-80"/>
          <a:stretch/>
        </p:blipFill>
        <p:spPr>
          <a:xfrm>
            <a:off x="3666744" y="2505456"/>
            <a:ext cx="286207" cy="228600"/>
          </a:xfrm>
          <a:prstGeom prst="rect">
            <a:avLst/>
          </a:prstGeom>
        </p:spPr>
      </p:pic>
      <p:sp>
        <p:nvSpPr>
          <p:cNvPr id="39" name="Text 24"/>
          <p:cNvSpPr txBox="1"/>
          <p:nvPr/>
        </p:nvSpPr>
        <p:spPr>
          <a:xfrm>
            <a:off x="3119018" y="3038551"/>
            <a:ext cx="1390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Commitment Phase</a:t>
            </a:r>
            <a:endParaRPr lang="en-US" sz="1000" dirty="0"/>
          </a:p>
        </p:txBody>
      </p:sp>
      <p:sp>
        <p:nvSpPr>
          <p:cNvPr id="40" name="Shape 25"/>
          <p:cNvSpPr/>
          <p:nvPr/>
        </p:nvSpPr>
        <p:spPr>
          <a:xfrm>
            <a:off x="2943454" y="3267151"/>
            <a:ext cx="1733702" cy="228600"/>
          </a:xfrm>
          <a:prstGeom prst="roundRect">
            <a:avLst>
              <a:gd name="adj" fmla="val 133333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1" name="Text 26"/>
          <p:cNvSpPr txBox="1"/>
          <p:nvPr/>
        </p:nvSpPr>
        <p:spPr>
          <a:xfrm>
            <a:off x="2908706" y="3267151"/>
            <a:ext cx="180319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Anti-Cheating</a:t>
            </a:r>
            <a:endParaRPr lang="en-US" sz="900" dirty="0"/>
          </a:p>
        </p:txBody>
      </p:sp>
      <p:sp>
        <p:nvSpPr>
          <p:cNvPr id="42" name="Text 27"/>
          <p:cNvSpPr txBox="1"/>
          <p:nvPr/>
        </p:nvSpPr>
        <p:spPr>
          <a:xfrm>
            <a:off x="2908706" y="3638398"/>
            <a:ext cx="180319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자신의 난수에 대한 커밋을 생성하여 참여자 간 교환합니다.</a:t>
            </a:r>
            <a:endParaRPr lang="en-US" sz="900" dirty="0"/>
          </a:p>
        </p:txBody>
      </p:sp>
      <p:sp>
        <p:nvSpPr>
          <p:cNvPr id="43" name="Shape 28"/>
          <p:cNvSpPr/>
          <p:nvPr/>
        </p:nvSpPr>
        <p:spPr>
          <a:xfrm>
            <a:off x="2943454" y="4028846"/>
            <a:ext cx="1733702" cy="286207"/>
          </a:xfrm>
          <a:prstGeom prst="roundRect">
            <a:avLst>
              <a:gd name="adj" fmla="val 85197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4" name="Text 29"/>
          <p:cNvSpPr txBox="1"/>
          <p:nvPr/>
        </p:nvSpPr>
        <p:spPr>
          <a:xfrm>
            <a:off x="2908706" y="4028846"/>
            <a:ext cx="180319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38100" rIns="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30A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R</a:t>
            </a:r>
            <a:r>
              <a:rPr lang="en-US" sz="800" b="1" dirty="0">
                <a:solidFill>
                  <a:srgbClr val="3730A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</a:t>
            </a:r>
            <a:r>
              <a:rPr lang="en-US" sz="1000" b="1" dirty="0">
                <a:solidFill>
                  <a:srgbClr val="3730A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= g</a:t>
            </a:r>
            <a:r>
              <a:rPr lang="en-US" sz="800" b="1" dirty="0">
                <a:solidFill>
                  <a:srgbClr val="3730A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ri</a:t>
            </a:r>
            <a:endParaRPr lang="en-US" sz="1000" dirty="0"/>
          </a:p>
        </p:txBody>
      </p:sp>
      <p:sp>
        <p:nvSpPr>
          <p:cNvPr id="45" name="Shape 30"/>
          <p:cNvSpPr/>
          <p:nvPr/>
        </p:nvSpPr>
        <p:spPr>
          <a:xfrm>
            <a:off x="2943454" y="4381805"/>
            <a:ext cx="17337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6" name="Text 31"/>
          <p:cNvSpPr txBox="1"/>
          <p:nvPr/>
        </p:nvSpPr>
        <p:spPr>
          <a:xfrm>
            <a:off x="3433572" y="4466844"/>
            <a:ext cx="132039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66F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 Verifiable</a:t>
            </a:r>
            <a:endParaRPr lang="en-US" sz="900" dirty="0"/>
          </a:p>
        </p:txBody>
      </p:sp>
      <p:pic>
        <p:nvPicPr>
          <p:cNvPr id="47" name="Image 13" descr="preencoded.png"/>
          <p:cNvPicPr>
            <a:picLocks noChangeAspect="1"/>
          </p:cNvPicPr>
          <p:nvPr/>
        </p:nvPicPr>
        <p:blipFill>
          <a:blip r:embed="rId13"/>
          <a:srcRect l="-1911" r="-1911"/>
          <a:stretch/>
        </p:blipFill>
        <p:spPr>
          <a:xfrm>
            <a:off x="3261665" y="4490618"/>
            <a:ext cx="133502" cy="114300"/>
          </a:xfrm>
          <a:prstGeom prst="rect">
            <a:avLst/>
          </a:prstGeom>
        </p:spPr>
      </p:pic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9"/>
          <a:srcRect t="-13" b="-13"/>
          <a:stretch/>
        </p:blipFill>
        <p:spPr>
          <a:xfrm>
            <a:off x="5029200" y="2152498"/>
            <a:ext cx="2133295" cy="2667305"/>
          </a:xfrm>
          <a:prstGeom prst="rect">
            <a:avLst/>
          </a:prstGeom>
        </p:spPr>
      </p:pic>
      <p:sp>
        <p:nvSpPr>
          <p:cNvPr id="49" name="Shape 32"/>
          <p:cNvSpPr/>
          <p:nvPr/>
        </p:nvSpPr>
        <p:spPr>
          <a:xfrm>
            <a:off x="5829300" y="2352751"/>
            <a:ext cx="533095" cy="533095"/>
          </a:xfrm>
          <a:prstGeom prst="ellipse">
            <a:avLst/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4"/>
          <a:srcRect l="-133" r="-133"/>
          <a:stretch/>
        </p:blipFill>
        <p:spPr>
          <a:xfrm>
            <a:off x="6010351" y="2505456"/>
            <a:ext cx="171907" cy="228600"/>
          </a:xfrm>
          <a:prstGeom prst="rect">
            <a:avLst/>
          </a:prstGeom>
        </p:spPr>
      </p:pic>
      <p:sp>
        <p:nvSpPr>
          <p:cNvPr id="51" name="Text 33"/>
          <p:cNvSpPr txBox="1"/>
          <p:nvPr/>
        </p:nvSpPr>
        <p:spPr>
          <a:xfrm>
            <a:off x="5201107" y="3038551"/>
            <a:ext cx="179953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Challenge Computation</a:t>
            </a:r>
            <a:endParaRPr lang="en-US" sz="1000" dirty="0"/>
          </a:p>
        </p:txBody>
      </p:sp>
      <p:sp>
        <p:nvSpPr>
          <p:cNvPr id="52" name="Shape 34"/>
          <p:cNvSpPr/>
          <p:nvPr/>
        </p:nvSpPr>
        <p:spPr>
          <a:xfrm>
            <a:off x="5229454" y="3267151"/>
            <a:ext cx="1733702" cy="228600"/>
          </a:xfrm>
          <a:prstGeom prst="roundRect">
            <a:avLst>
              <a:gd name="adj" fmla="val 133333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3" name="Text 35"/>
          <p:cNvSpPr txBox="1"/>
          <p:nvPr/>
        </p:nvSpPr>
        <p:spPr>
          <a:xfrm>
            <a:off x="5194706" y="3267151"/>
            <a:ext cx="180319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Hash Function</a:t>
            </a:r>
            <a:endParaRPr lang="en-US" sz="900" dirty="0"/>
          </a:p>
        </p:txBody>
      </p:sp>
      <p:sp>
        <p:nvSpPr>
          <p:cNvPr id="54" name="Text 36"/>
          <p:cNvSpPr txBox="1"/>
          <p:nvPr/>
        </p:nvSpPr>
        <p:spPr>
          <a:xfrm>
            <a:off x="5194706" y="3633826"/>
            <a:ext cx="180319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메시지 </a:t>
            </a:r>
            <a:r>
              <a:rPr lang="en-US" sz="900" i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전체 난수 </a:t>
            </a:r>
            <a:r>
              <a:rPr lang="en-US" sz="900" i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해시하여 챌린지 값을 계산합니다. </a:t>
            </a:r>
            <a:endParaRPr lang="en-US" sz="900" dirty="0"/>
          </a:p>
        </p:txBody>
      </p:sp>
      <p:sp>
        <p:nvSpPr>
          <p:cNvPr id="55" name="Shape 37"/>
          <p:cNvSpPr/>
          <p:nvPr/>
        </p:nvSpPr>
        <p:spPr>
          <a:xfrm>
            <a:off x="5229454" y="4033418"/>
            <a:ext cx="1733702" cy="286207"/>
          </a:xfrm>
          <a:prstGeom prst="roundRect">
            <a:avLst>
              <a:gd name="adj" fmla="val 85197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6" name="Text 38"/>
          <p:cNvSpPr txBox="1"/>
          <p:nvPr/>
        </p:nvSpPr>
        <p:spPr>
          <a:xfrm>
            <a:off x="5194706" y="4033418"/>
            <a:ext cx="180319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38100" rIns="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21B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 = H(M || R)</a:t>
            </a:r>
            <a:endParaRPr lang="en-US" sz="1000" dirty="0"/>
          </a:p>
        </p:txBody>
      </p:sp>
      <p:sp>
        <p:nvSpPr>
          <p:cNvPr id="57" name="Shape 39"/>
          <p:cNvSpPr/>
          <p:nvPr/>
        </p:nvSpPr>
        <p:spPr>
          <a:xfrm>
            <a:off x="5229454" y="4381805"/>
            <a:ext cx="17337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8" name="Text 40"/>
          <p:cNvSpPr txBox="1"/>
          <p:nvPr/>
        </p:nvSpPr>
        <p:spPr>
          <a:xfrm>
            <a:off x="5761634" y="4466844"/>
            <a:ext cx="127833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Common Input</a:t>
            </a:r>
            <a:endParaRPr lang="en-US" sz="900" dirty="0"/>
          </a:p>
        </p:txBody>
      </p:sp>
      <p:pic>
        <p:nvPicPr>
          <p:cNvPr id="59" name="Image 16" descr="preencoded.png"/>
          <p:cNvPicPr>
            <a:picLocks noChangeAspect="1"/>
          </p:cNvPicPr>
          <p:nvPr/>
        </p:nvPicPr>
        <p:blipFill>
          <a:blip r:embed="rId15"/>
          <a:srcRect t="-80" b="-80"/>
          <a:stretch/>
        </p:blipFill>
        <p:spPr>
          <a:xfrm>
            <a:off x="5580583" y="4490618"/>
            <a:ext cx="142646" cy="114300"/>
          </a:xfrm>
          <a:prstGeom prst="rect">
            <a:avLst/>
          </a:prstGeom>
        </p:spPr>
      </p:pic>
      <p:pic>
        <p:nvPicPr>
          <p:cNvPr id="60" name="Image 17" descr="preencoded.png"/>
          <p:cNvPicPr>
            <a:picLocks noChangeAspect="1"/>
          </p:cNvPicPr>
          <p:nvPr/>
        </p:nvPicPr>
        <p:blipFill>
          <a:blip r:embed="rId9"/>
          <a:srcRect t="-13" b="-13"/>
          <a:stretch/>
        </p:blipFill>
        <p:spPr>
          <a:xfrm>
            <a:off x="7315200" y="2152498"/>
            <a:ext cx="2133295" cy="2667305"/>
          </a:xfrm>
          <a:prstGeom prst="rect">
            <a:avLst/>
          </a:prstGeom>
        </p:spPr>
      </p:pic>
      <p:sp>
        <p:nvSpPr>
          <p:cNvPr id="61" name="Shape 41"/>
          <p:cNvSpPr/>
          <p:nvPr/>
        </p:nvSpPr>
        <p:spPr>
          <a:xfrm>
            <a:off x="8115300" y="2352751"/>
            <a:ext cx="533095" cy="533095"/>
          </a:xfrm>
          <a:prstGeom prst="ellipse">
            <a:avLst/>
          </a:prstGeom>
          <a:solidFill>
            <a:srgbClr val="FCE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62" name="Image 18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268005" y="2505456"/>
            <a:ext cx="228600" cy="228600"/>
          </a:xfrm>
          <a:prstGeom prst="rect">
            <a:avLst/>
          </a:prstGeom>
        </p:spPr>
      </p:pic>
      <p:sp>
        <p:nvSpPr>
          <p:cNvPr id="63" name="Text 42"/>
          <p:cNvSpPr txBox="1"/>
          <p:nvPr/>
        </p:nvSpPr>
        <p:spPr>
          <a:xfrm>
            <a:off x="7719365" y="3038551"/>
            <a:ext cx="13267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Partial Signature</a:t>
            </a:r>
            <a:endParaRPr lang="en-US" sz="1000" dirty="0"/>
          </a:p>
        </p:txBody>
      </p:sp>
      <p:sp>
        <p:nvSpPr>
          <p:cNvPr id="64" name="Shape 43"/>
          <p:cNvSpPr/>
          <p:nvPr/>
        </p:nvSpPr>
        <p:spPr>
          <a:xfrm>
            <a:off x="7515454" y="3267151"/>
            <a:ext cx="1733702" cy="228600"/>
          </a:xfrm>
          <a:prstGeom prst="roundRect">
            <a:avLst>
              <a:gd name="adj" fmla="val 133333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5" name="Text 44"/>
          <p:cNvSpPr txBox="1"/>
          <p:nvPr/>
        </p:nvSpPr>
        <p:spPr>
          <a:xfrm>
            <a:off x="7480706" y="3267151"/>
            <a:ext cx="180319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Individual Action</a:t>
            </a:r>
            <a:endParaRPr lang="en-US" sz="900" dirty="0"/>
          </a:p>
        </p:txBody>
      </p:sp>
      <p:sp>
        <p:nvSpPr>
          <p:cNvPr id="66" name="Text 45"/>
          <p:cNvSpPr txBox="1"/>
          <p:nvPr/>
        </p:nvSpPr>
        <p:spPr>
          <a:xfrm>
            <a:off x="7480706" y="3629254"/>
            <a:ext cx="180319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각 참여자는 자신의 Share </a:t>
            </a:r>
            <a:r>
              <a:rPr lang="en-US" sz="900" i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r>
              <a:rPr lang="en-US" sz="800" i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난수 </a:t>
            </a:r>
            <a:r>
              <a:rPr lang="en-US" sz="900" i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800" i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사용해 부분 서명을 생성합니다. </a:t>
            </a:r>
            <a:endParaRPr lang="en-US" sz="900" dirty="0"/>
          </a:p>
        </p:txBody>
      </p:sp>
      <p:sp>
        <p:nvSpPr>
          <p:cNvPr id="67" name="Shape 46"/>
          <p:cNvSpPr/>
          <p:nvPr/>
        </p:nvSpPr>
        <p:spPr>
          <a:xfrm>
            <a:off x="7515454" y="4038905"/>
            <a:ext cx="1733702" cy="286207"/>
          </a:xfrm>
          <a:prstGeom prst="roundRect">
            <a:avLst>
              <a:gd name="adj" fmla="val 85197"/>
            </a:avLst>
          </a:prstGeom>
          <a:solidFill>
            <a:srgbClr val="FDF2F8"/>
          </a:solidFill>
          <a:ln w="12700">
            <a:solidFill>
              <a:srgbClr val="FCE7F3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8" name="Text 47"/>
          <p:cNvSpPr txBox="1"/>
          <p:nvPr/>
        </p:nvSpPr>
        <p:spPr>
          <a:xfrm>
            <a:off x="7480706" y="4038905"/>
            <a:ext cx="180319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38100" rIns="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D174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</a:t>
            </a:r>
            <a:r>
              <a:rPr lang="en-US" sz="800" b="1" dirty="0">
                <a:solidFill>
                  <a:srgbClr val="9D174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</a:t>
            </a:r>
            <a:r>
              <a:rPr lang="en-US" sz="1000" b="1" dirty="0">
                <a:solidFill>
                  <a:srgbClr val="9D174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= r</a:t>
            </a:r>
            <a:r>
              <a:rPr lang="en-US" sz="800" b="1" dirty="0">
                <a:solidFill>
                  <a:srgbClr val="9D174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</a:t>
            </a:r>
            <a:r>
              <a:rPr lang="en-US" sz="1000" b="1" dirty="0">
                <a:solidFill>
                  <a:srgbClr val="9D174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+ c·x</a:t>
            </a:r>
            <a:r>
              <a:rPr lang="en-US" sz="800" b="1" dirty="0">
                <a:solidFill>
                  <a:srgbClr val="9D174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</a:t>
            </a:r>
            <a:endParaRPr lang="en-US" sz="1000" dirty="0"/>
          </a:p>
        </p:txBody>
      </p:sp>
      <p:sp>
        <p:nvSpPr>
          <p:cNvPr id="69" name="Shape 48"/>
          <p:cNvSpPr/>
          <p:nvPr/>
        </p:nvSpPr>
        <p:spPr>
          <a:xfrm>
            <a:off x="7515454" y="4381805"/>
            <a:ext cx="17337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0" name="Text 49"/>
          <p:cNvSpPr txBox="1"/>
          <p:nvPr/>
        </p:nvSpPr>
        <p:spPr>
          <a:xfrm>
            <a:off x="8001914" y="4466844"/>
            <a:ext cx="13240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C48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Not Exposed</a:t>
            </a:r>
            <a:endParaRPr lang="en-US" sz="900" dirty="0"/>
          </a:p>
        </p:txBody>
      </p:sp>
      <p:pic>
        <p:nvPicPr>
          <p:cNvPr id="71" name="Image 19" descr="preencoded.png"/>
          <p:cNvPicPr>
            <a:picLocks noChangeAspect="1"/>
          </p:cNvPicPr>
          <p:nvPr/>
        </p:nvPicPr>
        <p:blipFill>
          <a:blip r:embed="rId17"/>
          <a:srcRect t="-80" b="-80"/>
          <a:stretch/>
        </p:blipFill>
        <p:spPr>
          <a:xfrm>
            <a:off x="7820863" y="4490618"/>
            <a:ext cx="142646" cy="114300"/>
          </a:xfrm>
          <a:prstGeom prst="rect">
            <a:avLst/>
          </a:prstGeom>
        </p:spPr>
      </p:pic>
      <p:pic>
        <p:nvPicPr>
          <p:cNvPr id="72" name="Image 20" descr="preencoded.png"/>
          <p:cNvPicPr>
            <a:picLocks noChangeAspect="1"/>
          </p:cNvPicPr>
          <p:nvPr/>
        </p:nvPicPr>
        <p:blipFill>
          <a:blip r:embed="rId9"/>
          <a:srcRect t="-13" b="-13"/>
          <a:stretch/>
        </p:blipFill>
        <p:spPr>
          <a:xfrm>
            <a:off x="9601200" y="2152498"/>
            <a:ext cx="2133295" cy="2667305"/>
          </a:xfrm>
          <a:prstGeom prst="rect">
            <a:avLst/>
          </a:prstGeom>
        </p:spPr>
      </p:pic>
      <p:sp>
        <p:nvSpPr>
          <p:cNvPr id="73" name="Shape 50"/>
          <p:cNvSpPr/>
          <p:nvPr/>
        </p:nvSpPr>
        <p:spPr>
          <a:xfrm>
            <a:off x="11201400" y="2162556"/>
            <a:ext cx="523951" cy="304495"/>
          </a:xfrm>
          <a:prstGeom prst="roundRect">
            <a:avLst>
              <a:gd name="adj" fmla="val 75075"/>
            </a:avLst>
          </a:prstGeom>
          <a:solidFill>
            <a:srgbClr val="34D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4" name="Text 51"/>
          <p:cNvSpPr txBox="1"/>
          <p:nvPr/>
        </p:nvSpPr>
        <p:spPr>
          <a:xfrm>
            <a:off x="11162995" y="2162556"/>
            <a:ext cx="600761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</a:t>
            </a:r>
            <a:endParaRPr lang="en-US" sz="1200" dirty="0"/>
          </a:p>
        </p:txBody>
      </p:sp>
      <p:sp>
        <p:nvSpPr>
          <p:cNvPr id="75" name="Shape 52"/>
          <p:cNvSpPr/>
          <p:nvPr/>
        </p:nvSpPr>
        <p:spPr>
          <a:xfrm>
            <a:off x="10401300" y="2352751"/>
            <a:ext cx="533095" cy="533095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76" name="Image 21" descr="preencoded.png"/>
          <p:cNvPicPr>
            <a:picLocks noChangeAspect="1"/>
          </p:cNvPicPr>
          <p:nvPr/>
        </p:nvPicPr>
        <p:blipFill>
          <a:blip r:embed="rId18"/>
          <a:srcRect t="-45" b="-45"/>
          <a:stretch/>
        </p:blipFill>
        <p:spPr>
          <a:xfrm>
            <a:off x="10539374" y="2505456"/>
            <a:ext cx="256946" cy="228600"/>
          </a:xfrm>
          <a:prstGeom prst="rect">
            <a:avLst/>
          </a:prstGeom>
        </p:spPr>
      </p:pic>
      <p:sp>
        <p:nvSpPr>
          <p:cNvPr id="77" name="Text 53"/>
          <p:cNvSpPr txBox="1"/>
          <p:nvPr/>
        </p:nvSpPr>
        <p:spPr>
          <a:xfrm>
            <a:off x="9793224" y="3038551"/>
            <a:ext cx="1757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Signature Aggregation</a:t>
            </a:r>
            <a:endParaRPr lang="en-US" sz="1000" dirty="0"/>
          </a:p>
        </p:txBody>
      </p:sp>
      <p:sp>
        <p:nvSpPr>
          <p:cNvPr id="78" name="Shape 54"/>
          <p:cNvSpPr/>
          <p:nvPr/>
        </p:nvSpPr>
        <p:spPr>
          <a:xfrm>
            <a:off x="9801454" y="3267151"/>
            <a:ext cx="1733702" cy="228600"/>
          </a:xfrm>
          <a:prstGeom prst="roundRect">
            <a:avLst>
              <a:gd name="adj" fmla="val 133333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9" name="Text 55"/>
          <p:cNvSpPr txBox="1"/>
          <p:nvPr/>
        </p:nvSpPr>
        <p:spPr>
          <a:xfrm>
            <a:off x="9766706" y="3267151"/>
            <a:ext cx="180319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Result</a:t>
            </a:r>
            <a:endParaRPr lang="en-US" sz="900" dirty="0"/>
          </a:p>
        </p:txBody>
      </p:sp>
      <p:sp>
        <p:nvSpPr>
          <p:cNvPr id="80" name="Text 56"/>
          <p:cNvSpPr txBox="1"/>
          <p:nvPr/>
        </p:nvSpPr>
        <p:spPr>
          <a:xfrm>
            <a:off x="9766706" y="3638398"/>
            <a:ext cx="180319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부분 서명들을 결합하여 최종 서명을 완성합니다.</a:t>
            </a:r>
            <a:endParaRPr lang="en-US" sz="900" dirty="0"/>
          </a:p>
        </p:txBody>
      </p:sp>
      <p:sp>
        <p:nvSpPr>
          <p:cNvPr id="81" name="Shape 57"/>
          <p:cNvSpPr/>
          <p:nvPr/>
        </p:nvSpPr>
        <p:spPr>
          <a:xfrm>
            <a:off x="9801454" y="4028846"/>
            <a:ext cx="1733702" cy="286207"/>
          </a:xfrm>
          <a:prstGeom prst="roundRect">
            <a:avLst>
              <a:gd name="adj" fmla="val 85197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2" name="Text 58"/>
          <p:cNvSpPr txBox="1"/>
          <p:nvPr/>
        </p:nvSpPr>
        <p:spPr>
          <a:xfrm>
            <a:off x="9766706" y="4028846"/>
            <a:ext cx="180319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38100" rIns="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F4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 = Σs</a:t>
            </a:r>
            <a:r>
              <a:rPr lang="en-US" sz="800" b="1" dirty="0">
                <a:solidFill>
                  <a:srgbClr val="065F4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</a:t>
            </a:r>
            <a:r>
              <a:rPr lang="en-US" sz="1000" b="1" dirty="0">
                <a:solidFill>
                  <a:srgbClr val="065F4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σ = (R, s) </a:t>
            </a:r>
            <a:endParaRPr lang="en-US" sz="1000" dirty="0"/>
          </a:p>
        </p:txBody>
      </p:sp>
      <p:sp>
        <p:nvSpPr>
          <p:cNvPr id="83" name="Shape 59"/>
          <p:cNvSpPr/>
          <p:nvPr/>
        </p:nvSpPr>
        <p:spPr>
          <a:xfrm>
            <a:off x="9801454" y="4381805"/>
            <a:ext cx="17337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4" name="Text 60"/>
          <p:cNvSpPr txBox="1"/>
          <p:nvPr/>
        </p:nvSpPr>
        <p:spPr>
          <a:xfrm>
            <a:off x="10265969" y="4466844"/>
            <a:ext cx="134599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Standard Format</a:t>
            </a:r>
            <a:endParaRPr lang="en-US" sz="900" dirty="0"/>
          </a:p>
        </p:txBody>
      </p:sp>
      <p:pic>
        <p:nvPicPr>
          <p:cNvPr id="85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10114178" y="4490618"/>
            <a:ext cx="114300" cy="114300"/>
          </a:xfrm>
          <a:prstGeom prst="rect">
            <a:avLst/>
          </a:prstGeom>
        </p:spPr>
      </p:pic>
      <p:pic>
        <p:nvPicPr>
          <p:cNvPr id="86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371600" y="1752905"/>
            <a:ext cx="304495" cy="304495"/>
          </a:xfrm>
          <a:prstGeom prst="rect">
            <a:avLst/>
          </a:prstGeom>
        </p:spPr>
      </p:pic>
      <p:sp>
        <p:nvSpPr>
          <p:cNvPr id="87" name="Text 61"/>
          <p:cNvSpPr/>
          <p:nvPr/>
        </p:nvSpPr>
        <p:spPr>
          <a:xfrm>
            <a:off x="1343254" y="1752905"/>
            <a:ext cx="3621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pic>
        <p:nvPicPr>
          <p:cNvPr id="88" name="Image 24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3657600" y="1752905"/>
            <a:ext cx="304495" cy="304495"/>
          </a:xfrm>
          <a:prstGeom prst="rect">
            <a:avLst/>
          </a:prstGeom>
        </p:spPr>
      </p:pic>
      <p:sp>
        <p:nvSpPr>
          <p:cNvPr id="89" name="Text 62"/>
          <p:cNvSpPr/>
          <p:nvPr/>
        </p:nvSpPr>
        <p:spPr>
          <a:xfrm>
            <a:off x="3629254" y="1752905"/>
            <a:ext cx="3621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pic>
        <p:nvPicPr>
          <p:cNvPr id="90" name="Image 25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5943600" y="1752905"/>
            <a:ext cx="304495" cy="304495"/>
          </a:xfrm>
          <a:prstGeom prst="rect">
            <a:avLst/>
          </a:prstGeom>
        </p:spPr>
      </p:pic>
      <p:sp>
        <p:nvSpPr>
          <p:cNvPr id="91" name="Text 63"/>
          <p:cNvSpPr/>
          <p:nvPr/>
        </p:nvSpPr>
        <p:spPr>
          <a:xfrm>
            <a:off x="5915254" y="1752905"/>
            <a:ext cx="3621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pic>
        <p:nvPicPr>
          <p:cNvPr id="92" name="Image 26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229600" y="1752905"/>
            <a:ext cx="304495" cy="304495"/>
          </a:xfrm>
          <a:prstGeom prst="rect">
            <a:avLst/>
          </a:prstGeom>
        </p:spPr>
      </p:pic>
      <p:sp>
        <p:nvSpPr>
          <p:cNvPr id="93" name="Text 64"/>
          <p:cNvSpPr/>
          <p:nvPr/>
        </p:nvSpPr>
        <p:spPr>
          <a:xfrm>
            <a:off x="8201254" y="1752905"/>
            <a:ext cx="3621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pic>
        <p:nvPicPr>
          <p:cNvPr id="94" name="Image 27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10515600" y="1752905"/>
            <a:ext cx="304495" cy="304495"/>
          </a:xfrm>
          <a:prstGeom prst="rect">
            <a:avLst/>
          </a:prstGeom>
        </p:spPr>
      </p:pic>
      <p:sp>
        <p:nvSpPr>
          <p:cNvPr id="95" name="Text 65"/>
          <p:cNvSpPr/>
          <p:nvPr/>
        </p:nvSpPr>
        <p:spPr>
          <a:xfrm>
            <a:off x="10487254" y="1752905"/>
            <a:ext cx="3621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  <p:sp>
        <p:nvSpPr>
          <p:cNvPr id="96" name="Shape 66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97" name="Shape 67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8" name="Text 68"/>
          <p:cNvSpPr txBox="1"/>
          <p:nvPr/>
        </p:nvSpPr>
        <p:spPr>
          <a:xfrm>
            <a:off x="457200" y="6596482"/>
            <a:ext cx="191566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Threshold Signature Protocol</a:t>
            </a:r>
            <a:endParaRPr lang="en-US" sz="900" dirty="0"/>
          </a:p>
        </p:txBody>
      </p:sp>
      <p:sp>
        <p:nvSpPr>
          <p:cNvPr id="99" name="Text 69"/>
          <p:cNvSpPr txBox="1"/>
          <p:nvPr/>
        </p:nvSpPr>
        <p:spPr>
          <a:xfrm>
            <a:off x="11351362" y="6596482"/>
            <a:ext cx="2194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900" dirty="0"/>
          </a:p>
        </p:txBody>
      </p:sp>
      <p:sp>
        <p:nvSpPr>
          <p:cNvPr id="100" name="Text 70"/>
          <p:cNvSpPr txBox="1"/>
          <p:nvPr/>
        </p:nvSpPr>
        <p:spPr>
          <a:xfrm>
            <a:off x="11525098" y="6596482"/>
            <a:ext cx="124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endParaRPr lang="en-US" sz="900" dirty="0"/>
          </a:p>
        </p:txBody>
      </p:sp>
      <p:sp>
        <p:nvSpPr>
          <p:cNvPr id="101" name="Text 71"/>
          <p:cNvSpPr txBox="1"/>
          <p:nvPr/>
        </p:nvSpPr>
        <p:spPr>
          <a:xfrm>
            <a:off x="11607394" y="6596482"/>
            <a:ext cx="210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81" b="-81"/>
          <a:stretch/>
        </p:blipFill>
        <p:spPr>
          <a:xfrm>
            <a:off x="0" y="1047902"/>
            <a:ext cx="12191695" cy="28620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86207"/>
            <a:ext cx="115443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모델 및 적대자 유형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238098"/>
            <a:ext cx="3734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9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Corruption Timing (공격 시점)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8" b="-8"/>
          <a:stretch/>
        </p:blipFill>
        <p:spPr>
          <a:xfrm>
            <a:off x="476402" y="1576426"/>
            <a:ext cx="3619195" cy="119786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76656" y="1709928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761695" y="1785823"/>
            <a:ext cx="133502" cy="15270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76249" y="1747418"/>
            <a:ext cx="15416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Static Corruption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676656" y="2090318"/>
            <a:ext cx="33439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프로토콜 시작 전 감염 대상을 결정합니다. 분석 용이하나 현실성 부족 가능.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676656" y="2450592"/>
            <a:ext cx="886054" cy="190195"/>
          </a:xfrm>
          <a:prstGeom prst="roundRect">
            <a:avLst>
              <a:gd name="adj" fmla="val 48077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4" name="Text 9"/>
          <p:cNvSpPr/>
          <p:nvPr/>
        </p:nvSpPr>
        <p:spPr>
          <a:xfrm>
            <a:off x="647395" y="2450592"/>
            <a:ext cx="943661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Pre-determined</a:t>
            </a:r>
            <a:endParaRPr lang="en-US" sz="8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t="-8" b="-8"/>
          <a:stretch/>
        </p:blipFill>
        <p:spPr>
          <a:xfrm>
            <a:off x="476402" y="2888590"/>
            <a:ext cx="3619195" cy="119786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76656" y="3022092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2551" y="3097987"/>
            <a:ext cx="152705" cy="15270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76249" y="3059582"/>
            <a:ext cx="18251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Adaptive Corruption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676656" y="3402482"/>
            <a:ext cx="33439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중 동적으로 대상을 감염시킵니다. 강력한 공격 모델로 증명이 어렵습니다.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676656" y="3762756"/>
            <a:ext cx="562356" cy="190195"/>
          </a:xfrm>
          <a:prstGeom prst="roundRect">
            <a:avLst>
              <a:gd name="adj" fmla="val 480770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1" name="Text 14"/>
          <p:cNvSpPr/>
          <p:nvPr/>
        </p:nvSpPr>
        <p:spPr>
          <a:xfrm>
            <a:off x="647395" y="3762756"/>
            <a:ext cx="619963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Dynamic</a:t>
            </a:r>
            <a:endParaRPr lang="en-US" sz="800" dirty="0"/>
          </a:p>
        </p:txBody>
      </p:sp>
      <p:sp>
        <p:nvSpPr>
          <p:cNvPr id="22" name="Text 15"/>
          <p:cNvSpPr txBox="1"/>
          <p:nvPr/>
        </p:nvSpPr>
        <p:spPr>
          <a:xfrm>
            <a:off x="4286707" y="1238098"/>
            <a:ext cx="3734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9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Adversary Behavior (행동 유형)</a:t>
            </a:r>
            <a:endParaRPr lang="en-US" sz="9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t="-8" b="-8"/>
          <a:stretch/>
        </p:blipFill>
        <p:spPr>
          <a:xfrm>
            <a:off x="4286707" y="1576426"/>
            <a:ext cx="3619195" cy="1197864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4486046" y="1709928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rcRect t="-43" b="-43"/>
          <a:stretch/>
        </p:blipFill>
        <p:spPr>
          <a:xfrm>
            <a:off x="4572000" y="1785823"/>
            <a:ext cx="133502" cy="15270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4886554" y="1747418"/>
            <a:ext cx="1760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Honest-but-Curious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4486046" y="2090318"/>
            <a:ext cx="33439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절차는 준수하되 메시지를 통해 비밀 정보를 획득하려는 수동적 공격입니다.</a:t>
            </a:r>
            <a:endParaRPr lang="en-US" sz="900" dirty="0"/>
          </a:p>
        </p:txBody>
      </p:sp>
      <p:sp>
        <p:nvSpPr>
          <p:cNvPr id="28" name="Shape 19"/>
          <p:cNvSpPr/>
          <p:nvPr/>
        </p:nvSpPr>
        <p:spPr>
          <a:xfrm>
            <a:off x="4486046" y="2450592"/>
            <a:ext cx="819302" cy="190195"/>
          </a:xfrm>
          <a:prstGeom prst="roundRect">
            <a:avLst>
              <a:gd name="adj" fmla="val 480770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9" name="Text 20"/>
          <p:cNvSpPr/>
          <p:nvPr/>
        </p:nvSpPr>
        <p:spPr>
          <a:xfrm>
            <a:off x="4457700" y="2450592"/>
            <a:ext cx="8769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Passive Attack</a:t>
            </a:r>
            <a:endParaRPr lang="en-US" sz="8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rcRect t="-8" b="-8"/>
          <a:stretch/>
        </p:blipFill>
        <p:spPr>
          <a:xfrm>
            <a:off x="4286707" y="2888590"/>
            <a:ext cx="3619195" cy="1197864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4486046" y="3022092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562856" y="3097987"/>
            <a:ext cx="152705" cy="152705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4886554" y="3059582"/>
            <a:ext cx="18022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Malicious Adversary</a:t>
            </a:r>
            <a:endParaRPr lang="en-US" sz="1200" dirty="0"/>
          </a:p>
        </p:txBody>
      </p:sp>
      <p:sp>
        <p:nvSpPr>
          <p:cNvPr id="34" name="Shape 23"/>
          <p:cNvSpPr/>
          <p:nvPr/>
        </p:nvSpPr>
        <p:spPr>
          <a:xfrm>
            <a:off x="4486046" y="3977640"/>
            <a:ext cx="761695" cy="190195"/>
          </a:xfrm>
          <a:prstGeom prst="roundRect">
            <a:avLst>
              <a:gd name="adj" fmla="val 480770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5" name="Text 24"/>
          <p:cNvSpPr/>
          <p:nvPr/>
        </p:nvSpPr>
        <p:spPr>
          <a:xfrm>
            <a:off x="4457700" y="3977640"/>
            <a:ext cx="819302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Active Attack</a:t>
            </a:r>
            <a:endParaRPr lang="en-US" sz="800" dirty="0"/>
          </a:p>
        </p:txBody>
      </p:sp>
      <p:sp>
        <p:nvSpPr>
          <p:cNvPr id="36" name="Text 25"/>
          <p:cNvSpPr txBox="1"/>
          <p:nvPr/>
        </p:nvSpPr>
        <p:spPr>
          <a:xfrm>
            <a:off x="8096098" y="1238098"/>
            <a:ext cx="3734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9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Robustness (견고성)</a:t>
            </a:r>
            <a:endParaRPr lang="en-US" sz="90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2"/>
          <a:srcRect t="-8" b="-8"/>
          <a:stretch/>
        </p:blipFill>
        <p:spPr>
          <a:xfrm>
            <a:off x="8096098" y="1576426"/>
            <a:ext cx="3619195" cy="2510028"/>
          </a:xfrm>
          <a:prstGeom prst="rect">
            <a:avLst/>
          </a:prstGeom>
        </p:spPr>
      </p:pic>
      <p:sp>
        <p:nvSpPr>
          <p:cNvPr id="38" name="Shape 26"/>
          <p:cNvSpPr/>
          <p:nvPr/>
        </p:nvSpPr>
        <p:spPr>
          <a:xfrm>
            <a:off x="8296351" y="1709928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372246" y="1785823"/>
            <a:ext cx="152705" cy="152705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8695944" y="1747418"/>
            <a:ext cx="13267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Protocol Types</a:t>
            </a:r>
            <a:endParaRPr lang="en-US" sz="1200" dirty="0"/>
          </a:p>
        </p:txBody>
      </p:sp>
      <p:sp>
        <p:nvSpPr>
          <p:cNvPr id="41" name="Text 28"/>
          <p:cNvSpPr txBox="1"/>
          <p:nvPr/>
        </p:nvSpPr>
        <p:spPr>
          <a:xfrm>
            <a:off x="8296351" y="2296058"/>
            <a:ext cx="34582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부정 행위 감지 시 즉시 중단. 구현 간단, 가용성 낮음.</a:t>
            </a:r>
            <a:endParaRPr lang="en-US" sz="900" dirty="0"/>
          </a:p>
        </p:txBody>
      </p:sp>
      <p:sp>
        <p:nvSpPr>
          <p:cNvPr id="42" name="Shape 29"/>
          <p:cNvSpPr/>
          <p:nvPr/>
        </p:nvSpPr>
        <p:spPr>
          <a:xfrm>
            <a:off x="8296351" y="2570378"/>
            <a:ext cx="3267151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3" name="Text 30"/>
          <p:cNvSpPr txBox="1"/>
          <p:nvPr/>
        </p:nvSpPr>
        <p:spPr>
          <a:xfrm>
            <a:off x="8296351" y="2881274"/>
            <a:ext cx="34582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악의적 참여자를 배제하고 완료. 실제 시스템에 필수.</a:t>
            </a:r>
            <a:endParaRPr lang="en-US" sz="900" dirty="0"/>
          </a:p>
        </p:txBody>
      </p:sp>
      <p:sp>
        <p:nvSpPr>
          <p:cNvPr id="44" name="Shape 31"/>
          <p:cNvSpPr/>
          <p:nvPr/>
        </p:nvSpPr>
        <p:spPr>
          <a:xfrm>
            <a:off x="8296351" y="3762756"/>
            <a:ext cx="1028700" cy="190195"/>
          </a:xfrm>
          <a:prstGeom prst="roundRect">
            <a:avLst>
              <a:gd name="adj" fmla="val 480770"/>
            </a:avLst>
          </a:prstGeom>
          <a:solidFill>
            <a:srgbClr val="C7D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5" name="Text 32"/>
          <p:cNvSpPr/>
          <p:nvPr/>
        </p:nvSpPr>
        <p:spPr>
          <a:xfrm>
            <a:off x="8268005" y="3762756"/>
            <a:ext cx="1086307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30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Availability Critical</a:t>
            </a:r>
            <a:endParaRPr lang="en-US" sz="800" dirty="0"/>
          </a:p>
        </p:txBody>
      </p:sp>
      <p:sp>
        <p:nvSpPr>
          <p:cNvPr id="46" name="Shape 33"/>
          <p:cNvSpPr/>
          <p:nvPr/>
        </p:nvSpPr>
        <p:spPr>
          <a:xfrm>
            <a:off x="476402" y="4276649"/>
            <a:ext cx="11239805" cy="2295144"/>
          </a:xfrm>
          <a:prstGeom prst="roundRect">
            <a:avLst>
              <a:gd name="adj" fmla="val 52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7" name="Text 34"/>
          <p:cNvSpPr txBox="1"/>
          <p:nvPr/>
        </p:nvSpPr>
        <p:spPr>
          <a:xfrm>
            <a:off x="676656" y="4438498"/>
            <a:ext cx="10954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9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Defense Mechanisms (방어 메커니즘)</a:t>
            </a:r>
            <a:endParaRPr lang="en-US" sz="900" dirty="0"/>
          </a:p>
        </p:txBody>
      </p:sp>
      <p:sp>
        <p:nvSpPr>
          <p:cNvPr id="48" name="Shape 35"/>
          <p:cNvSpPr/>
          <p:nvPr/>
        </p:nvSpPr>
        <p:spPr>
          <a:xfrm>
            <a:off x="676656" y="4719218"/>
            <a:ext cx="3514954" cy="1695298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9" name="Text 36"/>
          <p:cNvSpPr txBox="1"/>
          <p:nvPr/>
        </p:nvSpPr>
        <p:spPr>
          <a:xfrm>
            <a:off x="1067105" y="4862779"/>
            <a:ext cx="30961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VSS Share Verification </a:t>
            </a:r>
            <a:endParaRPr lang="en-US" sz="1100" dirty="0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19302" y="4862779"/>
            <a:ext cx="247802" cy="247802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819302" y="5186477"/>
            <a:ext cx="330555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Verifiable Secret Sharing을 통해 각 참여자가 수신한 Share의 수학적 정당성을 검증합니다. 잘못된 Share를 받은 경우 즉시 이의를 제기할 수 있습니다.</a:t>
            </a:r>
            <a:endParaRPr lang="en-US" sz="900" dirty="0"/>
          </a:p>
        </p:txBody>
      </p:sp>
      <p:sp>
        <p:nvSpPr>
          <p:cNvPr id="52" name="Shape 38"/>
          <p:cNvSpPr/>
          <p:nvPr/>
        </p:nvSpPr>
        <p:spPr>
          <a:xfrm>
            <a:off x="4339742" y="4719218"/>
            <a:ext cx="3514954" cy="1695298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3" name="Text 39"/>
          <p:cNvSpPr txBox="1"/>
          <p:nvPr/>
        </p:nvSpPr>
        <p:spPr>
          <a:xfrm>
            <a:off x="4769510" y="4862779"/>
            <a:ext cx="30577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Commitment Phase </a:t>
            </a:r>
            <a:endParaRPr lang="en-US" sz="1100" dirty="0"/>
          </a:p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5"/>
          <a:srcRect t="-4113" b="-4113"/>
          <a:stretch/>
        </p:blipFill>
        <p:spPr>
          <a:xfrm>
            <a:off x="4483303" y="4862779"/>
            <a:ext cx="286207" cy="247802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4483303" y="5186477"/>
            <a:ext cx="330555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값을 공개하기 전에 암호학적 Commitment를 먼저 교환합니다. 이를 통해 나중에 값을 변경하는 행위(Cheating)를 원천적으로 방지합니다.</a:t>
            </a:r>
            <a:endParaRPr lang="en-US" sz="900" dirty="0"/>
          </a:p>
        </p:txBody>
      </p:sp>
      <p:sp>
        <p:nvSpPr>
          <p:cNvPr id="56" name="Shape 41"/>
          <p:cNvSpPr/>
          <p:nvPr/>
        </p:nvSpPr>
        <p:spPr>
          <a:xfrm>
            <a:off x="8003743" y="4719218"/>
            <a:ext cx="3514954" cy="1695298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7" name="Text 42"/>
          <p:cNvSpPr txBox="1"/>
          <p:nvPr/>
        </p:nvSpPr>
        <p:spPr>
          <a:xfrm>
            <a:off x="8433511" y="4862779"/>
            <a:ext cx="30577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Zero-Knowledge Proofs </a:t>
            </a:r>
            <a:endParaRPr lang="en-US" sz="1100" dirty="0"/>
          </a:p>
        </p:txBody>
      </p:sp>
      <p:pic>
        <p:nvPicPr>
          <p:cNvPr id="58" name="Image 13" descr="preencoded.png"/>
          <p:cNvPicPr>
            <a:picLocks noChangeAspect="1"/>
          </p:cNvPicPr>
          <p:nvPr/>
        </p:nvPicPr>
        <p:blipFill>
          <a:blip r:embed="rId16"/>
          <a:srcRect t="-4113" b="-4113"/>
          <a:stretch/>
        </p:blipFill>
        <p:spPr>
          <a:xfrm>
            <a:off x="8147304" y="4862779"/>
            <a:ext cx="286207" cy="247802"/>
          </a:xfrm>
          <a:prstGeom prst="rect">
            <a:avLst/>
          </a:prstGeom>
        </p:spPr>
      </p:pic>
      <p:sp>
        <p:nvSpPr>
          <p:cNvPr id="59" name="Text 43"/>
          <p:cNvSpPr txBox="1"/>
          <p:nvPr/>
        </p:nvSpPr>
        <p:spPr>
          <a:xfrm>
            <a:off x="8147304" y="5186477"/>
            <a:ext cx="330555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비밀 정보 자체는 전혀 노출하지 않으면서도, 해당 정보가 올바르게 생성되고 연산되었음을 수학적으로 증명하는 기법을 사용합니다.</a:t>
            </a:r>
            <a:endParaRPr lang="en-US" sz="900" dirty="0"/>
          </a:p>
        </p:txBody>
      </p:sp>
      <p:sp>
        <p:nvSpPr>
          <p:cNvPr id="60" name="Text 44"/>
          <p:cNvSpPr txBox="1"/>
          <p:nvPr/>
        </p:nvSpPr>
        <p:spPr>
          <a:xfrm>
            <a:off x="8296351" y="2081174"/>
            <a:ext cx="114482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30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Abort Protocol</a:t>
            </a:r>
            <a:endParaRPr lang="en-US" sz="1000" dirty="0"/>
          </a:p>
        </p:txBody>
      </p:sp>
      <p:sp>
        <p:nvSpPr>
          <p:cNvPr id="61" name="Text 45"/>
          <p:cNvSpPr txBox="1"/>
          <p:nvPr/>
        </p:nvSpPr>
        <p:spPr>
          <a:xfrm>
            <a:off x="8296351" y="2666390"/>
            <a:ext cx="12582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30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Robust Protocol</a:t>
            </a:r>
            <a:endParaRPr lang="en-US" sz="1000" dirty="0"/>
          </a:p>
        </p:txBody>
      </p:sp>
      <p:sp>
        <p:nvSpPr>
          <p:cNvPr id="62" name="Text 46"/>
          <p:cNvSpPr txBox="1"/>
          <p:nvPr/>
        </p:nvSpPr>
        <p:spPr>
          <a:xfrm>
            <a:off x="476402" y="838505"/>
            <a:ext cx="11430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Threshold 시스템의 안전성을 보장하기 위한 공격 모델 분석과 방어 메커니즘</a:t>
            </a:r>
            <a:endParaRPr lang="en-US" sz="1300" dirty="0"/>
          </a:p>
        </p:txBody>
      </p:sp>
      <p:sp>
        <p:nvSpPr>
          <p:cNvPr id="63" name="Text 47"/>
          <p:cNvSpPr txBox="1"/>
          <p:nvPr/>
        </p:nvSpPr>
        <p:spPr>
          <a:xfrm>
            <a:off x="4486046" y="3440887"/>
            <a:ext cx="33814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거짓 Share 전송</a:t>
            </a:r>
            <a:endParaRPr lang="en-US" sz="900" dirty="0"/>
          </a:p>
        </p:txBody>
      </p:sp>
      <p:sp>
        <p:nvSpPr>
          <p:cNvPr id="64" name="Text 48"/>
          <p:cNvSpPr txBox="1"/>
          <p:nvPr/>
        </p:nvSpPr>
        <p:spPr>
          <a:xfrm>
            <a:off x="4486046" y="3620110"/>
            <a:ext cx="34582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메시지 전송 중단</a:t>
            </a:r>
            <a:endParaRPr lang="en-US" sz="900" dirty="0"/>
          </a:p>
        </p:txBody>
      </p:sp>
      <p:sp>
        <p:nvSpPr>
          <p:cNvPr id="65" name="Text 49"/>
          <p:cNvSpPr txBox="1"/>
          <p:nvPr/>
        </p:nvSpPr>
        <p:spPr>
          <a:xfrm>
            <a:off x="4486046" y="3799332"/>
            <a:ext cx="33814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Protocol Deviation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" name="Shape 2"/>
          <p:cNvSpPr/>
          <p:nvPr/>
        </p:nvSpPr>
        <p:spPr>
          <a:xfrm rot="2700000">
            <a:off x="-476402" y="4476902"/>
            <a:ext cx="1904695" cy="1904695"/>
          </a:xfrm>
          <a:prstGeom prst="rect">
            <a:avLst/>
          </a:prstGeom>
          <a:solidFill>
            <a:srgbClr val="8B5C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" name="Shape 3"/>
          <p:cNvSpPr/>
          <p:nvPr/>
        </p:nvSpPr>
        <p:spPr>
          <a:xfrm>
            <a:off x="304495" y="1191463"/>
            <a:ext cx="115827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61695" y="381305"/>
            <a:ext cx="3838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609905"/>
            <a:ext cx="444307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Real-world Use Cases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181698" y="771754"/>
            <a:ext cx="425196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Threshold Cryptography의 실제 적용 분야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11" b="-11"/>
          <a:stretch/>
        </p:blipFill>
        <p:spPr>
          <a:xfrm>
            <a:off x="609905" y="1580998"/>
            <a:ext cx="5333695" cy="280080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23544" y="1895551"/>
            <a:ext cx="571500" cy="571500"/>
          </a:xfrm>
          <a:prstGeom prst="ellipse">
            <a:avLst/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95451" y="2066544"/>
            <a:ext cx="228600" cy="2286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906670" y="1895551"/>
            <a:ext cx="724205" cy="228600"/>
          </a:xfrm>
          <a:prstGeom prst="roundRect">
            <a:avLst>
              <a:gd name="adj" fmla="val 400000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4" name="Text 9"/>
          <p:cNvSpPr/>
          <p:nvPr/>
        </p:nvSpPr>
        <p:spPr>
          <a:xfrm>
            <a:off x="4877410" y="1895551"/>
            <a:ext cx="78181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Finance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923544" y="2619756"/>
            <a:ext cx="48198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Cryptocurrency Custody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923544" y="3038551"/>
            <a:ext cx="47823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암호화폐 지갑의 Private Key를 단일 서버가 아닌 여러 참여자에게 분산 보관하여, 해킹으로 인한 자산 탈취 위험을 원천 차단합니다.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923544" y="3685946"/>
            <a:ext cx="47055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23544" y="3877056"/>
            <a:ext cx="133502" cy="1335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33856" y="3685946"/>
            <a:ext cx="199156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Secure MPC Wallet, Anti-Theft</a:t>
            </a:r>
            <a:endParaRPr lang="en-US" sz="1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rcRect t="-11" b="-11"/>
          <a:stretch/>
        </p:blipFill>
        <p:spPr>
          <a:xfrm>
            <a:off x="6248095" y="1580998"/>
            <a:ext cx="5333695" cy="2800807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562649" y="1895551"/>
            <a:ext cx="571500" cy="5715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34556" y="2066544"/>
            <a:ext cx="228600" cy="22860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10019081" y="1895551"/>
            <a:ext cx="1257300" cy="228600"/>
          </a:xfrm>
          <a:prstGeom prst="roundRect">
            <a:avLst>
              <a:gd name="adj" fmla="val 4000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4" name="Text 16"/>
          <p:cNvSpPr/>
          <p:nvPr/>
        </p:nvSpPr>
        <p:spPr>
          <a:xfrm>
            <a:off x="9989820" y="1895551"/>
            <a:ext cx="13149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6562649" y="2619756"/>
            <a:ext cx="48198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Distributed HSM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6562649" y="3038551"/>
            <a:ext cx="47823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HSM 노드가 협력하여 암호 연산을 수행함으로써, 단일 장비 장애 시에도 서비스 중단 없는 고가용성(High Availability)을 보장합니다.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6562649" y="3685946"/>
            <a:ext cx="47055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62649" y="3877056"/>
            <a:ext cx="133502" cy="13350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772046" y="3685946"/>
            <a:ext cx="22293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Fault Tolerance, Non-stop Service</a:t>
            </a:r>
            <a:endParaRPr lang="en-US" sz="10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4"/>
          <a:srcRect t="-11" b="-11"/>
          <a:stretch/>
        </p:blipFill>
        <p:spPr>
          <a:xfrm>
            <a:off x="609905" y="4686300"/>
            <a:ext cx="5333695" cy="2800807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923544" y="5000854"/>
            <a:ext cx="571500" cy="57150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95451" y="5171846"/>
            <a:ext cx="228600" cy="22860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4850892" y="5000854"/>
            <a:ext cx="780898" cy="228600"/>
          </a:xfrm>
          <a:prstGeom prst="roundRect">
            <a:avLst>
              <a:gd name="adj" fmla="val 400000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4" name="Text 23"/>
          <p:cNvSpPr/>
          <p:nvPr/>
        </p:nvSpPr>
        <p:spPr>
          <a:xfrm>
            <a:off x="4822546" y="5000854"/>
            <a:ext cx="8385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Security</a:t>
            </a:r>
            <a:endParaRPr lang="en-US" sz="900" dirty="0"/>
          </a:p>
        </p:txBody>
      </p:sp>
      <p:sp>
        <p:nvSpPr>
          <p:cNvPr id="35" name="Text 24"/>
          <p:cNvSpPr txBox="1"/>
          <p:nvPr/>
        </p:nvSpPr>
        <p:spPr>
          <a:xfrm>
            <a:off x="923544" y="5724144"/>
            <a:ext cx="48198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 Root Key Protection</a:t>
            </a:r>
            <a:endParaRPr lang="en-US" sz="1800" dirty="0"/>
          </a:p>
        </p:txBody>
      </p:sp>
      <p:sp>
        <p:nvSpPr>
          <p:cNvPr id="36" name="Text 25"/>
          <p:cNvSpPr txBox="1"/>
          <p:nvPr/>
        </p:nvSpPr>
        <p:spPr>
          <a:xfrm>
            <a:off x="923544" y="6143854"/>
            <a:ext cx="47823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 기관(CA)의 최상위 루트 키를 Threshold Shares로 분산하여, 물리적 탈취나 내부 공모 시에도 키 전체가 유출되는 피해를 방지합니다.</a:t>
            </a:r>
            <a:endParaRPr lang="en-US" sz="1200" dirty="0"/>
          </a:p>
        </p:txBody>
      </p:sp>
      <p:sp>
        <p:nvSpPr>
          <p:cNvPr id="37" name="Shape 26"/>
          <p:cNvSpPr/>
          <p:nvPr/>
        </p:nvSpPr>
        <p:spPr>
          <a:xfrm>
            <a:off x="923544" y="6791249"/>
            <a:ext cx="47055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23544" y="6981444"/>
            <a:ext cx="133502" cy="133502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1133856" y="6791249"/>
            <a:ext cx="190195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Root of Trust, Key Ceremony</a:t>
            </a:r>
            <a:endParaRPr lang="en-US" sz="100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4"/>
          <a:srcRect t="-11" b="-11"/>
          <a:stretch/>
        </p:blipFill>
        <p:spPr>
          <a:xfrm>
            <a:off x="6248095" y="4686300"/>
            <a:ext cx="5333695" cy="2800807"/>
          </a:xfrm>
          <a:prstGeom prst="rect">
            <a:avLst/>
          </a:prstGeom>
        </p:spPr>
      </p:pic>
      <p:sp>
        <p:nvSpPr>
          <p:cNvPr id="41" name="Shape 28"/>
          <p:cNvSpPr/>
          <p:nvPr/>
        </p:nvSpPr>
        <p:spPr>
          <a:xfrm>
            <a:off x="6562649" y="5000854"/>
            <a:ext cx="571500" cy="57150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1"/>
          <a:srcRect l="-133" r="-133"/>
          <a:stretch/>
        </p:blipFill>
        <p:spPr>
          <a:xfrm>
            <a:off x="6762902" y="5171846"/>
            <a:ext cx="171907" cy="228600"/>
          </a:xfrm>
          <a:prstGeom prst="rect">
            <a:avLst/>
          </a:prstGeom>
        </p:spPr>
      </p:pic>
      <p:sp>
        <p:nvSpPr>
          <p:cNvPr id="43" name="Shape 29"/>
          <p:cNvSpPr/>
          <p:nvPr/>
        </p:nvSpPr>
        <p:spPr>
          <a:xfrm>
            <a:off x="10329977" y="5000854"/>
            <a:ext cx="942746" cy="228600"/>
          </a:xfrm>
          <a:prstGeom prst="roundRect">
            <a:avLst>
              <a:gd name="adj" fmla="val 400000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4" name="Text 30"/>
          <p:cNvSpPr/>
          <p:nvPr/>
        </p:nvSpPr>
        <p:spPr>
          <a:xfrm>
            <a:off x="10301630" y="5000854"/>
            <a:ext cx="10003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45" name="Text 31"/>
          <p:cNvSpPr txBox="1"/>
          <p:nvPr/>
        </p:nvSpPr>
        <p:spPr>
          <a:xfrm>
            <a:off x="6562649" y="5724144"/>
            <a:ext cx="48198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Multi-Party Management</a:t>
            </a:r>
            <a:endParaRPr lang="en-US" sz="1800" dirty="0"/>
          </a:p>
        </p:txBody>
      </p:sp>
      <p:sp>
        <p:nvSpPr>
          <p:cNvPr id="46" name="Text 32"/>
          <p:cNvSpPr txBox="1"/>
          <p:nvPr/>
        </p:nvSpPr>
        <p:spPr>
          <a:xfrm>
            <a:off x="6562649" y="6143854"/>
            <a:ext cx="47823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기업의 중요 데이터 접근 시 다수 관리자의 공동 승인(Quorum Approval)을 강제하여, 강력한 내부 통제 및 감사 추적을 실현합니다.</a:t>
            </a:r>
            <a:endParaRPr lang="en-US" sz="1200" dirty="0"/>
          </a:p>
        </p:txBody>
      </p:sp>
      <p:sp>
        <p:nvSpPr>
          <p:cNvPr id="47" name="Shape 33"/>
          <p:cNvSpPr/>
          <p:nvPr/>
        </p:nvSpPr>
        <p:spPr>
          <a:xfrm>
            <a:off x="6562649" y="6791249"/>
            <a:ext cx="47055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562649" y="6981444"/>
            <a:ext cx="133502" cy="133502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6772046" y="6791249"/>
            <a:ext cx="184343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Access Control, Compliance</a:t>
            </a:r>
            <a:endParaRPr lang="en-US" sz="1000" dirty="0"/>
          </a:p>
        </p:txBody>
      </p:sp>
      <p:sp>
        <p:nvSpPr>
          <p:cNvPr id="50" name="Shape 3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51" name="Shape 36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2" name="Text 37"/>
          <p:cNvSpPr txBox="1"/>
          <p:nvPr/>
        </p:nvSpPr>
        <p:spPr>
          <a:xfrm>
            <a:off x="457200" y="6558077"/>
            <a:ext cx="24377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Threshold Cryptography Applications</a:t>
            </a:r>
            <a:endParaRPr lang="en-US" sz="900" dirty="0"/>
          </a:p>
        </p:txBody>
      </p:sp>
      <p:sp>
        <p:nvSpPr>
          <p:cNvPr id="53" name="Text 38"/>
          <p:cNvSpPr txBox="1"/>
          <p:nvPr/>
        </p:nvSpPr>
        <p:spPr>
          <a:xfrm>
            <a:off x="11351362" y="6558077"/>
            <a:ext cx="2194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900" dirty="0"/>
          </a:p>
        </p:txBody>
      </p:sp>
      <p:sp>
        <p:nvSpPr>
          <p:cNvPr id="54" name="Text 39"/>
          <p:cNvSpPr txBox="1"/>
          <p:nvPr/>
        </p:nvSpPr>
        <p:spPr>
          <a:xfrm>
            <a:off x="11525098" y="6558077"/>
            <a:ext cx="124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endParaRPr lang="en-US" sz="900" dirty="0"/>
          </a:p>
        </p:txBody>
      </p:sp>
      <p:sp>
        <p:nvSpPr>
          <p:cNvPr id="55" name="Text 40"/>
          <p:cNvSpPr txBox="1"/>
          <p:nvPr/>
        </p:nvSpPr>
        <p:spPr>
          <a:xfrm>
            <a:off x="11607394" y="6558077"/>
            <a:ext cx="210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499981"/>
      </p:ext>
    </p:extLst>
  </p:cSld>
  <p:clrMapOvr>
    <a:masterClrMapping/>
  </p:clrMapOvr>
</p:sld>
</file>

<file path=ppt/theme/theme1.xml><?xml version="1.0" encoding="utf-8"?>
<a:theme xmlns:a="http://schemas.openxmlformats.org/drawingml/2006/main" name="CryptoCraft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1475</Words>
  <Application>Microsoft Office PowerPoint</Application>
  <PresentationFormat>와이드스크린</PresentationFormat>
  <Paragraphs>271</Paragraphs>
  <Slides>10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Noto Sans KR</vt:lpstr>
      <vt:lpstr>ui-monospace</vt:lpstr>
      <vt:lpstr>맑은 고딕</vt:lpstr>
      <vt:lpstr>Arial</vt:lpstr>
      <vt:lpstr>Courier New</vt:lpstr>
      <vt:lpstr>Times New Roman</vt:lpstr>
      <vt:lpstr>CryptoCraft 테마</vt:lpstr>
      <vt:lpstr>제목 테마</vt:lpstr>
      <vt:lpstr>Threshold Schemes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HD</dc:creator>
  <cp:lastModifiedBy>송민호</cp:lastModifiedBy>
  <cp:revision>59</cp:revision>
  <dcterms:created xsi:type="dcterms:W3CDTF">2019-03-05T04:29:07Z</dcterms:created>
  <dcterms:modified xsi:type="dcterms:W3CDTF">2026-03-09T23:23:13Z</dcterms:modified>
</cp:coreProperties>
</file>