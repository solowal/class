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4" r:id="rId1"/>
  </p:sldMasterIdLst>
  <p:notesMasterIdLst>
    <p:notesMasterId r:id="rId17"/>
  </p:notesMasterIdLst>
  <p:handoutMasterIdLst>
    <p:handoutMasterId r:id="rId18"/>
  </p:handoutMasterIdLst>
  <p:sldIdLst>
    <p:sldId id="269" r:id="rId2"/>
    <p:sldId id="344" r:id="rId3"/>
    <p:sldId id="349" r:id="rId4"/>
    <p:sldId id="352" r:id="rId5"/>
    <p:sldId id="356" r:id="rId6"/>
    <p:sldId id="354" r:id="rId7"/>
    <p:sldId id="357" r:id="rId8"/>
    <p:sldId id="353" r:id="rId9"/>
    <p:sldId id="351" r:id="rId10"/>
    <p:sldId id="350" r:id="rId11"/>
    <p:sldId id="355" r:id="rId12"/>
    <p:sldId id="358" r:id="rId13"/>
    <p:sldId id="359" r:id="rId14"/>
    <p:sldId id="360" r:id="rId15"/>
    <p:sldId id="274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935"/>
    <a:srgbClr val="FAFBFE"/>
    <a:srgbClr val="2E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03" autoAdjust="0"/>
    <p:restoredTop sz="95819"/>
  </p:normalViewPr>
  <p:slideViewPr>
    <p:cSldViewPr snapToGrid="0">
      <p:cViewPr varScale="1">
        <p:scale>
          <a:sx n="135" d="100"/>
          <a:sy n="135" d="100"/>
        </p:scale>
        <p:origin x="192" y="4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730" y="9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546E7E-6CE1-4F62-BC39-1BE7148D0D0D}" type="datetimeFigureOut">
              <a:rPr lang="ko-KR" altLang="en-US" smtClean="0"/>
              <a:t>2026. 5. 3.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F56489-CFDC-4DF4-92D1-C366C0FB17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840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A1C54-2D0D-48EB-888A-9786B070F533}" type="datetimeFigureOut">
              <a:rPr lang="ko-KR" altLang="en-US" smtClean="0"/>
              <a:t>2026. 5. 3.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02C913-610E-4BF0-B55F-9CE65BBA65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976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7397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223120"/>
            <a:ext cx="12192000" cy="2387600"/>
          </a:xfrm>
        </p:spPr>
        <p:txBody>
          <a:bodyPr anchor="ctr"/>
          <a:lstStyle>
            <a:lvl1pPr algn="ctr">
              <a:defRPr sz="6000" b="0">
                <a:latin typeface="+mj-ea"/>
                <a:ea typeface="+mj-ea"/>
                <a:cs typeface="함초롬돋움" panose="020B0604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-2" y="3794871"/>
            <a:ext cx="12192001" cy="1655762"/>
          </a:xfrm>
        </p:spPr>
        <p:txBody>
          <a:bodyPr anchor="ctr"/>
          <a:lstStyle>
            <a:lvl1pPr marL="0" indent="0" algn="ctr">
              <a:buNone/>
              <a:defRPr sz="2400">
                <a:latin typeface="+mn-ea"/>
                <a:ea typeface="+mn-ea"/>
                <a:cs typeface="함초롬돋움" panose="020B060400010101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30" t="65598" b="9375"/>
          <a:stretch/>
        </p:blipFill>
        <p:spPr>
          <a:xfrm>
            <a:off x="0" y="6646331"/>
            <a:ext cx="1809148" cy="160867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460" b="12513"/>
          <a:stretch/>
        </p:blipFill>
        <p:spPr>
          <a:xfrm>
            <a:off x="10880202" y="6675969"/>
            <a:ext cx="1311798" cy="16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63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>
            <a:cxnSpLocks/>
          </p:cNvCxnSpPr>
          <p:nvPr userDrawn="1"/>
        </p:nvCxnSpPr>
        <p:spPr>
          <a:xfrm>
            <a:off x="4863597" y="2676048"/>
            <a:ext cx="199407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1055592" y="2158084"/>
            <a:ext cx="10071852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0" name="텍스트 개체 틀 4"/>
          <p:cNvSpPr>
            <a:spLocks noGrp="1"/>
          </p:cNvSpPr>
          <p:nvPr>
            <p:ph type="body" sz="quarter" idx="25" hasCustomPrompt="1"/>
          </p:nvPr>
        </p:nvSpPr>
        <p:spPr>
          <a:xfrm>
            <a:off x="1055592" y="3073925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6" name="텍스트 개체 틀 4"/>
          <p:cNvSpPr>
            <a:spLocks noGrp="1"/>
          </p:cNvSpPr>
          <p:nvPr>
            <p:ph type="body" sz="quarter" idx="27" hasCustomPrompt="1"/>
          </p:nvPr>
        </p:nvSpPr>
        <p:spPr>
          <a:xfrm>
            <a:off x="1055592" y="3993106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11" name="모서리가 둥근 직사각형 19">
            <a:extLst>
              <a:ext uri="{FF2B5EF4-FFF2-40B4-BE49-F238E27FC236}">
                <a16:creationId xmlns:a16="http://schemas.microsoft.com/office/drawing/2014/main" id="{9A1001AF-7C71-4701-94B0-3772F84D3418}"/>
              </a:ext>
            </a:extLst>
          </p:cNvPr>
          <p:cNvSpPr/>
          <p:nvPr userDrawn="1"/>
        </p:nvSpPr>
        <p:spPr>
          <a:xfrm>
            <a:off x="1064556" y="2158085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9">
            <a:extLst>
              <a:ext uri="{FF2B5EF4-FFF2-40B4-BE49-F238E27FC236}">
                <a16:creationId xmlns:a16="http://schemas.microsoft.com/office/drawing/2014/main" id="{D9E18A4C-9D39-4312-9D41-EA0FA0703DAD}"/>
              </a:ext>
            </a:extLst>
          </p:cNvPr>
          <p:cNvSpPr/>
          <p:nvPr userDrawn="1"/>
        </p:nvSpPr>
        <p:spPr>
          <a:xfrm>
            <a:off x="1064556" y="3070687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9">
            <a:extLst>
              <a:ext uri="{FF2B5EF4-FFF2-40B4-BE49-F238E27FC236}">
                <a16:creationId xmlns:a16="http://schemas.microsoft.com/office/drawing/2014/main" id="{DD43020D-DDFD-4ED7-A112-51545002358E}"/>
              </a:ext>
            </a:extLst>
          </p:cNvPr>
          <p:cNvSpPr/>
          <p:nvPr userDrawn="1"/>
        </p:nvSpPr>
        <p:spPr>
          <a:xfrm>
            <a:off x="1064556" y="3999684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147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2767280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8000" dirty="0">
                <a:latin typeface="+mj-lt"/>
              </a:rPr>
              <a:t>Q &amp; A</a:t>
            </a:r>
            <a:endParaRPr lang="ko-KR" altLang="en-US" sz="8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29438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411920" y="207747"/>
            <a:ext cx="11368160" cy="762163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60387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210145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DAAC8-442A-4C15-9819-F07FF5E7315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6665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9" r:id="rId3"/>
    <p:sldLayoutId id="2147483670" r:id="rId4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4800" dirty="0"/>
              <a:t>타원곡선 암호에 대한 양자회로 구현동향</a:t>
            </a:r>
            <a:br>
              <a:rPr lang="en-US" altLang="ko-KR" sz="4800" dirty="0"/>
            </a:br>
            <a:br>
              <a:rPr lang="en-US" altLang="ko-KR" sz="4800" dirty="0"/>
            </a:br>
            <a:r>
              <a:rPr lang="en-US" altLang="ko-KR" sz="3200" dirty="0"/>
              <a:t>https://</a:t>
            </a:r>
            <a:r>
              <a:rPr lang="en-US" altLang="ko-KR" sz="3200" dirty="0" err="1"/>
              <a:t>youtu.be</a:t>
            </a:r>
            <a:r>
              <a:rPr lang="en-US" altLang="ko-KR" sz="3200" dirty="0"/>
              <a:t>/_qi8p9-zLOg</a:t>
            </a:r>
            <a:endParaRPr lang="ko-KR" altLang="en-US" sz="48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7F190D7-EE4C-6660-3579-26D36E4A727D}"/>
              </a:ext>
            </a:extLst>
          </p:cNvPr>
          <p:cNvSpPr/>
          <p:nvPr/>
        </p:nvSpPr>
        <p:spPr>
          <a:xfrm>
            <a:off x="0" y="6594953"/>
            <a:ext cx="12126482" cy="2630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6" name="부제목 5">
            <a:extLst>
              <a:ext uri="{FF2B5EF4-FFF2-40B4-BE49-F238E27FC236}">
                <a16:creationId xmlns:a16="http://schemas.microsoft.com/office/drawing/2014/main" id="{5853C698-D1B4-6F42-0BC1-47D012588D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정보컴퓨터공학과</a:t>
            </a:r>
            <a:endParaRPr lang="en-US" altLang="ko-KR" dirty="0"/>
          </a:p>
          <a:p>
            <a:r>
              <a:rPr lang="ko-KR" altLang="en-US" dirty="0"/>
              <a:t>송경주</a:t>
            </a:r>
          </a:p>
        </p:txBody>
      </p:sp>
    </p:spTree>
    <p:extLst>
      <p:ext uri="{BB962C8B-B14F-4D97-AF65-F5344CB8AC3E}">
        <p14:creationId xmlns:p14="http://schemas.microsoft.com/office/powerpoint/2010/main" val="2406322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091E99-89EA-EB18-3085-B4761C2DB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서론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275FD8-9D5A-849D-064E-26BB682441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5959" y="1152525"/>
            <a:ext cx="11780081" cy="5497728"/>
          </a:xfrm>
        </p:spPr>
        <p:txBody>
          <a:bodyPr>
            <a:normAutofit/>
          </a:bodyPr>
          <a:lstStyle/>
          <a:p>
            <a:r>
              <a:rPr kumimoji="1" lang="ko-KR" altLang="en-US" sz="2400" dirty="0"/>
              <a:t>타원곡선 암호 공격 시기를 평가하기 위해 </a:t>
            </a:r>
            <a:r>
              <a:rPr kumimoji="1" lang="ko-KR" altLang="en-US" sz="2400" dirty="0" err="1"/>
              <a:t>쇼어</a:t>
            </a:r>
            <a:r>
              <a:rPr kumimoji="1" lang="ko-KR" altLang="en-US" sz="2400" dirty="0"/>
              <a:t> 알고리즘에 동작할 </a:t>
            </a:r>
            <a:r>
              <a:rPr kumimoji="1" lang="en-US" altLang="ko-KR" sz="2400" dirty="0"/>
              <a:t>ECDLP </a:t>
            </a:r>
            <a:r>
              <a:rPr kumimoji="1" lang="ko-KR" altLang="en-US" sz="2400" dirty="0"/>
              <a:t>양자회로 구현이 필요하며 이에 대한 최적화 연구들이 진행되고 있음</a:t>
            </a:r>
            <a:endParaRPr kumimoji="1" lang="en-US" altLang="ko-KR" sz="2400" dirty="0"/>
          </a:p>
          <a:p>
            <a:endParaRPr kumimoji="1" lang="en-US" altLang="ko-KR" sz="2400" dirty="0"/>
          </a:p>
          <a:p>
            <a:r>
              <a:rPr kumimoji="1" lang="ko-KR" altLang="en-US" sz="2400" dirty="0"/>
              <a:t>타원곡선 암호에 대한 양자회로 구현 동향 파악을 통해 양자보안 기간 산출가능</a:t>
            </a:r>
            <a:endParaRPr kumimoji="1" lang="en-US" altLang="ko-KR" sz="2400" dirty="0"/>
          </a:p>
          <a:p>
            <a:pPr lvl="1"/>
            <a:r>
              <a:rPr kumimoji="1" lang="ko-KR" altLang="en-US" sz="2000" dirty="0"/>
              <a:t>즉</a:t>
            </a:r>
            <a:r>
              <a:rPr kumimoji="1" lang="en-US" altLang="ko-KR" sz="2000" dirty="0"/>
              <a:t>, </a:t>
            </a:r>
            <a:r>
              <a:rPr kumimoji="1" lang="ko-KR" altLang="en-US" sz="2000" dirty="0"/>
              <a:t>기존 </a:t>
            </a:r>
            <a:r>
              <a:rPr kumimoji="1" lang="en-US" altLang="ko-KR" sz="2000" dirty="0"/>
              <a:t>ECC </a:t>
            </a:r>
            <a:r>
              <a:rPr kumimoji="1" lang="ko-KR" altLang="en-US" sz="2000" dirty="0"/>
              <a:t>암호 시스템이 양자컴퓨터에 의해 언제 해독될지 예측가능</a:t>
            </a:r>
            <a:endParaRPr kumimoji="1" lang="en-US" altLang="ko-KR" sz="2000" dirty="0"/>
          </a:p>
          <a:p>
            <a:pPr lvl="1"/>
            <a:endParaRPr kumimoji="1" lang="en-US" altLang="ko-KR" sz="2000" dirty="0"/>
          </a:p>
          <a:p>
            <a:r>
              <a:rPr kumimoji="1" lang="ko-KR" altLang="en-US" sz="2400" dirty="0"/>
              <a:t>구현 최적화 동향 및 양자컴퓨터 개발 속도에 따라 </a:t>
            </a:r>
            <a:r>
              <a:rPr kumimoji="1" lang="en-US" altLang="ko-KR" sz="2400" dirty="0"/>
              <a:t>PQC</a:t>
            </a:r>
            <a:r>
              <a:rPr kumimoji="1" lang="ko-KR" altLang="en-US" sz="2400" dirty="0"/>
              <a:t> 암호로의 전환 우선순위 및 시기를 결정할 수 있음</a:t>
            </a:r>
            <a:endParaRPr kumimoji="1" lang="en-US" altLang="ko-KR" sz="2400" dirty="0"/>
          </a:p>
          <a:p>
            <a:endParaRPr kumimoji="1" lang="en-US" altLang="ko-KR" sz="2400" dirty="0"/>
          </a:p>
          <a:p>
            <a:r>
              <a:rPr kumimoji="1" lang="ko-KR" altLang="en-US" sz="2400" dirty="0">
                <a:solidFill>
                  <a:schemeClr val="bg1"/>
                </a:solidFill>
              </a:rPr>
              <a:t>본 논문에서는 </a:t>
            </a:r>
            <a:r>
              <a:rPr kumimoji="1" lang="en-US" altLang="ko-KR" sz="2400" dirty="0">
                <a:solidFill>
                  <a:schemeClr val="bg1"/>
                </a:solidFill>
              </a:rPr>
              <a:t>ECDLP </a:t>
            </a:r>
            <a:r>
              <a:rPr kumimoji="1" lang="ko-KR" altLang="en-US" sz="2400" dirty="0">
                <a:solidFill>
                  <a:schemeClr val="bg1"/>
                </a:solidFill>
              </a:rPr>
              <a:t>양자회로 구현 동향에 대해 살펴봄</a:t>
            </a:r>
            <a:endParaRPr kumimoji="1"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5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CEF1F-A308-CCC5-8D28-1E4C2D6A6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4AF609-0723-79E2-D507-77CB18143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ECDLP </a:t>
            </a:r>
            <a:r>
              <a:rPr kumimoji="1" lang="ko-KR" altLang="en-US" dirty="0"/>
              <a:t>양자회로 구현동향 </a:t>
            </a:r>
            <a:r>
              <a:rPr kumimoji="1" lang="en-US" altLang="ko-KR" dirty="0"/>
              <a:t>– Prime ECC</a:t>
            </a:r>
            <a:endParaRPr kumimoji="1" lang="ko-Kore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C47B0D5-2009-5C7B-1291-DA2D438872A3}"/>
              </a:ext>
            </a:extLst>
          </p:cNvPr>
          <p:cNvGrpSpPr/>
          <p:nvPr/>
        </p:nvGrpSpPr>
        <p:grpSpPr>
          <a:xfrm>
            <a:off x="116869" y="2050500"/>
            <a:ext cx="3886200" cy="2512864"/>
            <a:chOff x="800387" y="1546927"/>
            <a:chExt cx="3886200" cy="2512864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995854B3-B84F-60A8-1419-5491908600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387" y="1546927"/>
              <a:ext cx="3886200" cy="251286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647F3F2-6067-D039-89A5-4F9C03D5DBDC}"/>
                </a:ext>
              </a:extLst>
            </p:cNvPr>
            <p:cNvSpPr txBox="1"/>
            <p:nvPr/>
          </p:nvSpPr>
          <p:spPr>
            <a:xfrm>
              <a:off x="1025764" y="2315659"/>
              <a:ext cx="3435446" cy="1477328"/>
            </a:xfrm>
            <a:prstGeom prst="rect">
              <a:avLst/>
            </a:prstGeom>
            <a:solidFill>
              <a:srgbClr val="FAFBFE"/>
            </a:solidFill>
          </p:spPr>
          <p:txBody>
            <a:bodyPr wrap="square" rtlCol="0">
              <a:spAutoFit/>
            </a:bodyPr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kumimoji="1" lang="ko-Kore-KR" altLang="en-US" sz="16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몽고메리</a:t>
              </a:r>
              <a:r>
                <a:rPr kumimoji="1" lang="ko-KR" altLang="en-US" sz="16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 </a:t>
              </a:r>
              <a:r>
                <a:rPr kumimoji="1" lang="ko-KR" altLang="en-US" sz="1600" dirty="0" err="1"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모듈러</a:t>
              </a:r>
              <a:r>
                <a:rPr kumimoji="1" lang="ko-KR" altLang="en-US" sz="16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 곱셈 및 윈도우 스칼라 곱셈 기법 사용</a:t>
              </a:r>
              <a:endParaRPr kumimoji="1" lang="en-US" altLang="ko-KR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endParaRP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kumimoji="1" lang="en" altLang="ko-KR" sz="16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Kaliski</a:t>
              </a:r>
              <a:r>
                <a:rPr kumimoji="1" lang="en-US" altLang="ko-KR" sz="16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’s algorithm</a:t>
              </a:r>
              <a:r>
                <a:rPr kumimoji="1" lang="ko-KR" altLang="en-US" sz="16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을 사용한 역원 양자회로 설계</a:t>
              </a:r>
              <a:endParaRPr kumimoji="1" lang="en-US" altLang="ko-KR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endParaRP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endParaRPr kumimoji="1" lang="en-US" altLang="ko-KR" sz="1000" dirty="0">
                <a:latin typeface="Gmarket Sans TTF Medium" panose="02000000000000000000" pitchFamily="2" charset="-128"/>
                <a:ea typeface="Gmarket Sans TTF Medium" panose="02000000000000000000" pitchFamily="2" charset="-128"/>
              </a:endParaRPr>
            </a:p>
            <a:p>
              <a:pPr algn="ctr"/>
              <a:r>
                <a:rPr kumimoji="1" lang="en-US" altLang="ko-KR" sz="1600" b="1" dirty="0">
                  <a:solidFill>
                    <a:srgbClr val="FF0000"/>
                  </a:solidFill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(</a:t>
              </a:r>
              <a:r>
                <a:rPr kumimoji="1" lang="ko-KR" altLang="en-US" sz="1600" b="1" dirty="0" err="1">
                  <a:solidFill>
                    <a:srgbClr val="FF0000"/>
                  </a:solidFill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큐비트</a:t>
              </a:r>
              <a:r>
                <a:rPr kumimoji="1" lang="ko-KR" altLang="en-US" sz="1600" b="1" dirty="0">
                  <a:solidFill>
                    <a:srgbClr val="FF0000"/>
                  </a:solidFill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 최적화</a:t>
              </a:r>
              <a:r>
                <a:rPr kumimoji="1" lang="en-US" altLang="ko-KR" sz="1600" b="1" dirty="0">
                  <a:solidFill>
                    <a:srgbClr val="FF0000"/>
                  </a:solidFill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0D10631-BC4E-A449-BEDD-D1802DBA2A32}"/>
                </a:ext>
              </a:extLst>
            </p:cNvPr>
            <p:cNvSpPr txBox="1"/>
            <p:nvPr/>
          </p:nvSpPr>
          <p:spPr>
            <a:xfrm>
              <a:off x="3394570" y="1946327"/>
              <a:ext cx="9428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b="1" dirty="0">
                  <a:latin typeface="Gmarket Sans TTF Bold" panose="02000000000000000000" pitchFamily="2" charset="-128"/>
                  <a:ea typeface="Gmarket Sans TTF Bold" panose="02000000000000000000" pitchFamily="2" charset="-128"/>
                </a:rPr>
                <a:t>(2017)</a:t>
              </a:r>
              <a:endParaRPr kumimoji="1" lang="ko-Kore-KR" altLang="en-US" b="1" dirty="0">
                <a:latin typeface="Gmarket Sans TTF Bold" panose="02000000000000000000" pitchFamily="2" charset="-128"/>
                <a:ea typeface="Gmarket Sans TTF Bold" panose="02000000000000000000" pitchFamily="2" charset="-128"/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7DC761F8-F109-CEEA-90A0-1EC11F6A6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4114" y="1881352"/>
            <a:ext cx="3886200" cy="251286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6540054-5966-D74C-FE85-E1FED67EC2C3}"/>
              </a:ext>
            </a:extLst>
          </p:cNvPr>
          <p:cNvSpPr txBox="1"/>
          <p:nvPr/>
        </p:nvSpPr>
        <p:spPr>
          <a:xfrm>
            <a:off x="368760" y="2357982"/>
            <a:ext cx="3376062" cy="369332"/>
          </a:xfrm>
          <a:prstGeom prst="rect">
            <a:avLst/>
          </a:prstGeom>
          <a:solidFill>
            <a:srgbClr val="FAFBFE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b="1" dirty="0" err="1">
                <a:solidFill>
                  <a:srgbClr val="001935"/>
                </a:solidFill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Roetteler</a:t>
            </a:r>
            <a:r>
              <a:rPr kumimoji="1" lang="en-US" altLang="ko-KR" b="1" dirty="0">
                <a:solidFill>
                  <a:srgbClr val="001935"/>
                </a:solidFill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 et al.   (2017)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FBD37F6A-0326-263E-4DEF-8645328570C0}"/>
              </a:ext>
            </a:extLst>
          </p:cNvPr>
          <p:cNvGrpSpPr/>
          <p:nvPr/>
        </p:nvGrpSpPr>
        <p:grpSpPr>
          <a:xfrm>
            <a:off x="4115757" y="1924130"/>
            <a:ext cx="3960485" cy="2817908"/>
            <a:chOff x="4313579" y="1812398"/>
            <a:chExt cx="3960485" cy="2817908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25B86F99-2174-1C4D-2D5A-497DBDF424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13579" y="1812398"/>
              <a:ext cx="3960485" cy="2535962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B0E58BE2-F126-D598-2EC5-BB6B3D4BF7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80045"/>
            <a:stretch>
              <a:fillRect/>
            </a:stretch>
          </p:blipFill>
          <p:spPr>
            <a:xfrm>
              <a:off x="4313579" y="4124243"/>
              <a:ext cx="3960485" cy="506063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144C39C-83E1-3185-F312-1ACE9F30FE98}"/>
                </a:ext>
              </a:extLst>
            </p:cNvPr>
            <p:cNvSpPr txBox="1"/>
            <p:nvPr/>
          </p:nvSpPr>
          <p:spPr>
            <a:xfrm>
              <a:off x="6621851" y="2221795"/>
              <a:ext cx="10054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b="1" dirty="0">
                  <a:latin typeface="Gmarket Sans TTF Bold" panose="02000000000000000000" pitchFamily="2" charset="-128"/>
                  <a:ea typeface="Gmarket Sans TTF Bold" panose="02000000000000000000" pitchFamily="2" charset="-128"/>
                </a:rPr>
                <a:t>(2020)</a:t>
              </a:r>
              <a:endParaRPr kumimoji="1" lang="ko-Kore-KR" altLang="en-US" b="1" dirty="0">
                <a:latin typeface="Gmarket Sans TTF Bold" panose="02000000000000000000" pitchFamily="2" charset="-128"/>
                <a:ea typeface="Gmarket Sans TTF Bold" panose="02000000000000000000" pitchFamily="2" charset="-128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766ED93-38FA-BCF4-C91E-EA69BD0154D9}"/>
                </a:ext>
              </a:extLst>
            </p:cNvPr>
            <p:cNvSpPr txBox="1"/>
            <p:nvPr/>
          </p:nvSpPr>
          <p:spPr>
            <a:xfrm>
              <a:off x="4576098" y="2604228"/>
              <a:ext cx="3514993" cy="1969770"/>
            </a:xfrm>
            <a:prstGeom prst="rect">
              <a:avLst/>
            </a:prstGeom>
            <a:solidFill>
              <a:srgbClr val="FAFBFE"/>
            </a:solidFill>
          </p:spPr>
          <p:txBody>
            <a:bodyPr wrap="square" rtlCol="0">
              <a:spAutoFit/>
            </a:bodyPr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kumimoji="1" lang="ko-KR" altLang="en-US" sz="16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윈도우 기반 곱셈과 </a:t>
              </a:r>
              <a:r>
                <a:rPr kumimoji="1" lang="en-US" altLang="ko-KR" sz="16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out-of-place </a:t>
              </a:r>
              <a:r>
                <a:rPr kumimoji="1" lang="ko-KR" altLang="en-US" sz="16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연산을 결합하여 </a:t>
              </a:r>
              <a:r>
                <a:rPr kumimoji="1" lang="en-US" altLang="ko-KR" sz="16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depth </a:t>
              </a:r>
              <a:r>
                <a:rPr kumimoji="1" lang="ko-KR" altLang="en-US" sz="16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개선</a:t>
              </a:r>
              <a:endParaRPr kumimoji="1" lang="en-US" altLang="ko-KR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endParaRP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kumimoji="1" lang="en-US" altLang="ko-KR" sz="16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ancilla </a:t>
              </a:r>
              <a:r>
                <a:rPr kumimoji="1" lang="ko-KR" altLang="en-US" sz="16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큐비트를 할당</a:t>
              </a:r>
              <a:r>
                <a:rPr kumimoji="1" lang="en-US" altLang="ko-KR" sz="16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/</a:t>
              </a:r>
              <a:r>
                <a:rPr kumimoji="1" lang="ko-KR" altLang="en-US" sz="1600" dirty="0" err="1"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역연산</a:t>
              </a:r>
              <a:r>
                <a:rPr kumimoji="1" lang="ko-KR" altLang="en-US" sz="16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   지연</a:t>
              </a:r>
              <a:r>
                <a:rPr kumimoji="1" lang="en-US" altLang="ko-KR" sz="16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(Pebbling game)</a:t>
              </a:r>
              <a:r>
                <a:rPr kumimoji="1" lang="ko-KR" altLang="en-US" sz="16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기법 적용</a:t>
              </a:r>
              <a:endParaRPr kumimoji="1" lang="en-US" altLang="ko-KR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endParaRP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endParaRPr kumimoji="1" lang="en-US" altLang="ko-KR" sz="1000" dirty="0">
                <a:latin typeface="Gmarket Sans TTF Medium" panose="02000000000000000000" pitchFamily="2" charset="-128"/>
                <a:ea typeface="Gmarket Sans TTF Medium" panose="02000000000000000000" pitchFamily="2" charset="-128"/>
              </a:endParaRPr>
            </a:p>
            <a:p>
              <a:pPr algn="ctr"/>
              <a:r>
                <a:rPr kumimoji="1" lang="en-US" altLang="ko-KR" sz="1600" b="1" dirty="0">
                  <a:solidFill>
                    <a:srgbClr val="FF0000"/>
                  </a:solidFill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(Toffoli/T </a:t>
              </a:r>
              <a:r>
                <a:rPr kumimoji="1" lang="ko-KR" altLang="en-US" sz="1600" b="1" dirty="0">
                  <a:solidFill>
                    <a:srgbClr val="FF0000"/>
                  </a:solidFill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게이트 및 </a:t>
              </a:r>
              <a:endParaRPr kumimoji="1" lang="en-US" altLang="ko-KR" sz="1600" b="1" dirty="0">
                <a:solidFill>
                  <a:srgbClr val="FF0000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endParaRPr>
            </a:p>
            <a:p>
              <a:pPr algn="ctr"/>
              <a:r>
                <a:rPr kumimoji="1" lang="en-US" altLang="ko-KR" sz="1600" b="1" dirty="0">
                  <a:solidFill>
                    <a:srgbClr val="FF0000"/>
                  </a:solidFill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Depth</a:t>
              </a:r>
              <a:r>
                <a:rPr kumimoji="1" lang="ko-KR" altLang="en-US" sz="1600" b="1" dirty="0">
                  <a:solidFill>
                    <a:srgbClr val="FF0000"/>
                  </a:solidFill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 최적화</a:t>
              </a:r>
              <a:r>
                <a:rPr kumimoji="1" lang="en-US" altLang="ko-KR" sz="1600" b="1" dirty="0">
                  <a:solidFill>
                    <a:srgbClr val="FF0000"/>
                  </a:solidFill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)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760A788-6FF6-1BC7-6FB2-60143C85A193}"/>
                </a:ext>
              </a:extLst>
            </p:cNvPr>
            <p:cNvSpPr txBox="1"/>
            <p:nvPr/>
          </p:nvSpPr>
          <p:spPr>
            <a:xfrm>
              <a:off x="4605790" y="2142978"/>
              <a:ext cx="3376062" cy="369332"/>
            </a:xfrm>
            <a:prstGeom prst="rect">
              <a:avLst/>
            </a:prstGeom>
            <a:solidFill>
              <a:srgbClr val="FAFBFE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b="1" dirty="0">
                  <a:solidFill>
                    <a:srgbClr val="001935"/>
                  </a:solidFill>
                  <a:latin typeface="Gmarket Sans TTF Bold" panose="02000000000000000000" pitchFamily="2" charset="-128"/>
                  <a:ea typeface="Gmarket Sans TTF Bold" panose="02000000000000000000" pitchFamily="2" charset="-128"/>
                </a:rPr>
                <a:t>Haner et al.   (2020)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0FE38F21-FDC9-F4AE-6153-39BC2F3347D7}"/>
              </a:ext>
            </a:extLst>
          </p:cNvPr>
          <p:cNvSpPr txBox="1"/>
          <p:nvPr/>
        </p:nvSpPr>
        <p:spPr>
          <a:xfrm>
            <a:off x="8426579" y="2219197"/>
            <a:ext cx="3376062" cy="369332"/>
          </a:xfrm>
          <a:prstGeom prst="rect">
            <a:avLst/>
          </a:prstGeom>
          <a:solidFill>
            <a:srgbClr val="FAFBFE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b="1" dirty="0">
                <a:solidFill>
                  <a:srgbClr val="001935"/>
                </a:solidFill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Kim et al.   (2026)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F4744F12-8C48-B230-D1FE-B3D432035A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0045"/>
          <a:stretch>
            <a:fillRect/>
          </a:stretch>
        </p:blipFill>
        <p:spPr>
          <a:xfrm>
            <a:off x="8196970" y="4225998"/>
            <a:ext cx="3960485" cy="50606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7778077-7631-9FA8-DE2A-3EE60736E7FE}"/>
              </a:ext>
            </a:extLst>
          </p:cNvPr>
          <p:cNvSpPr txBox="1"/>
          <p:nvPr/>
        </p:nvSpPr>
        <p:spPr>
          <a:xfrm>
            <a:off x="8346801" y="2650084"/>
            <a:ext cx="3660825" cy="1969770"/>
          </a:xfrm>
          <a:prstGeom prst="rect">
            <a:avLst/>
          </a:prstGeom>
          <a:solidFill>
            <a:srgbClr val="FAFBFE"/>
          </a:solidFill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1" lang="en-US" altLang="ko-KR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Quantum Carry Save Adder</a:t>
            </a:r>
            <a:r>
              <a:rPr kumimoji="1" lang="ko-KR" altLang="en-US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en-US" altLang="ko-KR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(QCSA)</a:t>
            </a:r>
            <a:r>
              <a:rPr kumimoji="1" lang="ko-KR" altLang="en-US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을 통해 곱셈 병렬화</a:t>
            </a:r>
            <a:endParaRPr kumimoji="1" lang="en-US" altLang="ko-KR" sz="16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1" lang="ko-KR" altLang="en-US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역원 연산에서 조건</a:t>
            </a:r>
            <a:r>
              <a:rPr kumimoji="1" lang="en-US" altLang="ko-KR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(control)</a:t>
            </a:r>
            <a:r>
              <a:rPr kumimoji="1" lang="ko-KR" altLang="en-US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체크를 생략하여 회로 깊이 최소화</a:t>
            </a:r>
            <a:endParaRPr kumimoji="1" lang="en-US" altLang="ko-KR" sz="16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1" lang="ko-KR" altLang="en-US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오류정정 기법을 적용했을 때의 실제 공격비용 추정</a:t>
            </a:r>
            <a:endParaRPr kumimoji="1" lang="en-US" altLang="ko-KR" sz="16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kumimoji="1" lang="en-US" altLang="ko-KR" sz="10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algn="ctr"/>
            <a:r>
              <a:rPr kumimoji="1" lang="en-US" altLang="ko-KR" sz="1600" b="1" dirty="0">
                <a:solidFill>
                  <a:srgbClr val="FF0000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(Depth</a:t>
            </a:r>
            <a:r>
              <a:rPr kumimoji="1" lang="ko-KR" altLang="en-US" sz="1600" b="1" dirty="0">
                <a:solidFill>
                  <a:srgbClr val="FF0000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최적화</a:t>
            </a:r>
            <a:r>
              <a:rPr kumimoji="1" lang="en-US" altLang="ko-KR" sz="1600" b="1" dirty="0">
                <a:solidFill>
                  <a:srgbClr val="FF0000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19183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5FC7CF-1F98-5D2F-1F64-0784E458F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ECDLP </a:t>
            </a:r>
            <a:r>
              <a:rPr kumimoji="1" lang="ko-KR" altLang="en-US" dirty="0"/>
              <a:t>양자회로 구현동향 </a:t>
            </a:r>
            <a:r>
              <a:rPr kumimoji="1" lang="en-US" altLang="ko-KR" dirty="0"/>
              <a:t>– Prime ECC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5CE0E2-30C8-4A28-1E06-2AFCEC0E6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5532435" cy="5603875"/>
          </a:xfrm>
        </p:spPr>
        <p:txBody>
          <a:bodyPr/>
          <a:lstStyle/>
          <a:p>
            <a:r>
              <a:rPr kumimoji="1" lang="en" altLang="ko-KR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Roetteler</a:t>
            </a:r>
            <a:r>
              <a:rPr kumimoji="1" lang="en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et al.  (2017)</a:t>
            </a:r>
          </a:p>
          <a:p>
            <a:pPr marL="0" indent="0">
              <a:buNone/>
            </a:pPr>
            <a:endParaRPr kumimoji="1" lang="en-US" altLang="ko-KR" sz="20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r>
              <a:rPr kumimoji="1"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덧셈과 더블링의 반복으로 진행되는 </a:t>
            </a:r>
            <a:r>
              <a:rPr kumimoji="1" lang="ko-KR" altLang="en-US" sz="20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모듈러</a:t>
            </a:r>
            <a:r>
              <a:rPr kumimoji="1"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  곱셈과 몽고메리 곱셈기를 각각 구현하였음</a:t>
            </a:r>
            <a:endParaRPr kumimoji="1" lang="en-US" altLang="ko-KR" sz="20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lvl="1"/>
            <a:r>
              <a:rPr kumimoji="1" lang="ko-KR" altLang="en-US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일반 </a:t>
            </a:r>
            <a:r>
              <a:rPr kumimoji="1" lang="ko-KR" altLang="en-US" sz="16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모듈러</a:t>
            </a:r>
            <a:r>
              <a:rPr kumimoji="1" lang="ko-KR" altLang="en-US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곱셈</a:t>
            </a:r>
            <a:r>
              <a:rPr kumimoji="1" lang="en-US" altLang="ko-KR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:</a:t>
            </a:r>
            <a:r>
              <a:rPr kumimoji="1" lang="ko-KR" altLang="en-US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덧셈과 </a:t>
            </a:r>
            <a:r>
              <a:rPr kumimoji="1" lang="ko-KR" altLang="en-US" sz="16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더블링</a:t>
            </a:r>
            <a:r>
              <a:rPr kumimoji="1" lang="en-US" altLang="ko-KR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(</a:t>
            </a:r>
            <a:r>
              <a:rPr kumimoji="1" lang="ko-KR" altLang="en-US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덧셈 </a:t>
            </a:r>
            <a:r>
              <a:rPr kumimoji="1" lang="en-US" altLang="ko-KR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2</a:t>
            </a:r>
            <a:r>
              <a:rPr kumimoji="1" lang="ko-KR" altLang="en-US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개</a:t>
            </a:r>
            <a:r>
              <a:rPr kumimoji="1" lang="en-US" altLang="ko-KR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)</a:t>
            </a:r>
            <a:r>
              <a:rPr kumimoji="1" lang="ko-KR" altLang="en-US" sz="16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으로</a:t>
            </a:r>
            <a:r>
              <a:rPr kumimoji="1" lang="ko-KR" altLang="en-US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구성</a:t>
            </a:r>
            <a:endParaRPr kumimoji="1" lang="en-US" altLang="ko-KR" sz="1600" dirty="0">
              <a:latin typeface="Gmarket Sans TTF Light" panose="02000000000000000000" pitchFamily="2" charset="-128"/>
              <a:ea typeface="Gmarket Sans TTF Light" panose="02000000000000000000" pitchFamily="2" charset="-128"/>
            </a:endParaRPr>
          </a:p>
          <a:p>
            <a:endParaRPr kumimoji="1" lang="en-US" altLang="ko-KR" sz="20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r>
              <a:rPr kumimoji="1"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몽고메리 곱셈기가 양자자원 측면에서 더욱   효율적임 </a:t>
            </a:r>
            <a:r>
              <a:rPr kumimoji="1"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</a:t>
            </a:r>
            <a:r>
              <a:rPr kumimoji="1"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 몽고메리 </a:t>
            </a:r>
            <a:r>
              <a:rPr kumimoji="1" lang="ko-KR" altLang="en-US" sz="20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곱셈기</a:t>
            </a:r>
            <a:r>
              <a:rPr kumimoji="1"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 적용</a:t>
            </a:r>
            <a:endParaRPr kumimoji="1" lang="en-US" altLang="ko-KR" sz="2000" dirty="0">
              <a:latin typeface="Gmarket Sans TTF Medium" panose="02000000000000000000" pitchFamily="2" charset="-128"/>
              <a:ea typeface="Gmarket Sans TTF Medium" panose="02000000000000000000" pitchFamily="2" charset="-128"/>
              <a:sym typeface="Wingdings" pitchFamily="2" charset="2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DBC3E4F-AB39-5FD4-FB91-3031D4CFB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889" y="1152525"/>
            <a:ext cx="5869057" cy="18569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F41550B-BDA1-3AAD-11E7-4871B04FC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598" y="3429000"/>
            <a:ext cx="6155636" cy="29151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242C62-275F-0C54-FD3B-084154BDEC6F}"/>
              </a:ext>
            </a:extLst>
          </p:cNvPr>
          <p:cNvSpPr txBox="1"/>
          <p:nvPr/>
        </p:nvSpPr>
        <p:spPr>
          <a:xfrm>
            <a:off x="8185290" y="3122928"/>
            <a:ext cx="1672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&lt;</a:t>
            </a:r>
            <a:r>
              <a:rPr kumimoji="1" lang="ko-KR" altLang="en-US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모듈러</a:t>
            </a:r>
            <a:r>
              <a:rPr kumimoji="1" lang="ko-KR" altLang="en-US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곱셈</a:t>
            </a:r>
            <a:r>
              <a:rPr kumimoji="1" lang="en-US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&gt;</a:t>
            </a:r>
            <a:endParaRPr kumimoji="1" lang="ko-KR" altLang="en-US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E0FEF7-B0FD-6D39-1E78-187D0E45C44F}"/>
              </a:ext>
            </a:extLst>
          </p:cNvPr>
          <p:cNvSpPr txBox="1"/>
          <p:nvPr/>
        </p:nvSpPr>
        <p:spPr>
          <a:xfrm>
            <a:off x="7730838" y="6387068"/>
            <a:ext cx="2581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&lt;</a:t>
            </a:r>
            <a:r>
              <a:rPr kumimoji="1" lang="ko-KR" altLang="en-US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몽고메리 </a:t>
            </a:r>
            <a:r>
              <a:rPr kumimoji="1" lang="ko-KR" altLang="en-US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모듈러</a:t>
            </a:r>
            <a:r>
              <a:rPr kumimoji="1" lang="ko-KR" altLang="en-US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곱셈</a:t>
            </a:r>
            <a:r>
              <a:rPr kumimoji="1" lang="en-US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&gt;</a:t>
            </a:r>
            <a:endParaRPr kumimoji="1" lang="ko-KR" altLang="en-US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86929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55CCB-0889-F22F-167F-675D5F45B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0C109E-0679-0AB1-B100-F15D5359B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ECDLP </a:t>
            </a:r>
            <a:r>
              <a:rPr kumimoji="1" lang="ko-KR" altLang="en-US" dirty="0"/>
              <a:t>양자회로 구현동향 </a:t>
            </a:r>
            <a:r>
              <a:rPr kumimoji="1" lang="en-US" altLang="ko-KR" dirty="0"/>
              <a:t>– Prime ECC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64AC04-69B9-801E-93C0-9EFC4C5EA7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8160" cy="2982153"/>
          </a:xfrm>
        </p:spPr>
        <p:txBody>
          <a:bodyPr/>
          <a:lstStyle/>
          <a:p>
            <a:r>
              <a:rPr kumimoji="1" lang="en" altLang="ko-KR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Roetteler</a:t>
            </a:r>
            <a:r>
              <a:rPr kumimoji="1" lang="en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et al.  (2017)</a:t>
            </a:r>
            <a:endParaRPr kumimoji="1" lang="en-US" altLang="ko-KR" sz="20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lvl="1"/>
            <a:r>
              <a:rPr kumimoji="1"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Kaliski algorithm</a:t>
            </a:r>
            <a:r>
              <a:rPr kumimoji="1"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을 기반으로 역산 양자회로 설계</a:t>
            </a:r>
            <a:endParaRPr kumimoji="1" lang="en-US" altLang="ko-KR" sz="20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lvl="1"/>
            <a:r>
              <a:rPr kumimoji="1"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특정 </a:t>
            </a:r>
            <a:r>
              <a:rPr kumimoji="1" lang="ko-KR" altLang="en-US" sz="20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큐비트</a:t>
            </a:r>
            <a:r>
              <a:rPr kumimoji="1"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조건에 따라 회로를 멈출 수 없으므로 </a:t>
            </a:r>
            <a:r>
              <a:rPr kumimoji="1"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(</a:t>
            </a:r>
            <a:r>
              <a:rPr kumimoji="1"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가역성</a:t>
            </a:r>
            <a:r>
              <a:rPr kumimoji="1"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),</a:t>
            </a:r>
            <a:r>
              <a:rPr kumimoji="1"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worst case</a:t>
            </a:r>
            <a:r>
              <a:rPr kumimoji="1"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만큼 </a:t>
            </a:r>
            <a:r>
              <a:rPr kumimoji="1"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2n</a:t>
            </a:r>
            <a:r>
              <a:rPr kumimoji="1"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번 반복</a:t>
            </a:r>
            <a:endParaRPr kumimoji="1" lang="en-US" altLang="ko-KR" sz="20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D2E8DFC-D662-0701-315D-1B5E9CCCA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043" y="2745403"/>
            <a:ext cx="7772400" cy="3815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360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02AD9-0F69-54B9-377E-E62A3D6C9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CAD651-39BE-4451-DCB9-68BBA14C1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ECDLP </a:t>
            </a:r>
            <a:r>
              <a:rPr kumimoji="1" lang="ko-KR" altLang="en-US" dirty="0"/>
              <a:t>양자회로 구현동향 </a:t>
            </a:r>
            <a:r>
              <a:rPr kumimoji="1" lang="en-US" altLang="ko-KR" dirty="0"/>
              <a:t>– Prime ECC</a:t>
            </a:r>
            <a:endParaRPr kumimoji="1"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A65A69EA-ACD9-B26B-7C54-9A76F1B709D0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1163" y="1152526"/>
                <a:ext cx="5684837" cy="3664572"/>
              </a:xfrm>
            </p:spPr>
            <p:txBody>
              <a:bodyPr/>
              <a:lstStyle/>
              <a:p>
                <a:r>
                  <a:rPr kumimoji="1" lang="en" altLang="ko-KR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Haner et al.   (2020)</a:t>
                </a:r>
              </a:p>
              <a:p>
                <a:pPr marL="0" indent="0">
                  <a:buNone/>
                </a:pPr>
                <a:endParaRPr kumimoji="1" lang="en-US" altLang="ko-KR" sz="20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r>
                  <a:rPr kumimoji="1" lang="ko-KR" altLang="en-US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몽고메리 곱셈기에 </a:t>
                </a:r>
                <a:r>
                  <a:rPr kumimoji="1" lang="en-US" altLang="ko-KR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window </a:t>
                </a:r>
                <a:r>
                  <a:rPr kumimoji="1" lang="ko-KR" altLang="en-US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기법을 적용함</a:t>
                </a:r>
                <a:endParaRPr kumimoji="1" lang="en-US" altLang="ko-KR" sz="20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endParaRPr kumimoji="1" lang="en-US" altLang="ko-KR" sz="20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r>
                  <a:rPr kumimoji="1" lang="ko-KR" altLang="en-US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몽고메리 </a:t>
                </a:r>
                <a:r>
                  <a:rPr kumimoji="1" lang="ko-KR" altLang="en-US" sz="2000" dirty="0" err="1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모듈러</a:t>
                </a:r>
                <a:r>
                  <a:rPr kumimoji="1" lang="ko-KR" altLang="en-US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연산에 필요한 값을 </a:t>
                </a:r>
                <a:r>
                  <a:rPr kumimoji="1" lang="en" altLang="ko-KR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table look-up</a:t>
                </a:r>
                <a:r>
                  <a:rPr kumimoji="1" lang="ko-KR" altLang="en-US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</a:t>
                </a:r>
                <a:r>
                  <a:rPr kumimoji="1" lang="ko-KR" altLang="en-US" sz="2000" dirty="0" err="1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으로</a:t>
                </a:r>
                <a:r>
                  <a:rPr kumimoji="1" lang="ko-KR" altLang="en-US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미리 만들어 두고</a:t>
                </a:r>
                <a:r>
                  <a:rPr kumimoji="1" lang="en-US" altLang="ko-KR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,</a:t>
                </a:r>
                <a:r>
                  <a:rPr kumimoji="1" lang="ko-KR" altLang="en-US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</a:t>
                </a:r>
                <a:r>
                  <a:rPr kumimoji="1" lang="ko-KR" altLang="en-US" sz="2000" dirty="0" err="1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큐비트</a:t>
                </a:r>
                <a:r>
                  <a:rPr kumimoji="1" lang="ko-KR" altLang="en-US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상태에 따라 값을 가져와서 덧셈함</a:t>
                </a:r>
                <a:endParaRPr kumimoji="1" lang="en-US" altLang="ko-KR" sz="20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endParaRPr kumimoji="1" lang="en-US" altLang="ko-KR" sz="20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r>
                  <a:rPr kumimoji="1" lang="en-US" altLang="ko-KR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window </a:t>
                </a:r>
                <a:r>
                  <a:rPr kumimoji="1" lang="ko-KR" altLang="en-US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사이즈에 따라 반복이 달라짐</a:t>
                </a:r>
                <a:r>
                  <a:rPr kumimoji="1" lang="en-US" altLang="ko-KR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:</a:t>
                </a:r>
                <a:r>
                  <a:rPr kumimoji="1" lang="ko-KR" altLang="en-US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kumimoji="1" lang="ko-KR" altLang="en-US" sz="2000" i="1" smtClean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</a:rPr>
                          <m:t>n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</a:rPr>
                          <m:t>k</m:t>
                        </m:r>
                      </m:e>
                    </m:d>
                  </m:oMath>
                </a14:m>
                <a:endParaRPr kumimoji="1" lang="en-US" altLang="ko-KR" sz="20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endParaRPr kumimoji="1" lang="ko-KR" altLang="en-US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</p:txBody>
          </p:sp>
        </mc:Choice>
        <mc:Fallback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A65A69EA-ACD9-B26B-7C54-9A76F1B709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1163" y="1152526"/>
                <a:ext cx="5684837" cy="3664572"/>
              </a:xfrm>
              <a:blipFill>
                <a:blip r:embed="rId2"/>
                <a:stretch>
                  <a:fillRect l="-1782" t="-27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FEEA8D86-7188-B93C-3AE8-7A46840CA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567" y="1503090"/>
            <a:ext cx="5413513" cy="418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777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1F027-7F16-F8C2-8047-C94B4E116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B84460-2337-E6E8-C504-CBDD2EE9D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ECDLP </a:t>
            </a:r>
            <a:r>
              <a:rPr kumimoji="1" lang="ko-KR" altLang="en-US" dirty="0"/>
              <a:t>양자회로 구현동향 </a:t>
            </a:r>
            <a:r>
              <a:rPr kumimoji="1" lang="en-US" altLang="ko-KR" dirty="0"/>
              <a:t>– Prime ECC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DCD9C3-DD95-070C-73A2-D47AADEB56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2" y="1152525"/>
            <a:ext cx="11780837" cy="1676614"/>
          </a:xfrm>
        </p:spPr>
        <p:txBody>
          <a:bodyPr>
            <a:normAutofit/>
          </a:bodyPr>
          <a:lstStyle/>
          <a:p>
            <a:r>
              <a:rPr kumimoji="1" lang="en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Haner et al.   (2020)</a:t>
            </a:r>
            <a:endParaRPr kumimoji="1" lang="en-US" altLang="ko-KR" sz="20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lvl="1"/>
            <a:r>
              <a:rPr kumimoji="1"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기존 </a:t>
            </a:r>
            <a:r>
              <a:rPr kumimoji="1"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Kaliski’s algorithm</a:t>
            </a:r>
            <a:r>
              <a:rPr kumimoji="1"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을 </a:t>
            </a:r>
            <a:r>
              <a:rPr kumimoji="1"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SWAP</a:t>
            </a:r>
            <a:r>
              <a:rPr kumimoji="1"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게이트를 사용한 양자회로의 조건식으로 수정하여 이전 연구 </a:t>
            </a:r>
            <a:r>
              <a:rPr kumimoji="1"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(</a:t>
            </a:r>
            <a:r>
              <a:rPr kumimoji="1" lang="en" altLang="ko-KR" sz="20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Roetteler</a:t>
            </a:r>
            <a:r>
              <a:rPr kumimoji="1"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et. al) </a:t>
            </a:r>
            <a:r>
              <a:rPr kumimoji="1"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대비 연산 수를 줄임</a:t>
            </a:r>
          </a:p>
          <a:p>
            <a:endParaRPr kumimoji="1" lang="ko-KR" altLang="en-US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49C07C7-C050-C540-8B2E-F1F4576DD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9734" y="2733400"/>
            <a:ext cx="6506817" cy="187145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E536263-E35F-BA72-BC82-5EB8ACA0E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2235" y="4778794"/>
            <a:ext cx="6506817" cy="18714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979FF0E-F04B-1C51-B3E4-12BDA87FAB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8144"/>
          <a:stretch>
            <a:fillRect/>
          </a:stretch>
        </p:blipFill>
        <p:spPr>
          <a:xfrm>
            <a:off x="62948" y="2911554"/>
            <a:ext cx="2630556" cy="353673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7D797D3-F07F-D058-B0A0-2E2E5E9EEF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8197"/>
          <a:stretch>
            <a:fillRect/>
          </a:stretch>
        </p:blipFill>
        <p:spPr>
          <a:xfrm>
            <a:off x="2832997" y="2911554"/>
            <a:ext cx="2627244" cy="3536733"/>
          </a:xfrm>
          <a:prstGeom prst="rect">
            <a:avLst/>
          </a:prstGeom>
        </p:spPr>
      </p:pic>
      <p:sp>
        <p:nvSpPr>
          <p:cNvPr id="10" name="오른쪽 화살표[R] 9">
            <a:extLst>
              <a:ext uri="{FF2B5EF4-FFF2-40B4-BE49-F238E27FC236}">
                <a16:creationId xmlns:a16="http://schemas.microsoft.com/office/drawing/2014/main" id="{C72F94C7-EF41-9A78-C63E-266FC4A51FD6}"/>
              </a:ext>
            </a:extLst>
          </p:cNvPr>
          <p:cNvSpPr/>
          <p:nvPr/>
        </p:nvSpPr>
        <p:spPr>
          <a:xfrm>
            <a:off x="2537790" y="4770783"/>
            <a:ext cx="347870" cy="318053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1" name="오른쪽 화살표[R] 10">
            <a:extLst>
              <a:ext uri="{FF2B5EF4-FFF2-40B4-BE49-F238E27FC236}">
                <a16:creationId xmlns:a16="http://schemas.microsoft.com/office/drawing/2014/main" id="{C1FD4537-247C-7B1B-0458-A6C483AC7E58}"/>
              </a:ext>
            </a:extLst>
          </p:cNvPr>
          <p:cNvSpPr/>
          <p:nvPr/>
        </p:nvSpPr>
        <p:spPr>
          <a:xfrm rot="5400000">
            <a:off x="9026041" y="4532801"/>
            <a:ext cx="347870" cy="318053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6093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8CB77-C1D5-CCCF-DD9C-0D45B4DF7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2DD47A-A22A-7A04-F79B-EB4F058A7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ECDLP </a:t>
            </a:r>
            <a:r>
              <a:rPr kumimoji="1" lang="ko-KR" altLang="en-US" dirty="0"/>
              <a:t>양자회로 구현동향 </a:t>
            </a:r>
            <a:r>
              <a:rPr kumimoji="1" lang="en-US" altLang="ko-KR" dirty="0"/>
              <a:t>– Prime ECC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236544-F13D-789B-D668-C526B8F0E9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5532437" cy="5603875"/>
          </a:xfrm>
        </p:spPr>
        <p:txBody>
          <a:bodyPr/>
          <a:lstStyle/>
          <a:p>
            <a:r>
              <a:rPr kumimoji="1" lang="en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Kim et al.   (2026)</a:t>
            </a:r>
          </a:p>
          <a:p>
            <a:endParaRPr kumimoji="1" lang="en" altLang="ko-KR" sz="20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r>
              <a:rPr kumimoji="1" lang="ko-KR" altLang="en-US" sz="20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모듈러</a:t>
            </a:r>
            <a:r>
              <a:rPr kumimoji="1"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곱셈 및 역산에 </a:t>
            </a:r>
            <a:r>
              <a:rPr kumimoji="1"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Quantum Carry Save Adder (QCSA) </a:t>
            </a:r>
            <a:r>
              <a:rPr kumimoji="1"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적용</a:t>
            </a:r>
            <a:endParaRPr kumimoji="1" lang="en-US" altLang="ko-KR" sz="20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endParaRPr kumimoji="1" lang="en-US" altLang="ko-KR" sz="1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r>
              <a:rPr kumimoji="1"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QCSA</a:t>
            </a:r>
            <a:r>
              <a:rPr kumimoji="1"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는 순차적으로 </a:t>
            </a:r>
            <a:r>
              <a:rPr kumimoji="1"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carry </a:t>
            </a:r>
            <a:r>
              <a:rPr kumimoji="1"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값을 적용하지 않고 다중 피연산자에 대해 병렬로 덧셈 가능</a:t>
            </a:r>
            <a:endParaRPr kumimoji="1" lang="en-US" altLang="ko-KR" sz="20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endParaRPr kumimoji="1" lang="en-US" altLang="ko-KR" sz="14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r>
              <a:rPr kumimoji="1"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QCSA</a:t>
            </a:r>
            <a:r>
              <a:rPr kumimoji="1" lang="ko-KR" altLang="en-US" sz="20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를</a:t>
            </a:r>
            <a:r>
              <a:rPr kumimoji="1"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적용하기 위해 </a:t>
            </a:r>
            <a:r>
              <a:rPr kumimoji="1"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input</a:t>
            </a:r>
            <a:r>
              <a:rPr kumimoji="1"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을 셋팅 하는  단계가 추가로 설계되었음</a:t>
            </a:r>
            <a:endParaRPr kumimoji="1" lang="en-US" altLang="ko-KR" sz="20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0CC75D7-0E68-16DC-1127-0C1D7C369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295" y="4582345"/>
            <a:ext cx="8430705" cy="206790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4FA25DA-3C63-58D8-0201-3E3269055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185" y="1642966"/>
            <a:ext cx="6178483" cy="2355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708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3EAA5-40F8-A99B-7958-DF4B3254D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3F7A11-C3EC-9244-F05B-D8B728FB5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ECDLP </a:t>
            </a:r>
            <a:r>
              <a:rPr kumimoji="1" lang="ko-KR" altLang="en-US" dirty="0"/>
              <a:t>양자회로 구현동향 </a:t>
            </a:r>
            <a:r>
              <a:rPr kumimoji="1" lang="en-US" altLang="ko-KR" dirty="0"/>
              <a:t>– Prime ECC</a:t>
            </a:r>
            <a:endParaRPr kumimoji="1" lang="ko-Kore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5F4BFC-0EE2-50EF-7AFB-05C30ECAF7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6"/>
            <a:ext cx="11369675" cy="535598"/>
          </a:xfrm>
        </p:spPr>
        <p:txBody>
          <a:bodyPr/>
          <a:lstStyle/>
          <a:p>
            <a:r>
              <a:rPr kumimoji="1" lang="ko-KR" altLang="en-US" dirty="0"/>
              <a:t>자원 추정 결과</a:t>
            </a:r>
            <a:endParaRPr kumimoji="1" lang="ko-Kore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9D430B4-4B93-9679-1132-3E23BA1BA8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771924"/>
              </p:ext>
            </p:extLst>
          </p:nvPr>
        </p:nvGraphicFramePr>
        <p:xfrm>
          <a:off x="870382" y="2422687"/>
          <a:ext cx="10609670" cy="319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6506">
                  <a:extLst>
                    <a:ext uri="{9D8B030D-6E8A-4147-A177-3AD203B41FA5}">
                      <a16:colId xmlns:a16="http://schemas.microsoft.com/office/drawing/2014/main" val="2868897498"/>
                    </a:ext>
                  </a:extLst>
                </a:gridCol>
                <a:gridCol w="1484946">
                  <a:extLst>
                    <a:ext uri="{9D8B030D-6E8A-4147-A177-3AD203B41FA5}">
                      <a16:colId xmlns:a16="http://schemas.microsoft.com/office/drawing/2014/main" val="1442865198"/>
                    </a:ext>
                  </a:extLst>
                </a:gridCol>
                <a:gridCol w="1484946">
                  <a:extLst>
                    <a:ext uri="{9D8B030D-6E8A-4147-A177-3AD203B41FA5}">
                      <a16:colId xmlns:a16="http://schemas.microsoft.com/office/drawing/2014/main" val="605523981"/>
                    </a:ext>
                  </a:extLst>
                </a:gridCol>
                <a:gridCol w="1484946">
                  <a:extLst>
                    <a:ext uri="{9D8B030D-6E8A-4147-A177-3AD203B41FA5}">
                      <a16:colId xmlns:a16="http://schemas.microsoft.com/office/drawing/2014/main" val="1429989455"/>
                    </a:ext>
                  </a:extLst>
                </a:gridCol>
                <a:gridCol w="1643380">
                  <a:extLst>
                    <a:ext uri="{9D8B030D-6E8A-4147-A177-3AD203B41FA5}">
                      <a16:colId xmlns:a16="http://schemas.microsoft.com/office/drawing/2014/main" val="1128682054"/>
                    </a:ext>
                  </a:extLst>
                </a:gridCol>
                <a:gridCol w="1484946">
                  <a:extLst>
                    <a:ext uri="{9D8B030D-6E8A-4147-A177-3AD203B41FA5}">
                      <a16:colId xmlns:a16="http://schemas.microsoft.com/office/drawing/2014/main" val="2291582662"/>
                    </a:ext>
                  </a:extLst>
                </a:gridCol>
              </a:tblGrid>
              <a:tr h="4668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Ref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큐비트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CNOT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T-depth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Full Depth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6853342"/>
                  </a:ext>
                </a:extLst>
              </a:tr>
              <a:tr h="545767"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dirty="0" err="1"/>
                        <a:t>Roetteler</a:t>
                      </a:r>
                      <a:r>
                        <a:rPr lang="en" altLang="ko-KR" dirty="0"/>
                        <a:t> et al.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1754</a:t>
                      </a:r>
                      <a:endParaRPr lang="ko-KR" alt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48600000000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6595295"/>
                  </a:ext>
                </a:extLst>
              </a:tr>
              <a:tr h="545767"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dirty="0"/>
                        <a:t>Haner et al.   (Qubit opt)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2080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>
                          <a:effectLst/>
                          <a:latin typeface="Helvetica" pitchFamily="2" charset="0"/>
                        </a:rPr>
                        <a:t>108,905,241</a:t>
                      </a:r>
                    </a:p>
                  </a:txBody>
                  <a:tcPr marL="47625" marR="4762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>
                          <a:effectLst/>
                          <a:latin typeface="Helvetica" pitchFamily="2" charset="0"/>
                        </a:rPr>
                        <a:t>82,304,057</a:t>
                      </a:r>
                    </a:p>
                  </a:txBody>
                  <a:tcPr marL="47625" marR="4762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>
                          <a:effectLst/>
                          <a:latin typeface="Helvetica" pitchFamily="2" charset="0"/>
                        </a:rPr>
                        <a:t>36,606,886</a:t>
                      </a:r>
                    </a:p>
                  </a:txBody>
                  <a:tcPr marL="47625" marR="4762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>
                          <a:effectLst/>
                          <a:latin typeface="Helvetica" pitchFamily="2" charset="0"/>
                        </a:rPr>
                        <a:t>85,616,254</a:t>
                      </a:r>
                    </a:p>
                  </a:txBody>
                  <a:tcPr marL="47625" marR="47625" marT="0" marB="0" anchor="ctr"/>
                </a:tc>
                <a:extLst>
                  <a:ext uri="{0D108BD9-81ED-4DB2-BD59-A6C34878D82A}">
                    <a16:rowId xmlns:a16="http://schemas.microsoft.com/office/drawing/2014/main" val="3095346382"/>
                  </a:ext>
                </a:extLst>
              </a:tr>
              <a:tr h="5457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dirty="0"/>
                        <a:t>Haner et al.   (Depth opt)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3341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>
                          <a:effectLst/>
                          <a:latin typeface="Helvetica" pitchFamily="2" charset="0"/>
                        </a:rPr>
                        <a:t>581,960,676 </a:t>
                      </a:r>
                    </a:p>
                  </a:txBody>
                  <a:tcPr marL="47625" marR="4762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>
                          <a:effectLst/>
                          <a:latin typeface="Helvetica" pitchFamily="2" charset="0"/>
                        </a:rPr>
                        <a:t>208,167,629</a:t>
                      </a:r>
                    </a:p>
                  </a:txBody>
                  <a:tcPr marL="47625" marR="4762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>
                          <a:effectLst/>
                          <a:latin typeface="Helvetica" pitchFamily="2" charset="0"/>
                        </a:rPr>
                        <a:t>1,903,404 </a:t>
                      </a:r>
                    </a:p>
                  </a:txBody>
                  <a:tcPr marL="47625" marR="4762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>
                          <a:effectLst/>
                          <a:latin typeface="Helvetica" pitchFamily="2" charset="0"/>
                        </a:rPr>
                        <a:t>7,986,843</a:t>
                      </a:r>
                    </a:p>
                  </a:txBody>
                  <a:tcPr marL="47625" marR="47625" marT="0" marB="0" anchor="ctr"/>
                </a:tc>
                <a:extLst>
                  <a:ext uri="{0D108BD9-81ED-4DB2-BD59-A6C34878D82A}">
                    <a16:rowId xmlns:a16="http://schemas.microsoft.com/office/drawing/2014/main" val="3891506410"/>
                  </a:ext>
                </a:extLst>
              </a:tr>
              <a:tr h="545767"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dirty="0"/>
                        <a:t>Kim et al.   (Qubit opt)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6476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>
                          <a:effectLst/>
                          <a:latin typeface="Helvetica" pitchFamily="2" charset="0"/>
                        </a:rPr>
                        <a:t>230,834,330</a:t>
                      </a:r>
                    </a:p>
                  </a:txBody>
                  <a:tcPr marL="47625" marR="4762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>
                          <a:effectLst/>
                          <a:latin typeface="Helvetica" pitchFamily="2" charset="0"/>
                        </a:rPr>
                        <a:t>122,440,398</a:t>
                      </a:r>
                    </a:p>
                  </a:txBody>
                  <a:tcPr marL="47625" marR="4762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>
                          <a:effectLst/>
                          <a:latin typeface="Helvetica" pitchFamily="2" charset="0"/>
                        </a:rPr>
                        <a:t>943,529</a:t>
                      </a:r>
                    </a:p>
                  </a:txBody>
                  <a:tcPr marL="47625" marR="4762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>
                          <a:effectLst/>
                          <a:latin typeface="Helvetica" pitchFamily="2" charset="0"/>
                        </a:rPr>
                        <a:t>2,438,870</a:t>
                      </a:r>
                    </a:p>
                  </a:txBody>
                  <a:tcPr marL="47625" marR="47625" marT="0" marB="0" anchor="ctr"/>
                </a:tc>
                <a:extLst>
                  <a:ext uri="{0D108BD9-81ED-4DB2-BD59-A6C34878D82A}">
                    <a16:rowId xmlns:a16="http://schemas.microsoft.com/office/drawing/2014/main" val="2599671338"/>
                  </a:ext>
                </a:extLst>
              </a:tr>
              <a:tr h="5457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dirty="0"/>
                        <a:t>Kim et al.   (Depth opt)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23729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>
                          <a:effectLst/>
                          <a:latin typeface="Helvetica" pitchFamily="2" charset="0"/>
                        </a:rPr>
                        <a:t>173,988,372</a:t>
                      </a:r>
                    </a:p>
                  </a:txBody>
                  <a:tcPr marL="47625" marR="4762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>
                          <a:effectLst/>
                          <a:latin typeface="Helvetica" pitchFamily="2" charset="0"/>
                        </a:rPr>
                        <a:t>69,652,392</a:t>
                      </a:r>
                    </a:p>
                  </a:txBody>
                  <a:tcPr marL="47625" marR="4762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>
                          <a:effectLst/>
                          <a:latin typeface="Helvetica" pitchFamily="2" charset="0"/>
                        </a:rPr>
                        <a:t>320,949</a:t>
                      </a:r>
                    </a:p>
                  </a:txBody>
                  <a:tcPr marL="47625" marR="4762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>
                          <a:effectLst/>
                          <a:latin typeface="Helvetica" pitchFamily="2" charset="0"/>
                        </a:rPr>
                        <a:t>1,076,644</a:t>
                      </a:r>
                    </a:p>
                  </a:txBody>
                  <a:tcPr marL="47625" marR="47625" marT="0" marB="0" anchor="ctr"/>
                </a:tc>
                <a:extLst>
                  <a:ext uri="{0D108BD9-81ED-4DB2-BD59-A6C34878D82A}">
                    <a16:rowId xmlns:a16="http://schemas.microsoft.com/office/drawing/2014/main" val="1712033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4857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3004F-10BB-2ECC-8FA6-276F15B52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D78050-7809-8247-BBB0-4D805D08E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ECDLP </a:t>
            </a:r>
            <a:r>
              <a:rPr kumimoji="1" lang="ko-KR" altLang="en-US" dirty="0"/>
              <a:t>양자회로 구현동향 </a:t>
            </a:r>
            <a:r>
              <a:rPr kumimoji="1" lang="en-US" altLang="ko-KR" dirty="0"/>
              <a:t>– Binary ECC</a:t>
            </a:r>
            <a:endParaRPr kumimoji="1" lang="ko-Kore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35ECAB1-0338-7797-C3A1-0CB24C1A91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214"/>
          <a:stretch>
            <a:fillRect/>
          </a:stretch>
        </p:blipFill>
        <p:spPr>
          <a:xfrm>
            <a:off x="116869" y="2418146"/>
            <a:ext cx="3886200" cy="17536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D9DCEE-BC74-D111-C8C6-79E27BC6E677}"/>
              </a:ext>
            </a:extLst>
          </p:cNvPr>
          <p:cNvSpPr txBox="1"/>
          <p:nvPr/>
        </p:nvSpPr>
        <p:spPr>
          <a:xfrm>
            <a:off x="2711052" y="2817546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(2017)</a:t>
            </a:r>
            <a:endParaRPr kumimoji="1" lang="ko-Kore-KR" altLang="en-US" b="1" dirty="0">
              <a:latin typeface="Gmarket Sans TTF Bold" panose="02000000000000000000" pitchFamily="2" charset="-128"/>
              <a:ea typeface="Gmarket Sans TTF Bold" panose="02000000000000000000" pitchFamily="2" charset="-128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C69BD20-04B6-7904-ABCF-B86D540D7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4114" y="2248998"/>
            <a:ext cx="3886200" cy="25128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EB8FF1-3E87-7237-B775-AE0822E777B3}"/>
              </a:ext>
            </a:extLst>
          </p:cNvPr>
          <p:cNvSpPr txBox="1"/>
          <p:nvPr/>
        </p:nvSpPr>
        <p:spPr>
          <a:xfrm>
            <a:off x="368760" y="2725628"/>
            <a:ext cx="3376062" cy="369332"/>
          </a:xfrm>
          <a:prstGeom prst="rect">
            <a:avLst/>
          </a:prstGeom>
          <a:solidFill>
            <a:srgbClr val="FAFBFE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b="1" dirty="0" err="1">
                <a:solidFill>
                  <a:srgbClr val="001935"/>
                </a:solidFill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Putranto</a:t>
            </a:r>
            <a:r>
              <a:rPr kumimoji="1" lang="en-US" altLang="ko-KR" b="1" dirty="0">
                <a:solidFill>
                  <a:srgbClr val="001935"/>
                </a:solidFill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 et al.   (2022)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15F4AF0-AC7A-211F-28F4-29D45790E37D}"/>
              </a:ext>
            </a:extLst>
          </p:cNvPr>
          <p:cNvGrpSpPr/>
          <p:nvPr/>
        </p:nvGrpSpPr>
        <p:grpSpPr>
          <a:xfrm>
            <a:off x="4115757" y="2291776"/>
            <a:ext cx="3960485" cy="2542512"/>
            <a:chOff x="4313579" y="1812398"/>
            <a:chExt cx="3960485" cy="2542512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F9133A69-D1CB-7A46-33F0-2ED179D84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13579" y="1812398"/>
              <a:ext cx="3960485" cy="2535962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926F4DE1-FE47-37D8-C68D-32BA660CFA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80045"/>
            <a:stretch>
              <a:fillRect/>
            </a:stretch>
          </p:blipFill>
          <p:spPr>
            <a:xfrm>
              <a:off x="4313579" y="3848847"/>
              <a:ext cx="3960485" cy="506063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00DE543-99BA-3328-2FC5-982D980433FF}"/>
                </a:ext>
              </a:extLst>
            </p:cNvPr>
            <p:cNvSpPr txBox="1"/>
            <p:nvPr/>
          </p:nvSpPr>
          <p:spPr>
            <a:xfrm>
              <a:off x="6621851" y="2221795"/>
              <a:ext cx="10054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b="1" dirty="0">
                  <a:latin typeface="Gmarket Sans TTF Bold" panose="02000000000000000000" pitchFamily="2" charset="-128"/>
                  <a:ea typeface="Gmarket Sans TTF Bold" panose="02000000000000000000" pitchFamily="2" charset="-128"/>
                </a:rPr>
                <a:t>(2020)</a:t>
              </a:r>
              <a:endParaRPr kumimoji="1" lang="ko-Kore-KR" altLang="en-US" b="1" dirty="0">
                <a:latin typeface="Gmarket Sans TTF Bold" panose="02000000000000000000" pitchFamily="2" charset="-128"/>
                <a:ea typeface="Gmarket Sans TTF Bold" panose="02000000000000000000" pitchFamily="2" charset="-128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5B70973-82B3-3329-3D06-90B4711BAE9A}"/>
                </a:ext>
              </a:extLst>
            </p:cNvPr>
            <p:cNvSpPr txBox="1"/>
            <p:nvPr/>
          </p:nvSpPr>
          <p:spPr>
            <a:xfrm>
              <a:off x="4576098" y="2604228"/>
              <a:ext cx="3514993" cy="1477328"/>
            </a:xfrm>
            <a:prstGeom prst="rect">
              <a:avLst/>
            </a:prstGeom>
            <a:solidFill>
              <a:srgbClr val="FAFBFE"/>
            </a:solidFill>
          </p:spPr>
          <p:txBody>
            <a:bodyPr wrap="square" rtlCol="0">
              <a:spAutoFit/>
            </a:bodyPr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kumimoji="1" lang="en-US" altLang="ko-KR" sz="16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FLT </a:t>
              </a:r>
              <a:r>
                <a:rPr kumimoji="1" lang="ko-KR" altLang="en-US" sz="16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기반 역원 연산 </a:t>
              </a:r>
              <a:r>
                <a:rPr kumimoji="1" lang="en-US" altLang="ko-KR" sz="16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+</a:t>
              </a:r>
              <a:r>
                <a:rPr kumimoji="1" lang="ko-KR" altLang="en-US" sz="16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 덧셈사슬   구조 접목</a:t>
              </a:r>
              <a:endParaRPr kumimoji="1" lang="en-US" altLang="ko-KR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endParaRP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kumimoji="1" lang="ko-KR" altLang="en-US" sz="16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덧셈 사슬 특성이 양자 자원에 어떤 영향을 미치는지 확인</a:t>
              </a:r>
              <a:endParaRPr kumimoji="1" lang="en-US" altLang="ko-KR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endParaRP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endParaRPr kumimoji="1" lang="en-US" altLang="ko-KR" sz="1000" dirty="0">
                <a:latin typeface="Gmarket Sans TTF Medium" panose="02000000000000000000" pitchFamily="2" charset="-128"/>
                <a:ea typeface="Gmarket Sans TTF Medium" panose="02000000000000000000" pitchFamily="2" charset="-128"/>
              </a:endParaRPr>
            </a:p>
            <a:p>
              <a:pPr algn="ctr"/>
              <a:r>
                <a:rPr kumimoji="1" lang="en-US" altLang="ko-KR" sz="1600" b="1" dirty="0">
                  <a:solidFill>
                    <a:srgbClr val="FF0000"/>
                  </a:solidFill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(</a:t>
              </a:r>
              <a:r>
                <a:rPr kumimoji="1" lang="ko-KR" altLang="en-US" sz="1600" b="1" dirty="0" err="1">
                  <a:solidFill>
                    <a:srgbClr val="FF0000"/>
                  </a:solidFill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큐비트</a:t>
              </a:r>
              <a:r>
                <a:rPr kumimoji="1" lang="ko-KR" altLang="en-US" sz="1600" b="1" dirty="0">
                  <a:solidFill>
                    <a:srgbClr val="FF0000"/>
                  </a:solidFill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  및 </a:t>
              </a:r>
              <a:r>
                <a:rPr kumimoji="1" lang="en-US" altLang="ko-KR" sz="1600" b="1" dirty="0">
                  <a:solidFill>
                    <a:srgbClr val="FF0000"/>
                  </a:solidFill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Depth</a:t>
              </a:r>
              <a:r>
                <a:rPr kumimoji="1" lang="ko-KR" altLang="en-US" sz="1600" b="1" dirty="0">
                  <a:solidFill>
                    <a:srgbClr val="FF0000"/>
                  </a:solidFill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 최적화</a:t>
              </a:r>
              <a:r>
                <a:rPr kumimoji="1" lang="en-US" altLang="ko-KR" sz="1600" b="1" dirty="0">
                  <a:solidFill>
                    <a:srgbClr val="FF0000"/>
                  </a:solidFill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)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54F83FF-C5CA-67A6-4F1B-210AB45B6910}"/>
                </a:ext>
              </a:extLst>
            </p:cNvPr>
            <p:cNvSpPr txBox="1"/>
            <p:nvPr/>
          </p:nvSpPr>
          <p:spPr>
            <a:xfrm>
              <a:off x="4605790" y="2142978"/>
              <a:ext cx="3376062" cy="369332"/>
            </a:xfrm>
            <a:prstGeom prst="rect">
              <a:avLst/>
            </a:prstGeom>
            <a:solidFill>
              <a:srgbClr val="FAFBFE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b="1" dirty="0">
                  <a:solidFill>
                    <a:srgbClr val="001935"/>
                  </a:solidFill>
                  <a:latin typeface="Gmarket Sans TTF Bold" panose="02000000000000000000" pitchFamily="2" charset="-128"/>
                  <a:ea typeface="Gmarket Sans TTF Bold" panose="02000000000000000000" pitchFamily="2" charset="-128"/>
                </a:rPr>
                <a:t>Taguchi et al.   (2023)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DB408A6-9D6E-51E6-287D-4D4F82729E47}"/>
              </a:ext>
            </a:extLst>
          </p:cNvPr>
          <p:cNvSpPr txBox="1"/>
          <p:nvPr/>
        </p:nvSpPr>
        <p:spPr>
          <a:xfrm>
            <a:off x="8426579" y="2586843"/>
            <a:ext cx="3376062" cy="369332"/>
          </a:xfrm>
          <a:prstGeom prst="rect">
            <a:avLst/>
          </a:prstGeom>
          <a:solidFill>
            <a:srgbClr val="FAFBFE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b="1" dirty="0">
                <a:solidFill>
                  <a:srgbClr val="001935"/>
                </a:solidFill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Jang et al.   (2025)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444D25C-27E9-134A-9E6E-17674E3CC7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0045"/>
          <a:stretch>
            <a:fillRect/>
          </a:stretch>
        </p:blipFill>
        <p:spPr>
          <a:xfrm>
            <a:off x="8196970" y="4383758"/>
            <a:ext cx="3960485" cy="5060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18894EE-7EED-EA33-8C7F-61DCCDF3E681}"/>
              </a:ext>
            </a:extLst>
          </p:cNvPr>
          <p:cNvSpPr txBox="1"/>
          <p:nvPr/>
        </p:nvSpPr>
        <p:spPr>
          <a:xfrm>
            <a:off x="8346801" y="3017730"/>
            <a:ext cx="3660825" cy="1723549"/>
          </a:xfrm>
          <a:prstGeom prst="rect">
            <a:avLst/>
          </a:prstGeom>
          <a:solidFill>
            <a:srgbClr val="FAFBFE"/>
          </a:solidFill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1" lang="ko-KR" altLang="en-US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낮은 </a:t>
            </a:r>
            <a:r>
              <a:rPr kumimoji="1" lang="en-US" altLang="ko-KR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depth</a:t>
            </a:r>
            <a:r>
              <a:rPr kumimoji="1" lang="ko-KR" altLang="en-US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의 </a:t>
            </a:r>
            <a:r>
              <a:rPr kumimoji="1" lang="en-US" altLang="ko-KR" sz="16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Karatuba</a:t>
            </a:r>
            <a:r>
              <a:rPr kumimoji="1" lang="en-US" altLang="ko-KR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ko-KR" altLang="en-US" sz="16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곱셈기</a:t>
            </a:r>
            <a:r>
              <a:rPr kumimoji="1" lang="ko-KR" altLang="en-US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적용</a:t>
            </a:r>
            <a:endParaRPr kumimoji="1" lang="en-US" altLang="ko-KR" sz="16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1" lang="en-US" altLang="ko-KR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Out-of-place</a:t>
            </a:r>
            <a:r>
              <a:rPr kumimoji="1" lang="ko-KR" altLang="en-US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구조의 </a:t>
            </a:r>
            <a:r>
              <a:rPr kumimoji="1" lang="ko-KR" altLang="en-US" sz="16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점덧셈</a:t>
            </a:r>
            <a:r>
              <a:rPr kumimoji="1" lang="ko-KR" altLang="en-US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구조 설계</a:t>
            </a:r>
            <a:endParaRPr kumimoji="1" lang="en-US" altLang="ko-KR" sz="16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1" lang="en-US" altLang="ko-KR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NIST </a:t>
            </a:r>
            <a:r>
              <a:rPr kumimoji="1" lang="ko-KR" altLang="en-US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양자보안 기준에 따른 분석</a:t>
            </a:r>
            <a:endParaRPr kumimoji="1" lang="en-US" altLang="ko-KR" sz="16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kumimoji="1" lang="en-US" altLang="ko-KR" sz="10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algn="ctr"/>
            <a:r>
              <a:rPr kumimoji="1" lang="en-US" altLang="ko-KR" sz="1600" b="1" dirty="0">
                <a:solidFill>
                  <a:srgbClr val="FF0000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(Depth</a:t>
            </a:r>
            <a:r>
              <a:rPr kumimoji="1" lang="ko-KR" altLang="en-US" sz="1600" b="1" dirty="0">
                <a:solidFill>
                  <a:srgbClr val="FF0000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최적화</a:t>
            </a:r>
            <a:r>
              <a:rPr kumimoji="1" lang="en-US" altLang="ko-KR" sz="1600" b="1" dirty="0">
                <a:solidFill>
                  <a:srgbClr val="FF0000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)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403D179-86EF-E4CD-4944-44B29D73D9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079"/>
          <a:stretch>
            <a:fillRect/>
          </a:stretch>
        </p:blipFill>
        <p:spPr>
          <a:xfrm>
            <a:off x="116869" y="3858048"/>
            <a:ext cx="3886200" cy="5257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4FE69F-E916-3EE3-4865-C38065E79EBE}"/>
              </a:ext>
            </a:extLst>
          </p:cNvPr>
          <p:cNvSpPr txBox="1"/>
          <p:nvPr/>
        </p:nvSpPr>
        <p:spPr>
          <a:xfrm>
            <a:off x="342246" y="3186878"/>
            <a:ext cx="3435446" cy="984885"/>
          </a:xfrm>
          <a:prstGeom prst="rect">
            <a:avLst/>
          </a:prstGeom>
          <a:solidFill>
            <a:srgbClr val="FAFBFE"/>
          </a:solidFill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1" lang="ko-KR" altLang="en-US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개선된 </a:t>
            </a:r>
            <a:r>
              <a:rPr kumimoji="1" lang="en-US" altLang="ko-KR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Karatsuba </a:t>
            </a:r>
            <a:r>
              <a:rPr kumimoji="1" lang="ko-KR" altLang="en-US" sz="16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곱셈기</a:t>
            </a:r>
            <a:r>
              <a:rPr kumimoji="1" lang="ko-KR" altLang="en-US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사용</a:t>
            </a:r>
            <a:endParaRPr kumimoji="1" lang="en-US" altLang="ko-KR" sz="16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1" lang="en" altLang="ko-KR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FLT </a:t>
            </a:r>
            <a:r>
              <a:rPr kumimoji="1" lang="ko-KR" altLang="en-US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기반 역원 회로를 설계</a:t>
            </a:r>
            <a:endParaRPr kumimoji="1" lang="en-US" altLang="ko-KR" sz="16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kumimoji="1" lang="en-US" altLang="ko-KR" sz="10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algn="ctr"/>
            <a:r>
              <a:rPr kumimoji="1" lang="en-US" altLang="ko-KR" sz="1600" b="1" dirty="0">
                <a:solidFill>
                  <a:srgbClr val="FF0000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(</a:t>
            </a:r>
            <a:r>
              <a:rPr kumimoji="1" lang="ko-KR" altLang="en-US" sz="1600" b="1" dirty="0" err="1">
                <a:solidFill>
                  <a:srgbClr val="FF0000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큐비트</a:t>
            </a:r>
            <a:r>
              <a:rPr kumimoji="1" lang="ko-KR" altLang="en-US" sz="1600" b="1" dirty="0">
                <a:solidFill>
                  <a:srgbClr val="FF0000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최적화</a:t>
            </a:r>
            <a:r>
              <a:rPr kumimoji="1" lang="en-US" altLang="ko-KR" sz="1600" b="1" dirty="0">
                <a:solidFill>
                  <a:srgbClr val="FF0000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46859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58CF9-4CCA-D907-3DD6-B213B5628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B7144C-E4AD-7BFB-41BA-51546FC35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ECDLP </a:t>
            </a:r>
            <a:r>
              <a:rPr kumimoji="1" lang="ko-KR" altLang="en-US" dirty="0"/>
              <a:t>양자회로 구현동향 </a:t>
            </a:r>
            <a:r>
              <a:rPr kumimoji="1" lang="en-US" altLang="ko-KR" dirty="0"/>
              <a:t>– Binary ECC</a:t>
            </a:r>
            <a:endParaRPr kumimoji="1" lang="ko-Kore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텍스트 개체 틀 2">
                <a:extLst>
                  <a:ext uri="{FF2B5EF4-FFF2-40B4-BE49-F238E27FC236}">
                    <a16:creationId xmlns:a16="http://schemas.microsoft.com/office/drawing/2014/main" id="{24811EA9-4EEB-8ED0-BAD1-F94B72C1F3E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1163" y="1152525"/>
                <a:ext cx="11368159" cy="56038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en" altLang="ko-KR" dirty="0" err="1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Putranto</a:t>
                </a:r>
                <a:r>
                  <a:rPr kumimoji="1" lang="en" altLang="ko-KR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et al. (202</a:t>
                </a:r>
                <a:r>
                  <a:rPr kumimoji="1" lang="en-US" altLang="ko-KR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2</a:t>
                </a:r>
                <a:r>
                  <a:rPr kumimoji="1" lang="en" altLang="ko-KR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)</a:t>
                </a:r>
              </a:p>
              <a:p>
                <a:endParaRPr kumimoji="1" lang="en" altLang="ko-KR" sz="10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r>
                  <a:rPr kumimoji="1" lang="ko-KR" altLang="en-US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개선된 </a:t>
                </a:r>
                <a:r>
                  <a:rPr kumimoji="1" lang="en" altLang="ko-KR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Karatsuba </a:t>
                </a:r>
                <a:r>
                  <a:rPr kumimoji="1" lang="ko-KR" altLang="en-US" sz="2000" dirty="0" err="1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곱셈기</a:t>
                </a:r>
                <a:r>
                  <a:rPr kumimoji="1" lang="ko-KR" altLang="en-US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사용</a:t>
                </a:r>
                <a:r>
                  <a:rPr kumimoji="1" lang="en-US" altLang="ko-KR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-</a:t>
                </a:r>
                <a:r>
                  <a:rPr kumimoji="1" lang="ko-KR" altLang="en-US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기존 방식의 </a:t>
                </a:r>
                <a:r>
                  <a:rPr kumimoji="1" lang="ko-KR" altLang="en-US" sz="2000" dirty="0" err="1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모듈러</a:t>
                </a:r>
                <a:r>
                  <a:rPr kumimoji="1" lang="ko-KR" altLang="en-US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곱셈 단계를 수정 </a:t>
                </a:r>
                <a:r>
                  <a:rPr kumimoji="1" lang="en-US" altLang="ko-KR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(</a:t>
                </a:r>
                <a:r>
                  <a:rPr kumimoji="1" lang="ko-KR" altLang="en-US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역연산을 제거</a:t>
                </a:r>
                <a:r>
                  <a:rPr kumimoji="1" lang="en-US" altLang="ko-KR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)</a:t>
                </a:r>
                <a:r>
                  <a:rPr kumimoji="1" lang="ko-KR" altLang="en-US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</a:t>
                </a:r>
                <a:endParaRPr kumimoji="1" lang="en-US" altLang="ko-KR" sz="20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lvl="1"/>
                <a:r>
                  <a:rPr kumimoji="1" lang="ko-KR" altLang="en-US" sz="16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연산 단계를 재배치하여 특정 </a:t>
                </a:r>
                <a:r>
                  <a:rPr kumimoji="1" lang="ko-KR" altLang="en-US" sz="1600" dirty="0" err="1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상수항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ko-KR" sz="1600" i="1" dirty="0" smtClean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</a:rPr>
                        </m:ctrlPr>
                      </m:dPr>
                      <m:e>
                        <m:r>
                          <a:rPr kumimoji="1" lang="en-US" altLang="ko-KR" sz="1600" i="1" dirty="0" smtClean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</a:rPr>
                          <m:t>1+</m:t>
                        </m:r>
                        <m:sSup>
                          <m:sSupPr>
                            <m:ctrlPr>
                              <a:rPr kumimoji="1" lang="en-US" altLang="ko-KR" sz="1600" i="1" dirty="0" smtClean="0">
                                <a:latin typeface="Cambria Math" panose="02040503050406030204" pitchFamily="18" charset="0"/>
                                <a:ea typeface="Gmarket Sans TTF Medium" panose="02000000000000000000" pitchFamily="2" charset="-128"/>
                              </a:rPr>
                            </m:ctrlPr>
                          </m:sSupPr>
                          <m:e>
                            <m:r>
                              <a:rPr kumimoji="1" lang="en-US" altLang="ko-KR" sz="1600" i="1" dirty="0" smtClean="0">
                                <a:latin typeface="Cambria Math" panose="02040503050406030204" pitchFamily="18" charset="0"/>
                                <a:ea typeface="Gmarket Sans TTF Medium" panose="02000000000000000000" pitchFamily="2" charset="-128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ko-KR" sz="1600" i="1" dirty="0" smtClean="0">
                                <a:latin typeface="Cambria Math" panose="02040503050406030204" pitchFamily="18" charset="0"/>
                                <a:ea typeface="Gmarket Sans TTF Medium" panose="02000000000000000000" pitchFamily="2" charset="-128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kumimoji="1" lang="ko-KR" altLang="en-US" sz="16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을 지우기 위한 </a:t>
                </a:r>
                <a:r>
                  <a:rPr kumimoji="1" lang="ko-KR" altLang="en-US" sz="1600" dirty="0" err="1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역연산</a:t>
                </a:r>
                <a:r>
                  <a:rPr kumimoji="1" lang="ko-KR" altLang="en-US" sz="16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제거</a:t>
                </a:r>
                <a:endParaRPr kumimoji="1" lang="en-US" altLang="ko-KR" sz="16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lvl="1"/>
                <a:endParaRPr kumimoji="1" lang="en-US" altLang="ko-KR" sz="16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r>
                  <a:rPr kumimoji="1" lang="en" altLang="ko-KR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FLT </a:t>
                </a:r>
                <a:r>
                  <a:rPr kumimoji="1" lang="ko-KR" altLang="en-US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기반 역산 알고리즘에 개선된 </a:t>
                </a:r>
                <a:r>
                  <a:rPr kumimoji="1" lang="en-US" altLang="ko-KR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Karatsuba </a:t>
                </a:r>
                <a:r>
                  <a:rPr kumimoji="1" lang="ko-KR" altLang="en-US" sz="2000" dirty="0" err="1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곱셈기</a:t>
                </a:r>
                <a:r>
                  <a:rPr kumimoji="1" lang="ko-KR" altLang="en-US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적용</a:t>
                </a:r>
                <a:endParaRPr kumimoji="1" lang="en-US" altLang="ko-KR" sz="20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</p:txBody>
          </p:sp>
        </mc:Choice>
        <mc:Fallback>
          <p:sp>
            <p:nvSpPr>
              <p:cNvPr id="4" name="텍스트 개체 틀 2">
                <a:extLst>
                  <a:ext uri="{FF2B5EF4-FFF2-40B4-BE49-F238E27FC236}">
                    <a16:creationId xmlns:a16="http://schemas.microsoft.com/office/drawing/2014/main" id="{24811EA9-4EEB-8ED0-BAD1-F94B72C1F3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163" y="1152525"/>
                <a:ext cx="11368159" cy="5603875"/>
              </a:xfrm>
              <a:prstGeom prst="rect">
                <a:avLst/>
              </a:prstGeom>
              <a:blipFill>
                <a:blip r:embed="rId2"/>
                <a:stretch>
                  <a:fillRect l="-893" t="-181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BE29EF2D-32F3-88D3-1B97-7035EC5E6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99" y="3783648"/>
            <a:ext cx="5719012" cy="286313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0743C5B-5DC6-D80C-451D-CD0CBB476F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0964" y="3783648"/>
            <a:ext cx="4189116" cy="297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501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16520-3097-A7BF-CBD8-E40E5F71C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D13D2C-356A-E3B2-3A39-78972E048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ECDLP </a:t>
            </a:r>
            <a:r>
              <a:rPr kumimoji="1" lang="ko-KR" altLang="en-US" dirty="0"/>
              <a:t>양자회로 구현동향 </a:t>
            </a:r>
            <a:r>
              <a:rPr kumimoji="1" lang="en-US" altLang="ko-KR" dirty="0"/>
              <a:t>– Binary ECC</a:t>
            </a:r>
            <a:endParaRPr kumimoji="1" lang="ko-Kore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텍스트 개체 틀 2">
                <a:extLst>
                  <a:ext uri="{FF2B5EF4-FFF2-40B4-BE49-F238E27FC236}">
                    <a16:creationId xmlns:a16="http://schemas.microsoft.com/office/drawing/2014/main" id="{DBE0C67D-7B17-4EAF-2EFE-6CCABD3D48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1163" y="1152525"/>
                <a:ext cx="11368159" cy="56038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en" altLang="ko-KR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Taguchi et al. (202</a:t>
                </a:r>
                <a:r>
                  <a:rPr kumimoji="1" lang="en-US" altLang="ko-KR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3</a:t>
                </a:r>
                <a:r>
                  <a:rPr kumimoji="1" lang="en" altLang="ko-KR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)</a:t>
                </a:r>
                <a:endParaRPr kumimoji="1" lang="en-US" altLang="ko-KR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endParaRPr kumimoji="1"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r>
                  <a:rPr kumimoji="1" lang="ko-KR" altLang="en-US" sz="24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기존 </a:t>
                </a:r>
                <a:r>
                  <a:rPr kumimoji="1" lang="en" altLang="ko-KR" sz="24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FLT </a:t>
                </a:r>
                <a:r>
                  <a:rPr kumimoji="1" lang="ko-KR" altLang="en-US" sz="24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기반 알고리즘은 고전적인 </a:t>
                </a:r>
                <a:r>
                  <a:rPr kumimoji="1" lang="en" altLang="ko-KR" sz="24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Itoh-Tsujii(IT) </a:t>
                </a:r>
                <a:r>
                  <a:rPr kumimoji="1" lang="ko-KR" altLang="en-US" sz="24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방식의 고정된 지수 연산 순서를 그대로 양자 회로로 구현</a:t>
                </a:r>
                <a:endParaRPr kumimoji="1" lang="en" altLang="ko-KR" sz="24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r>
                  <a:rPr kumimoji="1" lang="en" altLang="ko-KR" sz="24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FLT </a:t>
                </a:r>
                <a:r>
                  <a:rPr kumimoji="1" lang="ko-KR" altLang="en-US" sz="24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기반의 양자 역원 연산에 덧셈 사슬</a:t>
                </a:r>
                <a:r>
                  <a:rPr kumimoji="1" lang="en-US" altLang="ko-KR" sz="24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(</a:t>
                </a:r>
                <a:r>
                  <a:rPr kumimoji="1" lang="en" altLang="ko-KR" sz="24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Addition chain) </a:t>
                </a:r>
                <a:r>
                  <a:rPr kumimoji="1" lang="ko-KR" altLang="en-US" sz="24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구조 접목</a:t>
                </a:r>
                <a:endParaRPr kumimoji="1" lang="en-US" altLang="ko-KR" sz="24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lvl="1"/>
                <a:r>
                  <a:rPr kumimoji="1" lang="en" altLang="ko-KR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FLT </a:t>
                </a:r>
                <a:r>
                  <a:rPr kumimoji="1" lang="ko-KR" altLang="en-US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역원 연산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ko-KR" sz="2000" i="1" dirty="0" smtClean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" altLang="ko-KR" sz="2000" i="1" dirty="0" smtClean="0">
                                <a:latin typeface="Cambria Math" panose="02040503050406030204" pitchFamily="18" charset="0"/>
                                <a:ea typeface="Gmarket Sans TTF Medium" panose="02000000000000000000" pitchFamily="2" charset="-128"/>
                              </a:rPr>
                            </m:ctrlPr>
                          </m:sSupPr>
                          <m:e>
                            <m:r>
                              <a:rPr kumimoji="1" lang="en" altLang="ko-KR" sz="2000" i="1" dirty="0" smtClean="0">
                                <a:latin typeface="Cambria Math" panose="02040503050406030204" pitchFamily="18" charset="0"/>
                                <a:ea typeface="Gmarket Sans TTF Medium" panose="02000000000000000000" pitchFamily="2" charset="-128"/>
                              </a:rPr>
                              <m:t>𝑓</m:t>
                            </m:r>
                          </m:e>
                          <m:sup>
                            <m:sSup>
                              <m:sSupPr>
                                <m:ctrlPr>
                                  <a:rPr kumimoji="1" lang="en" altLang="ko-KR" sz="2000" i="1" dirty="0" smtClean="0">
                                    <a:latin typeface="Cambria Math" panose="02040503050406030204" pitchFamily="18" charset="0"/>
                                    <a:ea typeface="Gmarket Sans TTF Medium" panose="02000000000000000000" pitchFamily="2" charset="-128"/>
                                  </a:rPr>
                                </m:ctrlPr>
                              </m:sSupPr>
                              <m:e>
                                <m:r>
                                  <a:rPr kumimoji="1" lang="en" altLang="ko-KR" sz="2000" i="1" dirty="0">
                                    <a:latin typeface="Cambria Math" panose="02040503050406030204" pitchFamily="18" charset="0"/>
                                    <a:ea typeface="Gmarket Sans TTF Medium" panose="02000000000000000000" pitchFamily="2" charset="-128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kumimoji="1" lang="en" altLang="ko-KR" sz="2000" i="1" dirty="0">
                                    <a:latin typeface="Cambria Math" panose="02040503050406030204" pitchFamily="18" charset="0"/>
                                    <a:ea typeface="Gmarket Sans TTF Medium" panose="02000000000000000000" pitchFamily="2" charset="-128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kumimoji="1" lang="en" altLang="ko-KR" sz="2000" i="1" dirty="0">
                                <a:latin typeface="Cambria Math" panose="02040503050406030204" pitchFamily="18" charset="0"/>
                                <a:ea typeface="Gmarket Sans TTF Medium" panose="02000000000000000000" pitchFamily="2" charset="-128"/>
                              </a:rPr>
                              <m:t>−2</m:t>
                            </m:r>
                          </m:sup>
                        </m:sSup>
                      </m:e>
                    </m:d>
                  </m:oMath>
                </a14:m>
                <a:r>
                  <a:rPr kumimoji="1" lang="ko-KR" altLang="en-US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의 핵심인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" altLang="ko-KR" sz="2000" i="1" dirty="0" smtClean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</a:rPr>
                        </m:ctrlPr>
                      </m:sSupPr>
                      <m:e>
                        <m:r>
                          <a:rPr kumimoji="1" lang="en" altLang="ko-KR" sz="2000" i="1" dirty="0" smtClean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</a:rPr>
                          <m:t>𝑓</m:t>
                        </m:r>
                      </m:e>
                      <m:sup>
                        <m:sSup>
                          <m:sSupPr>
                            <m:ctrlPr>
                              <a:rPr kumimoji="1" lang="en" altLang="ko-KR" sz="2000" i="1" dirty="0" smtClean="0">
                                <a:latin typeface="Cambria Math" panose="02040503050406030204" pitchFamily="18" charset="0"/>
                                <a:ea typeface="Gmarket Sans TTF Medium" panose="02000000000000000000" pitchFamily="2" charset="-128"/>
                              </a:rPr>
                            </m:ctrlPr>
                          </m:sSupPr>
                          <m:e>
                            <m:r>
                              <a:rPr kumimoji="1" lang="en" altLang="ko-KR" sz="2000" i="1" dirty="0">
                                <a:latin typeface="Cambria Math" panose="02040503050406030204" pitchFamily="18" charset="0"/>
                                <a:ea typeface="Gmarket Sans TTF Medium" panose="02000000000000000000" pitchFamily="2" charset="-128"/>
                              </a:rPr>
                              <m:t>2</m:t>
                            </m:r>
                          </m:e>
                          <m:sup>
                            <m:r>
                              <a:rPr kumimoji="1" lang="en" altLang="ko-KR" sz="2000" i="1" dirty="0">
                                <a:latin typeface="Cambria Math" panose="02040503050406030204" pitchFamily="18" charset="0"/>
                                <a:ea typeface="Gmarket Sans TTF Medium" panose="02000000000000000000" pitchFamily="2" charset="-128"/>
                              </a:rPr>
                              <m:t>𝑛</m:t>
                            </m:r>
                            <m:r>
                              <a:rPr kumimoji="1" lang="en" altLang="ko-KR" sz="2000" i="1" dirty="0">
                                <a:latin typeface="Cambria Math" panose="02040503050406030204" pitchFamily="18" charset="0"/>
                                <a:ea typeface="Gmarket Sans TTF Medium" panose="02000000000000000000" pitchFamily="2" charset="-128"/>
                              </a:rPr>
                              <m:t>−1</m:t>
                            </m:r>
                          </m:sup>
                        </m:sSup>
                        <m:r>
                          <a:rPr kumimoji="1" lang="en" altLang="ko-KR" sz="2000" i="1" dirty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</a:rPr>
                          <m:t>−1</m:t>
                        </m:r>
                      </m:sup>
                    </m:sSup>
                  </m:oMath>
                </a14:m>
                <a:r>
                  <a:rPr kumimoji="1" lang="ko-KR" altLang="en-US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계산을 </a:t>
                </a:r>
                <a14:m>
                  <m:oMath xmlns:m="http://schemas.openxmlformats.org/officeDocument/2006/math">
                    <m:r>
                      <a:rPr kumimoji="1" lang="en" altLang="ko-KR" sz="2000" i="1" dirty="0" smtClean="0">
                        <a:latin typeface="Cambria Math" panose="02040503050406030204" pitchFamily="18" charset="0"/>
                        <a:ea typeface="Gmarket Sans TTF Medium" panose="02000000000000000000" pitchFamily="2" charset="-128"/>
                      </a:rPr>
                      <m:t>𝑛</m:t>
                    </m:r>
                    <m:r>
                      <a:rPr kumimoji="1" lang="en" altLang="ko-KR" sz="2000" i="1" dirty="0" smtClean="0">
                        <a:latin typeface="Cambria Math" panose="02040503050406030204" pitchFamily="18" charset="0"/>
                        <a:ea typeface="Gmarket Sans TTF Medium" panose="02000000000000000000" pitchFamily="2" charset="-128"/>
                      </a:rPr>
                      <m:t>−1</m:t>
                    </m:r>
                  </m:oMath>
                </a14:m>
                <a:r>
                  <a:rPr kumimoji="1" lang="ko-KR" altLang="en-US" sz="2000" dirty="0" err="1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에</a:t>
                </a:r>
                <a:r>
                  <a:rPr kumimoji="1" lang="ko-KR" altLang="en-US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대한 임의의 덧셈 사슬로 수행 가능함을 수학적으로 보임</a:t>
                </a:r>
                <a:endParaRPr kumimoji="1" lang="en-US" altLang="ko-KR" sz="20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lvl="1"/>
                <a:r>
                  <a:rPr kumimoji="1" lang="ko-KR" altLang="en-US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덧셈 사슬의 구성 요소인 </a:t>
                </a:r>
                <a:r>
                  <a:rPr kumimoji="1" lang="en" altLang="ko-KR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Doubled term(</a:t>
                </a:r>
                <a14:m>
                  <m:oMath xmlns:m="http://schemas.openxmlformats.org/officeDocument/2006/math">
                    <m:r>
                      <a:rPr kumimoji="1" lang="en" altLang="ko-KR" sz="2000" i="1" dirty="0" smtClean="0">
                        <a:latin typeface="Cambria Math" panose="02040503050406030204" pitchFamily="18" charset="0"/>
                        <a:ea typeface="Gmarket Sans TTF Medium" panose="02000000000000000000" pitchFamily="2" charset="-128"/>
                      </a:rPr>
                      <m:t>𝑑</m:t>
                    </m:r>
                  </m:oMath>
                </a14:m>
                <a:r>
                  <a:rPr kumimoji="1" lang="en" altLang="ko-KR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)</a:t>
                </a:r>
                <a:r>
                  <a:rPr kumimoji="1" lang="ko-KR" altLang="en-US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과 </a:t>
                </a:r>
                <a:r>
                  <a:rPr kumimoji="1" lang="en" altLang="ko-KR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Added term(</a:t>
                </a:r>
                <a14:m>
                  <m:oMath xmlns:m="http://schemas.openxmlformats.org/officeDocument/2006/math">
                    <m:r>
                      <a:rPr kumimoji="1" lang="en" altLang="ko-KR" sz="2000" i="1" dirty="0" smtClean="0">
                        <a:latin typeface="Cambria Math" panose="02040503050406030204" pitchFamily="18" charset="0"/>
                        <a:ea typeface="Gmarket Sans TTF Medium" panose="02000000000000000000" pitchFamily="2" charset="-128"/>
                      </a:rPr>
                      <m:t>𝑚</m:t>
                    </m:r>
                  </m:oMath>
                </a14:m>
                <a:r>
                  <a:rPr kumimoji="1" lang="en" altLang="ko-KR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)</a:t>
                </a:r>
                <a:r>
                  <a:rPr kumimoji="1" lang="ko-KR" altLang="en-US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의 비율에 따라 양자 자원   소비가 달라짐을 분석</a:t>
                </a:r>
                <a:endParaRPr kumimoji="1" lang="en" altLang="ko-KR" sz="20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endParaRPr kumimoji="1" lang="en" altLang="ko-KR" sz="20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</p:txBody>
          </p:sp>
        </mc:Choice>
        <mc:Fallback>
          <p:sp>
            <p:nvSpPr>
              <p:cNvPr id="4" name="텍스트 개체 틀 2">
                <a:extLst>
                  <a:ext uri="{FF2B5EF4-FFF2-40B4-BE49-F238E27FC236}">
                    <a16:creationId xmlns:a16="http://schemas.microsoft.com/office/drawing/2014/main" id="{DBE0C67D-7B17-4EAF-2EFE-6CCABD3D4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163" y="1152525"/>
                <a:ext cx="11368159" cy="5603875"/>
              </a:xfrm>
              <a:prstGeom prst="rect">
                <a:avLst/>
              </a:prstGeom>
              <a:blipFill>
                <a:blip r:embed="rId2"/>
                <a:stretch>
                  <a:fillRect l="-893" t="-1810" r="-2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1504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8ADB4-87E4-9EF3-D800-A31B25C9F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81171C-0C9C-165E-2088-F04616427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ECDLP </a:t>
            </a:r>
            <a:r>
              <a:rPr kumimoji="1" lang="ko-KR" altLang="en-US" dirty="0"/>
              <a:t>양자회로 구현동향 </a:t>
            </a:r>
            <a:r>
              <a:rPr kumimoji="1" lang="en-US" altLang="ko-KR" dirty="0"/>
              <a:t>– Binary ECC</a:t>
            </a:r>
            <a:endParaRPr kumimoji="1" lang="ko-Kore-KR" altLang="en-US" dirty="0"/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81EDDB16-E460-CBAF-11C5-CD7CD3F9C304}"/>
              </a:ext>
            </a:extLst>
          </p:cNvPr>
          <p:cNvSpPr txBox="1">
            <a:spLocks/>
          </p:cNvSpPr>
          <p:nvPr/>
        </p:nvSpPr>
        <p:spPr>
          <a:xfrm>
            <a:off x="411163" y="1152525"/>
            <a:ext cx="11368159" cy="5603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Jang</a:t>
            </a:r>
            <a:r>
              <a:rPr kumimoji="1" lang="en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et al. (202</a:t>
            </a:r>
            <a:r>
              <a:rPr kumimoji="1" lang="en-US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5</a:t>
            </a:r>
            <a:r>
              <a:rPr kumimoji="1" lang="en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)</a:t>
            </a:r>
            <a:endParaRPr kumimoji="1" lang="en-US" altLang="ko-KR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endParaRPr kumimoji="1" lang="en-US" altLang="ko-KR" sz="18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r>
              <a:rPr kumimoji="1"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가장 낮은 </a:t>
            </a:r>
            <a:r>
              <a:rPr kumimoji="1"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depth</a:t>
            </a:r>
            <a:r>
              <a:rPr kumimoji="1"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의 </a:t>
            </a:r>
            <a:r>
              <a:rPr kumimoji="1" lang="en-US" altLang="ko-KR" sz="20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Karasuba</a:t>
            </a:r>
            <a:r>
              <a:rPr kumimoji="1"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곱셈기를 사용함</a:t>
            </a:r>
            <a:endParaRPr kumimoji="1" lang="en-US" altLang="ko-KR" sz="20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endParaRPr kumimoji="1" lang="en-US" altLang="ko-KR" sz="16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r>
              <a:rPr kumimoji="1"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역산 연산에 </a:t>
            </a:r>
            <a:r>
              <a:rPr kumimoji="1"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out-of-place </a:t>
            </a:r>
            <a:r>
              <a:rPr kumimoji="1"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의 제곱 및 곱셈을 단계적으로 설계하여 </a:t>
            </a:r>
            <a:r>
              <a:rPr kumimoji="1"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depth</a:t>
            </a:r>
            <a:r>
              <a:rPr kumimoji="1" lang="ko-KR" altLang="en-US" sz="20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를</a:t>
            </a:r>
            <a:r>
              <a:rPr kumimoji="1"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최소화 하였음</a:t>
            </a:r>
            <a:endParaRPr kumimoji="1" lang="en-US" altLang="ko-KR" sz="20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endParaRPr kumimoji="1" lang="en-US" altLang="ko-KR" sz="16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r>
              <a:rPr kumimoji="1"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out-of-place </a:t>
            </a:r>
            <a:r>
              <a:rPr kumimoji="1"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구조의 </a:t>
            </a:r>
            <a:r>
              <a:rPr kumimoji="1" lang="ko-KR" altLang="en-US" sz="20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점덧셈</a:t>
            </a:r>
            <a:r>
              <a:rPr kumimoji="1"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구성 </a:t>
            </a:r>
            <a:r>
              <a:rPr kumimoji="1"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(</a:t>
            </a:r>
            <a:r>
              <a:rPr kumimoji="1"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연산 수를 줄임</a:t>
            </a:r>
            <a:r>
              <a:rPr kumimoji="1"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)</a:t>
            </a:r>
          </a:p>
          <a:p>
            <a:endParaRPr kumimoji="1" lang="en-US" altLang="ko-KR" sz="20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1C1749B-58AA-E727-325B-A8C0D38B9A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018"/>
          <a:stretch>
            <a:fillRect/>
          </a:stretch>
        </p:blipFill>
        <p:spPr>
          <a:xfrm>
            <a:off x="6446180" y="4488144"/>
            <a:ext cx="5637760" cy="187979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EA2BF23-D208-6A79-5399-CCAEC8D7B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45" y="4488144"/>
            <a:ext cx="6212555" cy="18797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46FBAD-9C81-9791-1163-12D7466C264B}"/>
              </a:ext>
            </a:extLst>
          </p:cNvPr>
          <p:cNvSpPr txBox="1"/>
          <p:nvPr/>
        </p:nvSpPr>
        <p:spPr>
          <a:xfrm>
            <a:off x="2281317" y="6392890"/>
            <a:ext cx="18630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Low-depth </a:t>
            </a:r>
            <a:r>
              <a:rPr kumimoji="1" lang="ko-KR" altLang="en-US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역산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5FFBF1-4623-DB2E-D93D-5AEA46BA8ED1}"/>
              </a:ext>
            </a:extLst>
          </p:cNvPr>
          <p:cNvSpPr txBox="1"/>
          <p:nvPr/>
        </p:nvSpPr>
        <p:spPr>
          <a:xfrm>
            <a:off x="8123565" y="6392890"/>
            <a:ext cx="2282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6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Out-of-place </a:t>
            </a:r>
            <a:r>
              <a:rPr kumimoji="1" lang="ko-KR" altLang="en-US" sz="16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점덧셈</a:t>
            </a:r>
            <a:endParaRPr kumimoji="1" lang="ko-KR" altLang="en-US" sz="16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14572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34BFB2-0DC3-4249-CD09-A81FE3F92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ECDLP </a:t>
            </a:r>
            <a:r>
              <a:rPr kumimoji="1" lang="ko-KR" altLang="en-US" dirty="0"/>
              <a:t>양자회로 구현동향 </a:t>
            </a:r>
            <a:r>
              <a:rPr kumimoji="1" lang="en-US" altLang="ko-KR" dirty="0"/>
              <a:t>– Binary ECC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6B14D7-BEB2-4B3F-C618-C89C0CEF17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ko-KR" altLang="en-US" dirty="0"/>
              <a:t>자원 추정 결과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DF4E0B3-BEAB-4A04-5638-A2B4E01663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039450"/>
              </p:ext>
            </p:extLst>
          </p:nvPr>
        </p:nvGraphicFramePr>
        <p:xfrm>
          <a:off x="870382" y="2667228"/>
          <a:ext cx="10451236" cy="2574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6506">
                  <a:extLst>
                    <a:ext uri="{9D8B030D-6E8A-4147-A177-3AD203B41FA5}">
                      <a16:colId xmlns:a16="http://schemas.microsoft.com/office/drawing/2014/main" val="2868897498"/>
                    </a:ext>
                  </a:extLst>
                </a:gridCol>
                <a:gridCol w="1484946">
                  <a:extLst>
                    <a:ext uri="{9D8B030D-6E8A-4147-A177-3AD203B41FA5}">
                      <a16:colId xmlns:a16="http://schemas.microsoft.com/office/drawing/2014/main" val="1442865198"/>
                    </a:ext>
                  </a:extLst>
                </a:gridCol>
                <a:gridCol w="1484946">
                  <a:extLst>
                    <a:ext uri="{9D8B030D-6E8A-4147-A177-3AD203B41FA5}">
                      <a16:colId xmlns:a16="http://schemas.microsoft.com/office/drawing/2014/main" val="605523981"/>
                    </a:ext>
                  </a:extLst>
                </a:gridCol>
                <a:gridCol w="1484946">
                  <a:extLst>
                    <a:ext uri="{9D8B030D-6E8A-4147-A177-3AD203B41FA5}">
                      <a16:colId xmlns:a16="http://schemas.microsoft.com/office/drawing/2014/main" val="1429989455"/>
                    </a:ext>
                  </a:extLst>
                </a:gridCol>
                <a:gridCol w="1484946">
                  <a:extLst>
                    <a:ext uri="{9D8B030D-6E8A-4147-A177-3AD203B41FA5}">
                      <a16:colId xmlns:a16="http://schemas.microsoft.com/office/drawing/2014/main" val="1128682054"/>
                    </a:ext>
                  </a:extLst>
                </a:gridCol>
                <a:gridCol w="1484946">
                  <a:extLst>
                    <a:ext uri="{9D8B030D-6E8A-4147-A177-3AD203B41FA5}">
                      <a16:colId xmlns:a16="http://schemas.microsoft.com/office/drawing/2014/main" val="2291582662"/>
                    </a:ext>
                  </a:extLst>
                </a:gridCol>
              </a:tblGrid>
              <a:tr h="4285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Ref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큐비트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CNOT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T-depth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Full Depth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6853342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dirty="0" err="1">
                          <a:effectLst/>
                          <a:latin typeface="Helvetica" pitchFamily="2" charset="0"/>
                        </a:rPr>
                        <a:t>Putranto</a:t>
                      </a:r>
                      <a:r>
                        <a:rPr lang="en" dirty="0">
                          <a:effectLst/>
                          <a:latin typeface="Helvetica" pitchFamily="2" charset="0"/>
                        </a:rPr>
                        <a:t> </a:t>
                      </a:r>
                      <a:r>
                        <a:rPr lang="en" dirty="0" err="1">
                          <a:effectLst/>
                          <a:latin typeface="Helvetica" pitchFamily="2" charset="0"/>
                        </a:rPr>
                        <a:t>et.al</a:t>
                      </a:r>
                      <a:r>
                        <a:rPr lang="en" dirty="0">
                          <a:effectLst/>
                          <a:latin typeface="Helvetica" pitchFamily="2" charset="0"/>
                        </a:rPr>
                        <a:t>. [9]</a:t>
                      </a:r>
                    </a:p>
                  </a:txBody>
                  <a:tcPr marL="47625" marR="4762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>
                          <a:effectLst/>
                          <a:latin typeface="Helvetica" pitchFamily="2" charset="0"/>
                        </a:rPr>
                        <a:t>6226</a:t>
                      </a:r>
                    </a:p>
                  </a:txBody>
                  <a:tcPr marL="47625" marR="4762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>
                          <a:effectLst/>
                          <a:latin typeface="Helvetica" pitchFamily="2" charset="0"/>
                        </a:rPr>
                        <a:t>11434619</a:t>
                      </a:r>
                    </a:p>
                  </a:txBody>
                  <a:tcPr marL="47625" marR="4762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>
                          <a:effectLst/>
                          <a:latin typeface="Helvetica" pitchFamily="2" charset="0"/>
                        </a:rPr>
                        <a:t>605,367</a:t>
                      </a:r>
                    </a:p>
                  </a:txBody>
                  <a:tcPr marL="47625" marR="4762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>
                          <a:effectLst/>
                          <a:latin typeface="Helvetica" pitchFamily="2" charset="0"/>
                        </a:rPr>
                        <a:t>1720152</a:t>
                      </a:r>
                    </a:p>
                  </a:txBody>
                  <a:tcPr marL="47625" marR="4762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>
                          <a:effectLst/>
                          <a:latin typeface="Helvetica" pitchFamily="2" charset="0"/>
                        </a:rPr>
                        <a:t>N/A</a:t>
                      </a:r>
                    </a:p>
                  </a:txBody>
                  <a:tcPr marL="47625" marR="47625" marT="0" marB="0" anchor="ctr"/>
                </a:tc>
                <a:extLst>
                  <a:ext uri="{0D108BD9-81ED-4DB2-BD59-A6C34878D82A}">
                    <a16:rowId xmlns:a16="http://schemas.microsoft.com/office/drawing/2014/main" val="4186595295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>
                          <a:effectLst/>
                          <a:latin typeface="Helvetica" pitchFamily="2" charset="0"/>
                        </a:rPr>
                        <a:t>Taguchi et.al. [11] (</a:t>
                      </a:r>
                      <a:r>
                        <a:rPr lang="en">
                          <a:solidFill>
                            <a:srgbClr val="282828"/>
                          </a:solidFill>
                          <a:effectLst/>
                          <a:latin typeface="Helvetica" pitchFamily="2" charset="0"/>
                        </a:rPr>
                        <a:t>Basic)</a:t>
                      </a:r>
                      <a:endParaRPr lang="en">
                        <a:effectLst/>
                        <a:latin typeface="Helvetica" pitchFamily="2" charset="0"/>
                      </a:endParaRPr>
                    </a:p>
                  </a:txBody>
                  <a:tcPr marL="47625" marR="4762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>
                          <a:effectLst/>
                          <a:latin typeface="Helvetica" pitchFamily="2" charset="0"/>
                        </a:rPr>
                        <a:t>4812</a:t>
                      </a:r>
                    </a:p>
                  </a:txBody>
                  <a:tcPr marL="47625" marR="4762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>
                          <a:effectLst/>
                          <a:latin typeface="Helvetica" pitchFamily="2" charset="0"/>
                        </a:rPr>
                        <a:t>11428959</a:t>
                      </a:r>
                    </a:p>
                  </a:txBody>
                  <a:tcPr marL="47625" marR="4762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>
                          <a:effectLst/>
                          <a:latin typeface="Helvetica" pitchFamily="2" charset="0"/>
                        </a:rPr>
                        <a:t>605,367</a:t>
                      </a:r>
                    </a:p>
                  </a:txBody>
                  <a:tcPr marL="47625" marR="4762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>
                          <a:effectLst/>
                          <a:latin typeface="Helvetica" pitchFamily="2" charset="0"/>
                        </a:rPr>
                        <a:t>1720132</a:t>
                      </a:r>
                    </a:p>
                  </a:txBody>
                  <a:tcPr marL="47625" marR="4762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>
                          <a:effectLst/>
                          <a:latin typeface="Helvetica" pitchFamily="2" charset="0"/>
                        </a:rPr>
                        <a:t>N/A</a:t>
                      </a:r>
                    </a:p>
                  </a:txBody>
                  <a:tcPr marL="47625" marR="47625" marT="0" marB="0" anchor="ctr"/>
                </a:tc>
                <a:extLst>
                  <a:ext uri="{0D108BD9-81ED-4DB2-BD59-A6C34878D82A}">
                    <a16:rowId xmlns:a16="http://schemas.microsoft.com/office/drawing/2014/main" val="3095346382"/>
                  </a:ext>
                </a:extLst>
              </a:tr>
              <a:tr h="6428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dirty="0">
                          <a:effectLst/>
                          <a:latin typeface="Helvetica" pitchFamily="2" charset="0"/>
                        </a:rPr>
                        <a:t>Taguchi </a:t>
                      </a:r>
                      <a:r>
                        <a:rPr lang="en" dirty="0" err="1">
                          <a:effectLst/>
                          <a:latin typeface="Helvetica" pitchFamily="2" charset="0"/>
                        </a:rPr>
                        <a:t>et.al</a:t>
                      </a:r>
                      <a:r>
                        <a:rPr lang="en" dirty="0">
                          <a:effectLst/>
                          <a:latin typeface="Helvetica" pitchFamily="2" charset="0"/>
                        </a:rPr>
                        <a:t>. [11] </a:t>
                      </a:r>
                    </a:p>
                    <a:p>
                      <a:pPr algn="ctr">
                        <a:buNone/>
                      </a:pPr>
                      <a:r>
                        <a:rPr lang="en" dirty="0">
                          <a:effectLst/>
                          <a:latin typeface="Helvetica" pitchFamily="2" charset="0"/>
                        </a:rPr>
                        <a:t>(E</a:t>
                      </a:r>
                      <a:r>
                        <a:rPr lang="en" dirty="0">
                          <a:solidFill>
                            <a:srgbClr val="282828"/>
                          </a:solidFill>
                          <a:effectLst/>
                          <a:latin typeface="Helvetica" pitchFamily="2" charset="0"/>
                        </a:rPr>
                        <a:t>xtended)</a:t>
                      </a:r>
                      <a:endParaRPr lang="en" dirty="0">
                        <a:effectLst/>
                        <a:latin typeface="Helvetica" pitchFamily="2" charset="0"/>
                      </a:endParaRPr>
                    </a:p>
                  </a:txBody>
                  <a:tcPr marL="47625" marR="4762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>
                          <a:effectLst/>
                          <a:latin typeface="Helvetica" pitchFamily="2" charset="0"/>
                        </a:rPr>
                        <a:t>3963</a:t>
                      </a:r>
                    </a:p>
                  </a:txBody>
                  <a:tcPr marL="47625" marR="4762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>
                          <a:effectLst/>
                          <a:latin typeface="Helvetica" pitchFamily="2" charset="0"/>
                        </a:rPr>
                        <a:t>11454547</a:t>
                      </a:r>
                    </a:p>
                  </a:txBody>
                  <a:tcPr marL="47625" marR="4762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>
                          <a:effectLst/>
                          <a:latin typeface="Helvetica" pitchFamily="2" charset="0"/>
                        </a:rPr>
                        <a:t>605,367</a:t>
                      </a:r>
                    </a:p>
                  </a:txBody>
                  <a:tcPr marL="47625" marR="4762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>
                          <a:effectLst/>
                          <a:latin typeface="Helvetica" pitchFamily="2" charset="0"/>
                        </a:rPr>
                        <a:t>1727164</a:t>
                      </a:r>
                    </a:p>
                  </a:txBody>
                  <a:tcPr marL="47625" marR="4762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dirty="0">
                          <a:effectLst/>
                          <a:latin typeface="Helvetica" pitchFamily="2" charset="0"/>
                        </a:rPr>
                        <a:t>N/A</a:t>
                      </a:r>
                    </a:p>
                  </a:txBody>
                  <a:tcPr marL="47625" marR="47625" marT="0" marB="0" anchor="ctr"/>
                </a:tc>
                <a:extLst>
                  <a:ext uri="{0D108BD9-81ED-4DB2-BD59-A6C34878D82A}">
                    <a16:rowId xmlns:a16="http://schemas.microsoft.com/office/drawing/2014/main" val="3891506410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>
                          <a:effectLst/>
                          <a:latin typeface="Helvetica" pitchFamily="2" charset="0"/>
                        </a:rPr>
                        <a:t>Jang et.al. [12]</a:t>
                      </a:r>
                    </a:p>
                  </a:txBody>
                  <a:tcPr marL="47625" marR="4762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>
                          <a:effectLst/>
                          <a:latin typeface="Helvetica" pitchFamily="2" charset="0"/>
                        </a:rPr>
                        <a:t>144672</a:t>
                      </a:r>
                    </a:p>
                  </a:txBody>
                  <a:tcPr marL="47625" marR="4762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>
                          <a:effectLst/>
                          <a:latin typeface="Helvetica" pitchFamily="2" charset="0"/>
                        </a:rPr>
                        <a:t>7856986</a:t>
                      </a:r>
                    </a:p>
                  </a:txBody>
                  <a:tcPr marL="47625" marR="4762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>
                          <a:effectLst/>
                          <a:latin typeface="Helvetica" pitchFamily="2" charset="0"/>
                        </a:rPr>
                        <a:t>534762*7</a:t>
                      </a:r>
                    </a:p>
                  </a:txBody>
                  <a:tcPr marL="47625" marR="4762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>
                          <a:effectLst/>
                          <a:latin typeface="Helvetica" pitchFamily="2" charset="0"/>
                        </a:rPr>
                        <a:t>10957</a:t>
                      </a:r>
                    </a:p>
                  </a:txBody>
                  <a:tcPr marL="47625" marR="4762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>
                          <a:effectLst/>
                          <a:latin typeface="Helvetica" pitchFamily="2" charset="0"/>
                        </a:rPr>
                        <a:t>11556</a:t>
                      </a:r>
                    </a:p>
                  </a:txBody>
                  <a:tcPr marL="47625" marR="47625" marT="0" marB="0" anchor="ctr"/>
                </a:tc>
                <a:extLst>
                  <a:ext uri="{0D108BD9-81ED-4DB2-BD59-A6C34878D82A}">
                    <a16:rowId xmlns:a16="http://schemas.microsoft.com/office/drawing/2014/main" val="2599671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5878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4499981"/>
      </p:ext>
    </p:extLst>
  </p:cSld>
  <p:clrMapOvr>
    <a:masterClrMapping/>
  </p:clrMapOvr>
</p:sld>
</file>

<file path=ppt/theme/theme1.xml><?xml version="1.0" encoding="utf-8"?>
<a:theme xmlns:a="http://schemas.openxmlformats.org/drawingml/2006/main" name="제목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25386</TotalTime>
  <Words>851</Words>
  <Application>Microsoft Macintosh PowerPoint</Application>
  <PresentationFormat>와이드스크린</PresentationFormat>
  <Paragraphs>178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3" baseType="lpstr">
      <vt:lpstr>맑은 고딕</vt:lpstr>
      <vt:lpstr>Gmarket Sans TTF Bold</vt:lpstr>
      <vt:lpstr>Gmarket Sans TTF Light</vt:lpstr>
      <vt:lpstr>Gmarket Sans TTF Medium</vt:lpstr>
      <vt:lpstr>Arial</vt:lpstr>
      <vt:lpstr>Cambria Math</vt:lpstr>
      <vt:lpstr>Helvetica</vt:lpstr>
      <vt:lpstr>제목 테마</vt:lpstr>
      <vt:lpstr>타원곡선 암호에 대한 양자회로 구현동향  https://youtu.be/_qi8p9-zLOg</vt:lpstr>
      <vt:lpstr>서론</vt:lpstr>
      <vt:lpstr>ECDLP 양자회로 구현동향 – Prime ECC</vt:lpstr>
      <vt:lpstr>ECDLP 양자회로 구현동향 – Prime ECC</vt:lpstr>
      <vt:lpstr>ECDLP 양자회로 구현동향 – Prime ECC</vt:lpstr>
      <vt:lpstr>ECDLP 양자회로 구현동향 – Prime ECC</vt:lpstr>
      <vt:lpstr>ECDLP 양자회로 구현동향 – Prime ECC</vt:lpstr>
      <vt:lpstr>ECDLP 양자회로 구현동향 – Prime ECC</vt:lpstr>
      <vt:lpstr>ECDLP 양자회로 구현동향 – Prime ECC</vt:lpstr>
      <vt:lpstr>ECDLP 양자회로 구현동향 – Binary ECC</vt:lpstr>
      <vt:lpstr>ECDLP 양자회로 구현동향 – Binary ECC</vt:lpstr>
      <vt:lpstr>ECDLP 양자회로 구현동향 – Binary ECC</vt:lpstr>
      <vt:lpstr>ECDLP 양자회로 구현동향 – Binary ECC</vt:lpstr>
      <vt:lpstr>ECDLP 양자회로 구현동향 – Binary ECC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HD</dc:creator>
  <cp:lastModifiedBy>경주 송</cp:lastModifiedBy>
  <cp:revision>659</cp:revision>
  <dcterms:created xsi:type="dcterms:W3CDTF">2019-03-05T04:29:07Z</dcterms:created>
  <dcterms:modified xsi:type="dcterms:W3CDTF">2026-05-03T15:32:42Z</dcterms:modified>
</cp:coreProperties>
</file>