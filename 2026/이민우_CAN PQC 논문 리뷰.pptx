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75" r:id="rId5"/>
    <p:sldId id="260" r:id="rId6"/>
    <p:sldId id="276" r:id="rId7"/>
    <p:sldId id="262" r:id="rId8"/>
    <p:sldId id="273" r:id="rId9"/>
    <p:sldId id="274" r:id="rId10"/>
    <p:sldId id="265" r:id="rId11"/>
    <p:sldId id="266" r:id="rId12"/>
    <p:sldId id="267" r:id="rId13"/>
    <p:sldId id="277" r:id="rId14"/>
    <p:sldId id="269" r:id="rId15"/>
    <p:sldId id="270" r:id="rId16"/>
    <p:sldId id="271" r:id="rId17"/>
    <p:sldId id="272" r:id="rId1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553"/>
    <p:restoredTop sz="94575"/>
  </p:normalViewPr>
  <p:slideViewPr>
    <p:cSldViewPr snapToGrid="0" snapToObjects="1">
      <p:cViewPr varScale="1">
        <p:scale>
          <a:sx n="169" d="100"/>
          <a:sy n="169" d="100"/>
        </p:scale>
        <p:origin x="1056" y="4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545100"/>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오늘 저는 CAN-FD 환경에서 PQC 아티팩트 전송의 디자인 공간 매핑에 대해 발표하겠습니다. 이 연구는 이산사건 시뮬레이션을 통해 534가지 시나리오의 실현가능성을 분석한 결과입니다. 화면에 보이는 키워드 아이콘처럼, 저희는 양자 내성 암호, CAN-FD 버스, 그리고 시뮬레이션이라는 세 가지 핵심 요소를 중심으로 연구를 진행했습니다. 한성대학교 정보컴퓨터공학과 및 융합보안학과 연구팀이 함께 진행했으며, 양자 내성 암호 기술이 차량 네트워크에 어떻게 적용될 수 있는지 그 가능성을 탐구한 내용입니다. 이 연구가 여러분께 유익한 시간이 되기를 바랍니다. 다음 슬라이드에서는 이러한 연구를 시작하게 된 배경과 동기에 대해 자세히 말씀드리겠습니다.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연구 배경과 동기에 대해 말씀드리겠습니다. 양자 컴퓨터의 위협이 현실화되면서 PQC 마이그레이션은 더 이상 미룰 수 없는 과제가 되었습니다. NIST와 KpqC의 표준화 노력은 이러한 위협에 대응하기 위함입니다. 특히 차량용 네트워크에서는 CAN-FD의 제한된 대역폭이 큰 제약으로 작용합니다. 화면에 보이는 것처럼, 양자 컴퓨팅의 위협, PQC 표준화, 그리고 차량용 네트워크의 제약이라는 세 가지 핵심 키워드를 중심으로 이해해 주시면 됩니다. 결국 저희의 핵심 연구 질문은 '기존 차량용 CAN-FD 버스 환경에서 다양한 PQC 알고리즘 전송이 실질적으로 가능한가?'였습니다. 다음 슬라이드에서는 이러한 배경 속에서 우리가 어떤 문제에 집중했는지 설명드리겠습니다.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이러한 배경 속에서 우리는 핵심적인 문제에 직면했습니다. PQC 아티팩트의 크기는 기존 암호 대비 훨씬 크지만, CAN-FD는 최대 64바이트의 페이로드 제약이 있습니다. 이는 대용량 PQC 아티팩트 전송 시 ISO-TP 분할 전송을 필수로 만듭니다. 화면의 세 가지 박스처럼, 거대한 아티팩트, 실시간성 제약, 그리고 복잡한 변수들이 주요 도전 과제였습니다. 저희 연구는 이러한 갭을 메우기 위해 이산사건 시뮬레이션을 활용하여 534개의 광범위한 시나리오를 분석했습니다. 이를 통해 PQC 전송의 실현가능성을 정량화하고, 알고리즘별 최적의 네트워크 구성 가이드라인을 제시하는 것이 목표입니다. 다음 슬라이드에서는 이 질문에 답하기 위한 시스템 모델을 자세히 설명드리겠습니다.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저희는 PQC 아티팩트 전송의 실현가능성을 분석하기 위해 구체적인 시스템 모델을 설정했습니다. 네트워크는 1Mbps의 중재 속도와 5Mbps의 데이터 속도를 가진 CAN-FD 버스를 사용하며, 최대 64바이트 프레임을 지원합니다. ECU 수는 4개, 8개, 16개로 설정하여 소규모 도메인부터 풀 세그먼트까지 다양한 환경을 시뮬레이션했습니다. 배경 트래픽은 가벼움, 일반, 무거움 세 가지 유형으로 나누어 네트워크 부하를 20%에서 80%까지 변화시켰습니다. PQC 워크로드로는 KEM과 DSA 두 가지 시나리오를 고려했습니다. KEM은 게이트웨이에서 공개 키를 브로드캐스트하고 ECU가 암호문을 응답하는 방식이며, 동시 전송과 5ms 지연 전송을 비교했습니다. DSA는 단일 ECU에서 공개 키와 서명을 전송하는 진단 인증 시나리오를 가정했습니다. 이러한 모델을 바탕으로 다음 슬라이드에서는 PQC 전송의 실현가능성을 판단하는 기준을 말씀드리겠습니다.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PQC 아티팩트 전송의 실현가능성을 판단하기 위해 ISO-TP 프레임 카운트와 명확한 3단계 분류 기준을 마련했습니다. ISO-TP는 62바이트의 첫 프레임과 63바이트의 연속 프레임으로 페이로드를 분할 전송합니다. 각 프레임은 164마이크로초의 전송 시간을 가집니다. 실현가능성 분류는 P99 완료 시간, P99 지터, 그리고 데드라인 미스율 세 가지 핵심 메트릭을 기반으로 합니다. 완료 시간이 50ms 이내, 지터가 50ms 이내, 미스율이 1% 이하면 'Feasible'로 분류했습니다. ISO 14229 P2,Server_max 50ms를 근거로 삼았습니다. 이 기준을 통해 총 534개의 시나리오를 분석하여 PQC 전송의 한계와 가능성을 명확히 파악하고자 했습니다. 다음 슬라이드에서는 이러한 기준을 적용한 시뮬레이터 아키텍처와 검증 결과에 대해 설명드리겠습니다.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이전 슬라이드에서 PQC 아티팩트 전송의 복잡성을 말씀드렸는데요, 그렇다면 이러한 복잡한 환경을 어떻게 분석하고 검증했는지 궁금하실 겁니다. 저희는 PQC 아티팩트 전송을 정확하게 모델링하기 위해 전용 시뮬레이터를 구축하고 철저한 검증 과정을 거쳤습니다. 이 시뮬레이터는 순수 파이썬 기반의 이산사건 시뮬레이션으로, 1마이크로초 해상도를 자랑하며 외부 라이브러리에 의존하지 않아 신뢰성이 높습니다. 특히 4단계에 걸친 엄격한 검증을 통해 시뮬레이션 결과의 정확성을 확보했습니다. 예를 들어, 무경합 상황에서는 이론적 전송 시간과 시뮬레이션 결과가 0%의 오차를 보였고, WCRT 검증에서도 모든 메시지 셋이 만족스러운 결과를 보여주었습니다. 다음 슬라이드에서는 이 시뮬레이터를 활용한 구체적인 실험 설계에 대해 설명드리겠습니다.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앞서 설명드린 검증된 시뮬레이터를 바탕으로, 저희는 PQC 아티팩트 전송의 실현가능성을 다각도로 분석하기 위한 실험을 설계했습니다. 이 실험은 크게 두 단계로 나뉘는데, 첫 번째는 534개 시나리오에 대한 전수 탐색입니다. KEM 알고리즘 432개와 DSA 알고리즘 102개를 포함하여, 다양한 ECU 수, 스태거 방식, 우선순위, 그리고 네트워크 부하 조건을 조합하여 광범위한 디자인 공간을 매핑했습니다. 두 번째 단계에서는 전수 탐색에서 발견된 Borderline 또는 Infeasible 시나리오 중 26개의 하드 케이스를 선별하여 심층 분석했습니다. 이 과정에서 No mitigation, Priority boost, 그리고 5가지 Reserved window 등 총 7가지 완화 정책의 효과를 평가했습니다. 다음으로는 KEM 알고리즘에 대한 실현가능성 분석 결과를 자세히 살펴보겠습니다.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KEM 알고리즘의 실현가능성 분석 결과를 살펴보겠습니다. 저희 연구에서 가장 중요한 발견 중 하나는 KEM의 실현가능성에 도메인 규모, 즉 ECU의 수가 알고리즘 선택보다 훨씬 더 큰 영향을 미친다는 점입니다. 4-ECU 환경에서는 Staggered 전송 방식을 사용하면 모든 L1 KEM 알고리즘이 실현 가능했습니다. 하지만 16-ECU 환경에서 동시 전송을 시도하면 모든 알고리즘이 실현 불가능했습니다. 특히 HQC 알고리즘은 암호문 크기가 ML-KEM 대비 5.8배에서 9.2배까지 커서, 108개 시나리오 모두에서 버스 포화를 유발하며 Infeasible 판정을 받았습니다. 다음 슬라이드에서는 DSA 알고리즘의 실현가능성 맵을 통해 서명 크기가 미치는 영향을 분석해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KEM 알고리즘에 이어 DSA 알고리즘의 실현가능성 맵을 분석한 결과, 서명 크기가 실현가능성을 결정하는 직접적인 요인임을 확인했습니다. 특히 FN-DSA-512는 666바이트의 서명 크기로, 모든 실험 조건에서 유일하게 Feasible 판정을 받았습니다. HAETAE 알고리즘은 보안 레벨이 높아질수록 실현가능성이 점진적으로 저하되는 우아한 열화 현상을 보였는데, 이는 ML-DSA-44보다 우수한 결과입니다. 반면 SLH-DSA와 AIMer는 해시 및 MPC-in-the-head 구조로 인한 전송 오버헤드 때문에 균일하게 Infeasible 판정을 받았습니다. 다음 슬라이드에서는 이러한 결과를 바탕으로 국내 KpqC 후보군과 NIST 표준 알고리즘을 비교해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앞서 KEM과 DSA의 실현가능성 맵을 통해 각 알고리즘의 특성을 살펴보았는데요, 이제 국내 KpqC 후보군과 NIST 표준 알고리즘을 비교하여 국내 표준화에 대한 시사점을 도출해 보겠습니다. KEM L1에서는 SMAUG-T1이 ML-KEM-512보다 우수했고, DSA에서는 FN-DSA-512가 HAETAE2와 ML-DSA-44보다 뛰어난 성능을 보였습니다. 이는 KpqC 후보군이 전송 효율 측면에서 NIST 표준 알고리즘 대비 경쟁력이 있거나 심지어 더 우수하다는 것을 의미합니다. 이러한 결과는 향후 국내 PQC 표준화 전략 수립에 중요한 근거가 될 것입니다. 다음 슬라이드에서는 실현가능성 경계 분석을 통해 실패 원인을 더 깊이 파고들어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슬라이드에서는 PQC 아티팩트 전송의 실현가능성 경계를 분석한 결과를 보여드립니다. 우리는 Staggered Startup 방식이 실현가능성 경계를 일관되게 높이는 가장 효과적인 방법임을 확인했습니다. 아티팩트 크기가 커질수록 실현가능성 경계는 단조롭게 감소하는 경향을 보입니다. 특히 16-ECU 동시 전송 환경에서는 모든 알고리즘과 부하 조건에서 실현 불가능한 결과를 얻었습니다. 다음 슬라이드에서는 이러한 실패의 주요 원인을 더 깊이 살펴보겠습니다.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PQC 전송 실패의 주된 원인은 PQC 완료 시간 초과가 아니라 주기적인 QoS 열화, 즉 지터 증폭 때문이었습니다. SMAUG-T1 16-ECU 동시 전송 사례를 보면, PQC 시작 완료 시간은 34.93ms로 정상 범위였지만, 지터가 61.34ms로 임계치를 초과하여 실패로 판정되었습니다. 이는 PQC 부하와 배경 트래픽 부하의 합이 1을 초과하는 Transient Overload 상황에서 일시적인 버스 포화가 심각한 지터 증폭을 유발하기 때문입니다. 따라서 PQC 완료 가속만으로는 충분하지 않으며, 주기적 트래픽 보호가 필수적임을 알 수 있습니다. 이제 이러한 문제를 해결하기 위한 완화 전략들을 살펴보겠습니다.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슬라이드에서는 PQC 전송의 실현가능성을 높이기 위한 완화 전략들을 계층적으로 제시합니다. 가장 효과적인 전략은 Staggered Startup입니다. 이는 추가 비용 없이 PQC 부하를 직접 감소시켜 지터 증폭을 억제합니다. 다음으로 Reserved Window 전략은 배경 트래픽을 일시적으로 유예하여 오버로드를 해소하는 방법입니다. DSA의 경우 5ms, KEM의 경우 10~30ms의 Reserved Window를 권장합니다. 마지막으로 Priority Boost는 단독 사용 시 주기적 QoS를 악화시킬 위험이 있어 권장하지 않습니다. 예를 들어, AIMer128s의 경우 5ms Reserved Window 적용으로 지터가 25ms에서 7.7ms로 감소하여 실현 가능해졌습니다. 다음 슬라이드에서는 CAN-FD와 이더넷의 비교를 통해 실무적인 가이드라인을 제시하겠습니다.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슬라이드에서는 CAN-FD와 이더넷의 성능을 비교하고, 실무적인 가이드라인을 제시합니다. 표에서 보듯이, 이더넷은 CAN-FD 대비 PQC 전송 시간을 19배에서 최대 42배까지 단축할 수 있습니다. 실무적으로는 4~8 ECU 환경의 파워트레인/섀시에는 SMAUG-T1 또는 ML-KEM-512와 Staggered 방식을 권장합니다. 진단 및 인증에는 모든 조건에서 실현 가능한 FN-DSA-512를 사용하는 것이 좋습니다. 8 ECU를 초과하는 환경에서는 KEM 전송을 위해 오토모티브 이더넷으로 오프로딩하는 것을 고려해야 합니다. 또한, Borderline에 해당하는 DSA 알고리즘은 5~10ms의 Reserved Window 적용으로 실현가능성을 확보할 수 있습니다. 16-ECU 동시 전송은 CAN-FD 환경에서 모든 알고리즘이 실현 불가능했습니다.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저희 연구는 중요한 시사점을 제공하지만, 몇 가지 한계점도 명확히 존재합니다. 특히, 저희는 결정론적 프레임 타이밍을 가정했기에 실제 환경에서는 비트 에러나 재전송으로 인해 더 타이트한 조건이 발생할 수 있습니다. 또한, 단일 CAN-FD 버스 환경에 초점을 맞췄고, 멀티버스 게이트웨이 토폴로지는 다루지 않았습니다. 전송 계층 중심 모델링으로 캡슐화 계산 시간은 포함하지 않았는데, 이는 비실현 가능성 결론을 더욱 강화할 수 있는 요소입니다. 마지막으로, ISO-TP 파라미터를 고정값으로 사용했습니다. 이러한 한계점들을 바탕으로, 향후 연구에서는 실차 트레이스 검증과 HIL 테스트를 통해 실제 환경 성능을 검증할 계획입니다. CAN XL과 같은 새로운 표준의 확장 가능성도 분석하고, 멀티버스 CAN-FD 및 오토모티브 이더넷 혼합 환경도 연구할 예정입니다. ISO-TP 파라미터 최적화를 통해 파레토 최적 구성을 탐색하는 것도 중요한 과제입니다. 다음 슬라이드에서는 오늘 발표의 핵심 결론을 요약해 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오늘 발표의 핵심 결론을 다시 한번 정리해 보겠습니다. 첫째, PQC 전송의 실현가능성은 시나리오에 크게 의존합니다. 특히 ECU 개수와 Staggered 전송 여부가 KEM 실현가능성을 좌우하며, 주기적 트래픽의 QoS 열화가 주요 실패 원인이었습니다. 둘째, 아티팩트 크기는 PQC 전송 알고리즘 선택의 가장 중요한 기준입니다. 저희 연구에서는 SMAUG-T1과 FN-DSA-512가 가장 우수한 성능을 보였습니다. 셋째, 단순한 알고리즘 교체보다는 시스템 레벨의 트래픽 셰이핑이 훨씬 효과적입니다. Staggered Startup이나 Reserved Window 같은 전략이 실현가능성 확보의 핵심 레버입니다. 마지막으로, HQC나 SLH-DSA처럼 격자 외 다양성을 가진 알고리즘은 CAN-FD 환경에서 상당한 대역폭 프리미엄을 요구한다는 점을 확인했습니다. 이제 마지막으로 질문을 받을 시간입니다.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발표는 여기까지입니다. 경청해 주셔서 정말 감사합니다. 저희 연구에 대한 더 자세한 내용은 GitHub 리포지토리에서 확인하실 수 있습니다. 궁금한 점이 있으시면 언제든지 질문해 주십시오. 성심껏 답변해 드리겠습니다.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hyperlink" Target="https://youtu.be/Sh7HY-K85p0"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5.jpe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22.jpeg"/><Relationship Id="rId7"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5.jpeg"/><Relationship Id="rId7"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12.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36.png"/><Relationship Id="rId4" Type="http://schemas.openxmlformats.org/officeDocument/2006/relationships/image" Target="../media/image35.png"/></Relationships>
</file>

<file path=ppt/slides/_rels/slide14.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7.jpeg"/><Relationship Id="rId7" Type="http://schemas.openxmlformats.org/officeDocument/2006/relationships/image" Target="../media/image4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10" Type="http://schemas.openxmlformats.org/officeDocument/2006/relationships/image" Target="../media/image44.png"/><Relationship Id="rId4" Type="http://schemas.openxmlformats.org/officeDocument/2006/relationships/image" Target="../media/image38.png"/><Relationship Id="rId9" Type="http://schemas.openxmlformats.org/officeDocument/2006/relationships/image" Target="../media/image43.png"/></Relationships>
</file>

<file path=ppt/slides/_rels/slide15.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5.jpeg"/><Relationship Id="rId7" Type="http://schemas.openxmlformats.org/officeDocument/2006/relationships/image" Target="../media/image48.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png"/><Relationship Id="rId10" Type="http://schemas.openxmlformats.org/officeDocument/2006/relationships/image" Target="../media/image51.png"/><Relationship Id="rId4" Type="http://schemas.openxmlformats.org/officeDocument/2006/relationships/image" Target="../media/image45.png"/><Relationship Id="rId9" Type="http://schemas.openxmlformats.org/officeDocument/2006/relationships/image" Target="../media/image50.png"/></Relationships>
</file>

<file path=ppt/slides/_rels/slide1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55.png"/><Relationship Id="rId4" Type="http://schemas.openxmlformats.org/officeDocument/2006/relationships/image" Target="../media/image5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642938" y="428625"/>
            <a:ext cx="7858125" cy="925785"/>
          </a:xfrm>
          <a:prstGeom prst="rect">
            <a:avLst/>
          </a:prstGeom>
          <a:noFill/>
          <a:ln/>
        </p:spPr>
        <p:txBody>
          <a:bodyPr wrap="square" lIns="0" tIns="0" rIns="0" bIns="0" rtlCol="0" anchor="t">
            <a:spAutoFit/>
          </a:bodyPr>
          <a:lstStyle/>
          <a:p>
            <a:pPr marL="0" indent="0" algn="ctr">
              <a:lnSpc>
                <a:spcPts val="3600"/>
              </a:lnSpc>
              <a:buNone/>
            </a:pPr>
            <a:r>
              <a:rPr lang="en-US" sz="2755" b="1" kern="0" spc="-1" dirty="0">
                <a:solidFill>
                  <a:srgbClr val="0F172A"/>
                </a:solidFill>
                <a:latin typeface="NanumGothic" pitchFamily="34" charset="0"/>
                <a:ea typeface="NanumGothic" pitchFamily="34" charset="-122"/>
                <a:cs typeface="NanumGothic" pitchFamily="34" charset="-120"/>
              </a:rPr>
              <a:t>Design-Space Mapping of PQC Artifact Transport on CAN-FD</a:t>
            </a:r>
            <a:endParaRPr lang="en-US" sz="2755" dirty="0"/>
          </a:p>
        </p:txBody>
      </p:sp>
      <p:sp>
        <p:nvSpPr>
          <p:cNvPr id="5" name="Text 1"/>
          <p:cNvSpPr/>
          <p:nvPr/>
        </p:nvSpPr>
        <p:spPr>
          <a:xfrm>
            <a:off x="642938" y="1675879"/>
            <a:ext cx="7858125" cy="226814"/>
          </a:xfrm>
          <a:prstGeom prst="rect">
            <a:avLst/>
          </a:prstGeom>
          <a:noFill/>
          <a:ln/>
        </p:spPr>
        <p:txBody>
          <a:bodyPr wrap="none" lIns="0" tIns="0" rIns="0" bIns="0" rtlCol="0" anchor="t">
            <a:spAutoFit/>
          </a:bodyPr>
          <a:lstStyle/>
          <a:p>
            <a:pPr marL="0" indent="0" algn="ctr">
              <a:lnSpc>
                <a:spcPts val="2200"/>
              </a:lnSpc>
              <a:buNone/>
            </a:pPr>
            <a:r>
              <a:rPr lang="en-US" sz="1602" b="1" dirty="0">
                <a:solidFill>
                  <a:srgbClr val="2563EB"/>
                </a:solidFill>
                <a:latin typeface="NanumGothic" pitchFamily="34" charset="0"/>
                <a:ea typeface="NanumGothic" pitchFamily="34" charset="-122"/>
                <a:cs typeface="NanumGothic" pitchFamily="34" charset="-120"/>
              </a:rPr>
              <a:t>이산사건 시뮬레이션 기반 534 시나리오 실현가능성 분석</a:t>
            </a:r>
            <a:endParaRPr lang="en-US" sz="1602" dirty="0"/>
          </a:p>
        </p:txBody>
      </p:sp>
      <p:sp>
        <p:nvSpPr>
          <p:cNvPr id="6" name="Text 2"/>
          <p:cNvSpPr/>
          <p:nvPr/>
        </p:nvSpPr>
        <p:spPr>
          <a:xfrm>
            <a:off x="1752005" y="2424550"/>
            <a:ext cx="5639991" cy="169664"/>
          </a:xfrm>
          <a:prstGeom prst="rect">
            <a:avLst/>
          </a:prstGeom>
          <a:noFill/>
          <a:ln/>
        </p:spPr>
        <p:txBody>
          <a:bodyPr wrap="none" lIns="0" tIns="0" rIns="0" bIns="0" rtlCol="0" anchor="t">
            <a:spAutoFit/>
          </a:bodyPr>
          <a:lstStyle/>
          <a:p>
            <a:pPr marL="0" indent="0" algn="ctr">
              <a:lnSpc>
                <a:spcPts val="1600"/>
              </a:lnSpc>
              <a:buNone/>
            </a:pPr>
            <a:r>
              <a:rPr lang="en-US" sz="1193" b="1" dirty="0">
                <a:solidFill>
                  <a:srgbClr val="1E293B"/>
                </a:solidFill>
                <a:latin typeface="NanumGothic" pitchFamily="34" charset="0"/>
                <a:ea typeface="NanumGothic" pitchFamily="34" charset="-122"/>
                <a:cs typeface="NanumGothic" pitchFamily="34" charset="-120"/>
              </a:rPr>
              <a:t>Min-Woo Lee, Minjoo Sim, Siwoo Eum, Gyeongju Song, Hwajeong Seo</a:t>
            </a:r>
            <a:endParaRPr lang="en-US" sz="1193" dirty="0"/>
          </a:p>
        </p:txBody>
      </p:sp>
      <p:sp>
        <p:nvSpPr>
          <p:cNvPr id="7" name="Text 3"/>
          <p:cNvSpPr/>
          <p:nvPr/>
        </p:nvSpPr>
        <p:spPr>
          <a:xfrm>
            <a:off x="1752005" y="2665651"/>
            <a:ext cx="5639991" cy="178594"/>
          </a:xfrm>
          <a:prstGeom prst="rect">
            <a:avLst/>
          </a:prstGeom>
          <a:noFill/>
          <a:ln/>
        </p:spPr>
        <p:txBody>
          <a:bodyPr wrap="none" lIns="0" tIns="0" rIns="0" bIns="0" rtlCol="0" anchor="t">
            <a:spAutoFit/>
          </a:bodyPr>
          <a:lstStyle/>
          <a:p>
            <a:pPr marL="0" indent="0" algn="ctr">
              <a:lnSpc>
                <a:spcPts val="1400"/>
              </a:lnSpc>
              <a:buNone/>
            </a:pPr>
            <a:r>
              <a:rPr lang="en-US" sz="1050" dirty="0">
                <a:solidFill>
                  <a:srgbClr val="64748B"/>
                </a:solidFill>
                <a:latin typeface="NanumGothic" pitchFamily="34" charset="0"/>
                <a:ea typeface="NanumGothic" pitchFamily="34" charset="-122"/>
                <a:cs typeface="NanumGothic" pitchFamily="34" charset="-120"/>
              </a:rPr>
              <a:t>한성대학교 정보컴퓨터공학과 / 융합보안학과</a:t>
            </a:r>
            <a:endParaRPr lang="en-US" sz="1050" dirty="0"/>
          </a:p>
        </p:txBody>
      </p:sp>
      <p:pic>
        <p:nvPicPr>
          <p:cNvPr id="8" name="Image 1" descr="preencoded.png"/>
          <p:cNvPicPr>
            <a:picLocks noChangeAspect="1"/>
          </p:cNvPicPr>
          <p:nvPr/>
        </p:nvPicPr>
        <p:blipFill>
          <a:blip r:embed="rId4"/>
          <a:stretch>
            <a:fillRect/>
          </a:stretch>
        </p:blipFill>
        <p:spPr>
          <a:xfrm>
            <a:off x="3503116" y="3651852"/>
            <a:ext cx="228600" cy="228600"/>
          </a:xfrm>
          <a:prstGeom prst="rect">
            <a:avLst/>
          </a:prstGeom>
        </p:spPr>
      </p:pic>
      <p:sp>
        <p:nvSpPr>
          <p:cNvPr id="9" name="Text 4"/>
          <p:cNvSpPr/>
          <p:nvPr/>
        </p:nvSpPr>
        <p:spPr>
          <a:xfrm>
            <a:off x="3273822" y="3953798"/>
            <a:ext cx="731401" cy="109261"/>
          </a:xfrm>
          <a:prstGeom prst="rect">
            <a:avLst/>
          </a:prstGeom>
          <a:noFill/>
          <a:ln/>
        </p:spPr>
        <p:txBody>
          <a:bodyPr wrap="square" lIns="0" tIns="0" rIns="0" bIns="0" rtlCol="0" anchor="t">
            <a:spAutoFit/>
          </a:bodyPr>
          <a:lstStyle/>
          <a:p>
            <a:pPr marL="0" indent="0" algn="l">
              <a:lnSpc>
                <a:spcPts val="900"/>
              </a:lnSpc>
              <a:buNone/>
            </a:pPr>
            <a:r>
              <a:rPr lang="en-US" sz="683" b="1" kern="0" spc="1" dirty="0">
                <a:solidFill>
                  <a:srgbClr val="94A3B8"/>
                </a:solidFill>
                <a:latin typeface="NanumGothic" pitchFamily="34" charset="0"/>
                <a:ea typeface="NanumGothic" pitchFamily="34" charset="-122"/>
                <a:cs typeface="NanumGothic" pitchFamily="34" charset="-120"/>
              </a:rPr>
              <a:t>POST-</a:t>
            </a:r>
            <a:r>
              <a:rPr lang="ko-KR" altLang="en-US" sz="683" b="1" kern="0" spc="1" dirty="0">
                <a:solidFill>
                  <a:srgbClr val="94A3B8"/>
                </a:solidFill>
                <a:latin typeface="NanumGothic" pitchFamily="34" charset="0"/>
                <a:ea typeface="NanumGothic" pitchFamily="34" charset="-122"/>
                <a:cs typeface="NanumGothic" pitchFamily="34" charset="-120"/>
              </a:rPr>
              <a:t> </a:t>
            </a:r>
            <a:r>
              <a:rPr lang="en-US" sz="683" b="1" kern="0" spc="1" dirty="0">
                <a:solidFill>
                  <a:srgbClr val="94A3B8"/>
                </a:solidFill>
                <a:latin typeface="NanumGothic" pitchFamily="34" charset="0"/>
                <a:ea typeface="NanumGothic" pitchFamily="34" charset="-122"/>
                <a:cs typeface="NanumGothic" pitchFamily="34" charset="-120"/>
              </a:rPr>
              <a:t>QUANTUM</a:t>
            </a:r>
            <a:endParaRPr lang="en-US" sz="683" dirty="0"/>
          </a:p>
        </p:txBody>
      </p:sp>
      <p:pic>
        <p:nvPicPr>
          <p:cNvPr id="10" name="Image 2" descr="preencoded.png"/>
          <p:cNvPicPr>
            <a:picLocks noChangeAspect="1"/>
          </p:cNvPicPr>
          <p:nvPr/>
        </p:nvPicPr>
        <p:blipFill>
          <a:blip r:embed="rId5"/>
          <a:stretch>
            <a:fillRect/>
          </a:stretch>
        </p:blipFill>
        <p:spPr>
          <a:xfrm>
            <a:off x="4565749" y="3651852"/>
            <a:ext cx="228600" cy="228600"/>
          </a:xfrm>
          <a:prstGeom prst="rect">
            <a:avLst/>
          </a:prstGeom>
        </p:spPr>
      </p:pic>
      <p:sp>
        <p:nvSpPr>
          <p:cNvPr id="11" name="Text 5"/>
          <p:cNvSpPr/>
          <p:nvPr/>
        </p:nvSpPr>
        <p:spPr>
          <a:xfrm>
            <a:off x="4463057" y="3963372"/>
            <a:ext cx="662583" cy="98227"/>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94A3B8"/>
                </a:solidFill>
                <a:latin typeface="NanumGothic" pitchFamily="34" charset="0"/>
                <a:ea typeface="NanumGothic" pitchFamily="34" charset="-122"/>
                <a:cs typeface="NanumGothic" pitchFamily="34" charset="-120"/>
              </a:rPr>
              <a:t>CAN-FD BUS</a:t>
            </a:r>
            <a:endParaRPr lang="en-US" sz="683" dirty="0"/>
          </a:p>
        </p:txBody>
      </p:sp>
      <p:pic>
        <p:nvPicPr>
          <p:cNvPr id="12" name="Image 3" descr="preencoded.png"/>
          <p:cNvPicPr>
            <a:picLocks noChangeAspect="1"/>
          </p:cNvPicPr>
          <p:nvPr/>
        </p:nvPicPr>
        <p:blipFill>
          <a:blip r:embed="rId6"/>
          <a:stretch>
            <a:fillRect/>
          </a:stretch>
        </p:blipFill>
        <p:spPr>
          <a:xfrm>
            <a:off x="5506045" y="3651852"/>
            <a:ext cx="257175" cy="228600"/>
          </a:xfrm>
          <a:prstGeom prst="rect">
            <a:avLst/>
          </a:prstGeom>
        </p:spPr>
      </p:pic>
      <p:sp>
        <p:nvSpPr>
          <p:cNvPr id="13" name="Text 6"/>
          <p:cNvSpPr/>
          <p:nvPr/>
        </p:nvSpPr>
        <p:spPr>
          <a:xfrm>
            <a:off x="5425678" y="3965281"/>
            <a:ext cx="675084" cy="98227"/>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94A3B8"/>
                </a:solidFill>
                <a:latin typeface="NanumGothic" pitchFamily="34" charset="0"/>
                <a:ea typeface="NanumGothic" pitchFamily="34" charset="-122"/>
                <a:cs typeface="NanumGothic" pitchFamily="34" charset="-120"/>
              </a:rPr>
              <a:t>SIMULATION</a:t>
            </a:r>
            <a:endParaRPr lang="en-US" sz="683" dirty="0"/>
          </a:p>
        </p:txBody>
      </p:sp>
      <p:sp>
        <p:nvSpPr>
          <p:cNvPr id="14" name="Text 7"/>
          <p:cNvSpPr/>
          <p:nvPr/>
        </p:nvSpPr>
        <p:spPr>
          <a:xfrm>
            <a:off x="571500" y="4586260"/>
            <a:ext cx="778669" cy="128588"/>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64748B"/>
                </a:solidFill>
                <a:latin typeface="NanumGothic" pitchFamily="34" charset="0"/>
                <a:ea typeface="NanumGothic" pitchFamily="34" charset="-122"/>
                <a:cs typeface="NanumGothic" pitchFamily="34" charset="-120"/>
              </a:rPr>
              <a:t>2026. 04. 13</a:t>
            </a:r>
            <a:endParaRPr lang="en-US" sz="885" dirty="0"/>
          </a:p>
        </p:txBody>
      </p:sp>
      <p:sp>
        <p:nvSpPr>
          <p:cNvPr id="15" name="Text 8"/>
          <p:cNvSpPr/>
          <p:nvPr/>
        </p:nvSpPr>
        <p:spPr>
          <a:xfrm>
            <a:off x="6531173" y="4571972"/>
            <a:ext cx="2041327" cy="142875"/>
          </a:xfrm>
          <a:prstGeom prst="rect">
            <a:avLst/>
          </a:prstGeom>
          <a:noFill/>
          <a:ln/>
        </p:spPr>
        <p:txBody>
          <a:bodyPr wrap="none" lIns="0" tIns="0" rIns="0" bIns="0" rtlCol="0" anchor="t">
            <a:spAutoFit/>
          </a:bodyPr>
          <a:lstStyle/>
          <a:p>
            <a:pPr marL="0" indent="0" algn="l">
              <a:lnSpc>
                <a:spcPts val="1400"/>
              </a:lnSpc>
              <a:buNone/>
            </a:pPr>
            <a:r>
              <a:rPr lang="en-US" sz="987" b="1" kern="0" spc="2" dirty="0">
                <a:solidFill>
                  <a:srgbClr val="0F172A"/>
                </a:solidFill>
                <a:latin typeface="NanumGothic" pitchFamily="34" charset="0"/>
                <a:ea typeface="NanumGothic" pitchFamily="34" charset="-122"/>
                <a:cs typeface="NanumGothic" pitchFamily="34" charset="-120"/>
              </a:rPr>
              <a:t>HANSEONG UNIVERSITY</a:t>
            </a:r>
            <a:endParaRPr lang="en-US" sz="987" dirty="0"/>
          </a:p>
        </p:txBody>
      </p:sp>
      <p:sp>
        <p:nvSpPr>
          <p:cNvPr id="2" name="Text 2">
            <a:extLst>
              <a:ext uri="{FF2B5EF4-FFF2-40B4-BE49-F238E27FC236}">
                <a16:creationId xmlns:a16="http://schemas.microsoft.com/office/drawing/2014/main" id="{2A13FADF-4EE3-A82B-C151-140B1670A525}"/>
              </a:ext>
            </a:extLst>
          </p:cNvPr>
          <p:cNvSpPr/>
          <p:nvPr/>
        </p:nvSpPr>
        <p:spPr>
          <a:xfrm>
            <a:off x="2998502" y="3133244"/>
            <a:ext cx="3116239" cy="193515"/>
          </a:xfrm>
          <a:prstGeom prst="rect">
            <a:avLst/>
          </a:prstGeom>
          <a:noFill/>
          <a:ln/>
        </p:spPr>
        <p:txBody>
          <a:bodyPr wrap="none" lIns="0" tIns="0" rIns="0" bIns="0" rtlCol="0" anchor="t">
            <a:spAutoFit/>
          </a:bodyPr>
          <a:lstStyle/>
          <a:p>
            <a:pPr algn="ctr">
              <a:lnSpc>
                <a:spcPts val="1600"/>
              </a:lnSpc>
            </a:pPr>
            <a:r>
              <a:rPr lang="ko-KR" altLang="en-US" sz="1193" b="1" dirty="0">
                <a:solidFill>
                  <a:srgbClr val="1E293B"/>
                </a:solidFill>
                <a:latin typeface="NanumGothic" pitchFamily="34" charset="0"/>
                <a:ea typeface="NanumGothic" pitchFamily="34" charset="-122"/>
                <a:cs typeface="NanumGothic" pitchFamily="34" charset="-120"/>
              </a:rPr>
              <a:t>유튜브 주소</a:t>
            </a:r>
            <a:r>
              <a:rPr lang="en-US" altLang="ko-KR" sz="1193" b="1" dirty="0">
                <a:solidFill>
                  <a:srgbClr val="1E293B"/>
                </a:solidFill>
                <a:latin typeface="NanumGothic" pitchFamily="34" charset="0"/>
                <a:ea typeface="NanumGothic" pitchFamily="34" charset="-122"/>
                <a:cs typeface="NanumGothic" pitchFamily="34" charset="-120"/>
              </a:rPr>
              <a:t>:</a:t>
            </a:r>
            <a:r>
              <a:rPr lang="ko-KR" altLang="en-US" sz="1193" b="1" dirty="0">
                <a:solidFill>
                  <a:srgbClr val="1E293B"/>
                </a:solidFill>
                <a:latin typeface="NanumGothic" pitchFamily="34" charset="0"/>
                <a:ea typeface="NanumGothic" pitchFamily="34" charset="-122"/>
                <a:cs typeface="NanumGothic" pitchFamily="34" charset="-120"/>
              </a:rPr>
              <a:t> </a:t>
            </a:r>
            <a:r>
              <a:rPr lang="en" altLang="ko-KR" sz="1193" b="1" dirty="0">
                <a:solidFill>
                  <a:srgbClr val="1E293B"/>
                </a:solidFill>
                <a:latin typeface="NanumGothic" pitchFamily="34" charset="0"/>
                <a:ea typeface="NanumGothic" pitchFamily="34" charset="-122"/>
                <a:cs typeface="NanumGothic" pitchFamily="34" charset="-120"/>
                <a:hlinkClick r:id="rId7"/>
              </a:rPr>
              <a:t>https://</a:t>
            </a:r>
            <a:r>
              <a:rPr lang="en" altLang="ko-KR" sz="1193" b="1" dirty="0" err="1">
                <a:solidFill>
                  <a:srgbClr val="1E293B"/>
                </a:solidFill>
                <a:latin typeface="NanumGothic" pitchFamily="34" charset="0"/>
                <a:ea typeface="NanumGothic" pitchFamily="34" charset="-122"/>
                <a:cs typeface="NanumGothic" pitchFamily="34" charset="-120"/>
                <a:hlinkClick r:id="rId7"/>
              </a:rPr>
              <a:t>youtu.be</a:t>
            </a:r>
            <a:r>
              <a:rPr lang="en" altLang="ko-KR" sz="1193" b="1" dirty="0">
                <a:solidFill>
                  <a:srgbClr val="1E293B"/>
                </a:solidFill>
                <a:latin typeface="NanumGothic" pitchFamily="34" charset="0"/>
                <a:ea typeface="NanumGothic" pitchFamily="34" charset="-122"/>
                <a:cs typeface="NanumGothic" pitchFamily="34" charset="-120"/>
                <a:hlinkClick r:id="rId7"/>
              </a:rPr>
              <a:t>/Sh7HY-K85p0</a:t>
            </a:r>
            <a:r>
              <a:rPr lang="ko-KR" altLang="en-US" sz="1193" b="1" dirty="0">
                <a:solidFill>
                  <a:srgbClr val="1E293B"/>
                </a:solidFill>
                <a:latin typeface="NanumGothic" pitchFamily="34" charset="0"/>
                <a:ea typeface="NanumGothic" pitchFamily="34" charset="-122"/>
                <a:cs typeface="NanumGothic" pitchFamily="34" charset="-120"/>
              </a:rPr>
              <a:t> </a:t>
            </a:r>
            <a:endParaRPr lang="en-US" sz="1193"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0" y="0"/>
            <a:ext cx="9144000" cy="797365"/>
          </a:xfrm>
          <a:prstGeom prst="rect">
            <a:avLst/>
          </a:prstGeom>
          <a:solidFill>
            <a:srgbClr val="000000">
              <a:alpha val="0"/>
            </a:srgbClr>
          </a:solidFill>
          <a:ln/>
        </p:spPr>
        <p:txBody>
          <a:bodyPr/>
          <a:lstStyle/>
          <a:p>
            <a:endParaRPr lang="ko-KR" altLang="en-US"/>
          </a:p>
        </p:txBody>
      </p:sp>
      <p:sp>
        <p:nvSpPr>
          <p:cNvPr id="5" name="Shape 1"/>
          <p:cNvSpPr/>
          <p:nvPr/>
        </p:nvSpPr>
        <p:spPr>
          <a:xfrm>
            <a:off x="0" y="783078"/>
            <a:ext cx="9144000" cy="14288"/>
          </a:xfrm>
          <a:prstGeom prst="rect">
            <a:avLst/>
          </a:prstGeom>
          <a:solidFill>
            <a:srgbClr val="F1F5F9"/>
          </a:solidFill>
          <a:ln/>
        </p:spPr>
        <p:txBody>
          <a:bodyPr/>
          <a:lstStyle/>
          <a:p>
            <a:endParaRPr lang="ko-KR" altLang="en-US"/>
          </a:p>
        </p:txBody>
      </p:sp>
      <p:sp>
        <p:nvSpPr>
          <p:cNvPr id="6" name="Text 2"/>
          <p:cNvSpPr/>
          <p:nvPr/>
        </p:nvSpPr>
        <p:spPr>
          <a:xfrm>
            <a:off x="428625" y="458037"/>
            <a:ext cx="8715375" cy="253603"/>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0F172A"/>
                </a:solidFill>
                <a:latin typeface="NanumGothic" pitchFamily="34" charset="0"/>
                <a:ea typeface="NanumGothic" pitchFamily="34" charset="-122"/>
                <a:cs typeface="NanumGothic" pitchFamily="34" charset="-120"/>
              </a:rPr>
              <a:t>배경: 양자 내성 암호(PQC)와 차량용 네트워크</a:t>
            </a:r>
            <a:endParaRPr lang="en-US" sz="1808" dirty="0"/>
          </a:p>
        </p:txBody>
      </p:sp>
      <p:sp>
        <p:nvSpPr>
          <p:cNvPr id="7" name="Shape 3"/>
          <p:cNvSpPr/>
          <p:nvPr/>
        </p:nvSpPr>
        <p:spPr>
          <a:xfrm>
            <a:off x="428625" y="997390"/>
            <a:ext cx="2619356" cy="1814513"/>
          </a:xfrm>
          <a:prstGeom prst="rect">
            <a:avLst/>
          </a:prstGeom>
          <a:solidFill>
            <a:srgbClr val="F8FAFC"/>
          </a:solidFill>
          <a:ln/>
        </p:spPr>
        <p:txBody>
          <a:bodyPr/>
          <a:lstStyle/>
          <a:p>
            <a:endParaRPr lang="ko-KR" altLang="en-US"/>
          </a:p>
        </p:txBody>
      </p:sp>
      <p:sp>
        <p:nvSpPr>
          <p:cNvPr id="8" name="Shape 4"/>
          <p:cNvSpPr/>
          <p:nvPr/>
        </p:nvSpPr>
        <p:spPr>
          <a:xfrm>
            <a:off x="428625" y="997390"/>
            <a:ext cx="2619356" cy="28575"/>
          </a:xfrm>
          <a:prstGeom prst="rect">
            <a:avLst/>
          </a:prstGeom>
          <a:solidFill>
            <a:srgbClr val="2563EB"/>
          </a:solidFill>
          <a:ln/>
        </p:spPr>
        <p:txBody>
          <a:bodyPr/>
          <a:lstStyle/>
          <a:p>
            <a:endParaRPr lang="ko-KR" altLang="en-US"/>
          </a:p>
        </p:txBody>
      </p:sp>
      <p:pic>
        <p:nvPicPr>
          <p:cNvPr id="9" name="Image 1" descr="preencoded.png"/>
          <p:cNvPicPr>
            <a:picLocks noChangeAspect="1"/>
          </p:cNvPicPr>
          <p:nvPr/>
        </p:nvPicPr>
        <p:blipFill>
          <a:blip r:embed="rId4"/>
          <a:stretch>
            <a:fillRect/>
          </a:stretch>
        </p:blipFill>
        <p:spPr>
          <a:xfrm>
            <a:off x="607219" y="1211703"/>
            <a:ext cx="228600" cy="228600"/>
          </a:xfrm>
          <a:prstGeom prst="rect">
            <a:avLst/>
          </a:prstGeom>
        </p:spPr>
      </p:pic>
      <p:sp>
        <p:nvSpPr>
          <p:cNvPr id="10" name="Text 5"/>
          <p:cNvSpPr/>
          <p:nvPr/>
        </p:nvSpPr>
        <p:spPr>
          <a:xfrm>
            <a:off x="607219" y="1704622"/>
            <a:ext cx="2262169" cy="155377"/>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0F172A"/>
                </a:solidFill>
                <a:latin typeface="NanumGothic" pitchFamily="34" charset="0"/>
                <a:ea typeface="NanumGothic" pitchFamily="34" charset="-122"/>
                <a:cs typeface="NanumGothic" pitchFamily="34" charset="-120"/>
              </a:rPr>
              <a:t>양자 컴퓨팅의 위협</a:t>
            </a:r>
            <a:endParaRPr lang="en-US" sz="1090" dirty="0"/>
          </a:p>
        </p:txBody>
      </p:sp>
      <p:sp>
        <p:nvSpPr>
          <p:cNvPr id="11" name="Text 6"/>
          <p:cNvSpPr/>
          <p:nvPr/>
        </p:nvSpPr>
        <p:spPr>
          <a:xfrm>
            <a:off x="607219" y="1974298"/>
            <a:ext cx="2262169" cy="365727"/>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75569"/>
                </a:solidFill>
                <a:latin typeface="NanumGothic" pitchFamily="34" charset="0"/>
                <a:ea typeface="NanumGothic" pitchFamily="34" charset="-122"/>
                <a:cs typeface="NanumGothic" pitchFamily="34" charset="-120"/>
              </a:rPr>
              <a:t>Shor 알고리즘 등으로 인한 기존 공개키 암호(RSA, ECC) 체계의 붕괴 위협 가속화</a:t>
            </a:r>
            <a:endParaRPr lang="en-US" sz="834" dirty="0"/>
          </a:p>
        </p:txBody>
      </p:sp>
      <p:sp>
        <p:nvSpPr>
          <p:cNvPr id="12" name="Shape 7"/>
          <p:cNvSpPr/>
          <p:nvPr/>
        </p:nvSpPr>
        <p:spPr>
          <a:xfrm>
            <a:off x="3262294" y="997390"/>
            <a:ext cx="2619384" cy="1814513"/>
          </a:xfrm>
          <a:prstGeom prst="rect">
            <a:avLst/>
          </a:prstGeom>
          <a:solidFill>
            <a:srgbClr val="F8FAFC"/>
          </a:solidFill>
          <a:ln/>
        </p:spPr>
        <p:txBody>
          <a:bodyPr/>
          <a:lstStyle/>
          <a:p>
            <a:endParaRPr lang="ko-KR" altLang="en-US"/>
          </a:p>
        </p:txBody>
      </p:sp>
      <p:sp>
        <p:nvSpPr>
          <p:cNvPr id="13" name="Shape 8"/>
          <p:cNvSpPr/>
          <p:nvPr/>
        </p:nvSpPr>
        <p:spPr>
          <a:xfrm>
            <a:off x="3262294" y="997390"/>
            <a:ext cx="2619384" cy="28575"/>
          </a:xfrm>
          <a:prstGeom prst="rect">
            <a:avLst/>
          </a:prstGeom>
          <a:solidFill>
            <a:srgbClr val="2563EB"/>
          </a:solidFill>
          <a:ln/>
        </p:spPr>
        <p:txBody>
          <a:bodyPr/>
          <a:lstStyle/>
          <a:p>
            <a:endParaRPr lang="ko-KR" altLang="en-US"/>
          </a:p>
        </p:txBody>
      </p:sp>
      <p:pic>
        <p:nvPicPr>
          <p:cNvPr id="14" name="Image 2" descr="preencoded.png"/>
          <p:cNvPicPr>
            <a:picLocks noChangeAspect="1"/>
          </p:cNvPicPr>
          <p:nvPr/>
        </p:nvPicPr>
        <p:blipFill>
          <a:blip r:embed="rId5"/>
          <a:stretch>
            <a:fillRect/>
          </a:stretch>
        </p:blipFill>
        <p:spPr>
          <a:xfrm>
            <a:off x="3440888" y="1211703"/>
            <a:ext cx="200025" cy="228600"/>
          </a:xfrm>
          <a:prstGeom prst="rect">
            <a:avLst/>
          </a:prstGeom>
        </p:spPr>
      </p:pic>
      <p:sp>
        <p:nvSpPr>
          <p:cNvPr id="15" name="Text 9"/>
          <p:cNvSpPr/>
          <p:nvPr/>
        </p:nvSpPr>
        <p:spPr>
          <a:xfrm>
            <a:off x="3440888" y="1704622"/>
            <a:ext cx="2262197" cy="155377"/>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0F172A"/>
                </a:solidFill>
                <a:latin typeface="NanumGothic" pitchFamily="34" charset="0"/>
                <a:ea typeface="NanumGothic" pitchFamily="34" charset="-122"/>
                <a:cs typeface="NanumGothic" pitchFamily="34" charset="-120"/>
              </a:rPr>
              <a:t>PQC 표준화 및 전환</a:t>
            </a:r>
            <a:endParaRPr lang="en-US" sz="1090" dirty="0"/>
          </a:p>
        </p:txBody>
      </p:sp>
      <p:sp>
        <p:nvSpPr>
          <p:cNvPr id="16" name="Text 10"/>
          <p:cNvSpPr/>
          <p:nvPr/>
        </p:nvSpPr>
        <p:spPr>
          <a:xfrm>
            <a:off x="3440888" y="1974298"/>
            <a:ext cx="2262197" cy="365727"/>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75569"/>
                </a:solidFill>
                <a:latin typeface="NanumGothic" pitchFamily="34" charset="0"/>
                <a:ea typeface="NanumGothic" pitchFamily="34" charset="-122"/>
                <a:cs typeface="NanumGothic" pitchFamily="34" charset="-120"/>
              </a:rPr>
              <a:t>NIST 및 KpqC를 통한 격자 기반 암호(ML-KEM, ML-DSA) 등 차세대 표준 채택 진행</a:t>
            </a:r>
            <a:endParaRPr lang="en-US" sz="834" dirty="0"/>
          </a:p>
        </p:txBody>
      </p:sp>
      <p:sp>
        <p:nvSpPr>
          <p:cNvPr id="17" name="Shape 11"/>
          <p:cNvSpPr/>
          <p:nvPr/>
        </p:nvSpPr>
        <p:spPr>
          <a:xfrm>
            <a:off x="6095991" y="997390"/>
            <a:ext cx="2619356" cy="1814513"/>
          </a:xfrm>
          <a:prstGeom prst="rect">
            <a:avLst/>
          </a:prstGeom>
          <a:solidFill>
            <a:srgbClr val="F8FAFC"/>
          </a:solidFill>
          <a:ln/>
        </p:spPr>
        <p:txBody>
          <a:bodyPr/>
          <a:lstStyle/>
          <a:p>
            <a:endParaRPr lang="ko-KR" altLang="en-US"/>
          </a:p>
        </p:txBody>
      </p:sp>
      <p:sp>
        <p:nvSpPr>
          <p:cNvPr id="18" name="Shape 12"/>
          <p:cNvSpPr/>
          <p:nvPr/>
        </p:nvSpPr>
        <p:spPr>
          <a:xfrm>
            <a:off x="6095991" y="997390"/>
            <a:ext cx="2619356" cy="28575"/>
          </a:xfrm>
          <a:prstGeom prst="rect">
            <a:avLst/>
          </a:prstGeom>
          <a:solidFill>
            <a:srgbClr val="2563EB"/>
          </a:solidFill>
          <a:ln/>
        </p:spPr>
        <p:txBody>
          <a:bodyPr/>
          <a:lstStyle/>
          <a:p>
            <a:endParaRPr lang="ko-KR" altLang="en-US"/>
          </a:p>
        </p:txBody>
      </p:sp>
      <p:pic>
        <p:nvPicPr>
          <p:cNvPr id="19" name="Image 3" descr="preencoded.png"/>
          <p:cNvPicPr>
            <a:picLocks noChangeAspect="1"/>
          </p:cNvPicPr>
          <p:nvPr/>
        </p:nvPicPr>
        <p:blipFill>
          <a:blip r:embed="rId6"/>
          <a:stretch>
            <a:fillRect/>
          </a:stretch>
        </p:blipFill>
        <p:spPr>
          <a:xfrm>
            <a:off x="6274584" y="1211703"/>
            <a:ext cx="285750" cy="228600"/>
          </a:xfrm>
          <a:prstGeom prst="rect">
            <a:avLst/>
          </a:prstGeom>
        </p:spPr>
      </p:pic>
      <p:sp>
        <p:nvSpPr>
          <p:cNvPr id="20" name="Text 13"/>
          <p:cNvSpPr/>
          <p:nvPr/>
        </p:nvSpPr>
        <p:spPr>
          <a:xfrm>
            <a:off x="6274584" y="1704622"/>
            <a:ext cx="2262169" cy="155377"/>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0F172A"/>
                </a:solidFill>
                <a:latin typeface="NanumGothic" pitchFamily="34" charset="0"/>
                <a:ea typeface="NanumGothic" pitchFamily="34" charset="-122"/>
                <a:cs typeface="NanumGothic" pitchFamily="34" charset="-120"/>
              </a:rPr>
              <a:t>차량용 네트워크 제약</a:t>
            </a:r>
            <a:endParaRPr lang="en-US" sz="1090" dirty="0"/>
          </a:p>
        </p:txBody>
      </p:sp>
      <p:sp>
        <p:nvSpPr>
          <p:cNvPr id="21" name="Text 14"/>
          <p:cNvSpPr/>
          <p:nvPr/>
        </p:nvSpPr>
        <p:spPr>
          <a:xfrm>
            <a:off x="6274584" y="1974298"/>
            <a:ext cx="2262169" cy="365727"/>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75569"/>
                </a:solidFill>
                <a:latin typeface="NanumGothic" pitchFamily="34" charset="0"/>
                <a:ea typeface="NanumGothic" pitchFamily="34" charset="-122"/>
                <a:cs typeface="NanumGothic" pitchFamily="34" charset="-120"/>
              </a:rPr>
              <a:t>CAN-FD의 제한된 대역폭(최대 64B 페이로드) 내에서 거대한 PQC 아티팩트 전송의 한계</a:t>
            </a:r>
            <a:endParaRPr lang="en-US" sz="834" dirty="0"/>
          </a:p>
        </p:txBody>
      </p:sp>
      <p:sp>
        <p:nvSpPr>
          <p:cNvPr id="22" name="Shape 15"/>
          <p:cNvSpPr/>
          <p:nvPr/>
        </p:nvSpPr>
        <p:spPr>
          <a:xfrm>
            <a:off x="428625" y="3069078"/>
            <a:ext cx="8286750" cy="1571625"/>
          </a:xfrm>
          <a:prstGeom prst="rect">
            <a:avLst/>
          </a:prstGeom>
          <a:solidFill>
            <a:srgbClr val="0F172A"/>
          </a:solidFill>
          <a:ln/>
        </p:spPr>
        <p:txBody>
          <a:bodyPr/>
          <a:lstStyle/>
          <a:p>
            <a:endParaRPr lang="ko-KR" altLang="en-US"/>
          </a:p>
        </p:txBody>
      </p:sp>
      <p:sp>
        <p:nvSpPr>
          <p:cNvPr id="23" name="Text 16"/>
          <p:cNvSpPr/>
          <p:nvPr/>
        </p:nvSpPr>
        <p:spPr>
          <a:xfrm>
            <a:off x="3792438" y="3599864"/>
            <a:ext cx="1559123" cy="128588"/>
          </a:xfrm>
          <a:prstGeom prst="rect">
            <a:avLst/>
          </a:prstGeom>
          <a:noFill/>
          <a:ln/>
        </p:spPr>
        <p:txBody>
          <a:bodyPr wrap="none" lIns="0" tIns="0" rIns="0" bIns="0" rtlCol="0" anchor="t">
            <a:spAutoFit/>
          </a:bodyPr>
          <a:lstStyle/>
          <a:p>
            <a:pPr marL="0" indent="0" algn="ctr">
              <a:lnSpc>
                <a:spcPts val="1200"/>
              </a:lnSpc>
              <a:buNone/>
            </a:pPr>
            <a:r>
              <a:rPr lang="en-US" sz="885" b="1" kern="0" spc="2" dirty="0">
                <a:solidFill>
                  <a:srgbClr val="2563EB"/>
                </a:solidFill>
                <a:latin typeface="NanumGothic" pitchFamily="34" charset="0"/>
                <a:ea typeface="NanumGothic" pitchFamily="34" charset="-122"/>
                <a:cs typeface="NanumGothic" pitchFamily="34" charset="-120"/>
              </a:rPr>
              <a:t>RESEARCH QUESTION</a:t>
            </a:r>
            <a:endParaRPr lang="en-US" sz="885" dirty="0"/>
          </a:p>
        </p:txBody>
      </p:sp>
      <p:sp>
        <p:nvSpPr>
          <p:cNvPr id="24" name="Text 17"/>
          <p:cNvSpPr/>
          <p:nvPr/>
        </p:nvSpPr>
        <p:spPr>
          <a:xfrm>
            <a:off x="2350294" y="3835608"/>
            <a:ext cx="4443413" cy="560059"/>
          </a:xfrm>
          <a:prstGeom prst="rect">
            <a:avLst/>
          </a:prstGeom>
          <a:noFill/>
          <a:ln/>
        </p:spPr>
        <p:txBody>
          <a:bodyPr wrap="square" lIns="0" tIns="0" rIns="0" bIns="0" rtlCol="0" anchor="t">
            <a:spAutoFit/>
          </a:bodyPr>
          <a:lstStyle/>
          <a:p>
            <a:pPr marL="0" indent="0" algn="ctr">
              <a:lnSpc>
                <a:spcPts val="2200"/>
              </a:lnSpc>
              <a:buNone/>
            </a:pPr>
            <a:r>
              <a:rPr lang="en-US" sz="1397" b="1" dirty="0">
                <a:solidFill>
                  <a:srgbClr val="FFFFFF"/>
                </a:solidFill>
                <a:latin typeface="NanumGothic" pitchFamily="34" charset="0"/>
                <a:ea typeface="NanumGothic" pitchFamily="34" charset="-122"/>
                <a:cs typeface="NanumGothic" pitchFamily="34" charset="-120"/>
              </a:rPr>
              <a:t>"기존 차량용 CAN-FD 버스 환경에서
다양한 PQC 알고리즘 전송은 실질적으로 가능한가?"</a:t>
            </a:r>
            <a:endParaRPr lang="en-US" sz="1397" dirty="0"/>
          </a:p>
        </p:txBody>
      </p:sp>
      <p:sp>
        <p:nvSpPr>
          <p:cNvPr id="25" name="Text 18"/>
          <p:cNvSpPr/>
          <p:nvPr/>
        </p:nvSpPr>
        <p:spPr>
          <a:xfrm>
            <a:off x="0" y="4875609"/>
            <a:ext cx="9144000" cy="125016"/>
          </a:xfrm>
          <a:prstGeom prst="rect">
            <a:avLst/>
          </a:prstGeom>
          <a:noFill/>
          <a:ln/>
        </p:spPr>
        <p:txBody>
          <a:bodyPr wrap="none" lIns="0" tIns="0" rIns="0" bIns="0" rtlCol="0" anchor="t">
            <a:spAutoFit/>
          </a:bodyPr>
          <a:lstStyle/>
          <a:p>
            <a:pPr marL="0" indent="0" algn="ctr">
              <a:lnSpc>
                <a:spcPts val="900"/>
              </a:lnSpc>
              <a:buNone/>
            </a:pPr>
            <a:r>
              <a:rPr lang="en-US" sz="727" dirty="0">
                <a:solidFill>
                  <a:srgbClr val="94A3B8"/>
                </a:solidFill>
                <a:latin typeface="NanumGothic" pitchFamily="34" charset="0"/>
                <a:ea typeface="NanumGothic" pitchFamily="34" charset="-122"/>
                <a:cs typeface="NanumGothic" pitchFamily="34" charset="-120"/>
              </a:rPr>
              <a:t>2</a:t>
            </a:r>
            <a:endParaRPr lang="en-US" sz="727"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0" y="0"/>
            <a:ext cx="9144000" cy="797365"/>
          </a:xfrm>
          <a:prstGeom prst="rect">
            <a:avLst/>
          </a:prstGeom>
          <a:solidFill>
            <a:srgbClr val="000000">
              <a:alpha val="0"/>
            </a:srgbClr>
          </a:solidFill>
          <a:ln/>
        </p:spPr>
        <p:txBody>
          <a:bodyPr/>
          <a:lstStyle/>
          <a:p>
            <a:endParaRPr lang="ko-KR" altLang="en-US"/>
          </a:p>
        </p:txBody>
      </p:sp>
      <p:sp>
        <p:nvSpPr>
          <p:cNvPr id="5" name="Shape 1"/>
          <p:cNvSpPr/>
          <p:nvPr/>
        </p:nvSpPr>
        <p:spPr>
          <a:xfrm>
            <a:off x="0" y="783078"/>
            <a:ext cx="9144000" cy="14288"/>
          </a:xfrm>
          <a:prstGeom prst="rect">
            <a:avLst/>
          </a:prstGeom>
          <a:solidFill>
            <a:srgbClr val="F1F5F9"/>
          </a:solidFill>
          <a:ln/>
        </p:spPr>
        <p:txBody>
          <a:bodyPr/>
          <a:lstStyle/>
          <a:p>
            <a:endParaRPr lang="ko-KR" altLang="en-US"/>
          </a:p>
        </p:txBody>
      </p:sp>
      <p:sp>
        <p:nvSpPr>
          <p:cNvPr id="6" name="Text 2"/>
          <p:cNvSpPr/>
          <p:nvPr/>
        </p:nvSpPr>
        <p:spPr>
          <a:xfrm>
            <a:off x="428625" y="458037"/>
            <a:ext cx="8715375" cy="253603"/>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0F172A"/>
                </a:solidFill>
                <a:latin typeface="NanumGothic" pitchFamily="34" charset="0"/>
                <a:ea typeface="NanumGothic" pitchFamily="34" charset="-122"/>
                <a:cs typeface="NanumGothic" pitchFamily="34" charset="-120"/>
              </a:rPr>
              <a:t>문제 정의 및 연구 목표</a:t>
            </a:r>
            <a:endParaRPr lang="en-US" sz="1808" dirty="0"/>
          </a:p>
        </p:txBody>
      </p:sp>
      <p:sp>
        <p:nvSpPr>
          <p:cNvPr id="7" name="Shape 3"/>
          <p:cNvSpPr/>
          <p:nvPr/>
        </p:nvSpPr>
        <p:spPr>
          <a:xfrm>
            <a:off x="428625" y="961672"/>
            <a:ext cx="4000500" cy="2038759"/>
          </a:xfrm>
          <a:prstGeom prst="rect">
            <a:avLst/>
          </a:prstGeom>
          <a:solidFill>
            <a:srgbClr val="FFF1F2"/>
          </a:solidFill>
          <a:ln/>
        </p:spPr>
        <p:txBody>
          <a:bodyPr/>
          <a:lstStyle/>
          <a:p>
            <a:endParaRPr lang="ko-KR" altLang="en-US"/>
          </a:p>
        </p:txBody>
      </p:sp>
      <p:sp>
        <p:nvSpPr>
          <p:cNvPr id="8" name="Shape 4"/>
          <p:cNvSpPr/>
          <p:nvPr/>
        </p:nvSpPr>
        <p:spPr>
          <a:xfrm>
            <a:off x="428625" y="961672"/>
            <a:ext cx="42863" cy="2038759"/>
          </a:xfrm>
          <a:prstGeom prst="rect">
            <a:avLst/>
          </a:prstGeom>
          <a:solidFill>
            <a:srgbClr val="E11D48"/>
          </a:solidFill>
          <a:ln/>
        </p:spPr>
        <p:txBody>
          <a:bodyPr/>
          <a:lstStyle/>
          <a:p>
            <a:endParaRPr lang="ko-KR" altLang="en-US"/>
          </a:p>
        </p:txBody>
      </p:sp>
      <p:pic>
        <p:nvPicPr>
          <p:cNvPr id="9" name="Image 1" descr="preencoded.png"/>
          <p:cNvPicPr>
            <a:picLocks noChangeAspect="1"/>
          </p:cNvPicPr>
          <p:nvPr/>
        </p:nvPicPr>
        <p:blipFill>
          <a:blip r:embed="rId4"/>
          <a:stretch>
            <a:fillRect/>
          </a:stretch>
        </p:blipFill>
        <p:spPr>
          <a:xfrm>
            <a:off x="642938" y="1311715"/>
            <a:ext cx="171450" cy="171450"/>
          </a:xfrm>
          <a:prstGeom prst="rect">
            <a:avLst/>
          </a:prstGeom>
        </p:spPr>
      </p:pic>
      <p:sp>
        <p:nvSpPr>
          <p:cNvPr id="10" name="Text 5"/>
          <p:cNvSpPr/>
          <p:nvPr/>
        </p:nvSpPr>
        <p:spPr>
          <a:xfrm>
            <a:off x="900113" y="1312608"/>
            <a:ext cx="860822" cy="169664"/>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9F1239"/>
                </a:solidFill>
                <a:latin typeface="NanumGothic" pitchFamily="34" charset="0"/>
                <a:ea typeface="NanumGothic" pitchFamily="34" charset="-122"/>
                <a:cs typeface="NanumGothic" pitchFamily="34" charset="-120"/>
              </a:rPr>
              <a:t>Challenges</a:t>
            </a:r>
            <a:endParaRPr lang="en-US" sz="1193" dirty="0"/>
          </a:p>
        </p:txBody>
      </p:sp>
      <p:sp>
        <p:nvSpPr>
          <p:cNvPr id="11" name="Text 6"/>
          <p:cNvSpPr/>
          <p:nvPr/>
        </p:nvSpPr>
        <p:spPr>
          <a:xfrm>
            <a:off x="785813" y="1590322"/>
            <a:ext cx="3429000" cy="388055"/>
          </a:xfrm>
          <a:prstGeom prst="rect">
            <a:avLst/>
          </a:prstGeom>
          <a:noFill/>
          <a:ln/>
        </p:spPr>
        <p:txBody>
          <a:bodyPr wrap="square" lIns="0" tIns="0" rIns="0" bIns="0" rtlCol="0" anchor="t">
            <a:spAutoFit/>
          </a:bodyPr>
          <a:lstStyle/>
          <a:p>
            <a:pPr marL="127000" indent="-127000" algn="l">
              <a:lnSpc>
                <a:spcPts val="1600"/>
              </a:lnSpc>
              <a:buSzPct val="100000"/>
              <a:buChar char="•"/>
            </a:pPr>
            <a:r>
              <a:rPr lang="en-US" sz="834" b="1" dirty="0">
                <a:solidFill>
                  <a:srgbClr val="475569"/>
                </a:solidFill>
                <a:latin typeface="NanumGothic" pitchFamily="34" charset="0"/>
                <a:ea typeface="NanumGothic" pitchFamily="34" charset="-122"/>
                <a:cs typeface="NanumGothic" pitchFamily="34" charset="-120"/>
              </a:rPr>
              <a:t>거대한 아티팩트:</a:t>
            </a:r>
            <a:r>
              <a:rPr lang="en-US" sz="888" dirty="0">
                <a:solidFill>
                  <a:srgbClr val="475569"/>
                </a:solidFill>
                <a:latin typeface="NanumGothic" pitchFamily="34" charset="0"/>
                <a:ea typeface="NanumGothic" pitchFamily="34" charset="-122"/>
                <a:cs typeface="NanumGothic" pitchFamily="34" charset="-120"/>
              </a:rPr>
              <a:t> PQC 공개키/서명 크기가 CAN-FD 페이로드(64B)를 크게 상회</a:t>
            </a:r>
            <a:endParaRPr lang="en-US" sz="834" dirty="0"/>
          </a:p>
        </p:txBody>
      </p:sp>
      <p:sp>
        <p:nvSpPr>
          <p:cNvPr id="12" name="Text 7"/>
          <p:cNvSpPr/>
          <p:nvPr/>
        </p:nvSpPr>
        <p:spPr>
          <a:xfrm>
            <a:off x="785812" y="2060358"/>
            <a:ext cx="3571873" cy="182871"/>
          </a:xfrm>
          <a:prstGeom prst="rect">
            <a:avLst/>
          </a:prstGeom>
          <a:noFill/>
          <a:ln/>
        </p:spPr>
        <p:txBody>
          <a:bodyPr wrap="square" lIns="0" tIns="0" rIns="0" bIns="0" rtlCol="0" anchor="t">
            <a:spAutoFit/>
          </a:bodyPr>
          <a:lstStyle/>
          <a:p>
            <a:pPr marL="127000" indent="-127000" algn="l">
              <a:lnSpc>
                <a:spcPts val="1600"/>
              </a:lnSpc>
              <a:buSzPct val="100000"/>
              <a:buChar char="•"/>
            </a:pPr>
            <a:r>
              <a:rPr lang="en-US" sz="834" b="1" dirty="0">
                <a:solidFill>
                  <a:srgbClr val="475569"/>
                </a:solidFill>
                <a:latin typeface="NanumGothic" pitchFamily="34" charset="0"/>
                <a:ea typeface="NanumGothic" pitchFamily="34" charset="-122"/>
                <a:cs typeface="NanumGothic" pitchFamily="34" charset="-120"/>
              </a:rPr>
              <a:t>실시간성 제약:</a:t>
            </a:r>
            <a:r>
              <a:rPr lang="en-US" sz="888" dirty="0">
                <a:solidFill>
                  <a:srgbClr val="475569"/>
                </a:solidFill>
                <a:latin typeface="NanumGothic" pitchFamily="34" charset="0"/>
                <a:ea typeface="NanumGothic" pitchFamily="34" charset="-122"/>
                <a:cs typeface="NanumGothic" pitchFamily="34" charset="-120"/>
              </a:rPr>
              <a:t> 차량 제어 메시지의 엄격한 지연 시간(Latency) 요구사항</a:t>
            </a:r>
            <a:endParaRPr lang="en-US" sz="834" dirty="0"/>
          </a:p>
        </p:txBody>
      </p:sp>
      <p:sp>
        <p:nvSpPr>
          <p:cNvPr id="13" name="Text 8"/>
          <p:cNvSpPr/>
          <p:nvPr/>
        </p:nvSpPr>
        <p:spPr>
          <a:xfrm>
            <a:off x="785812" y="2530394"/>
            <a:ext cx="3500437" cy="182871"/>
          </a:xfrm>
          <a:prstGeom prst="rect">
            <a:avLst/>
          </a:prstGeom>
          <a:noFill/>
          <a:ln/>
        </p:spPr>
        <p:txBody>
          <a:bodyPr wrap="square" lIns="0" tIns="0" rIns="0" bIns="0" rtlCol="0" anchor="t">
            <a:spAutoFit/>
          </a:bodyPr>
          <a:lstStyle/>
          <a:p>
            <a:pPr marL="127000" indent="-127000" algn="l">
              <a:lnSpc>
                <a:spcPts val="1600"/>
              </a:lnSpc>
              <a:buSzPct val="100000"/>
              <a:buChar char="•"/>
            </a:pPr>
            <a:r>
              <a:rPr lang="en-US" sz="834" b="1" dirty="0">
                <a:solidFill>
                  <a:srgbClr val="475569"/>
                </a:solidFill>
                <a:latin typeface="NanumGothic" pitchFamily="34" charset="0"/>
                <a:ea typeface="NanumGothic" pitchFamily="34" charset="-122"/>
                <a:cs typeface="NanumGothic" pitchFamily="34" charset="-120"/>
              </a:rPr>
              <a:t>복잡한 변수:</a:t>
            </a:r>
            <a:r>
              <a:rPr lang="en-US" sz="888" dirty="0">
                <a:solidFill>
                  <a:srgbClr val="475569"/>
                </a:solidFill>
                <a:latin typeface="NanumGothic" pitchFamily="34" charset="0"/>
                <a:ea typeface="NanumGothic" pitchFamily="34" charset="-122"/>
                <a:cs typeface="NanumGothic" pitchFamily="34" charset="-120"/>
              </a:rPr>
              <a:t> ECU 개수, 배경 트래픽, 전송 방식 등 방대한 디자인 공간</a:t>
            </a:r>
            <a:endParaRPr lang="en-US" sz="834" dirty="0"/>
          </a:p>
        </p:txBody>
      </p:sp>
      <p:sp>
        <p:nvSpPr>
          <p:cNvPr id="14" name="Shape 9"/>
          <p:cNvSpPr/>
          <p:nvPr/>
        </p:nvSpPr>
        <p:spPr>
          <a:xfrm>
            <a:off x="4714875" y="961672"/>
            <a:ext cx="4000500" cy="2038759"/>
          </a:xfrm>
          <a:prstGeom prst="rect">
            <a:avLst/>
          </a:prstGeom>
          <a:solidFill>
            <a:srgbClr val="F0F9FF"/>
          </a:solidFill>
          <a:ln/>
        </p:spPr>
        <p:txBody>
          <a:bodyPr/>
          <a:lstStyle/>
          <a:p>
            <a:endParaRPr lang="ko-KR" altLang="en-US"/>
          </a:p>
        </p:txBody>
      </p:sp>
      <p:sp>
        <p:nvSpPr>
          <p:cNvPr id="15" name="Shape 10"/>
          <p:cNvSpPr/>
          <p:nvPr/>
        </p:nvSpPr>
        <p:spPr>
          <a:xfrm>
            <a:off x="4714875" y="961672"/>
            <a:ext cx="42863" cy="2038759"/>
          </a:xfrm>
          <a:prstGeom prst="rect">
            <a:avLst/>
          </a:prstGeom>
          <a:solidFill>
            <a:srgbClr val="0284C7"/>
          </a:solidFill>
          <a:ln/>
        </p:spPr>
        <p:txBody>
          <a:bodyPr/>
          <a:lstStyle/>
          <a:p>
            <a:endParaRPr lang="ko-KR" altLang="en-US"/>
          </a:p>
        </p:txBody>
      </p:sp>
      <p:pic>
        <p:nvPicPr>
          <p:cNvPr id="16" name="Image 2" descr="preencoded.png"/>
          <p:cNvPicPr>
            <a:picLocks noChangeAspect="1"/>
          </p:cNvPicPr>
          <p:nvPr/>
        </p:nvPicPr>
        <p:blipFill>
          <a:blip r:embed="rId5"/>
          <a:stretch>
            <a:fillRect/>
          </a:stretch>
        </p:blipFill>
        <p:spPr>
          <a:xfrm>
            <a:off x="4929188" y="1311715"/>
            <a:ext cx="171450" cy="171450"/>
          </a:xfrm>
          <a:prstGeom prst="rect">
            <a:avLst/>
          </a:prstGeom>
        </p:spPr>
      </p:pic>
      <p:sp>
        <p:nvSpPr>
          <p:cNvPr id="17" name="Text 11"/>
          <p:cNvSpPr/>
          <p:nvPr/>
        </p:nvSpPr>
        <p:spPr>
          <a:xfrm>
            <a:off x="5186363" y="1312608"/>
            <a:ext cx="1126927" cy="169664"/>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075985"/>
                </a:solidFill>
                <a:latin typeface="NanumGothic" pitchFamily="34" charset="0"/>
                <a:ea typeface="NanumGothic" pitchFamily="34" charset="-122"/>
                <a:cs typeface="NanumGothic" pitchFamily="34" charset="-120"/>
              </a:rPr>
              <a:t>Our Approach</a:t>
            </a:r>
            <a:endParaRPr lang="en-US" sz="1193" dirty="0"/>
          </a:p>
        </p:txBody>
      </p:sp>
      <p:sp>
        <p:nvSpPr>
          <p:cNvPr id="18" name="Text 12"/>
          <p:cNvSpPr/>
          <p:nvPr/>
        </p:nvSpPr>
        <p:spPr>
          <a:xfrm>
            <a:off x="5072063" y="1590322"/>
            <a:ext cx="3429000" cy="388055"/>
          </a:xfrm>
          <a:prstGeom prst="rect">
            <a:avLst/>
          </a:prstGeom>
          <a:noFill/>
          <a:ln/>
        </p:spPr>
        <p:txBody>
          <a:bodyPr wrap="square" lIns="0" tIns="0" rIns="0" bIns="0" rtlCol="0" anchor="t">
            <a:spAutoFit/>
          </a:bodyPr>
          <a:lstStyle/>
          <a:p>
            <a:pPr marL="127000" indent="-127000">
              <a:lnSpc>
                <a:spcPts val="1600"/>
              </a:lnSpc>
              <a:buSzPct val="100000"/>
              <a:buChar char="•"/>
            </a:pPr>
            <a:r>
              <a:rPr lang="en-US" sz="834" b="1" dirty="0">
                <a:solidFill>
                  <a:srgbClr val="475569"/>
                </a:solidFill>
                <a:latin typeface="NanumGothic" pitchFamily="34" charset="0"/>
                <a:ea typeface="NanumGothic" pitchFamily="34" charset="-122"/>
                <a:cs typeface="NanumGothic" pitchFamily="34" charset="-120"/>
              </a:rPr>
              <a:t>이산사건 시뮬레이션:</a:t>
            </a:r>
            <a:r>
              <a:rPr lang="en-US" sz="888" dirty="0">
                <a:solidFill>
                  <a:srgbClr val="475569"/>
                </a:solidFill>
                <a:latin typeface="NanumGothic" pitchFamily="34" charset="0"/>
                <a:ea typeface="NanumGothic" pitchFamily="34" charset="-122"/>
                <a:cs typeface="NanumGothic" pitchFamily="34" charset="-120"/>
              </a:rPr>
              <a:t> </a:t>
            </a:r>
            <a:r>
              <a:rPr lang="en-US" altLang="ko-KR" sz="888" dirty="0">
                <a:solidFill>
                  <a:srgbClr val="475569"/>
                </a:solidFill>
                <a:latin typeface="NanumGothic" pitchFamily="34" charset="0"/>
                <a:ea typeface="NanumGothic" pitchFamily="34" charset="-122"/>
                <a:cs typeface="NanumGothic" pitchFamily="34" charset="-120"/>
              </a:rPr>
              <a:t>Pure Python </a:t>
            </a:r>
            <a:r>
              <a:rPr lang="ko-KR" altLang="en-US" sz="888" dirty="0">
                <a:solidFill>
                  <a:srgbClr val="475569"/>
                </a:solidFill>
                <a:latin typeface="NanumGothic" pitchFamily="34" charset="0"/>
                <a:ea typeface="NanumGothic" pitchFamily="34" charset="-122"/>
                <a:cs typeface="NanumGothic" pitchFamily="34" charset="-120"/>
              </a:rPr>
              <a:t>기반의 자체 개발 시뮬레이터 구축 </a:t>
            </a:r>
            <a:r>
              <a:rPr lang="en-US" altLang="ko-KR" sz="888" dirty="0">
                <a:solidFill>
                  <a:srgbClr val="475569"/>
                </a:solidFill>
                <a:latin typeface="NanumGothic" pitchFamily="34" charset="0"/>
                <a:ea typeface="NanumGothic" pitchFamily="34" charset="-122"/>
                <a:cs typeface="NanumGothic" pitchFamily="34" charset="-120"/>
              </a:rPr>
              <a:t>(</a:t>
            </a:r>
            <a:r>
              <a:rPr lang="ko-KR" altLang="en-US" sz="888" dirty="0">
                <a:solidFill>
                  <a:srgbClr val="475569"/>
                </a:solidFill>
                <a:latin typeface="NanumGothic" pitchFamily="34" charset="0"/>
                <a:ea typeface="NanumGothic" pitchFamily="34" charset="-122"/>
                <a:cs typeface="NanumGothic" pitchFamily="34" charset="-120"/>
              </a:rPr>
              <a:t>외부 라이브러리 </a:t>
            </a:r>
            <a:r>
              <a:rPr lang="ko-KR" altLang="en-US" sz="888" dirty="0" err="1">
                <a:solidFill>
                  <a:srgbClr val="475569"/>
                </a:solidFill>
                <a:latin typeface="NanumGothic" pitchFamily="34" charset="0"/>
                <a:ea typeface="NanumGothic" pitchFamily="34" charset="-122"/>
                <a:cs typeface="NanumGothic" pitchFamily="34" charset="-120"/>
              </a:rPr>
              <a:t>무의존</a:t>
            </a:r>
            <a:r>
              <a:rPr lang="en-US" altLang="ko-KR" sz="888" dirty="0">
                <a:solidFill>
                  <a:srgbClr val="475569"/>
                </a:solidFill>
                <a:latin typeface="NanumGothic" pitchFamily="34" charset="0"/>
                <a:ea typeface="NanumGothic" pitchFamily="34" charset="-122"/>
                <a:cs typeface="NanumGothic" pitchFamily="34" charset="-120"/>
              </a:rPr>
              <a:t>)</a:t>
            </a:r>
            <a:endParaRPr lang="en-US" sz="834" dirty="0"/>
          </a:p>
        </p:txBody>
      </p:sp>
      <p:sp>
        <p:nvSpPr>
          <p:cNvPr id="19" name="Text 13"/>
          <p:cNvSpPr/>
          <p:nvPr/>
        </p:nvSpPr>
        <p:spPr>
          <a:xfrm>
            <a:off x="5072063" y="2060358"/>
            <a:ext cx="3429000" cy="412886"/>
          </a:xfrm>
          <a:prstGeom prst="rect">
            <a:avLst/>
          </a:prstGeom>
          <a:noFill/>
          <a:ln/>
        </p:spPr>
        <p:txBody>
          <a:bodyPr wrap="square" lIns="0" tIns="0" rIns="0" bIns="0" rtlCol="0" anchor="t">
            <a:spAutoFit/>
          </a:bodyPr>
          <a:lstStyle/>
          <a:p>
            <a:pPr marL="127000" indent="-127000" algn="l">
              <a:lnSpc>
                <a:spcPts val="1600"/>
              </a:lnSpc>
              <a:buSzPct val="100000"/>
              <a:buChar char="•"/>
            </a:pPr>
            <a:r>
              <a:rPr lang="en-US" sz="834" b="1" dirty="0">
                <a:solidFill>
                  <a:srgbClr val="475569"/>
                </a:solidFill>
                <a:latin typeface="NanumGothic" pitchFamily="34" charset="0"/>
                <a:ea typeface="NanumGothic" pitchFamily="34" charset="-122"/>
                <a:cs typeface="NanumGothic" pitchFamily="34" charset="-120"/>
              </a:rPr>
              <a:t>광범위한 시나리오:</a:t>
            </a:r>
            <a:r>
              <a:rPr lang="en-US" sz="888" dirty="0">
                <a:solidFill>
                  <a:srgbClr val="475569"/>
                </a:solidFill>
                <a:latin typeface="NanumGothic" pitchFamily="34" charset="0"/>
                <a:ea typeface="NanumGothic" pitchFamily="34" charset="-122"/>
                <a:cs typeface="NanumGothic" pitchFamily="34" charset="-120"/>
              </a:rPr>
              <a:t> 534개의 실험 조합을 통한 실현가능성(Feasibility) 전수 조사</a:t>
            </a:r>
            <a:endParaRPr lang="en-US" sz="834" dirty="0"/>
          </a:p>
        </p:txBody>
      </p:sp>
      <p:sp>
        <p:nvSpPr>
          <p:cNvPr id="20" name="Text 14"/>
          <p:cNvSpPr/>
          <p:nvPr/>
        </p:nvSpPr>
        <p:spPr>
          <a:xfrm>
            <a:off x="5072063" y="2530394"/>
            <a:ext cx="3515124" cy="182871"/>
          </a:xfrm>
          <a:prstGeom prst="rect">
            <a:avLst/>
          </a:prstGeom>
          <a:noFill/>
          <a:ln/>
        </p:spPr>
        <p:txBody>
          <a:bodyPr wrap="square" lIns="0" tIns="0" rIns="0" bIns="0" rtlCol="0" anchor="t">
            <a:spAutoFit/>
          </a:bodyPr>
          <a:lstStyle/>
          <a:p>
            <a:pPr marL="127000" indent="-127000" algn="l">
              <a:lnSpc>
                <a:spcPts val="1600"/>
              </a:lnSpc>
              <a:buSzPct val="100000"/>
              <a:buChar char="•"/>
            </a:pPr>
            <a:r>
              <a:rPr lang="en-US" sz="834" b="1" dirty="0">
                <a:solidFill>
                  <a:srgbClr val="475569"/>
                </a:solidFill>
                <a:latin typeface="NanumGothic" pitchFamily="34" charset="0"/>
                <a:ea typeface="NanumGothic" pitchFamily="34" charset="-122"/>
                <a:cs typeface="NanumGothic" pitchFamily="34" charset="-120"/>
              </a:rPr>
              <a:t>디자인 공간 매핑:</a:t>
            </a:r>
            <a:r>
              <a:rPr lang="en-US" sz="888" dirty="0">
                <a:solidFill>
                  <a:srgbClr val="475569"/>
                </a:solidFill>
                <a:latin typeface="NanumGothic" pitchFamily="34" charset="0"/>
                <a:ea typeface="NanumGothic" pitchFamily="34" charset="-122"/>
                <a:cs typeface="NanumGothic" pitchFamily="34" charset="-120"/>
              </a:rPr>
              <a:t> 알고리즘별 최적의 네트워크 구성 가이드라인 제시</a:t>
            </a:r>
            <a:endParaRPr lang="en-US" sz="834" dirty="0"/>
          </a:p>
        </p:txBody>
      </p:sp>
      <p:sp>
        <p:nvSpPr>
          <p:cNvPr id="21" name="Shape 15"/>
          <p:cNvSpPr/>
          <p:nvPr/>
        </p:nvSpPr>
        <p:spPr>
          <a:xfrm>
            <a:off x="428625" y="3250462"/>
            <a:ext cx="8286750" cy="1364456"/>
          </a:xfrm>
          <a:prstGeom prst="rect">
            <a:avLst/>
          </a:prstGeom>
          <a:solidFill>
            <a:srgbClr val="F8FAFC"/>
          </a:solidFill>
          <a:ln/>
        </p:spPr>
        <p:txBody>
          <a:bodyPr/>
          <a:lstStyle/>
          <a:p>
            <a:endParaRPr lang="ko-KR" altLang="en-US"/>
          </a:p>
        </p:txBody>
      </p:sp>
      <p:sp>
        <p:nvSpPr>
          <p:cNvPr id="22" name="Shape 16"/>
          <p:cNvSpPr/>
          <p:nvPr/>
        </p:nvSpPr>
        <p:spPr>
          <a:xfrm>
            <a:off x="428625" y="3250462"/>
            <a:ext cx="8286750" cy="7144"/>
          </a:xfrm>
          <a:prstGeom prst="rect">
            <a:avLst/>
          </a:prstGeom>
          <a:solidFill>
            <a:srgbClr val="E2E8F0"/>
          </a:solidFill>
          <a:ln/>
        </p:spPr>
        <p:txBody>
          <a:bodyPr/>
          <a:lstStyle/>
          <a:p>
            <a:endParaRPr lang="ko-KR" altLang="en-US"/>
          </a:p>
        </p:txBody>
      </p:sp>
      <p:pic>
        <p:nvPicPr>
          <p:cNvPr id="23" name="Image 3" descr="preencoded.png"/>
          <p:cNvPicPr>
            <a:picLocks noChangeAspect="1"/>
          </p:cNvPicPr>
          <p:nvPr/>
        </p:nvPicPr>
        <p:blipFill>
          <a:blip r:embed="rId6"/>
          <a:stretch>
            <a:fillRect/>
          </a:stretch>
        </p:blipFill>
        <p:spPr>
          <a:xfrm>
            <a:off x="1808541" y="3482634"/>
            <a:ext cx="192881" cy="171450"/>
          </a:xfrm>
          <a:prstGeom prst="rect">
            <a:avLst/>
          </a:prstGeom>
        </p:spPr>
      </p:pic>
      <p:sp>
        <p:nvSpPr>
          <p:cNvPr id="24" name="Text 17"/>
          <p:cNvSpPr/>
          <p:nvPr/>
        </p:nvSpPr>
        <p:spPr>
          <a:xfrm>
            <a:off x="642938" y="3750525"/>
            <a:ext cx="2524116" cy="128588"/>
          </a:xfrm>
          <a:prstGeom prst="rect">
            <a:avLst/>
          </a:prstGeom>
          <a:noFill/>
          <a:ln/>
        </p:spPr>
        <p:txBody>
          <a:bodyPr wrap="none" lIns="0" tIns="0" rIns="0" bIns="0" rtlCol="0" anchor="t">
            <a:spAutoFit/>
          </a:bodyPr>
          <a:lstStyle/>
          <a:p>
            <a:pPr marL="0" indent="0" algn="ctr">
              <a:lnSpc>
                <a:spcPts val="1200"/>
              </a:lnSpc>
              <a:buNone/>
            </a:pPr>
            <a:r>
              <a:rPr lang="en-US" sz="885" b="1" dirty="0">
                <a:solidFill>
                  <a:srgbClr val="0F172A"/>
                </a:solidFill>
                <a:latin typeface="NanumGothic" pitchFamily="34" charset="0"/>
                <a:ea typeface="NanumGothic" pitchFamily="34" charset="-122"/>
                <a:cs typeface="NanumGothic" pitchFamily="34" charset="-120"/>
              </a:rPr>
              <a:t>Feasibility Mapping</a:t>
            </a:r>
            <a:endParaRPr lang="en-US" sz="885" dirty="0"/>
          </a:p>
        </p:txBody>
      </p:sp>
      <p:sp>
        <p:nvSpPr>
          <p:cNvPr id="25" name="Text 18"/>
          <p:cNvSpPr/>
          <p:nvPr/>
        </p:nvSpPr>
        <p:spPr>
          <a:xfrm>
            <a:off x="642938" y="3914831"/>
            <a:ext cx="2524116" cy="280002"/>
          </a:xfrm>
          <a:prstGeom prst="rect">
            <a:avLst/>
          </a:prstGeom>
          <a:noFill/>
          <a:ln/>
        </p:spPr>
        <p:txBody>
          <a:bodyPr wrap="square" lIns="0" tIns="0" rIns="0" bIns="0" rtlCol="0" anchor="t">
            <a:spAutoFit/>
          </a:bodyPr>
          <a:lstStyle/>
          <a:p>
            <a:pPr marL="0" indent="0" algn="ctr">
              <a:lnSpc>
                <a:spcPts val="1100"/>
              </a:lnSpc>
              <a:buNone/>
            </a:pPr>
            <a:r>
              <a:rPr lang="en-US" sz="727" dirty="0">
                <a:solidFill>
                  <a:srgbClr val="64748B"/>
                </a:solidFill>
                <a:latin typeface="NanumGothic" pitchFamily="34" charset="0"/>
                <a:ea typeface="NanumGothic" pitchFamily="34" charset="-122"/>
                <a:cs typeface="NanumGothic" pitchFamily="34" charset="-120"/>
              </a:rPr>
              <a:t>다양한 네트워크 부하 조건별
PQC 전송 가능 여부 정량화</a:t>
            </a:r>
            <a:endParaRPr lang="en-US" sz="727" dirty="0"/>
          </a:p>
        </p:txBody>
      </p:sp>
      <p:pic>
        <p:nvPicPr>
          <p:cNvPr id="26" name="Image 4" descr="preencoded.png"/>
          <p:cNvPicPr>
            <a:picLocks noChangeAspect="1"/>
          </p:cNvPicPr>
          <p:nvPr/>
        </p:nvPicPr>
        <p:blipFill>
          <a:blip r:embed="rId7"/>
          <a:stretch>
            <a:fillRect/>
          </a:stretch>
        </p:blipFill>
        <p:spPr>
          <a:xfrm>
            <a:off x="4486247" y="3482634"/>
            <a:ext cx="171450" cy="171450"/>
          </a:xfrm>
          <a:prstGeom prst="rect">
            <a:avLst/>
          </a:prstGeom>
        </p:spPr>
      </p:pic>
      <p:sp>
        <p:nvSpPr>
          <p:cNvPr id="27" name="Text 19"/>
          <p:cNvSpPr/>
          <p:nvPr/>
        </p:nvSpPr>
        <p:spPr>
          <a:xfrm>
            <a:off x="3309928" y="3750525"/>
            <a:ext cx="2524116" cy="128588"/>
          </a:xfrm>
          <a:prstGeom prst="rect">
            <a:avLst/>
          </a:prstGeom>
          <a:noFill/>
          <a:ln/>
        </p:spPr>
        <p:txBody>
          <a:bodyPr wrap="none" lIns="0" tIns="0" rIns="0" bIns="0" rtlCol="0" anchor="t">
            <a:spAutoFit/>
          </a:bodyPr>
          <a:lstStyle/>
          <a:p>
            <a:pPr marL="0" indent="0" algn="ctr">
              <a:lnSpc>
                <a:spcPts val="1200"/>
              </a:lnSpc>
              <a:buNone/>
            </a:pPr>
            <a:r>
              <a:rPr lang="en-US" sz="885" b="1" dirty="0">
                <a:solidFill>
                  <a:srgbClr val="0F172A"/>
                </a:solidFill>
                <a:latin typeface="NanumGothic" pitchFamily="34" charset="0"/>
                <a:ea typeface="NanumGothic" pitchFamily="34" charset="-122"/>
                <a:cs typeface="NanumGothic" pitchFamily="34" charset="-120"/>
              </a:rPr>
              <a:t>Performance Analysis</a:t>
            </a:r>
            <a:endParaRPr lang="en-US" sz="885" dirty="0"/>
          </a:p>
        </p:txBody>
      </p:sp>
      <p:sp>
        <p:nvSpPr>
          <p:cNvPr id="28" name="Text 20"/>
          <p:cNvSpPr/>
          <p:nvPr/>
        </p:nvSpPr>
        <p:spPr>
          <a:xfrm>
            <a:off x="3309928" y="3914831"/>
            <a:ext cx="2524116" cy="280002"/>
          </a:xfrm>
          <a:prstGeom prst="rect">
            <a:avLst/>
          </a:prstGeom>
          <a:noFill/>
          <a:ln/>
        </p:spPr>
        <p:txBody>
          <a:bodyPr wrap="square" lIns="0" tIns="0" rIns="0" bIns="0" rtlCol="0" anchor="t">
            <a:spAutoFit/>
          </a:bodyPr>
          <a:lstStyle/>
          <a:p>
            <a:pPr marL="0" indent="0" algn="ctr">
              <a:lnSpc>
                <a:spcPts val="1100"/>
              </a:lnSpc>
              <a:buNone/>
            </a:pPr>
            <a:r>
              <a:rPr lang="en-US" sz="727" dirty="0">
                <a:solidFill>
                  <a:srgbClr val="64748B"/>
                </a:solidFill>
                <a:latin typeface="NanumGothic" pitchFamily="34" charset="0"/>
                <a:ea typeface="NanumGothic" pitchFamily="34" charset="-122"/>
                <a:cs typeface="NanumGothic" pitchFamily="34" charset="-120"/>
              </a:rPr>
              <a:t>NIST 및 KpqC 후보군 간의
차량 네트워크 적합성 비교</a:t>
            </a:r>
            <a:endParaRPr lang="en-US" sz="727" dirty="0"/>
          </a:p>
        </p:txBody>
      </p:sp>
      <p:pic>
        <p:nvPicPr>
          <p:cNvPr id="29" name="Image 5" descr="preencoded.png"/>
          <p:cNvPicPr>
            <a:picLocks noChangeAspect="1"/>
          </p:cNvPicPr>
          <p:nvPr/>
        </p:nvPicPr>
        <p:blipFill>
          <a:blip r:embed="rId8"/>
          <a:stretch>
            <a:fillRect/>
          </a:stretch>
        </p:blipFill>
        <p:spPr>
          <a:xfrm>
            <a:off x="7153266" y="3482634"/>
            <a:ext cx="171450" cy="171450"/>
          </a:xfrm>
          <a:prstGeom prst="rect">
            <a:avLst/>
          </a:prstGeom>
        </p:spPr>
      </p:pic>
      <p:sp>
        <p:nvSpPr>
          <p:cNvPr id="30" name="Text 21"/>
          <p:cNvSpPr/>
          <p:nvPr/>
        </p:nvSpPr>
        <p:spPr>
          <a:xfrm>
            <a:off x="5976919" y="3750525"/>
            <a:ext cx="2524144" cy="128588"/>
          </a:xfrm>
          <a:prstGeom prst="rect">
            <a:avLst/>
          </a:prstGeom>
          <a:noFill/>
          <a:ln/>
        </p:spPr>
        <p:txBody>
          <a:bodyPr wrap="none" lIns="0" tIns="0" rIns="0" bIns="0" rtlCol="0" anchor="t">
            <a:spAutoFit/>
          </a:bodyPr>
          <a:lstStyle/>
          <a:p>
            <a:pPr marL="0" indent="0" algn="ctr">
              <a:lnSpc>
                <a:spcPts val="1200"/>
              </a:lnSpc>
              <a:buNone/>
            </a:pPr>
            <a:r>
              <a:rPr lang="en-US" sz="885" b="1" dirty="0">
                <a:solidFill>
                  <a:srgbClr val="0F172A"/>
                </a:solidFill>
                <a:latin typeface="NanumGothic" pitchFamily="34" charset="0"/>
                <a:ea typeface="NanumGothic" pitchFamily="34" charset="-122"/>
                <a:cs typeface="NanumGothic" pitchFamily="34" charset="-120"/>
              </a:rPr>
              <a:t>Mitigation Strategies</a:t>
            </a:r>
            <a:endParaRPr lang="en-US" sz="885" dirty="0"/>
          </a:p>
        </p:txBody>
      </p:sp>
      <p:sp>
        <p:nvSpPr>
          <p:cNvPr id="31" name="Text 22"/>
          <p:cNvSpPr/>
          <p:nvPr/>
        </p:nvSpPr>
        <p:spPr>
          <a:xfrm>
            <a:off x="5976919" y="3914831"/>
            <a:ext cx="2524144" cy="280002"/>
          </a:xfrm>
          <a:prstGeom prst="rect">
            <a:avLst/>
          </a:prstGeom>
          <a:noFill/>
          <a:ln/>
        </p:spPr>
        <p:txBody>
          <a:bodyPr wrap="square" lIns="0" tIns="0" rIns="0" bIns="0" rtlCol="0" anchor="t">
            <a:spAutoFit/>
          </a:bodyPr>
          <a:lstStyle/>
          <a:p>
            <a:pPr marL="0" indent="0" algn="ctr">
              <a:lnSpc>
                <a:spcPts val="1100"/>
              </a:lnSpc>
              <a:buNone/>
            </a:pPr>
            <a:r>
              <a:rPr lang="en-US" sz="727" dirty="0">
                <a:solidFill>
                  <a:srgbClr val="64748B"/>
                </a:solidFill>
                <a:latin typeface="NanumGothic" pitchFamily="34" charset="0"/>
                <a:ea typeface="NanumGothic" pitchFamily="34" charset="-122"/>
                <a:cs typeface="NanumGothic" pitchFamily="34" charset="-120"/>
              </a:rPr>
              <a:t>전송 지연 해결을 위한
시스템 레벨의 완화 전략 제안</a:t>
            </a:r>
            <a:endParaRPr lang="en-US" sz="727" dirty="0"/>
          </a:p>
        </p:txBody>
      </p:sp>
      <p:sp>
        <p:nvSpPr>
          <p:cNvPr id="32" name="Text 23"/>
          <p:cNvSpPr/>
          <p:nvPr/>
        </p:nvSpPr>
        <p:spPr>
          <a:xfrm>
            <a:off x="0" y="4875609"/>
            <a:ext cx="9144000" cy="125016"/>
          </a:xfrm>
          <a:prstGeom prst="rect">
            <a:avLst/>
          </a:prstGeom>
          <a:noFill/>
          <a:ln/>
        </p:spPr>
        <p:txBody>
          <a:bodyPr wrap="none" lIns="0" tIns="0" rIns="0" bIns="0" rtlCol="0" anchor="t">
            <a:spAutoFit/>
          </a:bodyPr>
          <a:lstStyle/>
          <a:p>
            <a:pPr marL="0" indent="0" algn="ctr">
              <a:lnSpc>
                <a:spcPts val="900"/>
              </a:lnSpc>
              <a:buNone/>
            </a:pPr>
            <a:r>
              <a:rPr lang="en-US" sz="727" dirty="0">
                <a:solidFill>
                  <a:srgbClr val="94A3B8"/>
                </a:solidFill>
                <a:latin typeface="NanumGothic" pitchFamily="34" charset="0"/>
                <a:ea typeface="NanumGothic" pitchFamily="34" charset="-122"/>
                <a:cs typeface="NanumGothic" pitchFamily="34" charset="-120"/>
              </a:rPr>
              <a:t>3</a:t>
            </a:r>
            <a:endParaRPr lang="en-US" sz="727"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0" y="0"/>
            <a:ext cx="9144000" cy="797365"/>
          </a:xfrm>
          <a:prstGeom prst="rect">
            <a:avLst/>
          </a:prstGeom>
          <a:solidFill>
            <a:srgbClr val="000000">
              <a:alpha val="0"/>
            </a:srgbClr>
          </a:solidFill>
          <a:ln/>
        </p:spPr>
        <p:txBody>
          <a:bodyPr/>
          <a:lstStyle/>
          <a:p>
            <a:endParaRPr lang="ko-KR" altLang="en-US"/>
          </a:p>
        </p:txBody>
      </p:sp>
      <p:sp>
        <p:nvSpPr>
          <p:cNvPr id="5" name="Shape 1"/>
          <p:cNvSpPr/>
          <p:nvPr/>
        </p:nvSpPr>
        <p:spPr>
          <a:xfrm>
            <a:off x="0" y="783078"/>
            <a:ext cx="9144000" cy="14288"/>
          </a:xfrm>
          <a:prstGeom prst="rect">
            <a:avLst/>
          </a:prstGeom>
          <a:solidFill>
            <a:srgbClr val="F1F5F9"/>
          </a:solidFill>
          <a:ln/>
        </p:spPr>
        <p:txBody>
          <a:bodyPr/>
          <a:lstStyle/>
          <a:p>
            <a:endParaRPr lang="ko-KR" altLang="en-US"/>
          </a:p>
        </p:txBody>
      </p:sp>
      <p:sp>
        <p:nvSpPr>
          <p:cNvPr id="6" name="Text 2"/>
          <p:cNvSpPr/>
          <p:nvPr/>
        </p:nvSpPr>
        <p:spPr>
          <a:xfrm>
            <a:off x="428625" y="458037"/>
            <a:ext cx="8715375" cy="253603"/>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0F172A"/>
                </a:solidFill>
                <a:latin typeface="NanumGothic" pitchFamily="34" charset="0"/>
                <a:ea typeface="NanumGothic" pitchFamily="34" charset="-122"/>
                <a:cs typeface="NanumGothic" pitchFamily="34" charset="-120"/>
              </a:rPr>
              <a:t>시스템 모델</a:t>
            </a:r>
            <a:endParaRPr lang="en-US" sz="1808" dirty="0"/>
          </a:p>
        </p:txBody>
      </p:sp>
      <p:sp>
        <p:nvSpPr>
          <p:cNvPr id="7" name="Text 3"/>
          <p:cNvSpPr/>
          <p:nvPr/>
        </p:nvSpPr>
        <p:spPr>
          <a:xfrm>
            <a:off x="428625" y="1054540"/>
            <a:ext cx="4071938" cy="194667"/>
          </a:xfrm>
          <a:prstGeom prst="rect">
            <a:avLst/>
          </a:prstGeom>
          <a:noFill/>
          <a:ln/>
        </p:spPr>
        <p:txBody>
          <a:bodyPr wrap="none" lIns="170053" tIns="0" rIns="0" bIns="0" rtlCol="0" anchor="t">
            <a:spAutoFit/>
          </a:bodyPr>
          <a:lstStyle/>
          <a:p>
            <a:pPr marL="0" indent="0" algn="l">
              <a:lnSpc>
                <a:spcPts val="1500"/>
              </a:lnSpc>
              <a:buNone/>
            </a:pPr>
            <a:r>
              <a:rPr lang="en-US" sz="885" b="1" dirty="0">
                <a:solidFill>
                  <a:srgbClr val="334155"/>
                </a:solidFill>
                <a:latin typeface="NanumGothic" pitchFamily="34" charset="0"/>
                <a:ea typeface="NanumGothic" pitchFamily="34" charset="-122"/>
                <a:cs typeface="NanumGothic" pitchFamily="34" charset="-120"/>
              </a:rPr>
              <a:t>CAN-FD 버스:</a:t>
            </a:r>
            <a:r>
              <a:rPr lang="en-US" sz="942" dirty="0">
                <a:solidFill>
                  <a:srgbClr val="334155"/>
                </a:solidFill>
                <a:latin typeface="NanumGothic" pitchFamily="34" charset="0"/>
                <a:ea typeface="NanumGothic" pitchFamily="34" charset="-122"/>
                <a:cs typeface="NanumGothic" pitchFamily="34" charset="-120"/>
              </a:rPr>
              <a:t> 1Mbps (arb) / 5Mbps (data), 64B 프레임</a:t>
            </a:r>
            <a:endParaRPr lang="en-US" sz="885" dirty="0"/>
          </a:p>
        </p:txBody>
      </p:sp>
      <p:sp>
        <p:nvSpPr>
          <p:cNvPr id="8" name="Text 4"/>
          <p:cNvSpPr/>
          <p:nvPr/>
        </p:nvSpPr>
        <p:spPr>
          <a:xfrm>
            <a:off x="428625" y="1292070"/>
            <a:ext cx="4071938" cy="194667"/>
          </a:xfrm>
          <a:prstGeom prst="rect">
            <a:avLst/>
          </a:prstGeom>
          <a:noFill/>
          <a:ln/>
        </p:spPr>
        <p:txBody>
          <a:bodyPr wrap="none" lIns="170053" tIns="0" rIns="0" bIns="0" rtlCol="0" anchor="t">
            <a:spAutoFit/>
          </a:bodyPr>
          <a:lstStyle/>
          <a:p>
            <a:pPr marL="0" indent="0" algn="l">
              <a:lnSpc>
                <a:spcPts val="1500"/>
              </a:lnSpc>
              <a:buNone/>
            </a:pPr>
            <a:r>
              <a:rPr lang="en-US" sz="885" b="1" dirty="0">
                <a:solidFill>
                  <a:srgbClr val="334155"/>
                </a:solidFill>
                <a:latin typeface="NanumGothic" pitchFamily="34" charset="0"/>
                <a:ea typeface="NanumGothic" pitchFamily="34" charset="-122"/>
                <a:cs typeface="NanumGothic" pitchFamily="34" charset="-120"/>
              </a:rPr>
              <a:t>N_ECU:</a:t>
            </a:r>
            <a:r>
              <a:rPr lang="en-US" sz="942" dirty="0">
                <a:solidFill>
                  <a:srgbClr val="334155"/>
                </a:solidFill>
                <a:latin typeface="NanumGothic" pitchFamily="34" charset="0"/>
                <a:ea typeface="NanumGothic" pitchFamily="34" charset="-122"/>
                <a:cs typeface="NanumGothic" pitchFamily="34" charset="-120"/>
              </a:rPr>
              <a:t> {4, 8, 16} (소규모 도메인 ~ 풀세그먼트)</a:t>
            </a:r>
            <a:endParaRPr lang="en-US" sz="885" dirty="0"/>
          </a:p>
        </p:txBody>
      </p:sp>
      <p:sp>
        <p:nvSpPr>
          <p:cNvPr id="9" name="Text 5"/>
          <p:cNvSpPr/>
          <p:nvPr/>
        </p:nvSpPr>
        <p:spPr>
          <a:xfrm>
            <a:off x="428625" y="1529600"/>
            <a:ext cx="4050981" cy="174984"/>
          </a:xfrm>
          <a:prstGeom prst="rect">
            <a:avLst/>
          </a:prstGeom>
          <a:noFill/>
          <a:ln/>
        </p:spPr>
        <p:txBody>
          <a:bodyPr wrap="none" lIns="170053" tIns="0" rIns="0" bIns="0" rtlCol="0" anchor="t">
            <a:spAutoFit/>
          </a:bodyPr>
          <a:lstStyle/>
          <a:p>
            <a:pPr marL="0" indent="0" algn="l">
              <a:lnSpc>
                <a:spcPts val="1500"/>
              </a:lnSpc>
              <a:buNone/>
            </a:pPr>
            <a:r>
              <a:rPr lang="en-US" sz="885" b="1" dirty="0">
                <a:solidFill>
                  <a:srgbClr val="334155"/>
                </a:solidFill>
                <a:latin typeface="NanumGothic" pitchFamily="34" charset="0"/>
                <a:ea typeface="NanumGothic" pitchFamily="34" charset="-122"/>
                <a:cs typeface="NanumGothic" pitchFamily="34" charset="-120"/>
              </a:rPr>
              <a:t>배경 트래픽:</a:t>
            </a:r>
            <a:r>
              <a:rPr lang="en-US" sz="942" dirty="0">
                <a:solidFill>
                  <a:srgbClr val="334155"/>
                </a:solidFill>
                <a:latin typeface="NanumGothic" pitchFamily="34" charset="0"/>
                <a:ea typeface="NanumGothic" pitchFamily="34" charset="-122"/>
                <a:cs typeface="NanumGothic" pitchFamily="34" charset="-120"/>
              </a:rPr>
              <a:t> 3종 (light, typical, heavy), ρ ∈ {40, 60, 80}% (Phase B는 20% 포함)</a:t>
            </a:r>
            <a:endParaRPr lang="en-US" sz="885" dirty="0"/>
          </a:p>
        </p:txBody>
      </p:sp>
      <p:sp>
        <p:nvSpPr>
          <p:cNvPr id="10" name="Text 6"/>
          <p:cNvSpPr/>
          <p:nvPr/>
        </p:nvSpPr>
        <p:spPr>
          <a:xfrm>
            <a:off x="428625" y="1054540"/>
            <a:ext cx="121444"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2563EB"/>
                </a:solidFill>
                <a:latin typeface="NanumGothic" pitchFamily="34" charset="0"/>
                <a:ea typeface="NanumGothic" pitchFamily="34" charset="-122"/>
                <a:cs typeface="NanumGothic" pitchFamily="34" charset="-120"/>
              </a:rPr>
              <a:t>•</a:t>
            </a:r>
            <a:endParaRPr lang="en-US" sz="885" dirty="0"/>
          </a:p>
        </p:txBody>
      </p:sp>
      <p:sp>
        <p:nvSpPr>
          <p:cNvPr id="11" name="Text 7"/>
          <p:cNvSpPr/>
          <p:nvPr/>
        </p:nvSpPr>
        <p:spPr>
          <a:xfrm>
            <a:off x="428625" y="1292070"/>
            <a:ext cx="121444"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2563EB"/>
                </a:solidFill>
                <a:latin typeface="NanumGothic" pitchFamily="34" charset="0"/>
                <a:ea typeface="NanumGothic" pitchFamily="34" charset="-122"/>
                <a:cs typeface="NanumGothic" pitchFamily="34" charset="-120"/>
              </a:rPr>
              <a:t>•</a:t>
            </a:r>
            <a:endParaRPr lang="en-US" sz="885" dirty="0"/>
          </a:p>
        </p:txBody>
      </p:sp>
      <p:sp>
        <p:nvSpPr>
          <p:cNvPr id="12" name="Text 8"/>
          <p:cNvSpPr/>
          <p:nvPr/>
        </p:nvSpPr>
        <p:spPr>
          <a:xfrm>
            <a:off x="428625" y="1529600"/>
            <a:ext cx="121444"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2563EB"/>
                </a:solidFill>
                <a:latin typeface="NanumGothic" pitchFamily="34" charset="0"/>
                <a:ea typeface="NanumGothic" pitchFamily="34" charset="-122"/>
                <a:cs typeface="NanumGothic" pitchFamily="34" charset="-120"/>
              </a:rPr>
              <a:t>•</a:t>
            </a:r>
            <a:endParaRPr lang="en-US" sz="885" dirty="0"/>
          </a:p>
        </p:txBody>
      </p:sp>
      <p:sp>
        <p:nvSpPr>
          <p:cNvPr id="13" name="Text 9"/>
          <p:cNvSpPr/>
          <p:nvPr/>
        </p:nvSpPr>
        <p:spPr>
          <a:xfrm>
            <a:off x="4643438" y="1054540"/>
            <a:ext cx="4071938" cy="387548"/>
          </a:xfrm>
          <a:prstGeom prst="rect">
            <a:avLst/>
          </a:prstGeom>
          <a:noFill/>
          <a:ln/>
        </p:spPr>
        <p:txBody>
          <a:bodyPr wrap="square" lIns="170053" tIns="0" rIns="0" bIns="0" rtlCol="0" anchor="t">
            <a:spAutoFit/>
          </a:bodyPr>
          <a:lstStyle/>
          <a:p>
            <a:pPr marL="0" indent="0" algn="l">
              <a:lnSpc>
                <a:spcPts val="1500"/>
              </a:lnSpc>
              <a:buNone/>
            </a:pPr>
            <a:r>
              <a:rPr lang="en-US" sz="885" b="1" dirty="0">
                <a:solidFill>
                  <a:srgbClr val="334155"/>
                </a:solidFill>
                <a:latin typeface="NanumGothic" pitchFamily="34" charset="0"/>
                <a:ea typeface="NanumGothic" pitchFamily="34" charset="-122"/>
                <a:cs typeface="NanumGothic" pitchFamily="34" charset="-120"/>
              </a:rPr>
              <a:t>KEM:</a:t>
            </a:r>
            <a:r>
              <a:rPr lang="en-US" sz="942" dirty="0">
                <a:solidFill>
                  <a:srgbClr val="334155"/>
                </a:solidFill>
                <a:latin typeface="NanumGothic" pitchFamily="34" charset="0"/>
                <a:ea typeface="NanumGothic" pitchFamily="34" charset="-122"/>
                <a:cs typeface="NanumGothic" pitchFamily="34" charset="-120"/>
              </a:rPr>
              <a:t> Gateway→PK 브로드캐스트, ECU→CT 응답
(simultaneous vs staggered 5ms)</a:t>
            </a:r>
            <a:endParaRPr lang="en-US" sz="885" dirty="0"/>
          </a:p>
        </p:txBody>
      </p:sp>
      <p:sp>
        <p:nvSpPr>
          <p:cNvPr id="14" name="Text 10"/>
          <p:cNvSpPr/>
          <p:nvPr/>
        </p:nvSpPr>
        <p:spPr>
          <a:xfrm>
            <a:off x="4643438" y="1484951"/>
            <a:ext cx="4071938" cy="194667"/>
          </a:xfrm>
          <a:prstGeom prst="rect">
            <a:avLst/>
          </a:prstGeom>
          <a:noFill/>
          <a:ln/>
        </p:spPr>
        <p:txBody>
          <a:bodyPr wrap="none" lIns="170053" tIns="0" rIns="0" bIns="0" rtlCol="0" anchor="t">
            <a:spAutoFit/>
          </a:bodyPr>
          <a:lstStyle/>
          <a:p>
            <a:pPr marL="0" indent="0" algn="l">
              <a:lnSpc>
                <a:spcPts val="1500"/>
              </a:lnSpc>
              <a:buNone/>
            </a:pPr>
            <a:r>
              <a:rPr lang="en-US" sz="885" b="1" dirty="0">
                <a:solidFill>
                  <a:srgbClr val="334155"/>
                </a:solidFill>
                <a:latin typeface="NanumGothic" pitchFamily="34" charset="0"/>
                <a:ea typeface="NanumGothic" pitchFamily="34" charset="-122"/>
                <a:cs typeface="NanumGothic" pitchFamily="34" charset="-120"/>
              </a:rPr>
              <a:t>DSA:</a:t>
            </a:r>
            <a:r>
              <a:rPr lang="en-US" sz="942" dirty="0">
                <a:solidFill>
                  <a:srgbClr val="334155"/>
                </a:solidFill>
                <a:latin typeface="NanumGothic" pitchFamily="34" charset="0"/>
                <a:ea typeface="NanumGothic" pitchFamily="34" charset="-122"/>
                <a:cs typeface="NanumGothic" pitchFamily="34" charset="-120"/>
              </a:rPr>
              <a:t> 단일 ECU→PK+Signature (진단 인증, N_ECU=1)</a:t>
            </a:r>
            <a:endParaRPr lang="en-US" sz="885" dirty="0"/>
          </a:p>
        </p:txBody>
      </p:sp>
      <p:sp>
        <p:nvSpPr>
          <p:cNvPr id="16" name="Text 12"/>
          <p:cNvSpPr/>
          <p:nvPr/>
        </p:nvSpPr>
        <p:spPr>
          <a:xfrm>
            <a:off x="4643438" y="1054540"/>
            <a:ext cx="121444"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2563EB"/>
                </a:solidFill>
                <a:latin typeface="NanumGothic" pitchFamily="34" charset="0"/>
                <a:ea typeface="NanumGothic" pitchFamily="34" charset="-122"/>
                <a:cs typeface="NanumGothic" pitchFamily="34" charset="-120"/>
              </a:rPr>
              <a:t>•</a:t>
            </a:r>
            <a:endParaRPr lang="en-US" sz="885" dirty="0"/>
          </a:p>
        </p:txBody>
      </p:sp>
      <p:sp>
        <p:nvSpPr>
          <p:cNvPr id="17" name="Text 13"/>
          <p:cNvSpPr/>
          <p:nvPr/>
        </p:nvSpPr>
        <p:spPr>
          <a:xfrm>
            <a:off x="4643438" y="1484951"/>
            <a:ext cx="121444"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2563EB"/>
                </a:solidFill>
                <a:latin typeface="NanumGothic" pitchFamily="34" charset="0"/>
                <a:ea typeface="NanumGothic" pitchFamily="34" charset="-122"/>
                <a:cs typeface="NanumGothic" pitchFamily="34" charset="-120"/>
              </a:rPr>
              <a:t>•</a:t>
            </a:r>
            <a:endParaRPr lang="en-US" sz="885" dirty="0"/>
          </a:p>
        </p:txBody>
      </p:sp>
      <p:sp>
        <p:nvSpPr>
          <p:cNvPr id="18" name="Text 14"/>
          <p:cNvSpPr/>
          <p:nvPr/>
        </p:nvSpPr>
        <p:spPr>
          <a:xfrm>
            <a:off x="2742307" y="4659510"/>
            <a:ext cx="3659386" cy="169664"/>
          </a:xfrm>
          <a:prstGeom prst="rect">
            <a:avLst/>
          </a:prstGeom>
          <a:noFill/>
          <a:ln/>
        </p:spPr>
        <p:txBody>
          <a:bodyPr wrap="none" lIns="0" tIns="0" rIns="0" bIns="0" rtlCol="0" anchor="t">
            <a:spAutoFit/>
          </a:bodyPr>
          <a:lstStyle/>
          <a:p>
            <a:pPr marL="0" indent="0" algn="ctr">
              <a:lnSpc>
                <a:spcPts val="1600"/>
              </a:lnSpc>
              <a:buNone/>
            </a:pPr>
            <a:r>
              <a:rPr lang="en-US" sz="1193" b="1" dirty="0">
                <a:solidFill>
                  <a:srgbClr val="64748B"/>
                </a:solidFill>
                <a:latin typeface="NanumGothic" pitchFamily="34" charset="0"/>
                <a:ea typeface="NanumGothic" pitchFamily="34" charset="-122"/>
                <a:cs typeface="NanumGothic" pitchFamily="34" charset="-120"/>
              </a:rPr>
              <a:t>Figure 1: PQC Workload Injection Architecture</a:t>
            </a:r>
            <a:endParaRPr lang="en-US" sz="1193" dirty="0"/>
          </a:p>
        </p:txBody>
      </p:sp>
      <p:sp>
        <p:nvSpPr>
          <p:cNvPr id="19" name="Text 15"/>
          <p:cNvSpPr/>
          <p:nvPr/>
        </p:nvSpPr>
        <p:spPr>
          <a:xfrm>
            <a:off x="0" y="4875609"/>
            <a:ext cx="9144000" cy="125016"/>
          </a:xfrm>
          <a:prstGeom prst="rect">
            <a:avLst/>
          </a:prstGeom>
          <a:noFill/>
          <a:ln/>
        </p:spPr>
        <p:txBody>
          <a:bodyPr wrap="none" lIns="0" tIns="0" rIns="0" bIns="0" rtlCol="0" anchor="t">
            <a:spAutoFit/>
          </a:bodyPr>
          <a:lstStyle/>
          <a:p>
            <a:pPr marL="0" indent="0" algn="ctr">
              <a:lnSpc>
                <a:spcPts val="900"/>
              </a:lnSpc>
              <a:buNone/>
            </a:pPr>
            <a:r>
              <a:rPr lang="en-US" sz="727" dirty="0">
                <a:solidFill>
                  <a:srgbClr val="94A3B8"/>
                </a:solidFill>
                <a:latin typeface="NanumGothic" pitchFamily="34" charset="0"/>
                <a:ea typeface="NanumGothic" pitchFamily="34" charset="-122"/>
                <a:cs typeface="NanumGothic" pitchFamily="34" charset="-120"/>
              </a:rPr>
              <a:t>4</a:t>
            </a:r>
            <a:endParaRPr lang="en-US" sz="727" dirty="0"/>
          </a:p>
        </p:txBody>
      </p:sp>
      <p:pic>
        <p:nvPicPr>
          <p:cNvPr id="20" name="그림 19">
            <a:extLst>
              <a:ext uri="{FF2B5EF4-FFF2-40B4-BE49-F238E27FC236}">
                <a16:creationId xmlns:a16="http://schemas.microsoft.com/office/drawing/2014/main" id="{D55957C8-495F-0256-14C5-A9BEBE0CB218}"/>
              </a:ext>
            </a:extLst>
          </p:cNvPr>
          <p:cNvPicPr>
            <a:picLocks noChangeAspect="1"/>
          </p:cNvPicPr>
          <p:nvPr/>
        </p:nvPicPr>
        <p:blipFill>
          <a:blip r:embed="rId4"/>
          <a:stretch>
            <a:fillRect/>
          </a:stretch>
        </p:blipFill>
        <p:spPr>
          <a:xfrm>
            <a:off x="1837560" y="1871961"/>
            <a:ext cx="5326005" cy="2750044"/>
          </a:xfrm>
          <a:prstGeom prst="rect">
            <a:avLst/>
          </a:prstGeom>
        </p:spPr>
      </p:pic>
    </p:spTree>
    <p:extLst>
      <p:ext uri="{BB962C8B-B14F-4D97-AF65-F5344CB8AC3E}">
        <p14:creationId xmlns:p14="http://schemas.microsoft.com/office/powerpoint/2010/main" val="38564864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0" y="0"/>
            <a:ext cx="9144000" cy="797365"/>
          </a:xfrm>
          <a:prstGeom prst="rect">
            <a:avLst/>
          </a:prstGeom>
          <a:solidFill>
            <a:srgbClr val="000000">
              <a:alpha val="0"/>
            </a:srgbClr>
          </a:solidFill>
          <a:ln/>
        </p:spPr>
        <p:txBody>
          <a:bodyPr/>
          <a:lstStyle/>
          <a:p>
            <a:endParaRPr lang="ko-KR" altLang="en-US"/>
          </a:p>
        </p:txBody>
      </p:sp>
      <p:sp>
        <p:nvSpPr>
          <p:cNvPr id="5" name="Shape 1"/>
          <p:cNvSpPr/>
          <p:nvPr/>
        </p:nvSpPr>
        <p:spPr>
          <a:xfrm>
            <a:off x="0" y="783078"/>
            <a:ext cx="9144000" cy="14288"/>
          </a:xfrm>
          <a:prstGeom prst="rect">
            <a:avLst/>
          </a:prstGeom>
          <a:solidFill>
            <a:srgbClr val="F1F5F9"/>
          </a:solidFill>
          <a:ln/>
        </p:spPr>
        <p:txBody>
          <a:bodyPr/>
          <a:lstStyle/>
          <a:p>
            <a:endParaRPr lang="ko-KR" altLang="en-US"/>
          </a:p>
        </p:txBody>
      </p:sp>
      <p:sp>
        <p:nvSpPr>
          <p:cNvPr id="6" name="Text 2"/>
          <p:cNvSpPr/>
          <p:nvPr/>
        </p:nvSpPr>
        <p:spPr>
          <a:xfrm>
            <a:off x="428625" y="458037"/>
            <a:ext cx="8715375" cy="253603"/>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0F172A"/>
                </a:solidFill>
                <a:latin typeface="NanumGothic" pitchFamily="34" charset="0"/>
                <a:ea typeface="NanumGothic" pitchFamily="34" charset="-122"/>
                <a:cs typeface="NanumGothic" pitchFamily="34" charset="-120"/>
              </a:rPr>
              <a:t>프레임 카운트 + 실현가능성 기준</a:t>
            </a:r>
            <a:endParaRPr lang="en-US" sz="1808" dirty="0"/>
          </a:p>
        </p:txBody>
      </p:sp>
      <p:sp>
        <p:nvSpPr>
          <p:cNvPr id="7" name="Text 3"/>
          <p:cNvSpPr/>
          <p:nvPr/>
        </p:nvSpPr>
        <p:spPr>
          <a:xfrm>
            <a:off x="428625" y="925953"/>
            <a:ext cx="3636811" cy="155377"/>
          </a:xfrm>
          <a:prstGeom prst="rect">
            <a:avLst/>
          </a:prstGeom>
          <a:noFill/>
          <a:ln/>
        </p:spPr>
        <p:txBody>
          <a:bodyPr wrap="none" lIns="102108" tIns="0" rIns="0" bIns="0" rtlCol="0" anchor="t">
            <a:spAutoFit/>
          </a:bodyPr>
          <a:lstStyle/>
          <a:p>
            <a:pPr marL="0" indent="0" algn="l">
              <a:lnSpc>
                <a:spcPts val="1500"/>
              </a:lnSpc>
              <a:buNone/>
            </a:pPr>
            <a:r>
              <a:rPr lang="en-US" sz="1090" b="1" dirty="0">
                <a:solidFill>
                  <a:srgbClr val="2563EB"/>
                </a:solidFill>
                <a:latin typeface="NanumGothic" pitchFamily="34" charset="0"/>
                <a:ea typeface="NanumGothic" pitchFamily="34" charset="-122"/>
                <a:cs typeface="NanumGothic" pitchFamily="34" charset="-120"/>
              </a:rPr>
              <a:t>ISO-TP 및 프레임 카운트</a:t>
            </a:r>
            <a:endParaRPr lang="en-US" sz="1090" dirty="0"/>
          </a:p>
        </p:txBody>
      </p:sp>
      <p:sp>
        <p:nvSpPr>
          <p:cNvPr id="8" name="Shape 4"/>
          <p:cNvSpPr/>
          <p:nvPr/>
        </p:nvSpPr>
        <p:spPr>
          <a:xfrm>
            <a:off x="428625" y="1188486"/>
            <a:ext cx="3636811" cy="818629"/>
          </a:xfrm>
          <a:prstGeom prst="rect">
            <a:avLst/>
          </a:prstGeom>
          <a:solidFill>
            <a:srgbClr val="F8FAFC"/>
          </a:solidFill>
          <a:ln/>
        </p:spPr>
        <p:txBody>
          <a:bodyPr/>
          <a:lstStyle/>
          <a:p>
            <a:endParaRPr lang="ko-KR" altLang="en-US"/>
          </a:p>
        </p:txBody>
      </p:sp>
      <p:sp>
        <p:nvSpPr>
          <p:cNvPr id="9" name="Text 5"/>
          <p:cNvSpPr/>
          <p:nvPr/>
        </p:nvSpPr>
        <p:spPr>
          <a:xfrm>
            <a:off x="571500" y="1333147"/>
            <a:ext cx="1796653" cy="128588"/>
          </a:xfrm>
          <a:prstGeom prst="rect">
            <a:avLst/>
          </a:prstGeom>
          <a:noFill/>
          <a:ln/>
        </p:spPr>
        <p:txBody>
          <a:bodyPr wrap="none" lIns="0" tIns="0" rIns="0" bIns="0" rtlCol="0" anchor="t">
            <a:spAutoFit/>
          </a:bodyPr>
          <a:lstStyle/>
          <a:p>
            <a:pPr marL="0" indent="0" algn="l">
              <a:lnSpc>
                <a:spcPts val="1600"/>
              </a:lnSpc>
              <a:buNone/>
            </a:pPr>
            <a:r>
              <a:rPr lang="en-US" sz="942" dirty="0">
                <a:solidFill>
                  <a:srgbClr val="334155"/>
                </a:solidFill>
                <a:latin typeface="NanumGothic" pitchFamily="34" charset="0"/>
                <a:ea typeface="NanumGothic" pitchFamily="34" charset="-122"/>
                <a:cs typeface="NanumGothic" pitchFamily="34" charset="-120"/>
              </a:rPr>
              <a:t>• 페이로드: SF/FF 62B, CF 63B</a:t>
            </a:r>
            <a:endParaRPr lang="en-US" sz="942" dirty="0"/>
          </a:p>
        </p:txBody>
      </p:sp>
      <p:sp>
        <p:nvSpPr>
          <p:cNvPr id="10" name="Text 6"/>
          <p:cNvSpPr/>
          <p:nvPr/>
        </p:nvSpPr>
        <p:spPr>
          <a:xfrm>
            <a:off x="571500" y="1538864"/>
            <a:ext cx="2287786" cy="128588"/>
          </a:xfrm>
          <a:prstGeom prst="rect">
            <a:avLst/>
          </a:prstGeom>
          <a:noFill/>
          <a:ln/>
        </p:spPr>
        <p:txBody>
          <a:bodyPr wrap="none" lIns="0" tIns="0" rIns="0" bIns="0" rtlCol="0" anchor="t">
            <a:spAutoFit/>
          </a:bodyPr>
          <a:lstStyle/>
          <a:p>
            <a:pPr marL="0" indent="0" algn="l">
              <a:lnSpc>
                <a:spcPts val="1600"/>
              </a:lnSpc>
              <a:buNone/>
            </a:pPr>
            <a:r>
              <a:rPr lang="en-US" sz="942" dirty="0">
                <a:solidFill>
                  <a:srgbClr val="334155"/>
                </a:solidFill>
                <a:latin typeface="NanumGothic" pitchFamily="34" charset="0"/>
                <a:ea typeface="NanumGothic" pitchFamily="34" charset="-122"/>
                <a:cs typeface="NanumGothic" pitchFamily="34" charset="-120"/>
              </a:rPr>
              <a:t>• 프레임당 전송시간: T_frame = 164 µs</a:t>
            </a:r>
            <a:endParaRPr lang="en-US" sz="942" dirty="0"/>
          </a:p>
        </p:txBody>
      </p:sp>
      <p:sp>
        <p:nvSpPr>
          <p:cNvPr id="11" name="Text 7"/>
          <p:cNvSpPr/>
          <p:nvPr/>
        </p:nvSpPr>
        <p:spPr>
          <a:xfrm>
            <a:off x="571500" y="1778515"/>
            <a:ext cx="3351061" cy="228600"/>
          </a:xfrm>
          <a:prstGeom prst="rect">
            <a:avLst/>
          </a:prstGeom>
          <a:noFill/>
          <a:ln/>
        </p:spPr>
        <p:txBody>
          <a:bodyPr wrap="none" lIns="0" tIns="0" rIns="0" bIns="0" rtlCol="0" anchor="t">
            <a:spAutoFit/>
          </a:bodyPr>
          <a:lstStyle/>
          <a:p>
            <a:pPr marL="0" indent="0" algn="l">
              <a:lnSpc>
                <a:spcPts val="1800"/>
              </a:lnSpc>
              <a:buNone/>
            </a:pPr>
            <a:r>
              <a:rPr lang="en-US" sz="987" b="1" dirty="0">
                <a:solidFill>
                  <a:srgbClr val="0F172A"/>
                </a:solidFill>
                <a:latin typeface="Courier New" pitchFamily="34" charset="0"/>
                <a:ea typeface="Courier New" pitchFamily="34" charset="-122"/>
                <a:cs typeface="Courier New" pitchFamily="34" charset="-120"/>
              </a:rPr>
              <a:t>N_frames(B) = 1 + ⌈(B − 62) / 63⌉</a:t>
            </a:r>
            <a:endParaRPr lang="en-US" sz="987" dirty="0"/>
          </a:p>
        </p:txBody>
      </p:sp>
      <p:sp>
        <p:nvSpPr>
          <p:cNvPr id="12" name="Text 8"/>
          <p:cNvSpPr/>
          <p:nvPr/>
        </p:nvSpPr>
        <p:spPr>
          <a:xfrm>
            <a:off x="4351186" y="925953"/>
            <a:ext cx="4364189" cy="155377"/>
          </a:xfrm>
          <a:prstGeom prst="rect">
            <a:avLst/>
          </a:prstGeom>
          <a:noFill/>
          <a:ln/>
        </p:spPr>
        <p:txBody>
          <a:bodyPr wrap="none" lIns="102108" tIns="0" rIns="0" bIns="0" rtlCol="0" anchor="t">
            <a:spAutoFit/>
          </a:bodyPr>
          <a:lstStyle/>
          <a:p>
            <a:pPr marL="0" indent="0" algn="l">
              <a:lnSpc>
                <a:spcPts val="1500"/>
              </a:lnSpc>
              <a:buNone/>
            </a:pPr>
            <a:r>
              <a:rPr lang="en-US" sz="1090" b="1" dirty="0">
                <a:solidFill>
                  <a:srgbClr val="2563EB"/>
                </a:solidFill>
                <a:latin typeface="NanumGothic" pitchFamily="34" charset="0"/>
                <a:ea typeface="NanumGothic" pitchFamily="34" charset="-122"/>
                <a:cs typeface="NanumGothic" pitchFamily="34" charset="-120"/>
              </a:rPr>
              <a:t>실현가능성 3-class 분류표</a:t>
            </a:r>
            <a:endParaRPr lang="en-US" sz="1090" dirty="0"/>
          </a:p>
        </p:txBody>
      </p:sp>
      <p:sp>
        <p:nvSpPr>
          <p:cNvPr id="13" name="Shape 9"/>
          <p:cNvSpPr/>
          <p:nvPr/>
        </p:nvSpPr>
        <p:spPr>
          <a:xfrm>
            <a:off x="4354757" y="1192057"/>
            <a:ext cx="1670884" cy="226814"/>
          </a:xfrm>
          <a:prstGeom prst="rect">
            <a:avLst/>
          </a:prstGeom>
          <a:solidFill>
            <a:srgbClr val="F1F5F9"/>
          </a:solidFill>
          <a:ln w="9144">
            <a:solidFill>
              <a:srgbClr val="E2E8F0"/>
            </a:solidFill>
            <a:prstDash val="solid"/>
          </a:ln>
        </p:spPr>
        <p:txBody>
          <a:bodyPr/>
          <a:lstStyle/>
          <a:p>
            <a:endParaRPr lang="ko-KR" altLang="en-US"/>
          </a:p>
        </p:txBody>
      </p:sp>
      <p:sp>
        <p:nvSpPr>
          <p:cNvPr id="14" name="Text 10"/>
          <p:cNvSpPr/>
          <p:nvPr/>
        </p:nvSpPr>
        <p:spPr>
          <a:xfrm>
            <a:off x="4354757" y="1192057"/>
            <a:ext cx="1670884" cy="226814"/>
          </a:xfrm>
          <a:prstGeom prst="rect">
            <a:avLst/>
          </a:prstGeom>
          <a:noFill/>
          <a:ln/>
        </p:spPr>
        <p:txBody>
          <a:bodyPr wrap="square" lIns="68072" tIns="68072" rIns="68072" bIns="68072" rtlCol="0" anchor="ctr">
            <a:spAutoFit/>
          </a:bodyPr>
          <a:lstStyle/>
          <a:p>
            <a:pPr marL="0" indent="0" algn="ctr">
              <a:lnSpc>
                <a:spcPts val="1000"/>
              </a:lnSpc>
              <a:buNone/>
            </a:pPr>
            <a:r>
              <a:rPr lang="en-US" sz="734" b="1" dirty="0">
                <a:solidFill>
                  <a:srgbClr val="0F172A"/>
                </a:solidFill>
                <a:latin typeface="NanumGothic" pitchFamily="34" charset="0"/>
                <a:ea typeface="NanumGothic" pitchFamily="34" charset="-122"/>
                <a:cs typeface="NanumGothic" pitchFamily="34" charset="-120"/>
              </a:rPr>
              <a:t>클래스</a:t>
            </a:r>
            <a:endParaRPr lang="en-US" sz="734" dirty="0"/>
          </a:p>
        </p:txBody>
      </p:sp>
      <p:sp>
        <p:nvSpPr>
          <p:cNvPr id="15" name="Shape 11"/>
          <p:cNvSpPr/>
          <p:nvPr/>
        </p:nvSpPr>
        <p:spPr>
          <a:xfrm>
            <a:off x="6025642" y="1192057"/>
            <a:ext cx="967504" cy="226814"/>
          </a:xfrm>
          <a:prstGeom prst="rect">
            <a:avLst/>
          </a:prstGeom>
          <a:solidFill>
            <a:srgbClr val="F1F5F9"/>
          </a:solidFill>
          <a:ln w="9144">
            <a:solidFill>
              <a:srgbClr val="E2E8F0"/>
            </a:solidFill>
            <a:prstDash val="solid"/>
          </a:ln>
        </p:spPr>
        <p:txBody>
          <a:bodyPr/>
          <a:lstStyle/>
          <a:p>
            <a:endParaRPr lang="ko-KR" altLang="en-US"/>
          </a:p>
        </p:txBody>
      </p:sp>
      <p:sp>
        <p:nvSpPr>
          <p:cNvPr id="16" name="Text 12"/>
          <p:cNvSpPr/>
          <p:nvPr/>
        </p:nvSpPr>
        <p:spPr>
          <a:xfrm>
            <a:off x="6025642" y="1192057"/>
            <a:ext cx="967504" cy="226814"/>
          </a:xfrm>
          <a:prstGeom prst="rect">
            <a:avLst/>
          </a:prstGeom>
          <a:noFill/>
          <a:ln/>
        </p:spPr>
        <p:txBody>
          <a:bodyPr wrap="square" lIns="68072" tIns="68072" rIns="68072" bIns="68072" rtlCol="0" anchor="ctr">
            <a:spAutoFit/>
          </a:bodyPr>
          <a:lstStyle/>
          <a:p>
            <a:pPr marL="0" indent="0" algn="ctr">
              <a:lnSpc>
                <a:spcPts val="1000"/>
              </a:lnSpc>
              <a:buNone/>
            </a:pPr>
            <a:r>
              <a:rPr lang="en-US" sz="734" b="1" dirty="0">
                <a:solidFill>
                  <a:srgbClr val="0F172A"/>
                </a:solidFill>
                <a:latin typeface="NanumGothic" pitchFamily="34" charset="0"/>
                <a:ea typeface="NanumGothic" pitchFamily="34" charset="-122"/>
                <a:cs typeface="NanumGothic" pitchFamily="34" charset="-120"/>
              </a:rPr>
              <a:t>P99 완료</a:t>
            </a:r>
            <a:endParaRPr lang="en-US" sz="734" dirty="0"/>
          </a:p>
        </p:txBody>
      </p:sp>
      <p:sp>
        <p:nvSpPr>
          <p:cNvPr id="17" name="Shape 13"/>
          <p:cNvSpPr/>
          <p:nvPr/>
        </p:nvSpPr>
        <p:spPr>
          <a:xfrm>
            <a:off x="6990634" y="1192057"/>
            <a:ext cx="968927" cy="226814"/>
          </a:xfrm>
          <a:prstGeom prst="rect">
            <a:avLst/>
          </a:prstGeom>
          <a:solidFill>
            <a:srgbClr val="F1F5F9"/>
          </a:solidFill>
          <a:ln w="9144">
            <a:solidFill>
              <a:srgbClr val="E2E8F0"/>
            </a:solidFill>
            <a:prstDash val="solid"/>
          </a:ln>
        </p:spPr>
        <p:txBody>
          <a:bodyPr/>
          <a:lstStyle/>
          <a:p>
            <a:endParaRPr lang="ko-KR" altLang="en-US"/>
          </a:p>
        </p:txBody>
      </p:sp>
      <p:sp>
        <p:nvSpPr>
          <p:cNvPr id="18" name="Text 14"/>
          <p:cNvSpPr/>
          <p:nvPr/>
        </p:nvSpPr>
        <p:spPr>
          <a:xfrm>
            <a:off x="6990634" y="1192057"/>
            <a:ext cx="968927" cy="226814"/>
          </a:xfrm>
          <a:prstGeom prst="rect">
            <a:avLst/>
          </a:prstGeom>
          <a:noFill/>
          <a:ln/>
        </p:spPr>
        <p:txBody>
          <a:bodyPr wrap="square" lIns="68072" tIns="68072" rIns="68072" bIns="68072" rtlCol="0" anchor="ctr">
            <a:spAutoFit/>
          </a:bodyPr>
          <a:lstStyle/>
          <a:p>
            <a:pPr marL="0" indent="0" algn="ctr">
              <a:lnSpc>
                <a:spcPts val="1000"/>
              </a:lnSpc>
              <a:buNone/>
            </a:pPr>
            <a:r>
              <a:rPr lang="en-US" sz="734" b="1" dirty="0">
                <a:solidFill>
                  <a:srgbClr val="0F172A"/>
                </a:solidFill>
                <a:latin typeface="NanumGothic" pitchFamily="34" charset="0"/>
                <a:ea typeface="NanumGothic" pitchFamily="34" charset="-122"/>
                <a:cs typeface="NanumGothic" pitchFamily="34" charset="-120"/>
              </a:rPr>
              <a:t>P99 지터</a:t>
            </a:r>
            <a:endParaRPr lang="en-US" sz="734" dirty="0"/>
          </a:p>
        </p:txBody>
      </p:sp>
      <p:sp>
        <p:nvSpPr>
          <p:cNvPr id="19" name="Shape 15"/>
          <p:cNvSpPr/>
          <p:nvPr/>
        </p:nvSpPr>
        <p:spPr>
          <a:xfrm>
            <a:off x="7957356" y="1192057"/>
            <a:ext cx="754447" cy="226814"/>
          </a:xfrm>
          <a:prstGeom prst="rect">
            <a:avLst/>
          </a:prstGeom>
          <a:solidFill>
            <a:srgbClr val="F1F5F9"/>
          </a:solidFill>
          <a:ln w="9144">
            <a:solidFill>
              <a:srgbClr val="E2E8F0"/>
            </a:solidFill>
            <a:prstDash val="solid"/>
          </a:ln>
        </p:spPr>
        <p:txBody>
          <a:bodyPr/>
          <a:lstStyle/>
          <a:p>
            <a:endParaRPr lang="ko-KR" altLang="en-US"/>
          </a:p>
        </p:txBody>
      </p:sp>
      <p:sp>
        <p:nvSpPr>
          <p:cNvPr id="20" name="Text 16"/>
          <p:cNvSpPr/>
          <p:nvPr/>
        </p:nvSpPr>
        <p:spPr>
          <a:xfrm>
            <a:off x="7957356" y="1192057"/>
            <a:ext cx="754447" cy="226814"/>
          </a:xfrm>
          <a:prstGeom prst="rect">
            <a:avLst/>
          </a:prstGeom>
          <a:noFill/>
          <a:ln/>
        </p:spPr>
        <p:txBody>
          <a:bodyPr wrap="square" lIns="68072" tIns="68072" rIns="68072" bIns="68072" rtlCol="0" anchor="ctr">
            <a:spAutoFit/>
          </a:bodyPr>
          <a:lstStyle/>
          <a:p>
            <a:pPr marL="0" indent="0" algn="ctr">
              <a:lnSpc>
                <a:spcPts val="1000"/>
              </a:lnSpc>
              <a:buNone/>
            </a:pPr>
            <a:r>
              <a:rPr lang="en-US" sz="734" b="1" dirty="0">
                <a:solidFill>
                  <a:srgbClr val="0F172A"/>
                </a:solidFill>
                <a:latin typeface="NanumGothic" pitchFamily="34" charset="0"/>
                <a:ea typeface="NanumGothic" pitchFamily="34" charset="-122"/>
                <a:cs typeface="NanumGothic" pitchFamily="34" charset="-120"/>
              </a:rPr>
              <a:t>미스율</a:t>
            </a:r>
            <a:endParaRPr lang="en-US" sz="734" dirty="0"/>
          </a:p>
        </p:txBody>
      </p:sp>
      <p:sp>
        <p:nvSpPr>
          <p:cNvPr id="21" name="Text 17"/>
          <p:cNvSpPr/>
          <p:nvPr/>
        </p:nvSpPr>
        <p:spPr>
          <a:xfrm>
            <a:off x="4354757" y="1411728"/>
            <a:ext cx="1685646" cy="255389"/>
          </a:xfrm>
          <a:prstGeom prst="rect">
            <a:avLst/>
          </a:prstGeom>
          <a:noFill/>
          <a:ln/>
        </p:spPr>
        <p:txBody>
          <a:bodyPr wrap="square" lIns="68072" tIns="68072" rIns="68072" bIns="68072" rtlCol="0" anchor="ctr">
            <a:spAutoFit/>
          </a:bodyPr>
          <a:lstStyle/>
          <a:p>
            <a:pPr marL="0" indent="0" algn="ctr">
              <a:lnSpc>
                <a:spcPts val="1000"/>
              </a:lnSpc>
              <a:buNone/>
            </a:pPr>
            <a:r>
              <a:rPr lang="en-US" sz="734" b="1" dirty="0">
                <a:solidFill>
                  <a:srgbClr val="2563EB"/>
                </a:solidFill>
                <a:latin typeface="NanumGothic" pitchFamily="34" charset="0"/>
                <a:ea typeface="NanumGothic" pitchFamily="34" charset="-122"/>
                <a:cs typeface="NanumGothic" pitchFamily="34" charset="-120"/>
              </a:rPr>
              <a:t>Feasible (파란)</a:t>
            </a:r>
            <a:endParaRPr lang="en-US" sz="734" dirty="0"/>
          </a:p>
        </p:txBody>
      </p:sp>
      <p:sp>
        <p:nvSpPr>
          <p:cNvPr id="22" name="Text 18"/>
          <p:cNvSpPr/>
          <p:nvPr/>
        </p:nvSpPr>
        <p:spPr>
          <a:xfrm>
            <a:off x="6040403" y="1411728"/>
            <a:ext cx="963234" cy="255389"/>
          </a:xfrm>
          <a:prstGeom prst="rect">
            <a:avLst/>
          </a:prstGeom>
          <a:noFill/>
          <a:ln/>
        </p:spPr>
        <p:txBody>
          <a:bodyPr wrap="square" lIns="68072" tIns="68072" rIns="68072" bIns="68072" rtlCol="0" anchor="ctr">
            <a:spAutoFit/>
          </a:bodyPr>
          <a:lstStyle/>
          <a:p>
            <a:pPr marL="0" indent="0" algn="ctr">
              <a:lnSpc>
                <a:spcPts val="1000"/>
              </a:lnSpc>
              <a:buNone/>
            </a:pPr>
            <a:r>
              <a:rPr lang="en-US" sz="780" dirty="0">
                <a:solidFill>
                  <a:srgbClr val="334155"/>
                </a:solidFill>
                <a:latin typeface="NanumGothic" pitchFamily="34" charset="0"/>
                <a:ea typeface="NanumGothic" pitchFamily="34" charset="-122"/>
                <a:cs typeface="NanumGothic" pitchFamily="34" charset="-120"/>
              </a:rPr>
              <a:t>≤50ms</a:t>
            </a:r>
            <a:endParaRPr lang="en-US" sz="780" dirty="0"/>
          </a:p>
        </p:txBody>
      </p:sp>
      <p:sp>
        <p:nvSpPr>
          <p:cNvPr id="23" name="Text 19"/>
          <p:cNvSpPr/>
          <p:nvPr/>
        </p:nvSpPr>
        <p:spPr>
          <a:xfrm>
            <a:off x="7003638" y="1411728"/>
            <a:ext cx="963234" cy="255389"/>
          </a:xfrm>
          <a:prstGeom prst="rect">
            <a:avLst/>
          </a:prstGeom>
          <a:noFill/>
          <a:ln/>
        </p:spPr>
        <p:txBody>
          <a:bodyPr wrap="square" lIns="68072" tIns="68072" rIns="68072" bIns="68072" rtlCol="0" anchor="ctr">
            <a:spAutoFit/>
          </a:bodyPr>
          <a:lstStyle/>
          <a:p>
            <a:pPr marL="0" indent="0" algn="ctr">
              <a:lnSpc>
                <a:spcPts val="1000"/>
              </a:lnSpc>
              <a:buNone/>
            </a:pPr>
            <a:r>
              <a:rPr lang="en-US" sz="780" dirty="0">
                <a:solidFill>
                  <a:srgbClr val="334155"/>
                </a:solidFill>
                <a:latin typeface="NanumGothic" pitchFamily="34" charset="0"/>
                <a:ea typeface="NanumGothic" pitchFamily="34" charset="-122"/>
                <a:cs typeface="NanumGothic" pitchFamily="34" charset="-120"/>
              </a:rPr>
              <a:t>≤50ms</a:t>
            </a:r>
            <a:endParaRPr lang="en-US" sz="780" dirty="0"/>
          </a:p>
        </p:txBody>
      </p:sp>
      <p:sp>
        <p:nvSpPr>
          <p:cNvPr id="24" name="Text 20"/>
          <p:cNvSpPr/>
          <p:nvPr/>
        </p:nvSpPr>
        <p:spPr>
          <a:xfrm>
            <a:off x="7966872" y="1411728"/>
            <a:ext cx="744931" cy="255389"/>
          </a:xfrm>
          <a:prstGeom prst="rect">
            <a:avLst/>
          </a:prstGeom>
          <a:noFill/>
          <a:ln/>
        </p:spPr>
        <p:txBody>
          <a:bodyPr wrap="square" lIns="68072" tIns="68072" rIns="68072" bIns="68072" rtlCol="0" anchor="ctr">
            <a:spAutoFit/>
          </a:bodyPr>
          <a:lstStyle/>
          <a:p>
            <a:pPr marL="0" indent="0" algn="ctr">
              <a:lnSpc>
                <a:spcPts val="1000"/>
              </a:lnSpc>
              <a:buNone/>
            </a:pPr>
            <a:r>
              <a:rPr lang="en-US" sz="780" dirty="0">
                <a:solidFill>
                  <a:srgbClr val="334155"/>
                </a:solidFill>
                <a:latin typeface="NanumGothic" pitchFamily="34" charset="0"/>
                <a:ea typeface="NanumGothic" pitchFamily="34" charset="-122"/>
                <a:cs typeface="NanumGothic" pitchFamily="34" charset="-120"/>
              </a:rPr>
              <a:t>≤1%</a:t>
            </a:r>
            <a:endParaRPr lang="en-US" sz="780" dirty="0"/>
          </a:p>
        </p:txBody>
      </p:sp>
      <p:sp>
        <p:nvSpPr>
          <p:cNvPr id="25" name="Text 21"/>
          <p:cNvSpPr/>
          <p:nvPr/>
        </p:nvSpPr>
        <p:spPr>
          <a:xfrm>
            <a:off x="4354757" y="1667117"/>
            <a:ext cx="1685646" cy="255389"/>
          </a:xfrm>
          <a:prstGeom prst="rect">
            <a:avLst/>
          </a:prstGeom>
          <a:noFill/>
          <a:ln/>
        </p:spPr>
        <p:txBody>
          <a:bodyPr wrap="square" lIns="68072" tIns="68072" rIns="68072" bIns="68072" rtlCol="0" anchor="ctr">
            <a:spAutoFit/>
          </a:bodyPr>
          <a:lstStyle/>
          <a:p>
            <a:pPr marL="0" indent="0" algn="ctr">
              <a:lnSpc>
                <a:spcPts val="1000"/>
              </a:lnSpc>
              <a:buNone/>
            </a:pPr>
            <a:r>
              <a:rPr lang="en-US" sz="734" b="1" dirty="0">
                <a:solidFill>
                  <a:srgbClr val="EA580C"/>
                </a:solidFill>
                <a:latin typeface="NanumGothic" pitchFamily="34" charset="0"/>
                <a:ea typeface="NanumGothic" pitchFamily="34" charset="-122"/>
                <a:cs typeface="NanumGothic" pitchFamily="34" charset="-120"/>
              </a:rPr>
              <a:t>Borderline (주황)</a:t>
            </a:r>
            <a:endParaRPr lang="en-US" sz="734" dirty="0"/>
          </a:p>
        </p:txBody>
      </p:sp>
      <p:sp>
        <p:nvSpPr>
          <p:cNvPr id="26" name="Text 22"/>
          <p:cNvSpPr/>
          <p:nvPr/>
        </p:nvSpPr>
        <p:spPr>
          <a:xfrm>
            <a:off x="6040403" y="1667117"/>
            <a:ext cx="963234" cy="255389"/>
          </a:xfrm>
          <a:prstGeom prst="rect">
            <a:avLst/>
          </a:prstGeom>
          <a:noFill/>
          <a:ln/>
        </p:spPr>
        <p:txBody>
          <a:bodyPr wrap="square" lIns="68072" tIns="68072" rIns="68072" bIns="68072" rtlCol="0" anchor="ctr">
            <a:spAutoFit/>
          </a:bodyPr>
          <a:lstStyle/>
          <a:p>
            <a:pPr marL="0" indent="0" algn="ctr">
              <a:lnSpc>
                <a:spcPts val="1000"/>
              </a:lnSpc>
              <a:buNone/>
            </a:pPr>
            <a:r>
              <a:rPr lang="en-US" sz="780" dirty="0">
                <a:solidFill>
                  <a:srgbClr val="334155"/>
                </a:solidFill>
                <a:latin typeface="NanumGothic" pitchFamily="34" charset="0"/>
                <a:ea typeface="NanumGothic" pitchFamily="34" charset="-122"/>
                <a:cs typeface="NanumGothic" pitchFamily="34" charset="-120"/>
              </a:rPr>
              <a:t>≤100ms</a:t>
            </a:r>
            <a:endParaRPr lang="en-US" sz="780" dirty="0"/>
          </a:p>
        </p:txBody>
      </p:sp>
      <p:sp>
        <p:nvSpPr>
          <p:cNvPr id="27" name="Text 23"/>
          <p:cNvSpPr/>
          <p:nvPr/>
        </p:nvSpPr>
        <p:spPr>
          <a:xfrm>
            <a:off x="7003638" y="1667117"/>
            <a:ext cx="963234" cy="255389"/>
          </a:xfrm>
          <a:prstGeom prst="rect">
            <a:avLst/>
          </a:prstGeom>
          <a:noFill/>
          <a:ln/>
        </p:spPr>
        <p:txBody>
          <a:bodyPr wrap="square" lIns="68072" tIns="68072" rIns="68072" bIns="68072" rtlCol="0" anchor="ctr">
            <a:spAutoFit/>
          </a:bodyPr>
          <a:lstStyle/>
          <a:p>
            <a:pPr marL="0" indent="0" algn="ctr">
              <a:lnSpc>
                <a:spcPts val="1000"/>
              </a:lnSpc>
              <a:buNone/>
            </a:pPr>
            <a:r>
              <a:rPr lang="en-US" sz="780" dirty="0">
                <a:solidFill>
                  <a:srgbClr val="334155"/>
                </a:solidFill>
                <a:latin typeface="NanumGothic" pitchFamily="34" charset="0"/>
                <a:ea typeface="NanumGothic" pitchFamily="34" charset="-122"/>
                <a:cs typeface="NanumGothic" pitchFamily="34" charset="-120"/>
              </a:rPr>
              <a:t>≤80ms</a:t>
            </a:r>
            <a:endParaRPr lang="en-US" sz="780" dirty="0"/>
          </a:p>
        </p:txBody>
      </p:sp>
      <p:sp>
        <p:nvSpPr>
          <p:cNvPr id="28" name="Text 24"/>
          <p:cNvSpPr/>
          <p:nvPr/>
        </p:nvSpPr>
        <p:spPr>
          <a:xfrm>
            <a:off x="7966872" y="1667117"/>
            <a:ext cx="744931" cy="255389"/>
          </a:xfrm>
          <a:prstGeom prst="rect">
            <a:avLst/>
          </a:prstGeom>
          <a:noFill/>
          <a:ln/>
        </p:spPr>
        <p:txBody>
          <a:bodyPr wrap="square" lIns="68072" tIns="68072" rIns="68072" bIns="68072" rtlCol="0" anchor="ctr">
            <a:spAutoFit/>
          </a:bodyPr>
          <a:lstStyle/>
          <a:p>
            <a:pPr marL="0" indent="0" algn="ctr">
              <a:lnSpc>
                <a:spcPts val="1000"/>
              </a:lnSpc>
              <a:buNone/>
            </a:pPr>
            <a:r>
              <a:rPr lang="en-US" sz="780" dirty="0">
                <a:solidFill>
                  <a:srgbClr val="334155"/>
                </a:solidFill>
                <a:latin typeface="NanumGothic" pitchFamily="34" charset="0"/>
                <a:ea typeface="NanumGothic" pitchFamily="34" charset="-122"/>
                <a:cs typeface="NanumGothic" pitchFamily="34" charset="-120"/>
              </a:rPr>
              <a:t>≤5%</a:t>
            </a:r>
            <a:endParaRPr lang="en-US" sz="780" dirty="0"/>
          </a:p>
        </p:txBody>
      </p:sp>
      <p:sp>
        <p:nvSpPr>
          <p:cNvPr id="29" name="Text 25"/>
          <p:cNvSpPr/>
          <p:nvPr/>
        </p:nvSpPr>
        <p:spPr>
          <a:xfrm>
            <a:off x="4354757" y="1922506"/>
            <a:ext cx="1685646" cy="255389"/>
          </a:xfrm>
          <a:prstGeom prst="rect">
            <a:avLst/>
          </a:prstGeom>
          <a:noFill/>
          <a:ln/>
        </p:spPr>
        <p:txBody>
          <a:bodyPr wrap="square" lIns="68072" tIns="68072" rIns="68072" bIns="68072" rtlCol="0" anchor="ctr">
            <a:spAutoFit/>
          </a:bodyPr>
          <a:lstStyle/>
          <a:p>
            <a:pPr marL="0" indent="0" algn="ctr">
              <a:lnSpc>
                <a:spcPts val="1000"/>
              </a:lnSpc>
              <a:buNone/>
            </a:pPr>
            <a:r>
              <a:rPr lang="en-US" sz="734" b="1" dirty="0">
                <a:solidFill>
                  <a:srgbClr val="DC2626"/>
                </a:solidFill>
                <a:latin typeface="NanumGothic" pitchFamily="34" charset="0"/>
                <a:ea typeface="NanumGothic" pitchFamily="34" charset="-122"/>
                <a:cs typeface="NanumGothic" pitchFamily="34" charset="-120"/>
              </a:rPr>
              <a:t>Infeasible (빨간)</a:t>
            </a:r>
            <a:endParaRPr lang="en-US" sz="734" dirty="0"/>
          </a:p>
        </p:txBody>
      </p:sp>
      <p:sp>
        <p:nvSpPr>
          <p:cNvPr id="30" name="Text 26"/>
          <p:cNvSpPr/>
          <p:nvPr/>
        </p:nvSpPr>
        <p:spPr>
          <a:xfrm>
            <a:off x="6040403" y="1922506"/>
            <a:ext cx="963234" cy="255389"/>
          </a:xfrm>
          <a:prstGeom prst="rect">
            <a:avLst/>
          </a:prstGeom>
          <a:noFill/>
          <a:ln/>
        </p:spPr>
        <p:txBody>
          <a:bodyPr wrap="square" lIns="68072" tIns="68072" rIns="68072" bIns="68072" rtlCol="0" anchor="ctr">
            <a:spAutoFit/>
          </a:bodyPr>
          <a:lstStyle/>
          <a:p>
            <a:pPr marL="0" indent="0" algn="ctr">
              <a:lnSpc>
                <a:spcPts val="1000"/>
              </a:lnSpc>
              <a:buNone/>
            </a:pPr>
            <a:r>
              <a:rPr lang="en-US" sz="780" dirty="0">
                <a:solidFill>
                  <a:srgbClr val="334155"/>
                </a:solidFill>
                <a:latin typeface="NanumGothic" pitchFamily="34" charset="0"/>
                <a:ea typeface="NanumGothic" pitchFamily="34" charset="-122"/>
                <a:cs typeface="NanumGothic" pitchFamily="34" charset="-120"/>
              </a:rPr>
              <a:t>초과</a:t>
            </a:r>
            <a:endParaRPr lang="en-US" sz="780" dirty="0"/>
          </a:p>
        </p:txBody>
      </p:sp>
      <p:sp>
        <p:nvSpPr>
          <p:cNvPr id="31" name="Text 27"/>
          <p:cNvSpPr/>
          <p:nvPr/>
        </p:nvSpPr>
        <p:spPr>
          <a:xfrm>
            <a:off x="7003638" y="1922506"/>
            <a:ext cx="963234" cy="255389"/>
          </a:xfrm>
          <a:prstGeom prst="rect">
            <a:avLst/>
          </a:prstGeom>
          <a:noFill/>
          <a:ln/>
        </p:spPr>
        <p:txBody>
          <a:bodyPr wrap="square" lIns="68072" tIns="68072" rIns="68072" bIns="68072" rtlCol="0" anchor="ctr">
            <a:spAutoFit/>
          </a:bodyPr>
          <a:lstStyle/>
          <a:p>
            <a:pPr marL="0" indent="0" algn="ctr">
              <a:lnSpc>
                <a:spcPts val="1000"/>
              </a:lnSpc>
              <a:buNone/>
            </a:pPr>
            <a:r>
              <a:rPr lang="en-US" sz="780" dirty="0">
                <a:solidFill>
                  <a:srgbClr val="334155"/>
                </a:solidFill>
                <a:latin typeface="NanumGothic" pitchFamily="34" charset="0"/>
                <a:ea typeface="NanumGothic" pitchFamily="34" charset="-122"/>
                <a:cs typeface="NanumGothic" pitchFamily="34" charset="-120"/>
              </a:rPr>
              <a:t>초과</a:t>
            </a:r>
            <a:endParaRPr lang="en-US" sz="780" dirty="0"/>
          </a:p>
        </p:txBody>
      </p:sp>
      <p:sp>
        <p:nvSpPr>
          <p:cNvPr id="32" name="Text 28"/>
          <p:cNvSpPr/>
          <p:nvPr/>
        </p:nvSpPr>
        <p:spPr>
          <a:xfrm>
            <a:off x="7966872" y="1922506"/>
            <a:ext cx="744931" cy="255389"/>
          </a:xfrm>
          <a:prstGeom prst="rect">
            <a:avLst/>
          </a:prstGeom>
          <a:noFill/>
          <a:ln/>
        </p:spPr>
        <p:txBody>
          <a:bodyPr wrap="square" lIns="68072" tIns="68072" rIns="68072" bIns="68072" rtlCol="0" anchor="ctr">
            <a:spAutoFit/>
          </a:bodyPr>
          <a:lstStyle/>
          <a:p>
            <a:pPr marL="0" indent="0" algn="ctr">
              <a:lnSpc>
                <a:spcPts val="1000"/>
              </a:lnSpc>
              <a:buNone/>
            </a:pPr>
            <a:r>
              <a:rPr lang="en-US" sz="780" dirty="0">
                <a:solidFill>
                  <a:srgbClr val="334155"/>
                </a:solidFill>
                <a:latin typeface="NanumGothic" pitchFamily="34" charset="0"/>
                <a:ea typeface="NanumGothic" pitchFamily="34" charset="-122"/>
                <a:cs typeface="NanumGothic" pitchFamily="34" charset="-120"/>
              </a:rPr>
              <a:t>초과</a:t>
            </a:r>
            <a:endParaRPr lang="en-US" sz="780" dirty="0"/>
          </a:p>
        </p:txBody>
      </p:sp>
      <p:sp>
        <p:nvSpPr>
          <p:cNvPr id="33" name="Text 29"/>
          <p:cNvSpPr/>
          <p:nvPr/>
        </p:nvSpPr>
        <p:spPr>
          <a:xfrm>
            <a:off x="4351186" y="2238617"/>
            <a:ext cx="4364189" cy="125016"/>
          </a:xfrm>
          <a:prstGeom prst="rect">
            <a:avLst/>
          </a:prstGeom>
          <a:noFill/>
          <a:ln/>
        </p:spPr>
        <p:txBody>
          <a:bodyPr wrap="none" lIns="0" tIns="0" rIns="0" bIns="0" rtlCol="0" anchor="t">
            <a:spAutoFit/>
          </a:bodyPr>
          <a:lstStyle/>
          <a:p>
            <a:pPr marL="0" indent="0" algn="r">
              <a:lnSpc>
                <a:spcPts val="900"/>
              </a:lnSpc>
              <a:buNone/>
            </a:pPr>
            <a:r>
              <a:rPr lang="en-US" sz="727" dirty="0">
                <a:solidFill>
                  <a:srgbClr val="64748B"/>
                </a:solidFill>
                <a:latin typeface="NanumGothic" pitchFamily="34" charset="0"/>
                <a:ea typeface="NanumGothic" pitchFamily="34" charset="-122"/>
                <a:cs typeface="NanumGothic" pitchFamily="34" charset="-120"/>
              </a:rPr>
              <a:t>근거: ISO 14229 P2,Server_max = 50ms</a:t>
            </a:r>
            <a:endParaRPr lang="en-US" sz="727" dirty="0"/>
          </a:p>
        </p:txBody>
      </p:sp>
      <p:sp>
        <p:nvSpPr>
          <p:cNvPr id="35" name="Text 31"/>
          <p:cNvSpPr/>
          <p:nvPr/>
        </p:nvSpPr>
        <p:spPr>
          <a:xfrm>
            <a:off x="2610719" y="4917631"/>
            <a:ext cx="3922561" cy="194284"/>
          </a:xfrm>
          <a:prstGeom prst="rect">
            <a:avLst/>
          </a:prstGeom>
          <a:noFill/>
          <a:ln/>
        </p:spPr>
        <p:txBody>
          <a:bodyPr wrap="square" lIns="0" tIns="0" rIns="0" bIns="0" rtlCol="0" anchor="ctr">
            <a:spAutoFit/>
          </a:bodyPr>
          <a:lstStyle/>
          <a:p>
            <a:pPr marL="0" indent="0" algn="ctr">
              <a:lnSpc>
                <a:spcPts val="1600"/>
              </a:lnSpc>
              <a:buNone/>
            </a:pPr>
            <a:r>
              <a:rPr lang="en-US" sz="1193" b="1" dirty="0">
                <a:solidFill>
                  <a:srgbClr val="64748B"/>
                </a:solidFill>
                <a:latin typeface="NanumGothic" pitchFamily="34" charset="0"/>
                <a:ea typeface="NanumGothic" pitchFamily="34" charset="-122"/>
                <a:cs typeface="NanumGothic" pitchFamily="34" charset="-120"/>
              </a:rPr>
              <a:t>Figure 2: ISO-TP Frame Counts (29 parameter sets)</a:t>
            </a:r>
            <a:endParaRPr lang="en-US" sz="1193" dirty="0"/>
          </a:p>
        </p:txBody>
      </p:sp>
      <p:sp>
        <p:nvSpPr>
          <p:cNvPr id="36" name="Text 32"/>
          <p:cNvSpPr/>
          <p:nvPr/>
        </p:nvSpPr>
        <p:spPr>
          <a:xfrm>
            <a:off x="0" y="4875609"/>
            <a:ext cx="9144000" cy="125016"/>
          </a:xfrm>
          <a:prstGeom prst="rect">
            <a:avLst/>
          </a:prstGeom>
          <a:noFill/>
          <a:ln/>
        </p:spPr>
        <p:txBody>
          <a:bodyPr wrap="none" lIns="0" tIns="0" rIns="0" bIns="0" rtlCol="0" anchor="t">
            <a:spAutoFit/>
          </a:bodyPr>
          <a:lstStyle/>
          <a:p>
            <a:pPr marL="0" indent="0" algn="ctr">
              <a:lnSpc>
                <a:spcPts val="900"/>
              </a:lnSpc>
              <a:buNone/>
            </a:pPr>
            <a:r>
              <a:rPr lang="en-US" sz="727" dirty="0">
                <a:solidFill>
                  <a:srgbClr val="94A3B8"/>
                </a:solidFill>
                <a:latin typeface="NanumGothic" pitchFamily="34" charset="0"/>
                <a:ea typeface="NanumGothic" pitchFamily="34" charset="-122"/>
                <a:cs typeface="NanumGothic" pitchFamily="34" charset="-120"/>
              </a:rPr>
              <a:t>5</a:t>
            </a:r>
            <a:endParaRPr lang="en-US" sz="727" dirty="0"/>
          </a:p>
        </p:txBody>
      </p:sp>
      <p:pic>
        <p:nvPicPr>
          <p:cNvPr id="37" name="그림 36">
            <a:extLst>
              <a:ext uri="{FF2B5EF4-FFF2-40B4-BE49-F238E27FC236}">
                <a16:creationId xmlns:a16="http://schemas.microsoft.com/office/drawing/2014/main" id="{A9000E04-D9DD-C19D-F069-D5C8258A5DBD}"/>
              </a:ext>
            </a:extLst>
          </p:cNvPr>
          <p:cNvPicPr>
            <a:picLocks noChangeAspect="1"/>
          </p:cNvPicPr>
          <p:nvPr/>
        </p:nvPicPr>
        <p:blipFill>
          <a:blip r:embed="rId4"/>
          <a:stretch>
            <a:fillRect/>
          </a:stretch>
        </p:blipFill>
        <p:spPr>
          <a:xfrm>
            <a:off x="2704901" y="2236797"/>
            <a:ext cx="3636810" cy="272342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0" y="0"/>
            <a:ext cx="9144000" cy="797365"/>
          </a:xfrm>
          <a:prstGeom prst="rect">
            <a:avLst/>
          </a:prstGeom>
          <a:solidFill>
            <a:srgbClr val="000000">
              <a:alpha val="0"/>
            </a:srgbClr>
          </a:solidFill>
          <a:ln/>
        </p:spPr>
        <p:txBody>
          <a:bodyPr/>
          <a:lstStyle/>
          <a:p>
            <a:endParaRPr lang="ko-KR" altLang="en-US"/>
          </a:p>
        </p:txBody>
      </p:sp>
      <p:sp>
        <p:nvSpPr>
          <p:cNvPr id="5" name="Shape 1"/>
          <p:cNvSpPr/>
          <p:nvPr/>
        </p:nvSpPr>
        <p:spPr>
          <a:xfrm>
            <a:off x="0" y="783078"/>
            <a:ext cx="9144000" cy="14288"/>
          </a:xfrm>
          <a:prstGeom prst="rect">
            <a:avLst/>
          </a:prstGeom>
          <a:solidFill>
            <a:srgbClr val="F1F5F9"/>
          </a:solidFill>
          <a:ln/>
        </p:spPr>
        <p:txBody>
          <a:bodyPr/>
          <a:lstStyle/>
          <a:p>
            <a:endParaRPr lang="ko-KR" altLang="en-US"/>
          </a:p>
        </p:txBody>
      </p:sp>
      <p:sp>
        <p:nvSpPr>
          <p:cNvPr id="6" name="Text 2"/>
          <p:cNvSpPr/>
          <p:nvPr/>
        </p:nvSpPr>
        <p:spPr>
          <a:xfrm>
            <a:off x="428625" y="458037"/>
            <a:ext cx="8715375" cy="253603"/>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0F172A"/>
                </a:solidFill>
                <a:latin typeface="NanumGothic" pitchFamily="34" charset="0"/>
                <a:ea typeface="NanumGothic" pitchFamily="34" charset="-122"/>
                <a:cs typeface="NanumGothic" pitchFamily="34" charset="-120"/>
              </a:rPr>
              <a:t>시뮬레이터 아키텍처 + 검증</a:t>
            </a:r>
            <a:endParaRPr lang="en-US" sz="1808" dirty="0"/>
          </a:p>
        </p:txBody>
      </p:sp>
      <p:pic>
        <p:nvPicPr>
          <p:cNvPr id="7" name="Image 1" descr="preencoded.png"/>
          <p:cNvPicPr>
            <a:picLocks noChangeAspect="1"/>
          </p:cNvPicPr>
          <p:nvPr/>
        </p:nvPicPr>
        <p:blipFill>
          <a:blip r:embed="rId4"/>
          <a:stretch>
            <a:fillRect/>
          </a:stretch>
        </p:blipFill>
        <p:spPr>
          <a:xfrm>
            <a:off x="428625" y="925953"/>
            <a:ext cx="157163" cy="157163"/>
          </a:xfrm>
          <a:prstGeom prst="rect">
            <a:avLst/>
          </a:prstGeom>
        </p:spPr>
      </p:pic>
      <p:sp>
        <p:nvSpPr>
          <p:cNvPr id="8" name="Text 3"/>
          <p:cNvSpPr/>
          <p:nvPr/>
        </p:nvSpPr>
        <p:spPr>
          <a:xfrm>
            <a:off x="657225" y="926846"/>
            <a:ext cx="1082278" cy="155377"/>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2563EB"/>
                </a:solidFill>
                <a:latin typeface="NanumGothic" pitchFamily="34" charset="0"/>
                <a:ea typeface="NanumGothic" pitchFamily="34" charset="-122"/>
                <a:cs typeface="NanumGothic" pitchFamily="34" charset="-120"/>
              </a:rPr>
              <a:t>시뮬레이터 구조</a:t>
            </a:r>
            <a:endParaRPr lang="en-US" sz="1090" dirty="0"/>
          </a:p>
        </p:txBody>
      </p:sp>
      <p:sp>
        <p:nvSpPr>
          <p:cNvPr id="9" name="Text 4"/>
          <p:cNvSpPr/>
          <p:nvPr/>
        </p:nvSpPr>
        <p:spPr>
          <a:xfrm>
            <a:off x="428625" y="975959"/>
            <a:ext cx="8286750" cy="142875"/>
          </a:xfrm>
          <a:prstGeom prst="rect">
            <a:avLst/>
          </a:prstGeom>
          <a:noFill/>
          <a:ln/>
        </p:spPr>
        <p:txBody>
          <a:bodyPr wrap="none" lIns="0" tIns="0" rIns="0" bIns="0" rtlCol="0" anchor="t">
            <a:spAutoFit/>
          </a:bodyPr>
          <a:lstStyle/>
          <a:p>
            <a:pPr marL="0" indent="0" algn="ctr">
              <a:lnSpc>
                <a:spcPts val="1100"/>
              </a:lnSpc>
              <a:buNone/>
            </a:pPr>
            <a:r>
              <a:rPr lang="en-US" sz="834" dirty="0">
                <a:solidFill>
                  <a:srgbClr val="64748B"/>
                </a:solidFill>
                <a:latin typeface="NanumGothic" pitchFamily="34" charset="0"/>
                <a:ea typeface="NanumGothic" pitchFamily="34" charset="-122"/>
                <a:cs typeface="NanumGothic" pitchFamily="34" charset="-120"/>
              </a:rPr>
              <a:t>Pure Python DES, 1µs 해상도, 외부 라이브러리 무의존</a:t>
            </a:r>
            <a:endParaRPr lang="en-US" sz="834" dirty="0"/>
          </a:p>
        </p:txBody>
      </p:sp>
      <p:sp>
        <p:nvSpPr>
          <p:cNvPr id="10" name="Shape 5"/>
          <p:cNvSpPr/>
          <p:nvPr/>
        </p:nvSpPr>
        <p:spPr>
          <a:xfrm>
            <a:off x="428625" y="1472450"/>
            <a:ext cx="1871663" cy="357188"/>
          </a:xfrm>
          <a:prstGeom prst="rect">
            <a:avLst/>
          </a:prstGeom>
          <a:solidFill>
            <a:srgbClr val="F8FAFC"/>
          </a:solidFill>
          <a:ln w="9144">
            <a:solidFill>
              <a:srgbClr val="E2E8F0"/>
            </a:solidFill>
            <a:prstDash val="solid"/>
          </a:ln>
        </p:spPr>
        <p:txBody>
          <a:bodyPr/>
          <a:lstStyle/>
          <a:p>
            <a:endParaRPr lang="ko-KR" altLang="en-US"/>
          </a:p>
        </p:txBody>
      </p:sp>
      <p:sp>
        <p:nvSpPr>
          <p:cNvPr id="11" name="Text 6"/>
          <p:cNvSpPr/>
          <p:nvPr/>
        </p:nvSpPr>
        <p:spPr>
          <a:xfrm>
            <a:off x="428625" y="1472450"/>
            <a:ext cx="1871663" cy="357188"/>
          </a:xfrm>
          <a:prstGeom prst="rect">
            <a:avLst/>
          </a:prstGeom>
          <a:noFill/>
          <a:ln/>
        </p:spPr>
        <p:txBody>
          <a:bodyPr wrap="square" lIns="170053" tIns="127508" rIns="170053" bIns="127508" rtlCol="0" anchor="t">
            <a:spAutoFit/>
          </a:bodyPr>
          <a:lstStyle/>
          <a:p>
            <a:pPr marL="0" indent="0" algn="ctr">
              <a:lnSpc>
                <a:spcPts val="1200"/>
              </a:lnSpc>
              <a:buNone/>
            </a:pPr>
            <a:r>
              <a:rPr lang="en-US" sz="885" b="1" dirty="0">
                <a:solidFill>
                  <a:srgbClr val="0F172A"/>
                </a:solidFill>
                <a:latin typeface="NanumGothic" pitchFamily="34" charset="0"/>
                <a:ea typeface="NanumGothic" pitchFamily="34" charset="-122"/>
                <a:cs typeface="NanumGothic" pitchFamily="34" charset="-120"/>
              </a:rPr>
              <a:t>이벤트 루프</a:t>
            </a:r>
            <a:endParaRPr lang="en-US" sz="885" dirty="0"/>
          </a:p>
        </p:txBody>
      </p:sp>
      <p:pic>
        <p:nvPicPr>
          <p:cNvPr id="12" name="Image 2" descr="preencoded.png"/>
          <p:cNvPicPr>
            <a:picLocks noChangeAspect="1"/>
          </p:cNvPicPr>
          <p:nvPr/>
        </p:nvPicPr>
        <p:blipFill>
          <a:blip r:embed="rId5"/>
          <a:stretch>
            <a:fillRect/>
          </a:stretch>
        </p:blipFill>
        <p:spPr>
          <a:xfrm>
            <a:off x="2368153" y="1561747"/>
            <a:ext cx="107156" cy="171450"/>
          </a:xfrm>
          <a:prstGeom prst="rect">
            <a:avLst/>
          </a:prstGeom>
        </p:spPr>
      </p:pic>
      <p:sp>
        <p:nvSpPr>
          <p:cNvPr id="13" name="Shape 7"/>
          <p:cNvSpPr/>
          <p:nvPr/>
        </p:nvSpPr>
        <p:spPr>
          <a:xfrm>
            <a:off x="2557463" y="1404584"/>
            <a:ext cx="1871663" cy="492919"/>
          </a:xfrm>
          <a:prstGeom prst="rect">
            <a:avLst/>
          </a:prstGeom>
          <a:solidFill>
            <a:srgbClr val="F8FAFC"/>
          </a:solidFill>
          <a:ln w="9144">
            <a:solidFill>
              <a:srgbClr val="E2E8F0"/>
            </a:solidFill>
            <a:prstDash val="solid"/>
          </a:ln>
        </p:spPr>
        <p:txBody>
          <a:bodyPr/>
          <a:lstStyle/>
          <a:p>
            <a:endParaRPr lang="ko-KR" altLang="en-US"/>
          </a:p>
        </p:txBody>
      </p:sp>
      <p:sp>
        <p:nvSpPr>
          <p:cNvPr id="14" name="Text 8"/>
          <p:cNvSpPr/>
          <p:nvPr/>
        </p:nvSpPr>
        <p:spPr>
          <a:xfrm>
            <a:off x="2557463" y="1404584"/>
            <a:ext cx="1871663" cy="492919"/>
          </a:xfrm>
          <a:prstGeom prst="rect">
            <a:avLst/>
          </a:prstGeom>
          <a:noFill/>
          <a:ln/>
        </p:spPr>
        <p:txBody>
          <a:bodyPr wrap="square" lIns="170053" tIns="127508" rIns="170053" bIns="127508" rtlCol="0" anchor="t">
            <a:spAutoFit/>
          </a:bodyPr>
          <a:lstStyle/>
          <a:p>
            <a:pPr marL="0" indent="0" algn="ctr">
              <a:lnSpc>
                <a:spcPts val="1200"/>
              </a:lnSpc>
              <a:buNone/>
            </a:pPr>
            <a:r>
              <a:rPr lang="en-US" sz="885" b="1" dirty="0">
                <a:solidFill>
                  <a:srgbClr val="0F172A"/>
                </a:solidFill>
                <a:latin typeface="NanumGothic" pitchFamily="34" charset="0"/>
                <a:ea typeface="NanumGothic" pitchFamily="34" charset="-122"/>
                <a:cs typeface="NanumGothic" pitchFamily="34" charset="-120"/>
              </a:rPr>
              <a:t>버스 모델
</a:t>
            </a:r>
            <a:r>
              <a:rPr lang="en-US" sz="727" dirty="0">
                <a:solidFill>
                  <a:srgbClr val="0F172A"/>
                </a:solidFill>
                <a:latin typeface="NanumGothic" pitchFamily="34" charset="0"/>
                <a:ea typeface="NanumGothic" pitchFamily="34" charset="-122"/>
                <a:cs typeface="NanumGothic" pitchFamily="34" charset="-120"/>
              </a:rPr>
              <a:t>(우선순위 중재)</a:t>
            </a:r>
            <a:endParaRPr lang="en-US" sz="885" dirty="0"/>
          </a:p>
        </p:txBody>
      </p:sp>
      <p:pic>
        <p:nvPicPr>
          <p:cNvPr id="15" name="Image 3" descr="preencoded.png"/>
          <p:cNvPicPr>
            <a:picLocks noChangeAspect="1"/>
          </p:cNvPicPr>
          <p:nvPr/>
        </p:nvPicPr>
        <p:blipFill>
          <a:blip r:embed="rId5"/>
          <a:stretch>
            <a:fillRect/>
          </a:stretch>
        </p:blipFill>
        <p:spPr>
          <a:xfrm>
            <a:off x="4504106" y="1554603"/>
            <a:ext cx="107156" cy="171450"/>
          </a:xfrm>
          <a:prstGeom prst="rect">
            <a:avLst/>
          </a:prstGeom>
        </p:spPr>
      </p:pic>
      <p:sp>
        <p:nvSpPr>
          <p:cNvPr id="16" name="Shape 9"/>
          <p:cNvSpPr/>
          <p:nvPr/>
        </p:nvSpPr>
        <p:spPr>
          <a:xfrm>
            <a:off x="4695788" y="1465306"/>
            <a:ext cx="1871663" cy="357188"/>
          </a:xfrm>
          <a:prstGeom prst="rect">
            <a:avLst/>
          </a:prstGeom>
          <a:solidFill>
            <a:srgbClr val="F8FAFC"/>
          </a:solidFill>
          <a:ln w="9144">
            <a:solidFill>
              <a:srgbClr val="E2E8F0"/>
            </a:solidFill>
            <a:prstDash val="solid"/>
          </a:ln>
        </p:spPr>
        <p:txBody>
          <a:bodyPr/>
          <a:lstStyle/>
          <a:p>
            <a:endParaRPr lang="ko-KR" altLang="en-US"/>
          </a:p>
        </p:txBody>
      </p:sp>
      <p:sp>
        <p:nvSpPr>
          <p:cNvPr id="17" name="Text 10"/>
          <p:cNvSpPr/>
          <p:nvPr/>
        </p:nvSpPr>
        <p:spPr>
          <a:xfrm>
            <a:off x="4695788" y="1465306"/>
            <a:ext cx="1871663" cy="357188"/>
          </a:xfrm>
          <a:prstGeom prst="rect">
            <a:avLst/>
          </a:prstGeom>
          <a:noFill/>
          <a:ln/>
        </p:spPr>
        <p:txBody>
          <a:bodyPr wrap="square" lIns="170053" tIns="127508" rIns="170053" bIns="127508" rtlCol="0" anchor="t">
            <a:spAutoFit/>
          </a:bodyPr>
          <a:lstStyle/>
          <a:p>
            <a:pPr marL="0" indent="0" algn="ctr">
              <a:lnSpc>
                <a:spcPts val="1200"/>
              </a:lnSpc>
              <a:buNone/>
            </a:pPr>
            <a:r>
              <a:rPr lang="en-US" sz="885" b="1" dirty="0">
                <a:solidFill>
                  <a:srgbClr val="0F172A"/>
                </a:solidFill>
                <a:latin typeface="NanumGothic" pitchFamily="34" charset="0"/>
                <a:ea typeface="NanumGothic" pitchFamily="34" charset="-122"/>
                <a:cs typeface="NanumGothic" pitchFamily="34" charset="-120"/>
              </a:rPr>
              <a:t>ISO-TP 전송</a:t>
            </a:r>
            <a:endParaRPr lang="en-US" sz="885" dirty="0"/>
          </a:p>
        </p:txBody>
      </p:sp>
      <p:pic>
        <p:nvPicPr>
          <p:cNvPr id="18" name="Image 4" descr="preencoded.png"/>
          <p:cNvPicPr>
            <a:picLocks noChangeAspect="1"/>
          </p:cNvPicPr>
          <p:nvPr/>
        </p:nvPicPr>
        <p:blipFill>
          <a:blip r:embed="rId5"/>
          <a:stretch>
            <a:fillRect/>
          </a:stretch>
        </p:blipFill>
        <p:spPr>
          <a:xfrm>
            <a:off x="6649548" y="1554603"/>
            <a:ext cx="107156" cy="171450"/>
          </a:xfrm>
          <a:prstGeom prst="rect">
            <a:avLst/>
          </a:prstGeom>
        </p:spPr>
      </p:pic>
      <p:sp>
        <p:nvSpPr>
          <p:cNvPr id="19" name="Shape 11"/>
          <p:cNvSpPr/>
          <p:nvPr/>
        </p:nvSpPr>
        <p:spPr>
          <a:xfrm>
            <a:off x="6843601" y="1465306"/>
            <a:ext cx="1871663" cy="357188"/>
          </a:xfrm>
          <a:prstGeom prst="rect">
            <a:avLst/>
          </a:prstGeom>
          <a:solidFill>
            <a:srgbClr val="F8FAFC"/>
          </a:solidFill>
          <a:ln w="9144">
            <a:solidFill>
              <a:srgbClr val="E2E8F0"/>
            </a:solidFill>
            <a:prstDash val="solid"/>
          </a:ln>
        </p:spPr>
        <p:txBody>
          <a:bodyPr/>
          <a:lstStyle/>
          <a:p>
            <a:endParaRPr lang="ko-KR" altLang="en-US"/>
          </a:p>
        </p:txBody>
      </p:sp>
      <p:sp>
        <p:nvSpPr>
          <p:cNvPr id="20" name="Text 12"/>
          <p:cNvSpPr/>
          <p:nvPr/>
        </p:nvSpPr>
        <p:spPr>
          <a:xfrm>
            <a:off x="6843601" y="1465306"/>
            <a:ext cx="1871663" cy="357188"/>
          </a:xfrm>
          <a:prstGeom prst="rect">
            <a:avLst/>
          </a:prstGeom>
          <a:noFill/>
          <a:ln/>
        </p:spPr>
        <p:txBody>
          <a:bodyPr wrap="square" lIns="170053" tIns="127508" rIns="170053" bIns="127508" rtlCol="0" anchor="t">
            <a:spAutoFit/>
          </a:bodyPr>
          <a:lstStyle/>
          <a:p>
            <a:pPr marL="0" indent="0" algn="ctr">
              <a:lnSpc>
                <a:spcPts val="1200"/>
              </a:lnSpc>
              <a:buNone/>
            </a:pPr>
            <a:r>
              <a:rPr lang="en-US" sz="885" b="1" dirty="0">
                <a:solidFill>
                  <a:srgbClr val="0F172A"/>
                </a:solidFill>
                <a:latin typeface="NanumGothic" pitchFamily="34" charset="0"/>
                <a:ea typeface="NanumGothic" pitchFamily="34" charset="-122"/>
                <a:cs typeface="NanumGothic" pitchFamily="34" charset="-120"/>
              </a:rPr>
              <a:t>메트릭 수집</a:t>
            </a:r>
            <a:endParaRPr lang="en-US" sz="885" dirty="0"/>
          </a:p>
        </p:txBody>
      </p:sp>
      <p:pic>
        <p:nvPicPr>
          <p:cNvPr id="21" name="Image 5" descr="preencoded.png"/>
          <p:cNvPicPr>
            <a:picLocks noChangeAspect="1"/>
          </p:cNvPicPr>
          <p:nvPr/>
        </p:nvPicPr>
        <p:blipFill>
          <a:blip r:embed="rId6"/>
          <a:stretch>
            <a:fillRect/>
          </a:stretch>
        </p:blipFill>
        <p:spPr>
          <a:xfrm>
            <a:off x="428625" y="2168965"/>
            <a:ext cx="157163" cy="157163"/>
          </a:xfrm>
          <a:prstGeom prst="rect">
            <a:avLst/>
          </a:prstGeom>
        </p:spPr>
      </p:pic>
      <p:sp>
        <p:nvSpPr>
          <p:cNvPr id="22" name="Text 13"/>
          <p:cNvSpPr/>
          <p:nvPr/>
        </p:nvSpPr>
        <p:spPr>
          <a:xfrm>
            <a:off x="657225" y="2169858"/>
            <a:ext cx="732234" cy="155377"/>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2563EB"/>
                </a:solidFill>
                <a:latin typeface="NanumGothic" pitchFamily="34" charset="0"/>
                <a:ea typeface="NanumGothic" pitchFamily="34" charset="-122"/>
                <a:cs typeface="NanumGothic" pitchFamily="34" charset="-120"/>
              </a:rPr>
              <a:t>검증 4단계</a:t>
            </a:r>
            <a:endParaRPr lang="en-US" sz="1090" dirty="0"/>
          </a:p>
        </p:txBody>
      </p:sp>
      <p:sp>
        <p:nvSpPr>
          <p:cNvPr id="23" name="Shape 14"/>
          <p:cNvSpPr/>
          <p:nvPr/>
        </p:nvSpPr>
        <p:spPr>
          <a:xfrm>
            <a:off x="428625" y="2433284"/>
            <a:ext cx="4071938" cy="633282"/>
          </a:xfrm>
          <a:prstGeom prst="rect">
            <a:avLst/>
          </a:prstGeom>
          <a:solidFill>
            <a:srgbClr val="F1F5F9"/>
          </a:solidFill>
          <a:ln/>
        </p:spPr>
        <p:txBody>
          <a:bodyPr/>
          <a:lstStyle/>
          <a:p>
            <a:endParaRPr lang="ko-KR" altLang="en-US"/>
          </a:p>
        </p:txBody>
      </p:sp>
      <p:sp>
        <p:nvSpPr>
          <p:cNvPr id="24" name="Shape 15"/>
          <p:cNvSpPr/>
          <p:nvPr/>
        </p:nvSpPr>
        <p:spPr>
          <a:xfrm>
            <a:off x="428625" y="2433284"/>
            <a:ext cx="4071938" cy="28575"/>
          </a:xfrm>
          <a:prstGeom prst="rect">
            <a:avLst/>
          </a:prstGeom>
          <a:solidFill>
            <a:srgbClr val="2563EB"/>
          </a:solidFill>
          <a:ln/>
        </p:spPr>
        <p:txBody>
          <a:bodyPr/>
          <a:lstStyle/>
          <a:p>
            <a:endParaRPr lang="ko-KR" altLang="en-US"/>
          </a:p>
        </p:txBody>
      </p:sp>
      <p:sp>
        <p:nvSpPr>
          <p:cNvPr id="25" name="Text 16"/>
          <p:cNvSpPr/>
          <p:nvPr/>
        </p:nvSpPr>
        <p:spPr>
          <a:xfrm>
            <a:off x="571500" y="2540440"/>
            <a:ext cx="3786188" cy="192881"/>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2563EB"/>
                </a:solidFill>
                <a:latin typeface="NanumGothic" pitchFamily="34" charset="0"/>
                <a:ea typeface="NanumGothic" pitchFamily="34" charset="-122"/>
                <a:cs typeface="NanumGothic" pitchFamily="34" charset="-120"/>
              </a:rPr>
              <a:t>① No-contention 검증</a:t>
            </a:r>
            <a:endParaRPr lang="en-US" sz="987" dirty="0"/>
          </a:p>
        </p:txBody>
      </p:sp>
      <p:sp>
        <p:nvSpPr>
          <p:cNvPr id="26" name="Text 17"/>
          <p:cNvSpPr/>
          <p:nvPr/>
        </p:nvSpPr>
        <p:spPr>
          <a:xfrm>
            <a:off x="571500" y="2769040"/>
            <a:ext cx="3786188" cy="161795"/>
          </a:xfrm>
          <a:prstGeom prst="rect">
            <a:avLst/>
          </a:prstGeom>
          <a:noFill/>
          <a:ln/>
        </p:spPr>
        <p:txBody>
          <a:bodyPr wrap="none" lIns="0" tIns="0" rIns="0" bIns="0" rtlCol="0" anchor="t">
            <a:spAutoFit/>
          </a:bodyPr>
          <a:lstStyle/>
          <a:p>
            <a:pPr marL="0" indent="0" algn="l">
              <a:lnSpc>
                <a:spcPts val="1300"/>
              </a:lnSpc>
              <a:buNone/>
            </a:pPr>
            <a:r>
              <a:rPr lang="en-US" sz="834" dirty="0">
                <a:solidFill>
                  <a:srgbClr val="475569"/>
                </a:solidFill>
                <a:latin typeface="NanumGothic" pitchFamily="34" charset="0"/>
                <a:ea typeface="NanumGothic" pitchFamily="34" charset="-122"/>
                <a:cs typeface="NanumGothic" pitchFamily="34" charset="-120"/>
              </a:rPr>
              <a:t>이론적 전송 시간과 시뮬레이션 결과 비교: </a:t>
            </a:r>
            <a:r>
              <a:rPr lang="en-US" sz="784" b="1" dirty="0">
                <a:solidFill>
                  <a:srgbClr val="475569"/>
                </a:solidFill>
                <a:latin typeface="NanumGothic" pitchFamily="34" charset="0"/>
                <a:ea typeface="NanumGothic" pitchFamily="34" charset="-122"/>
                <a:cs typeface="NanumGothic" pitchFamily="34" charset="-120"/>
              </a:rPr>
              <a:t>오차 0.00%</a:t>
            </a:r>
            <a:r>
              <a:rPr lang="en-US" sz="834" dirty="0">
                <a:solidFill>
                  <a:srgbClr val="475569"/>
                </a:solidFill>
                <a:latin typeface="NanumGothic" pitchFamily="34" charset="0"/>
                <a:ea typeface="NanumGothic" pitchFamily="34" charset="-122"/>
                <a:cs typeface="NanumGothic" pitchFamily="34" charset="-120"/>
              </a:rPr>
              <a:t> 확인</a:t>
            </a:r>
            <a:endParaRPr lang="en-US" sz="834" dirty="0"/>
          </a:p>
        </p:txBody>
      </p:sp>
      <p:sp>
        <p:nvSpPr>
          <p:cNvPr id="27" name="Shape 18"/>
          <p:cNvSpPr/>
          <p:nvPr/>
        </p:nvSpPr>
        <p:spPr>
          <a:xfrm>
            <a:off x="4643438" y="2433284"/>
            <a:ext cx="4071938" cy="633282"/>
          </a:xfrm>
          <a:prstGeom prst="rect">
            <a:avLst/>
          </a:prstGeom>
          <a:solidFill>
            <a:srgbClr val="F1F5F9"/>
          </a:solidFill>
          <a:ln/>
        </p:spPr>
        <p:txBody>
          <a:bodyPr/>
          <a:lstStyle/>
          <a:p>
            <a:endParaRPr lang="ko-KR" altLang="en-US"/>
          </a:p>
        </p:txBody>
      </p:sp>
      <p:sp>
        <p:nvSpPr>
          <p:cNvPr id="28" name="Shape 19"/>
          <p:cNvSpPr/>
          <p:nvPr/>
        </p:nvSpPr>
        <p:spPr>
          <a:xfrm>
            <a:off x="4643438" y="2433284"/>
            <a:ext cx="4071938" cy="28575"/>
          </a:xfrm>
          <a:prstGeom prst="rect">
            <a:avLst/>
          </a:prstGeom>
          <a:solidFill>
            <a:srgbClr val="2563EB"/>
          </a:solidFill>
          <a:ln/>
        </p:spPr>
        <p:txBody>
          <a:bodyPr/>
          <a:lstStyle/>
          <a:p>
            <a:endParaRPr lang="ko-KR" altLang="en-US"/>
          </a:p>
        </p:txBody>
      </p:sp>
      <p:sp>
        <p:nvSpPr>
          <p:cNvPr id="29" name="Text 20"/>
          <p:cNvSpPr/>
          <p:nvPr/>
        </p:nvSpPr>
        <p:spPr>
          <a:xfrm>
            <a:off x="4786313" y="2540440"/>
            <a:ext cx="3786188" cy="192881"/>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2563EB"/>
                </a:solidFill>
                <a:latin typeface="NanumGothic" pitchFamily="34" charset="0"/>
                <a:ea typeface="NanumGothic" pitchFamily="34" charset="-122"/>
                <a:cs typeface="NanumGothic" pitchFamily="34" charset="-120"/>
              </a:rPr>
              <a:t>② WCRT 검증</a:t>
            </a:r>
            <a:endParaRPr lang="en-US" sz="987" dirty="0"/>
          </a:p>
        </p:txBody>
      </p:sp>
      <p:sp>
        <p:nvSpPr>
          <p:cNvPr id="30" name="Text 21"/>
          <p:cNvSpPr/>
          <p:nvPr/>
        </p:nvSpPr>
        <p:spPr>
          <a:xfrm>
            <a:off x="4786313" y="2769040"/>
            <a:ext cx="3887283" cy="152286"/>
          </a:xfrm>
          <a:prstGeom prst="rect">
            <a:avLst/>
          </a:prstGeom>
          <a:noFill/>
          <a:ln/>
        </p:spPr>
        <p:txBody>
          <a:bodyPr wrap="none" lIns="0" tIns="0" rIns="0" bIns="0" rtlCol="0" anchor="t">
            <a:spAutoFit/>
          </a:bodyPr>
          <a:lstStyle/>
          <a:p>
            <a:pPr marL="0" indent="0" algn="l">
              <a:lnSpc>
                <a:spcPts val="1300"/>
              </a:lnSpc>
              <a:buNone/>
            </a:pPr>
            <a:r>
              <a:rPr lang="en-US" sz="834" dirty="0">
                <a:solidFill>
                  <a:srgbClr val="475569"/>
                </a:solidFill>
                <a:latin typeface="NanumGothic" pitchFamily="34" charset="0"/>
                <a:ea typeface="NanumGothic" pitchFamily="34" charset="-122"/>
                <a:cs typeface="NanumGothic" pitchFamily="34" charset="-120"/>
              </a:rPr>
              <a:t>4개 메시지 셋(총 26개 스트림)에서 </a:t>
            </a:r>
            <a:r>
              <a:rPr lang="en-US" sz="784" b="1" dirty="0">
                <a:solidFill>
                  <a:srgbClr val="475569"/>
                </a:solidFill>
                <a:latin typeface="NanumGothic" pitchFamily="34" charset="0"/>
                <a:ea typeface="NanumGothic" pitchFamily="34" charset="-122"/>
                <a:cs typeface="NanumGothic" pitchFamily="34" charset="-120"/>
              </a:rPr>
              <a:t>R_sim ≤ R_WCRT</a:t>
            </a:r>
            <a:r>
              <a:rPr lang="en-US" sz="834" dirty="0">
                <a:solidFill>
                  <a:srgbClr val="475569"/>
                </a:solidFill>
                <a:latin typeface="NanumGothic" pitchFamily="34" charset="0"/>
                <a:ea typeface="NanumGothic" pitchFamily="34" charset="-122"/>
                <a:cs typeface="NanumGothic" pitchFamily="34" charset="-120"/>
              </a:rPr>
              <a:t> 만족 (각 세트 최하위 tight bound)</a:t>
            </a:r>
            <a:endParaRPr lang="en-US" sz="834" dirty="0"/>
          </a:p>
        </p:txBody>
      </p:sp>
      <p:sp>
        <p:nvSpPr>
          <p:cNvPr id="31" name="Shape 22"/>
          <p:cNvSpPr/>
          <p:nvPr/>
        </p:nvSpPr>
        <p:spPr>
          <a:xfrm>
            <a:off x="428625" y="3180866"/>
            <a:ext cx="4071938" cy="633282"/>
          </a:xfrm>
          <a:prstGeom prst="rect">
            <a:avLst/>
          </a:prstGeom>
          <a:solidFill>
            <a:srgbClr val="F1F5F9"/>
          </a:solidFill>
          <a:ln/>
        </p:spPr>
        <p:txBody>
          <a:bodyPr/>
          <a:lstStyle/>
          <a:p>
            <a:endParaRPr lang="ko-KR" altLang="en-US"/>
          </a:p>
        </p:txBody>
      </p:sp>
      <p:sp>
        <p:nvSpPr>
          <p:cNvPr id="32" name="Shape 23"/>
          <p:cNvSpPr/>
          <p:nvPr/>
        </p:nvSpPr>
        <p:spPr>
          <a:xfrm>
            <a:off x="428625" y="3180866"/>
            <a:ext cx="4071938" cy="28575"/>
          </a:xfrm>
          <a:prstGeom prst="rect">
            <a:avLst/>
          </a:prstGeom>
          <a:solidFill>
            <a:srgbClr val="2563EB"/>
          </a:solidFill>
          <a:ln/>
        </p:spPr>
        <p:txBody>
          <a:bodyPr/>
          <a:lstStyle/>
          <a:p>
            <a:endParaRPr lang="ko-KR" altLang="en-US"/>
          </a:p>
        </p:txBody>
      </p:sp>
      <p:sp>
        <p:nvSpPr>
          <p:cNvPr id="33" name="Text 24"/>
          <p:cNvSpPr/>
          <p:nvPr/>
        </p:nvSpPr>
        <p:spPr>
          <a:xfrm>
            <a:off x="571500" y="3288023"/>
            <a:ext cx="3786188" cy="192881"/>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2563EB"/>
                </a:solidFill>
                <a:latin typeface="NanumGothic" pitchFamily="34" charset="0"/>
                <a:ea typeface="NanumGothic" pitchFamily="34" charset="-122"/>
                <a:cs typeface="NanumGothic" pitchFamily="34" charset="-120"/>
              </a:rPr>
              <a:t>③ Aperiodic burst bound</a:t>
            </a:r>
            <a:endParaRPr lang="en-US" sz="987" dirty="0"/>
          </a:p>
        </p:txBody>
      </p:sp>
      <p:sp>
        <p:nvSpPr>
          <p:cNvPr id="34" name="Text 25"/>
          <p:cNvSpPr/>
          <p:nvPr/>
        </p:nvSpPr>
        <p:spPr>
          <a:xfrm>
            <a:off x="571500" y="3516623"/>
            <a:ext cx="3786188" cy="161795"/>
          </a:xfrm>
          <a:prstGeom prst="rect">
            <a:avLst/>
          </a:prstGeom>
          <a:noFill/>
          <a:ln/>
        </p:spPr>
        <p:txBody>
          <a:bodyPr wrap="none" lIns="0" tIns="0" rIns="0" bIns="0" rtlCol="0" anchor="t">
            <a:spAutoFit/>
          </a:bodyPr>
          <a:lstStyle/>
          <a:p>
            <a:pPr marL="0" indent="0" algn="l">
              <a:lnSpc>
                <a:spcPts val="1300"/>
              </a:lnSpc>
              <a:buNone/>
            </a:pPr>
            <a:r>
              <a:rPr lang="en-US" sz="834" dirty="0">
                <a:solidFill>
                  <a:srgbClr val="475569"/>
                </a:solidFill>
                <a:latin typeface="NanumGothic" pitchFamily="34" charset="0"/>
                <a:ea typeface="NanumGothic" pitchFamily="34" charset="-122"/>
                <a:cs typeface="NanumGothic" pitchFamily="34" charset="-120"/>
              </a:rPr>
              <a:t>534 시나리오 중 위반 0건, P99/T_upper 중앙값 </a:t>
            </a:r>
            <a:r>
              <a:rPr lang="en-US" sz="784" b="1" dirty="0">
                <a:solidFill>
                  <a:srgbClr val="475569"/>
                </a:solidFill>
                <a:latin typeface="NanumGothic" pitchFamily="34" charset="0"/>
                <a:ea typeface="NanumGothic" pitchFamily="34" charset="-122"/>
                <a:cs typeface="NanumGothic" pitchFamily="34" charset="-120"/>
              </a:rPr>
              <a:t>0.34</a:t>
            </a:r>
            <a:r>
              <a:rPr lang="en-US" sz="834" dirty="0">
                <a:solidFill>
                  <a:srgbClr val="475569"/>
                </a:solidFill>
                <a:latin typeface="NanumGothic" pitchFamily="34" charset="0"/>
                <a:ea typeface="NanumGothic" pitchFamily="34" charset="-122"/>
                <a:cs typeface="NanumGothic" pitchFamily="34" charset="-120"/>
              </a:rPr>
              <a:t> 기록</a:t>
            </a:r>
            <a:endParaRPr lang="en-US" sz="834" dirty="0"/>
          </a:p>
        </p:txBody>
      </p:sp>
      <p:sp>
        <p:nvSpPr>
          <p:cNvPr id="35" name="Shape 26"/>
          <p:cNvSpPr/>
          <p:nvPr/>
        </p:nvSpPr>
        <p:spPr>
          <a:xfrm>
            <a:off x="4643438" y="3180866"/>
            <a:ext cx="4071938" cy="633282"/>
          </a:xfrm>
          <a:prstGeom prst="rect">
            <a:avLst/>
          </a:prstGeom>
          <a:solidFill>
            <a:srgbClr val="F1F5F9"/>
          </a:solidFill>
          <a:ln/>
        </p:spPr>
        <p:txBody>
          <a:bodyPr/>
          <a:lstStyle/>
          <a:p>
            <a:endParaRPr lang="ko-KR" altLang="en-US"/>
          </a:p>
        </p:txBody>
      </p:sp>
      <p:sp>
        <p:nvSpPr>
          <p:cNvPr id="36" name="Shape 27"/>
          <p:cNvSpPr/>
          <p:nvPr/>
        </p:nvSpPr>
        <p:spPr>
          <a:xfrm>
            <a:off x="4643438" y="3180866"/>
            <a:ext cx="4071938" cy="28575"/>
          </a:xfrm>
          <a:prstGeom prst="rect">
            <a:avLst/>
          </a:prstGeom>
          <a:solidFill>
            <a:srgbClr val="2563EB"/>
          </a:solidFill>
          <a:ln/>
        </p:spPr>
        <p:txBody>
          <a:bodyPr/>
          <a:lstStyle/>
          <a:p>
            <a:endParaRPr lang="ko-KR" altLang="en-US"/>
          </a:p>
        </p:txBody>
      </p:sp>
      <p:sp>
        <p:nvSpPr>
          <p:cNvPr id="37" name="Text 28"/>
          <p:cNvSpPr/>
          <p:nvPr/>
        </p:nvSpPr>
        <p:spPr>
          <a:xfrm>
            <a:off x="4786313" y="3288023"/>
            <a:ext cx="3786188" cy="192881"/>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2563EB"/>
                </a:solidFill>
                <a:latin typeface="NanumGothic" pitchFamily="34" charset="0"/>
                <a:ea typeface="NanumGothic" pitchFamily="34" charset="-122"/>
                <a:cs typeface="NanumGothic" pitchFamily="34" charset="-120"/>
              </a:rPr>
              <a:t>④ ISO-TP cross-validation</a:t>
            </a:r>
            <a:endParaRPr lang="en-US" sz="987" dirty="0"/>
          </a:p>
        </p:txBody>
      </p:sp>
      <p:sp>
        <p:nvSpPr>
          <p:cNvPr id="38" name="Text 29"/>
          <p:cNvSpPr/>
          <p:nvPr/>
        </p:nvSpPr>
        <p:spPr>
          <a:xfrm>
            <a:off x="4786313" y="3516623"/>
            <a:ext cx="3786188" cy="161795"/>
          </a:xfrm>
          <a:prstGeom prst="rect">
            <a:avLst/>
          </a:prstGeom>
          <a:noFill/>
          <a:ln/>
        </p:spPr>
        <p:txBody>
          <a:bodyPr wrap="none" lIns="0" tIns="0" rIns="0" bIns="0" rtlCol="0" anchor="t">
            <a:spAutoFit/>
          </a:bodyPr>
          <a:lstStyle/>
          <a:p>
            <a:pPr marL="0" indent="0" algn="l">
              <a:lnSpc>
                <a:spcPts val="1300"/>
              </a:lnSpc>
              <a:buNone/>
            </a:pPr>
            <a:r>
              <a:rPr lang="en-US" sz="834" dirty="0">
                <a:solidFill>
                  <a:srgbClr val="475569"/>
                </a:solidFill>
                <a:latin typeface="NanumGothic" pitchFamily="34" charset="0"/>
                <a:ea typeface="NanumGothic" pitchFamily="34" charset="-122"/>
                <a:cs typeface="NanumGothic" pitchFamily="34" charset="-120"/>
              </a:rPr>
              <a:t>45개 아티팩트 크기 × python-can-isotp 라이브러리와 </a:t>
            </a:r>
            <a:r>
              <a:rPr lang="en-US" sz="784" b="1" dirty="0">
                <a:solidFill>
                  <a:srgbClr val="475569"/>
                </a:solidFill>
                <a:latin typeface="NanumGothic" pitchFamily="34" charset="0"/>
                <a:ea typeface="NanumGothic" pitchFamily="34" charset="-122"/>
                <a:cs typeface="NanumGothic" pitchFamily="34" charset="-120"/>
              </a:rPr>
              <a:t>완전 일치</a:t>
            </a:r>
            <a:endParaRPr lang="en-US" sz="834" dirty="0"/>
          </a:p>
        </p:txBody>
      </p:sp>
      <p:sp>
        <p:nvSpPr>
          <p:cNvPr id="39" name="Text 30"/>
          <p:cNvSpPr/>
          <p:nvPr/>
        </p:nvSpPr>
        <p:spPr>
          <a:xfrm>
            <a:off x="0" y="4875609"/>
            <a:ext cx="9144000" cy="125016"/>
          </a:xfrm>
          <a:prstGeom prst="rect">
            <a:avLst/>
          </a:prstGeom>
          <a:noFill/>
          <a:ln/>
        </p:spPr>
        <p:txBody>
          <a:bodyPr wrap="none" lIns="0" tIns="0" rIns="0" bIns="0" rtlCol="0" anchor="t">
            <a:spAutoFit/>
          </a:bodyPr>
          <a:lstStyle/>
          <a:p>
            <a:pPr marL="0" indent="0" algn="ctr">
              <a:lnSpc>
                <a:spcPts val="900"/>
              </a:lnSpc>
              <a:buNone/>
            </a:pPr>
            <a:r>
              <a:rPr lang="en-US" sz="727" dirty="0">
                <a:solidFill>
                  <a:srgbClr val="94A3B8"/>
                </a:solidFill>
                <a:latin typeface="NanumGothic" pitchFamily="34" charset="0"/>
                <a:ea typeface="NanumGothic" pitchFamily="34" charset="-122"/>
                <a:cs typeface="NanumGothic" pitchFamily="34" charset="-120"/>
              </a:rPr>
              <a:t>6</a:t>
            </a:r>
            <a:endParaRPr lang="en-US" sz="727" dirty="0"/>
          </a:p>
        </p:txBody>
      </p:sp>
    </p:spTree>
    <p:extLst>
      <p:ext uri="{BB962C8B-B14F-4D97-AF65-F5344CB8AC3E}">
        <p14:creationId xmlns:p14="http://schemas.microsoft.com/office/powerpoint/2010/main" val="13583413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0" y="0"/>
            <a:ext cx="9144000" cy="797365"/>
          </a:xfrm>
          <a:prstGeom prst="rect">
            <a:avLst/>
          </a:prstGeom>
          <a:solidFill>
            <a:srgbClr val="000000">
              <a:alpha val="0"/>
            </a:srgbClr>
          </a:solidFill>
          <a:ln/>
        </p:spPr>
        <p:txBody>
          <a:bodyPr/>
          <a:lstStyle/>
          <a:p>
            <a:endParaRPr lang="ko-KR" altLang="en-US"/>
          </a:p>
        </p:txBody>
      </p:sp>
      <p:sp>
        <p:nvSpPr>
          <p:cNvPr id="5" name="Shape 1"/>
          <p:cNvSpPr/>
          <p:nvPr/>
        </p:nvSpPr>
        <p:spPr>
          <a:xfrm>
            <a:off x="0" y="783078"/>
            <a:ext cx="9144000" cy="14288"/>
          </a:xfrm>
          <a:prstGeom prst="rect">
            <a:avLst/>
          </a:prstGeom>
          <a:solidFill>
            <a:srgbClr val="F1F5F9"/>
          </a:solidFill>
          <a:ln/>
        </p:spPr>
        <p:txBody>
          <a:bodyPr/>
          <a:lstStyle/>
          <a:p>
            <a:endParaRPr lang="ko-KR" altLang="en-US"/>
          </a:p>
        </p:txBody>
      </p:sp>
      <p:sp>
        <p:nvSpPr>
          <p:cNvPr id="6" name="Text 2"/>
          <p:cNvSpPr/>
          <p:nvPr/>
        </p:nvSpPr>
        <p:spPr>
          <a:xfrm>
            <a:off x="428625" y="458037"/>
            <a:ext cx="8715375" cy="253603"/>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0F172A"/>
                </a:solidFill>
                <a:latin typeface="NanumGothic" pitchFamily="34" charset="0"/>
                <a:ea typeface="NanumGothic" pitchFamily="34" charset="-122"/>
                <a:cs typeface="NanumGothic" pitchFamily="34" charset="-120"/>
              </a:rPr>
              <a:t>실험 설계</a:t>
            </a:r>
            <a:endParaRPr lang="en-US" sz="1808" dirty="0"/>
          </a:p>
        </p:txBody>
      </p:sp>
      <p:sp>
        <p:nvSpPr>
          <p:cNvPr id="7" name="Shape 3"/>
          <p:cNvSpPr/>
          <p:nvPr/>
        </p:nvSpPr>
        <p:spPr>
          <a:xfrm>
            <a:off x="428625" y="925953"/>
            <a:ext cx="4036219" cy="882253"/>
          </a:xfrm>
          <a:prstGeom prst="rect">
            <a:avLst/>
          </a:prstGeom>
          <a:solidFill>
            <a:srgbClr val="F8FAFC"/>
          </a:solidFill>
          <a:ln/>
        </p:spPr>
        <p:txBody>
          <a:bodyPr/>
          <a:lstStyle/>
          <a:p>
            <a:endParaRPr lang="ko-KR" altLang="en-US"/>
          </a:p>
        </p:txBody>
      </p:sp>
      <p:sp>
        <p:nvSpPr>
          <p:cNvPr id="8" name="Shape 4"/>
          <p:cNvSpPr/>
          <p:nvPr/>
        </p:nvSpPr>
        <p:spPr>
          <a:xfrm>
            <a:off x="428625" y="925953"/>
            <a:ext cx="4036219" cy="28575"/>
          </a:xfrm>
          <a:prstGeom prst="rect">
            <a:avLst/>
          </a:prstGeom>
          <a:solidFill>
            <a:srgbClr val="2563EB"/>
          </a:solidFill>
          <a:ln/>
        </p:spPr>
        <p:txBody>
          <a:bodyPr/>
          <a:lstStyle/>
          <a:p>
            <a:endParaRPr lang="ko-KR" altLang="en-US"/>
          </a:p>
        </p:txBody>
      </p:sp>
      <p:sp>
        <p:nvSpPr>
          <p:cNvPr id="9" name="Text 5"/>
          <p:cNvSpPr/>
          <p:nvPr/>
        </p:nvSpPr>
        <p:spPr>
          <a:xfrm>
            <a:off x="571500" y="1033109"/>
            <a:ext cx="3750469" cy="157163"/>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0F172A"/>
                </a:solidFill>
                <a:latin typeface="NanumGothic" pitchFamily="34" charset="0"/>
                <a:ea typeface="NanumGothic" pitchFamily="34" charset="-122"/>
                <a:cs typeface="NanumGothic" pitchFamily="34" charset="-120"/>
              </a:rPr>
              <a:t>Phase A: 전수 탐색 (534 시나리오)</a:t>
            </a:r>
            <a:endParaRPr lang="en-US" sz="1090" dirty="0"/>
          </a:p>
        </p:txBody>
      </p:sp>
      <p:sp>
        <p:nvSpPr>
          <p:cNvPr id="10" name="Text 6"/>
          <p:cNvSpPr/>
          <p:nvPr/>
        </p:nvSpPr>
        <p:spPr>
          <a:xfrm>
            <a:off x="571500" y="1261709"/>
            <a:ext cx="3750469" cy="517922"/>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75569"/>
                </a:solidFill>
                <a:latin typeface="NanumGothic" pitchFamily="34" charset="0"/>
                <a:ea typeface="NanumGothic" pitchFamily="34" charset="-122"/>
                <a:cs typeface="NanumGothic" pitchFamily="34" charset="-120"/>
              </a:rPr>
              <a:t>• </a:t>
            </a:r>
            <a:r>
              <a:rPr lang="en-US" sz="784" b="1" dirty="0">
                <a:solidFill>
                  <a:srgbClr val="2563EB"/>
                </a:solidFill>
                <a:latin typeface="NanumGothic" pitchFamily="34" charset="0"/>
                <a:ea typeface="NanumGothic" pitchFamily="34" charset="-122"/>
                <a:cs typeface="NanumGothic" pitchFamily="34" charset="-120"/>
              </a:rPr>
              <a:t>KEM (432):</a:t>
            </a:r>
            <a:r>
              <a:rPr lang="en-US" sz="834" dirty="0">
                <a:solidFill>
                  <a:srgbClr val="475569"/>
                </a:solidFill>
                <a:latin typeface="NanumGothic" pitchFamily="34" charset="0"/>
                <a:ea typeface="NanumGothic" pitchFamily="34" charset="-122"/>
                <a:cs typeface="NanumGothic" pitchFamily="34" charset="-120"/>
              </a:rPr>
              <a:t> 12 알고리즘 × 3 ECU × 2 스태거 × 2 우선순위 × 3 부하
• </a:t>
            </a:r>
            <a:r>
              <a:rPr lang="en-US" sz="784" b="1" dirty="0">
                <a:solidFill>
                  <a:srgbClr val="2563EB"/>
                </a:solidFill>
                <a:latin typeface="NanumGothic" pitchFamily="34" charset="0"/>
                <a:ea typeface="NanumGothic" pitchFamily="34" charset="-122"/>
                <a:cs typeface="NanumGothic" pitchFamily="34" charset="-120"/>
              </a:rPr>
              <a:t>DSA (102):</a:t>
            </a:r>
            <a:r>
              <a:rPr lang="en-US" sz="834" dirty="0">
                <a:solidFill>
                  <a:srgbClr val="475569"/>
                </a:solidFill>
                <a:latin typeface="NanumGothic" pitchFamily="34" charset="0"/>
                <a:ea typeface="NanumGothic" pitchFamily="34" charset="-122"/>
                <a:cs typeface="NanumGothic" pitchFamily="34" charset="-120"/>
              </a:rPr>
              <a:t> 17 알고리즘 × 2 우선순위 × 3 부하
• 디자인 공간의 광범위한 실현가능성 매핑</a:t>
            </a:r>
            <a:endParaRPr lang="en-US" sz="834" dirty="0"/>
          </a:p>
        </p:txBody>
      </p:sp>
      <p:sp>
        <p:nvSpPr>
          <p:cNvPr id="11" name="Shape 7"/>
          <p:cNvSpPr/>
          <p:nvPr/>
        </p:nvSpPr>
        <p:spPr>
          <a:xfrm>
            <a:off x="4679156" y="925953"/>
            <a:ext cx="4036219" cy="880467"/>
          </a:xfrm>
          <a:prstGeom prst="rect">
            <a:avLst/>
          </a:prstGeom>
          <a:solidFill>
            <a:srgbClr val="F8FAFC"/>
          </a:solidFill>
          <a:ln/>
        </p:spPr>
        <p:txBody>
          <a:bodyPr/>
          <a:lstStyle/>
          <a:p>
            <a:endParaRPr lang="ko-KR" altLang="en-US"/>
          </a:p>
        </p:txBody>
      </p:sp>
      <p:sp>
        <p:nvSpPr>
          <p:cNvPr id="12" name="Shape 8"/>
          <p:cNvSpPr/>
          <p:nvPr/>
        </p:nvSpPr>
        <p:spPr>
          <a:xfrm>
            <a:off x="4679156" y="925953"/>
            <a:ext cx="4036219" cy="28575"/>
          </a:xfrm>
          <a:prstGeom prst="rect">
            <a:avLst/>
          </a:prstGeom>
          <a:solidFill>
            <a:srgbClr val="2563EB"/>
          </a:solidFill>
          <a:ln/>
        </p:spPr>
        <p:txBody>
          <a:bodyPr/>
          <a:lstStyle/>
          <a:p>
            <a:endParaRPr lang="ko-KR" altLang="en-US"/>
          </a:p>
        </p:txBody>
      </p:sp>
      <p:sp>
        <p:nvSpPr>
          <p:cNvPr id="13" name="Text 9"/>
          <p:cNvSpPr/>
          <p:nvPr/>
        </p:nvSpPr>
        <p:spPr>
          <a:xfrm>
            <a:off x="4822031" y="1033109"/>
            <a:ext cx="3750469" cy="157163"/>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0F172A"/>
                </a:solidFill>
                <a:latin typeface="NanumGothic" pitchFamily="34" charset="0"/>
                <a:ea typeface="NanumGothic" pitchFamily="34" charset="-122"/>
                <a:cs typeface="NanumGothic" pitchFamily="34" charset="-120"/>
              </a:rPr>
              <a:t>Phase B: 26 Hard-case 심층 분석</a:t>
            </a:r>
            <a:endParaRPr lang="en-US" sz="1090" dirty="0"/>
          </a:p>
        </p:txBody>
      </p:sp>
      <p:sp>
        <p:nvSpPr>
          <p:cNvPr id="14" name="Text 10"/>
          <p:cNvSpPr/>
          <p:nvPr/>
        </p:nvSpPr>
        <p:spPr>
          <a:xfrm>
            <a:off x="4822031" y="1261709"/>
            <a:ext cx="3750469" cy="516136"/>
          </a:xfrm>
          <a:prstGeom prst="rect">
            <a:avLst/>
          </a:prstGeom>
          <a:noFill/>
          <a:ln/>
        </p:spPr>
        <p:txBody>
          <a:bodyPr wrap="square" lIns="0" tIns="0" rIns="0" bIns="0" rtlCol="0" anchor="t">
            <a:spAutoFit/>
          </a:bodyPr>
          <a:lstStyle/>
          <a:p>
            <a:pPr marL="0" indent="0" algn="l">
              <a:lnSpc>
                <a:spcPts val="1400"/>
              </a:lnSpc>
              <a:buNone/>
            </a:pPr>
            <a:r>
              <a:rPr lang="en-US" sz="834" dirty="0">
                <a:solidFill>
                  <a:srgbClr val="475569"/>
                </a:solidFill>
                <a:latin typeface="NanumGothic" pitchFamily="34" charset="0"/>
                <a:ea typeface="NanumGothic" pitchFamily="34" charset="-122"/>
                <a:cs typeface="NanumGothic" pitchFamily="34" charset="-120"/>
              </a:rPr>
              <a:t>• Phase A의 borderline/infeasible 최소 아티팩트 자동 선별
• </a:t>
            </a:r>
            <a:r>
              <a:rPr lang="en-US" sz="784" b="1" dirty="0">
                <a:solidFill>
                  <a:srgbClr val="2563EB"/>
                </a:solidFill>
                <a:latin typeface="NanumGothic" pitchFamily="34" charset="0"/>
                <a:ea typeface="NanumGothic" pitchFamily="34" charset="-122"/>
                <a:cs typeface="NanumGothic" pitchFamily="34" charset="-120"/>
              </a:rPr>
              <a:t>7가지 완화 정책 평가:</a:t>
            </a:r>
            <a:r>
              <a:rPr lang="en-US" sz="834" dirty="0">
                <a:solidFill>
                  <a:srgbClr val="475569"/>
                </a:solidFill>
                <a:latin typeface="NanumGothic" pitchFamily="34" charset="0"/>
                <a:ea typeface="NanumGothic" pitchFamily="34" charset="-122"/>
                <a:cs typeface="NanumGothic" pitchFamily="34" charset="-120"/>
              </a:rPr>
              <a:t> No mitigation, Priority boost,
Reserved window (5종) 등 효과 분석</a:t>
            </a:r>
            <a:endParaRPr lang="en-US" sz="834" dirty="0"/>
          </a:p>
        </p:txBody>
      </p:sp>
      <p:sp>
        <p:nvSpPr>
          <p:cNvPr id="15" name="Shape 11"/>
          <p:cNvSpPr/>
          <p:nvPr/>
        </p:nvSpPr>
        <p:spPr>
          <a:xfrm>
            <a:off x="428625" y="1922506"/>
            <a:ext cx="8286750" cy="189309"/>
          </a:xfrm>
          <a:prstGeom prst="rect">
            <a:avLst/>
          </a:prstGeom>
          <a:solidFill>
            <a:srgbClr val="F1F5F9"/>
          </a:solidFill>
          <a:ln/>
        </p:spPr>
        <p:txBody>
          <a:bodyPr/>
          <a:lstStyle/>
          <a:p>
            <a:endParaRPr lang="ko-KR" altLang="en-US"/>
          </a:p>
        </p:txBody>
      </p:sp>
      <p:pic>
        <p:nvPicPr>
          <p:cNvPr id="16" name="Image 1" descr="preencoded.png"/>
          <p:cNvPicPr>
            <a:picLocks noChangeAspect="1"/>
          </p:cNvPicPr>
          <p:nvPr/>
        </p:nvPicPr>
        <p:blipFill>
          <a:blip r:embed="rId4"/>
          <a:stretch>
            <a:fillRect/>
          </a:stretch>
        </p:blipFill>
        <p:spPr>
          <a:xfrm>
            <a:off x="2936974" y="1965221"/>
            <a:ext cx="114300" cy="114300"/>
          </a:xfrm>
          <a:prstGeom prst="rect">
            <a:avLst/>
          </a:prstGeom>
        </p:spPr>
      </p:pic>
      <p:sp>
        <p:nvSpPr>
          <p:cNvPr id="17" name="Text 12"/>
          <p:cNvSpPr/>
          <p:nvPr/>
        </p:nvSpPr>
        <p:spPr>
          <a:xfrm>
            <a:off x="3051274" y="1954432"/>
            <a:ext cx="3155752" cy="114300"/>
          </a:xfrm>
          <a:prstGeom prst="rect">
            <a:avLst/>
          </a:prstGeom>
          <a:noFill/>
          <a:ln/>
        </p:spPr>
        <p:txBody>
          <a:bodyPr wrap="none" lIns="0" tIns="0" rIns="0" bIns="0" rtlCol="0" anchor="t">
            <a:spAutoFit/>
          </a:bodyPr>
          <a:lstStyle/>
          <a:p>
            <a:pPr marL="0" indent="0" algn="ctr">
              <a:lnSpc>
                <a:spcPts val="1100"/>
              </a:lnSpc>
              <a:buNone/>
            </a:pPr>
            <a:r>
              <a:rPr lang="en-US" sz="784" b="1" dirty="0">
                <a:solidFill>
                  <a:srgbClr val="64748B"/>
                </a:solidFill>
                <a:latin typeface="NanumGothic" pitchFamily="34" charset="0"/>
                <a:ea typeface="NanumGothic" pitchFamily="34" charset="-122"/>
                <a:cs typeface="NanumGothic" pitchFamily="34" charset="-120"/>
              </a:rPr>
              <a:t>Simulation Profile: Typical | STmin = 0 | BS = 32 | TFC = 1ms</a:t>
            </a:r>
            <a:endParaRPr lang="en-US" sz="784" dirty="0"/>
          </a:p>
        </p:txBody>
      </p:sp>
      <p:sp>
        <p:nvSpPr>
          <p:cNvPr id="18" name="Text 13"/>
          <p:cNvSpPr/>
          <p:nvPr/>
        </p:nvSpPr>
        <p:spPr>
          <a:xfrm>
            <a:off x="428625" y="2254690"/>
            <a:ext cx="8286750" cy="141089"/>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0F172A"/>
                </a:solidFill>
                <a:latin typeface="NanumGothic" pitchFamily="34" charset="0"/>
                <a:ea typeface="NanumGothic" pitchFamily="34" charset="-122"/>
                <a:cs typeface="NanumGothic" pitchFamily="34" charset="-120"/>
              </a:rPr>
              <a:t>알고리즘 카탈로그 (9 패밀리, 29 파라미터셋)</a:t>
            </a:r>
            <a:endParaRPr lang="en-US" sz="987" dirty="0"/>
          </a:p>
        </p:txBody>
      </p:sp>
      <p:sp>
        <p:nvSpPr>
          <p:cNvPr id="19" name="Shape 14"/>
          <p:cNvSpPr/>
          <p:nvPr/>
        </p:nvSpPr>
        <p:spPr>
          <a:xfrm>
            <a:off x="432197" y="2470789"/>
            <a:ext cx="1221581" cy="255389"/>
          </a:xfrm>
          <a:prstGeom prst="rect">
            <a:avLst/>
          </a:prstGeom>
          <a:solidFill>
            <a:srgbClr val="0F172A"/>
          </a:solidFill>
          <a:ln w="9144">
            <a:solidFill>
              <a:srgbClr val="1E293B"/>
            </a:solidFill>
            <a:prstDash val="solid"/>
          </a:ln>
        </p:spPr>
        <p:txBody>
          <a:bodyPr/>
          <a:lstStyle/>
          <a:p>
            <a:endParaRPr lang="ko-KR" altLang="en-US"/>
          </a:p>
        </p:txBody>
      </p:sp>
      <p:sp>
        <p:nvSpPr>
          <p:cNvPr id="20" name="Text 15"/>
          <p:cNvSpPr/>
          <p:nvPr/>
        </p:nvSpPr>
        <p:spPr>
          <a:xfrm>
            <a:off x="432197" y="2470789"/>
            <a:ext cx="1221581" cy="255389"/>
          </a:xfrm>
          <a:prstGeom prst="rect">
            <a:avLst/>
          </a:prstGeom>
          <a:noFill/>
          <a:ln/>
        </p:spPr>
        <p:txBody>
          <a:bodyPr wrap="square" lIns="85090" tIns="85090" rIns="85090" bIns="85090" rtlCol="0" anchor="ctr">
            <a:spAutoFit/>
          </a:bodyPr>
          <a:lstStyle/>
          <a:p>
            <a:pPr marL="0" indent="0" algn="l">
              <a:lnSpc>
                <a:spcPts val="1000"/>
              </a:lnSpc>
              <a:buNone/>
            </a:pPr>
            <a:r>
              <a:rPr lang="en-US" sz="734" b="1" dirty="0">
                <a:solidFill>
                  <a:srgbClr val="FFFFFF"/>
                </a:solidFill>
                <a:latin typeface="NanumGothic" pitchFamily="34" charset="0"/>
                <a:ea typeface="NanumGothic" pitchFamily="34" charset="-122"/>
                <a:cs typeface="NanumGothic" pitchFamily="34" charset="-120"/>
              </a:rPr>
              <a:t>Category</a:t>
            </a:r>
            <a:endParaRPr lang="en-US" sz="734" dirty="0"/>
          </a:p>
        </p:txBody>
      </p:sp>
      <p:sp>
        <p:nvSpPr>
          <p:cNvPr id="21" name="Shape 16"/>
          <p:cNvSpPr/>
          <p:nvPr/>
        </p:nvSpPr>
        <p:spPr>
          <a:xfrm>
            <a:off x="1653778" y="2470789"/>
            <a:ext cx="2987036" cy="255389"/>
          </a:xfrm>
          <a:prstGeom prst="rect">
            <a:avLst/>
          </a:prstGeom>
          <a:solidFill>
            <a:srgbClr val="0F172A"/>
          </a:solidFill>
          <a:ln w="9144">
            <a:solidFill>
              <a:srgbClr val="1E293B"/>
            </a:solidFill>
            <a:prstDash val="solid"/>
          </a:ln>
        </p:spPr>
        <p:txBody>
          <a:bodyPr/>
          <a:lstStyle/>
          <a:p>
            <a:endParaRPr lang="ko-KR" altLang="en-US"/>
          </a:p>
        </p:txBody>
      </p:sp>
      <p:sp>
        <p:nvSpPr>
          <p:cNvPr id="22" name="Text 17"/>
          <p:cNvSpPr/>
          <p:nvPr/>
        </p:nvSpPr>
        <p:spPr>
          <a:xfrm>
            <a:off x="1653778" y="2470789"/>
            <a:ext cx="2987036" cy="255389"/>
          </a:xfrm>
          <a:prstGeom prst="rect">
            <a:avLst/>
          </a:prstGeom>
          <a:noFill/>
          <a:ln/>
        </p:spPr>
        <p:txBody>
          <a:bodyPr wrap="square" lIns="85090" tIns="85090" rIns="85090" bIns="85090" rtlCol="0" anchor="ctr">
            <a:spAutoFit/>
          </a:bodyPr>
          <a:lstStyle/>
          <a:p>
            <a:pPr marL="0" indent="0" algn="l">
              <a:lnSpc>
                <a:spcPts val="1000"/>
              </a:lnSpc>
              <a:buNone/>
            </a:pPr>
            <a:r>
              <a:rPr lang="en-US" sz="734" b="1" dirty="0">
                <a:solidFill>
                  <a:srgbClr val="FFFFFF"/>
                </a:solidFill>
                <a:latin typeface="NanumGothic" pitchFamily="34" charset="0"/>
                <a:ea typeface="NanumGothic" pitchFamily="34" charset="-122"/>
                <a:cs typeface="NanumGothic" pitchFamily="34" charset="-120"/>
              </a:rPr>
              <a:t>KEM Algorithms</a:t>
            </a:r>
            <a:endParaRPr lang="en-US" sz="734" dirty="0"/>
          </a:p>
        </p:txBody>
      </p:sp>
      <p:sp>
        <p:nvSpPr>
          <p:cNvPr id="23" name="Shape 18"/>
          <p:cNvSpPr/>
          <p:nvPr/>
        </p:nvSpPr>
        <p:spPr>
          <a:xfrm>
            <a:off x="4640814" y="2470789"/>
            <a:ext cx="4070989" cy="255389"/>
          </a:xfrm>
          <a:prstGeom prst="rect">
            <a:avLst/>
          </a:prstGeom>
          <a:solidFill>
            <a:srgbClr val="0F172A"/>
          </a:solidFill>
          <a:ln w="9144">
            <a:solidFill>
              <a:srgbClr val="1E293B"/>
            </a:solidFill>
            <a:prstDash val="solid"/>
          </a:ln>
        </p:spPr>
        <p:txBody>
          <a:bodyPr/>
          <a:lstStyle/>
          <a:p>
            <a:endParaRPr lang="ko-KR" altLang="en-US"/>
          </a:p>
        </p:txBody>
      </p:sp>
      <p:sp>
        <p:nvSpPr>
          <p:cNvPr id="24" name="Text 19"/>
          <p:cNvSpPr/>
          <p:nvPr/>
        </p:nvSpPr>
        <p:spPr>
          <a:xfrm>
            <a:off x="4640814" y="2470789"/>
            <a:ext cx="4070989" cy="255389"/>
          </a:xfrm>
          <a:prstGeom prst="rect">
            <a:avLst/>
          </a:prstGeom>
          <a:noFill/>
          <a:ln/>
        </p:spPr>
        <p:txBody>
          <a:bodyPr wrap="square" lIns="85090" tIns="85090" rIns="85090" bIns="85090" rtlCol="0" anchor="ctr">
            <a:spAutoFit/>
          </a:bodyPr>
          <a:lstStyle/>
          <a:p>
            <a:pPr marL="0" indent="0" algn="l">
              <a:lnSpc>
                <a:spcPts val="1000"/>
              </a:lnSpc>
              <a:buNone/>
            </a:pPr>
            <a:r>
              <a:rPr lang="en-US" sz="734" b="1" dirty="0">
                <a:solidFill>
                  <a:srgbClr val="FFFFFF"/>
                </a:solidFill>
                <a:latin typeface="NanumGothic" pitchFamily="34" charset="0"/>
                <a:ea typeface="NanumGothic" pitchFamily="34" charset="-122"/>
                <a:cs typeface="NanumGothic" pitchFamily="34" charset="-120"/>
              </a:rPr>
              <a:t>DSA Algorithms</a:t>
            </a:r>
            <a:endParaRPr lang="en-US" sz="734" dirty="0"/>
          </a:p>
        </p:txBody>
      </p:sp>
      <p:sp>
        <p:nvSpPr>
          <p:cNvPr id="25" name="Shape 20"/>
          <p:cNvSpPr/>
          <p:nvPr/>
        </p:nvSpPr>
        <p:spPr>
          <a:xfrm>
            <a:off x="432197" y="2747608"/>
            <a:ext cx="1221581" cy="255389"/>
          </a:xfrm>
          <a:prstGeom prst="rect">
            <a:avLst/>
          </a:prstGeom>
          <a:solidFill>
            <a:srgbClr val="F8FAFC"/>
          </a:solidFill>
          <a:ln w="9144">
            <a:solidFill>
              <a:srgbClr val="E2E8F0"/>
            </a:solidFill>
            <a:prstDash val="solid"/>
          </a:ln>
        </p:spPr>
        <p:txBody>
          <a:bodyPr/>
          <a:lstStyle/>
          <a:p>
            <a:endParaRPr lang="ko-KR" altLang="en-US"/>
          </a:p>
        </p:txBody>
      </p:sp>
      <p:sp>
        <p:nvSpPr>
          <p:cNvPr id="26" name="Text 21"/>
          <p:cNvSpPr/>
          <p:nvPr/>
        </p:nvSpPr>
        <p:spPr>
          <a:xfrm>
            <a:off x="432197" y="2719034"/>
            <a:ext cx="1221581" cy="283964"/>
          </a:xfrm>
          <a:prstGeom prst="rect">
            <a:avLst/>
          </a:prstGeom>
          <a:noFill/>
          <a:ln/>
        </p:spPr>
        <p:txBody>
          <a:bodyPr wrap="square" lIns="85090" tIns="85090" rIns="85090" bIns="85090" rtlCol="0" anchor="t">
            <a:spAutoFit/>
          </a:bodyPr>
          <a:lstStyle/>
          <a:p>
            <a:pPr marL="0" indent="0" algn="l">
              <a:lnSpc>
                <a:spcPts val="1000"/>
              </a:lnSpc>
              <a:buNone/>
            </a:pPr>
            <a:r>
              <a:rPr lang="en-US" sz="734" b="1" dirty="0">
                <a:solidFill>
                  <a:srgbClr val="334155"/>
                </a:solidFill>
                <a:latin typeface="NanumGothic" pitchFamily="34" charset="0"/>
                <a:ea typeface="NanumGothic" pitchFamily="34" charset="-122"/>
                <a:cs typeface="NanumGothic" pitchFamily="34" charset="-120"/>
              </a:rPr>
              <a:t>KpqC (국내)</a:t>
            </a:r>
            <a:endParaRPr lang="en-US" sz="734" dirty="0"/>
          </a:p>
        </p:txBody>
      </p:sp>
      <p:sp>
        <p:nvSpPr>
          <p:cNvPr id="27" name="Text 22"/>
          <p:cNvSpPr/>
          <p:nvPr/>
        </p:nvSpPr>
        <p:spPr>
          <a:xfrm>
            <a:off x="1653778" y="2719034"/>
            <a:ext cx="2987036" cy="283964"/>
          </a:xfrm>
          <a:prstGeom prst="rect">
            <a:avLst/>
          </a:prstGeom>
          <a:noFill/>
          <a:ln/>
        </p:spPr>
        <p:txBody>
          <a:bodyPr wrap="square" lIns="85090" tIns="85090" rIns="85090" bIns="85090" rtlCol="0" anchor="t">
            <a:spAutoFit/>
          </a:bodyPr>
          <a:lstStyle/>
          <a:p>
            <a:pPr marL="0" indent="0" algn="l">
              <a:lnSpc>
                <a:spcPts val="1000"/>
              </a:lnSpc>
              <a:buNone/>
            </a:pPr>
            <a:r>
              <a:rPr lang="en-US" sz="780" dirty="0">
                <a:solidFill>
                  <a:srgbClr val="334155"/>
                </a:solidFill>
                <a:latin typeface="NanumGothic" pitchFamily="34" charset="0"/>
                <a:ea typeface="NanumGothic" pitchFamily="34" charset="-122"/>
                <a:cs typeface="NanumGothic" pitchFamily="34" charset="-120"/>
              </a:rPr>
              <a:t>SMAUG-T, NTRU+</a:t>
            </a:r>
            <a:endParaRPr lang="en-US" sz="780" dirty="0"/>
          </a:p>
        </p:txBody>
      </p:sp>
      <p:sp>
        <p:nvSpPr>
          <p:cNvPr id="28" name="Text 23"/>
          <p:cNvSpPr/>
          <p:nvPr/>
        </p:nvSpPr>
        <p:spPr>
          <a:xfrm>
            <a:off x="4640814" y="2719034"/>
            <a:ext cx="4070989" cy="283964"/>
          </a:xfrm>
          <a:prstGeom prst="rect">
            <a:avLst/>
          </a:prstGeom>
          <a:noFill/>
          <a:ln/>
        </p:spPr>
        <p:txBody>
          <a:bodyPr wrap="square" lIns="85090" tIns="85090" rIns="85090" bIns="85090" rtlCol="0" anchor="t">
            <a:spAutoFit/>
          </a:bodyPr>
          <a:lstStyle/>
          <a:p>
            <a:pPr marL="0" indent="0" algn="l">
              <a:lnSpc>
                <a:spcPts val="1000"/>
              </a:lnSpc>
              <a:buNone/>
            </a:pPr>
            <a:r>
              <a:rPr lang="en-US" sz="780" dirty="0">
                <a:solidFill>
                  <a:srgbClr val="334155"/>
                </a:solidFill>
                <a:latin typeface="NanumGothic" pitchFamily="34" charset="0"/>
                <a:ea typeface="NanumGothic" pitchFamily="34" charset="-122"/>
                <a:cs typeface="NanumGothic" pitchFamily="34" charset="-120"/>
              </a:rPr>
              <a:t>HAETAE, AIMer</a:t>
            </a:r>
            <a:endParaRPr lang="en-US" sz="780" dirty="0"/>
          </a:p>
        </p:txBody>
      </p:sp>
      <p:sp>
        <p:nvSpPr>
          <p:cNvPr id="29" name="Shape 24"/>
          <p:cNvSpPr/>
          <p:nvPr/>
        </p:nvSpPr>
        <p:spPr>
          <a:xfrm>
            <a:off x="432197" y="3002998"/>
            <a:ext cx="1221581" cy="283964"/>
          </a:xfrm>
          <a:prstGeom prst="rect">
            <a:avLst/>
          </a:prstGeom>
          <a:solidFill>
            <a:srgbClr val="F8FAFC"/>
          </a:solidFill>
          <a:ln w="9144">
            <a:solidFill>
              <a:srgbClr val="E2E8F0"/>
            </a:solidFill>
            <a:prstDash val="solid"/>
          </a:ln>
        </p:spPr>
        <p:txBody>
          <a:bodyPr/>
          <a:lstStyle/>
          <a:p>
            <a:endParaRPr lang="ko-KR" altLang="en-US"/>
          </a:p>
        </p:txBody>
      </p:sp>
      <p:sp>
        <p:nvSpPr>
          <p:cNvPr id="30" name="Text 25"/>
          <p:cNvSpPr/>
          <p:nvPr/>
        </p:nvSpPr>
        <p:spPr>
          <a:xfrm>
            <a:off x="432197" y="3002998"/>
            <a:ext cx="1221581" cy="283964"/>
          </a:xfrm>
          <a:prstGeom prst="rect">
            <a:avLst/>
          </a:prstGeom>
          <a:noFill/>
          <a:ln/>
        </p:spPr>
        <p:txBody>
          <a:bodyPr wrap="square" lIns="85090" tIns="85090" rIns="85090" bIns="85090" rtlCol="0" anchor="t">
            <a:spAutoFit/>
          </a:bodyPr>
          <a:lstStyle/>
          <a:p>
            <a:pPr marL="0" indent="0" algn="l">
              <a:lnSpc>
                <a:spcPts val="1000"/>
              </a:lnSpc>
              <a:buNone/>
            </a:pPr>
            <a:r>
              <a:rPr lang="en-US" sz="734" b="1" dirty="0">
                <a:solidFill>
                  <a:srgbClr val="334155"/>
                </a:solidFill>
                <a:latin typeface="NanumGothic" pitchFamily="34" charset="0"/>
                <a:ea typeface="NanumGothic" pitchFamily="34" charset="-122"/>
                <a:cs typeface="NanumGothic" pitchFamily="34" charset="-120"/>
              </a:rPr>
              <a:t>NIST (국제)</a:t>
            </a:r>
            <a:endParaRPr lang="en-US" sz="734" dirty="0"/>
          </a:p>
        </p:txBody>
      </p:sp>
      <p:sp>
        <p:nvSpPr>
          <p:cNvPr id="31" name="Text 26"/>
          <p:cNvSpPr/>
          <p:nvPr/>
        </p:nvSpPr>
        <p:spPr>
          <a:xfrm>
            <a:off x="1646634" y="3002998"/>
            <a:ext cx="2990050" cy="283964"/>
          </a:xfrm>
          <a:prstGeom prst="rect">
            <a:avLst/>
          </a:prstGeom>
          <a:noFill/>
          <a:ln/>
        </p:spPr>
        <p:txBody>
          <a:bodyPr wrap="square" lIns="85090" tIns="85090" rIns="85090" bIns="85090" rtlCol="0" anchor="t">
            <a:spAutoFit/>
          </a:bodyPr>
          <a:lstStyle/>
          <a:p>
            <a:pPr marL="0" indent="0" algn="l">
              <a:lnSpc>
                <a:spcPts val="1000"/>
              </a:lnSpc>
              <a:buNone/>
            </a:pPr>
            <a:r>
              <a:rPr lang="en-US" sz="780" dirty="0">
                <a:solidFill>
                  <a:srgbClr val="334155"/>
                </a:solidFill>
                <a:latin typeface="NanumGothic" pitchFamily="34" charset="0"/>
                <a:ea typeface="NanumGothic" pitchFamily="34" charset="-122"/>
                <a:cs typeface="NanumGothic" pitchFamily="34" charset="-120"/>
              </a:rPr>
              <a:t>ML-KEM, HQC</a:t>
            </a:r>
            <a:endParaRPr lang="en-US" sz="780" dirty="0"/>
          </a:p>
        </p:txBody>
      </p:sp>
      <p:sp>
        <p:nvSpPr>
          <p:cNvPr id="32" name="Text 27"/>
          <p:cNvSpPr/>
          <p:nvPr/>
        </p:nvSpPr>
        <p:spPr>
          <a:xfrm>
            <a:off x="4636684" y="3002998"/>
            <a:ext cx="4075119" cy="294440"/>
          </a:xfrm>
          <a:prstGeom prst="rect">
            <a:avLst/>
          </a:prstGeom>
          <a:noFill/>
          <a:ln/>
        </p:spPr>
        <p:txBody>
          <a:bodyPr wrap="square" lIns="85090" tIns="85090" rIns="85090" bIns="85090" rtlCol="0" anchor="t">
            <a:spAutoFit/>
          </a:bodyPr>
          <a:lstStyle/>
          <a:p>
            <a:pPr marL="0" indent="0" algn="l">
              <a:lnSpc>
                <a:spcPts val="1000"/>
              </a:lnSpc>
              <a:buNone/>
            </a:pPr>
            <a:r>
              <a:rPr lang="en-US" sz="780" dirty="0">
                <a:solidFill>
                  <a:srgbClr val="334155"/>
                </a:solidFill>
                <a:latin typeface="NanumGothic" pitchFamily="34" charset="0"/>
                <a:ea typeface="NanumGothic" pitchFamily="34" charset="-122"/>
                <a:cs typeface="NanumGothic" pitchFamily="34" charset="-120"/>
              </a:rPr>
              <a:t>ML-DSA, FN-DSA, SLH-DSA</a:t>
            </a:r>
            <a:endParaRPr lang="en-US" sz="780" dirty="0"/>
          </a:p>
        </p:txBody>
      </p:sp>
      <p:sp>
        <p:nvSpPr>
          <p:cNvPr id="33" name="Text 28"/>
          <p:cNvSpPr/>
          <p:nvPr/>
        </p:nvSpPr>
        <p:spPr>
          <a:xfrm>
            <a:off x="0" y="4875609"/>
            <a:ext cx="9144000" cy="125016"/>
          </a:xfrm>
          <a:prstGeom prst="rect">
            <a:avLst/>
          </a:prstGeom>
          <a:noFill/>
          <a:ln/>
        </p:spPr>
        <p:txBody>
          <a:bodyPr wrap="none" lIns="0" tIns="0" rIns="0" bIns="0" rtlCol="0" anchor="t">
            <a:spAutoFit/>
          </a:bodyPr>
          <a:lstStyle/>
          <a:p>
            <a:pPr marL="0" indent="0" algn="ctr">
              <a:lnSpc>
                <a:spcPts val="900"/>
              </a:lnSpc>
              <a:buNone/>
            </a:pPr>
            <a:r>
              <a:rPr lang="en-US" sz="727" dirty="0">
                <a:solidFill>
                  <a:srgbClr val="94A3B8"/>
                </a:solidFill>
                <a:latin typeface="NanumGothic" pitchFamily="34" charset="0"/>
                <a:ea typeface="NanumGothic" pitchFamily="34" charset="-122"/>
                <a:cs typeface="NanumGothic" pitchFamily="34" charset="-120"/>
              </a:rPr>
              <a:t>7</a:t>
            </a:r>
            <a:endParaRPr lang="en-US" sz="727"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0" y="0"/>
            <a:ext cx="9144000" cy="751433"/>
          </a:xfrm>
          <a:prstGeom prst="rect">
            <a:avLst/>
          </a:prstGeom>
          <a:solidFill>
            <a:srgbClr val="000000">
              <a:alpha val="0"/>
            </a:srgbClr>
          </a:solidFill>
          <a:ln/>
        </p:spPr>
        <p:txBody>
          <a:bodyPr/>
          <a:lstStyle/>
          <a:p>
            <a:endParaRPr lang="ko-KR" altLang="en-US"/>
          </a:p>
        </p:txBody>
      </p:sp>
      <p:sp>
        <p:nvSpPr>
          <p:cNvPr id="5" name="Shape 1"/>
          <p:cNvSpPr/>
          <p:nvPr/>
        </p:nvSpPr>
        <p:spPr>
          <a:xfrm>
            <a:off x="0" y="737146"/>
            <a:ext cx="9144000" cy="14288"/>
          </a:xfrm>
          <a:prstGeom prst="rect">
            <a:avLst/>
          </a:prstGeom>
          <a:solidFill>
            <a:srgbClr val="F1F5F9"/>
          </a:solidFill>
          <a:ln/>
        </p:spPr>
        <p:txBody>
          <a:bodyPr/>
          <a:lstStyle/>
          <a:p>
            <a:endParaRPr lang="ko-KR" altLang="en-US"/>
          </a:p>
        </p:txBody>
      </p:sp>
      <p:sp>
        <p:nvSpPr>
          <p:cNvPr id="6" name="Text 2"/>
          <p:cNvSpPr/>
          <p:nvPr/>
        </p:nvSpPr>
        <p:spPr>
          <a:xfrm>
            <a:off x="428625" y="438894"/>
            <a:ext cx="8715375" cy="226814"/>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0F172A"/>
                </a:solidFill>
                <a:latin typeface="NanumGothic" pitchFamily="34" charset="0"/>
                <a:ea typeface="NanumGothic" pitchFamily="34" charset="-122"/>
                <a:cs typeface="NanumGothic" pitchFamily="34" charset="-120"/>
              </a:rPr>
              <a:t>KEM Feasibility: 도메인 규모 &gt; 스타트업 조율 &gt; 아티팩트 크기</a:t>
            </a:r>
            <a:endParaRPr lang="en-US" sz="1602" dirty="0"/>
          </a:p>
        </p:txBody>
      </p:sp>
      <p:sp>
        <p:nvSpPr>
          <p:cNvPr id="8" name="Text 4"/>
          <p:cNvSpPr/>
          <p:nvPr/>
        </p:nvSpPr>
        <p:spPr>
          <a:xfrm>
            <a:off x="2618184" y="3253197"/>
            <a:ext cx="3907631" cy="169664"/>
          </a:xfrm>
          <a:prstGeom prst="rect">
            <a:avLst/>
          </a:prstGeom>
          <a:noFill/>
          <a:ln/>
        </p:spPr>
        <p:txBody>
          <a:bodyPr wrap="none" lIns="0" tIns="0" rIns="0" bIns="0" rtlCol="0" anchor="t">
            <a:spAutoFit/>
          </a:bodyPr>
          <a:lstStyle/>
          <a:p>
            <a:pPr marL="0" indent="0" algn="ctr">
              <a:lnSpc>
                <a:spcPts val="1600"/>
              </a:lnSpc>
              <a:buNone/>
            </a:pPr>
            <a:r>
              <a:rPr lang="en-US" sz="1193" b="1" dirty="0">
                <a:solidFill>
                  <a:srgbClr val="64748B"/>
                </a:solidFill>
                <a:latin typeface="NanumGothic" pitchFamily="34" charset="0"/>
                <a:ea typeface="NanumGothic" pitchFamily="34" charset="-122"/>
                <a:cs typeface="NanumGothic" pitchFamily="34" charset="-120"/>
              </a:rPr>
              <a:t>Figure 3: KEM Feasibility Heatmap (3 ECU Panels)</a:t>
            </a:r>
            <a:endParaRPr lang="en-US" sz="1193" dirty="0"/>
          </a:p>
        </p:txBody>
      </p:sp>
      <p:sp>
        <p:nvSpPr>
          <p:cNvPr id="9" name="Text 5"/>
          <p:cNvSpPr/>
          <p:nvPr/>
        </p:nvSpPr>
        <p:spPr>
          <a:xfrm>
            <a:off x="428625" y="3687514"/>
            <a:ext cx="8286750" cy="188221"/>
          </a:xfrm>
          <a:prstGeom prst="rect">
            <a:avLst/>
          </a:prstGeom>
          <a:noFill/>
          <a:ln/>
        </p:spPr>
        <p:txBody>
          <a:bodyPr wrap="none" lIns="212598" tIns="0" rIns="0" bIns="0" rtlCol="0" anchor="t">
            <a:spAutoFit/>
          </a:bodyPr>
          <a:lstStyle/>
          <a:p>
            <a:pPr marL="0" indent="0" algn="l">
              <a:lnSpc>
                <a:spcPts val="1500"/>
              </a:lnSpc>
              <a:buNone/>
            </a:pPr>
            <a:r>
              <a:rPr lang="en-US" sz="885" b="1" dirty="0">
                <a:solidFill>
                  <a:srgbClr val="0F172A"/>
                </a:solidFill>
                <a:latin typeface="NanumGothic" pitchFamily="34" charset="0"/>
                <a:ea typeface="NanumGothic" pitchFamily="34" charset="-122"/>
                <a:cs typeface="NanumGothic" pitchFamily="34" charset="-120"/>
              </a:rPr>
              <a:t>실현가능성 결정 계층:</a:t>
            </a:r>
            <a:r>
              <a:rPr lang="en-US" sz="942" dirty="0">
                <a:solidFill>
                  <a:srgbClr val="475569"/>
                </a:solidFill>
                <a:latin typeface="NanumGothic" pitchFamily="34" charset="0"/>
                <a:ea typeface="NanumGothic" pitchFamily="34" charset="-122"/>
                <a:cs typeface="NanumGothic" pitchFamily="34" charset="-120"/>
              </a:rPr>
              <a:t> ① N_ECU &gt; ② Stagger &gt; ③ 아티팩트 크기 순으로 영향</a:t>
            </a:r>
            <a:endParaRPr lang="en-US" sz="885" dirty="0"/>
          </a:p>
        </p:txBody>
      </p:sp>
      <p:sp>
        <p:nvSpPr>
          <p:cNvPr id="10" name="Text 6"/>
          <p:cNvSpPr/>
          <p:nvPr/>
        </p:nvSpPr>
        <p:spPr>
          <a:xfrm>
            <a:off x="428625" y="3918598"/>
            <a:ext cx="7083542" cy="174984"/>
          </a:xfrm>
          <a:prstGeom prst="rect">
            <a:avLst/>
          </a:prstGeom>
          <a:noFill/>
          <a:ln/>
        </p:spPr>
        <p:txBody>
          <a:bodyPr wrap="none" lIns="212598" tIns="0" rIns="0" bIns="0" rtlCol="0" anchor="t">
            <a:spAutoFit/>
          </a:bodyPr>
          <a:lstStyle/>
          <a:p>
            <a:pPr marL="0" indent="0" algn="l">
              <a:lnSpc>
                <a:spcPts val="1500"/>
              </a:lnSpc>
              <a:buNone/>
            </a:pPr>
            <a:r>
              <a:rPr lang="en-US" sz="885" b="1" dirty="0">
                <a:solidFill>
                  <a:srgbClr val="0F172A"/>
                </a:solidFill>
                <a:latin typeface="NanumGothic" pitchFamily="34" charset="0"/>
                <a:ea typeface="NanumGothic" pitchFamily="34" charset="-122"/>
                <a:cs typeface="NanumGothic" pitchFamily="34" charset="-120"/>
              </a:rPr>
              <a:t>4-ECU staggered:</a:t>
            </a:r>
            <a:r>
              <a:rPr lang="en-US" sz="942" dirty="0">
                <a:solidFill>
                  <a:srgbClr val="475569"/>
                </a:solidFill>
                <a:latin typeface="NanumGothic" pitchFamily="34" charset="0"/>
                <a:ea typeface="NanumGothic" pitchFamily="34" charset="-122"/>
                <a:cs typeface="NanumGothic" pitchFamily="34" charset="-120"/>
              </a:rPr>
              <a:t> 모든 L1 격자 기반 KEM(ML-KEM-512, SMAUG-T1, NTRU+768) 실현 가능 / </a:t>
            </a:r>
            <a:r>
              <a:rPr lang="en-US" sz="885" b="1" dirty="0">
                <a:solidFill>
                  <a:srgbClr val="0F172A"/>
                </a:solidFill>
                <a:latin typeface="NanumGothic" pitchFamily="34" charset="0"/>
                <a:ea typeface="NanumGothic" pitchFamily="34" charset="-122"/>
                <a:cs typeface="NanumGothic" pitchFamily="34" charset="-120"/>
              </a:rPr>
              <a:t>16-ECU simultaneous:</a:t>
            </a:r>
            <a:r>
              <a:rPr lang="en-US" sz="942" dirty="0">
                <a:solidFill>
                  <a:srgbClr val="475569"/>
                </a:solidFill>
                <a:latin typeface="NanumGothic" pitchFamily="34" charset="0"/>
                <a:ea typeface="NanumGothic" pitchFamily="34" charset="-122"/>
                <a:cs typeface="NanumGothic" pitchFamily="34" charset="-120"/>
              </a:rPr>
              <a:t> 전 알고리즘 실현 불가능</a:t>
            </a:r>
            <a:endParaRPr lang="en-US" sz="885" dirty="0"/>
          </a:p>
        </p:txBody>
      </p:sp>
      <p:sp>
        <p:nvSpPr>
          <p:cNvPr id="11" name="Text 7"/>
          <p:cNvSpPr/>
          <p:nvPr/>
        </p:nvSpPr>
        <p:spPr>
          <a:xfrm>
            <a:off x="428625" y="4149682"/>
            <a:ext cx="8286750" cy="188221"/>
          </a:xfrm>
          <a:prstGeom prst="rect">
            <a:avLst/>
          </a:prstGeom>
          <a:noFill/>
          <a:ln/>
        </p:spPr>
        <p:txBody>
          <a:bodyPr wrap="none" lIns="212598" tIns="0" rIns="0" bIns="0" rtlCol="0" anchor="t">
            <a:spAutoFit/>
          </a:bodyPr>
          <a:lstStyle/>
          <a:p>
            <a:pPr marL="0" indent="0" algn="l">
              <a:lnSpc>
                <a:spcPts val="1500"/>
              </a:lnSpc>
              <a:buNone/>
            </a:pPr>
            <a:r>
              <a:rPr lang="en-US" sz="885" b="1" dirty="0">
                <a:solidFill>
                  <a:srgbClr val="0F172A"/>
                </a:solidFill>
                <a:latin typeface="NanumGothic" pitchFamily="34" charset="0"/>
                <a:ea typeface="NanumGothic" pitchFamily="34" charset="-122"/>
                <a:cs typeface="NanumGothic" pitchFamily="34" charset="-120"/>
              </a:rPr>
              <a:t>HQC 분석:</a:t>
            </a:r>
            <a:r>
              <a:rPr lang="en-US" sz="942" dirty="0">
                <a:solidFill>
                  <a:srgbClr val="475569"/>
                </a:solidFill>
                <a:latin typeface="NanumGothic" pitchFamily="34" charset="0"/>
                <a:ea typeface="NanumGothic" pitchFamily="34" charset="-122"/>
                <a:cs typeface="NanumGothic" pitchFamily="34" charset="-120"/>
              </a:rPr>
              <a:t> 108개 시나리오 전부 Infeasible — CT 크기가 ML-KEM 대비 5.8~9.2배로 버스 포화 유발</a:t>
            </a:r>
            <a:endParaRPr lang="en-US" sz="885" dirty="0"/>
          </a:p>
        </p:txBody>
      </p:sp>
      <p:sp>
        <p:nvSpPr>
          <p:cNvPr id="12" name="Text 8"/>
          <p:cNvSpPr/>
          <p:nvPr/>
        </p:nvSpPr>
        <p:spPr>
          <a:xfrm>
            <a:off x="0" y="4918472"/>
            <a:ext cx="9144000" cy="125016"/>
          </a:xfrm>
          <a:prstGeom prst="rect">
            <a:avLst/>
          </a:prstGeom>
          <a:noFill/>
          <a:ln/>
        </p:spPr>
        <p:txBody>
          <a:bodyPr wrap="none" lIns="0" tIns="0" rIns="0" bIns="0" rtlCol="0" anchor="t">
            <a:spAutoFit/>
          </a:bodyPr>
          <a:lstStyle/>
          <a:p>
            <a:pPr marL="0" indent="0" algn="ctr">
              <a:lnSpc>
                <a:spcPts val="900"/>
              </a:lnSpc>
              <a:buNone/>
            </a:pPr>
            <a:r>
              <a:rPr lang="en-US" sz="727" dirty="0">
                <a:solidFill>
                  <a:srgbClr val="94A3B8"/>
                </a:solidFill>
                <a:latin typeface="NanumGothic" pitchFamily="34" charset="0"/>
                <a:ea typeface="NanumGothic" pitchFamily="34" charset="-122"/>
                <a:cs typeface="NanumGothic" pitchFamily="34" charset="-120"/>
              </a:rPr>
              <a:t>8</a:t>
            </a:r>
            <a:endParaRPr lang="en-US" sz="727" dirty="0"/>
          </a:p>
        </p:txBody>
      </p:sp>
      <p:sp>
        <p:nvSpPr>
          <p:cNvPr id="13" name="Text 9"/>
          <p:cNvSpPr/>
          <p:nvPr/>
        </p:nvSpPr>
        <p:spPr>
          <a:xfrm>
            <a:off x="428625" y="3687514"/>
            <a:ext cx="121444" cy="186435"/>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2563EB"/>
                </a:solidFill>
                <a:latin typeface="NanumGothic" pitchFamily="34" charset="0"/>
                <a:ea typeface="NanumGothic" pitchFamily="34" charset="-122"/>
                <a:cs typeface="NanumGothic" pitchFamily="34" charset="-120"/>
              </a:rPr>
              <a:t>•</a:t>
            </a:r>
            <a:endParaRPr lang="en-US" sz="885" dirty="0"/>
          </a:p>
        </p:txBody>
      </p:sp>
      <p:sp>
        <p:nvSpPr>
          <p:cNvPr id="14" name="Text 10"/>
          <p:cNvSpPr/>
          <p:nvPr/>
        </p:nvSpPr>
        <p:spPr>
          <a:xfrm>
            <a:off x="428625" y="3918598"/>
            <a:ext cx="121444" cy="186435"/>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2563EB"/>
                </a:solidFill>
                <a:latin typeface="NanumGothic" pitchFamily="34" charset="0"/>
                <a:ea typeface="NanumGothic" pitchFamily="34" charset="-122"/>
                <a:cs typeface="NanumGothic" pitchFamily="34" charset="-120"/>
              </a:rPr>
              <a:t>•</a:t>
            </a:r>
            <a:endParaRPr lang="en-US" sz="885" dirty="0"/>
          </a:p>
        </p:txBody>
      </p:sp>
      <p:sp>
        <p:nvSpPr>
          <p:cNvPr id="15" name="Text 11"/>
          <p:cNvSpPr/>
          <p:nvPr/>
        </p:nvSpPr>
        <p:spPr>
          <a:xfrm>
            <a:off x="428625" y="4149682"/>
            <a:ext cx="121444" cy="186435"/>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2563EB"/>
                </a:solidFill>
                <a:latin typeface="NanumGothic" pitchFamily="34" charset="0"/>
                <a:ea typeface="NanumGothic" pitchFamily="34" charset="-122"/>
                <a:cs typeface="NanumGothic" pitchFamily="34" charset="-120"/>
              </a:rPr>
              <a:t>•</a:t>
            </a:r>
            <a:endParaRPr lang="en-US" sz="885" dirty="0"/>
          </a:p>
        </p:txBody>
      </p:sp>
      <p:pic>
        <p:nvPicPr>
          <p:cNvPr id="16" name="그림 15">
            <a:extLst>
              <a:ext uri="{FF2B5EF4-FFF2-40B4-BE49-F238E27FC236}">
                <a16:creationId xmlns:a16="http://schemas.microsoft.com/office/drawing/2014/main" id="{D547E282-3E15-6F6C-D6D7-D18CB79DD480}"/>
              </a:ext>
            </a:extLst>
          </p:cNvPr>
          <p:cNvPicPr>
            <a:picLocks noChangeAspect="1"/>
          </p:cNvPicPr>
          <p:nvPr/>
        </p:nvPicPr>
        <p:blipFill>
          <a:blip r:embed="rId4"/>
          <a:srcRect l="6859" r="3350"/>
          <a:stretch>
            <a:fillRect/>
          </a:stretch>
        </p:blipFill>
        <p:spPr>
          <a:xfrm>
            <a:off x="76592" y="1289318"/>
            <a:ext cx="2959528" cy="1539214"/>
          </a:xfrm>
          <a:prstGeom prst="rect">
            <a:avLst/>
          </a:prstGeom>
        </p:spPr>
      </p:pic>
      <p:pic>
        <p:nvPicPr>
          <p:cNvPr id="20" name="그림 19">
            <a:extLst>
              <a:ext uri="{FF2B5EF4-FFF2-40B4-BE49-F238E27FC236}">
                <a16:creationId xmlns:a16="http://schemas.microsoft.com/office/drawing/2014/main" id="{85323E60-2770-441E-3E8F-B1CC9FF2F094}"/>
              </a:ext>
            </a:extLst>
          </p:cNvPr>
          <p:cNvPicPr>
            <a:picLocks noChangeAspect="1"/>
          </p:cNvPicPr>
          <p:nvPr/>
        </p:nvPicPr>
        <p:blipFill>
          <a:blip r:embed="rId5"/>
          <a:stretch>
            <a:fillRect/>
          </a:stretch>
        </p:blipFill>
        <p:spPr>
          <a:xfrm>
            <a:off x="6070046" y="1271728"/>
            <a:ext cx="2959529" cy="1526961"/>
          </a:xfrm>
          <a:prstGeom prst="rect">
            <a:avLst/>
          </a:prstGeom>
        </p:spPr>
      </p:pic>
      <p:pic>
        <p:nvPicPr>
          <p:cNvPr id="22" name="그림 21">
            <a:extLst>
              <a:ext uri="{FF2B5EF4-FFF2-40B4-BE49-F238E27FC236}">
                <a16:creationId xmlns:a16="http://schemas.microsoft.com/office/drawing/2014/main" id="{FBAF04CB-2FAB-E442-015C-9B28AD1AD1B3}"/>
              </a:ext>
            </a:extLst>
          </p:cNvPr>
          <p:cNvPicPr>
            <a:picLocks noChangeAspect="1"/>
          </p:cNvPicPr>
          <p:nvPr/>
        </p:nvPicPr>
        <p:blipFill>
          <a:blip r:embed="rId6"/>
          <a:stretch>
            <a:fillRect/>
          </a:stretch>
        </p:blipFill>
        <p:spPr>
          <a:xfrm>
            <a:off x="3085281" y="1287111"/>
            <a:ext cx="2959528" cy="1521486"/>
          </a:xfrm>
          <a:prstGeom prst="rect">
            <a:avLst/>
          </a:prstGeom>
        </p:spPr>
      </p:pic>
      <p:pic>
        <p:nvPicPr>
          <p:cNvPr id="24" name="그림 23">
            <a:extLst>
              <a:ext uri="{FF2B5EF4-FFF2-40B4-BE49-F238E27FC236}">
                <a16:creationId xmlns:a16="http://schemas.microsoft.com/office/drawing/2014/main" id="{E8E27CA9-4A01-A9A3-0974-196462FED7A3}"/>
              </a:ext>
            </a:extLst>
          </p:cNvPr>
          <p:cNvPicPr>
            <a:picLocks noChangeAspect="1"/>
          </p:cNvPicPr>
          <p:nvPr/>
        </p:nvPicPr>
        <p:blipFill>
          <a:blip r:embed="rId7"/>
          <a:stretch>
            <a:fillRect/>
          </a:stretch>
        </p:blipFill>
        <p:spPr>
          <a:xfrm>
            <a:off x="3486512" y="2895073"/>
            <a:ext cx="2157065" cy="152938"/>
          </a:xfrm>
          <a:prstGeom prst="rect">
            <a:avLst/>
          </a:prstGeom>
        </p:spPr>
      </p:pic>
    </p:spTree>
    <p:extLst>
      <p:ext uri="{BB962C8B-B14F-4D97-AF65-F5344CB8AC3E}">
        <p14:creationId xmlns:p14="http://schemas.microsoft.com/office/powerpoint/2010/main" val="1710613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0" y="0"/>
            <a:ext cx="9144000" cy="797365"/>
          </a:xfrm>
          <a:prstGeom prst="rect">
            <a:avLst/>
          </a:prstGeom>
          <a:solidFill>
            <a:srgbClr val="000000">
              <a:alpha val="0"/>
            </a:srgbClr>
          </a:solidFill>
          <a:ln/>
        </p:spPr>
        <p:txBody>
          <a:bodyPr/>
          <a:lstStyle/>
          <a:p>
            <a:endParaRPr lang="ko-KR" altLang="en-US"/>
          </a:p>
        </p:txBody>
      </p:sp>
      <p:sp>
        <p:nvSpPr>
          <p:cNvPr id="5" name="Shape 1"/>
          <p:cNvSpPr/>
          <p:nvPr/>
        </p:nvSpPr>
        <p:spPr>
          <a:xfrm>
            <a:off x="0" y="783078"/>
            <a:ext cx="9144000" cy="14288"/>
          </a:xfrm>
          <a:prstGeom prst="rect">
            <a:avLst/>
          </a:prstGeom>
          <a:solidFill>
            <a:srgbClr val="F1F5F9"/>
          </a:solidFill>
          <a:ln/>
        </p:spPr>
        <p:txBody>
          <a:bodyPr/>
          <a:lstStyle/>
          <a:p>
            <a:endParaRPr lang="ko-KR" altLang="en-US"/>
          </a:p>
        </p:txBody>
      </p:sp>
      <p:sp>
        <p:nvSpPr>
          <p:cNvPr id="6" name="Text 2"/>
          <p:cNvSpPr/>
          <p:nvPr/>
        </p:nvSpPr>
        <p:spPr>
          <a:xfrm>
            <a:off x="428625" y="458037"/>
            <a:ext cx="8715375" cy="253603"/>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0F172A"/>
                </a:solidFill>
                <a:latin typeface="NanumGothic" pitchFamily="34" charset="0"/>
                <a:ea typeface="NanumGothic" pitchFamily="34" charset="-122"/>
                <a:cs typeface="NanumGothic" pitchFamily="34" charset="-120"/>
              </a:rPr>
              <a:t>DSA Feasibility: 서명 크기가 직접적 결정 요인</a:t>
            </a:r>
            <a:endParaRPr lang="en-US" sz="1808" dirty="0"/>
          </a:p>
        </p:txBody>
      </p:sp>
      <p:sp>
        <p:nvSpPr>
          <p:cNvPr id="8" name="Text 4"/>
          <p:cNvSpPr/>
          <p:nvPr/>
        </p:nvSpPr>
        <p:spPr>
          <a:xfrm>
            <a:off x="3241476" y="3573177"/>
            <a:ext cx="2661047" cy="169664"/>
          </a:xfrm>
          <a:prstGeom prst="rect">
            <a:avLst/>
          </a:prstGeom>
          <a:noFill/>
          <a:ln/>
        </p:spPr>
        <p:txBody>
          <a:bodyPr wrap="none" lIns="0" tIns="0" rIns="0" bIns="0" rtlCol="0" anchor="t">
            <a:spAutoFit/>
          </a:bodyPr>
          <a:lstStyle/>
          <a:p>
            <a:pPr marL="0" indent="0" algn="ctr">
              <a:lnSpc>
                <a:spcPts val="1600"/>
              </a:lnSpc>
              <a:buNone/>
            </a:pPr>
            <a:r>
              <a:rPr lang="en-US" sz="1193" b="1" dirty="0">
                <a:solidFill>
                  <a:srgbClr val="64748B"/>
                </a:solidFill>
                <a:latin typeface="NanumGothic" pitchFamily="34" charset="0"/>
                <a:ea typeface="NanumGothic" pitchFamily="34" charset="-122"/>
                <a:cs typeface="NanumGothic" pitchFamily="34" charset="-120"/>
              </a:rPr>
              <a:t>Figure 4: DSA Feasibility Heatmap</a:t>
            </a:r>
            <a:endParaRPr lang="en-US" sz="1193" dirty="0"/>
          </a:p>
        </p:txBody>
      </p:sp>
      <p:sp>
        <p:nvSpPr>
          <p:cNvPr id="9" name="Text 5"/>
          <p:cNvSpPr/>
          <p:nvPr/>
        </p:nvSpPr>
        <p:spPr>
          <a:xfrm>
            <a:off x="428625" y="3890609"/>
            <a:ext cx="8286750" cy="207504"/>
          </a:xfrm>
          <a:prstGeom prst="rect">
            <a:avLst/>
          </a:prstGeom>
          <a:noFill/>
          <a:ln/>
        </p:spPr>
        <p:txBody>
          <a:bodyPr wrap="none" lIns="212598" tIns="0" rIns="0" bIns="0" rtlCol="0" anchor="t">
            <a:spAutoFit/>
          </a:bodyPr>
          <a:lstStyle/>
          <a:p>
            <a:pPr marL="0" indent="0" algn="l">
              <a:lnSpc>
                <a:spcPts val="1600"/>
              </a:lnSpc>
              <a:buNone/>
            </a:pPr>
            <a:r>
              <a:rPr lang="en-US" sz="885" b="1" dirty="0">
                <a:solidFill>
                  <a:srgbClr val="0F172A"/>
                </a:solidFill>
                <a:latin typeface="NanumGothic" pitchFamily="34" charset="0"/>
                <a:ea typeface="NanumGothic" pitchFamily="34" charset="-122"/>
                <a:cs typeface="NanumGothic" pitchFamily="34" charset="-120"/>
              </a:rPr>
              <a:t>FN-DSA-512 (666B, 11 sig frames):</a:t>
            </a:r>
            <a:r>
              <a:rPr lang="en-US" sz="942" dirty="0">
                <a:solidFill>
                  <a:srgbClr val="475569"/>
                </a:solidFill>
                <a:latin typeface="NanumGothic" pitchFamily="34" charset="0"/>
                <a:ea typeface="NanumGothic" pitchFamily="34" charset="-122"/>
                <a:cs typeface="NanumGothic" pitchFamily="34" charset="-120"/>
              </a:rPr>
              <a:t> 유일하게 모든 실험 조건에서 </a:t>
            </a:r>
            <a:r>
              <a:rPr lang="en-US" sz="885" b="1" dirty="0">
                <a:solidFill>
                  <a:srgbClr val="0F172A"/>
                </a:solidFill>
                <a:latin typeface="NanumGothic" pitchFamily="34" charset="0"/>
                <a:ea typeface="NanumGothic" pitchFamily="34" charset="-122"/>
                <a:cs typeface="NanumGothic" pitchFamily="34" charset="-120"/>
              </a:rPr>
              <a:t>Feasible</a:t>
            </a:r>
            <a:r>
              <a:rPr lang="en-US" sz="942" dirty="0">
                <a:solidFill>
                  <a:srgbClr val="475569"/>
                </a:solidFill>
                <a:latin typeface="NanumGothic" pitchFamily="34" charset="0"/>
                <a:ea typeface="NanumGothic" pitchFamily="34" charset="-122"/>
                <a:cs typeface="NanumGothic" pitchFamily="34" charset="-120"/>
              </a:rPr>
              <a:t> 판정 (6F/0B/0I)</a:t>
            </a:r>
            <a:endParaRPr lang="en-US" sz="942" dirty="0"/>
          </a:p>
        </p:txBody>
      </p:sp>
      <p:sp>
        <p:nvSpPr>
          <p:cNvPr id="10" name="Text 6"/>
          <p:cNvSpPr/>
          <p:nvPr/>
        </p:nvSpPr>
        <p:spPr>
          <a:xfrm>
            <a:off x="428625" y="4169550"/>
            <a:ext cx="8286750" cy="207504"/>
          </a:xfrm>
          <a:prstGeom prst="rect">
            <a:avLst/>
          </a:prstGeom>
          <a:noFill/>
          <a:ln/>
        </p:spPr>
        <p:txBody>
          <a:bodyPr wrap="none" lIns="212598" tIns="0" rIns="0" bIns="0" rtlCol="0" anchor="t">
            <a:spAutoFit/>
          </a:bodyPr>
          <a:lstStyle/>
          <a:p>
            <a:pPr marL="0" indent="0" algn="l">
              <a:lnSpc>
                <a:spcPts val="1600"/>
              </a:lnSpc>
              <a:buNone/>
            </a:pPr>
            <a:r>
              <a:rPr lang="en-US" sz="885" b="1" dirty="0">
                <a:solidFill>
                  <a:srgbClr val="0F172A"/>
                </a:solidFill>
                <a:latin typeface="NanumGothic" pitchFamily="34" charset="0"/>
                <a:ea typeface="NanumGothic" pitchFamily="34" charset="-122"/>
                <a:cs typeface="NanumGothic" pitchFamily="34" charset="-120"/>
              </a:rPr>
              <a:t>HAETAE:</a:t>
            </a:r>
            <a:r>
              <a:rPr lang="en-US" sz="942" dirty="0">
                <a:solidFill>
                  <a:srgbClr val="475569"/>
                </a:solidFill>
                <a:latin typeface="NanumGothic" pitchFamily="34" charset="0"/>
                <a:ea typeface="NanumGothic" pitchFamily="34" charset="-122"/>
                <a:cs typeface="NanumGothic" pitchFamily="34" charset="-120"/>
              </a:rPr>
              <a:t> L1(4F) → L3(2F) → L5(0F/4B)로 보안 레벨에 따른 </a:t>
            </a:r>
            <a:r>
              <a:rPr lang="en-US" sz="885" b="1" dirty="0">
                <a:solidFill>
                  <a:srgbClr val="0F172A"/>
                </a:solidFill>
                <a:latin typeface="NanumGothic" pitchFamily="34" charset="0"/>
                <a:ea typeface="NanumGothic" pitchFamily="34" charset="-122"/>
                <a:cs typeface="NanumGothic" pitchFamily="34" charset="-120"/>
              </a:rPr>
              <a:t>우아한 열화(Graceful Degradation)</a:t>
            </a:r>
            <a:r>
              <a:rPr lang="en-US" sz="942" dirty="0">
                <a:solidFill>
                  <a:srgbClr val="475569"/>
                </a:solidFill>
                <a:latin typeface="NanumGothic" pitchFamily="34" charset="0"/>
                <a:ea typeface="NanumGothic" pitchFamily="34" charset="-122"/>
                <a:cs typeface="NanumGothic" pitchFamily="34" charset="-120"/>
              </a:rPr>
              <a:t> 확인, ML-DSA-44보다 우수</a:t>
            </a:r>
            <a:endParaRPr lang="en-US" sz="942" dirty="0"/>
          </a:p>
        </p:txBody>
      </p:sp>
      <p:sp>
        <p:nvSpPr>
          <p:cNvPr id="11" name="Text 7"/>
          <p:cNvSpPr/>
          <p:nvPr/>
        </p:nvSpPr>
        <p:spPr>
          <a:xfrm>
            <a:off x="428625" y="4448491"/>
            <a:ext cx="8460521" cy="184602"/>
          </a:xfrm>
          <a:prstGeom prst="rect">
            <a:avLst/>
          </a:prstGeom>
          <a:noFill/>
          <a:ln/>
        </p:spPr>
        <p:txBody>
          <a:bodyPr wrap="none" lIns="212598" tIns="0" rIns="0" bIns="0" rtlCol="0" anchor="t">
            <a:spAutoFit/>
          </a:bodyPr>
          <a:lstStyle/>
          <a:p>
            <a:pPr marL="0" indent="0" algn="l">
              <a:lnSpc>
                <a:spcPts val="1600"/>
              </a:lnSpc>
              <a:buNone/>
            </a:pPr>
            <a:r>
              <a:rPr lang="en-US" sz="885" b="1" dirty="0">
                <a:solidFill>
                  <a:srgbClr val="0F172A"/>
                </a:solidFill>
                <a:latin typeface="NanumGothic" pitchFamily="34" charset="0"/>
                <a:ea typeface="NanumGothic" pitchFamily="34" charset="-122"/>
                <a:cs typeface="NanumGothic" pitchFamily="34" charset="-120"/>
              </a:rPr>
              <a:t>SLH-DSA / AIMer:</a:t>
            </a:r>
            <a:r>
              <a:rPr lang="en-US" sz="942" dirty="0">
                <a:solidFill>
                  <a:srgbClr val="475569"/>
                </a:solidFill>
                <a:latin typeface="NanumGothic" pitchFamily="34" charset="0"/>
                <a:ea typeface="NanumGothic" pitchFamily="34" charset="-122"/>
                <a:cs typeface="NanumGothic" pitchFamily="34" charset="-120"/>
              </a:rPr>
              <a:t> L3/L5 변형에서 균일 </a:t>
            </a:r>
            <a:r>
              <a:rPr lang="en-US" sz="885" b="1" dirty="0">
                <a:solidFill>
                  <a:srgbClr val="0F172A"/>
                </a:solidFill>
                <a:latin typeface="NanumGothic" pitchFamily="34" charset="0"/>
                <a:ea typeface="NanumGothic" pitchFamily="34" charset="-122"/>
                <a:cs typeface="NanumGothic" pitchFamily="34" charset="-120"/>
              </a:rPr>
              <a:t>Infeasible</a:t>
            </a:r>
            <a:r>
              <a:rPr lang="en-US" sz="942" dirty="0">
                <a:solidFill>
                  <a:srgbClr val="475569"/>
                </a:solidFill>
                <a:latin typeface="NanumGothic" pitchFamily="34" charset="0"/>
                <a:ea typeface="NanumGothic" pitchFamily="34" charset="-122"/>
                <a:cs typeface="NanumGothic" pitchFamily="34" charset="-120"/>
              </a:rPr>
              <a:t>, L1 일부만 Borderline/Feasible — Hash 및 MPC-in-the-head 구조의 전송 오버헤드로 보안 레벨 상승 시 급격히 열화</a:t>
            </a:r>
            <a:endParaRPr lang="en-US" sz="942" dirty="0"/>
          </a:p>
        </p:txBody>
      </p:sp>
      <p:sp>
        <p:nvSpPr>
          <p:cNvPr id="12" name="Text 8"/>
          <p:cNvSpPr/>
          <p:nvPr/>
        </p:nvSpPr>
        <p:spPr>
          <a:xfrm>
            <a:off x="0" y="4875609"/>
            <a:ext cx="9144000" cy="125016"/>
          </a:xfrm>
          <a:prstGeom prst="rect">
            <a:avLst/>
          </a:prstGeom>
          <a:noFill/>
          <a:ln/>
        </p:spPr>
        <p:txBody>
          <a:bodyPr wrap="none" lIns="0" tIns="0" rIns="0" bIns="0" rtlCol="0" anchor="t">
            <a:spAutoFit/>
          </a:bodyPr>
          <a:lstStyle/>
          <a:p>
            <a:pPr marL="0" indent="0" algn="ctr">
              <a:lnSpc>
                <a:spcPts val="900"/>
              </a:lnSpc>
              <a:buNone/>
            </a:pPr>
            <a:r>
              <a:rPr lang="en-US" sz="727" dirty="0">
                <a:solidFill>
                  <a:srgbClr val="94A3B8"/>
                </a:solidFill>
                <a:latin typeface="NanumGothic" pitchFamily="34" charset="0"/>
                <a:ea typeface="NanumGothic" pitchFamily="34" charset="-122"/>
                <a:cs typeface="NanumGothic" pitchFamily="34" charset="-120"/>
              </a:rPr>
              <a:t>9</a:t>
            </a:r>
            <a:endParaRPr lang="en-US" sz="727" dirty="0"/>
          </a:p>
        </p:txBody>
      </p:sp>
      <p:sp>
        <p:nvSpPr>
          <p:cNvPr id="13" name="Text 9"/>
          <p:cNvSpPr/>
          <p:nvPr/>
        </p:nvSpPr>
        <p:spPr>
          <a:xfrm>
            <a:off x="428625" y="3890609"/>
            <a:ext cx="121444" cy="205718"/>
          </a:xfrm>
          <a:prstGeom prst="rect">
            <a:avLst/>
          </a:prstGeom>
          <a:noFill/>
          <a:ln/>
        </p:spPr>
        <p:txBody>
          <a:bodyPr wrap="none" lIns="0" tIns="0" rIns="0" bIns="0" rtlCol="0" anchor="t">
            <a:spAutoFit/>
          </a:bodyPr>
          <a:lstStyle/>
          <a:p>
            <a:pPr marL="0" indent="0" algn="l">
              <a:lnSpc>
                <a:spcPts val="1600"/>
              </a:lnSpc>
              <a:buNone/>
            </a:pPr>
            <a:r>
              <a:rPr lang="en-US" sz="885" b="1" dirty="0">
                <a:solidFill>
                  <a:srgbClr val="2563EB"/>
                </a:solidFill>
                <a:latin typeface="NanumGothic" pitchFamily="34" charset="0"/>
                <a:ea typeface="NanumGothic" pitchFamily="34" charset="-122"/>
                <a:cs typeface="NanumGothic" pitchFamily="34" charset="-120"/>
              </a:rPr>
              <a:t>•</a:t>
            </a:r>
            <a:endParaRPr lang="en-US" sz="885" dirty="0"/>
          </a:p>
        </p:txBody>
      </p:sp>
      <p:sp>
        <p:nvSpPr>
          <p:cNvPr id="14" name="Text 10"/>
          <p:cNvSpPr/>
          <p:nvPr/>
        </p:nvSpPr>
        <p:spPr>
          <a:xfrm>
            <a:off x="428625" y="4169550"/>
            <a:ext cx="121444" cy="205718"/>
          </a:xfrm>
          <a:prstGeom prst="rect">
            <a:avLst/>
          </a:prstGeom>
          <a:noFill/>
          <a:ln/>
        </p:spPr>
        <p:txBody>
          <a:bodyPr wrap="none" lIns="0" tIns="0" rIns="0" bIns="0" rtlCol="0" anchor="t">
            <a:spAutoFit/>
          </a:bodyPr>
          <a:lstStyle/>
          <a:p>
            <a:pPr marL="0" indent="0" algn="l">
              <a:lnSpc>
                <a:spcPts val="1600"/>
              </a:lnSpc>
              <a:buNone/>
            </a:pPr>
            <a:r>
              <a:rPr lang="en-US" sz="885" b="1" dirty="0">
                <a:solidFill>
                  <a:srgbClr val="2563EB"/>
                </a:solidFill>
                <a:latin typeface="NanumGothic" pitchFamily="34" charset="0"/>
                <a:ea typeface="NanumGothic" pitchFamily="34" charset="-122"/>
                <a:cs typeface="NanumGothic" pitchFamily="34" charset="-120"/>
              </a:rPr>
              <a:t>•</a:t>
            </a:r>
            <a:endParaRPr lang="en-US" sz="885" dirty="0"/>
          </a:p>
        </p:txBody>
      </p:sp>
      <p:sp>
        <p:nvSpPr>
          <p:cNvPr id="15" name="Text 11"/>
          <p:cNvSpPr/>
          <p:nvPr/>
        </p:nvSpPr>
        <p:spPr>
          <a:xfrm>
            <a:off x="428625" y="4448491"/>
            <a:ext cx="121444" cy="205718"/>
          </a:xfrm>
          <a:prstGeom prst="rect">
            <a:avLst/>
          </a:prstGeom>
          <a:noFill/>
          <a:ln/>
        </p:spPr>
        <p:txBody>
          <a:bodyPr wrap="none" lIns="0" tIns="0" rIns="0" bIns="0" rtlCol="0" anchor="t">
            <a:spAutoFit/>
          </a:bodyPr>
          <a:lstStyle/>
          <a:p>
            <a:pPr marL="0" indent="0" algn="l">
              <a:lnSpc>
                <a:spcPts val="1600"/>
              </a:lnSpc>
              <a:buNone/>
            </a:pPr>
            <a:r>
              <a:rPr lang="en-US" sz="885" b="1" dirty="0">
                <a:solidFill>
                  <a:srgbClr val="2563EB"/>
                </a:solidFill>
                <a:latin typeface="NanumGothic" pitchFamily="34" charset="0"/>
                <a:ea typeface="NanumGothic" pitchFamily="34" charset="-122"/>
                <a:cs typeface="NanumGothic" pitchFamily="34" charset="-120"/>
              </a:rPr>
              <a:t>•</a:t>
            </a:r>
            <a:endParaRPr lang="en-US" sz="885" dirty="0"/>
          </a:p>
        </p:txBody>
      </p:sp>
      <p:pic>
        <p:nvPicPr>
          <p:cNvPr id="16" name="그림 15">
            <a:extLst>
              <a:ext uri="{FF2B5EF4-FFF2-40B4-BE49-F238E27FC236}">
                <a16:creationId xmlns:a16="http://schemas.microsoft.com/office/drawing/2014/main" id="{92B092C7-DBA7-F17F-1583-731A7DD23F85}"/>
              </a:ext>
            </a:extLst>
          </p:cNvPr>
          <p:cNvPicPr>
            <a:picLocks noChangeAspect="1"/>
          </p:cNvPicPr>
          <p:nvPr/>
        </p:nvPicPr>
        <p:blipFill>
          <a:blip r:embed="rId4"/>
          <a:stretch>
            <a:fillRect/>
          </a:stretch>
        </p:blipFill>
        <p:spPr>
          <a:xfrm>
            <a:off x="2845176" y="903849"/>
            <a:ext cx="3057347" cy="2633610"/>
          </a:xfrm>
          <a:prstGeom prst="rect">
            <a:avLst/>
          </a:prstGeom>
        </p:spPr>
      </p:pic>
    </p:spTree>
    <p:extLst>
      <p:ext uri="{BB962C8B-B14F-4D97-AF65-F5344CB8AC3E}">
        <p14:creationId xmlns:p14="http://schemas.microsoft.com/office/powerpoint/2010/main" val="3579236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0" y="0"/>
            <a:ext cx="9144000" cy="797365"/>
          </a:xfrm>
          <a:prstGeom prst="rect">
            <a:avLst/>
          </a:prstGeom>
          <a:solidFill>
            <a:srgbClr val="000000">
              <a:alpha val="0"/>
            </a:srgbClr>
          </a:solidFill>
          <a:ln/>
        </p:spPr>
        <p:txBody>
          <a:bodyPr/>
          <a:lstStyle/>
          <a:p>
            <a:endParaRPr lang="ko-KR" altLang="en-US"/>
          </a:p>
        </p:txBody>
      </p:sp>
      <p:sp>
        <p:nvSpPr>
          <p:cNvPr id="5" name="Shape 1"/>
          <p:cNvSpPr/>
          <p:nvPr/>
        </p:nvSpPr>
        <p:spPr>
          <a:xfrm>
            <a:off x="0" y="783078"/>
            <a:ext cx="9144000" cy="14288"/>
          </a:xfrm>
          <a:prstGeom prst="rect">
            <a:avLst/>
          </a:prstGeom>
          <a:solidFill>
            <a:srgbClr val="F1F5F9"/>
          </a:solidFill>
          <a:ln/>
        </p:spPr>
        <p:txBody>
          <a:bodyPr/>
          <a:lstStyle/>
          <a:p>
            <a:endParaRPr lang="ko-KR" altLang="en-US"/>
          </a:p>
        </p:txBody>
      </p:sp>
      <p:sp>
        <p:nvSpPr>
          <p:cNvPr id="6" name="Text 2"/>
          <p:cNvSpPr/>
          <p:nvPr/>
        </p:nvSpPr>
        <p:spPr>
          <a:xfrm>
            <a:off x="428625" y="458037"/>
            <a:ext cx="8715375" cy="253603"/>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0F172A"/>
                </a:solidFill>
                <a:latin typeface="NanumGothic" pitchFamily="34" charset="0"/>
                <a:ea typeface="NanumGothic" pitchFamily="34" charset="-122"/>
                <a:cs typeface="NanumGothic" pitchFamily="34" charset="-120"/>
              </a:rPr>
              <a:t>KpqC vs NIST: 국내 표준화 시사점</a:t>
            </a:r>
            <a:endParaRPr lang="en-US" sz="1808" dirty="0"/>
          </a:p>
        </p:txBody>
      </p:sp>
      <p:pic>
        <p:nvPicPr>
          <p:cNvPr id="7" name="Image 1" descr="preencoded.png"/>
          <p:cNvPicPr>
            <a:picLocks noChangeAspect="1"/>
          </p:cNvPicPr>
          <p:nvPr/>
        </p:nvPicPr>
        <p:blipFill>
          <a:blip r:embed="rId4"/>
          <a:stretch>
            <a:fillRect/>
          </a:stretch>
        </p:blipFill>
        <p:spPr>
          <a:xfrm>
            <a:off x="428625" y="925953"/>
            <a:ext cx="196453" cy="157163"/>
          </a:xfrm>
          <a:prstGeom prst="rect">
            <a:avLst/>
          </a:prstGeom>
        </p:spPr>
      </p:pic>
      <p:sp>
        <p:nvSpPr>
          <p:cNvPr id="8" name="Text 3"/>
          <p:cNvSpPr/>
          <p:nvPr/>
        </p:nvSpPr>
        <p:spPr>
          <a:xfrm>
            <a:off x="696516" y="926846"/>
            <a:ext cx="978694" cy="155377"/>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2563EB"/>
                </a:solidFill>
                <a:latin typeface="NanumGothic" pitchFamily="34" charset="0"/>
                <a:ea typeface="NanumGothic" pitchFamily="34" charset="-122"/>
                <a:cs typeface="NanumGothic" pitchFamily="34" charset="-120"/>
              </a:rPr>
              <a:t>성능 비교 분석</a:t>
            </a:r>
            <a:endParaRPr lang="en-US" sz="1090" dirty="0"/>
          </a:p>
        </p:txBody>
      </p:sp>
      <p:sp>
        <p:nvSpPr>
          <p:cNvPr id="9" name="Text 4"/>
          <p:cNvSpPr/>
          <p:nvPr/>
        </p:nvSpPr>
        <p:spPr>
          <a:xfrm>
            <a:off x="428625" y="1318859"/>
            <a:ext cx="3600450" cy="464679"/>
          </a:xfrm>
          <a:prstGeom prst="rect">
            <a:avLst/>
          </a:prstGeom>
          <a:noFill/>
          <a:ln/>
        </p:spPr>
        <p:txBody>
          <a:bodyPr wrap="square" lIns="212598" tIns="0" rIns="0" bIns="0" rtlCol="0" anchor="t">
            <a:spAutoFit/>
          </a:bodyPr>
          <a:lstStyle/>
          <a:p>
            <a:pPr marL="0" indent="0" algn="l">
              <a:lnSpc>
                <a:spcPts val="1800"/>
              </a:lnSpc>
              <a:buNone/>
            </a:pPr>
            <a:r>
              <a:rPr lang="en-US" sz="885" b="1" dirty="0">
                <a:solidFill>
                  <a:srgbClr val="334155"/>
                </a:solidFill>
                <a:latin typeface="NanumGothic" pitchFamily="34" charset="0"/>
                <a:ea typeface="NanumGothic" pitchFamily="34" charset="-122"/>
                <a:cs typeface="NanumGothic" pitchFamily="34" charset="-120"/>
              </a:rPr>
              <a:t>KEM L1:</a:t>
            </a:r>
            <a:r>
              <a:rPr lang="en-US" sz="942" dirty="0">
                <a:solidFill>
                  <a:srgbClr val="334155"/>
                </a:solidFill>
                <a:latin typeface="NanumGothic" pitchFamily="34" charset="0"/>
                <a:ea typeface="NanumGothic" pitchFamily="34" charset="-122"/>
                <a:cs typeface="NanumGothic" pitchFamily="34" charset="-120"/>
              </a:rPr>
              <a:t> SMAUG-T1(12F) &gt; ML-KEM-512(8F) &gt; NTRU+768(2F)</a:t>
            </a:r>
            <a:endParaRPr lang="en-US" sz="885" dirty="0"/>
          </a:p>
        </p:txBody>
      </p:sp>
      <p:sp>
        <p:nvSpPr>
          <p:cNvPr id="10" name="Text 5"/>
          <p:cNvSpPr/>
          <p:nvPr/>
        </p:nvSpPr>
        <p:spPr>
          <a:xfrm>
            <a:off x="428625" y="1890694"/>
            <a:ext cx="3600450" cy="233232"/>
          </a:xfrm>
          <a:prstGeom prst="rect">
            <a:avLst/>
          </a:prstGeom>
          <a:noFill/>
          <a:ln/>
        </p:spPr>
        <p:txBody>
          <a:bodyPr wrap="none" lIns="212598" tIns="0" rIns="0" bIns="0" rtlCol="0" anchor="t">
            <a:spAutoFit/>
          </a:bodyPr>
          <a:lstStyle/>
          <a:p>
            <a:pPr marL="0" indent="0" algn="l">
              <a:lnSpc>
                <a:spcPts val="1800"/>
              </a:lnSpc>
              <a:buNone/>
            </a:pPr>
            <a:r>
              <a:rPr lang="en-US" sz="885" b="1" dirty="0">
                <a:solidFill>
                  <a:srgbClr val="334155"/>
                </a:solidFill>
                <a:latin typeface="NanumGothic" pitchFamily="34" charset="0"/>
                <a:ea typeface="NanumGothic" pitchFamily="34" charset="-122"/>
                <a:cs typeface="NanumGothic" pitchFamily="34" charset="-120"/>
              </a:rPr>
              <a:t>KEM L3:</a:t>
            </a:r>
            <a:r>
              <a:rPr lang="en-US" sz="942" dirty="0">
                <a:solidFill>
                  <a:srgbClr val="334155"/>
                </a:solidFill>
                <a:latin typeface="NanumGothic" pitchFamily="34" charset="0"/>
                <a:ea typeface="NanumGothic" pitchFamily="34" charset="-122"/>
                <a:cs typeface="NanumGothic" pitchFamily="34" charset="-120"/>
              </a:rPr>
              <a:t> SMAUG-T3 = ML-KEM-768 (각 4F)</a:t>
            </a:r>
            <a:endParaRPr lang="en-US" sz="885" dirty="0"/>
          </a:p>
        </p:txBody>
      </p:sp>
      <p:sp>
        <p:nvSpPr>
          <p:cNvPr id="11" name="Text 6"/>
          <p:cNvSpPr/>
          <p:nvPr/>
        </p:nvSpPr>
        <p:spPr>
          <a:xfrm>
            <a:off x="428625" y="2231082"/>
            <a:ext cx="3600450" cy="233232"/>
          </a:xfrm>
          <a:prstGeom prst="rect">
            <a:avLst/>
          </a:prstGeom>
          <a:noFill/>
          <a:ln/>
        </p:spPr>
        <p:txBody>
          <a:bodyPr wrap="none" lIns="212598" tIns="0" rIns="0" bIns="0" rtlCol="0" anchor="t">
            <a:spAutoFit/>
          </a:bodyPr>
          <a:lstStyle/>
          <a:p>
            <a:pPr marL="0" indent="0" algn="l">
              <a:lnSpc>
                <a:spcPts val="1800"/>
              </a:lnSpc>
              <a:buNone/>
            </a:pPr>
            <a:r>
              <a:rPr lang="en-US" sz="885" b="1" dirty="0">
                <a:solidFill>
                  <a:srgbClr val="334155"/>
                </a:solidFill>
                <a:latin typeface="NanumGothic" pitchFamily="34" charset="0"/>
                <a:ea typeface="NanumGothic" pitchFamily="34" charset="-122"/>
                <a:cs typeface="NanumGothic" pitchFamily="34" charset="-120"/>
              </a:rPr>
              <a:t>DSA:</a:t>
            </a:r>
            <a:r>
              <a:rPr lang="en-US" sz="942" dirty="0">
                <a:solidFill>
                  <a:srgbClr val="334155"/>
                </a:solidFill>
                <a:latin typeface="NanumGothic" pitchFamily="34" charset="0"/>
                <a:ea typeface="NanumGothic" pitchFamily="34" charset="-122"/>
                <a:cs typeface="NanumGothic" pitchFamily="34" charset="-120"/>
              </a:rPr>
              <a:t> FN-DSA-512(6F) &gt; HAETAE2(4F) &gt; ML-DSA-44(2F)</a:t>
            </a:r>
            <a:endParaRPr lang="en-US" sz="885" dirty="0"/>
          </a:p>
        </p:txBody>
      </p:sp>
      <p:sp>
        <p:nvSpPr>
          <p:cNvPr id="12" name="Shape 7"/>
          <p:cNvSpPr/>
          <p:nvPr/>
        </p:nvSpPr>
        <p:spPr>
          <a:xfrm>
            <a:off x="428625" y="2842933"/>
            <a:ext cx="3600450" cy="600075"/>
          </a:xfrm>
          <a:prstGeom prst="rect">
            <a:avLst/>
          </a:prstGeom>
          <a:solidFill>
            <a:srgbClr val="F8FAFC"/>
          </a:solidFill>
          <a:ln/>
        </p:spPr>
        <p:txBody>
          <a:bodyPr/>
          <a:lstStyle/>
          <a:p>
            <a:endParaRPr lang="ko-KR" altLang="en-US"/>
          </a:p>
        </p:txBody>
      </p:sp>
      <p:sp>
        <p:nvSpPr>
          <p:cNvPr id="13" name="Shape 8"/>
          <p:cNvSpPr/>
          <p:nvPr/>
        </p:nvSpPr>
        <p:spPr>
          <a:xfrm>
            <a:off x="428625" y="2842933"/>
            <a:ext cx="35719" cy="600075"/>
          </a:xfrm>
          <a:prstGeom prst="rect">
            <a:avLst/>
          </a:prstGeom>
          <a:solidFill>
            <a:srgbClr val="059669"/>
          </a:solidFill>
          <a:ln/>
        </p:spPr>
        <p:txBody>
          <a:bodyPr/>
          <a:lstStyle/>
          <a:p>
            <a:endParaRPr lang="ko-KR" altLang="en-US"/>
          </a:p>
        </p:txBody>
      </p:sp>
      <p:pic>
        <p:nvPicPr>
          <p:cNvPr id="14" name="Image 2" descr="preencoded.png"/>
          <p:cNvPicPr>
            <a:picLocks noChangeAspect="1"/>
          </p:cNvPicPr>
          <p:nvPr/>
        </p:nvPicPr>
        <p:blipFill>
          <a:blip r:embed="rId5"/>
          <a:stretch>
            <a:fillRect/>
          </a:stretch>
        </p:blipFill>
        <p:spPr>
          <a:xfrm>
            <a:off x="428625" y="1318859"/>
            <a:ext cx="100013" cy="205718"/>
          </a:xfrm>
          <a:prstGeom prst="rect">
            <a:avLst/>
          </a:prstGeom>
        </p:spPr>
      </p:pic>
      <p:pic>
        <p:nvPicPr>
          <p:cNvPr id="15" name="Image 3" descr="preencoded.png"/>
          <p:cNvPicPr>
            <a:picLocks noChangeAspect="1"/>
          </p:cNvPicPr>
          <p:nvPr/>
        </p:nvPicPr>
        <p:blipFill>
          <a:blip r:embed="rId6"/>
          <a:stretch>
            <a:fillRect/>
          </a:stretch>
        </p:blipFill>
        <p:spPr>
          <a:xfrm>
            <a:off x="428625" y="1890694"/>
            <a:ext cx="100013" cy="205718"/>
          </a:xfrm>
          <a:prstGeom prst="rect">
            <a:avLst/>
          </a:prstGeom>
        </p:spPr>
      </p:pic>
      <p:pic>
        <p:nvPicPr>
          <p:cNvPr id="16" name="Image 4" descr="preencoded.png"/>
          <p:cNvPicPr>
            <a:picLocks noChangeAspect="1"/>
          </p:cNvPicPr>
          <p:nvPr/>
        </p:nvPicPr>
        <p:blipFill>
          <a:blip r:embed="rId7"/>
          <a:stretch>
            <a:fillRect/>
          </a:stretch>
        </p:blipFill>
        <p:spPr>
          <a:xfrm>
            <a:off x="428625" y="2231082"/>
            <a:ext cx="100013" cy="205718"/>
          </a:xfrm>
          <a:prstGeom prst="rect">
            <a:avLst/>
          </a:prstGeom>
        </p:spPr>
      </p:pic>
      <p:sp>
        <p:nvSpPr>
          <p:cNvPr id="17" name="Text 9"/>
          <p:cNvSpPr/>
          <p:nvPr/>
        </p:nvSpPr>
        <p:spPr>
          <a:xfrm>
            <a:off x="571500" y="2950090"/>
            <a:ext cx="3314700" cy="385763"/>
          </a:xfrm>
          <a:prstGeom prst="rect">
            <a:avLst/>
          </a:prstGeom>
          <a:noFill/>
          <a:ln/>
        </p:spPr>
        <p:txBody>
          <a:bodyPr wrap="square" lIns="0" tIns="0" rIns="0" bIns="0" rtlCol="0" anchor="t">
            <a:spAutoFit/>
          </a:bodyPr>
          <a:lstStyle/>
          <a:p>
            <a:pPr marL="0" indent="0" algn="l">
              <a:lnSpc>
                <a:spcPts val="1500"/>
              </a:lnSpc>
              <a:buNone/>
            </a:pPr>
            <a:r>
              <a:rPr lang="en-US" sz="885" b="1" dirty="0">
                <a:solidFill>
                  <a:srgbClr val="0F172A"/>
                </a:solidFill>
                <a:latin typeface="NanumGothic" pitchFamily="34" charset="0"/>
                <a:ea typeface="NanumGothic" pitchFamily="34" charset="-122"/>
                <a:cs typeface="NanumGothic" pitchFamily="34" charset="-120"/>
              </a:rPr>
              <a:t>시사점: KpqC 후보는 전송 측면에서 NIST 대비 경쟁력 있거나 우수함</a:t>
            </a:r>
            <a:endParaRPr lang="en-US" sz="885" dirty="0"/>
          </a:p>
        </p:txBody>
      </p:sp>
      <p:sp>
        <p:nvSpPr>
          <p:cNvPr id="19" name="Text 11"/>
          <p:cNvSpPr/>
          <p:nvPr/>
        </p:nvSpPr>
        <p:spPr>
          <a:xfrm>
            <a:off x="4711303" y="4509492"/>
            <a:ext cx="3607594" cy="596503"/>
          </a:xfrm>
          <a:prstGeom prst="rect">
            <a:avLst/>
          </a:prstGeom>
          <a:noFill/>
          <a:ln/>
        </p:spPr>
        <p:txBody>
          <a:bodyPr wrap="square" lIns="170053" tIns="170053" rIns="170053" bIns="170053" rtlCol="0" anchor="t">
            <a:spAutoFit/>
          </a:bodyPr>
          <a:lstStyle/>
          <a:p>
            <a:pPr marL="0" indent="0" algn="ctr">
              <a:lnSpc>
                <a:spcPts val="1500"/>
              </a:lnSpc>
              <a:buNone/>
            </a:pPr>
            <a:r>
              <a:rPr lang="en-US" sz="1090" b="1" dirty="0">
                <a:solidFill>
                  <a:srgbClr val="64748B"/>
                </a:solidFill>
                <a:latin typeface="NanumGothic" pitchFamily="34" charset="0"/>
                <a:ea typeface="NanumGothic" pitchFamily="34" charset="-122"/>
                <a:cs typeface="NanumGothic" pitchFamily="34" charset="-120"/>
              </a:rPr>
              <a:t>Figure 5: Startup P99 vs Jitter P99 Scatter Plot
(Algorithm family color-coded)</a:t>
            </a:r>
            <a:endParaRPr lang="en-US" sz="1090" dirty="0"/>
          </a:p>
        </p:txBody>
      </p:sp>
      <p:sp>
        <p:nvSpPr>
          <p:cNvPr id="20" name="Text 12"/>
          <p:cNvSpPr/>
          <p:nvPr/>
        </p:nvSpPr>
        <p:spPr>
          <a:xfrm>
            <a:off x="0" y="4875609"/>
            <a:ext cx="9144000" cy="125016"/>
          </a:xfrm>
          <a:prstGeom prst="rect">
            <a:avLst/>
          </a:prstGeom>
          <a:noFill/>
          <a:ln/>
        </p:spPr>
        <p:txBody>
          <a:bodyPr wrap="none" lIns="0" tIns="0" rIns="0" bIns="0" rtlCol="0" anchor="t">
            <a:spAutoFit/>
          </a:bodyPr>
          <a:lstStyle/>
          <a:p>
            <a:pPr marL="0" indent="0" algn="ctr">
              <a:lnSpc>
                <a:spcPts val="900"/>
              </a:lnSpc>
              <a:buNone/>
            </a:pPr>
            <a:r>
              <a:rPr lang="en-US" sz="727" dirty="0">
                <a:solidFill>
                  <a:srgbClr val="94A3B8"/>
                </a:solidFill>
                <a:latin typeface="NanumGothic" pitchFamily="34" charset="0"/>
                <a:ea typeface="NanumGothic" pitchFamily="34" charset="-122"/>
                <a:cs typeface="NanumGothic" pitchFamily="34" charset="-120"/>
              </a:rPr>
              <a:t>10</a:t>
            </a:r>
            <a:endParaRPr lang="en-US" sz="727" dirty="0"/>
          </a:p>
        </p:txBody>
      </p:sp>
      <p:pic>
        <p:nvPicPr>
          <p:cNvPr id="21" name="그림 20">
            <a:extLst>
              <a:ext uri="{FF2B5EF4-FFF2-40B4-BE49-F238E27FC236}">
                <a16:creationId xmlns:a16="http://schemas.microsoft.com/office/drawing/2014/main" id="{5A5831BB-0B14-2DDC-1B27-78FA67D311A7}"/>
              </a:ext>
            </a:extLst>
          </p:cNvPr>
          <p:cNvPicPr>
            <a:picLocks noChangeAspect="1"/>
          </p:cNvPicPr>
          <p:nvPr/>
        </p:nvPicPr>
        <p:blipFill>
          <a:blip r:embed="rId8"/>
          <a:stretch>
            <a:fillRect/>
          </a:stretch>
        </p:blipFill>
        <p:spPr>
          <a:xfrm>
            <a:off x="4742781" y="142875"/>
            <a:ext cx="3500437" cy="445537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0" y="0"/>
            <a:ext cx="9144000" cy="797365"/>
          </a:xfrm>
          <a:prstGeom prst="rect">
            <a:avLst/>
          </a:prstGeom>
          <a:solidFill>
            <a:srgbClr val="000000">
              <a:alpha val="0"/>
            </a:srgbClr>
          </a:solidFill>
          <a:ln/>
        </p:spPr>
        <p:txBody>
          <a:bodyPr/>
          <a:lstStyle/>
          <a:p>
            <a:endParaRPr lang="ko-KR" altLang="en-US"/>
          </a:p>
        </p:txBody>
      </p:sp>
      <p:sp>
        <p:nvSpPr>
          <p:cNvPr id="5" name="Shape 1"/>
          <p:cNvSpPr/>
          <p:nvPr/>
        </p:nvSpPr>
        <p:spPr>
          <a:xfrm>
            <a:off x="0" y="783078"/>
            <a:ext cx="9144000" cy="14288"/>
          </a:xfrm>
          <a:prstGeom prst="rect">
            <a:avLst/>
          </a:prstGeom>
          <a:solidFill>
            <a:srgbClr val="F1F5F9"/>
          </a:solidFill>
          <a:ln/>
        </p:spPr>
        <p:txBody>
          <a:bodyPr/>
          <a:lstStyle/>
          <a:p>
            <a:endParaRPr lang="ko-KR" altLang="en-US"/>
          </a:p>
        </p:txBody>
      </p:sp>
      <p:sp>
        <p:nvSpPr>
          <p:cNvPr id="6" name="Text 2"/>
          <p:cNvSpPr/>
          <p:nvPr/>
        </p:nvSpPr>
        <p:spPr>
          <a:xfrm>
            <a:off x="428625" y="458037"/>
            <a:ext cx="8715375" cy="253603"/>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0F172A"/>
                </a:solidFill>
                <a:latin typeface="NanumGothic" pitchFamily="34" charset="0"/>
                <a:ea typeface="NanumGothic" pitchFamily="34" charset="-122"/>
                <a:cs typeface="NanumGothic" pitchFamily="34" charset="-120"/>
              </a:rPr>
              <a:t>Feasibility Boundary: 최대 지원 부하 분석</a:t>
            </a:r>
            <a:endParaRPr lang="en-US" sz="1808" dirty="0"/>
          </a:p>
        </p:txBody>
      </p:sp>
      <p:sp>
        <p:nvSpPr>
          <p:cNvPr id="8" name="Text 4"/>
          <p:cNvSpPr/>
          <p:nvPr/>
        </p:nvSpPr>
        <p:spPr>
          <a:xfrm>
            <a:off x="2972679" y="3470914"/>
            <a:ext cx="3198614" cy="169664"/>
          </a:xfrm>
          <a:prstGeom prst="rect">
            <a:avLst/>
          </a:prstGeom>
          <a:noFill/>
          <a:ln/>
        </p:spPr>
        <p:txBody>
          <a:bodyPr wrap="none" lIns="0" tIns="0" rIns="0" bIns="0" rtlCol="0" anchor="t">
            <a:spAutoFit/>
          </a:bodyPr>
          <a:lstStyle/>
          <a:p>
            <a:pPr marL="0" indent="0" algn="ctr">
              <a:lnSpc>
                <a:spcPts val="1600"/>
              </a:lnSpc>
              <a:buNone/>
            </a:pPr>
            <a:r>
              <a:rPr lang="en-US" sz="1193" b="1" dirty="0">
                <a:solidFill>
                  <a:srgbClr val="64748B"/>
                </a:solidFill>
                <a:latin typeface="NanumGothic" pitchFamily="34" charset="0"/>
                <a:ea typeface="NanumGothic" pitchFamily="34" charset="-122"/>
                <a:cs typeface="NanumGothic" pitchFamily="34" charset="-120"/>
              </a:rPr>
              <a:t>Figure 6: L1 KEM 최대 지원 부하 막대 차트</a:t>
            </a:r>
            <a:endParaRPr lang="en-US" sz="1193" dirty="0"/>
          </a:p>
        </p:txBody>
      </p:sp>
      <p:sp>
        <p:nvSpPr>
          <p:cNvPr id="9" name="Shape 5"/>
          <p:cNvSpPr/>
          <p:nvPr/>
        </p:nvSpPr>
        <p:spPr>
          <a:xfrm>
            <a:off x="428625" y="3783453"/>
            <a:ext cx="2666991" cy="881528"/>
          </a:xfrm>
          <a:prstGeom prst="rect">
            <a:avLst/>
          </a:prstGeom>
          <a:solidFill>
            <a:srgbClr val="F8FAFC"/>
          </a:solidFill>
          <a:ln/>
        </p:spPr>
        <p:txBody>
          <a:bodyPr/>
          <a:lstStyle/>
          <a:p>
            <a:endParaRPr lang="ko-KR" altLang="en-US"/>
          </a:p>
        </p:txBody>
      </p:sp>
      <p:sp>
        <p:nvSpPr>
          <p:cNvPr id="10" name="Shape 6"/>
          <p:cNvSpPr/>
          <p:nvPr/>
        </p:nvSpPr>
        <p:spPr>
          <a:xfrm>
            <a:off x="428625" y="3783453"/>
            <a:ext cx="2666991" cy="28575"/>
          </a:xfrm>
          <a:prstGeom prst="rect">
            <a:avLst/>
          </a:prstGeom>
          <a:solidFill>
            <a:srgbClr val="2563EB"/>
          </a:solidFill>
          <a:ln/>
        </p:spPr>
        <p:txBody>
          <a:bodyPr/>
          <a:lstStyle/>
          <a:p>
            <a:endParaRPr lang="ko-KR" altLang="en-US"/>
          </a:p>
        </p:txBody>
      </p:sp>
      <p:sp>
        <p:nvSpPr>
          <p:cNvPr id="11" name="Text 7"/>
          <p:cNvSpPr/>
          <p:nvPr/>
        </p:nvSpPr>
        <p:spPr>
          <a:xfrm>
            <a:off x="571500" y="3890609"/>
            <a:ext cx="2381241" cy="142875"/>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2563EB"/>
                </a:solidFill>
                <a:latin typeface="NanumGothic" pitchFamily="34" charset="0"/>
                <a:ea typeface="NanumGothic" pitchFamily="34" charset="-122"/>
                <a:cs typeface="NanumGothic" pitchFamily="34" charset="-120"/>
              </a:rPr>
              <a:t>01</a:t>
            </a:r>
            <a:endParaRPr lang="en-US" sz="987" dirty="0"/>
          </a:p>
        </p:txBody>
      </p:sp>
      <p:sp>
        <p:nvSpPr>
          <p:cNvPr id="12" name="Text 8"/>
          <p:cNvSpPr/>
          <p:nvPr/>
        </p:nvSpPr>
        <p:spPr>
          <a:xfrm>
            <a:off x="571500" y="4090634"/>
            <a:ext cx="2381241" cy="167153"/>
          </a:xfrm>
          <a:prstGeom prst="rect">
            <a:avLst/>
          </a:prstGeom>
          <a:noFill/>
          <a:ln/>
        </p:spPr>
        <p:txBody>
          <a:bodyPr wrap="none" lIns="0" tIns="0" rIns="0" bIns="0" rtlCol="0" anchor="t">
            <a:spAutoFit/>
          </a:bodyPr>
          <a:lstStyle/>
          <a:p>
            <a:pPr marL="0" indent="0" algn="l">
              <a:lnSpc>
                <a:spcPts val="1300"/>
              </a:lnSpc>
              <a:buNone/>
            </a:pPr>
            <a:r>
              <a:rPr lang="en-US" sz="885" b="1" dirty="0">
                <a:solidFill>
                  <a:srgbClr val="0F172A"/>
                </a:solidFill>
                <a:latin typeface="NanumGothic" pitchFamily="34" charset="0"/>
                <a:ea typeface="NanumGothic" pitchFamily="34" charset="-122"/>
                <a:cs typeface="NanumGothic" pitchFamily="34" charset="-120"/>
              </a:rPr>
              <a:t>Staggered Startup</a:t>
            </a:r>
            <a:endParaRPr lang="en-US" sz="885" dirty="0"/>
          </a:p>
        </p:txBody>
      </p:sp>
      <p:sp>
        <p:nvSpPr>
          <p:cNvPr id="13" name="Text 9"/>
          <p:cNvSpPr/>
          <p:nvPr/>
        </p:nvSpPr>
        <p:spPr>
          <a:xfrm>
            <a:off x="571500" y="4314937"/>
            <a:ext cx="2381241" cy="321469"/>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475569"/>
                </a:solidFill>
                <a:latin typeface="NanumGothic" pitchFamily="34" charset="0"/>
                <a:ea typeface="NanumGothic" pitchFamily="34" charset="-122"/>
                <a:cs typeface="NanumGothic" pitchFamily="34" charset="-120"/>
              </a:rPr>
              <a:t>실현가능성 경계를 일관되게 상향시키는 가장 효과적인 단일 레버로 작용</a:t>
            </a:r>
            <a:endParaRPr lang="en-US" sz="780" dirty="0"/>
          </a:p>
        </p:txBody>
      </p:sp>
      <p:sp>
        <p:nvSpPr>
          <p:cNvPr id="14" name="Shape 10"/>
          <p:cNvSpPr/>
          <p:nvPr/>
        </p:nvSpPr>
        <p:spPr>
          <a:xfrm>
            <a:off x="3238491" y="3783453"/>
            <a:ext cx="2666991" cy="881528"/>
          </a:xfrm>
          <a:prstGeom prst="rect">
            <a:avLst/>
          </a:prstGeom>
          <a:solidFill>
            <a:srgbClr val="F8FAFC"/>
          </a:solidFill>
          <a:ln/>
        </p:spPr>
        <p:txBody>
          <a:bodyPr/>
          <a:lstStyle/>
          <a:p>
            <a:endParaRPr lang="ko-KR" altLang="en-US"/>
          </a:p>
        </p:txBody>
      </p:sp>
      <p:sp>
        <p:nvSpPr>
          <p:cNvPr id="15" name="Shape 11"/>
          <p:cNvSpPr/>
          <p:nvPr/>
        </p:nvSpPr>
        <p:spPr>
          <a:xfrm>
            <a:off x="3238491" y="3783453"/>
            <a:ext cx="2666991" cy="28575"/>
          </a:xfrm>
          <a:prstGeom prst="rect">
            <a:avLst/>
          </a:prstGeom>
          <a:solidFill>
            <a:srgbClr val="2563EB"/>
          </a:solidFill>
          <a:ln/>
        </p:spPr>
        <p:txBody>
          <a:bodyPr/>
          <a:lstStyle/>
          <a:p>
            <a:endParaRPr lang="ko-KR" altLang="en-US"/>
          </a:p>
        </p:txBody>
      </p:sp>
      <p:sp>
        <p:nvSpPr>
          <p:cNvPr id="16" name="Text 12"/>
          <p:cNvSpPr/>
          <p:nvPr/>
        </p:nvSpPr>
        <p:spPr>
          <a:xfrm>
            <a:off x="3381366" y="3890609"/>
            <a:ext cx="2381241" cy="142875"/>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2563EB"/>
                </a:solidFill>
                <a:latin typeface="NanumGothic" pitchFamily="34" charset="0"/>
                <a:ea typeface="NanumGothic" pitchFamily="34" charset="-122"/>
                <a:cs typeface="NanumGothic" pitchFamily="34" charset="-120"/>
              </a:rPr>
              <a:t>02</a:t>
            </a:r>
            <a:endParaRPr lang="en-US" sz="987" dirty="0"/>
          </a:p>
        </p:txBody>
      </p:sp>
      <p:sp>
        <p:nvSpPr>
          <p:cNvPr id="17" name="Text 13"/>
          <p:cNvSpPr/>
          <p:nvPr/>
        </p:nvSpPr>
        <p:spPr>
          <a:xfrm>
            <a:off x="3381366" y="4090634"/>
            <a:ext cx="2381241" cy="167153"/>
          </a:xfrm>
          <a:prstGeom prst="rect">
            <a:avLst/>
          </a:prstGeom>
          <a:noFill/>
          <a:ln/>
        </p:spPr>
        <p:txBody>
          <a:bodyPr wrap="none" lIns="0" tIns="0" rIns="0" bIns="0" rtlCol="0" anchor="t">
            <a:spAutoFit/>
          </a:bodyPr>
          <a:lstStyle/>
          <a:p>
            <a:pPr marL="0" indent="0" algn="l">
              <a:lnSpc>
                <a:spcPts val="1300"/>
              </a:lnSpc>
              <a:buNone/>
            </a:pPr>
            <a:r>
              <a:rPr lang="en-US" sz="885" b="1" dirty="0">
                <a:solidFill>
                  <a:srgbClr val="0F172A"/>
                </a:solidFill>
                <a:latin typeface="NanumGothic" pitchFamily="34" charset="0"/>
                <a:ea typeface="NanumGothic" pitchFamily="34" charset="-122"/>
                <a:cs typeface="NanumGothic" pitchFamily="34" charset="-120"/>
              </a:rPr>
              <a:t>Artifact Size ↑</a:t>
            </a:r>
            <a:endParaRPr lang="en-US" sz="885" dirty="0"/>
          </a:p>
        </p:txBody>
      </p:sp>
      <p:sp>
        <p:nvSpPr>
          <p:cNvPr id="18" name="Text 14"/>
          <p:cNvSpPr/>
          <p:nvPr/>
        </p:nvSpPr>
        <p:spPr>
          <a:xfrm>
            <a:off x="3381366" y="4314937"/>
            <a:ext cx="2381241" cy="321469"/>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475569"/>
                </a:solidFill>
                <a:latin typeface="NanumGothic" pitchFamily="34" charset="0"/>
                <a:ea typeface="NanumGothic" pitchFamily="34" charset="-122"/>
                <a:cs typeface="NanumGothic" pitchFamily="34" charset="-120"/>
              </a:rPr>
              <a:t>동일 보안 레벨 내에서 아티팩트 크기 증가 시 경계가 단조 감소하는 경향</a:t>
            </a:r>
            <a:endParaRPr lang="en-US" sz="780" dirty="0"/>
          </a:p>
        </p:txBody>
      </p:sp>
      <p:sp>
        <p:nvSpPr>
          <p:cNvPr id="19" name="Shape 15"/>
          <p:cNvSpPr/>
          <p:nvPr/>
        </p:nvSpPr>
        <p:spPr>
          <a:xfrm>
            <a:off x="6048356" y="3783453"/>
            <a:ext cx="2667019" cy="881528"/>
          </a:xfrm>
          <a:prstGeom prst="rect">
            <a:avLst/>
          </a:prstGeom>
          <a:solidFill>
            <a:srgbClr val="F8FAFC"/>
          </a:solidFill>
          <a:ln/>
        </p:spPr>
        <p:txBody>
          <a:bodyPr/>
          <a:lstStyle/>
          <a:p>
            <a:endParaRPr lang="ko-KR" altLang="en-US"/>
          </a:p>
        </p:txBody>
      </p:sp>
      <p:sp>
        <p:nvSpPr>
          <p:cNvPr id="20" name="Shape 16"/>
          <p:cNvSpPr/>
          <p:nvPr/>
        </p:nvSpPr>
        <p:spPr>
          <a:xfrm>
            <a:off x="6048356" y="3783453"/>
            <a:ext cx="2667019" cy="28575"/>
          </a:xfrm>
          <a:prstGeom prst="rect">
            <a:avLst/>
          </a:prstGeom>
          <a:solidFill>
            <a:srgbClr val="2563EB"/>
          </a:solidFill>
          <a:ln/>
        </p:spPr>
        <p:txBody>
          <a:bodyPr/>
          <a:lstStyle/>
          <a:p>
            <a:endParaRPr lang="ko-KR" altLang="en-US"/>
          </a:p>
        </p:txBody>
      </p:sp>
      <p:sp>
        <p:nvSpPr>
          <p:cNvPr id="21" name="Text 17"/>
          <p:cNvSpPr/>
          <p:nvPr/>
        </p:nvSpPr>
        <p:spPr>
          <a:xfrm>
            <a:off x="6191231" y="3890609"/>
            <a:ext cx="2381269" cy="142875"/>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2563EB"/>
                </a:solidFill>
                <a:latin typeface="NanumGothic" pitchFamily="34" charset="0"/>
                <a:ea typeface="NanumGothic" pitchFamily="34" charset="-122"/>
                <a:cs typeface="NanumGothic" pitchFamily="34" charset="-120"/>
              </a:rPr>
              <a:t>03</a:t>
            </a:r>
            <a:endParaRPr lang="en-US" sz="987" dirty="0"/>
          </a:p>
        </p:txBody>
      </p:sp>
      <p:sp>
        <p:nvSpPr>
          <p:cNvPr id="22" name="Text 18"/>
          <p:cNvSpPr/>
          <p:nvPr/>
        </p:nvSpPr>
        <p:spPr>
          <a:xfrm>
            <a:off x="6191231" y="4090634"/>
            <a:ext cx="2381269" cy="167153"/>
          </a:xfrm>
          <a:prstGeom prst="rect">
            <a:avLst/>
          </a:prstGeom>
          <a:noFill/>
          <a:ln/>
        </p:spPr>
        <p:txBody>
          <a:bodyPr wrap="none" lIns="0" tIns="0" rIns="0" bIns="0" rtlCol="0" anchor="t">
            <a:spAutoFit/>
          </a:bodyPr>
          <a:lstStyle/>
          <a:p>
            <a:pPr marL="0" indent="0" algn="l">
              <a:lnSpc>
                <a:spcPts val="1300"/>
              </a:lnSpc>
              <a:buNone/>
            </a:pPr>
            <a:r>
              <a:rPr lang="en-US" sz="885" b="1" dirty="0">
                <a:solidFill>
                  <a:srgbClr val="0F172A"/>
                </a:solidFill>
                <a:latin typeface="NanumGothic" pitchFamily="34" charset="0"/>
                <a:ea typeface="NanumGothic" pitchFamily="34" charset="-122"/>
                <a:cs typeface="NanumGothic" pitchFamily="34" charset="-120"/>
              </a:rPr>
              <a:t>16-ECU Simul.</a:t>
            </a:r>
            <a:endParaRPr lang="en-US" sz="885" dirty="0"/>
          </a:p>
        </p:txBody>
      </p:sp>
      <p:sp>
        <p:nvSpPr>
          <p:cNvPr id="23" name="Text 19"/>
          <p:cNvSpPr/>
          <p:nvPr/>
        </p:nvSpPr>
        <p:spPr>
          <a:xfrm>
            <a:off x="6191231" y="4314937"/>
            <a:ext cx="2381269" cy="321469"/>
          </a:xfrm>
          <a:prstGeom prst="rect">
            <a:avLst/>
          </a:prstGeom>
          <a:noFill/>
          <a:ln/>
        </p:spPr>
        <p:txBody>
          <a:bodyPr wrap="square" lIns="0" tIns="0" rIns="0" bIns="0" rtlCol="0" anchor="t">
            <a:spAutoFit/>
          </a:bodyPr>
          <a:lstStyle/>
          <a:p>
            <a:pPr marL="0" indent="0" algn="l">
              <a:lnSpc>
                <a:spcPts val="1300"/>
              </a:lnSpc>
              <a:buNone/>
            </a:pPr>
            <a:r>
              <a:rPr lang="en-US" sz="780" dirty="0">
                <a:solidFill>
                  <a:srgbClr val="475569"/>
                </a:solidFill>
                <a:latin typeface="NanumGothic" pitchFamily="34" charset="0"/>
                <a:ea typeface="NanumGothic" pitchFamily="34" charset="-122"/>
                <a:cs typeface="NanumGothic" pitchFamily="34" charset="-120"/>
              </a:rPr>
              <a:t>전 알고리즘 및 전 부하 조건에서 보편적으로 Infeasible한 결과 도출</a:t>
            </a:r>
            <a:endParaRPr lang="en-US" sz="780" dirty="0"/>
          </a:p>
        </p:txBody>
      </p:sp>
      <p:sp>
        <p:nvSpPr>
          <p:cNvPr id="24" name="Text 20"/>
          <p:cNvSpPr/>
          <p:nvPr/>
        </p:nvSpPr>
        <p:spPr>
          <a:xfrm>
            <a:off x="0" y="4875609"/>
            <a:ext cx="9144000" cy="125016"/>
          </a:xfrm>
          <a:prstGeom prst="rect">
            <a:avLst/>
          </a:prstGeom>
          <a:noFill/>
          <a:ln/>
        </p:spPr>
        <p:txBody>
          <a:bodyPr wrap="none" lIns="0" tIns="0" rIns="0" bIns="0" rtlCol="0" anchor="t">
            <a:spAutoFit/>
          </a:bodyPr>
          <a:lstStyle/>
          <a:p>
            <a:pPr marL="0" indent="0" algn="ctr">
              <a:lnSpc>
                <a:spcPts val="900"/>
              </a:lnSpc>
              <a:buNone/>
            </a:pPr>
            <a:r>
              <a:rPr lang="en-US" sz="727" dirty="0">
                <a:solidFill>
                  <a:srgbClr val="94A3B8"/>
                </a:solidFill>
                <a:latin typeface="NanumGothic" pitchFamily="34" charset="0"/>
                <a:ea typeface="NanumGothic" pitchFamily="34" charset="-122"/>
                <a:cs typeface="NanumGothic" pitchFamily="34" charset="-120"/>
              </a:rPr>
              <a:t>11</a:t>
            </a:r>
            <a:endParaRPr lang="en-US" sz="727" dirty="0"/>
          </a:p>
        </p:txBody>
      </p:sp>
      <p:pic>
        <p:nvPicPr>
          <p:cNvPr id="25" name="그림 24">
            <a:extLst>
              <a:ext uri="{FF2B5EF4-FFF2-40B4-BE49-F238E27FC236}">
                <a16:creationId xmlns:a16="http://schemas.microsoft.com/office/drawing/2014/main" id="{9C6EA9FA-B150-1E89-EC23-9CEC5F9D22CD}"/>
              </a:ext>
            </a:extLst>
          </p:cNvPr>
          <p:cNvPicPr>
            <a:picLocks noChangeAspect="1"/>
          </p:cNvPicPr>
          <p:nvPr/>
        </p:nvPicPr>
        <p:blipFill>
          <a:blip r:embed="rId4"/>
          <a:stretch>
            <a:fillRect/>
          </a:stretch>
        </p:blipFill>
        <p:spPr>
          <a:xfrm>
            <a:off x="1890400" y="900950"/>
            <a:ext cx="5363171" cy="253067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0" y="0"/>
            <a:ext cx="9144000" cy="797365"/>
          </a:xfrm>
          <a:prstGeom prst="rect">
            <a:avLst/>
          </a:prstGeom>
          <a:solidFill>
            <a:srgbClr val="000000">
              <a:alpha val="0"/>
            </a:srgbClr>
          </a:solidFill>
          <a:ln/>
        </p:spPr>
        <p:txBody>
          <a:bodyPr/>
          <a:lstStyle/>
          <a:p>
            <a:endParaRPr lang="ko-KR" altLang="en-US"/>
          </a:p>
        </p:txBody>
      </p:sp>
      <p:sp>
        <p:nvSpPr>
          <p:cNvPr id="5" name="Shape 1"/>
          <p:cNvSpPr/>
          <p:nvPr/>
        </p:nvSpPr>
        <p:spPr>
          <a:xfrm>
            <a:off x="0" y="783078"/>
            <a:ext cx="9144000" cy="14288"/>
          </a:xfrm>
          <a:prstGeom prst="rect">
            <a:avLst/>
          </a:prstGeom>
          <a:solidFill>
            <a:srgbClr val="F1F5F9"/>
          </a:solidFill>
          <a:ln/>
        </p:spPr>
        <p:txBody>
          <a:bodyPr/>
          <a:lstStyle/>
          <a:p>
            <a:endParaRPr lang="ko-KR" altLang="en-US"/>
          </a:p>
        </p:txBody>
      </p:sp>
      <p:sp>
        <p:nvSpPr>
          <p:cNvPr id="6" name="Text 2"/>
          <p:cNvSpPr/>
          <p:nvPr/>
        </p:nvSpPr>
        <p:spPr>
          <a:xfrm>
            <a:off x="428625" y="458037"/>
            <a:ext cx="8715375" cy="253603"/>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0F172A"/>
                </a:solidFill>
                <a:latin typeface="NanumGothic" pitchFamily="34" charset="0"/>
                <a:ea typeface="NanumGothic" pitchFamily="34" charset="-122"/>
                <a:cs typeface="NanumGothic" pitchFamily="34" charset="-120"/>
              </a:rPr>
              <a:t>주기적 QoS 열화가 주 실패 모드 — PQC 완료 시간이 아님</a:t>
            </a:r>
            <a:endParaRPr lang="en-US" sz="1808" dirty="0"/>
          </a:p>
        </p:txBody>
      </p:sp>
      <p:sp>
        <p:nvSpPr>
          <p:cNvPr id="7" name="Shape 3"/>
          <p:cNvSpPr/>
          <p:nvPr/>
        </p:nvSpPr>
        <p:spPr>
          <a:xfrm>
            <a:off x="428625" y="925953"/>
            <a:ext cx="8286750" cy="765777"/>
          </a:xfrm>
          <a:prstGeom prst="rect">
            <a:avLst/>
          </a:prstGeom>
          <a:solidFill>
            <a:srgbClr val="F8FAFC"/>
          </a:solidFill>
          <a:ln/>
        </p:spPr>
        <p:txBody>
          <a:bodyPr/>
          <a:lstStyle/>
          <a:p>
            <a:endParaRPr lang="ko-KR" altLang="en-US"/>
          </a:p>
        </p:txBody>
      </p:sp>
      <p:sp>
        <p:nvSpPr>
          <p:cNvPr id="8" name="Shape 4"/>
          <p:cNvSpPr/>
          <p:nvPr/>
        </p:nvSpPr>
        <p:spPr>
          <a:xfrm>
            <a:off x="428625" y="925953"/>
            <a:ext cx="42863" cy="765777"/>
          </a:xfrm>
          <a:prstGeom prst="rect">
            <a:avLst/>
          </a:prstGeom>
          <a:solidFill>
            <a:srgbClr val="DC2626"/>
          </a:solidFill>
          <a:ln/>
        </p:spPr>
        <p:txBody>
          <a:bodyPr/>
          <a:lstStyle/>
          <a:p>
            <a:endParaRPr lang="ko-KR" altLang="en-US"/>
          </a:p>
        </p:txBody>
      </p:sp>
      <p:sp>
        <p:nvSpPr>
          <p:cNvPr id="9" name="Text 5"/>
          <p:cNvSpPr/>
          <p:nvPr/>
        </p:nvSpPr>
        <p:spPr>
          <a:xfrm>
            <a:off x="642938" y="1068828"/>
            <a:ext cx="7858125" cy="480027"/>
          </a:xfrm>
          <a:prstGeom prst="rect">
            <a:avLst/>
          </a:prstGeom>
          <a:noFill/>
          <a:ln/>
        </p:spPr>
        <p:txBody>
          <a:bodyPr wrap="square" lIns="0" tIns="0" rIns="0" bIns="0" rtlCol="0" anchor="t">
            <a:spAutoFit/>
          </a:bodyPr>
          <a:lstStyle/>
          <a:p>
            <a:pPr marL="0" indent="0" algn="l">
              <a:lnSpc>
                <a:spcPts val="1900"/>
              </a:lnSpc>
              <a:buNone/>
            </a:pPr>
            <a:r>
              <a:rPr lang="en-US" sz="1193" b="1" dirty="0">
                <a:solidFill>
                  <a:srgbClr val="0F172A"/>
                </a:solidFill>
                <a:latin typeface="NanumGothic" pitchFamily="34" charset="0"/>
                <a:ea typeface="NanumGothic" pitchFamily="34" charset="-122"/>
                <a:cs typeface="NanumGothic" pitchFamily="34" charset="-120"/>
              </a:rPr>
              <a:t>"PQC startup P99 &lt; 50ms로 완료 시간은 정상이나,
jitter &gt; 50ms로 인해 Infeasible 판정되는 사례가 지배적"</a:t>
            </a:r>
            <a:endParaRPr lang="en-US" sz="1193" dirty="0"/>
          </a:p>
        </p:txBody>
      </p:sp>
      <p:sp>
        <p:nvSpPr>
          <p:cNvPr id="10" name="Text 6"/>
          <p:cNvSpPr/>
          <p:nvPr/>
        </p:nvSpPr>
        <p:spPr>
          <a:xfrm>
            <a:off x="428625" y="1870323"/>
            <a:ext cx="4000500" cy="828229"/>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334155"/>
                </a:solidFill>
                <a:latin typeface="NanumGothic" pitchFamily="34" charset="0"/>
                <a:ea typeface="NanumGothic" pitchFamily="34" charset="-122"/>
                <a:cs typeface="NanumGothic" pitchFamily="34" charset="-120"/>
              </a:rPr>
              <a:t>• </a:t>
            </a:r>
            <a:r>
              <a:rPr lang="en-US" sz="885" b="1" dirty="0">
                <a:solidFill>
                  <a:srgbClr val="2563EB"/>
                </a:solidFill>
                <a:latin typeface="NanumGothic" pitchFamily="34" charset="0"/>
                <a:ea typeface="NanumGothic" pitchFamily="34" charset="-122"/>
                <a:cs typeface="NanumGothic" pitchFamily="34" charset="-120"/>
              </a:rPr>
              <a:t>핵심 예시:</a:t>
            </a:r>
            <a:r>
              <a:rPr lang="en-US" sz="942" dirty="0">
                <a:solidFill>
                  <a:srgbClr val="334155"/>
                </a:solidFill>
                <a:latin typeface="NanumGothic" pitchFamily="34" charset="0"/>
                <a:ea typeface="NanumGothic" pitchFamily="34" charset="-122"/>
                <a:cs typeface="NanumGothic" pitchFamily="34" charset="-120"/>
              </a:rPr>
              <a:t> SMAUG-T1 16-ECU simul.
- Startup P99: 34.93ms (</a:t>
            </a:r>
            <a:r>
              <a:rPr lang="en-US" sz="885" b="1" dirty="0">
                <a:solidFill>
                  <a:srgbClr val="2563EB"/>
                </a:solidFill>
                <a:latin typeface="NanumGothic" pitchFamily="34" charset="0"/>
                <a:ea typeface="NanumGothic" pitchFamily="34" charset="-122"/>
                <a:cs typeface="NanumGothic" pitchFamily="34" charset="-120"/>
              </a:rPr>
              <a:t>OK</a:t>
            </a:r>
            <a:r>
              <a:rPr lang="en-US" sz="942" dirty="0">
                <a:solidFill>
                  <a:srgbClr val="334155"/>
                </a:solidFill>
                <a:latin typeface="NanumGothic" pitchFamily="34" charset="0"/>
                <a:ea typeface="NanumGothic" pitchFamily="34" charset="-122"/>
                <a:cs typeface="NanumGothic" pitchFamily="34" charset="-120"/>
              </a:rPr>
              <a:t>)
- Jitter P99: 61.34ms (</a:t>
            </a:r>
            <a:r>
              <a:rPr lang="en-US" sz="885" b="1" dirty="0">
                <a:solidFill>
                  <a:srgbClr val="2563EB"/>
                </a:solidFill>
                <a:latin typeface="NanumGothic" pitchFamily="34" charset="0"/>
                <a:ea typeface="NanumGothic" pitchFamily="34" charset="-122"/>
                <a:cs typeface="NanumGothic" pitchFamily="34" charset="-120"/>
              </a:rPr>
              <a:t>NG</a:t>
            </a:r>
            <a:r>
              <a:rPr lang="en-US" sz="942" dirty="0">
                <a:solidFill>
                  <a:srgbClr val="334155"/>
                </a:solidFill>
                <a:latin typeface="NanumGothic" pitchFamily="34" charset="0"/>
                <a:ea typeface="NanumGothic" pitchFamily="34" charset="-122"/>
                <a:cs typeface="NanumGothic" pitchFamily="34" charset="-120"/>
              </a:rPr>
              <a:t>)
- Miss Rate: 11.1%</a:t>
            </a:r>
            <a:endParaRPr lang="en-US" sz="942" dirty="0"/>
          </a:p>
        </p:txBody>
      </p:sp>
      <p:sp>
        <p:nvSpPr>
          <p:cNvPr id="11" name="Text 7"/>
          <p:cNvSpPr/>
          <p:nvPr/>
        </p:nvSpPr>
        <p:spPr>
          <a:xfrm>
            <a:off x="4714875" y="1870323"/>
            <a:ext cx="4000500" cy="828229"/>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334155"/>
                </a:solidFill>
                <a:latin typeface="NanumGothic" pitchFamily="34" charset="0"/>
                <a:ea typeface="NanumGothic" pitchFamily="34" charset="-122"/>
                <a:cs typeface="NanumGothic" pitchFamily="34" charset="-120"/>
              </a:rPr>
              <a:t>• </a:t>
            </a:r>
            <a:r>
              <a:rPr lang="en-US" sz="885" b="1" dirty="0">
                <a:solidFill>
                  <a:srgbClr val="2563EB"/>
                </a:solidFill>
                <a:latin typeface="NanumGothic" pitchFamily="34" charset="0"/>
                <a:ea typeface="NanumGothic" pitchFamily="34" charset="-122"/>
                <a:cs typeface="NanumGothic" pitchFamily="34" charset="-120"/>
              </a:rPr>
              <a:t>Transient Overload 이론:</a:t>
            </a:r>
            <a:r>
              <a:rPr lang="en-US" sz="942" dirty="0">
                <a:solidFill>
                  <a:srgbClr val="334155"/>
                </a:solidFill>
                <a:latin typeface="NanumGothic" pitchFamily="34" charset="0"/>
                <a:ea typeface="NanumGothic" pitchFamily="34" charset="-122"/>
                <a:cs typeface="NanumGothic" pitchFamily="34" charset="-120"/>
              </a:rPr>
              <a:t>
</a:t>
            </a:r>
            <a:r>
              <a:rPr lang="en-US" sz="885" b="1" dirty="0">
                <a:solidFill>
                  <a:srgbClr val="0F172A"/>
                </a:solidFill>
                <a:latin typeface="Courier New" pitchFamily="34" charset="0"/>
                <a:ea typeface="Courier New" pitchFamily="34" charset="-122"/>
                <a:cs typeface="Courier New" pitchFamily="34" charset="-120"/>
              </a:rPr>
              <a:t>ρ_PQC + ρ_bg &gt; 1</a:t>
            </a:r>
            <a:r>
              <a:rPr lang="en-US" sz="942" dirty="0">
                <a:solidFill>
                  <a:srgbClr val="334155"/>
                </a:solidFill>
                <a:latin typeface="NanumGothic" pitchFamily="34" charset="0"/>
                <a:ea typeface="NanumGothic" pitchFamily="34" charset="-122"/>
                <a:cs typeface="NanumGothic" pitchFamily="34" charset="-120"/>
              </a:rPr>
              <a:t> 조건 발생 시,
일시적 버스 포화로 인한 심각한 지터 증폭 유발</a:t>
            </a:r>
            <a:endParaRPr lang="en-US" sz="942" dirty="0"/>
          </a:p>
        </p:txBody>
      </p:sp>
      <p:sp>
        <p:nvSpPr>
          <p:cNvPr id="12" name="Shape 8"/>
          <p:cNvSpPr/>
          <p:nvPr/>
        </p:nvSpPr>
        <p:spPr>
          <a:xfrm>
            <a:off x="432197" y="2916436"/>
            <a:ext cx="3245690" cy="310753"/>
          </a:xfrm>
          <a:prstGeom prst="rect">
            <a:avLst/>
          </a:prstGeom>
          <a:solidFill>
            <a:srgbClr val="0F172A"/>
          </a:solidFill>
          <a:ln w="9144">
            <a:solidFill>
              <a:srgbClr val="1E293B"/>
            </a:solidFill>
            <a:prstDash val="solid"/>
          </a:ln>
        </p:spPr>
        <p:txBody>
          <a:bodyPr/>
          <a:lstStyle/>
          <a:p>
            <a:endParaRPr lang="ko-KR" altLang="en-US"/>
          </a:p>
        </p:txBody>
      </p:sp>
      <p:sp>
        <p:nvSpPr>
          <p:cNvPr id="13" name="Text 9"/>
          <p:cNvSpPr/>
          <p:nvPr/>
        </p:nvSpPr>
        <p:spPr>
          <a:xfrm>
            <a:off x="432197" y="2916436"/>
            <a:ext cx="3245690" cy="310753"/>
          </a:xfrm>
          <a:prstGeom prst="rect">
            <a:avLst/>
          </a:prstGeom>
          <a:noFill/>
          <a:ln/>
        </p:spPr>
        <p:txBody>
          <a:bodyPr wrap="square" lIns="102108" tIns="102108" rIns="102108" bIns="102108" rtlCol="0" anchor="ctr">
            <a:spAutoFit/>
          </a:bodyPr>
          <a:lstStyle/>
          <a:p>
            <a:pPr marL="0" indent="0" algn="ctr">
              <a:lnSpc>
                <a:spcPts val="1100"/>
              </a:lnSpc>
              <a:buNone/>
            </a:pPr>
            <a:r>
              <a:rPr lang="en-US" sz="784" b="1" dirty="0">
                <a:solidFill>
                  <a:srgbClr val="FFFFFF"/>
                </a:solidFill>
                <a:latin typeface="NanumGothic" pitchFamily="34" charset="0"/>
                <a:ea typeface="NanumGothic" pitchFamily="34" charset="-122"/>
                <a:cs typeface="NanumGothic" pitchFamily="34" charset="-120"/>
              </a:rPr>
              <a:t>Case</a:t>
            </a:r>
            <a:endParaRPr lang="en-US" sz="784" dirty="0"/>
          </a:p>
        </p:txBody>
      </p:sp>
      <p:sp>
        <p:nvSpPr>
          <p:cNvPr id="14" name="Shape 10"/>
          <p:cNvSpPr/>
          <p:nvPr/>
        </p:nvSpPr>
        <p:spPr>
          <a:xfrm>
            <a:off x="3677887" y="2916436"/>
            <a:ext cx="1102119" cy="310753"/>
          </a:xfrm>
          <a:prstGeom prst="rect">
            <a:avLst/>
          </a:prstGeom>
          <a:solidFill>
            <a:srgbClr val="0F172A"/>
          </a:solidFill>
          <a:ln w="9144">
            <a:solidFill>
              <a:srgbClr val="1E293B"/>
            </a:solidFill>
            <a:prstDash val="solid"/>
          </a:ln>
        </p:spPr>
        <p:txBody>
          <a:bodyPr/>
          <a:lstStyle/>
          <a:p>
            <a:endParaRPr lang="ko-KR" altLang="en-US"/>
          </a:p>
        </p:txBody>
      </p:sp>
      <p:sp>
        <p:nvSpPr>
          <p:cNvPr id="15" name="Text 11"/>
          <p:cNvSpPr/>
          <p:nvPr/>
        </p:nvSpPr>
        <p:spPr>
          <a:xfrm>
            <a:off x="3677887" y="2916436"/>
            <a:ext cx="1102119" cy="310753"/>
          </a:xfrm>
          <a:prstGeom prst="rect">
            <a:avLst/>
          </a:prstGeom>
          <a:noFill/>
          <a:ln/>
        </p:spPr>
        <p:txBody>
          <a:bodyPr wrap="square" lIns="102108" tIns="102108" rIns="102108" bIns="102108" rtlCol="0" anchor="ctr">
            <a:spAutoFit/>
          </a:bodyPr>
          <a:lstStyle/>
          <a:p>
            <a:pPr marL="0" indent="0" algn="ctr">
              <a:lnSpc>
                <a:spcPts val="1100"/>
              </a:lnSpc>
              <a:buNone/>
            </a:pPr>
            <a:r>
              <a:rPr lang="en-US" sz="784" b="1" dirty="0">
                <a:solidFill>
                  <a:srgbClr val="FFFFFF"/>
                </a:solidFill>
                <a:latin typeface="NanumGothic" pitchFamily="34" charset="0"/>
                <a:ea typeface="NanumGothic" pitchFamily="34" charset="-122"/>
                <a:cs typeface="NanumGothic" pitchFamily="34" charset="-120"/>
              </a:rPr>
              <a:t>ρ_PQC</a:t>
            </a:r>
            <a:endParaRPr lang="en-US" sz="784" dirty="0"/>
          </a:p>
        </p:txBody>
      </p:sp>
      <p:sp>
        <p:nvSpPr>
          <p:cNvPr id="16" name="Shape 12"/>
          <p:cNvSpPr/>
          <p:nvPr/>
        </p:nvSpPr>
        <p:spPr>
          <a:xfrm>
            <a:off x="4776574" y="2916436"/>
            <a:ext cx="1121206" cy="310753"/>
          </a:xfrm>
          <a:prstGeom prst="rect">
            <a:avLst/>
          </a:prstGeom>
          <a:solidFill>
            <a:srgbClr val="0F172A"/>
          </a:solidFill>
          <a:ln w="9144">
            <a:solidFill>
              <a:srgbClr val="1E293B"/>
            </a:solidFill>
            <a:prstDash val="solid"/>
          </a:ln>
        </p:spPr>
        <p:txBody>
          <a:bodyPr/>
          <a:lstStyle/>
          <a:p>
            <a:endParaRPr lang="ko-KR" altLang="en-US"/>
          </a:p>
        </p:txBody>
      </p:sp>
      <p:sp>
        <p:nvSpPr>
          <p:cNvPr id="17" name="Text 13"/>
          <p:cNvSpPr/>
          <p:nvPr/>
        </p:nvSpPr>
        <p:spPr>
          <a:xfrm>
            <a:off x="4776574" y="2916436"/>
            <a:ext cx="1121206" cy="310753"/>
          </a:xfrm>
          <a:prstGeom prst="rect">
            <a:avLst/>
          </a:prstGeom>
          <a:noFill/>
          <a:ln/>
        </p:spPr>
        <p:txBody>
          <a:bodyPr wrap="square" lIns="102108" tIns="102108" rIns="102108" bIns="102108" rtlCol="0" anchor="ctr">
            <a:spAutoFit/>
          </a:bodyPr>
          <a:lstStyle/>
          <a:p>
            <a:pPr marL="0" indent="0" algn="ctr">
              <a:lnSpc>
                <a:spcPts val="1100"/>
              </a:lnSpc>
              <a:buNone/>
            </a:pPr>
            <a:r>
              <a:rPr lang="en-US" sz="784" b="1" dirty="0">
                <a:solidFill>
                  <a:srgbClr val="FFFFFF"/>
                </a:solidFill>
                <a:latin typeface="NanumGothic" pitchFamily="34" charset="0"/>
                <a:ea typeface="NanumGothic" pitchFamily="34" charset="-122"/>
                <a:cs typeface="NanumGothic" pitchFamily="34" charset="-120"/>
              </a:rPr>
              <a:t>ρ_total</a:t>
            </a:r>
            <a:endParaRPr lang="en-US" sz="784" dirty="0"/>
          </a:p>
        </p:txBody>
      </p:sp>
      <p:sp>
        <p:nvSpPr>
          <p:cNvPr id="18" name="Shape 14"/>
          <p:cNvSpPr/>
          <p:nvPr/>
        </p:nvSpPr>
        <p:spPr>
          <a:xfrm>
            <a:off x="5892840" y="2916436"/>
            <a:ext cx="1458413" cy="307181"/>
          </a:xfrm>
          <a:prstGeom prst="rect">
            <a:avLst/>
          </a:prstGeom>
          <a:solidFill>
            <a:srgbClr val="0F172A"/>
          </a:solidFill>
          <a:ln w="9144">
            <a:solidFill>
              <a:srgbClr val="1E293B"/>
            </a:solidFill>
            <a:prstDash val="solid"/>
          </a:ln>
        </p:spPr>
        <p:txBody>
          <a:bodyPr/>
          <a:lstStyle/>
          <a:p>
            <a:endParaRPr lang="ko-KR" altLang="en-US"/>
          </a:p>
        </p:txBody>
      </p:sp>
      <p:sp>
        <p:nvSpPr>
          <p:cNvPr id="19" name="Text 15"/>
          <p:cNvSpPr/>
          <p:nvPr/>
        </p:nvSpPr>
        <p:spPr>
          <a:xfrm>
            <a:off x="5892840" y="2916436"/>
            <a:ext cx="1458413" cy="307181"/>
          </a:xfrm>
          <a:prstGeom prst="rect">
            <a:avLst/>
          </a:prstGeom>
          <a:noFill/>
          <a:ln/>
        </p:spPr>
        <p:txBody>
          <a:bodyPr wrap="square" lIns="102108" tIns="102108" rIns="102108" bIns="102108" rtlCol="0" anchor="ctr">
            <a:spAutoFit/>
          </a:bodyPr>
          <a:lstStyle/>
          <a:p>
            <a:pPr marL="0" indent="0" algn="ctr">
              <a:lnSpc>
                <a:spcPts val="1100"/>
              </a:lnSpc>
              <a:buNone/>
            </a:pPr>
            <a:r>
              <a:rPr lang="en-US" sz="784" b="1" dirty="0">
                <a:solidFill>
                  <a:srgbClr val="FFFFFF"/>
                </a:solidFill>
                <a:latin typeface="NanumGothic" pitchFamily="34" charset="0"/>
                <a:ea typeface="NanumGothic" pitchFamily="34" charset="-122"/>
                <a:cs typeface="NanumGothic" pitchFamily="34" charset="-120"/>
              </a:rPr>
              <a:t>Overload?</a:t>
            </a:r>
            <a:endParaRPr lang="en-US" sz="784" dirty="0"/>
          </a:p>
        </p:txBody>
      </p:sp>
      <p:sp>
        <p:nvSpPr>
          <p:cNvPr id="20" name="Shape 16"/>
          <p:cNvSpPr/>
          <p:nvPr/>
        </p:nvSpPr>
        <p:spPr>
          <a:xfrm>
            <a:off x="7348882" y="2916436"/>
            <a:ext cx="1362921" cy="307181"/>
          </a:xfrm>
          <a:prstGeom prst="rect">
            <a:avLst/>
          </a:prstGeom>
          <a:solidFill>
            <a:srgbClr val="0F172A"/>
          </a:solidFill>
          <a:ln w="9144">
            <a:solidFill>
              <a:srgbClr val="1E293B"/>
            </a:solidFill>
            <a:prstDash val="solid"/>
          </a:ln>
        </p:spPr>
        <p:txBody>
          <a:bodyPr/>
          <a:lstStyle/>
          <a:p>
            <a:endParaRPr lang="ko-KR" altLang="en-US"/>
          </a:p>
        </p:txBody>
      </p:sp>
      <p:sp>
        <p:nvSpPr>
          <p:cNvPr id="21" name="Text 17"/>
          <p:cNvSpPr/>
          <p:nvPr/>
        </p:nvSpPr>
        <p:spPr>
          <a:xfrm>
            <a:off x="7348882" y="2916436"/>
            <a:ext cx="1362921" cy="307181"/>
          </a:xfrm>
          <a:prstGeom prst="rect">
            <a:avLst/>
          </a:prstGeom>
          <a:noFill/>
          <a:ln/>
        </p:spPr>
        <p:txBody>
          <a:bodyPr wrap="square" lIns="102108" tIns="102108" rIns="102108" bIns="102108" rtlCol="0" anchor="ctr">
            <a:spAutoFit/>
          </a:bodyPr>
          <a:lstStyle/>
          <a:p>
            <a:pPr marL="0" indent="0" algn="ctr">
              <a:lnSpc>
                <a:spcPts val="1100"/>
              </a:lnSpc>
              <a:buNone/>
            </a:pPr>
            <a:r>
              <a:rPr lang="en-US" sz="784" b="1" dirty="0">
                <a:solidFill>
                  <a:srgbClr val="FFFFFF"/>
                </a:solidFill>
                <a:latin typeface="NanumGothic" pitchFamily="34" charset="0"/>
                <a:ea typeface="NanumGothic" pitchFamily="34" charset="-122"/>
                <a:cs typeface="NanumGothic" pitchFamily="34" charset="-120"/>
              </a:rPr>
              <a:t>Jitter P99</a:t>
            </a:r>
            <a:endParaRPr lang="en-US" sz="784" dirty="0"/>
          </a:p>
        </p:txBody>
      </p:sp>
      <p:sp>
        <p:nvSpPr>
          <p:cNvPr id="22" name="Text 18"/>
          <p:cNvSpPr/>
          <p:nvPr/>
        </p:nvSpPr>
        <p:spPr>
          <a:xfrm>
            <a:off x="432197" y="3220045"/>
            <a:ext cx="3268545" cy="292894"/>
          </a:xfrm>
          <a:prstGeom prst="rect">
            <a:avLst/>
          </a:prstGeom>
          <a:noFill/>
          <a:ln/>
        </p:spPr>
        <p:txBody>
          <a:bodyPr wrap="square" lIns="85090" tIns="85090" rIns="85090" bIns="85090" rtlCol="0" anchor="ctr">
            <a:spAutoFit/>
          </a:bodyPr>
          <a:lstStyle/>
          <a:p>
            <a:pPr marL="0" indent="0" algn="ctr">
              <a:lnSpc>
                <a:spcPts val="1100"/>
              </a:lnSpc>
              <a:buNone/>
            </a:pPr>
            <a:r>
              <a:rPr lang="en-US" sz="834" dirty="0">
                <a:solidFill>
                  <a:srgbClr val="334155"/>
                </a:solidFill>
                <a:latin typeface="NanumGothic" pitchFamily="34" charset="0"/>
                <a:ea typeface="NanumGothic" pitchFamily="34" charset="-122"/>
                <a:cs typeface="NanumGothic" pitchFamily="34" charset="-120"/>
              </a:rPr>
              <a:t>SMAUG-T1, 16-ECU simul.</a:t>
            </a:r>
            <a:endParaRPr lang="en-US" sz="834" dirty="0"/>
          </a:p>
        </p:txBody>
      </p:sp>
      <p:sp>
        <p:nvSpPr>
          <p:cNvPr id="23" name="Text 19"/>
          <p:cNvSpPr/>
          <p:nvPr/>
        </p:nvSpPr>
        <p:spPr>
          <a:xfrm>
            <a:off x="3700742" y="3220045"/>
            <a:ext cx="1095310" cy="292894"/>
          </a:xfrm>
          <a:prstGeom prst="rect">
            <a:avLst/>
          </a:prstGeom>
          <a:noFill/>
          <a:ln/>
        </p:spPr>
        <p:txBody>
          <a:bodyPr wrap="square" lIns="85090" tIns="85090" rIns="85090" bIns="85090" rtlCol="0" anchor="ctr">
            <a:spAutoFit/>
          </a:bodyPr>
          <a:lstStyle/>
          <a:p>
            <a:pPr marL="0" indent="0" algn="ctr">
              <a:lnSpc>
                <a:spcPts val="1100"/>
              </a:lnSpc>
              <a:buNone/>
            </a:pPr>
            <a:r>
              <a:rPr lang="en-US" sz="834" dirty="0">
                <a:solidFill>
                  <a:srgbClr val="334155"/>
                </a:solidFill>
                <a:latin typeface="NanumGothic" pitchFamily="34" charset="0"/>
                <a:ea typeface="NanumGothic" pitchFamily="34" charset="-122"/>
                <a:cs typeface="NanumGothic" pitchFamily="34" charset="-120"/>
              </a:rPr>
              <a:t>0.878</a:t>
            </a:r>
            <a:endParaRPr lang="en-US" sz="834" dirty="0"/>
          </a:p>
        </p:txBody>
      </p:sp>
      <p:sp>
        <p:nvSpPr>
          <p:cNvPr id="24" name="Text 20"/>
          <p:cNvSpPr/>
          <p:nvPr/>
        </p:nvSpPr>
        <p:spPr>
          <a:xfrm>
            <a:off x="4796051" y="3220045"/>
            <a:ext cx="1113532" cy="292894"/>
          </a:xfrm>
          <a:prstGeom prst="rect">
            <a:avLst/>
          </a:prstGeom>
          <a:noFill/>
          <a:ln/>
        </p:spPr>
        <p:txBody>
          <a:bodyPr wrap="square" lIns="85090" tIns="85090" rIns="85090" bIns="85090" rtlCol="0" anchor="ctr">
            <a:spAutoFit/>
          </a:bodyPr>
          <a:lstStyle/>
          <a:p>
            <a:pPr marL="0" indent="0" algn="ctr">
              <a:lnSpc>
                <a:spcPts val="1100"/>
              </a:lnSpc>
              <a:buNone/>
            </a:pPr>
            <a:r>
              <a:rPr lang="en-US" sz="834" dirty="0">
                <a:solidFill>
                  <a:srgbClr val="334155"/>
                </a:solidFill>
                <a:latin typeface="NanumGothic" pitchFamily="34" charset="0"/>
                <a:ea typeface="NanumGothic" pitchFamily="34" charset="-122"/>
                <a:cs typeface="NanumGothic" pitchFamily="34" charset="-120"/>
              </a:rPr>
              <a:t>1.478</a:t>
            </a:r>
            <a:endParaRPr lang="en-US" sz="834" dirty="0"/>
          </a:p>
        </p:txBody>
      </p:sp>
      <p:sp>
        <p:nvSpPr>
          <p:cNvPr id="25" name="Text 21"/>
          <p:cNvSpPr/>
          <p:nvPr/>
        </p:nvSpPr>
        <p:spPr>
          <a:xfrm>
            <a:off x="5909583" y="3220045"/>
            <a:ext cx="1450265" cy="292894"/>
          </a:xfrm>
          <a:prstGeom prst="rect">
            <a:avLst/>
          </a:prstGeom>
          <a:noFill/>
          <a:ln/>
        </p:spPr>
        <p:txBody>
          <a:bodyPr wrap="square" lIns="85090" tIns="85090" rIns="85090" bIns="85090" rtlCol="0" anchor="ctr">
            <a:spAutoFit/>
          </a:bodyPr>
          <a:lstStyle/>
          <a:p>
            <a:pPr marL="0" indent="0" algn="ctr">
              <a:lnSpc>
                <a:spcPts val="1100"/>
              </a:lnSpc>
              <a:buNone/>
            </a:pPr>
            <a:r>
              <a:rPr lang="en-US" sz="784" b="1" dirty="0">
                <a:solidFill>
                  <a:srgbClr val="DC2626"/>
                </a:solidFill>
                <a:latin typeface="NanumGothic" pitchFamily="34" charset="0"/>
                <a:ea typeface="NanumGothic" pitchFamily="34" charset="-122"/>
                <a:cs typeface="NanumGothic" pitchFamily="34" charset="-120"/>
              </a:rPr>
              <a:t>Yes</a:t>
            </a:r>
            <a:endParaRPr lang="en-US" sz="784" dirty="0"/>
          </a:p>
        </p:txBody>
      </p:sp>
      <p:sp>
        <p:nvSpPr>
          <p:cNvPr id="26" name="Text 22"/>
          <p:cNvSpPr/>
          <p:nvPr/>
        </p:nvSpPr>
        <p:spPr>
          <a:xfrm>
            <a:off x="7359848" y="3220045"/>
            <a:ext cx="1351955" cy="292894"/>
          </a:xfrm>
          <a:prstGeom prst="rect">
            <a:avLst/>
          </a:prstGeom>
          <a:noFill/>
          <a:ln/>
        </p:spPr>
        <p:txBody>
          <a:bodyPr wrap="square" lIns="85090" tIns="85090" rIns="85090" bIns="85090" rtlCol="0" anchor="ctr">
            <a:spAutoFit/>
          </a:bodyPr>
          <a:lstStyle/>
          <a:p>
            <a:pPr marL="0" indent="0" algn="ctr">
              <a:lnSpc>
                <a:spcPts val="1100"/>
              </a:lnSpc>
              <a:buNone/>
            </a:pPr>
            <a:r>
              <a:rPr lang="en-US" sz="834" dirty="0">
                <a:solidFill>
                  <a:srgbClr val="334155"/>
                </a:solidFill>
                <a:latin typeface="NanumGothic" pitchFamily="34" charset="0"/>
                <a:ea typeface="NanumGothic" pitchFamily="34" charset="-122"/>
                <a:cs typeface="NanumGothic" pitchFamily="34" charset="-120"/>
              </a:rPr>
              <a:t>61.34ms</a:t>
            </a:r>
            <a:endParaRPr lang="en-US" sz="834" dirty="0"/>
          </a:p>
        </p:txBody>
      </p:sp>
      <p:sp>
        <p:nvSpPr>
          <p:cNvPr id="27" name="Text 23"/>
          <p:cNvSpPr/>
          <p:nvPr/>
        </p:nvSpPr>
        <p:spPr>
          <a:xfrm>
            <a:off x="432197" y="3512939"/>
            <a:ext cx="3268545" cy="292894"/>
          </a:xfrm>
          <a:prstGeom prst="rect">
            <a:avLst/>
          </a:prstGeom>
          <a:noFill/>
          <a:ln/>
        </p:spPr>
        <p:txBody>
          <a:bodyPr wrap="square" lIns="85090" tIns="85090" rIns="85090" bIns="85090" rtlCol="0" anchor="ctr">
            <a:spAutoFit/>
          </a:bodyPr>
          <a:lstStyle/>
          <a:p>
            <a:pPr marL="0" indent="0" algn="ctr">
              <a:lnSpc>
                <a:spcPts val="1100"/>
              </a:lnSpc>
              <a:buNone/>
            </a:pPr>
            <a:r>
              <a:rPr lang="en-US" sz="834" dirty="0">
                <a:solidFill>
                  <a:srgbClr val="334155"/>
                </a:solidFill>
                <a:latin typeface="NanumGothic" pitchFamily="34" charset="0"/>
                <a:ea typeface="NanumGothic" pitchFamily="34" charset="-122"/>
                <a:cs typeface="NanumGothic" pitchFamily="34" charset="-120"/>
              </a:rPr>
              <a:t>ML-KEM-512, 8-ECU simul.</a:t>
            </a:r>
            <a:endParaRPr lang="en-US" sz="834" dirty="0"/>
          </a:p>
        </p:txBody>
      </p:sp>
      <p:sp>
        <p:nvSpPr>
          <p:cNvPr id="28" name="Text 24"/>
          <p:cNvSpPr/>
          <p:nvPr/>
        </p:nvSpPr>
        <p:spPr>
          <a:xfrm>
            <a:off x="3700742" y="3512939"/>
            <a:ext cx="1095310" cy="292894"/>
          </a:xfrm>
          <a:prstGeom prst="rect">
            <a:avLst/>
          </a:prstGeom>
          <a:noFill/>
          <a:ln/>
        </p:spPr>
        <p:txBody>
          <a:bodyPr wrap="square" lIns="85090" tIns="85090" rIns="85090" bIns="85090" rtlCol="0" anchor="ctr">
            <a:spAutoFit/>
          </a:bodyPr>
          <a:lstStyle/>
          <a:p>
            <a:pPr marL="0" indent="0" algn="ctr">
              <a:lnSpc>
                <a:spcPts val="1100"/>
              </a:lnSpc>
              <a:buNone/>
            </a:pPr>
            <a:r>
              <a:rPr lang="en-US" sz="834" dirty="0">
                <a:solidFill>
                  <a:srgbClr val="334155"/>
                </a:solidFill>
                <a:latin typeface="NanumGothic" pitchFamily="34" charset="0"/>
                <a:ea typeface="NanumGothic" pitchFamily="34" charset="-122"/>
                <a:cs typeface="NanumGothic" pitchFamily="34" charset="-120"/>
              </a:rPr>
              <a:t>0.842</a:t>
            </a:r>
            <a:endParaRPr lang="en-US" sz="834" dirty="0"/>
          </a:p>
        </p:txBody>
      </p:sp>
      <p:sp>
        <p:nvSpPr>
          <p:cNvPr id="29" name="Text 25"/>
          <p:cNvSpPr/>
          <p:nvPr/>
        </p:nvSpPr>
        <p:spPr>
          <a:xfrm>
            <a:off x="4796051" y="3512939"/>
            <a:ext cx="1113532" cy="292894"/>
          </a:xfrm>
          <a:prstGeom prst="rect">
            <a:avLst/>
          </a:prstGeom>
          <a:noFill/>
          <a:ln/>
        </p:spPr>
        <p:txBody>
          <a:bodyPr wrap="square" lIns="85090" tIns="85090" rIns="85090" bIns="85090" rtlCol="0" anchor="ctr">
            <a:spAutoFit/>
          </a:bodyPr>
          <a:lstStyle/>
          <a:p>
            <a:pPr marL="0" indent="0" algn="ctr">
              <a:lnSpc>
                <a:spcPts val="1100"/>
              </a:lnSpc>
              <a:buNone/>
            </a:pPr>
            <a:r>
              <a:rPr lang="en-US" sz="834" dirty="0">
                <a:solidFill>
                  <a:srgbClr val="334155"/>
                </a:solidFill>
                <a:latin typeface="NanumGothic" pitchFamily="34" charset="0"/>
                <a:ea typeface="NanumGothic" pitchFamily="34" charset="-122"/>
                <a:cs typeface="NanumGothic" pitchFamily="34" charset="-120"/>
              </a:rPr>
              <a:t>1.442</a:t>
            </a:r>
            <a:endParaRPr lang="en-US" sz="834" dirty="0"/>
          </a:p>
        </p:txBody>
      </p:sp>
      <p:sp>
        <p:nvSpPr>
          <p:cNvPr id="30" name="Text 26"/>
          <p:cNvSpPr/>
          <p:nvPr/>
        </p:nvSpPr>
        <p:spPr>
          <a:xfrm>
            <a:off x="5909583" y="3512939"/>
            <a:ext cx="1450265" cy="292894"/>
          </a:xfrm>
          <a:prstGeom prst="rect">
            <a:avLst/>
          </a:prstGeom>
          <a:noFill/>
          <a:ln/>
        </p:spPr>
        <p:txBody>
          <a:bodyPr wrap="square" lIns="85090" tIns="85090" rIns="85090" bIns="85090" rtlCol="0" anchor="ctr">
            <a:spAutoFit/>
          </a:bodyPr>
          <a:lstStyle/>
          <a:p>
            <a:pPr marL="0" indent="0" algn="ctr">
              <a:lnSpc>
                <a:spcPts val="1100"/>
              </a:lnSpc>
              <a:buNone/>
            </a:pPr>
            <a:r>
              <a:rPr lang="en-US" sz="784" b="1" dirty="0">
                <a:solidFill>
                  <a:srgbClr val="DC2626"/>
                </a:solidFill>
                <a:latin typeface="NanumGothic" pitchFamily="34" charset="0"/>
                <a:ea typeface="NanumGothic" pitchFamily="34" charset="-122"/>
                <a:cs typeface="NanumGothic" pitchFamily="34" charset="-120"/>
              </a:rPr>
              <a:t>Yes</a:t>
            </a:r>
            <a:endParaRPr lang="en-US" sz="784" dirty="0"/>
          </a:p>
        </p:txBody>
      </p:sp>
      <p:sp>
        <p:nvSpPr>
          <p:cNvPr id="31" name="Text 27"/>
          <p:cNvSpPr/>
          <p:nvPr/>
        </p:nvSpPr>
        <p:spPr>
          <a:xfrm>
            <a:off x="7359848" y="3512939"/>
            <a:ext cx="1351955" cy="292894"/>
          </a:xfrm>
          <a:prstGeom prst="rect">
            <a:avLst/>
          </a:prstGeom>
          <a:noFill/>
          <a:ln/>
        </p:spPr>
        <p:txBody>
          <a:bodyPr wrap="square" lIns="85090" tIns="85090" rIns="85090" bIns="85090" rtlCol="0" anchor="ctr">
            <a:spAutoFit/>
          </a:bodyPr>
          <a:lstStyle/>
          <a:p>
            <a:pPr marL="0" indent="0" algn="ctr">
              <a:lnSpc>
                <a:spcPts val="1100"/>
              </a:lnSpc>
              <a:buNone/>
            </a:pPr>
            <a:r>
              <a:rPr lang="en-US" sz="834" dirty="0">
                <a:solidFill>
                  <a:srgbClr val="334155"/>
                </a:solidFill>
                <a:latin typeface="NanumGothic" pitchFamily="34" charset="0"/>
                <a:ea typeface="NanumGothic" pitchFamily="34" charset="-122"/>
                <a:cs typeface="NanumGothic" pitchFamily="34" charset="-120"/>
              </a:rPr>
              <a:t>33.91ms</a:t>
            </a:r>
            <a:endParaRPr lang="en-US" sz="834" dirty="0"/>
          </a:p>
        </p:txBody>
      </p:sp>
      <p:sp>
        <p:nvSpPr>
          <p:cNvPr id="32" name="Text 28"/>
          <p:cNvSpPr/>
          <p:nvPr/>
        </p:nvSpPr>
        <p:spPr>
          <a:xfrm>
            <a:off x="432197" y="3805833"/>
            <a:ext cx="3268545" cy="292894"/>
          </a:xfrm>
          <a:prstGeom prst="rect">
            <a:avLst/>
          </a:prstGeom>
          <a:noFill/>
          <a:ln/>
        </p:spPr>
        <p:txBody>
          <a:bodyPr wrap="square" lIns="85090" tIns="85090" rIns="85090" bIns="85090" rtlCol="0" anchor="ctr">
            <a:spAutoFit/>
          </a:bodyPr>
          <a:lstStyle/>
          <a:p>
            <a:pPr marL="0" indent="0" algn="ctr">
              <a:lnSpc>
                <a:spcPts val="1100"/>
              </a:lnSpc>
              <a:buNone/>
            </a:pPr>
            <a:r>
              <a:rPr lang="en-US" sz="834" dirty="0">
                <a:solidFill>
                  <a:srgbClr val="334155"/>
                </a:solidFill>
                <a:latin typeface="NanumGothic" pitchFamily="34" charset="0"/>
                <a:ea typeface="NanumGothic" pitchFamily="34" charset="-122"/>
                <a:cs typeface="NanumGothic" pitchFamily="34" charset="-120"/>
              </a:rPr>
              <a:t>NTRU+768, 8-ECU stag.</a:t>
            </a:r>
            <a:endParaRPr lang="en-US" sz="834" dirty="0"/>
          </a:p>
        </p:txBody>
      </p:sp>
      <p:sp>
        <p:nvSpPr>
          <p:cNvPr id="33" name="Text 29"/>
          <p:cNvSpPr/>
          <p:nvPr/>
        </p:nvSpPr>
        <p:spPr>
          <a:xfrm>
            <a:off x="3700742" y="3805833"/>
            <a:ext cx="1095310" cy="292894"/>
          </a:xfrm>
          <a:prstGeom prst="rect">
            <a:avLst/>
          </a:prstGeom>
          <a:noFill/>
          <a:ln/>
        </p:spPr>
        <p:txBody>
          <a:bodyPr wrap="square" lIns="85090" tIns="85090" rIns="85090" bIns="85090" rtlCol="0" anchor="ctr">
            <a:spAutoFit/>
          </a:bodyPr>
          <a:lstStyle/>
          <a:p>
            <a:pPr marL="0" indent="0" algn="ctr">
              <a:lnSpc>
                <a:spcPts val="1100"/>
              </a:lnSpc>
              <a:buNone/>
            </a:pPr>
            <a:r>
              <a:rPr lang="en-US" sz="834" dirty="0">
                <a:solidFill>
                  <a:srgbClr val="334155"/>
                </a:solidFill>
                <a:latin typeface="NanumGothic" pitchFamily="34" charset="0"/>
                <a:ea typeface="NanumGothic" pitchFamily="34" charset="-122"/>
                <a:cs typeface="NanumGothic" pitchFamily="34" charset="-120"/>
              </a:rPr>
              <a:t>0.633</a:t>
            </a:r>
            <a:endParaRPr lang="en-US" sz="834" dirty="0"/>
          </a:p>
        </p:txBody>
      </p:sp>
      <p:sp>
        <p:nvSpPr>
          <p:cNvPr id="34" name="Text 30"/>
          <p:cNvSpPr/>
          <p:nvPr/>
        </p:nvSpPr>
        <p:spPr>
          <a:xfrm>
            <a:off x="4796051" y="3805833"/>
            <a:ext cx="1113532" cy="292894"/>
          </a:xfrm>
          <a:prstGeom prst="rect">
            <a:avLst/>
          </a:prstGeom>
          <a:noFill/>
          <a:ln/>
        </p:spPr>
        <p:txBody>
          <a:bodyPr wrap="square" lIns="85090" tIns="85090" rIns="85090" bIns="85090" rtlCol="0" anchor="ctr">
            <a:spAutoFit/>
          </a:bodyPr>
          <a:lstStyle/>
          <a:p>
            <a:pPr marL="0" indent="0" algn="ctr">
              <a:lnSpc>
                <a:spcPts val="1100"/>
              </a:lnSpc>
              <a:buNone/>
            </a:pPr>
            <a:r>
              <a:rPr lang="en-US" sz="834" dirty="0">
                <a:solidFill>
                  <a:srgbClr val="334155"/>
                </a:solidFill>
                <a:latin typeface="NanumGothic" pitchFamily="34" charset="0"/>
                <a:ea typeface="NanumGothic" pitchFamily="34" charset="-122"/>
                <a:cs typeface="NanumGothic" pitchFamily="34" charset="-120"/>
              </a:rPr>
              <a:t>1.233</a:t>
            </a:r>
            <a:endParaRPr lang="en-US" sz="834" dirty="0"/>
          </a:p>
        </p:txBody>
      </p:sp>
      <p:sp>
        <p:nvSpPr>
          <p:cNvPr id="35" name="Text 31"/>
          <p:cNvSpPr/>
          <p:nvPr/>
        </p:nvSpPr>
        <p:spPr>
          <a:xfrm>
            <a:off x="5909583" y="3805833"/>
            <a:ext cx="1450265" cy="292894"/>
          </a:xfrm>
          <a:prstGeom prst="rect">
            <a:avLst/>
          </a:prstGeom>
          <a:noFill/>
          <a:ln/>
        </p:spPr>
        <p:txBody>
          <a:bodyPr wrap="square" lIns="85090" tIns="85090" rIns="85090" bIns="85090" rtlCol="0" anchor="ctr">
            <a:spAutoFit/>
          </a:bodyPr>
          <a:lstStyle/>
          <a:p>
            <a:pPr marL="0" indent="0" algn="ctr">
              <a:lnSpc>
                <a:spcPts val="1100"/>
              </a:lnSpc>
              <a:buNone/>
            </a:pPr>
            <a:r>
              <a:rPr lang="en-US" sz="784" b="1" dirty="0">
                <a:solidFill>
                  <a:srgbClr val="DC2626"/>
                </a:solidFill>
                <a:latin typeface="NanumGothic" pitchFamily="34" charset="0"/>
                <a:ea typeface="NanumGothic" pitchFamily="34" charset="-122"/>
                <a:cs typeface="NanumGothic" pitchFamily="34" charset="-120"/>
              </a:rPr>
              <a:t>Yes</a:t>
            </a:r>
            <a:endParaRPr lang="en-US" sz="784" dirty="0"/>
          </a:p>
        </p:txBody>
      </p:sp>
      <p:sp>
        <p:nvSpPr>
          <p:cNvPr id="36" name="Text 32"/>
          <p:cNvSpPr/>
          <p:nvPr/>
        </p:nvSpPr>
        <p:spPr>
          <a:xfrm>
            <a:off x="7359848" y="3805833"/>
            <a:ext cx="1351955" cy="292894"/>
          </a:xfrm>
          <a:prstGeom prst="rect">
            <a:avLst/>
          </a:prstGeom>
          <a:noFill/>
          <a:ln/>
        </p:spPr>
        <p:txBody>
          <a:bodyPr wrap="square" lIns="85090" tIns="85090" rIns="85090" bIns="85090" rtlCol="0" anchor="ctr">
            <a:spAutoFit/>
          </a:bodyPr>
          <a:lstStyle/>
          <a:p>
            <a:pPr marL="0" indent="0" algn="ctr">
              <a:lnSpc>
                <a:spcPts val="1100"/>
              </a:lnSpc>
              <a:buNone/>
            </a:pPr>
            <a:r>
              <a:rPr lang="en-US" sz="834" dirty="0">
                <a:solidFill>
                  <a:srgbClr val="334155"/>
                </a:solidFill>
                <a:latin typeface="NanumGothic" pitchFamily="34" charset="0"/>
                <a:ea typeface="NanumGothic" pitchFamily="34" charset="-122"/>
                <a:cs typeface="NanumGothic" pitchFamily="34" charset="-120"/>
              </a:rPr>
              <a:t>50.85ms</a:t>
            </a:r>
            <a:endParaRPr lang="en-US" sz="834" dirty="0"/>
          </a:p>
        </p:txBody>
      </p:sp>
      <p:sp>
        <p:nvSpPr>
          <p:cNvPr id="37" name="Text 33"/>
          <p:cNvSpPr/>
          <p:nvPr/>
        </p:nvSpPr>
        <p:spPr>
          <a:xfrm>
            <a:off x="432197" y="4098727"/>
            <a:ext cx="3268545" cy="292894"/>
          </a:xfrm>
          <a:prstGeom prst="rect">
            <a:avLst/>
          </a:prstGeom>
          <a:noFill/>
          <a:ln/>
        </p:spPr>
        <p:txBody>
          <a:bodyPr wrap="square" lIns="85090" tIns="85090" rIns="85090" bIns="85090" rtlCol="0" anchor="ctr">
            <a:spAutoFit/>
          </a:bodyPr>
          <a:lstStyle/>
          <a:p>
            <a:pPr marL="0" indent="0" algn="ctr">
              <a:lnSpc>
                <a:spcPts val="1100"/>
              </a:lnSpc>
              <a:buNone/>
            </a:pPr>
            <a:r>
              <a:rPr lang="en-US" sz="834" dirty="0">
                <a:solidFill>
                  <a:srgbClr val="334155"/>
                </a:solidFill>
                <a:latin typeface="NanumGothic" pitchFamily="34" charset="0"/>
                <a:ea typeface="NanumGothic" pitchFamily="34" charset="-122"/>
                <a:cs typeface="NanumGothic" pitchFamily="34" charset="-120"/>
              </a:rPr>
              <a:t>SMAUG-T1, 16-ECU stag.</a:t>
            </a:r>
            <a:endParaRPr lang="en-US" sz="834" dirty="0"/>
          </a:p>
        </p:txBody>
      </p:sp>
      <p:sp>
        <p:nvSpPr>
          <p:cNvPr id="38" name="Text 34"/>
          <p:cNvSpPr/>
          <p:nvPr/>
        </p:nvSpPr>
        <p:spPr>
          <a:xfrm>
            <a:off x="3700742" y="4098727"/>
            <a:ext cx="1095310" cy="292894"/>
          </a:xfrm>
          <a:prstGeom prst="rect">
            <a:avLst/>
          </a:prstGeom>
          <a:noFill/>
          <a:ln/>
        </p:spPr>
        <p:txBody>
          <a:bodyPr wrap="square" lIns="85090" tIns="85090" rIns="85090" bIns="85090" rtlCol="0" anchor="ctr">
            <a:spAutoFit/>
          </a:bodyPr>
          <a:lstStyle/>
          <a:p>
            <a:pPr marL="0" indent="0" algn="ctr">
              <a:lnSpc>
                <a:spcPts val="1100"/>
              </a:lnSpc>
              <a:buNone/>
            </a:pPr>
            <a:r>
              <a:rPr lang="en-US" sz="834" dirty="0">
                <a:solidFill>
                  <a:srgbClr val="334155"/>
                </a:solidFill>
                <a:latin typeface="NanumGothic" pitchFamily="34" charset="0"/>
                <a:ea typeface="NanumGothic" pitchFamily="34" charset="-122"/>
                <a:cs typeface="NanumGothic" pitchFamily="34" charset="-120"/>
              </a:rPr>
              <a:t>0.370</a:t>
            </a:r>
            <a:endParaRPr lang="en-US" sz="834" dirty="0"/>
          </a:p>
        </p:txBody>
      </p:sp>
      <p:sp>
        <p:nvSpPr>
          <p:cNvPr id="39" name="Text 35"/>
          <p:cNvSpPr/>
          <p:nvPr/>
        </p:nvSpPr>
        <p:spPr>
          <a:xfrm>
            <a:off x="4796051" y="4098727"/>
            <a:ext cx="1113532" cy="292894"/>
          </a:xfrm>
          <a:prstGeom prst="rect">
            <a:avLst/>
          </a:prstGeom>
          <a:noFill/>
          <a:ln/>
        </p:spPr>
        <p:txBody>
          <a:bodyPr wrap="square" lIns="85090" tIns="85090" rIns="85090" bIns="85090" rtlCol="0" anchor="ctr">
            <a:spAutoFit/>
          </a:bodyPr>
          <a:lstStyle/>
          <a:p>
            <a:pPr marL="0" indent="0" algn="ctr">
              <a:lnSpc>
                <a:spcPts val="1100"/>
              </a:lnSpc>
              <a:buNone/>
            </a:pPr>
            <a:r>
              <a:rPr lang="en-US" sz="834" dirty="0">
                <a:solidFill>
                  <a:srgbClr val="334155"/>
                </a:solidFill>
                <a:latin typeface="NanumGothic" pitchFamily="34" charset="0"/>
                <a:ea typeface="NanumGothic" pitchFamily="34" charset="-122"/>
                <a:cs typeface="NanumGothic" pitchFamily="34" charset="-120"/>
              </a:rPr>
              <a:t>0.970</a:t>
            </a:r>
            <a:endParaRPr lang="en-US" sz="834" dirty="0"/>
          </a:p>
        </p:txBody>
      </p:sp>
      <p:sp>
        <p:nvSpPr>
          <p:cNvPr id="40" name="Text 36"/>
          <p:cNvSpPr/>
          <p:nvPr/>
        </p:nvSpPr>
        <p:spPr>
          <a:xfrm>
            <a:off x="5909583" y="4098727"/>
            <a:ext cx="1450265" cy="292894"/>
          </a:xfrm>
          <a:prstGeom prst="rect">
            <a:avLst/>
          </a:prstGeom>
          <a:noFill/>
          <a:ln/>
        </p:spPr>
        <p:txBody>
          <a:bodyPr wrap="square" lIns="85090" tIns="85090" rIns="85090" bIns="85090" rtlCol="0" anchor="ctr">
            <a:spAutoFit/>
          </a:bodyPr>
          <a:lstStyle/>
          <a:p>
            <a:pPr marL="0" indent="0" algn="ctr">
              <a:lnSpc>
                <a:spcPts val="1100"/>
              </a:lnSpc>
              <a:buNone/>
            </a:pPr>
            <a:r>
              <a:rPr lang="en-US" sz="784" b="1" dirty="0">
                <a:solidFill>
                  <a:srgbClr val="059669"/>
                </a:solidFill>
                <a:latin typeface="NanumGothic" pitchFamily="34" charset="0"/>
                <a:ea typeface="NanumGothic" pitchFamily="34" charset="-122"/>
                <a:cs typeface="NanumGothic" pitchFamily="34" charset="-120"/>
              </a:rPr>
              <a:t>No</a:t>
            </a:r>
            <a:endParaRPr lang="en-US" sz="784" dirty="0"/>
          </a:p>
        </p:txBody>
      </p:sp>
      <p:sp>
        <p:nvSpPr>
          <p:cNvPr id="41" name="Text 37"/>
          <p:cNvSpPr/>
          <p:nvPr/>
        </p:nvSpPr>
        <p:spPr>
          <a:xfrm>
            <a:off x="7359848" y="4098727"/>
            <a:ext cx="1351955" cy="292894"/>
          </a:xfrm>
          <a:prstGeom prst="rect">
            <a:avLst/>
          </a:prstGeom>
          <a:noFill/>
          <a:ln/>
        </p:spPr>
        <p:txBody>
          <a:bodyPr wrap="square" lIns="85090" tIns="85090" rIns="85090" bIns="85090" rtlCol="0" anchor="ctr">
            <a:spAutoFit/>
          </a:bodyPr>
          <a:lstStyle/>
          <a:p>
            <a:pPr marL="0" indent="0" algn="ctr">
              <a:lnSpc>
                <a:spcPts val="1100"/>
              </a:lnSpc>
              <a:buNone/>
            </a:pPr>
            <a:r>
              <a:rPr lang="en-US" sz="834" dirty="0">
                <a:solidFill>
                  <a:srgbClr val="334155"/>
                </a:solidFill>
                <a:latin typeface="NanumGothic" pitchFamily="34" charset="0"/>
                <a:ea typeface="NanumGothic" pitchFamily="34" charset="-122"/>
                <a:cs typeface="NanumGothic" pitchFamily="34" charset="-120"/>
              </a:rPr>
              <a:t>13.15ms</a:t>
            </a:r>
            <a:endParaRPr lang="en-US" sz="834" dirty="0"/>
          </a:p>
        </p:txBody>
      </p:sp>
      <p:sp>
        <p:nvSpPr>
          <p:cNvPr id="42" name="Text 38"/>
          <p:cNvSpPr/>
          <p:nvPr/>
        </p:nvSpPr>
        <p:spPr>
          <a:xfrm>
            <a:off x="428625" y="4502348"/>
            <a:ext cx="8286750" cy="142875"/>
          </a:xfrm>
          <a:prstGeom prst="rect">
            <a:avLst/>
          </a:prstGeom>
          <a:noFill/>
          <a:ln/>
        </p:spPr>
        <p:txBody>
          <a:bodyPr wrap="none" lIns="0" tIns="0" rIns="0" bIns="0" rtlCol="0" anchor="t">
            <a:spAutoFit/>
          </a:bodyPr>
          <a:lstStyle/>
          <a:p>
            <a:pPr marL="0" indent="0" algn="r">
              <a:lnSpc>
                <a:spcPts val="1100"/>
              </a:lnSpc>
              <a:buNone/>
            </a:pPr>
            <a:r>
              <a:rPr lang="en-US" sz="834" dirty="0">
                <a:solidFill>
                  <a:srgbClr val="64748B"/>
                </a:solidFill>
                <a:latin typeface="NanumGothic" pitchFamily="34" charset="0"/>
                <a:ea typeface="NanumGothic" pitchFamily="34" charset="-122"/>
                <a:cs typeface="NanumGothic" pitchFamily="34" charset="-120"/>
              </a:rPr>
              <a:t>* 의미: PQC 완료 가속만으로는 불충분하며, 주기적 트래픽 보호가 필수적임</a:t>
            </a:r>
            <a:endParaRPr lang="en-US" sz="834" dirty="0"/>
          </a:p>
        </p:txBody>
      </p:sp>
      <p:sp>
        <p:nvSpPr>
          <p:cNvPr id="43" name="Text 39"/>
          <p:cNvSpPr/>
          <p:nvPr/>
        </p:nvSpPr>
        <p:spPr>
          <a:xfrm>
            <a:off x="0" y="4875609"/>
            <a:ext cx="9144000" cy="125016"/>
          </a:xfrm>
          <a:prstGeom prst="rect">
            <a:avLst/>
          </a:prstGeom>
          <a:noFill/>
          <a:ln/>
        </p:spPr>
        <p:txBody>
          <a:bodyPr wrap="none" lIns="0" tIns="0" rIns="0" bIns="0" rtlCol="0" anchor="t">
            <a:spAutoFit/>
          </a:bodyPr>
          <a:lstStyle/>
          <a:p>
            <a:pPr marL="0" indent="0" algn="ctr">
              <a:lnSpc>
                <a:spcPts val="900"/>
              </a:lnSpc>
              <a:buNone/>
            </a:pPr>
            <a:r>
              <a:rPr lang="en-US" sz="727" dirty="0">
                <a:solidFill>
                  <a:srgbClr val="94A3B8"/>
                </a:solidFill>
                <a:latin typeface="NanumGothic" pitchFamily="34" charset="0"/>
                <a:ea typeface="NanumGothic" pitchFamily="34" charset="-122"/>
                <a:cs typeface="NanumGothic" pitchFamily="34" charset="-120"/>
              </a:rPr>
              <a:t>12</a:t>
            </a:r>
            <a:endParaRPr lang="en-US" sz="727"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0" y="0"/>
            <a:ext cx="9144000" cy="797365"/>
          </a:xfrm>
          <a:prstGeom prst="rect">
            <a:avLst/>
          </a:prstGeom>
          <a:solidFill>
            <a:srgbClr val="000000">
              <a:alpha val="0"/>
            </a:srgbClr>
          </a:solidFill>
          <a:ln/>
        </p:spPr>
        <p:txBody>
          <a:bodyPr/>
          <a:lstStyle/>
          <a:p>
            <a:endParaRPr lang="ko-KR" altLang="en-US"/>
          </a:p>
        </p:txBody>
      </p:sp>
      <p:sp>
        <p:nvSpPr>
          <p:cNvPr id="5" name="Shape 1"/>
          <p:cNvSpPr/>
          <p:nvPr/>
        </p:nvSpPr>
        <p:spPr>
          <a:xfrm>
            <a:off x="0" y="783078"/>
            <a:ext cx="9144000" cy="14288"/>
          </a:xfrm>
          <a:prstGeom prst="rect">
            <a:avLst/>
          </a:prstGeom>
          <a:solidFill>
            <a:srgbClr val="F1F5F9"/>
          </a:solidFill>
          <a:ln/>
        </p:spPr>
        <p:txBody>
          <a:bodyPr/>
          <a:lstStyle/>
          <a:p>
            <a:endParaRPr lang="ko-KR" altLang="en-US"/>
          </a:p>
        </p:txBody>
      </p:sp>
      <p:sp>
        <p:nvSpPr>
          <p:cNvPr id="6" name="Text 2"/>
          <p:cNvSpPr/>
          <p:nvPr/>
        </p:nvSpPr>
        <p:spPr>
          <a:xfrm>
            <a:off x="428625" y="458037"/>
            <a:ext cx="8715375" cy="253603"/>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0F172A"/>
                </a:solidFill>
                <a:latin typeface="NanumGothic" pitchFamily="34" charset="0"/>
                <a:ea typeface="NanumGothic" pitchFamily="34" charset="-122"/>
                <a:cs typeface="NanumGothic" pitchFamily="34" charset="-120"/>
              </a:rPr>
              <a:t>Mitigation Hierarchy: 시스템 측 셰이핑 &gt; 알고리즘 교체</a:t>
            </a:r>
            <a:endParaRPr lang="en-US" sz="1808" dirty="0"/>
          </a:p>
        </p:txBody>
      </p:sp>
      <p:sp>
        <p:nvSpPr>
          <p:cNvPr id="8" name="Text 4"/>
          <p:cNvSpPr/>
          <p:nvPr/>
        </p:nvSpPr>
        <p:spPr>
          <a:xfrm>
            <a:off x="2487017" y="2798032"/>
            <a:ext cx="4093369" cy="169664"/>
          </a:xfrm>
          <a:prstGeom prst="rect">
            <a:avLst/>
          </a:prstGeom>
          <a:noFill/>
          <a:ln/>
        </p:spPr>
        <p:txBody>
          <a:bodyPr wrap="none" lIns="0" tIns="0" rIns="0" bIns="0" rtlCol="0" anchor="t">
            <a:spAutoFit/>
          </a:bodyPr>
          <a:lstStyle/>
          <a:p>
            <a:pPr marL="0" indent="0" algn="ctr">
              <a:lnSpc>
                <a:spcPts val="1600"/>
              </a:lnSpc>
              <a:buNone/>
            </a:pPr>
            <a:r>
              <a:rPr lang="en-US" sz="1193" b="1" dirty="0">
                <a:solidFill>
                  <a:srgbClr val="64748B"/>
                </a:solidFill>
                <a:latin typeface="NanumGothic" pitchFamily="34" charset="0"/>
                <a:ea typeface="NanumGothic" pitchFamily="34" charset="-122"/>
                <a:cs typeface="NanumGothic" pitchFamily="34" charset="-120"/>
              </a:rPr>
              <a:t>Figure 7: Reserved Window Mitigation Effect Graph</a:t>
            </a:r>
            <a:endParaRPr lang="en-US" sz="1193" dirty="0"/>
          </a:p>
        </p:txBody>
      </p:sp>
      <p:sp>
        <p:nvSpPr>
          <p:cNvPr id="9" name="Shape 5"/>
          <p:cNvSpPr/>
          <p:nvPr/>
        </p:nvSpPr>
        <p:spPr>
          <a:xfrm>
            <a:off x="428625" y="2847622"/>
            <a:ext cx="228600" cy="228600"/>
          </a:xfrm>
          <a:prstGeom prst="ellipse">
            <a:avLst/>
          </a:prstGeom>
          <a:solidFill>
            <a:srgbClr val="2563EB"/>
          </a:solidFill>
          <a:ln/>
        </p:spPr>
        <p:txBody>
          <a:bodyPr/>
          <a:lstStyle/>
          <a:p>
            <a:endParaRPr lang="ko-KR" altLang="en-US"/>
          </a:p>
        </p:txBody>
      </p:sp>
      <p:sp>
        <p:nvSpPr>
          <p:cNvPr id="10" name="Text 6"/>
          <p:cNvSpPr/>
          <p:nvPr/>
        </p:nvSpPr>
        <p:spPr>
          <a:xfrm>
            <a:off x="428625" y="2847622"/>
            <a:ext cx="228600" cy="228600"/>
          </a:xfrm>
          <a:prstGeom prst="rect">
            <a:avLst/>
          </a:prstGeom>
          <a:noFill/>
          <a:ln/>
        </p:spPr>
        <p:txBody>
          <a:bodyPr wrap="square" lIns="0" tIns="0" rIns="0" bIns="0" rtlCol="0" anchor="ctr">
            <a:spAutoFit/>
          </a:bodyPr>
          <a:lstStyle/>
          <a:p>
            <a:pPr marL="0" indent="0" algn="ctr">
              <a:lnSpc>
                <a:spcPts val="1100"/>
              </a:lnSpc>
              <a:buNone/>
            </a:pPr>
            <a:r>
              <a:rPr lang="en-US" sz="784" b="1" dirty="0">
                <a:solidFill>
                  <a:srgbClr val="FFFFFF"/>
                </a:solidFill>
                <a:latin typeface="NanumGothic" pitchFamily="34" charset="0"/>
                <a:ea typeface="NanumGothic" pitchFamily="34" charset="-122"/>
                <a:cs typeface="NanumGothic" pitchFamily="34" charset="-120"/>
              </a:rPr>
              <a:t>1</a:t>
            </a:r>
            <a:endParaRPr lang="en-US" sz="784" dirty="0"/>
          </a:p>
        </p:txBody>
      </p:sp>
      <p:sp>
        <p:nvSpPr>
          <p:cNvPr id="11" name="Text 7"/>
          <p:cNvSpPr/>
          <p:nvPr/>
        </p:nvSpPr>
        <p:spPr>
          <a:xfrm>
            <a:off x="764381" y="2819047"/>
            <a:ext cx="4436213"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0F172A"/>
                </a:solidFill>
                <a:latin typeface="NanumGothic" pitchFamily="34" charset="0"/>
                <a:ea typeface="NanumGothic" pitchFamily="34" charset="-122"/>
                <a:cs typeface="NanumGothic" pitchFamily="34" charset="-120"/>
              </a:rPr>
              <a:t>Staggered startup</a:t>
            </a:r>
            <a:endParaRPr lang="en-US" sz="885" dirty="0"/>
          </a:p>
        </p:txBody>
      </p:sp>
      <p:sp>
        <p:nvSpPr>
          <p:cNvPr id="12" name="Text 8"/>
          <p:cNvSpPr/>
          <p:nvPr/>
        </p:nvSpPr>
        <p:spPr>
          <a:xfrm>
            <a:off x="764381" y="3072650"/>
            <a:ext cx="4436213" cy="128588"/>
          </a:xfrm>
          <a:prstGeom prst="rect">
            <a:avLst/>
          </a:prstGeom>
          <a:noFill/>
          <a:ln/>
        </p:spPr>
        <p:txBody>
          <a:bodyPr wrap="none" lIns="0" tIns="0" rIns="0" bIns="0" rtlCol="0" anchor="t">
            <a:spAutoFit/>
          </a:bodyPr>
          <a:lstStyle/>
          <a:p>
            <a:pPr marL="0" indent="0" algn="l">
              <a:lnSpc>
                <a:spcPts val="1500"/>
              </a:lnSpc>
              <a:buNone/>
            </a:pPr>
            <a:r>
              <a:rPr lang="en-US" sz="942" dirty="0">
                <a:solidFill>
                  <a:srgbClr val="334155"/>
                </a:solidFill>
                <a:latin typeface="NanumGothic" pitchFamily="34" charset="0"/>
                <a:ea typeface="NanumGothic" pitchFamily="34" charset="-122"/>
                <a:cs typeface="NanumGothic" pitchFamily="34" charset="-120"/>
              </a:rPr>
              <a:t>비용 0, 가장 효과적. ρ_PQC를 직접 감소시켜 T_burst를 연장하고 지터 증폭 억제</a:t>
            </a:r>
            <a:endParaRPr lang="en-US" sz="942" dirty="0"/>
          </a:p>
        </p:txBody>
      </p:sp>
      <p:sp>
        <p:nvSpPr>
          <p:cNvPr id="13" name="Shape 9"/>
          <p:cNvSpPr/>
          <p:nvPr/>
        </p:nvSpPr>
        <p:spPr>
          <a:xfrm>
            <a:off x="428625" y="3454840"/>
            <a:ext cx="228600" cy="228600"/>
          </a:xfrm>
          <a:prstGeom prst="ellipse">
            <a:avLst/>
          </a:prstGeom>
          <a:solidFill>
            <a:srgbClr val="2563EB"/>
          </a:solidFill>
          <a:ln/>
        </p:spPr>
        <p:txBody>
          <a:bodyPr/>
          <a:lstStyle/>
          <a:p>
            <a:endParaRPr lang="ko-KR" altLang="en-US"/>
          </a:p>
        </p:txBody>
      </p:sp>
      <p:sp>
        <p:nvSpPr>
          <p:cNvPr id="14" name="Text 10"/>
          <p:cNvSpPr/>
          <p:nvPr/>
        </p:nvSpPr>
        <p:spPr>
          <a:xfrm>
            <a:off x="428625" y="3454840"/>
            <a:ext cx="228600" cy="228600"/>
          </a:xfrm>
          <a:prstGeom prst="rect">
            <a:avLst/>
          </a:prstGeom>
          <a:noFill/>
          <a:ln/>
        </p:spPr>
        <p:txBody>
          <a:bodyPr wrap="square" lIns="0" tIns="0" rIns="0" bIns="0" rtlCol="0" anchor="ctr">
            <a:spAutoFit/>
          </a:bodyPr>
          <a:lstStyle/>
          <a:p>
            <a:pPr marL="0" indent="0" algn="ctr">
              <a:lnSpc>
                <a:spcPts val="1100"/>
              </a:lnSpc>
              <a:buNone/>
            </a:pPr>
            <a:r>
              <a:rPr lang="en-US" sz="784" b="1" dirty="0">
                <a:solidFill>
                  <a:srgbClr val="FFFFFF"/>
                </a:solidFill>
                <a:latin typeface="NanumGothic" pitchFamily="34" charset="0"/>
                <a:ea typeface="NanumGothic" pitchFamily="34" charset="-122"/>
                <a:cs typeface="NanumGothic" pitchFamily="34" charset="-120"/>
              </a:rPr>
              <a:t>2</a:t>
            </a:r>
            <a:endParaRPr lang="en-US" sz="784" dirty="0"/>
          </a:p>
        </p:txBody>
      </p:sp>
      <p:sp>
        <p:nvSpPr>
          <p:cNvPr id="15" name="Text 11"/>
          <p:cNvSpPr/>
          <p:nvPr/>
        </p:nvSpPr>
        <p:spPr>
          <a:xfrm>
            <a:off x="764381" y="3426265"/>
            <a:ext cx="4859480"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0F172A"/>
                </a:solidFill>
                <a:latin typeface="NanumGothic" pitchFamily="34" charset="0"/>
                <a:ea typeface="NanumGothic" pitchFamily="34" charset="-122"/>
                <a:cs typeface="NanumGothic" pitchFamily="34" charset="-120"/>
              </a:rPr>
              <a:t>Reserved window</a:t>
            </a:r>
            <a:endParaRPr lang="en-US" sz="885" dirty="0"/>
          </a:p>
        </p:txBody>
      </p:sp>
      <p:sp>
        <p:nvSpPr>
          <p:cNvPr id="16" name="Text 12"/>
          <p:cNvSpPr/>
          <p:nvPr/>
        </p:nvSpPr>
        <p:spPr>
          <a:xfrm>
            <a:off x="764381" y="3679868"/>
            <a:ext cx="4859480" cy="128588"/>
          </a:xfrm>
          <a:prstGeom prst="rect">
            <a:avLst/>
          </a:prstGeom>
          <a:noFill/>
          <a:ln/>
        </p:spPr>
        <p:txBody>
          <a:bodyPr wrap="none" lIns="0" tIns="0" rIns="0" bIns="0" rtlCol="0" anchor="t">
            <a:spAutoFit/>
          </a:bodyPr>
          <a:lstStyle/>
          <a:p>
            <a:pPr marL="0" indent="0" algn="l">
              <a:lnSpc>
                <a:spcPts val="1500"/>
              </a:lnSpc>
              <a:buNone/>
            </a:pPr>
            <a:r>
              <a:rPr lang="en-US" sz="942" dirty="0">
                <a:solidFill>
                  <a:srgbClr val="334155"/>
                </a:solidFill>
                <a:latin typeface="NanumGothic" pitchFamily="34" charset="0"/>
                <a:ea typeface="NanumGothic" pitchFamily="34" charset="-122"/>
                <a:cs typeface="NanumGothic" pitchFamily="34" charset="-120"/>
              </a:rPr>
              <a:t>배경 트래픽 일시 유예로 ρ_bg→0 유도, overload 해소. DSA 5ms, KEM 10~30ms 권장</a:t>
            </a:r>
            <a:endParaRPr lang="en-US" sz="942" dirty="0"/>
          </a:p>
        </p:txBody>
      </p:sp>
      <p:sp>
        <p:nvSpPr>
          <p:cNvPr id="17" name="Shape 13"/>
          <p:cNvSpPr/>
          <p:nvPr/>
        </p:nvSpPr>
        <p:spPr>
          <a:xfrm>
            <a:off x="428625" y="4062059"/>
            <a:ext cx="228600" cy="228600"/>
          </a:xfrm>
          <a:prstGeom prst="ellipse">
            <a:avLst/>
          </a:prstGeom>
          <a:solidFill>
            <a:srgbClr val="2563EB"/>
          </a:solidFill>
          <a:ln/>
        </p:spPr>
        <p:txBody>
          <a:bodyPr/>
          <a:lstStyle/>
          <a:p>
            <a:endParaRPr lang="ko-KR" altLang="en-US"/>
          </a:p>
        </p:txBody>
      </p:sp>
      <p:sp>
        <p:nvSpPr>
          <p:cNvPr id="18" name="Text 14"/>
          <p:cNvSpPr/>
          <p:nvPr/>
        </p:nvSpPr>
        <p:spPr>
          <a:xfrm>
            <a:off x="428625" y="4062059"/>
            <a:ext cx="228600" cy="228600"/>
          </a:xfrm>
          <a:prstGeom prst="rect">
            <a:avLst/>
          </a:prstGeom>
          <a:noFill/>
          <a:ln/>
        </p:spPr>
        <p:txBody>
          <a:bodyPr wrap="square" lIns="0" tIns="0" rIns="0" bIns="0" rtlCol="0" anchor="ctr">
            <a:spAutoFit/>
          </a:bodyPr>
          <a:lstStyle/>
          <a:p>
            <a:pPr marL="0" indent="0" algn="ctr">
              <a:lnSpc>
                <a:spcPts val="1100"/>
              </a:lnSpc>
              <a:buNone/>
            </a:pPr>
            <a:r>
              <a:rPr lang="en-US" sz="784" b="1" dirty="0">
                <a:solidFill>
                  <a:srgbClr val="FFFFFF"/>
                </a:solidFill>
                <a:latin typeface="NanumGothic" pitchFamily="34" charset="0"/>
                <a:ea typeface="NanumGothic" pitchFamily="34" charset="-122"/>
                <a:cs typeface="NanumGothic" pitchFamily="34" charset="-120"/>
              </a:rPr>
              <a:t>3</a:t>
            </a:r>
            <a:endParaRPr lang="en-US" sz="784" dirty="0"/>
          </a:p>
        </p:txBody>
      </p:sp>
      <p:sp>
        <p:nvSpPr>
          <p:cNvPr id="19" name="Text 15"/>
          <p:cNvSpPr/>
          <p:nvPr/>
        </p:nvSpPr>
        <p:spPr>
          <a:xfrm>
            <a:off x="764381" y="4033484"/>
            <a:ext cx="4673743" cy="192881"/>
          </a:xfrm>
          <a:prstGeom prst="rect">
            <a:avLst/>
          </a:prstGeom>
          <a:noFill/>
          <a:ln/>
        </p:spPr>
        <p:txBody>
          <a:bodyPr wrap="none" lIns="0" tIns="0" rIns="0" bIns="0" rtlCol="0" anchor="t">
            <a:spAutoFit/>
          </a:bodyPr>
          <a:lstStyle/>
          <a:p>
            <a:pPr marL="0" indent="0" algn="l">
              <a:lnSpc>
                <a:spcPts val="1500"/>
              </a:lnSpc>
              <a:buNone/>
            </a:pPr>
            <a:r>
              <a:rPr lang="en-US" sz="885" b="1" dirty="0">
                <a:solidFill>
                  <a:srgbClr val="0F172A"/>
                </a:solidFill>
                <a:latin typeface="NanumGothic" pitchFamily="34" charset="0"/>
                <a:ea typeface="NanumGothic" pitchFamily="34" charset="-122"/>
                <a:cs typeface="NanumGothic" pitchFamily="34" charset="-120"/>
              </a:rPr>
              <a:t>Priority boost</a:t>
            </a:r>
            <a:endParaRPr lang="en-US" sz="885" dirty="0"/>
          </a:p>
        </p:txBody>
      </p:sp>
      <p:sp>
        <p:nvSpPr>
          <p:cNvPr id="20" name="Text 16"/>
          <p:cNvSpPr/>
          <p:nvPr/>
        </p:nvSpPr>
        <p:spPr>
          <a:xfrm>
            <a:off x="764381" y="4287087"/>
            <a:ext cx="4673743" cy="128588"/>
          </a:xfrm>
          <a:prstGeom prst="rect">
            <a:avLst/>
          </a:prstGeom>
          <a:noFill/>
          <a:ln/>
        </p:spPr>
        <p:txBody>
          <a:bodyPr wrap="none" lIns="0" tIns="0" rIns="0" bIns="0" rtlCol="0" anchor="t">
            <a:spAutoFit/>
          </a:bodyPr>
          <a:lstStyle/>
          <a:p>
            <a:pPr marL="0" indent="0" algn="l">
              <a:lnSpc>
                <a:spcPts val="1500"/>
              </a:lnSpc>
              <a:buNone/>
            </a:pPr>
            <a:r>
              <a:rPr lang="en-US" sz="942" dirty="0">
                <a:solidFill>
                  <a:srgbClr val="334155"/>
                </a:solidFill>
                <a:latin typeface="NanumGothic" pitchFamily="34" charset="0"/>
                <a:ea typeface="NanumGothic" pitchFamily="34" charset="-122"/>
                <a:cs typeface="NanumGothic" pitchFamily="34" charset="-120"/>
              </a:rPr>
              <a:t>단독 사용 비권장. PQC 전송은 가속하나 ρ_total 불변으로 주기적 QoS 악화 위험 존재</a:t>
            </a:r>
            <a:endParaRPr lang="en-US" sz="942" dirty="0"/>
          </a:p>
        </p:txBody>
      </p:sp>
      <p:sp>
        <p:nvSpPr>
          <p:cNvPr id="21" name="Shape 17"/>
          <p:cNvSpPr/>
          <p:nvPr/>
        </p:nvSpPr>
        <p:spPr>
          <a:xfrm>
            <a:off x="428625" y="4676422"/>
            <a:ext cx="8286750" cy="214313"/>
          </a:xfrm>
          <a:prstGeom prst="rect">
            <a:avLst/>
          </a:prstGeom>
          <a:solidFill>
            <a:srgbClr val="F8FAFC"/>
          </a:solidFill>
          <a:ln/>
        </p:spPr>
        <p:txBody>
          <a:bodyPr/>
          <a:lstStyle/>
          <a:p>
            <a:endParaRPr lang="ko-KR" altLang="en-US"/>
          </a:p>
        </p:txBody>
      </p:sp>
      <p:sp>
        <p:nvSpPr>
          <p:cNvPr id="22" name="Shape 18"/>
          <p:cNvSpPr/>
          <p:nvPr/>
        </p:nvSpPr>
        <p:spPr>
          <a:xfrm>
            <a:off x="428625" y="4676422"/>
            <a:ext cx="28575" cy="214313"/>
          </a:xfrm>
          <a:prstGeom prst="rect">
            <a:avLst/>
          </a:prstGeom>
          <a:solidFill>
            <a:srgbClr val="059669"/>
          </a:solidFill>
          <a:ln/>
        </p:spPr>
        <p:txBody>
          <a:bodyPr/>
          <a:lstStyle/>
          <a:p>
            <a:endParaRPr lang="ko-KR" altLang="en-US"/>
          </a:p>
        </p:txBody>
      </p:sp>
      <p:sp>
        <p:nvSpPr>
          <p:cNvPr id="23" name="Text 19"/>
          <p:cNvSpPr/>
          <p:nvPr/>
        </p:nvSpPr>
        <p:spPr>
          <a:xfrm>
            <a:off x="428625" y="4674093"/>
            <a:ext cx="8286750" cy="218971"/>
          </a:xfrm>
          <a:prstGeom prst="rect">
            <a:avLst/>
          </a:prstGeom>
          <a:noFill/>
          <a:ln/>
        </p:spPr>
        <p:txBody>
          <a:bodyPr wrap="square" lIns="127508" tIns="85090" rIns="127508" bIns="0" rtlCol="0" anchor="ctr">
            <a:spAutoFit/>
          </a:bodyPr>
          <a:lstStyle/>
          <a:p>
            <a:pPr marL="0" indent="0" algn="l">
              <a:lnSpc>
                <a:spcPts val="1100"/>
              </a:lnSpc>
              <a:buNone/>
            </a:pPr>
            <a:r>
              <a:rPr lang="en-US" sz="784" b="1" dirty="0">
                <a:solidFill>
                  <a:srgbClr val="475569"/>
                </a:solidFill>
                <a:latin typeface="NanumGothic" pitchFamily="34" charset="0"/>
                <a:ea typeface="NanumGothic" pitchFamily="34" charset="-122"/>
                <a:cs typeface="NanumGothic" pitchFamily="34" charset="-120"/>
              </a:rPr>
              <a:t>DSA 완화 예시:</a:t>
            </a:r>
            <a:r>
              <a:rPr lang="en-US" sz="834" dirty="0">
                <a:solidFill>
                  <a:srgbClr val="475569"/>
                </a:solidFill>
                <a:latin typeface="NanumGothic" pitchFamily="34" charset="0"/>
                <a:ea typeface="NanumGothic" pitchFamily="34" charset="-122"/>
                <a:cs typeface="NanumGothic" pitchFamily="34" charset="-120"/>
              </a:rPr>
              <a:t> AIMer128s Borderline → RW-5ms 적용 → Feasible (jitter 24.99ms → 7.66ms, miss rate 2.2% → 0%)</a:t>
            </a:r>
            <a:endParaRPr lang="en-US" sz="834" dirty="0"/>
          </a:p>
        </p:txBody>
      </p:sp>
      <p:sp>
        <p:nvSpPr>
          <p:cNvPr id="24" name="Text 20"/>
          <p:cNvSpPr/>
          <p:nvPr/>
        </p:nvSpPr>
        <p:spPr>
          <a:xfrm>
            <a:off x="0" y="4875609"/>
            <a:ext cx="9144000" cy="125016"/>
          </a:xfrm>
          <a:prstGeom prst="rect">
            <a:avLst/>
          </a:prstGeom>
          <a:noFill/>
          <a:ln/>
        </p:spPr>
        <p:txBody>
          <a:bodyPr wrap="none" lIns="0" tIns="0" rIns="0" bIns="0" rtlCol="0" anchor="t">
            <a:spAutoFit/>
          </a:bodyPr>
          <a:lstStyle/>
          <a:p>
            <a:pPr marL="0" indent="0" algn="ctr">
              <a:lnSpc>
                <a:spcPts val="900"/>
              </a:lnSpc>
              <a:buNone/>
            </a:pPr>
            <a:r>
              <a:rPr lang="en-US" sz="727" dirty="0">
                <a:solidFill>
                  <a:srgbClr val="94A3B8"/>
                </a:solidFill>
                <a:latin typeface="NanumGothic" pitchFamily="34" charset="0"/>
                <a:ea typeface="NanumGothic" pitchFamily="34" charset="-122"/>
                <a:cs typeface="NanumGothic" pitchFamily="34" charset="-120"/>
              </a:rPr>
              <a:t>13</a:t>
            </a:r>
            <a:endParaRPr lang="en-US" sz="727" dirty="0"/>
          </a:p>
        </p:txBody>
      </p:sp>
      <p:pic>
        <p:nvPicPr>
          <p:cNvPr id="25" name="그림 24">
            <a:extLst>
              <a:ext uri="{FF2B5EF4-FFF2-40B4-BE49-F238E27FC236}">
                <a16:creationId xmlns:a16="http://schemas.microsoft.com/office/drawing/2014/main" id="{0DFC9ADD-C098-0C3C-3709-5AFD9BA1A7C7}"/>
              </a:ext>
            </a:extLst>
          </p:cNvPr>
          <p:cNvPicPr>
            <a:picLocks noChangeAspect="1"/>
          </p:cNvPicPr>
          <p:nvPr/>
        </p:nvPicPr>
        <p:blipFill>
          <a:blip r:embed="rId4"/>
          <a:srcRect t="18546"/>
          <a:stretch>
            <a:fillRect/>
          </a:stretch>
        </p:blipFill>
        <p:spPr>
          <a:xfrm>
            <a:off x="2144771" y="991472"/>
            <a:ext cx="4380503" cy="1788413"/>
          </a:xfrm>
          <a:prstGeom prst="rect">
            <a:avLst/>
          </a:prstGeom>
        </p:spPr>
      </p:pic>
      <p:pic>
        <p:nvPicPr>
          <p:cNvPr id="27" name="그림 26">
            <a:extLst>
              <a:ext uri="{FF2B5EF4-FFF2-40B4-BE49-F238E27FC236}">
                <a16:creationId xmlns:a16="http://schemas.microsoft.com/office/drawing/2014/main" id="{20710858-E044-5AF6-818C-8BD586CC8FD1}"/>
              </a:ext>
            </a:extLst>
          </p:cNvPr>
          <p:cNvPicPr>
            <a:picLocks noChangeAspect="1"/>
          </p:cNvPicPr>
          <p:nvPr/>
        </p:nvPicPr>
        <p:blipFill>
          <a:blip r:embed="rId5"/>
          <a:srcRect l="2433" t="35335"/>
          <a:stretch>
            <a:fillRect/>
          </a:stretch>
        </p:blipFill>
        <p:spPr>
          <a:xfrm>
            <a:off x="2879641" y="850640"/>
            <a:ext cx="3308119" cy="110212"/>
          </a:xfrm>
          <a:prstGeom prst="rect">
            <a:avLst/>
          </a:prstGeom>
        </p:spPr>
      </p:pic>
    </p:spTree>
    <p:extLst>
      <p:ext uri="{BB962C8B-B14F-4D97-AF65-F5344CB8AC3E}">
        <p14:creationId xmlns:p14="http://schemas.microsoft.com/office/powerpoint/2010/main" val="16694711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0" y="0"/>
            <a:ext cx="9144000" cy="797365"/>
          </a:xfrm>
          <a:prstGeom prst="rect">
            <a:avLst/>
          </a:prstGeom>
          <a:solidFill>
            <a:srgbClr val="000000">
              <a:alpha val="0"/>
            </a:srgbClr>
          </a:solidFill>
          <a:ln/>
        </p:spPr>
        <p:txBody>
          <a:bodyPr/>
          <a:lstStyle/>
          <a:p>
            <a:endParaRPr lang="ko-KR" altLang="en-US"/>
          </a:p>
        </p:txBody>
      </p:sp>
      <p:sp>
        <p:nvSpPr>
          <p:cNvPr id="5" name="Shape 1"/>
          <p:cNvSpPr/>
          <p:nvPr/>
        </p:nvSpPr>
        <p:spPr>
          <a:xfrm>
            <a:off x="0" y="783078"/>
            <a:ext cx="9144000" cy="14288"/>
          </a:xfrm>
          <a:prstGeom prst="rect">
            <a:avLst/>
          </a:prstGeom>
          <a:solidFill>
            <a:srgbClr val="F1F5F9"/>
          </a:solidFill>
          <a:ln/>
        </p:spPr>
        <p:txBody>
          <a:bodyPr/>
          <a:lstStyle/>
          <a:p>
            <a:endParaRPr lang="ko-KR" altLang="en-US"/>
          </a:p>
        </p:txBody>
      </p:sp>
      <p:sp>
        <p:nvSpPr>
          <p:cNvPr id="6" name="Text 2"/>
          <p:cNvSpPr/>
          <p:nvPr/>
        </p:nvSpPr>
        <p:spPr>
          <a:xfrm>
            <a:off x="428625" y="458037"/>
            <a:ext cx="8715375" cy="253603"/>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0F172A"/>
                </a:solidFill>
                <a:latin typeface="NanumGothic" pitchFamily="34" charset="0"/>
                <a:ea typeface="NanumGothic" pitchFamily="34" charset="-122"/>
                <a:cs typeface="NanumGothic" pitchFamily="34" charset="-120"/>
              </a:rPr>
              <a:t>CAN-FD vs Ethernet + 실무 가이드라인</a:t>
            </a:r>
            <a:endParaRPr lang="en-US" sz="1808" dirty="0"/>
          </a:p>
        </p:txBody>
      </p:sp>
      <p:pic>
        <p:nvPicPr>
          <p:cNvPr id="7" name="Image 1" descr="preencoded.png"/>
          <p:cNvPicPr>
            <a:picLocks noChangeAspect="1"/>
          </p:cNvPicPr>
          <p:nvPr/>
        </p:nvPicPr>
        <p:blipFill>
          <a:blip r:embed="rId4"/>
          <a:stretch>
            <a:fillRect/>
          </a:stretch>
        </p:blipFill>
        <p:spPr>
          <a:xfrm>
            <a:off x="428625" y="925953"/>
            <a:ext cx="157163" cy="157163"/>
          </a:xfrm>
          <a:prstGeom prst="rect">
            <a:avLst/>
          </a:prstGeom>
        </p:spPr>
      </p:pic>
      <p:sp>
        <p:nvSpPr>
          <p:cNvPr id="8" name="Text 3"/>
          <p:cNvSpPr/>
          <p:nvPr/>
        </p:nvSpPr>
        <p:spPr>
          <a:xfrm>
            <a:off x="657225" y="926846"/>
            <a:ext cx="2064544" cy="155377"/>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2563EB"/>
                </a:solidFill>
                <a:latin typeface="NanumGothic" pitchFamily="34" charset="0"/>
                <a:ea typeface="NanumGothic" pitchFamily="34" charset="-122"/>
                <a:cs typeface="NanumGothic" pitchFamily="34" charset="-120"/>
              </a:rPr>
              <a:t>CAN-FD vs 100BASE-T1 비교</a:t>
            </a:r>
            <a:endParaRPr lang="en-US" sz="1090" dirty="0"/>
          </a:p>
        </p:txBody>
      </p:sp>
      <p:sp>
        <p:nvSpPr>
          <p:cNvPr id="9" name="Shape 4"/>
          <p:cNvSpPr/>
          <p:nvPr/>
        </p:nvSpPr>
        <p:spPr>
          <a:xfrm>
            <a:off x="432197" y="1193843"/>
            <a:ext cx="2118875" cy="292894"/>
          </a:xfrm>
          <a:prstGeom prst="rect">
            <a:avLst/>
          </a:prstGeom>
          <a:solidFill>
            <a:srgbClr val="F8FAFC"/>
          </a:solidFill>
          <a:ln w="9144">
            <a:solidFill>
              <a:srgbClr val="E2E8F0"/>
            </a:solidFill>
            <a:prstDash val="solid"/>
          </a:ln>
        </p:spPr>
        <p:txBody>
          <a:bodyPr/>
          <a:lstStyle/>
          <a:p>
            <a:endParaRPr lang="ko-KR" altLang="en-US"/>
          </a:p>
        </p:txBody>
      </p:sp>
      <p:sp>
        <p:nvSpPr>
          <p:cNvPr id="10" name="Text 5"/>
          <p:cNvSpPr/>
          <p:nvPr/>
        </p:nvSpPr>
        <p:spPr>
          <a:xfrm>
            <a:off x="432197" y="1193843"/>
            <a:ext cx="2118875" cy="292894"/>
          </a:xfrm>
          <a:prstGeom prst="rect">
            <a:avLst/>
          </a:prstGeom>
          <a:noFill/>
          <a:ln/>
        </p:spPr>
        <p:txBody>
          <a:bodyPr wrap="square" lIns="102108" tIns="102108" rIns="102108" bIns="102108" rtlCol="0" anchor="ctr">
            <a:spAutoFit/>
          </a:bodyPr>
          <a:lstStyle/>
          <a:p>
            <a:pPr marL="0" indent="0" algn="ctr">
              <a:lnSpc>
                <a:spcPts val="1100"/>
              </a:lnSpc>
              <a:buNone/>
            </a:pPr>
            <a:r>
              <a:rPr lang="en-US" sz="784" b="1" dirty="0">
                <a:solidFill>
                  <a:srgbClr val="0F172A"/>
                </a:solidFill>
                <a:latin typeface="NanumGothic" pitchFamily="34" charset="0"/>
                <a:ea typeface="NanumGothic" pitchFamily="34" charset="-122"/>
                <a:cs typeface="NanumGothic" pitchFamily="34" charset="-120"/>
              </a:rPr>
              <a:t>Algorithm</a:t>
            </a:r>
            <a:endParaRPr lang="en-US" sz="784" dirty="0"/>
          </a:p>
        </p:txBody>
      </p:sp>
      <p:sp>
        <p:nvSpPr>
          <p:cNvPr id="11" name="Shape 6"/>
          <p:cNvSpPr/>
          <p:nvPr/>
        </p:nvSpPr>
        <p:spPr>
          <a:xfrm>
            <a:off x="2551072" y="1193843"/>
            <a:ext cx="1261514" cy="292894"/>
          </a:xfrm>
          <a:prstGeom prst="rect">
            <a:avLst/>
          </a:prstGeom>
          <a:solidFill>
            <a:srgbClr val="F8FAFC"/>
          </a:solidFill>
          <a:ln w="9144">
            <a:solidFill>
              <a:srgbClr val="E2E8F0"/>
            </a:solidFill>
            <a:prstDash val="solid"/>
          </a:ln>
        </p:spPr>
        <p:txBody>
          <a:bodyPr/>
          <a:lstStyle/>
          <a:p>
            <a:endParaRPr lang="ko-KR" altLang="en-US"/>
          </a:p>
        </p:txBody>
      </p:sp>
      <p:sp>
        <p:nvSpPr>
          <p:cNvPr id="12" name="Text 7"/>
          <p:cNvSpPr/>
          <p:nvPr/>
        </p:nvSpPr>
        <p:spPr>
          <a:xfrm>
            <a:off x="2551072" y="1193843"/>
            <a:ext cx="1261514" cy="292894"/>
          </a:xfrm>
          <a:prstGeom prst="rect">
            <a:avLst/>
          </a:prstGeom>
          <a:noFill/>
          <a:ln/>
        </p:spPr>
        <p:txBody>
          <a:bodyPr wrap="square" lIns="102108" tIns="102108" rIns="102108" bIns="102108" rtlCol="0" anchor="ctr">
            <a:spAutoFit/>
          </a:bodyPr>
          <a:lstStyle/>
          <a:p>
            <a:pPr marL="0" indent="0" algn="ctr">
              <a:lnSpc>
                <a:spcPts val="1100"/>
              </a:lnSpc>
              <a:buNone/>
            </a:pPr>
            <a:r>
              <a:rPr lang="en-US" sz="784" b="1" dirty="0">
                <a:solidFill>
                  <a:srgbClr val="0F172A"/>
                </a:solidFill>
                <a:latin typeface="NanumGothic" pitchFamily="34" charset="0"/>
                <a:ea typeface="NanumGothic" pitchFamily="34" charset="-122"/>
                <a:cs typeface="NanumGothic" pitchFamily="34" charset="-120"/>
              </a:rPr>
              <a:t>N_ECU</a:t>
            </a:r>
            <a:endParaRPr lang="en-US" sz="784" dirty="0"/>
          </a:p>
        </p:txBody>
      </p:sp>
      <p:sp>
        <p:nvSpPr>
          <p:cNvPr id="13" name="Shape 8"/>
          <p:cNvSpPr/>
          <p:nvPr/>
        </p:nvSpPr>
        <p:spPr>
          <a:xfrm>
            <a:off x="3807758" y="1193843"/>
            <a:ext cx="1928896" cy="292894"/>
          </a:xfrm>
          <a:prstGeom prst="rect">
            <a:avLst/>
          </a:prstGeom>
          <a:solidFill>
            <a:srgbClr val="F8FAFC"/>
          </a:solidFill>
          <a:ln w="9144">
            <a:solidFill>
              <a:srgbClr val="E2E8F0"/>
            </a:solidFill>
            <a:prstDash val="solid"/>
          </a:ln>
        </p:spPr>
        <p:txBody>
          <a:bodyPr/>
          <a:lstStyle/>
          <a:p>
            <a:endParaRPr lang="ko-KR" altLang="en-US"/>
          </a:p>
        </p:txBody>
      </p:sp>
      <p:sp>
        <p:nvSpPr>
          <p:cNvPr id="14" name="Text 9"/>
          <p:cNvSpPr/>
          <p:nvPr/>
        </p:nvSpPr>
        <p:spPr>
          <a:xfrm>
            <a:off x="3807758" y="1193843"/>
            <a:ext cx="1928896" cy="292894"/>
          </a:xfrm>
          <a:prstGeom prst="rect">
            <a:avLst/>
          </a:prstGeom>
          <a:noFill/>
          <a:ln/>
        </p:spPr>
        <p:txBody>
          <a:bodyPr wrap="square" lIns="102108" tIns="102108" rIns="102108" bIns="102108" rtlCol="0" anchor="ctr">
            <a:spAutoFit/>
          </a:bodyPr>
          <a:lstStyle/>
          <a:p>
            <a:pPr marL="0" indent="0" algn="ctr">
              <a:lnSpc>
                <a:spcPts val="1100"/>
              </a:lnSpc>
              <a:buNone/>
            </a:pPr>
            <a:r>
              <a:rPr lang="en-US" sz="784" b="1" dirty="0">
                <a:solidFill>
                  <a:srgbClr val="0F172A"/>
                </a:solidFill>
                <a:latin typeface="NanumGothic" pitchFamily="34" charset="0"/>
                <a:ea typeface="NanumGothic" pitchFamily="34" charset="-122"/>
                <a:cs typeface="NanumGothic" pitchFamily="34" charset="-120"/>
              </a:rPr>
              <a:t>CAN-FD P99</a:t>
            </a:r>
            <a:endParaRPr lang="en-US" sz="784" dirty="0"/>
          </a:p>
        </p:txBody>
      </p:sp>
      <p:sp>
        <p:nvSpPr>
          <p:cNvPr id="15" name="Shape 10"/>
          <p:cNvSpPr/>
          <p:nvPr/>
        </p:nvSpPr>
        <p:spPr>
          <a:xfrm>
            <a:off x="5730766" y="1193843"/>
            <a:ext cx="1949100" cy="292894"/>
          </a:xfrm>
          <a:prstGeom prst="rect">
            <a:avLst/>
          </a:prstGeom>
          <a:solidFill>
            <a:srgbClr val="F8FAFC"/>
          </a:solidFill>
          <a:ln w="9144">
            <a:solidFill>
              <a:srgbClr val="E2E8F0"/>
            </a:solidFill>
            <a:prstDash val="solid"/>
          </a:ln>
        </p:spPr>
        <p:txBody>
          <a:bodyPr/>
          <a:lstStyle/>
          <a:p>
            <a:endParaRPr lang="ko-KR" altLang="en-US"/>
          </a:p>
        </p:txBody>
      </p:sp>
      <p:sp>
        <p:nvSpPr>
          <p:cNvPr id="16" name="Text 11"/>
          <p:cNvSpPr/>
          <p:nvPr/>
        </p:nvSpPr>
        <p:spPr>
          <a:xfrm>
            <a:off x="5730766" y="1193843"/>
            <a:ext cx="1949100" cy="292894"/>
          </a:xfrm>
          <a:prstGeom prst="rect">
            <a:avLst/>
          </a:prstGeom>
          <a:noFill/>
          <a:ln/>
        </p:spPr>
        <p:txBody>
          <a:bodyPr wrap="square" lIns="102108" tIns="102108" rIns="102108" bIns="102108" rtlCol="0" anchor="ctr">
            <a:spAutoFit/>
          </a:bodyPr>
          <a:lstStyle/>
          <a:p>
            <a:pPr marL="0" indent="0" algn="ctr">
              <a:lnSpc>
                <a:spcPts val="1100"/>
              </a:lnSpc>
              <a:buNone/>
            </a:pPr>
            <a:r>
              <a:rPr lang="en-US" sz="784" b="1" dirty="0">
                <a:solidFill>
                  <a:srgbClr val="0F172A"/>
                </a:solidFill>
                <a:latin typeface="NanumGothic" pitchFamily="34" charset="0"/>
                <a:ea typeface="NanumGothic" pitchFamily="34" charset="-122"/>
                <a:cs typeface="NanumGothic" pitchFamily="34" charset="-120"/>
              </a:rPr>
              <a:t>Ethernet est.</a:t>
            </a:r>
            <a:endParaRPr lang="en-US" sz="784" dirty="0"/>
          </a:p>
        </p:txBody>
      </p:sp>
      <p:sp>
        <p:nvSpPr>
          <p:cNvPr id="17" name="Shape 12"/>
          <p:cNvSpPr/>
          <p:nvPr/>
        </p:nvSpPr>
        <p:spPr>
          <a:xfrm>
            <a:off x="7677801" y="1193843"/>
            <a:ext cx="1034002" cy="292894"/>
          </a:xfrm>
          <a:prstGeom prst="rect">
            <a:avLst/>
          </a:prstGeom>
          <a:solidFill>
            <a:srgbClr val="F8FAFC"/>
          </a:solidFill>
          <a:ln w="9144">
            <a:solidFill>
              <a:srgbClr val="E2E8F0"/>
            </a:solidFill>
            <a:prstDash val="solid"/>
          </a:ln>
        </p:spPr>
        <p:txBody>
          <a:bodyPr/>
          <a:lstStyle/>
          <a:p>
            <a:endParaRPr lang="ko-KR" altLang="en-US"/>
          </a:p>
        </p:txBody>
      </p:sp>
      <p:sp>
        <p:nvSpPr>
          <p:cNvPr id="18" name="Text 13"/>
          <p:cNvSpPr/>
          <p:nvPr/>
        </p:nvSpPr>
        <p:spPr>
          <a:xfrm>
            <a:off x="7677801" y="1193843"/>
            <a:ext cx="1034002" cy="292894"/>
          </a:xfrm>
          <a:prstGeom prst="rect">
            <a:avLst/>
          </a:prstGeom>
          <a:noFill/>
          <a:ln/>
        </p:spPr>
        <p:txBody>
          <a:bodyPr wrap="square" lIns="102108" tIns="102108" rIns="102108" bIns="102108" rtlCol="0" anchor="ctr">
            <a:spAutoFit/>
          </a:bodyPr>
          <a:lstStyle/>
          <a:p>
            <a:pPr marL="0" indent="0" algn="ctr">
              <a:lnSpc>
                <a:spcPts val="1100"/>
              </a:lnSpc>
              <a:buNone/>
            </a:pPr>
            <a:r>
              <a:rPr lang="en-US" sz="784" b="1" dirty="0">
                <a:solidFill>
                  <a:srgbClr val="0F172A"/>
                </a:solidFill>
                <a:latin typeface="NanumGothic" pitchFamily="34" charset="0"/>
                <a:ea typeface="NanumGothic" pitchFamily="34" charset="-122"/>
                <a:cs typeface="NanumGothic" pitchFamily="34" charset="-120"/>
              </a:rPr>
              <a:t>Ratio</a:t>
            </a:r>
            <a:endParaRPr lang="en-US" sz="784" dirty="0"/>
          </a:p>
        </p:txBody>
      </p:sp>
      <p:sp>
        <p:nvSpPr>
          <p:cNvPr id="19" name="Text 14"/>
          <p:cNvSpPr/>
          <p:nvPr/>
        </p:nvSpPr>
        <p:spPr>
          <a:xfrm>
            <a:off x="432197" y="1479593"/>
            <a:ext cx="2135730" cy="292894"/>
          </a:xfrm>
          <a:prstGeom prst="rect">
            <a:avLst/>
          </a:prstGeom>
          <a:noFill/>
          <a:ln/>
        </p:spPr>
        <p:txBody>
          <a:bodyPr wrap="square" lIns="85090" tIns="85090" rIns="85090" bIns="85090" rtlCol="0" anchor="ctr">
            <a:spAutoFit/>
          </a:bodyPr>
          <a:lstStyle/>
          <a:p>
            <a:pPr marL="0" indent="0" algn="ctr">
              <a:lnSpc>
                <a:spcPts val="1100"/>
              </a:lnSpc>
              <a:buNone/>
            </a:pPr>
            <a:r>
              <a:rPr lang="en-US" sz="834" dirty="0">
                <a:solidFill>
                  <a:srgbClr val="334155"/>
                </a:solidFill>
                <a:latin typeface="NanumGothic" pitchFamily="34" charset="0"/>
                <a:ea typeface="NanumGothic" pitchFamily="34" charset="-122"/>
                <a:cs typeface="NanumGothic" pitchFamily="34" charset="-120"/>
              </a:rPr>
              <a:t>SMAUG-T1</a:t>
            </a:r>
            <a:endParaRPr lang="en-US" sz="834" dirty="0"/>
          </a:p>
        </p:txBody>
      </p:sp>
      <p:sp>
        <p:nvSpPr>
          <p:cNvPr id="20" name="Text 15"/>
          <p:cNvSpPr/>
          <p:nvPr/>
        </p:nvSpPr>
        <p:spPr>
          <a:xfrm>
            <a:off x="2567927" y="1479593"/>
            <a:ext cx="1255095" cy="292894"/>
          </a:xfrm>
          <a:prstGeom prst="rect">
            <a:avLst/>
          </a:prstGeom>
          <a:noFill/>
          <a:ln/>
        </p:spPr>
        <p:txBody>
          <a:bodyPr wrap="square" lIns="85090" tIns="85090" rIns="85090" bIns="85090" rtlCol="0" anchor="ctr">
            <a:spAutoFit/>
          </a:bodyPr>
          <a:lstStyle/>
          <a:p>
            <a:pPr marL="0" indent="0" algn="ctr">
              <a:lnSpc>
                <a:spcPts val="1100"/>
              </a:lnSpc>
              <a:buNone/>
            </a:pPr>
            <a:r>
              <a:rPr lang="en-US" sz="834" dirty="0">
                <a:solidFill>
                  <a:srgbClr val="334155"/>
                </a:solidFill>
                <a:latin typeface="NanumGothic" pitchFamily="34" charset="0"/>
                <a:ea typeface="NanumGothic" pitchFamily="34" charset="-122"/>
                <a:cs typeface="NanumGothic" pitchFamily="34" charset="-120"/>
              </a:rPr>
              <a:t>4</a:t>
            </a:r>
            <a:endParaRPr lang="en-US" sz="834" dirty="0"/>
          </a:p>
        </p:txBody>
      </p:sp>
      <p:sp>
        <p:nvSpPr>
          <p:cNvPr id="21" name="Text 16"/>
          <p:cNvSpPr/>
          <p:nvPr/>
        </p:nvSpPr>
        <p:spPr>
          <a:xfrm>
            <a:off x="3823022" y="1479593"/>
            <a:ext cx="1925855" cy="292894"/>
          </a:xfrm>
          <a:prstGeom prst="rect">
            <a:avLst/>
          </a:prstGeom>
          <a:noFill/>
          <a:ln/>
        </p:spPr>
        <p:txBody>
          <a:bodyPr wrap="square" lIns="85090" tIns="85090" rIns="85090" bIns="85090" rtlCol="0" anchor="ctr">
            <a:spAutoFit/>
          </a:bodyPr>
          <a:lstStyle/>
          <a:p>
            <a:pPr marL="0" indent="0" algn="ctr">
              <a:lnSpc>
                <a:spcPts val="1100"/>
              </a:lnSpc>
              <a:buNone/>
            </a:pPr>
            <a:r>
              <a:rPr lang="en-US" sz="834" dirty="0">
                <a:solidFill>
                  <a:srgbClr val="334155"/>
                </a:solidFill>
                <a:latin typeface="NanumGothic" pitchFamily="34" charset="0"/>
                <a:ea typeface="NanumGothic" pitchFamily="34" charset="-122"/>
                <a:cs typeface="NanumGothic" pitchFamily="34" charset="-120"/>
              </a:rPr>
              <a:t>~5ms</a:t>
            </a:r>
            <a:endParaRPr lang="en-US" sz="834" dirty="0"/>
          </a:p>
        </p:txBody>
      </p:sp>
      <p:sp>
        <p:nvSpPr>
          <p:cNvPr id="22" name="Text 17"/>
          <p:cNvSpPr/>
          <p:nvPr/>
        </p:nvSpPr>
        <p:spPr>
          <a:xfrm>
            <a:off x="5748877" y="1479593"/>
            <a:ext cx="1942319" cy="292894"/>
          </a:xfrm>
          <a:prstGeom prst="rect">
            <a:avLst/>
          </a:prstGeom>
          <a:noFill/>
          <a:ln/>
        </p:spPr>
        <p:txBody>
          <a:bodyPr wrap="square" lIns="85090" tIns="85090" rIns="85090" bIns="85090" rtlCol="0" anchor="ctr">
            <a:spAutoFit/>
          </a:bodyPr>
          <a:lstStyle/>
          <a:p>
            <a:pPr marL="0" indent="0" algn="ctr">
              <a:lnSpc>
                <a:spcPts val="1100"/>
              </a:lnSpc>
              <a:buNone/>
            </a:pPr>
            <a:r>
              <a:rPr lang="en-US" sz="834" dirty="0">
                <a:solidFill>
                  <a:srgbClr val="334155"/>
                </a:solidFill>
                <a:latin typeface="NanumGothic" pitchFamily="34" charset="0"/>
                <a:ea typeface="NanumGothic" pitchFamily="34" charset="-122"/>
                <a:cs typeface="NanumGothic" pitchFamily="34" charset="-120"/>
              </a:rPr>
              <a:t>0.27ms</a:t>
            </a:r>
            <a:endParaRPr lang="en-US" sz="834" dirty="0"/>
          </a:p>
        </p:txBody>
      </p:sp>
      <p:sp>
        <p:nvSpPr>
          <p:cNvPr id="23" name="Text 18"/>
          <p:cNvSpPr/>
          <p:nvPr/>
        </p:nvSpPr>
        <p:spPr>
          <a:xfrm>
            <a:off x="7691196" y="1479593"/>
            <a:ext cx="1020607" cy="292894"/>
          </a:xfrm>
          <a:prstGeom prst="rect">
            <a:avLst/>
          </a:prstGeom>
          <a:noFill/>
          <a:ln/>
        </p:spPr>
        <p:txBody>
          <a:bodyPr wrap="square" lIns="85090" tIns="85090" rIns="85090" bIns="85090" rtlCol="0" anchor="ctr">
            <a:spAutoFit/>
          </a:bodyPr>
          <a:lstStyle/>
          <a:p>
            <a:pPr marL="0" indent="0" algn="ctr">
              <a:lnSpc>
                <a:spcPts val="1100"/>
              </a:lnSpc>
              <a:buNone/>
            </a:pPr>
            <a:r>
              <a:rPr lang="en-US" sz="784" b="1" dirty="0">
                <a:solidFill>
                  <a:srgbClr val="2563EB"/>
                </a:solidFill>
                <a:latin typeface="NanumGothic" pitchFamily="34" charset="0"/>
                <a:ea typeface="NanumGothic" pitchFamily="34" charset="-122"/>
                <a:cs typeface="NanumGothic" pitchFamily="34" charset="-120"/>
              </a:rPr>
              <a:t>~19×</a:t>
            </a:r>
            <a:endParaRPr lang="en-US" sz="784" dirty="0"/>
          </a:p>
        </p:txBody>
      </p:sp>
      <p:sp>
        <p:nvSpPr>
          <p:cNvPr id="24" name="Text 19"/>
          <p:cNvSpPr/>
          <p:nvPr/>
        </p:nvSpPr>
        <p:spPr>
          <a:xfrm>
            <a:off x="432197" y="1772487"/>
            <a:ext cx="2135730" cy="292894"/>
          </a:xfrm>
          <a:prstGeom prst="rect">
            <a:avLst/>
          </a:prstGeom>
          <a:noFill/>
          <a:ln/>
        </p:spPr>
        <p:txBody>
          <a:bodyPr wrap="square" lIns="85090" tIns="85090" rIns="85090" bIns="85090" rtlCol="0" anchor="ctr">
            <a:spAutoFit/>
          </a:bodyPr>
          <a:lstStyle/>
          <a:p>
            <a:pPr marL="0" indent="0" algn="ctr">
              <a:lnSpc>
                <a:spcPts val="1100"/>
              </a:lnSpc>
              <a:buNone/>
            </a:pPr>
            <a:r>
              <a:rPr lang="en-US" sz="834" dirty="0">
                <a:solidFill>
                  <a:srgbClr val="334155"/>
                </a:solidFill>
                <a:latin typeface="NanumGothic" pitchFamily="34" charset="0"/>
                <a:ea typeface="NanumGothic" pitchFamily="34" charset="-122"/>
                <a:cs typeface="NanumGothic" pitchFamily="34" charset="-120"/>
              </a:rPr>
              <a:t>ML-KEM-512</a:t>
            </a:r>
            <a:endParaRPr lang="en-US" sz="834" dirty="0"/>
          </a:p>
        </p:txBody>
      </p:sp>
      <p:sp>
        <p:nvSpPr>
          <p:cNvPr id="25" name="Text 20"/>
          <p:cNvSpPr/>
          <p:nvPr/>
        </p:nvSpPr>
        <p:spPr>
          <a:xfrm>
            <a:off x="2567927" y="1772487"/>
            <a:ext cx="1255095" cy="292894"/>
          </a:xfrm>
          <a:prstGeom prst="rect">
            <a:avLst/>
          </a:prstGeom>
          <a:noFill/>
          <a:ln/>
        </p:spPr>
        <p:txBody>
          <a:bodyPr wrap="square" lIns="85090" tIns="85090" rIns="85090" bIns="85090" rtlCol="0" anchor="ctr">
            <a:spAutoFit/>
          </a:bodyPr>
          <a:lstStyle/>
          <a:p>
            <a:pPr marL="0" indent="0" algn="ctr">
              <a:lnSpc>
                <a:spcPts val="1100"/>
              </a:lnSpc>
              <a:buNone/>
            </a:pPr>
            <a:r>
              <a:rPr lang="en-US" sz="834" dirty="0">
                <a:solidFill>
                  <a:srgbClr val="334155"/>
                </a:solidFill>
                <a:latin typeface="NanumGothic" pitchFamily="34" charset="0"/>
                <a:ea typeface="NanumGothic" pitchFamily="34" charset="-122"/>
                <a:cs typeface="NanumGothic" pitchFamily="34" charset="-120"/>
              </a:rPr>
              <a:t>8</a:t>
            </a:r>
            <a:endParaRPr lang="en-US" sz="834" dirty="0"/>
          </a:p>
        </p:txBody>
      </p:sp>
      <p:sp>
        <p:nvSpPr>
          <p:cNvPr id="26" name="Text 21"/>
          <p:cNvSpPr/>
          <p:nvPr/>
        </p:nvSpPr>
        <p:spPr>
          <a:xfrm>
            <a:off x="3823022" y="1772487"/>
            <a:ext cx="1925855" cy="292894"/>
          </a:xfrm>
          <a:prstGeom prst="rect">
            <a:avLst/>
          </a:prstGeom>
          <a:noFill/>
          <a:ln/>
        </p:spPr>
        <p:txBody>
          <a:bodyPr wrap="square" lIns="85090" tIns="85090" rIns="85090" bIns="85090" rtlCol="0" anchor="ctr">
            <a:spAutoFit/>
          </a:bodyPr>
          <a:lstStyle/>
          <a:p>
            <a:pPr marL="0" indent="0" algn="ctr">
              <a:lnSpc>
                <a:spcPts val="1100"/>
              </a:lnSpc>
              <a:buNone/>
            </a:pPr>
            <a:r>
              <a:rPr lang="en-US" sz="834" dirty="0">
                <a:solidFill>
                  <a:srgbClr val="334155"/>
                </a:solidFill>
                <a:latin typeface="NanumGothic" pitchFamily="34" charset="0"/>
                <a:ea typeface="NanumGothic" pitchFamily="34" charset="-122"/>
                <a:cs typeface="NanumGothic" pitchFamily="34" charset="-120"/>
              </a:rPr>
              <a:t>~18ms</a:t>
            </a:r>
            <a:endParaRPr lang="en-US" sz="834" dirty="0"/>
          </a:p>
        </p:txBody>
      </p:sp>
      <p:sp>
        <p:nvSpPr>
          <p:cNvPr id="27" name="Text 22"/>
          <p:cNvSpPr/>
          <p:nvPr/>
        </p:nvSpPr>
        <p:spPr>
          <a:xfrm>
            <a:off x="5748877" y="1772487"/>
            <a:ext cx="1942319" cy="292894"/>
          </a:xfrm>
          <a:prstGeom prst="rect">
            <a:avLst/>
          </a:prstGeom>
          <a:noFill/>
          <a:ln/>
        </p:spPr>
        <p:txBody>
          <a:bodyPr wrap="square" lIns="85090" tIns="85090" rIns="85090" bIns="85090" rtlCol="0" anchor="ctr">
            <a:spAutoFit/>
          </a:bodyPr>
          <a:lstStyle/>
          <a:p>
            <a:pPr marL="0" indent="0" algn="ctr">
              <a:lnSpc>
                <a:spcPts val="1100"/>
              </a:lnSpc>
              <a:buNone/>
            </a:pPr>
            <a:r>
              <a:rPr lang="en-US" sz="834" dirty="0">
                <a:solidFill>
                  <a:srgbClr val="334155"/>
                </a:solidFill>
                <a:latin typeface="NanumGothic" pitchFamily="34" charset="0"/>
                <a:ea typeface="NanumGothic" pitchFamily="34" charset="-122"/>
                <a:cs typeface="NanumGothic" pitchFamily="34" charset="-120"/>
              </a:rPr>
              <a:t>0.60ms</a:t>
            </a:r>
            <a:endParaRPr lang="en-US" sz="834" dirty="0"/>
          </a:p>
        </p:txBody>
      </p:sp>
      <p:sp>
        <p:nvSpPr>
          <p:cNvPr id="28" name="Text 23"/>
          <p:cNvSpPr/>
          <p:nvPr/>
        </p:nvSpPr>
        <p:spPr>
          <a:xfrm>
            <a:off x="7691196" y="1772487"/>
            <a:ext cx="1020607" cy="292894"/>
          </a:xfrm>
          <a:prstGeom prst="rect">
            <a:avLst/>
          </a:prstGeom>
          <a:noFill/>
          <a:ln/>
        </p:spPr>
        <p:txBody>
          <a:bodyPr wrap="square" lIns="85090" tIns="85090" rIns="85090" bIns="85090" rtlCol="0" anchor="ctr">
            <a:spAutoFit/>
          </a:bodyPr>
          <a:lstStyle/>
          <a:p>
            <a:pPr marL="0" indent="0" algn="ctr">
              <a:lnSpc>
                <a:spcPts val="1100"/>
              </a:lnSpc>
              <a:buNone/>
            </a:pPr>
            <a:r>
              <a:rPr lang="en-US" sz="784" b="1" dirty="0">
                <a:solidFill>
                  <a:srgbClr val="2563EB"/>
                </a:solidFill>
                <a:latin typeface="NanumGothic" pitchFamily="34" charset="0"/>
                <a:ea typeface="NanumGothic" pitchFamily="34" charset="-122"/>
                <a:cs typeface="NanumGothic" pitchFamily="34" charset="-120"/>
              </a:rPr>
              <a:t>~30×</a:t>
            </a:r>
            <a:endParaRPr lang="en-US" sz="784" dirty="0"/>
          </a:p>
        </p:txBody>
      </p:sp>
      <p:sp>
        <p:nvSpPr>
          <p:cNvPr id="29" name="Text 24"/>
          <p:cNvSpPr/>
          <p:nvPr/>
        </p:nvSpPr>
        <p:spPr>
          <a:xfrm>
            <a:off x="432197" y="2065381"/>
            <a:ext cx="2135730" cy="292894"/>
          </a:xfrm>
          <a:prstGeom prst="rect">
            <a:avLst/>
          </a:prstGeom>
          <a:noFill/>
          <a:ln/>
        </p:spPr>
        <p:txBody>
          <a:bodyPr wrap="square" lIns="85090" tIns="85090" rIns="85090" bIns="85090" rtlCol="0" anchor="ctr">
            <a:spAutoFit/>
          </a:bodyPr>
          <a:lstStyle/>
          <a:p>
            <a:pPr marL="0" indent="0" algn="ctr">
              <a:lnSpc>
                <a:spcPts val="1100"/>
              </a:lnSpc>
              <a:buNone/>
            </a:pPr>
            <a:r>
              <a:rPr lang="en-US" sz="834" dirty="0">
                <a:solidFill>
                  <a:srgbClr val="334155"/>
                </a:solidFill>
                <a:latin typeface="NanumGothic" pitchFamily="34" charset="0"/>
                <a:ea typeface="NanumGothic" pitchFamily="34" charset="-122"/>
                <a:cs typeface="NanumGothic" pitchFamily="34" charset="-120"/>
              </a:rPr>
              <a:t>NTRU+768</a:t>
            </a:r>
            <a:endParaRPr lang="en-US" sz="834" dirty="0"/>
          </a:p>
        </p:txBody>
      </p:sp>
      <p:sp>
        <p:nvSpPr>
          <p:cNvPr id="30" name="Text 25"/>
          <p:cNvSpPr/>
          <p:nvPr/>
        </p:nvSpPr>
        <p:spPr>
          <a:xfrm>
            <a:off x="2567927" y="2065381"/>
            <a:ext cx="1255095" cy="292894"/>
          </a:xfrm>
          <a:prstGeom prst="rect">
            <a:avLst/>
          </a:prstGeom>
          <a:noFill/>
          <a:ln/>
        </p:spPr>
        <p:txBody>
          <a:bodyPr wrap="square" lIns="85090" tIns="85090" rIns="85090" bIns="85090" rtlCol="0" anchor="ctr">
            <a:spAutoFit/>
          </a:bodyPr>
          <a:lstStyle/>
          <a:p>
            <a:pPr marL="0" indent="0" algn="ctr">
              <a:lnSpc>
                <a:spcPts val="1100"/>
              </a:lnSpc>
              <a:buNone/>
            </a:pPr>
            <a:r>
              <a:rPr lang="en-US" sz="834" dirty="0">
                <a:solidFill>
                  <a:srgbClr val="334155"/>
                </a:solidFill>
                <a:latin typeface="NanumGothic" pitchFamily="34" charset="0"/>
                <a:ea typeface="NanumGothic" pitchFamily="34" charset="-122"/>
                <a:cs typeface="NanumGothic" pitchFamily="34" charset="-120"/>
              </a:rPr>
              <a:t>8</a:t>
            </a:r>
            <a:endParaRPr lang="en-US" sz="834" dirty="0"/>
          </a:p>
        </p:txBody>
      </p:sp>
      <p:sp>
        <p:nvSpPr>
          <p:cNvPr id="31" name="Text 26"/>
          <p:cNvSpPr/>
          <p:nvPr/>
        </p:nvSpPr>
        <p:spPr>
          <a:xfrm>
            <a:off x="3823022" y="2065381"/>
            <a:ext cx="1925855" cy="292894"/>
          </a:xfrm>
          <a:prstGeom prst="rect">
            <a:avLst/>
          </a:prstGeom>
          <a:noFill/>
          <a:ln/>
        </p:spPr>
        <p:txBody>
          <a:bodyPr wrap="square" lIns="85090" tIns="85090" rIns="85090" bIns="85090" rtlCol="0" anchor="ctr">
            <a:spAutoFit/>
          </a:bodyPr>
          <a:lstStyle/>
          <a:p>
            <a:pPr marL="0" indent="0" algn="ctr">
              <a:lnSpc>
                <a:spcPts val="1100"/>
              </a:lnSpc>
              <a:buNone/>
            </a:pPr>
            <a:r>
              <a:rPr lang="en-US" sz="834" dirty="0">
                <a:solidFill>
                  <a:srgbClr val="334155"/>
                </a:solidFill>
                <a:latin typeface="NanumGothic" pitchFamily="34" charset="0"/>
                <a:ea typeface="NanumGothic" pitchFamily="34" charset="-122"/>
                <a:cs typeface="NanumGothic" pitchFamily="34" charset="-120"/>
              </a:rPr>
              <a:t>~35ms</a:t>
            </a:r>
            <a:endParaRPr lang="en-US" sz="834" dirty="0"/>
          </a:p>
        </p:txBody>
      </p:sp>
      <p:sp>
        <p:nvSpPr>
          <p:cNvPr id="32" name="Text 27"/>
          <p:cNvSpPr/>
          <p:nvPr/>
        </p:nvSpPr>
        <p:spPr>
          <a:xfrm>
            <a:off x="5748877" y="2065381"/>
            <a:ext cx="1942319" cy="292894"/>
          </a:xfrm>
          <a:prstGeom prst="rect">
            <a:avLst/>
          </a:prstGeom>
          <a:noFill/>
          <a:ln/>
        </p:spPr>
        <p:txBody>
          <a:bodyPr wrap="square" lIns="85090" tIns="85090" rIns="85090" bIns="85090" rtlCol="0" anchor="ctr">
            <a:spAutoFit/>
          </a:bodyPr>
          <a:lstStyle/>
          <a:p>
            <a:pPr marL="0" indent="0" algn="ctr">
              <a:lnSpc>
                <a:spcPts val="1100"/>
              </a:lnSpc>
              <a:buNone/>
            </a:pPr>
            <a:r>
              <a:rPr lang="en-US" sz="834" dirty="0">
                <a:solidFill>
                  <a:srgbClr val="334155"/>
                </a:solidFill>
                <a:latin typeface="NanumGothic" pitchFamily="34" charset="0"/>
                <a:ea typeface="NanumGothic" pitchFamily="34" charset="-122"/>
                <a:cs typeface="NanumGothic" pitchFamily="34" charset="-120"/>
              </a:rPr>
              <a:t>0.84ms</a:t>
            </a:r>
            <a:endParaRPr lang="en-US" sz="834" dirty="0"/>
          </a:p>
        </p:txBody>
      </p:sp>
      <p:sp>
        <p:nvSpPr>
          <p:cNvPr id="33" name="Text 28"/>
          <p:cNvSpPr/>
          <p:nvPr/>
        </p:nvSpPr>
        <p:spPr>
          <a:xfrm>
            <a:off x="7691196" y="2065381"/>
            <a:ext cx="1020607" cy="292894"/>
          </a:xfrm>
          <a:prstGeom prst="rect">
            <a:avLst/>
          </a:prstGeom>
          <a:noFill/>
          <a:ln/>
        </p:spPr>
        <p:txBody>
          <a:bodyPr wrap="square" lIns="85090" tIns="85090" rIns="85090" bIns="85090" rtlCol="0" anchor="ctr">
            <a:spAutoFit/>
          </a:bodyPr>
          <a:lstStyle/>
          <a:p>
            <a:pPr marL="0" indent="0" algn="ctr">
              <a:lnSpc>
                <a:spcPts val="1100"/>
              </a:lnSpc>
              <a:buNone/>
            </a:pPr>
            <a:r>
              <a:rPr lang="en-US" sz="784" b="1" dirty="0">
                <a:solidFill>
                  <a:srgbClr val="2563EB"/>
                </a:solidFill>
                <a:latin typeface="NanumGothic" pitchFamily="34" charset="0"/>
                <a:ea typeface="NanumGothic" pitchFamily="34" charset="-122"/>
                <a:cs typeface="NanumGothic" pitchFamily="34" charset="-120"/>
              </a:rPr>
              <a:t>~42×</a:t>
            </a:r>
            <a:endParaRPr lang="en-US" sz="784" dirty="0"/>
          </a:p>
        </p:txBody>
      </p:sp>
      <p:sp>
        <p:nvSpPr>
          <p:cNvPr id="34" name="Text 29"/>
          <p:cNvSpPr/>
          <p:nvPr/>
        </p:nvSpPr>
        <p:spPr>
          <a:xfrm>
            <a:off x="432197" y="2358275"/>
            <a:ext cx="2135730" cy="292894"/>
          </a:xfrm>
          <a:prstGeom prst="rect">
            <a:avLst/>
          </a:prstGeom>
          <a:noFill/>
          <a:ln/>
        </p:spPr>
        <p:txBody>
          <a:bodyPr wrap="square" lIns="85090" tIns="85090" rIns="85090" bIns="85090" rtlCol="0" anchor="ctr">
            <a:spAutoFit/>
          </a:bodyPr>
          <a:lstStyle/>
          <a:p>
            <a:pPr marL="0" indent="0" algn="ctr">
              <a:lnSpc>
                <a:spcPts val="1100"/>
              </a:lnSpc>
              <a:buNone/>
            </a:pPr>
            <a:r>
              <a:rPr lang="en-US" sz="834" dirty="0">
                <a:solidFill>
                  <a:srgbClr val="334155"/>
                </a:solidFill>
                <a:latin typeface="NanumGothic" pitchFamily="34" charset="0"/>
                <a:ea typeface="NanumGothic" pitchFamily="34" charset="-122"/>
                <a:cs typeface="NanumGothic" pitchFamily="34" charset="-120"/>
              </a:rPr>
              <a:t>ML-KEM-1024</a:t>
            </a:r>
            <a:endParaRPr lang="en-US" sz="834" dirty="0"/>
          </a:p>
        </p:txBody>
      </p:sp>
      <p:sp>
        <p:nvSpPr>
          <p:cNvPr id="35" name="Text 30"/>
          <p:cNvSpPr/>
          <p:nvPr/>
        </p:nvSpPr>
        <p:spPr>
          <a:xfrm>
            <a:off x="2567927" y="2358275"/>
            <a:ext cx="1255095" cy="292894"/>
          </a:xfrm>
          <a:prstGeom prst="rect">
            <a:avLst/>
          </a:prstGeom>
          <a:noFill/>
          <a:ln/>
        </p:spPr>
        <p:txBody>
          <a:bodyPr wrap="square" lIns="85090" tIns="85090" rIns="85090" bIns="85090" rtlCol="0" anchor="ctr">
            <a:spAutoFit/>
          </a:bodyPr>
          <a:lstStyle/>
          <a:p>
            <a:pPr marL="0" indent="0" algn="ctr">
              <a:lnSpc>
                <a:spcPts val="1100"/>
              </a:lnSpc>
              <a:buNone/>
            </a:pPr>
            <a:r>
              <a:rPr lang="en-US" sz="834" dirty="0">
                <a:solidFill>
                  <a:srgbClr val="334155"/>
                </a:solidFill>
                <a:latin typeface="NanumGothic" pitchFamily="34" charset="0"/>
                <a:ea typeface="NanumGothic" pitchFamily="34" charset="-122"/>
                <a:cs typeface="NanumGothic" pitchFamily="34" charset="-120"/>
              </a:rPr>
              <a:t>16</a:t>
            </a:r>
            <a:endParaRPr lang="en-US" sz="834" dirty="0"/>
          </a:p>
        </p:txBody>
      </p:sp>
      <p:sp>
        <p:nvSpPr>
          <p:cNvPr id="36" name="Text 31"/>
          <p:cNvSpPr/>
          <p:nvPr/>
        </p:nvSpPr>
        <p:spPr>
          <a:xfrm>
            <a:off x="3823022" y="2358275"/>
            <a:ext cx="1925855" cy="292894"/>
          </a:xfrm>
          <a:prstGeom prst="rect">
            <a:avLst/>
          </a:prstGeom>
          <a:noFill/>
          <a:ln/>
        </p:spPr>
        <p:txBody>
          <a:bodyPr wrap="square" lIns="85090" tIns="85090" rIns="85090" bIns="85090" rtlCol="0" anchor="ctr">
            <a:spAutoFit/>
          </a:bodyPr>
          <a:lstStyle/>
          <a:p>
            <a:pPr marL="0" indent="0" algn="ctr">
              <a:lnSpc>
                <a:spcPts val="1100"/>
              </a:lnSpc>
              <a:buNone/>
            </a:pPr>
            <a:r>
              <a:rPr lang="en-US" sz="834" dirty="0">
                <a:solidFill>
                  <a:srgbClr val="334155"/>
                </a:solidFill>
                <a:latin typeface="NanumGothic" pitchFamily="34" charset="0"/>
                <a:ea typeface="NanumGothic" pitchFamily="34" charset="-122"/>
                <a:cs typeface="NanumGothic" pitchFamily="34" charset="-120"/>
              </a:rPr>
              <a:t>~65ms</a:t>
            </a:r>
            <a:endParaRPr lang="en-US" sz="834" dirty="0"/>
          </a:p>
        </p:txBody>
      </p:sp>
      <p:sp>
        <p:nvSpPr>
          <p:cNvPr id="37" name="Text 32"/>
          <p:cNvSpPr/>
          <p:nvPr/>
        </p:nvSpPr>
        <p:spPr>
          <a:xfrm>
            <a:off x="5748877" y="2358275"/>
            <a:ext cx="1942319" cy="292894"/>
          </a:xfrm>
          <a:prstGeom prst="rect">
            <a:avLst/>
          </a:prstGeom>
          <a:noFill/>
          <a:ln/>
        </p:spPr>
        <p:txBody>
          <a:bodyPr wrap="square" lIns="85090" tIns="85090" rIns="85090" bIns="85090" rtlCol="0" anchor="ctr">
            <a:spAutoFit/>
          </a:bodyPr>
          <a:lstStyle/>
          <a:p>
            <a:pPr marL="0" indent="0" algn="ctr">
              <a:lnSpc>
                <a:spcPts val="1100"/>
              </a:lnSpc>
              <a:buNone/>
            </a:pPr>
            <a:r>
              <a:rPr lang="en-US" sz="834" dirty="0">
                <a:solidFill>
                  <a:srgbClr val="334155"/>
                </a:solidFill>
                <a:latin typeface="NanumGothic" pitchFamily="34" charset="0"/>
                <a:ea typeface="NanumGothic" pitchFamily="34" charset="-122"/>
                <a:cs typeface="NanumGothic" pitchFamily="34" charset="-120"/>
              </a:rPr>
              <a:t>2.09ms</a:t>
            </a:r>
            <a:endParaRPr lang="en-US" sz="834" dirty="0"/>
          </a:p>
        </p:txBody>
      </p:sp>
      <p:sp>
        <p:nvSpPr>
          <p:cNvPr id="38" name="Text 33"/>
          <p:cNvSpPr/>
          <p:nvPr/>
        </p:nvSpPr>
        <p:spPr>
          <a:xfrm>
            <a:off x="7691196" y="2358275"/>
            <a:ext cx="1020607" cy="292894"/>
          </a:xfrm>
          <a:prstGeom prst="rect">
            <a:avLst/>
          </a:prstGeom>
          <a:noFill/>
          <a:ln/>
        </p:spPr>
        <p:txBody>
          <a:bodyPr wrap="square" lIns="85090" tIns="85090" rIns="85090" bIns="85090" rtlCol="0" anchor="ctr">
            <a:spAutoFit/>
          </a:bodyPr>
          <a:lstStyle/>
          <a:p>
            <a:pPr marL="0" indent="0" algn="ctr">
              <a:lnSpc>
                <a:spcPts val="1100"/>
              </a:lnSpc>
              <a:buNone/>
            </a:pPr>
            <a:r>
              <a:rPr lang="en-US" sz="784" b="1" dirty="0">
                <a:solidFill>
                  <a:srgbClr val="2563EB"/>
                </a:solidFill>
                <a:latin typeface="NanumGothic" pitchFamily="34" charset="0"/>
                <a:ea typeface="NanumGothic" pitchFamily="34" charset="-122"/>
                <a:cs typeface="NanumGothic" pitchFamily="34" charset="-120"/>
              </a:rPr>
              <a:t>~31×</a:t>
            </a:r>
            <a:endParaRPr lang="en-US" sz="784" dirty="0"/>
          </a:p>
        </p:txBody>
      </p:sp>
      <p:pic>
        <p:nvPicPr>
          <p:cNvPr id="39" name="Image 2" descr="preencoded.png"/>
          <p:cNvPicPr>
            <a:picLocks noChangeAspect="1"/>
          </p:cNvPicPr>
          <p:nvPr/>
        </p:nvPicPr>
        <p:blipFill>
          <a:blip r:embed="rId5"/>
          <a:stretch>
            <a:fillRect/>
          </a:stretch>
        </p:blipFill>
        <p:spPr>
          <a:xfrm>
            <a:off x="428625" y="2869053"/>
            <a:ext cx="117872" cy="157163"/>
          </a:xfrm>
          <a:prstGeom prst="rect">
            <a:avLst/>
          </a:prstGeom>
        </p:spPr>
      </p:pic>
      <p:sp>
        <p:nvSpPr>
          <p:cNvPr id="40" name="Text 34"/>
          <p:cNvSpPr/>
          <p:nvPr/>
        </p:nvSpPr>
        <p:spPr>
          <a:xfrm>
            <a:off x="617934" y="2869946"/>
            <a:ext cx="934045" cy="155377"/>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2563EB"/>
                </a:solidFill>
                <a:latin typeface="NanumGothic" pitchFamily="34" charset="0"/>
                <a:ea typeface="NanumGothic" pitchFamily="34" charset="-122"/>
                <a:cs typeface="NanumGothic" pitchFamily="34" charset="-120"/>
              </a:rPr>
              <a:t>실무 권장사항</a:t>
            </a:r>
            <a:endParaRPr lang="en-US" sz="1090" dirty="0"/>
          </a:p>
        </p:txBody>
      </p:sp>
      <p:sp>
        <p:nvSpPr>
          <p:cNvPr id="41" name="Shape 35"/>
          <p:cNvSpPr/>
          <p:nvPr/>
        </p:nvSpPr>
        <p:spPr>
          <a:xfrm>
            <a:off x="428625" y="3133372"/>
            <a:ext cx="2666991" cy="821531"/>
          </a:xfrm>
          <a:prstGeom prst="rect">
            <a:avLst/>
          </a:prstGeom>
          <a:solidFill>
            <a:srgbClr val="F1F5F9"/>
          </a:solidFill>
          <a:ln/>
        </p:spPr>
        <p:txBody>
          <a:bodyPr/>
          <a:lstStyle/>
          <a:p>
            <a:endParaRPr lang="ko-KR" altLang="en-US"/>
          </a:p>
        </p:txBody>
      </p:sp>
      <p:pic>
        <p:nvPicPr>
          <p:cNvPr id="42" name="Image 3" descr="preencoded.png"/>
          <p:cNvPicPr>
            <a:picLocks noChangeAspect="1"/>
          </p:cNvPicPr>
          <p:nvPr/>
        </p:nvPicPr>
        <p:blipFill>
          <a:blip r:embed="rId6"/>
          <a:stretch>
            <a:fillRect/>
          </a:stretch>
        </p:blipFill>
        <p:spPr>
          <a:xfrm>
            <a:off x="571500" y="3240528"/>
            <a:ext cx="128588" cy="128588"/>
          </a:xfrm>
          <a:prstGeom prst="rect">
            <a:avLst/>
          </a:prstGeom>
        </p:spPr>
      </p:pic>
      <p:sp>
        <p:nvSpPr>
          <p:cNvPr id="43" name="Text 36"/>
          <p:cNvSpPr/>
          <p:nvPr/>
        </p:nvSpPr>
        <p:spPr>
          <a:xfrm>
            <a:off x="771525" y="3247672"/>
            <a:ext cx="792956" cy="114300"/>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334155"/>
                </a:solidFill>
                <a:latin typeface="NanumGothic" pitchFamily="34" charset="0"/>
                <a:ea typeface="NanumGothic" pitchFamily="34" charset="-122"/>
                <a:cs typeface="NanumGothic" pitchFamily="34" charset="-120"/>
              </a:rPr>
              <a:t>파워트레인/섀시</a:t>
            </a:r>
            <a:endParaRPr lang="en-US" sz="784" dirty="0"/>
          </a:p>
        </p:txBody>
      </p:sp>
      <p:sp>
        <p:nvSpPr>
          <p:cNvPr id="44" name="Text 37"/>
          <p:cNvSpPr/>
          <p:nvPr/>
        </p:nvSpPr>
        <p:spPr>
          <a:xfrm>
            <a:off x="571500" y="3426265"/>
            <a:ext cx="2381241" cy="300038"/>
          </a:xfrm>
          <a:prstGeom prst="rect">
            <a:avLst/>
          </a:prstGeom>
          <a:noFill/>
          <a:ln/>
        </p:spPr>
        <p:txBody>
          <a:bodyPr wrap="square" lIns="0" tIns="0" rIns="0" bIns="0" rtlCol="0" anchor="t">
            <a:spAutoFit/>
          </a:bodyPr>
          <a:lstStyle/>
          <a:p>
            <a:pPr marL="0" indent="0" algn="l">
              <a:lnSpc>
                <a:spcPts val="1200"/>
              </a:lnSpc>
              <a:buNone/>
            </a:pPr>
            <a:r>
              <a:rPr lang="en-US" sz="780" dirty="0">
                <a:solidFill>
                  <a:srgbClr val="475569"/>
                </a:solidFill>
                <a:latin typeface="NanumGothic" pitchFamily="34" charset="0"/>
                <a:ea typeface="NanumGothic" pitchFamily="34" charset="-122"/>
                <a:cs typeface="NanumGothic" pitchFamily="34" charset="-120"/>
              </a:rPr>
              <a:t>4~8 ECU 환경: SMAUG-T1 또는 ML-KEM-512 + staggered 방식 권장</a:t>
            </a:r>
            <a:endParaRPr lang="en-US" sz="780" dirty="0"/>
          </a:p>
        </p:txBody>
      </p:sp>
      <p:sp>
        <p:nvSpPr>
          <p:cNvPr id="45" name="Shape 38"/>
          <p:cNvSpPr/>
          <p:nvPr/>
        </p:nvSpPr>
        <p:spPr>
          <a:xfrm>
            <a:off x="3238491" y="3133372"/>
            <a:ext cx="2666991" cy="821531"/>
          </a:xfrm>
          <a:prstGeom prst="rect">
            <a:avLst/>
          </a:prstGeom>
          <a:solidFill>
            <a:srgbClr val="F1F5F9"/>
          </a:solidFill>
          <a:ln/>
        </p:spPr>
        <p:txBody>
          <a:bodyPr/>
          <a:lstStyle/>
          <a:p>
            <a:endParaRPr lang="ko-KR" altLang="en-US"/>
          </a:p>
        </p:txBody>
      </p:sp>
      <p:pic>
        <p:nvPicPr>
          <p:cNvPr id="46" name="Image 4" descr="preencoded.png"/>
          <p:cNvPicPr>
            <a:picLocks noChangeAspect="1"/>
          </p:cNvPicPr>
          <p:nvPr/>
        </p:nvPicPr>
        <p:blipFill>
          <a:blip r:embed="rId7"/>
          <a:stretch>
            <a:fillRect/>
          </a:stretch>
        </p:blipFill>
        <p:spPr>
          <a:xfrm>
            <a:off x="3381366" y="3240528"/>
            <a:ext cx="128588" cy="128588"/>
          </a:xfrm>
          <a:prstGeom prst="rect">
            <a:avLst/>
          </a:prstGeom>
        </p:spPr>
      </p:pic>
      <p:sp>
        <p:nvSpPr>
          <p:cNvPr id="47" name="Text 39"/>
          <p:cNvSpPr/>
          <p:nvPr/>
        </p:nvSpPr>
        <p:spPr>
          <a:xfrm>
            <a:off x="3581391" y="3247672"/>
            <a:ext cx="460772" cy="114300"/>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334155"/>
                </a:solidFill>
                <a:latin typeface="NanumGothic" pitchFamily="34" charset="0"/>
                <a:ea typeface="NanumGothic" pitchFamily="34" charset="-122"/>
                <a:cs typeface="NanumGothic" pitchFamily="34" charset="-120"/>
              </a:rPr>
              <a:t>진단 인증</a:t>
            </a:r>
            <a:endParaRPr lang="en-US" sz="784" dirty="0"/>
          </a:p>
        </p:txBody>
      </p:sp>
      <p:sp>
        <p:nvSpPr>
          <p:cNvPr id="48" name="Text 40"/>
          <p:cNvSpPr/>
          <p:nvPr/>
        </p:nvSpPr>
        <p:spPr>
          <a:xfrm>
            <a:off x="3381366" y="3426265"/>
            <a:ext cx="2381241" cy="300038"/>
          </a:xfrm>
          <a:prstGeom prst="rect">
            <a:avLst/>
          </a:prstGeom>
          <a:noFill/>
          <a:ln/>
        </p:spPr>
        <p:txBody>
          <a:bodyPr wrap="square" lIns="0" tIns="0" rIns="0" bIns="0" rtlCol="0" anchor="t">
            <a:spAutoFit/>
          </a:bodyPr>
          <a:lstStyle/>
          <a:p>
            <a:pPr marL="0" indent="0" algn="l">
              <a:lnSpc>
                <a:spcPts val="1200"/>
              </a:lnSpc>
              <a:buNone/>
            </a:pPr>
            <a:r>
              <a:rPr lang="en-US" sz="780" dirty="0">
                <a:solidFill>
                  <a:srgbClr val="475569"/>
                </a:solidFill>
                <a:latin typeface="NanumGothic" pitchFamily="34" charset="0"/>
                <a:ea typeface="NanumGothic" pitchFamily="34" charset="-122"/>
                <a:cs typeface="NanumGothic" pitchFamily="34" charset="-120"/>
              </a:rPr>
              <a:t>FN-DSA-512 권장: 모든 실험 조건에서 실현 가능(Feasible) 확인</a:t>
            </a:r>
            <a:endParaRPr lang="en-US" sz="780" dirty="0"/>
          </a:p>
        </p:txBody>
      </p:sp>
      <p:sp>
        <p:nvSpPr>
          <p:cNvPr id="49" name="Shape 41"/>
          <p:cNvSpPr/>
          <p:nvPr/>
        </p:nvSpPr>
        <p:spPr>
          <a:xfrm>
            <a:off x="6048356" y="3133372"/>
            <a:ext cx="2667019" cy="821531"/>
          </a:xfrm>
          <a:prstGeom prst="rect">
            <a:avLst/>
          </a:prstGeom>
          <a:solidFill>
            <a:srgbClr val="F1F5F9"/>
          </a:solidFill>
          <a:ln/>
        </p:spPr>
        <p:txBody>
          <a:bodyPr/>
          <a:lstStyle/>
          <a:p>
            <a:endParaRPr lang="ko-KR" altLang="en-US"/>
          </a:p>
        </p:txBody>
      </p:sp>
      <p:pic>
        <p:nvPicPr>
          <p:cNvPr id="50" name="Image 5" descr="preencoded.png"/>
          <p:cNvPicPr>
            <a:picLocks noChangeAspect="1"/>
          </p:cNvPicPr>
          <p:nvPr/>
        </p:nvPicPr>
        <p:blipFill>
          <a:blip r:embed="rId8"/>
          <a:stretch>
            <a:fillRect/>
          </a:stretch>
        </p:blipFill>
        <p:spPr>
          <a:xfrm>
            <a:off x="6191231" y="3240528"/>
            <a:ext cx="128588" cy="128588"/>
          </a:xfrm>
          <a:prstGeom prst="rect">
            <a:avLst/>
          </a:prstGeom>
        </p:spPr>
      </p:pic>
      <p:sp>
        <p:nvSpPr>
          <p:cNvPr id="51" name="Text 42"/>
          <p:cNvSpPr/>
          <p:nvPr/>
        </p:nvSpPr>
        <p:spPr>
          <a:xfrm>
            <a:off x="6391256" y="3247672"/>
            <a:ext cx="575072" cy="114300"/>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334155"/>
                </a:solidFill>
                <a:latin typeface="NanumGothic" pitchFamily="34" charset="0"/>
                <a:ea typeface="NanumGothic" pitchFamily="34" charset="-122"/>
                <a:cs typeface="NanumGothic" pitchFamily="34" charset="-120"/>
              </a:rPr>
              <a:t>8 ECU 초과</a:t>
            </a:r>
            <a:endParaRPr lang="en-US" sz="784" dirty="0"/>
          </a:p>
        </p:txBody>
      </p:sp>
      <p:sp>
        <p:nvSpPr>
          <p:cNvPr id="52" name="Text 43"/>
          <p:cNvSpPr/>
          <p:nvPr/>
        </p:nvSpPr>
        <p:spPr>
          <a:xfrm>
            <a:off x="6191231" y="3426265"/>
            <a:ext cx="2381269" cy="300038"/>
          </a:xfrm>
          <a:prstGeom prst="rect">
            <a:avLst/>
          </a:prstGeom>
          <a:noFill/>
          <a:ln/>
        </p:spPr>
        <p:txBody>
          <a:bodyPr wrap="square" lIns="0" tIns="0" rIns="0" bIns="0" rtlCol="0" anchor="t">
            <a:spAutoFit/>
          </a:bodyPr>
          <a:lstStyle/>
          <a:p>
            <a:pPr marL="0" indent="0" algn="l">
              <a:lnSpc>
                <a:spcPts val="1200"/>
              </a:lnSpc>
              <a:buNone/>
            </a:pPr>
            <a:r>
              <a:rPr lang="en-US" sz="780" dirty="0">
                <a:solidFill>
                  <a:srgbClr val="475569"/>
                </a:solidFill>
                <a:latin typeface="NanumGothic" pitchFamily="34" charset="0"/>
                <a:ea typeface="NanumGothic" pitchFamily="34" charset="-122"/>
                <a:cs typeface="NanumGothic" pitchFamily="34" charset="-120"/>
              </a:rPr>
              <a:t>KEM 전송 시 대역폭 확보를 위해 Automotive Ethernet 오프로딩 필요</a:t>
            </a:r>
            <a:endParaRPr lang="en-US" sz="780" dirty="0"/>
          </a:p>
        </p:txBody>
      </p:sp>
      <p:sp>
        <p:nvSpPr>
          <p:cNvPr id="53" name="Shape 44"/>
          <p:cNvSpPr/>
          <p:nvPr/>
        </p:nvSpPr>
        <p:spPr>
          <a:xfrm>
            <a:off x="428625" y="4097778"/>
            <a:ext cx="2666991" cy="821531"/>
          </a:xfrm>
          <a:prstGeom prst="rect">
            <a:avLst/>
          </a:prstGeom>
          <a:solidFill>
            <a:srgbClr val="F1F5F9"/>
          </a:solidFill>
          <a:ln/>
        </p:spPr>
        <p:txBody>
          <a:bodyPr/>
          <a:lstStyle/>
          <a:p>
            <a:endParaRPr lang="ko-KR" altLang="en-US"/>
          </a:p>
        </p:txBody>
      </p:sp>
      <p:pic>
        <p:nvPicPr>
          <p:cNvPr id="54" name="Image 6" descr="preencoded.png"/>
          <p:cNvPicPr>
            <a:picLocks noChangeAspect="1"/>
          </p:cNvPicPr>
          <p:nvPr/>
        </p:nvPicPr>
        <p:blipFill>
          <a:blip r:embed="rId9"/>
          <a:stretch>
            <a:fillRect/>
          </a:stretch>
        </p:blipFill>
        <p:spPr>
          <a:xfrm>
            <a:off x="571500" y="4204934"/>
            <a:ext cx="96441" cy="128588"/>
          </a:xfrm>
          <a:prstGeom prst="rect">
            <a:avLst/>
          </a:prstGeom>
        </p:spPr>
      </p:pic>
      <p:sp>
        <p:nvSpPr>
          <p:cNvPr id="55" name="Text 45"/>
          <p:cNvSpPr/>
          <p:nvPr/>
        </p:nvSpPr>
        <p:spPr>
          <a:xfrm>
            <a:off x="739378" y="4212078"/>
            <a:ext cx="801886" cy="114300"/>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334155"/>
                </a:solidFill>
                <a:latin typeface="NanumGothic" pitchFamily="34" charset="0"/>
                <a:ea typeface="NanumGothic" pitchFamily="34" charset="-122"/>
                <a:cs typeface="NanumGothic" pitchFamily="34" charset="-120"/>
              </a:rPr>
              <a:t>Borderline DSA</a:t>
            </a:r>
            <a:endParaRPr lang="en-US" sz="784" dirty="0"/>
          </a:p>
        </p:txBody>
      </p:sp>
      <p:sp>
        <p:nvSpPr>
          <p:cNvPr id="56" name="Text 46"/>
          <p:cNvSpPr/>
          <p:nvPr/>
        </p:nvSpPr>
        <p:spPr>
          <a:xfrm>
            <a:off x="571500" y="4390672"/>
            <a:ext cx="2381241" cy="300038"/>
          </a:xfrm>
          <a:prstGeom prst="rect">
            <a:avLst/>
          </a:prstGeom>
          <a:noFill/>
          <a:ln/>
        </p:spPr>
        <p:txBody>
          <a:bodyPr wrap="square" lIns="0" tIns="0" rIns="0" bIns="0" rtlCol="0" anchor="t">
            <a:spAutoFit/>
          </a:bodyPr>
          <a:lstStyle/>
          <a:p>
            <a:pPr marL="0" indent="0" algn="l">
              <a:lnSpc>
                <a:spcPts val="1200"/>
              </a:lnSpc>
              <a:buNone/>
            </a:pPr>
            <a:r>
              <a:rPr lang="en-US" sz="780" dirty="0">
                <a:solidFill>
                  <a:srgbClr val="475569"/>
                </a:solidFill>
                <a:latin typeface="NanumGothic" pitchFamily="34" charset="0"/>
                <a:ea typeface="NanumGothic" pitchFamily="34" charset="-122"/>
                <a:cs typeface="NanumGothic" pitchFamily="34" charset="-120"/>
              </a:rPr>
              <a:t>5~10ms Reserved Window 적용을 통해 실현가능성 확보 가능</a:t>
            </a:r>
            <a:endParaRPr lang="en-US" sz="780" dirty="0"/>
          </a:p>
        </p:txBody>
      </p:sp>
      <p:sp>
        <p:nvSpPr>
          <p:cNvPr id="57" name="Shape 47"/>
          <p:cNvSpPr/>
          <p:nvPr/>
        </p:nvSpPr>
        <p:spPr>
          <a:xfrm>
            <a:off x="3238491" y="4097778"/>
            <a:ext cx="5476884" cy="821531"/>
          </a:xfrm>
          <a:prstGeom prst="rect">
            <a:avLst/>
          </a:prstGeom>
          <a:solidFill>
            <a:srgbClr val="F1F5F9"/>
          </a:solidFill>
          <a:ln/>
        </p:spPr>
        <p:txBody>
          <a:bodyPr/>
          <a:lstStyle/>
          <a:p>
            <a:endParaRPr lang="ko-KR" altLang="en-US"/>
          </a:p>
        </p:txBody>
      </p:sp>
      <p:pic>
        <p:nvPicPr>
          <p:cNvPr id="58" name="Image 7" descr="preencoded.png"/>
          <p:cNvPicPr>
            <a:picLocks noChangeAspect="1"/>
          </p:cNvPicPr>
          <p:nvPr/>
        </p:nvPicPr>
        <p:blipFill>
          <a:blip r:embed="rId10"/>
          <a:stretch>
            <a:fillRect/>
          </a:stretch>
        </p:blipFill>
        <p:spPr>
          <a:xfrm>
            <a:off x="3381366" y="4204934"/>
            <a:ext cx="128588" cy="128588"/>
          </a:xfrm>
          <a:prstGeom prst="rect">
            <a:avLst/>
          </a:prstGeom>
        </p:spPr>
      </p:pic>
      <p:sp>
        <p:nvSpPr>
          <p:cNvPr id="59" name="Text 48"/>
          <p:cNvSpPr/>
          <p:nvPr/>
        </p:nvSpPr>
        <p:spPr>
          <a:xfrm>
            <a:off x="3581391" y="4212078"/>
            <a:ext cx="1151930" cy="114300"/>
          </a:xfrm>
          <a:prstGeom prst="rect">
            <a:avLst/>
          </a:prstGeom>
          <a:noFill/>
          <a:ln/>
        </p:spPr>
        <p:txBody>
          <a:bodyPr wrap="none" lIns="0" tIns="0" rIns="0" bIns="0" rtlCol="0" anchor="t">
            <a:spAutoFit/>
          </a:bodyPr>
          <a:lstStyle/>
          <a:p>
            <a:pPr marL="0" indent="0" algn="l">
              <a:lnSpc>
                <a:spcPts val="1100"/>
              </a:lnSpc>
              <a:buNone/>
            </a:pPr>
            <a:r>
              <a:rPr lang="en-US" sz="784" b="1" dirty="0">
                <a:solidFill>
                  <a:srgbClr val="334155"/>
                </a:solidFill>
                <a:latin typeface="NanumGothic" pitchFamily="34" charset="0"/>
                <a:ea typeface="NanumGothic" pitchFamily="34" charset="-122"/>
                <a:cs typeface="NanumGothic" pitchFamily="34" charset="-120"/>
              </a:rPr>
              <a:t>16-ECU Simultaneous</a:t>
            </a:r>
            <a:endParaRPr lang="en-US" sz="784" dirty="0"/>
          </a:p>
        </p:txBody>
      </p:sp>
      <p:sp>
        <p:nvSpPr>
          <p:cNvPr id="60" name="Text 49"/>
          <p:cNvSpPr/>
          <p:nvPr/>
        </p:nvSpPr>
        <p:spPr>
          <a:xfrm>
            <a:off x="3381366" y="4390672"/>
            <a:ext cx="5191134" cy="150019"/>
          </a:xfrm>
          <a:prstGeom prst="rect">
            <a:avLst/>
          </a:prstGeom>
          <a:noFill/>
          <a:ln/>
        </p:spPr>
        <p:txBody>
          <a:bodyPr wrap="none" lIns="0" tIns="0" rIns="0" bIns="0" rtlCol="0" anchor="t">
            <a:spAutoFit/>
          </a:bodyPr>
          <a:lstStyle/>
          <a:p>
            <a:pPr marL="0" indent="0" algn="l">
              <a:lnSpc>
                <a:spcPts val="1200"/>
              </a:lnSpc>
              <a:buNone/>
            </a:pPr>
            <a:r>
              <a:rPr lang="en-US" sz="780" dirty="0">
                <a:solidFill>
                  <a:srgbClr val="475569"/>
                </a:solidFill>
                <a:latin typeface="NanumGothic" pitchFamily="34" charset="0"/>
                <a:ea typeface="NanumGothic" pitchFamily="34" charset="-122"/>
                <a:cs typeface="NanumGothic" pitchFamily="34" charset="-120"/>
              </a:rPr>
              <a:t>모든 알고리즘에서 Infeasible 판정: CAN-FD 환경에서 동시 전송 불가</a:t>
            </a:r>
            <a:endParaRPr lang="en-US" sz="780" dirty="0"/>
          </a:p>
        </p:txBody>
      </p:sp>
      <p:sp>
        <p:nvSpPr>
          <p:cNvPr id="61" name="Text 50"/>
          <p:cNvSpPr/>
          <p:nvPr/>
        </p:nvSpPr>
        <p:spPr>
          <a:xfrm>
            <a:off x="0" y="4875609"/>
            <a:ext cx="9144000" cy="125016"/>
          </a:xfrm>
          <a:prstGeom prst="rect">
            <a:avLst/>
          </a:prstGeom>
          <a:noFill/>
          <a:ln/>
        </p:spPr>
        <p:txBody>
          <a:bodyPr wrap="none" lIns="0" tIns="0" rIns="0" bIns="0" rtlCol="0" anchor="t">
            <a:spAutoFit/>
          </a:bodyPr>
          <a:lstStyle/>
          <a:p>
            <a:pPr marL="0" indent="0" algn="ctr">
              <a:lnSpc>
                <a:spcPts val="900"/>
              </a:lnSpc>
              <a:buNone/>
            </a:pPr>
            <a:r>
              <a:rPr lang="en-US" sz="727" dirty="0">
                <a:solidFill>
                  <a:srgbClr val="94A3B8"/>
                </a:solidFill>
                <a:latin typeface="NanumGothic" pitchFamily="34" charset="0"/>
                <a:ea typeface="NanumGothic" pitchFamily="34" charset="-122"/>
                <a:cs typeface="NanumGothic" pitchFamily="34" charset="-120"/>
              </a:rPr>
              <a:t>14</a:t>
            </a:r>
            <a:endParaRPr lang="en-US" sz="727"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0" y="0"/>
            <a:ext cx="9144000" cy="797365"/>
          </a:xfrm>
          <a:prstGeom prst="rect">
            <a:avLst/>
          </a:prstGeom>
          <a:solidFill>
            <a:srgbClr val="000000">
              <a:alpha val="0"/>
            </a:srgbClr>
          </a:solidFill>
          <a:ln/>
        </p:spPr>
        <p:txBody>
          <a:bodyPr/>
          <a:lstStyle/>
          <a:p>
            <a:endParaRPr lang="ko-KR" altLang="en-US"/>
          </a:p>
        </p:txBody>
      </p:sp>
      <p:sp>
        <p:nvSpPr>
          <p:cNvPr id="5" name="Shape 1"/>
          <p:cNvSpPr/>
          <p:nvPr/>
        </p:nvSpPr>
        <p:spPr>
          <a:xfrm>
            <a:off x="0" y="783078"/>
            <a:ext cx="9144000" cy="14288"/>
          </a:xfrm>
          <a:prstGeom prst="rect">
            <a:avLst/>
          </a:prstGeom>
          <a:solidFill>
            <a:srgbClr val="F1F5F9"/>
          </a:solidFill>
          <a:ln/>
        </p:spPr>
        <p:txBody>
          <a:bodyPr/>
          <a:lstStyle/>
          <a:p>
            <a:endParaRPr lang="ko-KR" altLang="en-US"/>
          </a:p>
        </p:txBody>
      </p:sp>
      <p:sp>
        <p:nvSpPr>
          <p:cNvPr id="6" name="Text 2"/>
          <p:cNvSpPr/>
          <p:nvPr/>
        </p:nvSpPr>
        <p:spPr>
          <a:xfrm>
            <a:off x="428625" y="458037"/>
            <a:ext cx="8715375" cy="253603"/>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0F172A"/>
                </a:solidFill>
                <a:latin typeface="NanumGothic" pitchFamily="34" charset="0"/>
                <a:ea typeface="NanumGothic" pitchFamily="34" charset="-122"/>
                <a:cs typeface="NanumGothic" pitchFamily="34" charset="-120"/>
              </a:rPr>
              <a:t>한계 + 향후 연구</a:t>
            </a:r>
            <a:endParaRPr lang="en-US" sz="1808" dirty="0"/>
          </a:p>
        </p:txBody>
      </p:sp>
      <p:pic>
        <p:nvPicPr>
          <p:cNvPr id="7" name="Image 1" descr="preencoded.png"/>
          <p:cNvPicPr>
            <a:picLocks noChangeAspect="1"/>
          </p:cNvPicPr>
          <p:nvPr/>
        </p:nvPicPr>
        <p:blipFill>
          <a:blip r:embed="rId4"/>
          <a:stretch>
            <a:fillRect/>
          </a:stretch>
        </p:blipFill>
        <p:spPr>
          <a:xfrm>
            <a:off x="428625" y="997390"/>
            <a:ext cx="171450" cy="171450"/>
          </a:xfrm>
          <a:prstGeom prst="rect">
            <a:avLst/>
          </a:prstGeom>
        </p:spPr>
      </p:pic>
      <p:sp>
        <p:nvSpPr>
          <p:cNvPr id="8" name="Text 3"/>
          <p:cNvSpPr/>
          <p:nvPr/>
        </p:nvSpPr>
        <p:spPr>
          <a:xfrm>
            <a:off x="685800" y="997390"/>
            <a:ext cx="851892" cy="171450"/>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2563EB"/>
                </a:solidFill>
                <a:latin typeface="NanumGothic" pitchFamily="34" charset="0"/>
                <a:ea typeface="NanumGothic" pitchFamily="34" charset="-122"/>
                <a:cs typeface="NanumGothic" pitchFamily="34" charset="-120"/>
              </a:rPr>
              <a:t>연구의 한계</a:t>
            </a:r>
            <a:endParaRPr lang="en-US" sz="1193" dirty="0"/>
          </a:p>
        </p:txBody>
      </p:sp>
      <p:pic>
        <p:nvPicPr>
          <p:cNvPr id="9" name="Image 2" descr="preencoded.png"/>
          <p:cNvPicPr>
            <a:picLocks noChangeAspect="1"/>
          </p:cNvPicPr>
          <p:nvPr/>
        </p:nvPicPr>
        <p:blipFill>
          <a:blip r:embed="rId5"/>
          <a:stretch>
            <a:fillRect/>
          </a:stretch>
        </p:blipFill>
        <p:spPr>
          <a:xfrm>
            <a:off x="428625" y="1347434"/>
            <a:ext cx="100013" cy="114300"/>
          </a:xfrm>
          <a:prstGeom prst="rect">
            <a:avLst/>
          </a:prstGeom>
        </p:spPr>
      </p:pic>
      <p:sp>
        <p:nvSpPr>
          <p:cNvPr id="10" name="Text 4"/>
          <p:cNvSpPr/>
          <p:nvPr/>
        </p:nvSpPr>
        <p:spPr>
          <a:xfrm>
            <a:off x="642938" y="1311715"/>
            <a:ext cx="3714750" cy="205718"/>
          </a:xfrm>
          <a:prstGeom prst="rect">
            <a:avLst/>
          </a:prstGeom>
          <a:noFill/>
          <a:ln/>
        </p:spPr>
        <p:txBody>
          <a:bodyPr wrap="none" lIns="0" tIns="0" rIns="0" bIns="0" rtlCol="0" anchor="t">
            <a:spAutoFit/>
          </a:bodyPr>
          <a:lstStyle/>
          <a:p>
            <a:pPr marL="0" indent="0" algn="l">
              <a:lnSpc>
                <a:spcPts val="1600"/>
              </a:lnSpc>
              <a:buNone/>
            </a:pPr>
            <a:r>
              <a:rPr lang="en-US" sz="885" b="1" dirty="0">
                <a:solidFill>
                  <a:srgbClr val="0F172A"/>
                </a:solidFill>
                <a:latin typeface="NanumGothic" pitchFamily="34" charset="0"/>
                <a:ea typeface="NanumGothic" pitchFamily="34" charset="-122"/>
                <a:cs typeface="NanumGothic" pitchFamily="34" charset="-120"/>
              </a:rPr>
              <a:t>결정론적 프레임 타이밍</a:t>
            </a:r>
            <a:endParaRPr lang="en-US" sz="885" dirty="0"/>
          </a:p>
        </p:txBody>
      </p:sp>
      <p:sp>
        <p:nvSpPr>
          <p:cNvPr id="11" name="Text 5"/>
          <p:cNvSpPr/>
          <p:nvPr/>
        </p:nvSpPr>
        <p:spPr>
          <a:xfrm>
            <a:off x="642938" y="1583513"/>
            <a:ext cx="3561159" cy="128588"/>
          </a:xfrm>
          <a:prstGeom prst="rect">
            <a:avLst/>
          </a:prstGeom>
          <a:noFill/>
          <a:ln/>
        </p:spPr>
        <p:txBody>
          <a:bodyPr wrap="none" lIns="0" tIns="0" rIns="0" bIns="0" rtlCol="0" anchor="t">
            <a:spAutoFit/>
          </a:bodyPr>
          <a:lstStyle/>
          <a:p>
            <a:pPr marL="0" indent="0" algn="l">
              <a:lnSpc>
                <a:spcPts val="1600"/>
              </a:lnSpc>
              <a:buNone/>
            </a:pPr>
            <a:r>
              <a:rPr lang="en-US" sz="942" dirty="0">
                <a:solidFill>
                  <a:srgbClr val="475569"/>
                </a:solidFill>
                <a:latin typeface="NanumGothic" pitchFamily="34" charset="0"/>
                <a:ea typeface="NanumGothic" pitchFamily="34" charset="-122"/>
                <a:cs typeface="NanumGothic" pitchFamily="34" charset="-120"/>
              </a:rPr>
              <a:t>비트 에러 및 재전송 미모델링 (실제 환경의 경계는 더 타이트할 수</a:t>
            </a:r>
            <a:endParaRPr lang="en-US" sz="942" dirty="0"/>
          </a:p>
        </p:txBody>
      </p:sp>
      <p:sp>
        <p:nvSpPr>
          <p:cNvPr id="12" name="Text 6"/>
          <p:cNvSpPr/>
          <p:nvPr/>
        </p:nvSpPr>
        <p:spPr>
          <a:xfrm>
            <a:off x="642938" y="1789230"/>
            <a:ext cx="289322" cy="128588"/>
          </a:xfrm>
          <a:prstGeom prst="rect">
            <a:avLst/>
          </a:prstGeom>
          <a:noFill/>
          <a:ln/>
        </p:spPr>
        <p:txBody>
          <a:bodyPr wrap="none" lIns="0" tIns="0" rIns="0" bIns="0" rtlCol="0" anchor="t">
            <a:spAutoFit/>
          </a:bodyPr>
          <a:lstStyle/>
          <a:p>
            <a:pPr marL="0" indent="0" algn="l">
              <a:lnSpc>
                <a:spcPts val="1600"/>
              </a:lnSpc>
              <a:buNone/>
            </a:pPr>
            <a:r>
              <a:rPr lang="en-US" sz="942" dirty="0">
                <a:solidFill>
                  <a:srgbClr val="475569"/>
                </a:solidFill>
                <a:latin typeface="NanumGothic" pitchFamily="34" charset="0"/>
                <a:ea typeface="NanumGothic" pitchFamily="34" charset="-122"/>
                <a:cs typeface="NanumGothic" pitchFamily="34" charset="-120"/>
              </a:rPr>
              <a:t>있음)</a:t>
            </a:r>
            <a:endParaRPr lang="en-US" sz="942" dirty="0"/>
          </a:p>
        </p:txBody>
      </p:sp>
      <p:pic>
        <p:nvPicPr>
          <p:cNvPr id="13" name="Image 3" descr="preencoded.png"/>
          <p:cNvPicPr>
            <a:picLocks noChangeAspect="1"/>
          </p:cNvPicPr>
          <p:nvPr/>
        </p:nvPicPr>
        <p:blipFill>
          <a:blip r:embed="rId6"/>
          <a:stretch>
            <a:fillRect/>
          </a:stretch>
        </p:blipFill>
        <p:spPr>
          <a:xfrm>
            <a:off x="428625" y="2136037"/>
            <a:ext cx="100013" cy="114300"/>
          </a:xfrm>
          <a:prstGeom prst="rect">
            <a:avLst/>
          </a:prstGeom>
        </p:spPr>
      </p:pic>
      <p:sp>
        <p:nvSpPr>
          <p:cNvPr id="14" name="Text 7"/>
          <p:cNvSpPr/>
          <p:nvPr/>
        </p:nvSpPr>
        <p:spPr>
          <a:xfrm>
            <a:off x="642938" y="2100318"/>
            <a:ext cx="3714750" cy="205718"/>
          </a:xfrm>
          <a:prstGeom prst="rect">
            <a:avLst/>
          </a:prstGeom>
          <a:noFill/>
          <a:ln/>
        </p:spPr>
        <p:txBody>
          <a:bodyPr wrap="none" lIns="0" tIns="0" rIns="0" bIns="0" rtlCol="0" anchor="t">
            <a:spAutoFit/>
          </a:bodyPr>
          <a:lstStyle/>
          <a:p>
            <a:pPr marL="0" indent="0" algn="l">
              <a:lnSpc>
                <a:spcPts val="1600"/>
              </a:lnSpc>
              <a:buNone/>
            </a:pPr>
            <a:r>
              <a:rPr lang="en-US" sz="885" b="1" dirty="0">
                <a:solidFill>
                  <a:srgbClr val="0F172A"/>
                </a:solidFill>
                <a:latin typeface="NanumGothic" pitchFamily="34" charset="0"/>
                <a:ea typeface="NanumGothic" pitchFamily="34" charset="-122"/>
                <a:cs typeface="NanumGothic" pitchFamily="34" charset="-120"/>
              </a:rPr>
              <a:t>단일 CAN-FD 버스 환경</a:t>
            </a:r>
            <a:endParaRPr lang="en-US" sz="885" dirty="0"/>
          </a:p>
        </p:txBody>
      </p:sp>
      <p:sp>
        <p:nvSpPr>
          <p:cNvPr id="15" name="Text 8"/>
          <p:cNvSpPr/>
          <p:nvPr/>
        </p:nvSpPr>
        <p:spPr>
          <a:xfrm>
            <a:off x="642938" y="2372116"/>
            <a:ext cx="2050256" cy="128588"/>
          </a:xfrm>
          <a:prstGeom prst="rect">
            <a:avLst/>
          </a:prstGeom>
          <a:noFill/>
          <a:ln/>
        </p:spPr>
        <p:txBody>
          <a:bodyPr wrap="none" lIns="0" tIns="0" rIns="0" bIns="0" rtlCol="0" anchor="t">
            <a:spAutoFit/>
          </a:bodyPr>
          <a:lstStyle/>
          <a:p>
            <a:pPr marL="0" indent="0" algn="l">
              <a:lnSpc>
                <a:spcPts val="1600"/>
              </a:lnSpc>
              <a:buNone/>
            </a:pPr>
            <a:r>
              <a:rPr lang="en-US" sz="942" dirty="0">
                <a:solidFill>
                  <a:srgbClr val="475569"/>
                </a:solidFill>
                <a:latin typeface="NanumGothic" pitchFamily="34" charset="0"/>
                <a:ea typeface="NanumGothic" pitchFamily="34" charset="-122"/>
                <a:cs typeface="NanumGothic" pitchFamily="34" charset="-120"/>
              </a:rPr>
              <a:t>멀티버스 게이트웨이 토폴로지 미포함</a:t>
            </a:r>
            <a:endParaRPr lang="en-US" sz="942" dirty="0"/>
          </a:p>
        </p:txBody>
      </p:sp>
      <p:pic>
        <p:nvPicPr>
          <p:cNvPr id="16" name="Image 4" descr="preencoded.png"/>
          <p:cNvPicPr>
            <a:picLocks noChangeAspect="1"/>
          </p:cNvPicPr>
          <p:nvPr/>
        </p:nvPicPr>
        <p:blipFill>
          <a:blip r:embed="rId5"/>
          <a:stretch>
            <a:fillRect/>
          </a:stretch>
        </p:blipFill>
        <p:spPr>
          <a:xfrm>
            <a:off x="428625" y="2718922"/>
            <a:ext cx="100013" cy="114300"/>
          </a:xfrm>
          <a:prstGeom prst="rect">
            <a:avLst/>
          </a:prstGeom>
        </p:spPr>
      </p:pic>
      <p:sp>
        <p:nvSpPr>
          <p:cNvPr id="17" name="Text 9"/>
          <p:cNvSpPr/>
          <p:nvPr/>
        </p:nvSpPr>
        <p:spPr>
          <a:xfrm>
            <a:off x="642938" y="2683204"/>
            <a:ext cx="3714750" cy="205718"/>
          </a:xfrm>
          <a:prstGeom prst="rect">
            <a:avLst/>
          </a:prstGeom>
          <a:noFill/>
          <a:ln/>
        </p:spPr>
        <p:txBody>
          <a:bodyPr wrap="none" lIns="0" tIns="0" rIns="0" bIns="0" rtlCol="0" anchor="t">
            <a:spAutoFit/>
          </a:bodyPr>
          <a:lstStyle/>
          <a:p>
            <a:pPr marL="0" indent="0" algn="l">
              <a:lnSpc>
                <a:spcPts val="1600"/>
              </a:lnSpc>
              <a:buNone/>
            </a:pPr>
            <a:r>
              <a:rPr lang="en-US" sz="885" b="1" dirty="0">
                <a:solidFill>
                  <a:srgbClr val="0F172A"/>
                </a:solidFill>
                <a:latin typeface="NanumGothic" pitchFamily="34" charset="0"/>
                <a:ea typeface="NanumGothic" pitchFamily="34" charset="-122"/>
                <a:cs typeface="NanumGothic" pitchFamily="34" charset="-120"/>
              </a:rPr>
              <a:t>전송 계층 중심 모델링</a:t>
            </a:r>
            <a:endParaRPr lang="en-US" sz="885" dirty="0"/>
          </a:p>
        </p:txBody>
      </p:sp>
      <p:sp>
        <p:nvSpPr>
          <p:cNvPr id="18" name="Text 10"/>
          <p:cNvSpPr/>
          <p:nvPr/>
        </p:nvSpPr>
        <p:spPr>
          <a:xfrm>
            <a:off x="642938" y="2955001"/>
            <a:ext cx="3604022" cy="128588"/>
          </a:xfrm>
          <a:prstGeom prst="rect">
            <a:avLst/>
          </a:prstGeom>
          <a:noFill/>
          <a:ln/>
        </p:spPr>
        <p:txBody>
          <a:bodyPr wrap="none" lIns="0" tIns="0" rIns="0" bIns="0" rtlCol="0" anchor="t">
            <a:spAutoFit/>
          </a:bodyPr>
          <a:lstStyle/>
          <a:p>
            <a:pPr marL="0" indent="0" algn="l">
              <a:lnSpc>
                <a:spcPts val="1600"/>
              </a:lnSpc>
              <a:buNone/>
            </a:pPr>
            <a:r>
              <a:rPr lang="en-US" sz="942" dirty="0">
                <a:solidFill>
                  <a:srgbClr val="475569"/>
                </a:solidFill>
                <a:latin typeface="NanumGothic" pitchFamily="34" charset="0"/>
                <a:ea typeface="NanumGothic" pitchFamily="34" charset="-122"/>
                <a:cs typeface="NanumGothic" pitchFamily="34" charset="-120"/>
              </a:rPr>
              <a:t>Encapsulation 계산 시간 미포함 (Infeasibility 결론을 더욱 강화하</a:t>
            </a:r>
            <a:endParaRPr lang="en-US" sz="942" dirty="0"/>
          </a:p>
        </p:txBody>
      </p:sp>
      <p:sp>
        <p:nvSpPr>
          <p:cNvPr id="19" name="Text 11"/>
          <p:cNvSpPr/>
          <p:nvPr/>
        </p:nvSpPr>
        <p:spPr>
          <a:xfrm>
            <a:off x="642938" y="3160719"/>
            <a:ext cx="446484" cy="128588"/>
          </a:xfrm>
          <a:prstGeom prst="rect">
            <a:avLst/>
          </a:prstGeom>
          <a:noFill/>
          <a:ln/>
        </p:spPr>
        <p:txBody>
          <a:bodyPr wrap="none" lIns="0" tIns="0" rIns="0" bIns="0" rtlCol="0" anchor="t">
            <a:spAutoFit/>
          </a:bodyPr>
          <a:lstStyle/>
          <a:p>
            <a:pPr marL="0" indent="0" algn="l">
              <a:lnSpc>
                <a:spcPts val="1600"/>
              </a:lnSpc>
              <a:buNone/>
            </a:pPr>
            <a:r>
              <a:rPr lang="en-US" sz="942" dirty="0">
                <a:solidFill>
                  <a:srgbClr val="475569"/>
                </a:solidFill>
                <a:latin typeface="NanumGothic" pitchFamily="34" charset="0"/>
                <a:ea typeface="NanumGothic" pitchFamily="34" charset="-122"/>
                <a:cs typeface="NanumGothic" pitchFamily="34" charset="-120"/>
              </a:rPr>
              <a:t>는 요소)</a:t>
            </a:r>
            <a:endParaRPr lang="en-US" sz="942" dirty="0"/>
          </a:p>
        </p:txBody>
      </p:sp>
      <p:pic>
        <p:nvPicPr>
          <p:cNvPr id="20" name="Image 5" descr="preencoded.png"/>
          <p:cNvPicPr>
            <a:picLocks noChangeAspect="1"/>
          </p:cNvPicPr>
          <p:nvPr/>
        </p:nvPicPr>
        <p:blipFill>
          <a:blip r:embed="rId7"/>
          <a:stretch>
            <a:fillRect/>
          </a:stretch>
        </p:blipFill>
        <p:spPr>
          <a:xfrm>
            <a:off x="428625" y="3507525"/>
            <a:ext cx="100013" cy="114300"/>
          </a:xfrm>
          <a:prstGeom prst="rect">
            <a:avLst/>
          </a:prstGeom>
        </p:spPr>
      </p:pic>
      <p:sp>
        <p:nvSpPr>
          <p:cNvPr id="21" name="Text 12"/>
          <p:cNvSpPr/>
          <p:nvPr/>
        </p:nvSpPr>
        <p:spPr>
          <a:xfrm>
            <a:off x="642938" y="3471807"/>
            <a:ext cx="3714750" cy="205718"/>
          </a:xfrm>
          <a:prstGeom prst="rect">
            <a:avLst/>
          </a:prstGeom>
          <a:noFill/>
          <a:ln/>
        </p:spPr>
        <p:txBody>
          <a:bodyPr wrap="none" lIns="0" tIns="0" rIns="0" bIns="0" rtlCol="0" anchor="t">
            <a:spAutoFit/>
          </a:bodyPr>
          <a:lstStyle/>
          <a:p>
            <a:pPr marL="0" indent="0" algn="l">
              <a:lnSpc>
                <a:spcPts val="1600"/>
              </a:lnSpc>
              <a:buNone/>
            </a:pPr>
            <a:r>
              <a:rPr lang="en-US" sz="885" b="1" dirty="0">
                <a:solidFill>
                  <a:srgbClr val="0F172A"/>
                </a:solidFill>
                <a:latin typeface="NanumGothic" pitchFamily="34" charset="0"/>
                <a:ea typeface="NanumGothic" pitchFamily="34" charset="-122"/>
                <a:cs typeface="NanumGothic" pitchFamily="34" charset="-120"/>
              </a:rPr>
              <a:t>고정 ISO-TP 파라미터</a:t>
            </a:r>
            <a:endParaRPr lang="en-US" sz="885" dirty="0"/>
          </a:p>
        </p:txBody>
      </p:sp>
      <p:sp>
        <p:nvSpPr>
          <p:cNvPr id="22" name="Text 13"/>
          <p:cNvSpPr/>
          <p:nvPr/>
        </p:nvSpPr>
        <p:spPr>
          <a:xfrm>
            <a:off x="642938" y="3743604"/>
            <a:ext cx="1669852" cy="128588"/>
          </a:xfrm>
          <a:prstGeom prst="rect">
            <a:avLst/>
          </a:prstGeom>
          <a:noFill/>
          <a:ln/>
        </p:spPr>
        <p:txBody>
          <a:bodyPr wrap="none" lIns="0" tIns="0" rIns="0" bIns="0" rtlCol="0" anchor="t">
            <a:spAutoFit/>
          </a:bodyPr>
          <a:lstStyle/>
          <a:p>
            <a:pPr marL="0" indent="0" algn="l">
              <a:lnSpc>
                <a:spcPts val="1600"/>
              </a:lnSpc>
              <a:buNone/>
            </a:pPr>
            <a:r>
              <a:rPr lang="en-US" sz="942" dirty="0">
                <a:solidFill>
                  <a:srgbClr val="475569"/>
                </a:solidFill>
                <a:latin typeface="NanumGothic" pitchFamily="34" charset="0"/>
                <a:ea typeface="NanumGothic" pitchFamily="34" charset="-122"/>
                <a:cs typeface="NanumGothic" pitchFamily="34" charset="-120"/>
              </a:rPr>
              <a:t>STmin=0, BS=32 고정값 사용</a:t>
            </a:r>
            <a:endParaRPr lang="en-US" sz="942" dirty="0"/>
          </a:p>
        </p:txBody>
      </p:sp>
      <p:pic>
        <p:nvPicPr>
          <p:cNvPr id="23" name="Image 6" descr="preencoded.png"/>
          <p:cNvPicPr>
            <a:picLocks noChangeAspect="1"/>
          </p:cNvPicPr>
          <p:nvPr/>
        </p:nvPicPr>
        <p:blipFill>
          <a:blip r:embed="rId8"/>
          <a:stretch>
            <a:fillRect/>
          </a:stretch>
        </p:blipFill>
        <p:spPr>
          <a:xfrm>
            <a:off x="4786313" y="997390"/>
            <a:ext cx="171450" cy="171450"/>
          </a:xfrm>
          <a:prstGeom prst="rect">
            <a:avLst/>
          </a:prstGeom>
        </p:spPr>
      </p:pic>
      <p:sp>
        <p:nvSpPr>
          <p:cNvPr id="24" name="Text 14"/>
          <p:cNvSpPr/>
          <p:nvPr/>
        </p:nvSpPr>
        <p:spPr>
          <a:xfrm>
            <a:off x="5043488" y="997390"/>
            <a:ext cx="1060847" cy="171450"/>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2563EB"/>
                </a:solidFill>
                <a:latin typeface="NanumGothic" pitchFamily="34" charset="0"/>
                <a:ea typeface="NanumGothic" pitchFamily="34" charset="-122"/>
                <a:cs typeface="NanumGothic" pitchFamily="34" charset="-120"/>
              </a:rPr>
              <a:t>향후 연구 방향</a:t>
            </a:r>
            <a:endParaRPr lang="en-US" sz="1193" dirty="0"/>
          </a:p>
        </p:txBody>
      </p:sp>
      <p:pic>
        <p:nvPicPr>
          <p:cNvPr id="25" name="Image 7" descr="preencoded.png"/>
          <p:cNvPicPr>
            <a:picLocks noChangeAspect="1"/>
          </p:cNvPicPr>
          <p:nvPr/>
        </p:nvPicPr>
        <p:blipFill>
          <a:blip r:embed="rId9"/>
          <a:stretch>
            <a:fillRect/>
          </a:stretch>
        </p:blipFill>
        <p:spPr>
          <a:xfrm>
            <a:off x="4786313" y="1347434"/>
            <a:ext cx="100013" cy="114300"/>
          </a:xfrm>
          <a:prstGeom prst="rect">
            <a:avLst/>
          </a:prstGeom>
        </p:spPr>
      </p:pic>
      <p:sp>
        <p:nvSpPr>
          <p:cNvPr id="26" name="Text 15"/>
          <p:cNvSpPr/>
          <p:nvPr/>
        </p:nvSpPr>
        <p:spPr>
          <a:xfrm>
            <a:off x="5000625" y="1311715"/>
            <a:ext cx="3714750" cy="205718"/>
          </a:xfrm>
          <a:prstGeom prst="rect">
            <a:avLst/>
          </a:prstGeom>
          <a:noFill/>
          <a:ln/>
        </p:spPr>
        <p:txBody>
          <a:bodyPr wrap="none" lIns="0" tIns="0" rIns="0" bIns="0" rtlCol="0" anchor="t">
            <a:spAutoFit/>
          </a:bodyPr>
          <a:lstStyle/>
          <a:p>
            <a:pPr marL="0" indent="0" algn="l">
              <a:lnSpc>
                <a:spcPts val="1600"/>
              </a:lnSpc>
              <a:buNone/>
            </a:pPr>
            <a:r>
              <a:rPr lang="en-US" sz="885" b="1" dirty="0">
                <a:solidFill>
                  <a:srgbClr val="0F172A"/>
                </a:solidFill>
                <a:latin typeface="NanumGothic" pitchFamily="34" charset="0"/>
                <a:ea typeface="NanumGothic" pitchFamily="34" charset="-122"/>
                <a:cs typeface="NanumGothic" pitchFamily="34" charset="-120"/>
              </a:rPr>
              <a:t>실차 트레이스 검증 및 HIL 테스트</a:t>
            </a:r>
            <a:endParaRPr lang="en-US" sz="885" dirty="0"/>
          </a:p>
        </p:txBody>
      </p:sp>
      <p:sp>
        <p:nvSpPr>
          <p:cNvPr id="27" name="Text 16"/>
          <p:cNvSpPr/>
          <p:nvPr/>
        </p:nvSpPr>
        <p:spPr>
          <a:xfrm>
            <a:off x="5000625" y="1583513"/>
            <a:ext cx="3418284" cy="128588"/>
          </a:xfrm>
          <a:prstGeom prst="rect">
            <a:avLst/>
          </a:prstGeom>
          <a:noFill/>
          <a:ln/>
        </p:spPr>
        <p:txBody>
          <a:bodyPr wrap="none" lIns="0" tIns="0" rIns="0" bIns="0" rtlCol="0" anchor="t">
            <a:spAutoFit/>
          </a:bodyPr>
          <a:lstStyle/>
          <a:p>
            <a:pPr marL="0" indent="0" algn="l">
              <a:lnSpc>
                <a:spcPts val="1600"/>
              </a:lnSpc>
              <a:buNone/>
            </a:pPr>
            <a:r>
              <a:rPr lang="en-US" sz="942" dirty="0">
                <a:solidFill>
                  <a:srgbClr val="475569"/>
                </a:solidFill>
                <a:latin typeface="NanumGothic" pitchFamily="34" charset="0"/>
                <a:ea typeface="NanumGothic" pitchFamily="34" charset="-122"/>
                <a:cs typeface="NanumGothic" pitchFamily="34" charset="-120"/>
              </a:rPr>
              <a:t>Vector CANoe, PEAK PCAN 등을 활용한 실제 환경 성능 검증</a:t>
            </a:r>
            <a:endParaRPr lang="en-US" sz="942" dirty="0"/>
          </a:p>
        </p:txBody>
      </p:sp>
      <p:pic>
        <p:nvPicPr>
          <p:cNvPr id="28" name="Image 8" descr="preencoded.png"/>
          <p:cNvPicPr>
            <a:picLocks noChangeAspect="1"/>
          </p:cNvPicPr>
          <p:nvPr/>
        </p:nvPicPr>
        <p:blipFill>
          <a:blip r:embed="rId10"/>
          <a:stretch>
            <a:fillRect/>
          </a:stretch>
        </p:blipFill>
        <p:spPr>
          <a:xfrm>
            <a:off x="4786313" y="1930319"/>
            <a:ext cx="100013" cy="114300"/>
          </a:xfrm>
          <a:prstGeom prst="rect">
            <a:avLst/>
          </a:prstGeom>
        </p:spPr>
      </p:pic>
      <p:sp>
        <p:nvSpPr>
          <p:cNvPr id="29" name="Text 17"/>
          <p:cNvSpPr/>
          <p:nvPr/>
        </p:nvSpPr>
        <p:spPr>
          <a:xfrm>
            <a:off x="5000625" y="1894601"/>
            <a:ext cx="3714750" cy="205718"/>
          </a:xfrm>
          <a:prstGeom prst="rect">
            <a:avLst/>
          </a:prstGeom>
          <a:noFill/>
          <a:ln/>
        </p:spPr>
        <p:txBody>
          <a:bodyPr wrap="none" lIns="0" tIns="0" rIns="0" bIns="0" rtlCol="0" anchor="t">
            <a:spAutoFit/>
          </a:bodyPr>
          <a:lstStyle/>
          <a:p>
            <a:pPr marL="0" indent="0" algn="l">
              <a:lnSpc>
                <a:spcPts val="1600"/>
              </a:lnSpc>
              <a:buNone/>
            </a:pPr>
            <a:r>
              <a:rPr lang="en-US" sz="885" b="1" dirty="0">
                <a:solidFill>
                  <a:srgbClr val="0F172A"/>
                </a:solidFill>
                <a:latin typeface="NanumGothic" pitchFamily="34" charset="0"/>
                <a:ea typeface="NanumGothic" pitchFamily="34" charset="-122"/>
                <a:cs typeface="NanumGothic" pitchFamily="34" charset="-120"/>
              </a:rPr>
              <a:t>CAN XL (2048B 페이로드) 확장</a:t>
            </a:r>
            <a:endParaRPr lang="en-US" sz="885" dirty="0"/>
          </a:p>
        </p:txBody>
      </p:sp>
      <p:sp>
        <p:nvSpPr>
          <p:cNvPr id="30" name="Text 18"/>
          <p:cNvSpPr/>
          <p:nvPr/>
        </p:nvSpPr>
        <p:spPr>
          <a:xfrm>
            <a:off x="5000625" y="2166398"/>
            <a:ext cx="2941439" cy="128588"/>
          </a:xfrm>
          <a:prstGeom prst="rect">
            <a:avLst/>
          </a:prstGeom>
          <a:noFill/>
          <a:ln/>
        </p:spPr>
        <p:txBody>
          <a:bodyPr wrap="none" lIns="0" tIns="0" rIns="0" bIns="0" rtlCol="0" anchor="t">
            <a:spAutoFit/>
          </a:bodyPr>
          <a:lstStyle/>
          <a:p>
            <a:pPr marL="0" indent="0" algn="l">
              <a:lnSpc>
                <a:spcPts val="1600"/>
              </a:lnSpc>
              <a:buNone/>
            </a:pPr>
            <a:r>
              <a:rPr lang="en-US" sz="942" dirty="0">
                <a:solidFill>
                  <a:srgbClr val="475569"/>
                </a:solidFill>
                <a:latin typeface="NanumGothic" pitchFamily="34" charset="0"/>
                <a:ea typeface="NanumGothic" pitchFamily="34" charset="-122"/>
                <a:cs typeface="NanumGothic" pitchFamily="34" charset="-120"/>
              </a:rPr>
              <a:t>대부분의 PQC 아티팩트 단일 프레임 전송 가능성 분석</a:t>
            </a:r>
            <a:endParaRPr lang="en-US" sz="942" dirty="0"/>
          </a:p>
        </p:txBody>
      </p:sp>
      <p:pic>
        <p:nvPicPr>
          <p:cNvPr id="31" name="Image 9" descr="preencoded.png"/>
          <p:cNvPicPr>
            <a:picLocks noChangeAspect="1"/>
          </p:cNvPicPr>
          <p:nvPr/>
        </p:nvPicPr>
        <p:blipFill>
          <a:blip r:embed="rId11"/>
          <a:stretch>
            <a:fillRect/>
          </a:stretch>
        </p:blipFill>
        <p:spPr>
          <a:xfrm>
            <a:off x="4786313" y="2513205"/>
            <a:ext cx="100013" cy="114300"/>
          </a:xfrm>
          <a:prstGeom prst="rect">
            <a:avLst/>
          </a:prstGeom>
        </p:spPr>
      </p:pic>
      <p:sp>
        <p:nvSpPr>
          <p:cNvPr id="32" name="Text 19"/>
          <p:cNvSpPr/>
          <p:nvPr/>
        </p:nvSpPr>
        <p:spPr>
          <a:xfrm>
            <a:off x="5000625" y="2477486"/>
            <a:ext cx="3714750" cy="205718"/>
          </a:xfrm>
          <a:prstGeom prst="rect">
            <a:avLst/>
          </a:prstGeom>
          <a:noFill/>
          <a:ln/>
        </p:spPr>
        <p:txBody>
          <a:bodyPr wrap="none" lIns="0" tIns="0" rIns="0" bIns="0" rtlCol="0" anchor="t">
            <a:spAutoFit/>
          </a:bodyPr>
          <a:lstStyle/>
          <a:p>
            <a:pPr marL="0" indent="0" algn="l">
              <a:lnSpc>
                <a:spcPts val="1600"/>
              </a:lnSpc>
              <a:buNone/>
            </a:pPr>
            <a:r>
              <a:rPr lang="en-US" sz="885" b="1" dirty="0">
                <a:solidFill>
                  <a:srgbClr val="0F172A"/>
                </a:solidFill>
                <a:latin typeface="NanumGothic" pitchFamily="34" charset="0"/>
                <a:ea typeface="NanumGothic" pitchFamily="34" charset="-122"/>
                <a:cs typeface="NanumGothic" pitchFamily="34" charset="-120"/>
              </a:rPr>
              <a:t>혼합 네트워크 토폴로지</a:t>
            </a:r>
            <a:endParaRPr lang="en-US" sz="885" dirty="0"/>
          </a:p>
        </p:txBody>
      </p:sp>
      <p:sp>
        <p:nvSpPr>
          <p:cNvPr id="33" name="Text 20"/>
          <p:cNvSpPr/>
          <p:nvPr/>
        </p:nvSpPr>
        <p:spPr>
          <a:xfrm>
            <a:off x="5000625" y="2749283"/>
            <a:ext cx="3270052" cy="128588"/>
          </a:xfrm>
          <a:prstGeom prst="rect">
            <a:avLst/>
          </a:prstGeom>
          <a:noFill/>
          <a:ln/>
        </p:spPr>
        <p:txBody>
          <a:bodyPr wrap="none" lIns="0" tIns="0" rIns="0" bIns="0" rtlCol="0" anchor="t">
            <a:spAutoFit/>
          </a:bodyPr>
          <a:lstStyle/>
          <a:p>
            <a:pPr marL="0" indent="0" algn="l">
              <a:lnSpc>
                <a:spcPts val="1600"/>
              </a:lnSpc>
              <a:buNone/>
            </a:pPr>
            <a:r>
              <a:rPr lang="en-US" sz="942" dirty="0">
                <a:solidFill>
                  <a:srgbClr val="475569"/>
                </a:solidFill>
                <a:latin typeface="NanumGothic" pitchFamily="34" charset="0"/>
                <a:ea typeface="NanumGothic" pitchFamily="34" charset="-122"/>
                <a:cs typeface="NanumGothic" pitchFamily="34" charset="-120"/>
              </a:rPr>
              <a:t>멀티버스 CAN-FD 및 Automotive Ethernet 혼합 환경 분석</a:t>
            </a:r>
            <a:endParaRPr lang="en-US" sz="942" dirty="0"/>
          </a:p>
        </p:txBody>
      </p:sp>
      <p:pic>
        <p:nvPicPr>
          <p:cNvPr id="34" name="Image 10" descr="preencoded.png"/>
          <p:cNvPicPr>
            <a:picLocks noChangeAspect="1"/>
          </p:cNvPicPr>
          <p:nvPr/>
        </p:nvPicPr>
        <p:blipFill>
          <a:blip r:embed="rId9"/>
          <a:stretch>
            <a:fillRect/>
          </a:stretch>
        </p:blipFill>
        <p:spPr>
          <a:xfrm>
            <a:off x="4786313" y="3096090"/>
            <a:ext cx="100013" cy="114300"/>
          </a:xfrm>
          <a:prstGeom prst="rect">
            <a:avLst/>
          </a:prstGeom>
        </p:spPr>
      </p:pic>
      <p:sp>
        <p:nvSpPr>
          <p:cNvPr id="35" name="Text 21"/>
          <p:cNvSpPr/>
          <p:nvPr/>
        </p:nvSpPr>
        <p:spPr>
          <a:xfrm>
            <a:off x="5000625" y="3060371"/>
            <a:ext cx="3714750" cy="205718"/>
          </a:xfrm>
          <a:prstGeom prst="rect">
            <a:avLst/>
          </a:prstGeom>
          <a:noFill/>
          <a:ln/>
        </p:spPr>
        <p:txBody>
          <a:bodyPr wrap="none" lIns="0" tIns="0" rIns="0" bIns="0" rtlCol="0" anchor="t">
            <a:spAutoFit/>
          </a:bodyPr>
          <a:lstStyle/>
          <a:p>
            <a:pPr marL="0" indent="0" algn="l">
              <a:lnSpc>
                <a:spcPts val="1600"/>
              </a:lnSpc>
              <a:buNone/>
            </a:pPr>
            <a:r>
              <a:rPr lang="en-US" sz="885" b="1" dirty="0">
                <a:solidFill>
                  <a:srgbClr val="0F172A"/>
                </a:solidFill>
                <a:latin typeface="NanumGothic" pitchFamily="34" charset="0"/>
                <a:ea typeface="NanumGothic" pitchFamily="34" charset="-122"/>
                <a:cs typeface="NanumGothic" pitchFamily="34" charset="-120"/>
              </a:rPr>
              <a:t>ISO-TP 파라미터 Sweep</a:t>
            </a:r>
            <a:endParaRPr lang="en-US" sz="885" dirty="0"/>
          </a:p>
        </p:txBody>
      </p:sp>
      <p:sp>
        <p:nvSpPr>
          <p:cNvPr id="36" name="Text 22"/>
          <p:cNvSpPr/>
          <p:nvPr/>
        </p:nvSpPr>
        <p:spPr>
          <a:xfrm>
            <a:off x="5000625" y="3332169"/>
            <a:ext cx="3166467" cy="128588"/>
          </a:xfrm>
          <a:prstGeom prst="rect">
            <a:avLst/>
          </a:prstGeom>
          <a:noFill/>
          <a:ln/>
        </p:spPr>
        <p:txBody>
          <a:bodyPr wrap="none" lIns="0" tIns="0" rIns="0" bIns="0" rtlCol="0" anchor="t">
            <a:spAutoFit/>
          </a:bodyPr>
          <a:lstStyle/>
          <a:p>
            <a:pPr marL="0" indent="0" algn="l">
              <a:lnSpc>
                <a:spcPts val="1600"/>
              </a:lnSpc>
              <a:buNone/>
            </a:pPr>
            <a:r>
              <a:rPr lang="en-US" sz="942" dirty="0">
                <a:solidFill>
                  <a:srgbClr val="475569"/>
                </a:solidFill>
                <a:latin typeface="NanumGothic" pitchFamily="34" charset="0"/>
                <a:ea typeface="NanumGothic" pitchFamily="34" charset="-122"/>
                <a:cs typeface="NanumGothic" pitchFamily="34" charset="-120"/>
              </a:rPr>
              <a:t>STmin, BS 파라미터 최적화를 통한 Pareto 최적 구성 탐색</a:t>
            </a:r>
            <a:endParaRPr lang="en-US" sz="942" dirty="0"/>
          </a:p>
        </p:txBody>
      </p:sp>
      <p:sp>
        <p:nvSpPr>
          <p:cNvPr id="37" name="Text 23"/>
          <p:cNvSpPr/>
          <p:nvPr/>
        </p:nvSpPr>
        <p:spPr>
          <a:xfrm>
            <a:off x="0" y="4875609"/>
            <a:ext cx="9144000" cy="125016"/>
          </a:xfrm>
          <a:prstGeom prst="rect">
            <a:avLst/>
          </a:prstGeom>
          <a:noFill/>
          <a:ln/>
        </p:spPr>
        <p:txBody>
          <a:bodyPr wrap="none" lIns="0" tIns="0" rIns="0" bIns="0" rtlCol="0" anchor="t">
            <a:spAutoFit/>
          </a:bodyPr>
          <a:lstStyle/>
          <a:p>
            <a:pPr marL="0" indent="0" algn="ctr">
              <a:lnSpc>
                <a:spcPts val="900"/>
              </a:lnSpc>
              <a:buNone/>
            </a:pPr>
            <a:r>
              <a:rPr lang="en-US" sz="727" dirty="0">
                <a:solidFill>
                  <a:srgbClr val="94A3B8"/>
                </a:solidFill>
                <a:latin typeface="NanumGothic" pitchFamily="34" charset="0"/>
                <a:ea typeface="NanumGothic" pitchFamily="34" charset="-122"/>
                <a:cs typeface="NanumGothic" pitchFamily="34" charset="-120"/>
              </a:rPr>
              <a:t>15</a:t>
            </a:r>
            <a:endParaRPr lang="en-US" sz="727"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Shape 0"/>
          <p:cNvSpPr/>
          <p:nvPr/>
        </p:nvSpPr>
        <p:spPr>
          <a:xfrm>
            <a:off x="0" y="0"/>
            <a:ext cx="9144000" cy="797365"/>
          </a:xfrm>
          <a:prstGeom prst="rect">
            <a:avLst/>
          </a:prstGeom>
          <a:solidFill>
            <a:srgbClr val="000000">
              <a:alpha val="0"/>
            </a:srgbClr>
          </a:solidFill>
          <a:ln/>
        </p:spPr>
        <p:txBody>
          <a:bodyPr/>
          <a:lstStyle/>
          <a:p>
            <a:endParaRPr lang="ko-KR" altLang="en-US"/>
          </a:p>
        </p:txBody>
      </p:sp>
      <p:sp>
        <p:nvSpPr>
          <p:cNvPr id="5" name="Shape 1"/>
          <p:cNvSpPr/>
          <p:nvPr/>
        </p:nvSpPr>
        <p:spPr>
          <a:xfrm>
            <a:off x="0" y="783078"/>
            <a:ext cx="9144000" cy="14288"/>
          </a:xfrm>
          <a:prstGeom prst="rect">
            <a:avLst/>
          </a:prstGeom>
          <a:solidFill>
            <a:srgbClr val="F1F5F9"/>
          </a:solidFill>
          <a:ln/>
        </p:spPr>
        <p:txBody>
          <a:bodyPr/>
          <a:lstStyle/>
          <a:p>
            <a:endParaRPr lang="ko-KR" altLang="en-US"/>
          </a:p>
        </p:txBody>
      </p:sp>
      <p:sp>
        <p:nvSpPr>
          <p:cNvPr id="6" name="Text 2"/>
          <p:cNvSpPr/>
          <p:nvPr/>
        </p:nvSpPr>
        <p:spPr>
          <a:xfrm>
            <a:off x="428625" y="458037"/>
            <a:ext cx="8715375" cy="253603"/>
          </a:xfrm>
          <a:prstGeom prst="rect">
            <a:avLst/>
          </a:prstGeom>
          <a:noFill/>
          <a:ln/>
        </p:spPr>
        <p:txBody>
          <a:bodyPr wrap="none" lIns="0" tIns="0" rIns="0" bIns="0" rtlCol="0" anchor="t">
            <a:spAutoFit/>
          </a:bodyPr>
          <a:lstStyle/>
          <a:p>
            <a:pPr marL="0" indent="0" algn="l">
              <a:lnSpc>
                <a:spcPts val="2400"/>
              </a:lnSpc>
              <a:buNone/>
            </a:pPr>
            <a:r>
              <a:rPr lang="en-US" sz="1808" b="1" dirty="0">
                <a:solidFill>
                  <a:srgbClr val="0F172A"/>
                </a:solidFill>
                <a:latin typeface="NanumGothic" pitchFamily="34" charset="0"/>
                <a:ea typeface="NanumGothic" pitchFamily="34" charset="-122"/>
                <a:cs typeface="NanumGothic" pitchFamily="34" charset="-120"/>
              </a:rPr>
              <a:t>결론</a:t>
            </a:r>
            <a:endParaRPr lang="en-US" sz="1808" dirty="0"/>
          </a:p>
        </p:txBody>
      </p:sp>
      <p:sp>
        <p:nvSpPr>
          <p:cNvPr id="7" name="Shape 3"/>
          <p:cNvSpPr/>
          <p:nvPr/>
        </p:nvSpPr>
        <p:spPr>
          <a:xfrm>
            <a:off x="428625" y="997390"/>
            <a:ext cx="4036219" cy="1823024"/>
          </a:xfrm>
          <a:prstGeom prst="rect">
            <a:avLst/>
          </a:prstGeom>
          <a:solidFill>
            <a:srgbClr val="F8FAFC"/>
          </a:solidFill>
          <a:ln/>
        </p:spPr>
        <p:txBody>
          <a:bodyPr/>
          <a:lstStyle/>
          <a:p>
            <a:endParaRPr lang="ko-KR" altLang="en-US"/>
          </a:p>
        </p:txBody>
      </p:sp>
      <p:sp>
        <p:nvSpPr>
          <p:cNvPr id="8" name="Shape 4"/>
          <p:cNvSpPr/>
          <p:nvPr/>
        </p:nvSpPr>
        <p:spPr>
          <a:xfrm>
            <a:off x="428625" y="997390"/>
            <a:ext cx="4036219" cy="42863"/>
          </a:xfrm>
          <a:prstGeom prst="rect">
            <a:avLst/>
          </a:prstGeom>
          <a:solidFill>
            <a:srgbClr val="2563EB"/>
          </a:solidFill>
          <a:ln/>
        </p:spPr>
        <p:txBody>
          <a:bodyPr/>
          <a:lstStyle/>
          <a:p>
            <a:endParaRPr lang="ko-KR" altLang="en-US"/>
          </a:p>
        </p:txBody>
      </p:sp>
      <p:sp>
        <p:nvSpPr>
          <p:cNvPr id="9" name="Text 5"/>
          <p:cNvSpPr/>
          <p:nvPr/>
        </p:nvSpPr>
        <p:spPr>
          <a:xfrm>
            <a:off x="642938" y="1175984"/>
            <a:ext cx="3607594" cy="228600"/>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2563EB">
                    <a:alpha val="30000"/>
                  </a:srgbClr>
                </a:solidFill>
                <a:latin typeface="NanumGothic" pitchFamily="34" charset="0"/>
                <a:ea typeface="NanumGothic" pitchFamily="34" charset="-122"/>
                <a:cs typeface="NanumGothic" pitchFamily="34" charset="-120"/>
              </a:rPr>
              <a:t>01</a:t>
            </a:r>
            <a:endParaRPr lang="en-US" sz="1602" dirty="0"/>
          </a:p>
        </p:txBody>
      </p:sp>
      <p:sp>
        <p:nvSpPr>
          <p:cNvPr id="10" name="Text 6"/>
          <p:cNvSpPr/>
          <p:nvPr/>
        </p:nvSpPr>
        <p:spPr>
          <a:xfrm>
            <a:off x="642938" y="1511740"/>
            <a:ext cx="3607594" cy="204295"/>
          </a:xfrm>
          <a:prstGeom prst="rect">
            <a:avLst/>
          </a:prstGeom>
          <a:noFill/>
          <a:ln/>
        </p:spPr>
        <p:txBody>
          <a:bodyPr wrap="none" lIns="0" tIns="0" rIns="0" bIns="0" rtlCol="0" anchor="t">
            <a:spAutoFit/>
          </a:bodyPr>
          <a:lstStyle/>
          <a:p>
            <a:pPr marL="0" indent="0" algn="l">
              <a:lnSpc>
                <a:spcPts val="1600"/>
              </a:lnSpc>
              <a:buNone/>
            </a:pPr>
            <a:r>
              <a:rPr lang="en-US" sz="1090" b="1" dirty="0">
                <a:solidFill>
                  <a:srgbClr val="0F172A"/>
                </a:solidFill>
                <a:latin typeface="NanumGothic" pitchFamily="34" charset="0"/>
                <a:ea typeface="NanumGothic" pitchFamily="34" charset="-122"/>
                <a:cs typeface="NanumGothic" pitchFamily="34" charset="-120"/>
              </a:rPr>
              <a:t>시나리오 의존적 실현가능성</a:t>
            </a:r>
            <a:endParaRPr lang="en-US" sz="1090" dirty="0"/>
          </a:p>
        </p:txBody>
      </p:sp>
      <p:sp>
        <p:nvSpPr>
          <p:cNvPr id="11" name="Text 7"/>
          <p:cNvSpPr/>
          <p:nvPr/>
        </p:nvSpPr>
        <p:spPr>
          <a:xfrm>
            <a:off x="642938" y="1801760"/>
            <a:ext cx="3607594" cy="388609"/>
          </a:xfrm>
          <a:prstGeom prst="rect">
            <a:avLst/>
          </a:prstGeom>
          <a:noFill/>
          <a:ln/>
        </p:spPr>
        <p:txBody>
          <a:bodyPr wrap="square" lIns="0" tIns="0" rIns="0" bIns="0" rtlCol="0" anchor="t">
            <a:spAutoFit/>
          </a:bodyPr>
          <a:lstStyle/>
          <a:p>
            <a:pPr marL="0" indent="0" algn="l">
              <a:lnSpc>
                <a:spcPts val="1500"/>
              </a:lnSpc>
              <a:buNone/>
            </a:pPr>
            <a:r>
              <a:rPr lang="en-US" sz="888" dirty="0">
                <a:solidFill>
                  <a:srgbClr val="475569"/>
                </a:solidFill>
                <a:latin typeface="NanumGothic" pitchFamily="34" charset="0"/>
                <a:ea typeface="NanumGothic" pitchFamily="34" charset="-122"/>
                <a:cs typeface="NanumGothic" pitchFamily="34" charset="-120"/>
              </a:rPr>
              <a:t>KEM 실현가능성은 N_ECU와 Stagger 여부에 의해 지배되며, 주기적 트래픽의 QoS 열화가 주요 실패 모드임을 확인하였습니다.</a:t>
            </a:r>
            <a:endParaRPr lang="en-US" sz="888" dirty="0"/>
          </a:p>
        </p:txBody>
      </p:sp>
      <p:sp>
        <p:nvSpPr>
          <p:cNvPr id="12" name="Shape 8"/>
          <p:cNvSpPr/>
          <p:nvPr/>
        </p:nvSpPr>
        <p:spPr>
          <a:xfrm>
            <a:off x="4679156" y="997390"/>
            <a:ext cx="4036219" cy="1823024"/>
          </a:xfrm>
          <a:prstGeom prst="rect">
            <a:avLst/>
          </a:prstGeom>
          <a:solidFill>
            <a:srgbClr val="F8FAFC"/>
          </a:solidFill>
          <a:ln/>
        </p:spPr>
        <p:txBody>
          <a:bodyPr/>
          <a:lstStyle/>
          <a:p>
            <a:endParaRPr lang="ko-KR" altLang="en-US"/>
          </a:p>
        </p:txBody>
      </p:sp>
      <p:sp>
        <p:nvSpPr>
          <p:cNvPr id="13" name="Shape 9"/>
          <p:cNvSpPr/>
          <p:nvPr/>
        </p:nvSpPr>
        <p:spPr>
          <a:xfrm>
            <a:off x="4679156" y="997390"/>
            <a:ext cx="4036219" cy="42863"/>
          </a:xfrm>
          <a:prstGeom prst="rect">
            <a:avLst/>
          </a:prstGeom>
          <a:solidFill>
            <a:srgbClr val="2563EB"/>
          </a:solidFill>
          <a:ln/>
        </p:spPr>
        <p:txBody>
          <a:bodyPr/>
          <a:lstStyle/>
          <a:p>
            <a:endParaRPr lang="ko-KR" altLang="en-US"/>
          </a:p>
        </p:txBody>
      </p:sp>
      <p:sp>
        <p:nvSpPr>
          <p:cNvPr id="14" name="Text 10"/>
          <p:cNvSpPr/>
          <p:nvPr/>
        </p:nvSpPr>
        <p:spPr>
          <a:xfrm>
            <a:off x="4893469" y="1175984"/>
            <a:ext cx="3607594" cy="228600"/>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2563EB">
                    <a:alpha val="30000"/>
                  </a:srgbClr>
                </a:solidFill>
                <a:latin typeface="NanumGothic" pitchFamily="34" charset="0"/>
                <a:ea typeface="NanumGothic" pitchFamily="34" charset="-122"/>
                <a:cs typeface="NanumGothic" pitchFamily="34" charset="-120"/>
              </a:rPr>
              <a:t>02</a:t>
            </a:r>
            <a:endParaRPr lang="en-US" sz="1602" dirty="0"/>
          </a:p>
        </p:txBody>
      </p:sp>
      <p:sp>
        <p:nvSpPr>
          <p:cNvPr id="15" name="Text 11"/>
          <p:cNvSpPr/>
          <p:nvPr/>
        </p:nvSpPr>
        <p:spPr>
          <a:xfrm>
            <a:off x="4893469" y="1511740"/>
            <a:ext cx="3607594" cy="204295"/>
          </a:xfrm>
          <a:prstGeom prst="rect">
            <a:avLst/>
          </a:prstGeom>
          <a:noFill/>
          <a:ln/>
        </p:spPr>
        <p:txBody>
          <a:bodyPr wrap="none" lIns="0" tIns="0" rIns="0" bIns="0" rtlCol="0" anchor="t">
            <a:spAutoFit/>
          </a:bodyPr>
          <a:lstStyle/>
          <a:p>
            <a:pPr marL="0" indent="0" algn="l">
              <a:lnSpc>
                <a:spcPts val="1600"/>
              </a:lnSpc>
              <a:buNone/>
            </a:pPr>
            <a:r>
              <a:rPr lang="en-US" sz="1090" b="1" dirty="0">
                <a:solidFill>
                  <a:srgbClr val="0F172A"/>
                </a:solidFill>
                <a:latin typeface="NanumGothic" pitchFamily="34" charset="0"/>
                <a:ea typeface="NanumGothic" pitchFamily="34" charset="-122"/>
                <a:cs typeface="NanumGothic" pitchFamily="34" charset="-120"/>
              </a:rPr>
              <a:t>아티팩트 크기의 중요성</a:t>
            </a:r>
            <a:endParaRPr lang="en-US" sz="1090" dirty="0"/>
          </a:p>
        </p:txBody>
      </p:sp>
      <p:sp>
        <p:nvSpPr>
          <p:cNvPr id="16" name="Text 12"/>
          <p:cNvSpPr/>
          <p:nvPr/>
        </p:nvSpPr>
        <p:spPr>
          <a:xfrm>
            <a:off x="4893469" y="1801760"/>
            <a:ext cx="3607594" cy="388609"/>
          </a:xfrm>
          <a:prstGeom prst="rect">
            <a:avLst/>
          </a:prstGeom>
          <a:noFill/>
          <a:ln/>
        </p:spPr>
        <p:txBody>
          <a:bodyPr wrap="square" lIns="0" tIns="0" rIns="0" bIns="0" rtlCol="0" anchor="t">
            <a:spAutoFit/>
          </a:bodyPr>
          <a:lstStyle/>
          <a:p>
            <a:pPr marL="0" indent="0" algn="l">
              <a:lnSpc>
                <a:spcPts val="1500"/>
              </a:lnSpc>
              <a:buNone/>
            </a:pPr>
            <a:r>
              <a:rPr lang="en-US" sz="888" dirty="0">
                <a:solidFill>
                  <a:srgbClr val="475569"/>
                </a:solidFill>
                <a:latin typeface="NanumGothic" pitchFamily="34" charset="0"/>
                <a:ea typeface="NanumGothic" pitchFamily="34" charset="-122"/>
                <a:cs typeface="NanumGothic" pitchFamily="34" charset="-120"/>
              </a:rPr>
              <a:t>아티팩트 크기는 PQC 전송 알고리즘 선택의 1차 기준이며, SMAUG-T1(KEM)과 FN-DSA-512(DSA)가 최우수 성능을 보였습니다.</a:t>
            </a:r>
            <a:endParaRPr lang="en-US" sz="888" dirty="0"/>
          </a:p>
        </p:txBody>
      </p:sp>
      <p:sp>
        <p:nvSpPr>
          <p:cNvPr id="17" name="Shape 13"/>
          <p:cNvSpPr/>
          <p:nvPr/>
        </p:nvSpPr>
        <p:spPr>
          <a:xfrm>
            <a:off x="428625" y="3034726"/>
            <a:ext cx="4036219" cy="1823024"/>
          </a:xfrm>
          <a:prstGeom prst="rect">
            <a:avLst/>
          </a:prstGeom>
          <a:solidFill>
            <a:srgbClr val="F8FAFC"/>
          </a:solidFill>
          <a:ln/>
        </p:spPr>
        <p:txBody>
          <a:bodyPr/>
          <a:lstStyle/>
          <a:p>
            <a:endParaRPr lang="ko-KR" altLang="en-US"/>
          </a:p>
        </p:txBody>
      </p:sp>
      <p:sp>
        <p:nvSpPr>
          <p:cNvPr id="18" name="Shape 14"/>
          <p:cNvSpPr/>
          <p:nvPr/>
        </p:nvSpPr>
        <p:spPr>
          <a:xfrm>
            <a:off x="428625" y="3034726"/>
            <a:ext cx="4036219" cy="42863"/>
          </a:xfrm>
          <a:prstGeom prst="rect">
            <a:avLst/>
          </a:prstGeom>
          <a:solidFill>
            <a:srgbClr val="2563EB"/>
          </a:solidFill>
          <a:ln/>
        </p:spPr>
        <p:txBody>
          <a:bodyPr/>
          <a:lstStyle/>
          <a:p>
            <a:endParaRPr lang="ko-KR" altLang="en-US"/>
          </a:p>
        </p:txBody>
      </p:sp>
      <p:sp>
        <p:nvSpPr>
          <p:cNvPr id="19" name="Text 15"/>
          <p:cNvSpPr/>
          <p:nvPr/>
        </p:nvSpPr>
        <p:spPr>
          <a:xfrm>
            <a:off x="642938" y="3213320"/>
            <a:ext cx="3607594" cy="228600"/>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2563EB">
                    <a:alpha val="30000"/>
                  </a:srgbClr>
                </a:solidFill>
                <a:latin typeface="NanumGothic" pitchFamily="34" charset="0"/>
                <a:ea typeface="NanumGothic" pitchFamily="34" charset="-122"/>
                <a:cs typeface="NanumGothic" pitchFamily="34" charset="-120"/>
              </a:rPr>
              <a:t>03</a:t>
            </a:r>
            <a:endParaRPr lang="en-US" sz="1602" dirty="0"/>
          </a:p>
        </p:txBody>
      </p:sp>
      <p:sp>
        <p:nvSpPr>
          <p:cNvPr id="20" name="Text 16"/>
          <p:cNvSpPr/>
          <p:nvPr/>
        </p:nvSpPr>
        <p:spPr>
          <a:xfrm>
            <a:off x="642938" y="3549076"/>
            <a:ext cx="3607594" cy="204295"/>
          </a:xfrm>
          <a:prstGeom prst="rect">
            <a:avLst/>
          </a:prstGeom>
          <a:noFill/>
          <a:ln/>
        </p:spPr>
        <p:txBody>
          <a:bodyPr wrap="none" lIns="0" tIns="0" rIns="0" bIns="0" rtlCol="0" anchor="t">
            <a:spAutoFit/>
          </a:bodyPr>
          <a:lstStyle/>
          <a:p>
            <a:pPr marL="0" indent="0" algn="l">
              <a:lnSpc>
                <a:spcPts val="1600"/>
              </a:lnSpc>
              <a:buNone/>
            </a:pPr>
            <a:r>
              <a:rPr lang="en-US" sz="1090" b="1" dirty="0">
                <a:solidFill>
                  <a:srgbClr val="0F172A"/>
                </a:solidFill>
                <a:latin typeface="NanumGothic" pitchFamily="34" charset="0"/>
                <a:ea typeface="NanumGothic" pitchFamily="34" charset="-122"/>
                <a:cs typeface="NanumGothic" pitchFamily="34" charset="-120"/>
              </a:rPr>
              <a:t>시스템 레벨 트래픽 셰이핑</a:t>
            </a:r>
            <a:endParaRPr lang="en-US" sz="1090" dirty="0"/>
          </a:p>
        </p:txBody>
      </p:sp>
      <p:sp>
        <p:nvSpPr>
          <p:cNvPr id="21" name="Text 17"/>
          <p:cNvSpPr/>
          <p:nvPr/>
        </p:nvSpPr>
        <p:spPr>
          <a:xfrm>
            <a:off x="642938" y="3839096"/>
            <a:ext cx="3607594" cy="388609"/>
          </a:xfrm>
          <a:prstGeom prst="rect">
            <a:avLst/>
          </a:prstGeom>
          <a:noFill/>
          <a:ln/>
        </p:spPr>
        <p:txBody>
          <a:bodyPr wrap="square" lIns="0" tIns="0" rIns="0" bIns="0" rtlCol="0" anchor="t">
            <a:spAutoFit/>
          </a:bodyPr>
          <a:lstStyle/>
          <a:p>
            <a:pPr marL="0" indent="0" algn="l">
              <a:lnSpc>
                <a:spcPts val="1500"/>
              </a:lnSpc>
              <a:buNone/>
            </a:pPr>
            <a:r>
              <a:rPr lang="en-US" sz="888" dirty="0">
                <a:solidFill>
                  <a:srgbClr val="475569"/>
                </a:solidFill>
                <a:latin typeface="NanumGothic" pitchFamily="34" charset="0"/>
                <a:ea typeface="NanumGothic" pitchFamily="34" charset="-122"/>
                <a:cs typeface="NanumGothic" pitchFamily="34" charset="-120"/>
              </a:rPr>
              <a:t>단순한 알고리즘 교체보다 Staggered Startup 및 Reserved Window와 같은 시스템 측 셰이핑이 실현가능성 확보의 핵심 레버입니다.</a:t>
            </a:r>
            <a:endParaRPr lang="en-US" sz="888" dirty="0"/>
          </a:p>
        </p:txBody>
      </p:sp>
      <p:sp>
        <p:nvSpPr>
          <p:cNvPr id="22" name="Shape 18"/>
          <p:cNvSpPr/>
          <p:nvPr/>
        </p:nvSpPr>
        <p:spPr>
          <a:xfrm>
            <a:off x="4679156" y="3034726"/>
            <a:ext cx="4036219" cy="1823024"/>
          </a:xfrm>
          <a:prstGeom prst="rect">
            <a:avLst/>
          </a:prstGeom>
          <a:solidFill>
            <a:srgbClr val="F8FAFC"/>
          </a:solidFill>
          <a:ln/>
        </p:spPr>
        <p:txBody>
          <a:bodyPr/>
          <a:lstStyle/>
          <a:p>
            <a:endParaRPr lang="ko-KR" altLang="en-US"/>
          </a:p>
        </p:txBody>
      </p:sp>
      <p:sp>
        <p:nvSpPr>
          <p:cNvPr id="23" name="Shape 19"/>
          <p:cNvSpPr/>
          <p:nvPr/>
        </p:nvSpPr>
        <p:spPr>
          <a:xfrm>
            <a:off x="4679156" y="3034726"/>
            <a:ext cx="4036219" cy="42863"/>
          </a:xfrm>
          <a:prstGeom prst="rect">
            <a:avLst/>
          </a:prstGeom>
          <a:solidFill>
            <a:srgbClr val="2563EB"/>
          </a:solidFill>
          <a:ln/>
        </p:spPr>
        <p:txBody>
          <a:bodyPr/>
          <a:lstStyle/>
          <a:p>
            <a:endParaRPr lang="ko-KR" altLang="en-US"/>
          </a:p>
        </p:txBody>
      </p:sp>
      <p:sp>
        <p:nvSpPr>
          <p:cNvPr id="24" name="Text 20"/>
          <p:cNvSpPr/>
          <p:nvPr/>
        </p:nvSpPr>
        <p:spPr>
          <a:xfrm>
            <a:off x="4893469" y="3213320"/>
            <a:ext cx="3607594" cy="228600"/>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2563EB">
                    <a:alpha val="30000"/>
                  </a:srgbClr>
                </a:solidFill>
                <a:latin typeface="NanumGothic" pitchFamily="34" charset="0"/>
                <a:ea typeface="NanumGothic" pitchFamily="34" charset="-122"/>
                <a:cs typeface="NanumGothic" pitchFamily="34" charset="-120"/>
              </a:rPr>
              <a:t>04</a:t>
            </a:r>
            <a:endParaRPr lang="en-US" sz="1602" dirty="0"/>
          </a:p>
        </p:txBody>
      </p:sp>
      <p:sp>
        <p:nvSpPr>
          <p:cNvPr id="25" name="Text 21"/>
          <p:cNvSpPr/>
          <p:nvPr/>
        </p:nvSpPr>
        <p:spPr>
          <a:xfrm>
            <a:off x="4893469" y="3549076"/>
            <a:ext cx="3607594" cy="204295"/>
          </a:xfrm>
          <a:prstGeom prst="rect">
            <a:avLst/>
          </a:prstGeom>
          <a:noFill/>
          <a:ln/>
        </p:spPr>
        <p:txBody>
          <a:bodyPr wrap="none" lIns="0" tIns="0" rIns="0" bIns="0" rtlCol="0" anchor="t">
            <a:spAutoFit/>
          </a:bodyPr>
          <a:lstStyle/>
          <a:p>
            <a:pPr marL="0" indent="0" algn="l">
              <a:lnSpc>
                <a:spcPts val="1600"/>
              </a:lnSpc>
              <a:buNone/>
            </a:pPr>
            <a:r>
              <a:rPr lang="en-US" sz="1090" b="1" dirty="0">
                <a:solidFill>
                  <a:srgbClr val="0F172A"/>
                </a:solidFill>
                <a:latin typeface="NanumGothic" pitchFamily="34" charset="0"/>
                <a:ea typeface="NanumGothic" pitchFamily="34" charset="-122"/>
                <a:cs typeface="NanumGothic" pitchFamily="34" charset="-120"/>
              </a:rPr>
              <a:t>격자 외 다양성의 비용</a:t>
            </a:r>
            <a:endParaRPr lang="en-US" sz="1090" dirty="0"/>
          </a:p>
        </p:txBody>
      </p:sp>
      <p:sp>
        <p:nvSpPr>
          <p:cNvPr id="26" name="Text 22"/>
          <p:cNvSpPr/>
          <p:nvPr/>
        </p:nvSpPr>
        <p:spPr>
          <a:xfrm>
            <a:off x="4893469" y="3839096"/>
            <a:ext cx="3607594" cy="582913"/>
          </a:xfrm>
          <a:prstGeom prst="rect">
            <a:avLst/>
          </a:prstGeom>
          <a:noFill/>
          <a:ln/>
        </p:spPr>
        <p:txBody>
          <a:bodyPr wrap="square" lIns="0" tIns="0" rIns="0" bIns="0" rtlCol="0" anchor="t">
            <a:spAutoFit/>
          </a:bodyPr>
          <a:lstStyle/>
          <a:p>
            <a:pPr marL="0" indent="0" algn="l">
              <a:lnSpc>
                <a:spcPts val="1500"/>
              </a:lnSpc>
              <a:buNone/>
            </a:pPr>
            <a:r>
              <a:rPr lang="en-US" sz="888" dirty="0">
                <a:solidFill>
                  <a:srgbClr val="475569"/>
                </a:solidFill>
                <a:latin typeface="NanumGothic" pitchFamily="34" charset="0"/>
                <a:ea typeface="NanumGothic" pitchFamily="34" charset="-122"/>
                <a:cs typeface="NanumGothic" pitchFamily="34" charset="-120"/>
              </a:rPr>
              <a:t>HQC, SLH-DSA와 같은 격자 외 다양성(Hardness-assumption diversity)은 정량화 가능한 수준의 CAN-FD 대역폭 프리미엄을 수반합니다.</a:t>
            </a:r>
            <a:endParaRPr lang="en-US" sz="888" dirty="0"/>
          </a:p>
        </p:txBody>
      </p:sp>
      <p:sp>
        <p:nvSpPr>
          <p:cNvPr id="27" name="Text 23"/>
          <p:cNvSpPr/>
          <p:nvPr/>
        </p:nvSpPr>
        <p:spPr>
          <a:xfrm>
            <a:off x="0" y="4875609"/>
            <a:ext cx="9144000" cy="125016"/>
          </a:xfrm>
          <a:prstGeom prst="rect">
            <a:avLst/>
          </a:prstGeom>
          <a:noFill/>
          <a:ln/>
        </p:spPr>
        <p:txBody>
          <a:bodyPr wrap="none" lIns="0" tIns="0" rIns="0" bIns="0" rtlCol="0" anchor="t">
            <a:spAutoFit/>
          </a:bodyPr>
          <a:lstStyle/>
          <a:p>
            <a:pPr marL="0" indent="0" algn="ctr">
              <a:lnSpc>
                <a:spcPts val="900"/>
              </a:lnSpc>
              <a:buNone/>
            </a:pPr>
            <a:r>
              <a:rPr lang="en-US" sz="727" dirty="0">
                <a:solidFill>
                  <a:srgbClr val="94A3B8"/>
                </a:solidFill>
                <a:latin typeface="NanumGothic" pitchFamily="34" charset="0"/>
                <a:ea typeface="NanumGothic" pitchFamily="34" charset="-122"/>
                <a:cs typeface="NanumGothic" pitchFamily="34" charset="-120"/>
              </a:rPr>
              <a:t>16</a:t>
            </a:r>
            <a:endParaRPr lang="en-US" sz="727"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4" name="Text 0"/>
          <p:cNvSpPr/>
          <p:nvPr/>
        </p:nvSpPr>
        <p:spPr>
          <a:xfrm>
            <a:off x="3118247" y="1864965"/>
            <a:ext cx="2907506" cy="457200"/>
          </a:xfrm>
          <a:prstGeom prst="rect">
            <a:avLst/>
          </a:prstGeom>
          <a:noFill/>
          <a:ln/>
        </p:spPr>
        <p:txBody>
          <a:bodyPr wrap="none" lIns="0" tIns="0" rIns="0" bIns="0" rtlCol="0" anchor="t">
            <a:spAutoFit/>
          </a:bodyPr>
          <a:lstStyle/>
          <a:p>
            <a:pPr marL="0" indent="0" algn="ctr">
              <a:lnSpc>
                <a:spcPts val="4300"/>
              </a:lnSpc>
              <a:buNone/>
            </a:pPr>
            <a:r>
              <a:rPr lang="en-US" sz="3294" b="1" dirty="0">
                <a:solidFill>
                  <a:srgbClr val="0F172A"/>
                </a:solidFill>
                <a:latin typeface="NanumGothic" pitchFamily="34" charset="0"/>
                <a:ea typeface="NanumGothic" pitchFamily="34" charset="-122"/>
                <a:cs typeface="NanumGothic" pitchFamily="34" charset="-120"/>
              </a:rPr>
              <a:t>Q&amp;A</a:t>
            </a:r>
            <a:endParaRPr lang="en-US" sz="3294" dirty="0"/>
          </a:p>
        </p:txBody>
      </p:sp>
      <p:sp>
        <p:nvSpPr>
          <p:cNvPr id="5" name="Text 1"/>
          <p:cNvSpPr/>
          <p:nvPr/>
        </p:nvSpPr>
        <p:spPr>
          <a:xfrm>
            <a:off x="3118247" y="2722215"/>
            <a:ext cx="2907506" cy="226814"/>
          </a:xfrm>
          <a:prstGeom prst="rect">
            <a:avLst/>
          </a:prstGeom>
          <a:noFill/>
          <a:ln/>
        </p:spPr>
        <p:txBody>
          <a:bodyPr wrap="none" lIns="0" tIns="0" rIns="0" bIns="0" rtlCol="0" anchor="t">
            <a:spAutoFit/>
          </a:bodyPr>
          <a:lstStyle/>
          <a:p>
            <a:pPr marL="0" indent="0" algn="ctr">
              <a:lnSpc>
                <a:spcPts val="2200"/>
              </a:lnSpc>
              <a:buNone/>
            </a:pPr>
            <a:r>
              <a:rPr lang="en-US" sz="1602" b="1" dirty="0">
                <a:solidFill>
                  <a:srgbClr val="2563EB"/>
                </a:solidFill>
                <a:latin typeface="NanumGothic" pitchFamily="34" charset="0"/>
                <a:ea typeface="NanumGothic" pitchFamily="34" charset="-122"/>
                <a:cs typeface="NanumGothic" pitchFamily="34" charset="-120"/>
              </a:rPr>
              <a:t>경청해 주셔서 감사합니다.</a:t>
            </a:r>
            <a:endParaRPr lang="en-US" sz="1602" dirty="0"/>
          </a:p>
        </p:txBody>
      </p:sp>
      <p:pic>
        <p:nvPicPr>
          <p:cNvPr id="6" name="Image 1" descr="preencoded.png"/>
          <p:cNvPicPr>
            <a:picLocks noChangeAspect="1"/>
          </p:cNvPicPr>
          <p:nvPr/>
        </p:nvPicPr>
        <p:blipFill>
          <a:blip r:embed="rId4"/>
          <a:stretch>
            <a:fillRect/>
          </a:stretch>
        </p:blipFill>
        <p:spPr>
          <a:xfrm>
            <a:off x="3118247" y="3377654"/>
            <a:ext cx="166092" cy="171450"/>
          </a:xfrm>
          <a:prstGeom prst="rect">
            <a:avLst/>
          </a:prstGeom>
        </p:spPr>
      </p:pic>
      <p:sp>
        <p:nvSpPr>
          <p:cNvPr id="7" name="Text 2"/>
          <p:cNvSpPr/>
          <p:nvPr/>
        </p:nvSpPr>
        <p:spPr>
          <a:xfrm>
            <a:off x="3370064" y="3392835"/>
            <a:ext cx="2655689" cy="141089"/>
          </a:xfrm>
          <a:prstGeom prst="rect">
            <a:avLst/>
          </a:prstGeom>
          <a:noFill/>
          <a:ln/>
        </p:spPr>
        <p:txBody>
          <a:bodyPr wrap="none" lIns="0" tIns="0" rIns="0" bIns="0" rtlCol="0" anchor="t">
            <a:spAutoFit/>
          </a:bodyPr>
          <a:lstStyle/>
          <a:p>
            <a:pPr marL="0" indent="0" algn="ctr">
              <a:lnSpc>
                <a:spcPts val="1400"/>
              </a:lnSpc>
              <a:buNone/>
            </a:pPr>
            <a:r>
              <a:rPr lang="en-US" sz="987" b="1" dirty="0">
                <a:solidFill>
                  <a:srgbClr val="2563EB"/>
                </a:solidFill>
                <a:latin typeface="NanumGothic" pitchFamily="34" charset="0"/>
                <a:ea typeface="NanumGothic" pitchFamily="34" charset="-122"/>
                <a:cs typeface="NanumGothic" pitchFamily="34" charset="-120"/>
              </a:rPr>
              <a:t>https://github.com/minunejip/CAN-PQC</a:t>
            </a:r>
            <a:endParaRPr lang="en-US" sz="987" dirty="0"/>
          </a:p>
        </p:txBody>
      </p:sp>
      <p:pic>
        <p:nvPicPr>
          <p:cNvPr id="8" name="Image 2" descr="preencoded.png"/>
          <p:cNvPicPr>
            <a:picLocks noChangeAspect="1"/>
          </p:cNvPicPr>
          <p:nvPr/>
        </p:nvPicPr>
        <p:blipFill>
          <a:blip r:embed="rId5"/>
          <a:stretch>
            <a:fillRect/>
          </a:stretch>
        </p:blipFill>
        <p:spPr>
          <a:xfrm>
            <a:off x="3760701" y="3695551"/>
            <a:ext cx="171450" cy="171450"/>
          </a:xfrm>
          <a:prstGeom prst="rect">
            <a:avLst/>
          </a:prstGeom>
        </p:spPr>
      </p:pic>
      <p:sp>
        <p:nvSpPr>
          <p:cNvPr id="9" name="Text 3"/>
          <p:cNvSpPr/>
          <p:nvPr/>
        </p:nvSpPr>
        <p:spPr>
          <a:xfrm>
            <a:off x="4040954" y="3691979"/>
            <a:ext cx="1319272" cy="170175"/>
          </a:xfrm>
          <a:prstGeom prst="rect">
            <a:avLst/>
          </a:prstGeom>
          <a:noFill/>
          <a:ln/>
        </p:spPr>
        <p:txBody>
          <a:bodyPr wrap="none" lIns="0" tIns="0" rIns="0" bIns="0" rtlCol="0" anchor="t">
            <a:spAutoFit/>
          </a:bodyPr>
          <a:lstStyle/>
          <a:p>
            <a:pPr marL="0" indent="0" algn="ctr">
              <a:lnSpc>
                <a:spcPts val="1400"/>
              </a:lnSpc>
              <a:buNone/>
            </a:pPr>
            <a:r>
              <a:rPr lang="en-US" sz="1050" dirty="0">
                <a:solidFill>
                  <a:srgbClr val="475569"/>
                </a:solidFill>
                <a:latin typeface="NanumGothic" pitchFamily="34" charset="0"/>
                <a:ea typeface="NanumGothic" pitchFamily="34" charset="-122"/>
                <a:cs typeface="NanumGothic" pitchFamily="34" charset="-120"/>
              </a:rPr>
              <a:t>[minunejip@gmail.com]</a:t>
            </a:r>
            <a:endParaRPr lang="en-US" sz="1050" dirty="0"/>
          </a:p>
        </p:txBody>
      </p:sp>
      <p:sp>
        <p:nvSpPr>
          <p:cNvPr id="10" name="Text 4"/>
          <p:cNvSpPr/>
          <p:nvPr/>
        </p:nvSpPr>
        <p:spPr>
          <a:xfrm>
            <a:off x="7129463" y="4743450"/>
            <a:ext cx="1585913" cy="114300"/>
          </a:xfrm>
          <a:prstGeom prst="rect">
            <a:avLst/>
          </a:prstGeom>
          <a:noFill/>
          <a:ln/>
        </p:spPr>
        <p:txBody>
          <a:bodyPr wrap="none" lIns="0" tIns="0" rIns="0" bIns="0" rtlCol="0" anchor="t">
            <a:spAutoFit/>
          </a:bodyPr>
          <a:lstStyle/>
          <a:p>
            <a:pPr marL="0" indent="0" algn="l">
              <a:lnSpc>
                <a:spcPts val="1100"/>
              </a:lnSpc>
              <a:buNone/>
            </a:pPr>
            <a:r>
              <a:rPr lang="en-US" sz="784" b="1" kern="0" spc="2" dirty="0">
                <a:solidFill>
                  <a:srgbClr val="CBD5E1"/>
                </a:solidFill>
                <a:latin typeface="NanumGothic" pitchFamily="34" charset="0"/>
                <a:ea typeface="NanumGothic" pitchFamily="34" charset="-122"/>
                <a:cs typeface="NanumGothic" pitchFamily="34" charset="-120"/>
              </a:rPr>
              <a:t>HANSEONG UNIVERSITY</a:t>
            </a:r>
            <a:endParaRPr lang="en-US" sz="784"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95AAF5F-B69A-41F5-8D49-BE4D32358E01}">
  <we:reference id="wa200010001" version="1.0.0.1" store="en-US" storeType="OMEX"/>
  <we:alternateReferences>
    <we:reference id="wa200010001" version="1.0.0.1" store="en-US" storeType="OMEX"/>
  </we:alternateReferences>
  <we:properties>
    <we:property name="claude.fileId" value="&quot;126818a6-7a2a-4dd3-8700-7e59ce63571b&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86</TotalTime>
  <Words>3349</Words>
  <Application>Microsoft Macintosh PowerPoint</Application>
  <PresentationFormat>화면 슬라이드 쇼(16:9)</PresentationFormat>
  <Paragraphs>304</Paragraphs>
  <Slides>17</Slides>
  <Notes>17</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17</vt:i4>
      </vt:variant>
    </vt:vector>
  </HeadingPairs>
  <TitlesOfParts>
    <vt:vector size="21" baseType="lpstr">
      <vt:lpstr>NanumGothic</vt:lpstr>
      <vt:lpstr>Arial</vt:lpstr>
      <vt:lpstr>Courier New</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Minwoo Lee</cp:lastModifiedBy>
  <cp:revision>8</cp:revision>
  <dcterms:created xsi:type="dcterms:W3CDTF">2026-04-13T12:15:01Z</dcterms:created>
  <dcterms:modified xsi:type="dcterms:W3CDTF">2026-04-19T17:37:24Z</dcterms:modified>
</cp:coreProperties>
</file>