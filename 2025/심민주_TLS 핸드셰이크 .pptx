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4" r:id="rId2"/>
  </p:sldMasterIdLst>
  <p:notesMasterIdLst>
    <p:notesMasterId r:id="rId27"/>
  </p:notesMasterIdLst>
  <p:handoutMasterIdLst>
    <p:handoutMasterId r:id="rId28"/>
  </p:handoutMasterIdLst>
  <p:sldIdLst>
    <p:sldId id="269" r:id="rId3"/>
    <p:sldId id="858" r:id="rId4"/>
    <p:sldId id="860" r:id="rId5"/>
    <p:sldId id="288" r:id="rId6"/>
    <p:sldId id="286" r:id="rId7"/>
    <p:sldId id="874" r:id="rId8"/>
    <p:sldId id="863" r:id="rId9"/>
    <p:sldId id="865" r:id="rId10"/>
    <p:sldId id="876" r:id="rId11"/>
    <p:sldId id="872" r:id="rId12"/>
    <p:sldId id="864" r:id="rId13"/>
    <p:sldId id="871" r:id="rId14"/>
    <p:sldId id="873" r:id="rId15"/>
    <p:sldId id="869" r:id="rId16"/>
    <p:sldId id="875" r:id="rId17"/>
    <p:sldId id="870" r:id="rId18"/>
    <p:sldId id="877" r:id="rId19"/>
    <p:sldId id="878" r:id="rId20"/>
    <p:sldId id="866" r:id="rId21"/>
    <p:sldId id="867" r:id="rId22"/>
    <p:sldId id="868" r:id="rId23"/>
    <p:sldId id="859" r:id="rId24"/>
    <p:sldId id="289" r:id="rId25"/>
    <p:sldId id="274" r:id="rId2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75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E09B4F-A217-364B-8ECD-64D90B4F8E76}" v="708" dt="2025-10-31T08:34:22.5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66" autoAdjust="0"/>
    <p:restoredTop sz="94660"/>
  </p:normalViewPr>
  <p:slideViewPr>
    <p:cSldViewPr snapToGrid="0">
      <p:cViewPr varScale="1">
        <p:scale>
          <a:sx n="160" d="100"/>
          <a:sy n="160" d="100"/>
        </p:scale>
        <p:origin x="424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3730" y="91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546E7E-6CE1-4F62-BC39-1BE7148D0D0D}" type="datetimeFigureOut">
              <a:rPr lang="ko-KR" altLang="en-US" smtClean="0"/>
              <a:t>2025. 10. 31.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F56489-CFDC-4DF4-92D1-C366C0FB17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98405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8A1C54-2D0D-48EB-888A-9786B070F533}" type="datetimeFigureOut">
              <a:rPr lang="ko-KR" altLang="en-US" smtClean="0"/>
              <a:t>2025. 10. 31.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02C913-610E-4BF0-B55F-9CE65BBA65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2976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11920" y="207747"/>
            <a:ext cx="11368160" cy="76216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20" name="모서리가 둥근 직사각형 19"/>
          <p:cNvSpPr/>
          <p:nvPr userDrawn="1"/>
        </p:nvSpPr>
        <p:spPr>
          <a:xfrm>
            <a:off x="411920" y="207747"/>
            <a:ext cx="11368160" cy="762163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0"/>
          </p:nvPr>
        </p:nvSpPr>
        <p:spPr>
          <a:xfrm>
            <a:off x="411163" y="1152525"/>
            <a:ext cx="11369675" cy="50577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819850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1223120"/>
            <a:ext cx="12192000" cy="2387600"/>
          </a:xfrm>
        </p:spPr>
        <p:txBody>
          <a:bodyPr anchor="ctr"/>
          <a:lstStyle>
            <a:lvl1pPr algn="ctr">
              <a:defRPr sz="6000" b="0">
                <a:latin typeface="+mj-ea"/>
                <a:ea typeface="+mj-ea"/>
                <a:cs typeface="함초롬돋움" panose="020B0604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-2" y="3794871"/>
            <a:ext cx="12192001" cy="1655762"/>
          </a:xfrm>
        </p:spPr>
        <p:txBody>
          <a:bodyPr anchor="ctr"/>
          <a:lstStyle>
            <a:lvl1pPr marL="0" indent="0" algn="ctr">
              <a:buNone/>
              <a:defRPr sz="2400">
                <a:latin typeface="+mn-ea"/>
                <a:ea typeface="+mn-ea"/>
                <a:cs typeface="함초롬돋움" panose="020B0604000101010101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96" y="6195047"/>
            <a:ext cx="3026852" cy="642781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0202" y="6215220"/>
            <a:ext cx="1311798" cy="642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263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>
            <a:cxnSpLocks/>
          </p:cNvCxnSpPr>
          <p:nvPr userDrawn="1"/>
        </p:nvCxnSpPr>
        <p:spPr>
          <a:xfrm>
            <a:off x="4863597" y="2208981"/>
            <a:ext cx="199407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텍스트 개체 틀 4"/>
          <p:cNvSpPr>
            <a:spLocks noGrp="1"/>
          </p:cNvSpPr>
          <p:nvPr>
            <p:ph type="body" sz="quarter" idx="11" hasCustomPrompt="1"/>
          </p:nvPr>
        </p:nvSpPr>
        <p:spPr>
          <a:xfrm>
            <a:off x="1055592" y="1691017"/>
            <a:ext cx="10071852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70" name="텍스트 개체 틀 4"/>
          <p:cNvSpPr>
            <a:spLocks noGrp="1"/>
          </p:cNvSpPr>
          <p:nvPr>
            <p:ph type="body" sz="quarter" idx="25" hasCustomPrompt="1"/>
          </p:nvPr>
        </p:nvSpPr>
        <p:spPr>
          <a:xfrm>
            <a:off x="1055592" y="2606858"/>
            <a:ext cx="10071850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76" name="텍스트 개체 틀 4"/>
          <p:cNvSpPr>
            <a:spLocks noGrp="1"/>
          </p:cNvSpPr>
          <p:nvPr>
            <p:ph type="body" sz="quarter" idx="27" hasCustomPrompt="1"/>
          </p:nvPr>
        </p:nvSpPr>
        <p:spPr>
          <a:xfrm>
            <a:off x="1055592" y="3526039"/>
            <a:ext cx="10071850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79" name="텍스트 개체 틀 4"/>
          <p:cNvSpPr>
            <a:spLocks noGrp="1"/>
          </p:cNvSpPr>
          <p:nvPr>
            <p:ph type="body" sz="quarter" idx="29" hasCustomPrompt="1"/>
          </p:nvPr>
        </p:nvSpPr>
        <p:spPr>
          <a:xfrm>
            <a:off x="1055593" y="4441880"/>
            <a:ext cx="10071849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11" name="모서리가 둥근 직사각형 19">
            <a:extLst>
              <a:ext uri="{FF2B5EF4-FFF2-40B4-BE49-F238E27FC236}">
                <a16:creationId xmlns:a16="http://schemas.microsoft.com/office/drawing/2014/main" id="{9A1001AF-7C71-4701-94B0-3772F84D3418}"/>
              </a:ext>
            </a:extLst>
          </p:cNvPr>
          <p:cNvSpPr/>
          <p:nvPr userDrawn="1"/>
        </p:nvSpPr>
        <p:spPr>
          <a:xfrm>
            <a:off x="1064556" y="1691018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모서리가 둥근 직사각형 19">
            <a:extLst>
              <a:ext uri="{FF2B5EF4-FFF2-40B4-BE49-F238E27FC236}">
                <a16:creationId xmlns:a16="http://schemas.microsoft.com/office/drawing/2014/main" id="{D9E18A4C-9D39-4312-9D41-EA0FA0703DAD}"/>
              </a:ext>
            </a:extLst>
          </p:cNvPr>
          <p:cNvSpPr/>
          <p:nvPr userDrawn="1"/>
        </p:nvSpPr>
        <p:spPr>
          <a:xfrm>
            <a:off x="1064556" y="2603620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모서리가 둥근 직사각형 19">
            <a:extLst>
              <a:ext uri="{FF2B5EF4-FFF2-40B4-BE49-F238E27FC236}">
                <a16:creationId xmlns:a16="http://schemas.microsoft.com/office/drawing/2014/main" id="{DD43020D-DDFD-4ED7-A112-51545002358E}"/>
              </a:ext>
            </a:extLst>
          </p:cNvPr>
          <p:cNvSpPr/>
          <p:nvPr userDrawn="1"/>
        </p:nvSpPr>
        <p:spPr>
          <a:xfrm>
            <a:off x="1064556" y="3532617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모서리가 둥근 직사각형 19">
            <a:extLst>
              <a:ext uri="{FF2B5EF4-FFF2-40B4-BE49-F238E27FC236}">
                <a16:creationId xmlns:a16="http://schemas.microsoft.com/office/drawing/2014/main" id="{7B5C337D-B310-4C62-8229-6DD25DC8C899}"/>
              </a:ext>
            </a:extLst>
          </p:cNvPr>
          <p:cNvSpPr/>
          <p:nvPr userDrawn="1"/>
        </p:nvSpPr>
        <p:spPr>
          <a:xfrm>
            <a:off x="1064556" y="4445220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91475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종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>
          <a:xfrm>
            <a:off x="0" y="2767280"/>
            <a:ext cx="1219199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8000" dirty="0">
                <a:latin typeface="+mj-lt"/>
              </a:rPr>
              <a:t>Q &amp; A</a:t>
            </a:r>
            <a:endParaRPr lang="ko-KR" altLang="en-US" sz="8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294381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" name="직사각형 9"/>
          <p:cNvSpPr/>
          <p:nvPr userDrawn="1"/>
        </p:nvSpPr>
        <p:spPr>
          <a:xfrm>
            <a:off x="8623390" y="6412231"/>
            <a:ext cx="356861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fld id="{86B743E8-9D27-4F69-87ED-4623B89CBF9F}" type="slidenum">
              <a:rPr lang="ko-KR" altLang="en-US" sz="2000" smtClean="0">
                <a:solidFill>
                  <a:schemeClr val="tx1"/>
                </a:solidFill>
                <a:latin typeface="+mn-lt"/>
              </a:rPr>
              <a:t>‹#›</a:t>
            </a:fld>
            <a:endParaRPr lang="ko-KR" altLang="en-US" sz="2000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06993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8DAAC8-442A-4C15-9819-F07FF5E7315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96665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9" r:id="rId3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4800" dirty="0"/>
              <a:t>TLS</a:t>
            </a:r>
            <a:r>
              <a:rPr lang="ko-KR" altLang="en-US" sz="4800" dirty="0"/>
              <a:t> </a:t>
            </a:r>
            <a:r>
              <a:rPr lang="ko-KR" altLang="en-US" sz="4800" dirty="0" err="1"/>
              <a:t>핸드셰이크</a:t>
            </a:r>
            <a:r>
              <a:rPr lang="ko-KR" altLang="en-US" sz="4800" dirty="0"/>
              <a:t> 상세 분석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" altLang="ko-KR" dirty="0"/>
              <a:t>https://</a:t>
            </a:r>
            <a:r>
              <a:rPr lang="en" altLang="ko-KR" dirty="0" err="1"/>
              <a:t>youtu.be</a:t>
            </a:r>
            <a:r>
              <a:rPr lang="en" altLang="ko-KR" dirty="0"/>
              <a:t>/ESAAStI4sGQ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06322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BBB77-AABF-7AED-35EF-AE2B72DEA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76AA0B-9B8B-24DC-0BB1-DBE63471F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TLS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E35378C-3629-B5D5-6578-71D5983C26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altLang="ko-KR" sz="2400" b="1" dirty="0"/>
              <a:t>Transport Layer Security</a:t>
            </a:r>
          </a:p>
          <a:p>
            <a:pPr lvl="1"/>
            <a:r>
              <a:rPr lang="ko-KR" altLang="en-US" sz="2000" dirty="0"/>
              <a:t>컴퓨터 네트워크 상에서 안전한 통신을 보장하기 위한 암호화 프로토콜</a:t>
            </a:r>
            <a:endParaRPr lang="en-US" altLang="ko-KR" sz="2000" dirty="0"/>
          </a:p>
          <a:p>
            <a:pPr lvl="1"/>
            <a:r>
              <a:rPr lang="ko-KR" altLang="en-US" sz="2000" dirty="0"/>
              <a:t>일반적으로 </a:t>
            </a:r>
            <a:r>
              <a:rPr lang="en-US" altLang="ko-KR" sz="2000" dirty="0"/>
              <a:t>TCP(Transmission Control Protocol,</a:t>
            </a:r>
            <a:r>
              <a:rPr lang="ko-KR" altLang="en-US" sz="2000" dirty="0"/>
              <a:t> 전송 제어 프로토콜</a:t>
            </a:r>
            <a:r>
              <a:rPr lang="en-US" altLang="ko-KR" sz="2000" dirty="0"/>
              <a:t>)</a:t>
            </a:r>
            <a:r>
              <a:rPr lang="ko-KR" altLang="en-US" sz="2000" dirty="0"/>
              <a:t> 위에서 동작</a:t>
            </a:r>
            <a:endParaRPr lang="en-US" altLang="ko-KR" sz="2000" dirty="0"/>
          </a:p>
          <a:p>
            <a:pPr lvl="1"/>
            <a:r>
              <a:rPr lang="en-US" altLang="ko-KR" sz="2000" dirty="0"/>
              <a:t>TLS</a:t>
            </a:r>
            <a:r>
              <a:rPr lang="ko-KR" altLang="en-US" sz="2000" dirty="0"/>
              <a:t> </a:t>
            </a:r>
            <a:r>
              <a:rPr lang="en-US" altLang="ko-KR" sz="2000" dirty="0"/>
              <a:t>1.3</a:t>
            </a:r>
            <a:r>
              <a:rPr lang="ko-KR" altLang="en-US" sz="2000" dirty="0"/>
              <a:t>은 </a:t>
            </a:r>
            <a:r>
              <a:rPr lang="en-US" altLang="ko-KR" sz="2000" dirty="0"/>
              <a:t>2018</a:t>
            </a:r>
            <a:r>
              <a:rPr lang="ko-KR" altLang="en-US" sz="2000" dirty="0"/>
              <a:t>년에 표준화된 최신 버전</a:t>
            </a:r>
            <a:endParaRPr lang="en-US" altLang="ko-KR" sz="2000" dirty="0"/>
          </a:p>
          <a:p>
            <a:pPr lvl="2"/>
            <a:r>
              <a:rPr lang="ko-KR" altLang="en-US" sz="1600" dirty="0"/>
              <a:t>기존 버전보다 더 강화된 보안성</a:t>
            </a:r>
            <a:r>
              <a:rPr lang="en-US" altLang="ko-KR" sz="1600" dirty="0"/>
              <a:t>,</a:t>
            </a:r>
            <a:r>
              <a:rPr lang="ko-KR" altLang="en-US" sz="1600" dirty="0"/>
              <a:t> 지연 시간 감소</a:t>
            </a:r>
            <a:r>
              <a:rPr lang="en-US" altLang="ko-KR" sz="1600" dirty="0"/>
              <a:t>,</a:t>
            </a:r>
            <a:r>
              <a:rPr lang="ko-KR" altLang="en-US" sz="1600" dirty="0"/>
              <a:t> 단순화된 설정 제공</a:t>
            </a:r>
            <a:endParaRPr lang="en-US" altLang="ko-KR" sz="1600" dirty="0"/>
          </a:p>
          <a:p>
            <a:pPr lvl="2"/>
            <a:r>
              <a:rPr lang="en-US" altLang="ko-KR" sz="1600" dirty="0"/>
              <a:t>Client-Server</a:t>
            </a:r>
            <a:r>
              <a:rPr lang="ko-KR" altLang="en-US" sz="1600" dirty="0"/>
              <a:t> 사이의 인증</a:t>
            </a:r>
            <a:r>
              <a:rPr lang="en-US" altLang="ko-KR" sz="1600" dirty="0"/>
              <a:t>,</a:t>
            </a:r>
            <a:r>
              <a:rPr lang="ko-KR" altLang="en-US" sz="1600" dirty="0"/>
              <a:t> 데이터 암호화</a:t>
            </a:r>
            <a:r>
              <a:rPr lang="en-US" altLang="ko-KR" sz="1600" dirty="0"/>
              <a:t>,</a:t>
            </a:r>
            <a:r>
              <a:rPr lang="ko-KR" altLang="en-US" sz="1600" dirty="0"/>
              <a:t> 무결성 제공</a:t>
            </a:r>
            <a:endParaRPr lang="en-US" altLang="ko-KR" sz="1600" dirty="0"/>
          </a:p>
          <a:p>
            <a:pPr lvl="3"/>
            <a:endParaRPr lang="en-US" altLang="ko-KR" sz="1400" dirty="0"/>
          </a:p>
          <a:p>
            <a:pPr lvl="2"/>
            <a:endParaRPr lang="en-US" altLang="ko-KR" sz="1600" dirty="0"/>
          </a:p>
          <a:p>
            <a:pPr lvl="1"/>
            <a:endParaRPr lang="en-US" altLang="ko-KR" sz="2000" dirty="0"/>
          </a:p>
          <a:p>
            <a:pPr lvl="1"/>
            <a:endParaRPr lang="ko-KR" alt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EAD69B-49EC-3255-6A89-F7F5919EE15C}"/>
              </a:ext>
            </a:extLst>
          </p:cNvPr>
          <p:cNvSpPr txBox="1"/>
          <p:nvPr/>
        </p:nvSpPr>
        <p:spPr>
          <a:xfrm>
            <a:off x="5357740" y="6498836"/>
            <a:ext cx="68342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sz="1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Rios, Ruben, et al. "Towards the Quantum-Safe Web: Benchmarking Post-Quantum TLS." </a:t>
            </a:r>
            <a:r>
              <a:rPr lang="en" altLang="ko-KR" sz="10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IEEE Network</a:t>
            </a:r>
            <a:r>
              <a:rPr lang="en" altLang="ko-KR" sz="1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(2025).</a:t>
            </a:r>
            <a:endParaRPr lang="ko-KR" altLang="en-US" sz="10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D1B38F1-25B2-5F7C-3C2E-7DCFA80949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89" t="5165" r="3813" b="1433"/>
          <a:stretch/>
        </p:blipFill>
        <p:spPr>
          <a:xfrm>
            <a:off x="4094019" y="3131855"/>
            <a:ext cx="4260272" cy="336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053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1F6363-D34A-51B3-E438-A851D4D89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TLS</a:t>
            </a:r>
            <a:r>
              <a:rPr kumimoji="1" lang="ko-KR" altLang="en-US" dirty="0"/>
              <a:t> </a:t>
            </a:r>
            <a:r>
              <a:rPr kumimoji="1" lang="en-US" altLang="ko-KR" dirty="0"/>
              <a:t>Handshake</a:t>
            </a:r>
            <a:endParaRPr kumimoji="1"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A6D391A-CC6A-7F27-A2D5-170A976B65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ko-KR" altLang="en-US" sz="2000" dirty="0"/>
              <a:t>클라이언트와 서버가 암호화된 세션을 수립하기 위한 초기 과정</a:t>
            </a:r>
          </a:p>
          <a:p>
            <a:r>
              <a:rPr lang="ko-KR" altLang="en-US" sz="2000" dirty="0"/>
              <a:t>암호 스펙 협상</a:t>
            </a:r>
            <a:r>
              <a:rPr lang="en-US" altLang="ko-KR" sz="2000" dirty="0"/>
              <a:t>, </a:t>
            </a:r>
            <a:r>
              <a:rPr lang="ko-KR" altLang="en-US" sz="2000" dirty="0"/>
              <a:t>키 교환</a:t>
            </a:r>
            <a:r>
              <a:rPr lang="en-US" altLang="ko-KR" sz="2000" dirty="0"/>
              <a:t>, </a:t>
            </a:r>
            <a:r>
              <a:rPr lang="ko-KR" altLang="en-US" sz="2000" dirty="0"/>
              <a:t>인증</a:t>
            </a:r>
            <a:r>
              <a:rPr lang="en-US" altLang="ko-KR" sz="2000" dirty="0"/>
              <a:t>, </a:t>
            </a:r>
            <a:r>
              <a:rPr lang="ko-KR" altLang="en-US" sz="2000" dirty="0"/>
              <a:t>무결성 검증을 수행</a:t>
            </a:r>
          </a:p>
          <a:p>
            <a:r>
              <a:rPr lang="en-US" altLang="ko-KR" sz="2000" dirty="0"/>
              <a:t>TLS 1.3</a:t>
            </a:r>
            <a:r>
              <a:rPr lang="ko-KR" altLang="en-US" sz="2000" dirty="0"/>
              <a:t>은 </a:t>
            </a:r>
            <a:r>
              <a:rPr lang="en-US" altLang="ko-KR" sz="2000" dirty="0"/>
              <a:t>1 RTT(Round Trip Time)</a:t>
            </a:r>
            <a:r>
              <a:rPr lang="ko-KR" altLang="en-US" sz="2000" dirty="0"/>
              <a:t>로 축소되어 지연시간을 크게 감소시킴</a:t>
            </a:r>
          </a:p>
          <a:p>
            <a:endParaRPr lang="ko-KR" altLang="en-US" sz="2000" dirty="0"/>
          </a:p>
          <a:p>
            <a:r>
              <a:rPr lang="ko-KR" altLang="en-US" sz="2000" dirty="0"/>
              <a:t>주요 단계</a:t>
            </a:r>
            <a:r>
              <a:rPr lang="en-US" altLang="ko-KR" sz="2000" dirty="0"/>
              <a:t>:</a:t>
            </a:r>
          </a:p>
          <a:p>
            <a:pPr marL="0" indent="0">
              <a:buNone/>
            </a:pPr>
            <a:r>
              <a:rPr lang="en-US" altLang="ko-KR" sz="2000" dirty="0"/>
              <a:t>1) </a:t>
            </a:r>
            <a:r>
              <a:rPr lang="en-US" altLang="ko-KR" sz="2000" dirty="0" err="1"/>
              <a:t>ClientHello</a:t>
            </a:r>
            <a:r>
              <a:rPr lang="en-US" altLang="ko-KR" sz="2000" dirty="0"/>
              <a:t> / </a:t>
            </a:r>
            <a:r>
              <a:rPr lang="en-US" altLang="ko-KR" sz="2000" dirty="0" err="1"/>
              <a:t>ServerHello</a:t>
            </a:r>
            <a:r>
              <a:rPr lang="en-US" altLang="ko-KR" sz="2000" dirty="0"/>
              <a:t> → </a:t>
            </a:r>
            <a:r>
              <a:rPr lang="ko-KR" altLang="en-US" sz="2000" dirty="0"/>
              <a:t>키 교환 및 알고리즘 협상</a:t>
            </a:r>
          </a:p>
          <a:p>
            <a:pPr marL="0" indent="0">
              <a:buNone/>
            </a:pPr>
            <a:r>
              <a:rPr lang="en-US" altLang="ko-KR" sz="2000" dirty="0"/>
              <a:t>2) Shared Secret </a:t>
            </a:r>
            <a:r>
              <a:rPr lang="ko-KR" altLang="en-US" sz="2000" dirty="0"/>
              <a:t>생성 → </a:t>
            </a:r>
            <a:r>
              <a:rPr lang="en-US" altLang="ko-KR" sz="2000" dirty="0" err="1"/>
              <a:t>handshake_secret</a:t>
            </a:r>
            <a:r>
              <a:rPr lang="en-US" altLang="ko-KR" sz="2000" dirty="0"/>
              <a:t>, </a:t>
            </a:r>
            <a:r>
              <a:rPr lang="en-US" altLang="ko-KR" sz="2000" dirty="0" err="1"/>
              <a:t>master_secret</a:t>
            </a:r>
            <a:r>
              <a:rPr lang="en-US" altLang="ko-KR" sz="2000" dirty="0"/>
              <a:t> </a:t>
            </a:r>
            <a:r>
              <a:rPr lang="ko-KR" altLang="en-US" sz="2000" dirty="0"/>
              <a:t>파생</a:t>
            </a:r>
          </a:p>
          <a:p>
            <a:pPr marL="0" indent="0">
              <a:buNone/>
            </a:pPr>
            <a:r>
              <a:rPr lang="en-US" altLang="ko-KR" sz="2000" dirty="0"/>
              <a:t>3) </a:t>
            </a:r>
            <a:r>
              <a:rPr lang="ko-KR" altLang="en-US" sz="2000" dirty="0"/>
              <a:t>인증 및 </a:t>
            </a:r>
            <a:r>
              <a:rPr lang="en-US" altLang="ko-KR" sz="2000" dirty="0"/>
              <a:t>Finished </a:t>
            </a:r>
            <a:r>
              <a:rPr lang="ko-KR" altLang="en-US" sz="2000" dirty="0"/>
              <a:t>메시지 교환</a:t>
            </a:r>
          </a:p>
          <a:p>
            <a:pPr marL="0" indent="0">
              <a:buNone/>
            </a:pPr>
            <a:r>
              <a:rPr lang="en-US" altLang="ko-KR" sz="2000" dirty="0"/>
              <a:t>4) Application Data </a:t>
            </a:r>
            <a:r>
              <a:rPr lang="ko-KR" altLang="en-US" sz="2000" dirty="0"/>
              <a:t>단계 전환</a:t>
            </a:r>
          </a:p>
          <a:p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3701337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FEE53-35DA-D034-388B-91FF28547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EE64B4-2EA2-6CAE-80A2-1A569FE51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TLS</a:t>
            </a:r>
            <a:r>
              <a:rPr kumimoji="1" lang="ko-KR" altLang="en-US" dirty="0"/>
              <a:t> </a:t>
            </a:r>
            <a:r>
              <a:rPr kumimoji="1" lang="en-US" altLang="ko-KR" dirty="0"/>
              <a:t>1.3</a:t>
            </a:r>
            <a:r>
              <a:rPr kumimoji="1" lang="ko-KR" altLang="en-US" dirty="0"/>
              <a:t> </a:t>
            </a:r>
            <a:r>
              <a:rPr kumimoji="1" lang="en-US" altLang="ko-KR" dirty="0"/>
              <a:t>Handshake</a:t>
            </a:r>
            <a:r>
              <a:rPr kumimoji="1" lang="ko-KR" altLang="en-US" dirty="0"/>
              <a:t> 프로토콜 </a:t>
            </a:r>
            <a:r>
              <a:rPr kumimoji="1" lang="en-US" altLang="ko-KR" dirty="0"/>
              <a:t>Flow</a:t>
            </a:r>
            <a:endParaRPr kumimoji="1"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41A633-F27B-72B5-4DC7-7B7CCC6195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A9CD059-E781-3E4C-3F28-39114E97D5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6615" y="1016394"/>
            <a:ext cx="8158769" cy="5775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626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74EB5-3870-1B05-D890-3C8143D96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B533D1-20B1-95DD-16DE-8A3613372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dirty="0" err="1"/>
              <a:t>ClientHello</a:t>
            </a:r>
            <a:endParaRPr kumimoji="1"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EDD82388-111D-69B0-06A0-808DD6A84802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410405" y="1174370"/>
                <a:ext cx="11369675" cy="4737100"/>
              </a:xfrm>
            </p:spPr>
            <p:txBody>
              <a:bodyPr>
                <a:normAutofit/>
              </a:bodyPr>
              <a:lstStyle/>
              <a:p>
                <a:r>
                  <a:rPr kumimoji="1" lang="ko-KR" altLang="en-US" sz="1800" dirty="0"/>
                  <a:t>클라이언트가 세션 시작 시 지원 가능한 암호 스위트</a:t>
                </a:r>
                <a:r>
                  <a:rPr kumimoji="1" lang="en-US" altLang="ko-KR" sz="1800" dirty="0"/>
                  <a:t>,</a:t>
                </a:r>
                <a:r>
                  <a:rPr kumimoji="1" lang="ko-KR" altLang="en-US" sz="1800" dirty="0"/>
                  <a:t> </a:t>
                </a:r>
                <a:r>
                  <a:rPr kumimoji="1" lang="ko-KR" altLang="en-US" sz="1800" dirty="0" err="1"/>
                  <a:t>키교환</a:t>
                </a:r>
                <a:r>
                  <a:rPr kumimoji="1" lang="ko-KR" altLang="en-US" sz="1800" dirty="0"/>
                  <a:t> 방식</a:t>
                </a:r>
                <a:r>
                  <a:rPr kumimoji="1" lang="en-US" altLang="ko-KR" sz="1800" dirty="0"/>
                  <a:t>,</a:t>
                </a:r>
                <a:r>
                  <a:rPr kumimoji="1" lang="ko-KR" altLang="en-US" sz="1800" dirty="0"/>
                  <a:t> 서명 알고리즘 등을 서버에게 알림</a:t>
                </a:r>
                <a:endParaRPr kumimoji="1" lang="en-US" altLang="ko-KR" sz="1800" dirty="0"/>
              </a:p>
              <a:p>
                <a:r>
                  <a:rPr kumimoji="1" lang="ko-KR" altLang="en-US" sz="1800" dirty="0"/>
                  <a:t>핵심 필드 </a:t>
                </a:r>
                <a:endParaRPr kumimoji="1" lang="en-US" altLang="ko-KR" sz="1800" dirty="0"/>
              </a:p>
              <a:p>
                <a:pPr lvl="1"/>
                <a:r>
                  <a:rPr kumimoji="1" lang="en-US" altLang="ko-KR" sz="1600" dirty="0" err="1"/>
                  <a:t>Legacy_version</a:t>
                </a:r>
                <a:r>
                  <a:rPr kumimoji="1" lang="en-US" altLang="ko-KR" sz="1600" dirty="0"/>
                  <a:t> = 0x0303(</a:t>
                </a:r>
                <a:r>
                  <a:rPr kumimoji="1" lang="ko-KR" altLang="en-US" sz="1600" dirty="0"/>
                  <a:t>호환 표기</a:t>
                </a:r>
                <a:r>
                  <a:rPr kumimoji="1" lang="en-US" altLang="ko-KR" sz="1600" dirty="0"/>
                  <a:t>)</a:t>
                </a:r>
              </a:p>
              <a:p>
                <a:pPr lvl="1"/>
                <a:r>
                  <a:rPr kumimoji="1" lang="en-US" altLang="ko-KR" sz="1600" dirty="0" err="1"/>
                  <a:t>supported_verisons</a:t>
                </a:r>
                <a:r>
                  <a:rPr kumimoji="1" lang="en-US" altLang="ko-KR" sz="1600" dirty="0"/>
                  <a:t> = 0x0304(</a:t>
                </a:r>
                <a:r>
                  <a:rPr kumimoji="1" lang="ko-KR" altLang="en-US" sz="1600" dirty="0"/>
                  <a:t>확장필드에 </a:t>
                </a:r>
                <a:r>
                  <a:rPr kumimoji="1" lang="ko-KR" altLang="en-US" sz="1600" dirty="0" err="1"/>
                  <a:t>적혀있음</a:t>
                </a:r>
                <a:r>
                  <a:rPr kumimoji="1" lang="en-US" altLang="ko-KR" sz="1600" dirty="0"/>
                  <a:t>)</a:t>
                </a:r>
              </a:p>
              <a:p>
                <a:pPr lvl="1"/>
                <a:r>
                  <a:rPr kumimoji="1" lang="en-US" altLang="ko-KR" sz="1600" dirty="0" err="1"/>
                  <a:t>cipher_suites</a:t>
                </a:r>
                <a:r>
                  <a:rPr kumimoji="1" lang="ko-KR" altLang="en-US" sz="1600" dirty="0"/>
                  <a:t> </a:t>
                </a:r>
                <a:r>
                  <a:rPr kumimoji="1" lang="en-US" altLang="ko-KR" sz="1600" dirty="0"/>
                  <a:t>:</a:t>
                </a:r>
                <a:r>
                  <a:rPr kumimoji="1" lang="ko-KR" altLang="en-US" sz="1600" dirty="0"/>
                  <a:t> </a:t>
                </a:r>
                <a:r>
                  <a:rPr kumimoji="1" lang="en-US" altLang="ko-KR" sz="1600" dirty="0"/>
                  <a:t>TLS_AES_128_GCM_SHA256,</a:t>
                </a:r>
                <a:r>
                  <a:rPr kumimoji="1" lang="ko-KR" altLang="en-US" sz="1600" dirty="0"/>
                  <a:t> </a:t>
                </a:r>
                <a:r>
                  <a:rPr kumimoji="1" lang="en-US" altLang="ko-KR" sz="1600" dirty="0"/>
                  <a:t>TLS_AES_256_GCM_SHA384</a:t>
                </a:r>
                <a:r>
                  <a:rPr kumimoji="1" lang="ko-KR" altLang="en-US" sz="1600" dirty="0"/>
                  <a:t> 등</a:t>
                </a:r>
                <a:endParaRPr kumimoji="1" lang="en-US" altLang="ko-KR" sz="1600" dirty="0"/>
              </a:p>
              <a:p>
                <a:pPr lvl="1"/>
                <a:r>
                  <a:rPr kumimoji="1" lang="en-US" altLang="ko-KR" sz="1600" dirty="0"/>
                  <a:t> </a:t>
                </a:r>
                <a:r>
                  <a:rPr kumimoji="1" lang="en-US" altLang="ko-KR" sz="1600" dirty="0" err="1"/>
                  <a:t>key_share</a:t>
                </a:r>
                <a:r>
                  <a:rPr kumimoji="1" lang="en-US" altLang="ko-KR" sz="1600" dirty="0"/>
                  <a:t>(</a:t>
                </a:r>
                <a:r>
                  <a:rPr kumimoji="1" lang="ko-KR" altLang="en-US" sz="1600" dirty="0"/>
                  <a:t>확장</a:t>
                </a:r>
                <a:r>
                  <a:rPr kumimoji="1" lang="en-US" altLang="ko-KR" sz="1600" dirty="0"/>
                  <a:t>)</a:t>
                </a:r>
                <a:r>
                  <a:rPr kumimoji="1" lang="ko-KR" altLang="en-US" sz="1600" dirty="0"/>
                  <a:t> </a:t>
                </a:r>
                <a:r>
                  <a:rPr kumimoji="1" lang="en-US" altLang="ko-KR" sz="1600" dirty="0"/>
                  <a:t>:</a:t>
                </a:r>
                <a:r>
                  <a:rPr kumimoji="1" lang="ko-KR" altLang="en-US" sz="1600" dirty="0"/>
                  <a:t> 클라이언트가 생성한 </a:t>
                </a:r>
                <a:r>
                  <a:rPr kumimoji="1" lang="en-US" altLang="ko-KR" sz="1600" dirty="0"/>
                  <a:t>ECDHE</a:t>
                </a:r>
                <a:r>
                  <a:rPr kumimoji="1" lang="ko-KR" altLang="en-US" sz="1600" dirty="0"/>
                  <a:t> 키 쌍의 공개키</a:t>
                </a:r>
                <a:endParaRPr kumimoji="1" lang="en-US" altLang="ko-KR" sz="1600" dirty="0"/>
              </a:p>
              <a:p>
                <a:pPr lvl="2"/>
                <a:r>
                  <a:rPr kumimoji="1" lang="en-US" altLang="ko-KR" sz="1400" dirty="0"/>
                  <a:t>FFDHE : </a:t>
                </a:r>
                <a14:m>
                  <m:oMath xmlns:m="http://schemas.openxmlformats.org/officeDocument/2006/math">
                    <m:r>
                      <a:rPr kumimoji="1" lang="en-US" altLang="ko-KR" sz="1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kumimoji="1" lang="en-US" altLang="ko-KR" sz="1400" b="0" i="1" smtClean="0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kumimoji="1"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sz="1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kumimoji="1" lang="en-US" altLang="ko-KR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kumimoji="1" lang="en-US" altLang="ko-KR" sz="1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ko-KR" sz="1400" b="0" i="1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kumimoji="1" lang="en-US" altLang="ko-KR" sz="1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ko-KR" sz="14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kumimoji="1" lang="en-US" altLang="ko-KR" sz="1400" dirty="0"/>
              </a:p>
              <a:p>
                <a:pPr lvl="2"/>
                <a:r>
                  <a:rPr kumimoji="1" lang="en-US" altLang="ko-KR" sz="1400" dirty="0"/>
                  <a:t>ECDHE(</a:t>
                </a:r>
                <a:r>
                  <a:rPr kumimoji="1" lang="ko-KR" altLang="en-US" sz="1400" dirty="0"/>
                  <a:t>주로 사용</a:t>
                </a:r>
                <a:r>
                  <a:rPr kumimoji="1" lang="en-US" altLang="ko-KR" sz="1400" dirty="0"/>
                  <a:t>) : </a:t>
                </a:r>
                <a14:m>
                  <m:oMath xmlns:m="http://schemas.openxmlformats.org/officeDocument/2006/math">
                    <m:r>
                      <a:rPr kumimoji="1" lang="en-US" altLang="ko-KR" sz="1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kumimoji="1" lang="en-US" altLang="ko-KR" sz="1400" i="1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ko-KR" sz="1400" b="0" i="1" smtClean="0">
                        <a:latin typeface="Cambria Math" panose="02040503050406030204" pitchFamily="18" charset="0"/>
                      </a:rPr>
                      <m:t> ∙</m:t>
                    </m:r>
                    <m:r>
                      <a:rPr kumimoji="1"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kumimoji="1"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kumimoji="1" lang="ko-KR" alt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타원곡선 점</m:t>
                    </m:r>
                    <m:r>
                      <a:rPr kumimoji="1"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kumimoji="1" lang="en-US" altLang="ko-KR" sz="1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ko-KR" altLang="en-US" sz="1400" dirty="0"/>
                  <a:t> </a:t>
                </a:r>
                <a:r>
                  <a:rPr kumimoji="1" lang="en-US" altLang="ko-KR" sz="1400" dirty="0"/>
                  <a:t>(</a:t>
                </a:r>
                <a14:m>
                  <m:oMath xmlns:m="http://schemas.openxmlformats.org/officeDocument/2006/math">
                    <m:r>
                      <a:rPr kumimoji="1" lang="en-US" altLang="ko-KR" sz="1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en-US" altLang="ko-KR" sz="1400" dirty="0"/>
                  <a:t> ← Random())</a:t>
                </a:r>
                <a:endParaRPr kumimoji="1" lang="en-US" altLang="ko-KR" sz="1100" dirty="0"/>
              </a:p>
              <a:p>
                <a:pPr lvl="1"/>
                <a:r>
                  <a:rPr kumimoji="1" lang="en-US" altLang="ko-KR" sz="1600" dirty="0"/>
                  <a:t> </a:t>
                </a:r>
                <a:r>
                  <a:rPr kumimoji="1" lang="en-US" altLang="ko-KR" sz="1600" dirty="0" err="1"/>
                  <a:t>signature_algorithms</a:t>
                </a:r>
                <a:r>
                  <a:rPr kumimoji="1" lang="ko-KR" altLang="en-US" sz="1600" dirty="0"/>
                  <a:t> </a:t>
                </a:r>
                <a:r>
                  <a:rPr kumimoji="1" lang="en-US" altLang="ko-KR" sz="1600" dirty="0"/>
                  <a:t>:</a:t>
                </a:r>
                <a:r>
                  <a:rPr kumimoji="1" lang="ko-KR" altLang="en-US" sz="1600" dirty="0"/>
                  <a:t> </a:t>
                </a:r>
                <a:r>
                  <a:rPr kumimoji="1" lang="en-US" altLang="ko-KR" sz="1600" dirty="0"/>
                  <a:t>RSA-PSS, ECDSA, </a:t>
                </a:r>
                <a:r>
                  <a:rPr kumimoji="1" lang="en-US" altLang="ko-KR" sz="1600" dirty="0" err="1"/>
                  <a:t>EdDSA</a:t>
                </a:r>
                <a:r>
                  <a:rPr kumimoji="1" lang="en-US" altLang="ko-KR" sz="1600" dirty="0"/>
                  <a:t>(</a:t>
                </a:r>
                <a:r>
                  <a:rPr kumimoji="1" lang="ko-KR" altLang="en-US" sz="1600" dirty="0"/>
                  <a:t>서명 용도</a:t>
                </a:r>
                <a:r>
                  <a:rPr kumimoji="1" lang="en-US" altLang="ko-KR" sz="1600" dirty="0"/>
                  <a:t>)</a:t>
                </a:r>
              </a:p>
              <a:p>
                <a:pPr lvl="1"/>
                <a:r>
                  <a:rPr kumimoji="1" lang="en-US" altLang="ko-KR" sz="1600" dirty="0"/>
                  <a:t> (</a:t>
                </a:r>
                <a:r>
                  <a:rPr kumimoji="1" lang="ko-KR" altLang="en-US" sz="1600" dirty="0"/>
                  <a:t>선택적</a:t>
                </a:r>
                <a:r>
                  <a:rPr kumimoji="1" lang="en-US" altLang="ko-KR" sz="1600" dirty="0"/>
                  <a:t>)</a:t>
                </a:r>
                <a:r>
                  <a:rPr kumimoji="1" lang="en-US" altLang="ko-KR" sz="1600" dirty="0" err="1"/>
                  <a:t>supported_groups</a:t>
                </a:r>
                <a:r>
                  <a:rPr kumimoji="1" lang="en-US" altLang="ko-KR" sz="1600" dirty="0"/>
                  <a:t>,</a:t>
                </a:r>
                <a:r>
                  <a:rPr kumimoji="1" lang="ko-KR" altLang="en-US" sz="1600" dirty="0"/>
                  <a:t> </a:t>
                </a:r>
                <a:r>
                  <a:rPr kumimoji="1" lang="en-US" altLang="ko-KR" sz="1600" dirty="0" err="1"/>
                  <a:t>pre_shared_key</a:t>
                </a:r>
                <a:r>
                  <a:rPr kumimoji="1" lang="en-US" altLang="ko-KR" sz="1600" dirty="0"/>
                  <a:t>,</a:t>
                </a:r>
                <a:r>
                  <a:rPr kumimoji="1" lang="ko-KR" altLang="en-US" sz="1600" dirty="0"/>
                  <a:t> </a:t>
                </a:r>
                <a:r>
                  <a:rPr kumimoji="1" lang="en-US" altLang="ko-KR" sz="1600" dirty="0" err="1"/>
                  <a:t>alpn</a:t>
                </a:r>
                <a:r>
                  <a:rPr kumimoji="1" lang="en-US" altLang="ko-KR" sz="1600" dirty="0"/>
                  <a:t> </a:t>
                </a:r>
                <a:r>
                  <a:rPr kumimoji="1" lang="ko-KR" altLang="en-US" sz="1600" dirty="0"/>
                  <a:t>등</a:t>
                </a:r>
                <a:endParaRPr kumimoji="1" lang="en-US" altLang="ko-KR" sz="1800" dirty="0"/>
              </a:p>
              <a:p>
                <a:pPr>
                  <a:buFontTx/>
                  <a:buChar char="-"/>
                </a:pPr>
                <a:r>
                  <a:rPr kumimoji="1" lang="en-US" altLang="ko-KR" sz="1800" dirty="0"/>
                  <a:t>32-byte </a:t>
                </a:r>
                <a:r>
                  <a:rPr kumimoji="1" lang="en-US" altLang="ko-KR" sz="1800" dirty="0" err="1"/>
                  <a:t>client_random</a:t>
                </a:r>
                <a:r>
                  <a:rPr kumimoji="1" lang="en-US" altLang="ko-KR" sz="1800" dirty="0"/>
                  <a:t> </a:t>
                </a:r>
                <a:r>
                  <a:rPr kumimoji="1" lang="ko-KR" altLang="en-US" sz="1800" dirty="0"/>
                  <a:t>생성 </a:t>
                </a:r>
                <a:r>
                  <a:rPr kumimoji="1" lang="en-US" altLang="ko-KR" sz="1800" dirty="0"/>
                  <a:t>:</a:t>
                </a:r>
                <a:r>
                  <a:rPr kumimoji="1" lang="ko-KR" altLang="en-US" sz="1800" dirty="0"/>
                  <a:t> 세션 식별 및 다운그레이드 탐지 용도</a:t>
                </a:r>
                <a:endParaRPr kumimoji="1" lang="en-US" altLang="ko-KR" sz="1800" dirty="0"/>
              </a:p>
              <a:p>
                <a:pPr>
                  <a:buFontTx/>
                  <a:buChar char="-"/>
                </a:pPr>
                <a:r>
                  <a:rPr kumimoji="1" lang="en-US" altLang="ko-KR" sz="1800" dirty="0"/>
                  <a:t>Client </a:t>
                </a:r>
                <a:r>
                  <a:rPr kumimoji="1" lang="ko-KR" altLang="en-US" sz="1800" dirty="0"/>
                  <a:t>전송</a:t>
                </a:r>
                <a:r>
                  <a:rPr kumimoji="1" lang="en-US" altLang="ko-KR" sz="1800" dirty="0"/>
                  <a:t>(</a:t>
                </a:r>
                <a:r>
                  <a:rPr kumimoji="1" lang="ko-KR" altLang="en-US" sz="1800" dirty="0" err="1"/>
                  <a:t>평문</a:t>
                </a:r>
                <a:r>
                  <a:rPr kumimoji="1" lang="en-US" altLang="ko-KR" sz="1800" dirty="0"/>
                  <a:t>)</a:t>
                </a:r>
              </a:p>
              <a:p>
                <a:pPr lvl="1">
                  <a:buFontTx/>
                  <a:buChar char="-"/>
                </a:pPr>
                <a:endParaRPr kumimoji="1" lang="ko-KR" altLang="en-US" sz="1600" dirty="0"/>
              </a:p>
            </p:txBody>
          </p:sp>
        </mc:Choice>
        <mc:Fallback xmlns="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EDD82388-111D-69B0-06A0-808DD6A848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410405" y="1174370"/>
                <a:ext cx="11369675" cy="4737100"/>
              </a:xfrm>
              <a:blipFill>
                <a:blip r:embed="rId2"/>
                <a:stretch>
                  <a:fillRect l="-335" t="-133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917A657C-39A5-E744-2389-6B8BAC3E7A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1863281"/>
              </p:ext>
            </p:extLst>
          </p:nvPr>
        </p:nvGraphicFramePr>
        <p:xfrm>
          <a:off x="410405" y="4890033"/>
          <a:ext cx="11368160" cy="1760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3632">
                  <a:extLst>
                    <a:ext uri="{9D8B030D-6E8A-4147-A177-3AD203B41FA5}">
                      <a16:colId xmlns:a16="http://schemas.microsoft.com/office/drawing/2014/main" val="792198139"/>
                    </a:ext>
                  </a:extLst>
                </a:gridCol>
                <a:gridCol w="2273632">
                  <a:extLst>
                    <a:ext uri="{9D8B030D-6E8A-4147-A177-3AD203B41FA5}">
                      <a16:colId xmlns:a16="http://schemas.microsoft.com/office/drawing/2014/main" val="3673994571"/>
                    </a:ext>
                  </a:extLst>
                </a:gridCol>
                <a:gridCol w="3214782">
                  <a:extLst>
                    <a:ext uri="{9D8B030D-6E8A-4147-A177-3AD203B41FA5}">
                      <a16:colId xmlns:a16="http://schemas.microsoft.com/office/drawing/2014/main" val="1226591000"/>
                    </a:ext>
                  </a:extLst>
                </a:gridCol>
                <a:gridCol w="1332482">
                  <a:extLst>
                    <a:ext uri="{9D8B030D-6E8A-4147-A177-3AD203B41FA5}">
                      <a16:colId xmlns:a16="http://schemas.microsoft.com/office/drawing/2014/main" val="4111253376"/>
                    </a:ext>
                  </a:extLst>
                </a:gridCol>
                <a:gridCol w="2273632">
                  <a:extLst>
                    <a:ext uri="{9D8B030D-6E8A-4147-A177-3AD203B41FA5}">
                      <a16:colId xmlns:a16="http://schemas.microsoft.com/office/drawing/2014/main" val="946249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50" b="0" dirty="0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50" b="0" dirty="0" err="1"/>
                        <a:t>필드명</a:t>
                      </a:r>
                      <a:endParaRPr lang="ko-KR" altLang="en-US" sz="105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50" b="0"/>
                        <a:t>설명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5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50" b="0" dirty="0"/>
                        <a:t>bytes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81722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50" b="0"/>
                        <a:t>Header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50" b="0" dirty="0" err="1">
                          <a:latin typeface="Courier New" panose="02070309020205020404" pitchFamily="49" charset="0"/>
                        </a:rPr>
                        <a:t>legacy_version</a:t>
                      </a:r>
                      <a:endParaRPr lang="en" sz="105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50" b="0" dirty="0"/>
                        <a:t>항상 </a:t>
                      </a:r>
                      <a:r>
                        <a:rPr lang="en-US" altLang="ko-KR" sz="1050" b="0" dirty="0">
                          <a:latin typeface="Courier New" panose="02070309020205020404" pitchFamily="49" charset="0"/>
                        </a:rPr>
                        <a:t>0</a:t>
                      </a:r>
                      <a:r>
                        <a:rPr lang="en" sz="1050" b="0" dirty="0">
                          <a:latin typeface="Courier New" panose="02070309020205020404" pitchFamily="49" charset="0"/>
                        </a:rPr>
                        <a:t>x0303</a:t>
                      </a:r>
                      <a:r>
                        <a:rPr lang="en" sz="1050" b="0" dirty="0"/>
                        <a:t> (TLS 1.2 </a:t>
                      </a:r>
                      <a:r>
                        <a:rPr lang="ko-KR" altLang="en-US" sz="1050" b="0" dirty="0"/>
                        <a:t>호환용</a:t>
                      </a:r>
                      <a:r>
                        <a:rPr lang="en-US" altLang="ko-KR" sz="1050" b="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50" b="0"/>
                        <a:t>평문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50" b="0"/>
                        <a:t>2</a:t>
                      </a:r>
                      <a:endParaRPr lang="ko-KR" altLang="en-US" sz="1050" b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60941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50" b="0"/>
                        <a:t>Header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50" b="0" dirty="0">
                          <a:latin typeface="Courier New" panose="02070309020205020404" pitchFamily="49" charset="0"/>
                        </a:rPr>
                        <a:t>random</a:t>
                      </a:r>
                      <a:endParaRPr lang="en" sz="105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50" b="0" dirty="0"/>
                        <a:t>32 </a:t>
                      </a:r>
                      <a:r>
                        <a:rPr lang="ko-KR" altLang="en-US" sz="1050" b="0" dirty="0"/>
                        <a:t>바이트 난수 </a:t>
                      </a:r>
                      <a:r>
                        <a:rPr lang="en-US" altLang="ko-KR" sz="1050" b="0" dirty="0"/>
                        <a:t>(</a:t>
                      </a:r>
                      <a:r>
                        <a:rPr lang="ko-KR" altLang="en-US" sz="1050" b="0" dirty="0"/>
                        <a:t>다운그레이드 탐지 가능</a:t>
                      </a:r>
                      <a:r>
                        <a:rPr lang="en-US" altLang="ko-KR" sz="1050" b="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50" b="0"/>
                        <a:t>평문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50" b="0"/>
                        <a:t>32</a:t>
                      </a:r>
                      <a:endParaRPr lang="ko-KR" altLang="en-US" sz="1050" b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13613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50" b="0"/>
                        <a:t>Header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50" b="0" dirty="0" err="1">
                          <a:latin typeface="Courier New" panose="02070309020205020404" pitchFamily="49" charset="0"/>
                        </a:rPr>
                        <a:t>legacy_session_id</a:t>
                      </a:r>
                      <a:endParaRPr lang="en" sz="105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50" b="0" dirty="0"/>
                        <a:t>옛 세션 </a:t>
                      </a:r>
                      <a:r>
                        <a:rPr lang="en" sz="1050" b="0" dirty="0"/>
                        <a:t>ID (</a:t>
                      </a:r>
                      <a:r>
                        <a:rPr lang="ko-KR" altLang="en-US" sz="1050" b="0" dirty="0"/>
                        <a:t>비워둘 수 없음</a:t>
                      </a:r>
                      <a:r>
                        <a:rPr lang="en-US" altLang="ko-KR" sz="1050" b="0" dirty="0"/>
                        <a:t>, 0–32 </a:t>
                      </a:r>
                      <a:r>
                        <a:rPr lang="ko-KR" altLang="en-US" sz="1050" b="0" dirty="0"/>
                        <a:t>바이트</a:t>
                      </a:r>
                      <a:r>
                        <a:rPr lang="en-US" altLang="ko-KR" sz="1050" b="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50" b="0" dirty="0" err="1"/>
                        <a:t>평문</a:t>
                      </a:r>
                      <a:endParaRPr lang="ko-KR" altLang="en-US" sz="105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50" b="0" dirty="0"/>
                        <a:t>1 (</a:t>
                      </a:r>
                      <a:r>
                        <a:rPr lang="ko-KR" altLang="en-US" sz="1050" b="0" dirty="0"/>
                        <a:t>길이</a:t>
                      </a:r>
                      <a:r>
                        <a:rPr lang="en-US" altLang="ko-KR" sz="1050" b="0" dirty="0"/>
                        <a:t>) + 0–32</a:t>
                      </a:r>
                      <a:endParaRPr lang="ko-KR" altLang="en-US" sz="105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02357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50" b="0"/>
                        <a:t>Header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50" b="0">
                          <a:latin typeface="Courier New" panose="02070309020205020404" pitchFamily="49" charset="0"/>
                        </a:rPr>
                        <a:t>cipher_suites</a:t>
                      </a:r>
                      <a:endParaRPr lang="en" sz="1050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50" b="0" dirty="0"/>
                        <a:t>지원 암호 스위트 목록 </a:t>
                      </a:r>
                      <a:r>
                        <a:rPr lang="en-US" altLang="ko-KR" sz="1050" b="0" dirty="0"/>
                        <a:t>(</a:t>
                      </a:r>
                      <a:r>
                        <a:rPr lang="ko-KR" altLang="en-US" sz="1050" b="0" dirty="0"/>
                        <a:t>각 스위트 </a:t>
                      </a:r>
                      <a:r>
                        <a:rPr lang="en-US" altLang="ko-KR" sz="1050" b="0" dirty="0"/>
                        <a:t>2 </a:t>
                      </a:r>
                      <a:r>
                        <a:rPr lang="ko-KR" altLang="en-US" sz="1050" b="0" dirty="0"/>
                        <a:t>바이트</a:t>
                      </a:r>
                      <a:r>
                        <a:rPr lang="en-US" altLang="ko-KR" sz="1050" b="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50" b="0" dirty="0" err="1"/>
                        <a:t>평문</a:t>
                      </a:r>
                      <a:endParaRPr lang="ko-KR" altLang="en-US" sz="105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50" b="0" dirty="0"/>
                        <a:t>2 (</a:t>
                      </a:r>
                      <a:r>
                        <a:rPr lang="ko-KR" altLang="en-US" sz="1050" b="0" dirty="0"/>
                        <a:t>목록 길이</a:t>
                      </a:r>
                      <a:r>
                        <a:rPr lang="en-US" altLang="ko-KR" sz="1050" b="0" dirty="0"/>
                        <a:t>) + 2×</a:t>
                      </a:r>
                      <a:r>
                        <a:rPr lang="en" sz="1050" b="0" dirty="0"/>
                        <a:t>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23877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50" b="0"/>
                        <a:t>Header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50" b="0">
                          <a:latin typeface="Courier New" panose="02070309020205020404" pitchFamily="49" charset="0"/>
                        </a:rPr>
                        <a:t>legacy_compression_methods</a:t>
                      </a:r>
                      <a:endParaRPr lang="en" sz="1050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50" b="0" dirty="0"/>
                        <a:t>항상 </a:t>
                      </a:r>
                      <a:r>
                        <a:rPr lang="en-US" altLang="ko-KR" sz="1050" b="0" dirty="0"/>
                        <a:t>1 </a:t>
                      </a:r>
                      <a:r>
                        <a:rPr lang="ko-KR" altLang="en-US" sz="1050" b="0" dirty="0"/>
                        <a:t>개의 값</a:t>
                      </a:r>
                      <a:r>
                        <a:rPr lang="en-US" altLang="ko-KR" sz="1050" b="0" dirty="0"/>
                        <a:t>(0</a:t>
                      </a:r>
                      <a:r>
                        <a:rPr lang="en" sz="1050" b="0" dirty="0"/>
                        <a:t>x00)</a:t>
                      </a:r>
                      <a:r>
                        <a:rPr lang="ko-KR" altLang="en-US" sz="1050" b="0" dirty="0"/>
                        <a:t>만 포함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50" b="0" dirty="0" err="1"/>
                        <a:t>평문</a:t>
                      </a:r>
                      <a:endParaRPr lang="ko-KR" altLang="en-US" sz="105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50" b="0" dirty="0"/>
                        <a:t>1 (</a:t>
                      </a:r>
                      <a:r>
                        <a:rPr lang="ko-KR" altLang="en-US" sz="1050" b="0" dirty="0"/>
                        <a:t>길이</a:t>
                      </a:r>
                      <a:r>
                        <a:rPr lang="en-US" altLang="ko-KR" sz="1050" b="0" dirty="0"/>
                        <a:t>) + 1 = 2</a:t>
                      </a:r>
                      <a:endParaRPr lang="ko-KR" altLang="en-US" sz="105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64024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50" b="0"/>
                        <a:t>Extensions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50" b="0" dirty="0">
                          <a:latin typeface="Courier New" panose="02070309020205020404" pitchFamily="49" charset="0"/>
                        </a:rPr>
                        <a:t>extensions</a:t>
                      </a:r>
                      <a:endParaRPr lang="en" sz="105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50" b="0" dirty="0"/>
                        <a:t>실제 핵심 </a:t>
                      </a:r>
                      <a:r>
                        <a:rPr lang="en" sz="1050" b="0" dirty="0"/>
                        <a:t>TLS 1.3 </a:t>
                      </a:r>
                      <a:r>
                        <a:rPr lang="ko-KR" altLang="en-US" sz="1050" b="0" dirty="0"/>
                        <a:t>협상 정보 포함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50" b="0"/>
                        <a:t>평문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50" b="0" dirty="0"/>
                        <a:t>2 (</a:t>
                      </a:r>
                      <a:r>
                        <a:rPr lang="ko-KR" altLang="en-US" sz="1050" b="0" dirty="0"/>
                        <a:t>전체 길이</a:t>
                      </a:r>
                      <a:r>
                        <a:rPr lang="en-US" altLang="ko-KR" sz="1050" b="0" dirty="0"/>
                        <a:t>) + </a:t>
                      </a:r>
                      <a:r>
                        <a:rPr lang="en" sz="1050" b="0" dirty="0"/>
                        <a:t>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06332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2267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BE486-1BD4-9B39-1B81-CC974E35F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549B31-0012-43AA-2CAC-B029AECCE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dirty="0"/>
              <a:t>DHE(Ephemeral Diffie-Hellman)</a:t>
            </a:r>
            <a:endParaRPr kumimoji="1"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40796A2B-D4C4-B23D-BB55-F8FEE4DB5951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411163" y="1152525"/>
                <a:ext cx="11369675" cy="5582230"/>
              </a:xfrm>
            </p:spPr>
            <p:txBody>
              <a:bodyPr>
                <a:normAutofit/>
              </a:bodyPr>
              <a:lstStyle/>
              <a:p>
                <a:r>
                  <a:rPr kumimoji="1" lang="ko-KR" altLang="en-US" sz="2200" dirty="0"/>
                  <a:t>매 연결마다 새로 뽑는</a:t>
                </a:r>
                <a:r>
                  <a:rPr kumimoji="1" lang="en-US" altLang="ko-KR" sz="2200" dirty="0"/>
                  <a:t>(=Ephemeral)</a:t>
                </a:r>
                <a:r>
                  <a:rPr kumimoji="1" lang="ko-KR" altLang="en-US" sz="2200" dirty="0"/>
                  <a:t> </a:t>
                </a:r>
                <a:r>
                  <a:rPr kumimoji="1" lang="en-US" altLang="ko-KR" sz="2200" dirty="0"/>
                  <a:t>DH</a:t>
                </a:r>
                <a:r>
                  <a:rPr kumimoji="1" lang="ko-KR" altLang="en-US" sz="2200" dirty="0"/>
                  <a:t> 개인키로 키 합의 하는 방식</a:t>
                </a:r>
                <a:endParaRPr kumimoji="1" lang="en-US" altLang="ko-KR" sz="2200" dirty="0"/>
              </a:p>
              <a:p>
                <a:r>
                  <a:rPr kumimoji="1" lang="ko-KR" altLang="en-US" sz="2200" dirty="0"/>
                  <a:t>장점</a:t>
                </a:r>
                <a:endParaRPr kumimoji="1" lang="en-US" altLang="ko-KR" sz="2200" dirty="0"/>
              </a:p>
              <a:p>
                <a:pPr lvl="1"/>
                <a:r>
                  <a:rPr kumimoji="1" lang="ko-KR" altLang="en-US" sz="1800" dirty="0"/>
                  <a:t>전방 안전성</a:t>
                </a:r>
                <a:r>
                  <a:rPr kumimoji="1" lang="en-US" altLang="ko-KR" sz="1800" dirty="0"/>
                  <a:t>(Forward Secrecy) </a:t>
                </a:r>
                <a:r>
                  <a:rPr kumimoji="1" lang="ko-KR" altLang="en-US" sz="1800" dirty="0"/>
                  <a:t>확보</a:t>
                </a:r>
                <a:endParaRPr kumimoji="1" lang="en-US" altLang="ko-KR" sz="1800" dirty="0"/>
              </a:p>
              <a:p>
                <a:pPr lvl="1"/>
                <a:r>
                  <a:rPr kumimoji="1" lang="ko-KR" altLang="en-US" sz="1800" dirty="0"/>
                  <a:t>세션이 끝난 뒤 서버의 장기 비밀키가 유출되어도 과거 트래픽 복호화 불가</a:t>
                </a:r>
                <a:endParaRPr kumimoji="1" lang="en-US" altLang="ko-KR" sz="1800" dirty="0"/>
              </a:p>
              <a:p>
                <a:r>
                  <a:rPr kumimoji="1" lang="ko-KR" altLang="en-US" sz="2200" dirty="0"/>
                  <a:t>구현 형태</a:t>
                </a:r>
                <a:endParaRPr kumimoji="1" lang="en-US" altLang="ko-KR" sz="2200" dirty="0"/>
              </a:p>
              <a:p>
                <a:pPr lvl="1"/>
                <a:r>
                  <a:rPr kumimoji="1" lang="en-US" altLang="ko-KR" sz="1800" dirty="0"/>
                  <a:t>FFDHE : </a:t>
                </a:r>
                <a:r>
                  <a:rPr kumimoji="1" lang="ko-KR" altLang="en-US" sz="1800" dirty="0" err="1"/>
                  <a:t>유한체</a:t>
                </a:r>
                <a:r>
                  <a:rPr kumimoji="1" lang="en-US" altLang="ko-KR" sz="1800" dirty="0"/>
                  <a:t>(</a:t>
                </a:r>
                <a:r>
                  <a:rPr kumimoji="1" lang="ko-KR" altLang="en-US" sz="1800" dirty="0"/>
                  <a:t>정수 </a:t>
                </a:r>
                <a:r>
                  <a:rPr kumimoji="1" lang="ko-KR" altLang="en-US" sz="1800" dirty="0" err="1"/>
                  <a:t>모듈러</a:t>
                </a:r>
                <a:r>
                  <a:rPr kumimoji="1" lang="ko-KR" altLang="en-US" sz="1800" dirty="0"/>
                  <a:t> </a:t>
                </a:r>
                <a:r>
                  <a:rPr kumimoji="1" lang="en-US" altLang="ko-KR" sz="1800" dirty="0"/>
                  <a:t>p)</a:t>
                </a:r>
                <a:r>
                  <a:rPr kumimoji="1" lang="ko-KR" altLang="en-US" sz="1800" dirty="0"/>
                  <a:t> 위의 </a:t>
                </a:r>
                <a:r>
                  <a:rPr kumimoji="1" lang="en-US" altLang="ko-KR" sz="1800" dirty="0"/>
                  <a:t>DH</a:t>
                </a:r>
              </a:p>
              <a:p>
                <a:pPr lvl="1"/>
                <a:r>
                  <a:rPr kumimoji="1" lang="en-US" altLang="ko-KR" sz="1800" dirty="0"/>
                  <a:t>ECDHE :</a:t>
                </a:r>
                <a:r>
                  <a:rPr kumimoji="1" lang="ko-KR" altLang="en-US" sz="1800" dirty="0"/>
                  <a:t> 타원곡선 위의 </a:t>
                </a:r>
                <a:r>
                  <a:rPr kumimoji="1" lang="en-US" altLang="ko-KR" sz="1800" dirty="0"/>
                  <a:t>DH</a:t>
                </a:r>
              </a:p>
              <a:p>
                <a:r>
                  <a:rPr kumimoji="1" lang="en-US" altLang="ko-KR" sz="2200" dirty="0"/>
                  <a:t>TLS 1.3</a:t>
                </a:r>
                <a:r>
                  <a:rPr kumimoji="1" lang="ko-KR" altLang="en-US" sz="2200" dirty="0"/>
                  <a:t> 메시지에서</a:t>
                </a:r>
                <a:endParaRPr kumimoji="1" lang="en-US" altLang="ko-KR" sz="2200" dirty="0"/>
              </a:p>
              <a:p>
                <a:pPr lvl="1"/>
                <a:r>
                  <a:rPr kumimoji="1" lang="en-US" altLang="ko-KR" sz="1800" dirty="0" err="1"/>
                  <a:t>ClientHello.key_share</a:t>
                </a:r>
                <a:r>
                  <a:rPr kumimoji="1" lang="ko-KR" altLang="en-US" sz="1800" dirty="0" err="1"/>
                  <a:t>에</a:t>
                </a:r>
                <a:r>
                  <a:rPr kumimoji="1" lang="ko-KR" altLang="en-US" sz="1800" dirty="0"/>
                  <a:t> 클라이언트가 지원 그룹들의 </a:t>
                </a:r>
                <a:r>
                  <a:rPr kumimoji="1" lang="en-US" altLang="ko-KR" sz="1800" dirty="0" err="1"/>
                  <a:t>KeyShare</a:t>
                </a:r>
                <a:r>
                  <a:rPr kumimoji="1" lang="en-US" altLang="ko-KR" sz="1800" dirty="0"/>
                  <a:t>(</a:t>
                </a:r>
                <a:r>
                  <a:rPr kumimoji="1" lang="ko-KR" altLang="en-US" sz="1800" dirty="0" err="1"/>
                  <a:t>공개값</a:t>
                </a:r>
                <a:r>
                  <a:rPr kumimoji="1" lang="en-US" altLang="ko-KR" sz="1800" dirty="0"/>
                  <a:t>)</a:t>
                </a:r>
                <a:r>
                  <a:rPr kumimoji="1" lang="ko-KR" altLang="en-US" sz="1800" dirty="0"/>
                  <a:t>들을 넣어 전송하고</a:t>
                </a:r>
                <a:r>
                  <a:rPr kumimoji="1" lang="en-US" altLang="ko-KR" sz="1800" dirty="0"/>
                  <a:t>,</a:t>
                </a:r>
                <a:r>
                  <a:rPr kumimoji="1" lang="ko-KR" altLang="en-US" sz="1800" dirty="0"/>
                  <a:t> </a:t>
                </a:r>
                <a:br>
                  <a:rPr kumimoji="1" lang="en-US" altLang="ko-KR" sz="1800" dirty="0"/>
                </a:br>
                <a:br>
                  <a:rPr kumimoji="1" lang="en-US" altLang="ko-KR" sz="1800" dirty="0"/>
                </a:br>
                <a:r>
                  <a:rPr kumimoji="1" lang="en-US" altLang="ko-KR" sz="1800" dirty="0" err="1"/>
                  <a:t>ServerHello.key_share</a:t>
                </a:r>
                <a:r>
                  <a:rPr kumimoji="1" lang="ko-KR" altLang="en-US" sz="1800" dirty="0"/>
                  <a:t>로 서버가 하나 골라 자기 </a:t>
                </a:r>
                <a:r>
                  <a:rPr kumimoji="1" lang="ko-KR" altLang="en-US" sz="1800" dirty="0" err="1"/>
                  <a:t>공개값을</a:t>
                </a:r>
                <a:r>
                  <a:rPr kumimoji="1" lang="ko-KR" altLang="en-US" sz="1800" dirty="0"/>
                  <a:t> 회신</a:t>
                </a:r>
                <a:br>
                  <a:rPr kumimoji="1" lang="en-US" altLang="ko-KR" sz="1800" dirty="0"/>
                </a:br>
                <a:br>
                  <a:rPr kumimoji="1" lang="en-US" altLang="ko-KR" sz="1800" dirty="0"/>
                </a:br>
                <a14:m>
                  <m:oMath xmlns:m="http://schemas.openxmlformats.org/officeDocument/2006/math">
                    <m:r>
                      <a:rPr kumimoji="1" lang="en-US" altLang="ko-KR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kumimoji="1" lang="ko-KR" altLang="en-US" sz="1800" dirty="0"/>
                  <a:t> 양쪽이 공유 비밀키 생성</a:t>
                </a:r>
                <a:endParaRPr kumimoji="1" lang="en-US" altLang="ko-KR" sz="1800" dirty="0"/>
              </a:p>
              <a:p>
                <a:pPr marL="457200" lvl="1" indent="0">
                  <a:buNone/>
                </a:pPr>
                <a:endParaRPr kumimoji="1" lang="en-US" altLang="ko-KR" sz="1800" dirty="0"/>
              </a:p>
              <a:p>
                <a:pPr lvl="1"/>
                <a:endParaRPr kumimoji="1" lang="en-US" altLang="ko-KR" sz="1800" dirty="0"/>
              </a:p>
            </p:txBody>
          </p:sp>
        </mc:Choice>
        <mc:Fallback xmlns="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40796A2B-D4C4-B23D-BB55-F8FEE4DB59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411163" y="1152525"/>
                <a:ext cx="11369675" cy="5582230"/>
              </a:xfrm>
              <a:blipFill>
                <a:blip r:embed="rId2"/>
                <a:stretch>
                  <a:fillRect l="-670" t="-13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2476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549FF-354B-7E59-570D-0E95BE520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0852B7-E3D6-FBE8-00F8-0E86B4D42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dirty="0" err="1"/>
              <a:t>ServerHello</a:t>
            </a:r>
            <a:endParaRPr kumimoji="1"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53530590-1322-12CD-3040-039C343EED7D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410405" y="1174370"/>
                <a:ext cx="11369675" cy="4737100"/>
              </a:xfrm>
            </p:spPr>
            <p:txBody>
              <a:bodyPr>
                <a:normAutofit/>
              </a:bodyPr>
              <a:lstStyle/>
              <a:p>
                <a:r>
                  <a:rPr kumimoji="1" lang="ko-KR" altLang="en-US" sz="1800" dirty="0"/>
                  <a:t>채택한 암호 스위트</a:t>
                </a:r>
                <a:r>
                  <a:rPr kumimoji="1" lang="en-US" altLang="ko-KR" sz="1800" dirty="0"/>
                  <a:t>/</a:t>
                </a:r>
                <a:r>
                  <a:rPr kumimoji="1" lang="ko-KR" altLang="en-US" sz="1800" dirty="0" err="1"/>
                  <a:t>키교환</a:t>
                </a:r>
                <a:r>
                  <a:rPr kumimoji="1" lang="ko-KR" altLang="en-US" sz="1800" dirty="0"/>
                  <a:t> 그룹을 통지하고 서버의 </a:t>
                </a:r>
                <a:r>
                  <a:rPr kumimoji="1" lang="en-US" altLang="ko-KR" sz="1800" dirty="0"/>
                  <a:t>ECDHE</a:t>
                </a:r>
                <a:r>
                  <a:rPr kumimoji="1" lang="ko-KR" altLang="en-US" sz="1800" dirty="0"/>
                  <a:t> 공개키 제공</a:t>
                </a:r>
                <a:endParaRPr kumimoji="1" lang="en-US" altLang="ko-KR" sz="1800" dirty="0"/>
              </a:p>
              <a:p>
                <a:r>
                  <a:rPr kumimoji="1" lang="ko-KR" altLang="en-US" sz="1800" dirty="0"/>
                  <a:t>핵심 필드 </a:t>
                </a:r>
                <a:endParaRPr kumimoji="1" lang="en-US" altLang="ko-KR" sz="1800" dirty="0"/>
              </a:p>
              <a:p>
                <a:pPr lvl="1"/>
                <a:r>
                  <a:rPr kumimoji="1" lang="en-US" altLang="ko-KR" sz="1800" dirty="0" err="1"/>
                  <a:t>Legacy_version</a:t>
                </a:r>
                <a:r>
                  <a:rPr kumimoji="1" lang="en-US" altLang="ko-KR" sz="1800" dirty="0"/>
                  <a:t> = 0x0303(</a:t>
                </a:r>
                <a:r>
                  <a:rPr kumimoji="1" lang="ko-KR" altLang="en-US" sz="1800" dirty="0"/>
                  <a:t>호환 표기</a:t>
                </a:r>
                <a:r>
                  <a:rPr kumimoji="1" lang="en-US" altLang="ko-KR" sz="1800" dirty="0"/>
                  <a:t>)</a:t>
                </a:r>
                <a:r>
                  <a:rPr kumimoji="1" lang="ko-KR" altLang="en-US" sz="1800" dirty="0"/>
                  <a:t> </a:t>
                </a:r>
                <a:endParaRPr kumimoji="1" lang="en-US" altLang="ko-KR" sz="1800" dirty="0"/>
              </a:p>
              <a:p>
                <a:pPr lvl="1"/>
                <a:r>
                  <a:rPr kumimoji="1" lang="en-US" altLang="ko-KR" sz="1800" dirty="0" err="1"/>
                  <a:t>supported_verisons</a:t>
                </a:r>
                <a:r>
                  <a:rPr kumimoji="1" lang="en-US" altLang="ko-KR" sz="1800" dirty="0"/>
                  <a:t> = 0x0304(</a:t>
                </a:r>
                <a:r>
                  <a:rPr kumimoji="1" lang="ko-KR" altLang="en-US" sz="1800" dirty="0"/>
                  <a:t>확장필드에 </a:t>
                </a:r>
                <a:r>
                  <a:rPr kumimoji="1" lang="ko-KR" altLang="en-US" sz="1800" dirty="0" err="1"/>
                  <a:t>적혀있음</a:t>
                </a:r>
                <a:r>
                  <a:rPr kumimoji="1" lang="en-US" altLang="ko-KR" sz="1800" dirty="0"/>
                  <a:t>)</a:t>
                </a:r>
              </a:p>
              <a:p>
                <a:pPr lvl="1"/>
                <a:r>
                  <a:rPr kumimoji="1" lang="en-US" altLang="ko-KR" sz="1800" dirty="0" err="1"/>
                  <a:t>Cipher_suite</a:t>
                </a:r>
                <a:r>
                  <a:rPr kumimoji="1" lang="en-US" altLang="ko-KR" sz="1800" dirty="0"/>
                  <a:t> : </a:t>
                </a:r>
                <a:r>
                  <a:rPr kumimoji="1" lang="ko-KR" altLang="en-US" sz="1800" dirty="0"/>
                  <a:t>채택된 </a:t>
                </a:r>
                <a:r>
                  <a:rPr kumimoji="1" lang="en-US" altLang="ko-KR" sz="1800" dirty="0"/>
                  <a:t>1</a:t>
                </a:r>
                <a:r>
                  <a:rPr kumimoji="1" lang="ko-KR" altLang="en-US" sz="1800" dirty="0"/>
                  <a:t>개</a:t>
                </a:r>
                <a:endParaRPr kumimoji="1" lang="en-US" altLang="ko-KR" sz="1800" dirty="0"/>
              </a:p>
              <a:p>
                <a:pPr lvl="1"/>
                <a:r>
                  <a:rPr kumimoji="1" lang="en-US" altLang="ko-KR" sz="1800" dirty="0" err="1"/>
                  <a:t>Key_share</a:t>
                </a:r>
                <a:r>
                  <a:rPr kumimoji="1" lang="en-US" altLang="ko-KR" sz="1800" dirty="0"/>
                  <a:t> : </a:t>
                </a:r>
                <a:r>
                  <a:rPr kumimoji="1" lang="ko-KR" altLang="en-US" sz="1800" dirty="0"/>
                  <a:t>서버 공개키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kumimoji="1" lang="en-US" altLang="ko-KR" sz="1800" b="0" dirty="0"/>
              </a:p>
              <a:p>
                <a:pPr lvl="2"/>
                <a:r>
                  <a:rPr kumimoji="1" lang="en-US" altLang="ko-KR" sz="1800" dirty="0"/>
                  <a:t>FFDHE 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kumimoji="1" lang="en-US" altLang="ko-KR" sz="1800" dirty="0"/>
              </a:p>
              <a:p>
                <a:pPr lvl="2"/>
                <a:r>
                  <a:rPr kumimoji="1" lang="en-US" altLang="ko-KR" sz="1800" dirty="0"/>
                  <a:t>ECDHE(</a:t>
                </a:r>
                <a:r>
                  <a:rPr kumimoji="1" lang="ko-KR" altLang="en-US" sz="1800" dirty="0"/>
                  <a:t>주로 사용</a:t>
                </a:r>
                <a:r>
                  <a:rPr kumimoji="1" lang="en-US" altLang="ko-KR" sz="1800" dirty="0"/>
                  <a:t>) 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 ∙</m:t>
                    </m:r>
                    <m:r>
                      <a:rPr kumimoji="1" lang="en-US" altLang="ko-KR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kumimoji="1" lang="en-US" altLang="ko-KR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kumimoji="1" lang="ko-KR" alt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타원곡선 점</m:t>
                    </m:r>
                    <m:r>
                      <a:rPr kumimoji="1" lang="en-US" altLang="ko-KR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ko-KR" altLang="en-US" sz="1800" dirty="0"/>
                  <a:t> </a:t>
                </a:r>
                <a:r>
                  <a:rPr kumimoji="1" lang="en-US" altLang="ko-KR" sz="1800" dirty="0"/>
                  <a:t>(</a:t>
                </a:r>
                <a14:m>
                  <m:oMath xmlns:m="http://schemas.openxmlformats.org/officeDocument/2006/math">
                    <m:r>
                      <a:rPr kumimoji="1" lang="en-US" altLang="ko-KR" sz="1800" b="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kumimoji="1" lang="en-US" altLang="ko-KR" sz="1800" dirty="0"/>
                  <a:t> ← Random())</a:t>
                </a:r>
              </a:p>
              <a:p>
                <a:pPr>
                  <a:buFontTx/>
                  <a:buChar char="-"/>
                </a:pPr>
                <a:r>
                  <a:rPr kumimoji="1" lang="ko-KR" altLang="en-US" sz="1800" dirty="0"/>
                  <a:t>공유 비밀</a:t>
                </a:r>
                <a:r>
                  <a:rPr kumimoji="1" lang="en-US" altLang="ko-KR" sz="1800" dirty="0"/>
                  <a:t>(</a:t>
                </a:r>
                <a:r>
                  <a:rPr kumimoji="1" lang="en-US" altLang="ko-KR" sz="1800" dirty="0" err="1"/>
                  <a:t>shared_secret</a:t>
                </a:r>
                <a:r>
                  <a:rPr kumimoji="1" lang="en-US" altLang="ko-KR" sz="1800" dirty="0"/>
                  <a:t>) : </a:t>
                </a:r>
                <a:br>
                  <a:rPr kumimoji="1" lang="en-US" altLang="ko-KR" sz="1800" b="0" i="1" dirty="0">
                    <a:latin typeface="Cambria Math" panose="02040503050406030204" pitchFamily="18" charset="0"/>
                  </a:rPr>
                </a:br>
                <a:r>
                  <a:rPr kumimoji="1" lang="en-US" altLang="ko-KR" sz="1800" b="0" i="1" dirty="0">
                    <a:latin typeface="Cambria Math" panose="02040503050406030204" pitchFamily="18" charset="0"/>
                  </a:rPr>
                  <a:t> </a:t>
                </a:r>
                <a:r>
                  <a:rPr kumimoji="1" lang="en-US" altLang="ko-KR" sz="1800" b="0" dirty="0">
                    <a:latin typeface="Cambria Math" panose="02040503050406030204" pitchFamily="18" charset="0"/>
                  </a:rPr>
                  <a:t>FFDHE</a:t>
                </a:r>
                <a:r>
                  <a:rPr kumimoji="1" lang="en-US" altLang="ko-KR" sz="1800" b="0" i="1" dirty="0">
                    <a:latin typeface="Cambria Math" panose="02040503050406030204" pitchFamily="18" charset="0"/>
                  </a:rPr>
                  <a:t> :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𝑠h𝑎𝑟𝑒𝑑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kumimoji="1" lang="en-US" altLang="ko-KR" sz="1800" dirty="0"/>
                  <a:t>    </a:t>
                </a:r>
                <a:r>
                  <a:rPr kumimoji="1" lang="en-US" altLang="ko-KR" sz="1800" b="1" dirty="0">
                    <a:solidFill>
                      <a:srgbClr val="FF0000"/>
                    </a:solidFill>
                  </a:rPr>
                  <a:t>ECDHE : </a:t>
                </a:r>
                <a14:m>
                  <m:oMath xmlns:m="http://schemas.openxmlformats.org/officeDocument/2006/math">
                    <m:r>
                      <a:rPr kumimoji="1" lang="en-US" altLang="ko-KR" sz="18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𝒔𝒉𝒂𝒓𝒆𝒅</m:t>
                    </m:r>
                    <m:r>
                      <a:rPr kumimoji="1" lang="en-US" altLang="ko-KR" sz="18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kumimoji="1" lang="en-US" altLang="ko-KR" sz="1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sz="1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𝒙𝒚</m:t>
                        </m:r>
                      </m:e>
                    </m:d>
                    <m:r>
                      <a:rPr kumimoji="1" lang="en-US" altLang="ko-KR" sz="18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∙</m:t>
                    </m:r>
                    <m:r>
                      <a:rPr kumimoji="1" lang="en-US" altLang="ko-KR" sz="1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endParaRPr kumimoji="1" lang="en-US" altLang="ko-KR" sz="1800" b="1" dirty="0">
                  <a:solidFill>
                    <a:srgbClr val="FF0000"/>
                  </a:solidFill>
                </a:endParaRPr>
              </a:p>
              <a:p>
                <a:pPr>
                  <a:buFontTx/>
                  <a:buChar char="-"/>
                </a:pPr>
                <a:r>
                  <a:rPr kumimoji="1" lang="ko-KR" altLang="en-US" sz="1800" b="1" dirty="0"/>
                  <a:t>키 스케줄 시작 </a:t>
                </a:r>
                <a:r>
                  <a:rPr kumimoji="1" lang="en-US" altLang="ko-KR" sz="1800" b="1" dirty="0"/>
                  <a:t>: </a:t>
                </a:r>
                <a:r>
                  <a:rPr kumimoji="1" lang="en-US" altLang="ko-KR" sz="1800" b="1" dirty="0" err="1"/>
                  <a:t>early_secret</a:t>
                </a:r>
                <a:r>
                  <a:rPr kumimoji="1" lang="en-US" altLang="ko-KR" sz="1800" b="1" dirty="0"/>
                  <a:t>  </a:t>
                </a:r>
                <a14:m>
                  <m:oMath xmlns:m="http://schemas.openxmlformats.org/officeDocument/2006/math">
                    <m:r>
                      <a:rPr kumimoji="1" lang="en-US" altLang="ko-KR" sz="1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kumimoji="1" lang="en-US" altLang="ko-KR" sz="1800" b="1" dirty="0"/>
                  <a:t> </a:t>
                </a:r>
                <a:r>
                  <a:rPr kumimoji="1" lang="en-US" altLang="ko-KR" sz="1800" b="1" dirty="0" err="1"/>
                  <a:t>handshake_secret</a:t>
                </a:r>
                <a:r>
                  <a:rPr kumimoji="1" lang="en-US" altLang="ko-KR" sz="1800" b="1" dirty="0"/>
                  <a:t> </a:t>
                </a:r>
                <a14:m>
                  <m:oMath xmlns:m="http://schemas.openxmlformats.org/officeDocument/2006/math">
                    <m:r>
                      <a:rPr kumimoji="1" lang="en-US" altLang="ko-KR" sz="18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kumimoji="1" lang="en-US" altLang="ko-KR" sz="1800" b="1" dirty="0"/>
                  <a:t> client/ </a:t>
                </a:r>
                <a:r>
                  <a:rPr kumimoji="1" lang="en-US" altLang="ko-KR" sz="1800" b="1" dirty="0" err="1"/>
                  <a:t>server_handshake_traffic_secret</a:t>
                </a:r>
                <a:endParaRPr kumimoji="1" lang="en-US" altLang="ko-KR" sz="1800" b="1" dirty="0"/>
              </a:p>
              <a:p>
                <a:pPr>
                  <a:buFontTx/>
                  <a:buChar char="-"/>
                </a:pPr>
                <a:endParaRPr kumimoji="1" lang="en-US" altLang="ko-KR" sz="1800" dirty="0"/>
              </a:p>
            </p:txBody>
          </p:sp>
        </mc:Choice>
        <mc:Fallback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53530590-1322-12CD-3040-039C343EED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410405" y="1174370"/>
                <a:ext cx="11369675" cy="4737100"/>
              </a:xfrm>
              <a:blipFill>
                <a:blip r:embed="rId2"/>
                <a:stretch>
                  <a:fillRect l="-335" t="-133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CB7C0D64-7140-ACAC-29C7-0A4E7068F4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635659"/>
              </p:ext>
            </p:extLst>
          </p:nvPr>
        </p:nvGraphicFramePr>
        <p:xfrm>
          <a:off x="410404" y="4830190"/>
          <a:ext cx="11369675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2368">
                  <a:extLst>
                    <a:ext uri="{9D8B030D-6E8A-4147-A177-3AD203B41FA5}">
                      <a16:colId xmlns:a16="http://schemas.microsoft.com/office/drawing/2014/main" val="3302914485"/>
                    </a:ext>
                  </a:extLst>
                </a:gridCol>
                <a:gridCol w="2130641">
                  <a:extLst>
                    <a:ext uri="{9D8B030D-6E8A-4147-A177-3AD203B41FA5}">
                      <a16:colId xmlns:a16="http://schemas.microsoft.com/office/drawing/2014/main" val="2374194966"/>
                    </a:ext>
                  </a:extLst>
                </a:gridCol>
                <a:gridCol w="4429957">
                  <a:extLst>
                    <a:ext uri="{9D8B030D-6E8A-4147-A177-3AD203B41FA5}">
                      <a16:colId xmlns:a16="http://schemas.microsoft.com/office/drawing/2014/main" val="4147293692"/>
                    </a:ext>
                  </a:extLst>
                </a:gridCol>
                <a:gridCol w="905522">
                  <a:extLst>
                    <a:ext uri="{9D8B030D-6E8A-4147-A177-3AD203B41FA5}">
                      <a16:colId xmlns:a16="http://schemas.microsoft.com/office/drawing/2014/main" val="3690237911"/>
                    </a:ext>
                  </a:extLst>
                </a:gridCol>
                <a:gridCol w="2991187">
                  <a:extLst>
                    <a:ext uri="{9D8B030D-6E8A-4147-A177-3AD203B41FA5}">
                      <a16:colId xmlns:a16="http://schemas.microsoft.com/office/drawing/2014/main" val="40346138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/>
                        <a:t>필드명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/>
                        <a:t>설명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/>
                        <a:t>암호화 여부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/>
                        <a:t>길이 </a:t>
                      </a:r>
                      <a:r>
                        <a:rPr lang="en-US" altLang="ko-KR" sz="1000"/>
                        <a:t>(</a:t>
                      </a:r>
                      <a:r>
                        <a:rPr lang="en" sz="1000"/>
                        <a:t>bytes)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7796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b="1"/>
                        <a:t>Header</a:t>
                      </a:r>
                      <a:endParaRPr lang="en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 err="1">
                          <a:latin typeface="Courier New" panose="02070309020205020404" pitchFamily="49" charset="0"/>
                        </a:rPr>
                        <a:t>legacy_version</a:t>
                      </a:r>
                      <a:endParaRPr lang="en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/>
                        <a:t>항상 </a:t>
                      </a:r>
                      <a:r>
                        <a:rPr lang="en-US" altLang="ko-KR" sz="1000">
                          <a:latin typeface="Courier New" panose="02070309020205020404" pitchFamily="49" charset="0"/>
                        </a:rPr>
                        <a:t>0</a:t>
                      </a:r>
                      <a:r>
                        <a:rPr lang="en" sz="1000">
                          <a:latin typeface="Courier New" panose="02070309020205020404" pitchFamily="49" charset="0"/>
                        </a:rPr>
                        <a:t>x0303</a:t>
                      </a:r>
                      <a:r>
                        <a:rPr lang="en" sz="1000"/>
                        <a:t> (TLS 1.2 </a:t>
                      </a:r>
                      <a:r>
                        <a:rPr lang="ko-KR" altLang="en-US" sz="1000"/>
                        <a:t>고정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호환성용</a:t>
                      </a:r>
                      <a:r>
                        <a:rPr lang="en-US" altLang="ko-KR" sz="100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/>
                        <a:t>평문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b="1"/>
                        <a:t>2 bytes</a:t>
                      </a:r>
                      <a:endParaRPr lang="en" sz="1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10448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b="1"/>
                        <a:t>Header</a:t>
                      </a:r>
                      <a:endParaRPr lang="en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>
                          <a:latin typeface="Courier New" panose="02070309020205020404" pitchFamily="49" charset="0"/>
                        </a:rPr>
                        <a:t>random</a:t>
                      </a:r>
                      <a:endParaRPr lang="en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/>
                        <a:t>32</a:t>
                      </a:r>
                      <a:r>
                        <a:rPr lang="ko-KR" altLang="en-US" sz="1000"/>
                        <a:t>바이트 난수 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마지막 </a:t>
                      </a:r>
                      <a:r>
                        <a:rPr lang="en-US" altLang="ko-KR" sz="1000"/>
                        <a:t>8</a:t>
                      </a:r>
                      <a:r>
                        <a:rPr lang="ko-KR" altLang="en-US" sz="1000"/>
                        <a:t>바이트는 다운그레이드 </a:t>
                      </a:r>
                      <a:r>
                        <a:rPr lang="en" sz="1000"/>
                        <a:t>Sentinel </a:t>
                      </a:r>
                      <a:r>
                        <a:rPr lang="ko-KR" altLang="en-US" sz="1000"/>
                        <a:t>가능</a:t>
                      </a:r>
                      <a:r>
                        <a:rPr lang="en-US" altLang="ko-KR" sz="100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/>
                        <a:t>평문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b="1"/>
                        <a:t>32 bytes</a:t>
                      </a:r>
                      <a:endParaRPr lang="en" sz="1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26773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b="1"/>
                        <a:t>Header</a:t>
                      </a:r>
                      <a:endParaRPr lang="en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>
                          <a:latin typeface="Courier New" panose="02070309020205020404" pitchFamily="49" charset="0"/>
                        </a:rPr>
                        <a:t>legacy_session_id_echo</a:t>
                      </a:r>
                      <a:endParaRPr lang="en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/>
                        <a:t>클라이언트의 </a:t>
                      </a:r>
                      <a:r>
                        <a:rPr lang="en" sz="1000" dirty="0" err="1">
                          <a:latin typeface="Courier New" panose="02070309020205020404" pitchFamily="49" charset="0"/>
                        </a:rPr>
                        <a:t>legacy_session_id</a:t>
                      </a:r>
                      <a:r>
                        <a:rPr lang="en" sz="1000" dirty="0"/>
                        <a:t> </a:t>
                      </a:r>
                      <a:r>
                        <a:rPr lang="ko-KR" altLang="en-US" sz="1000" dirty="0"/>
                        <a:t>그대로 반환 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호환성 필드</a:t>
                      </a:r>
                      <a:r>
                        <a:rPr lang="en-US" altLang="ko-KR" sz="10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/>
                        <a:t>평문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b="1"/>
                        <a:t>1 byte </a:t>
                      </a:r>
                      <a:r>
                        <a:rPr lang="ko-KR" altLang="en-US" sz="1000" b="1"/>
                        <a:t>길이 </a:t>
                      </a:r>
                      <a:r>
                        <a:rPr lang="en-US" altLang="ko-KR" sz="1000" b="1"/>
                        <a:t>+ 0–32 </a:t>
                      </a:r>
                      <a:r>
                        <a:rPr lang="en" sz="1000" b="1"/>
                        <a:t>bytes </a:t>
                      </a:r>
                      <a:r>
                        <a:rPr lang="ko-KR" altLang="en-US" sz="1000" b="1"/>
                        <a:t>데이터</a:t>
                      </a:r>
                      <a:endParaRPr lang="ko-KR" altLang="en-US" sz="1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73242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b="1"/>
                        <a:t>Header</a:t>
                      </a:r>
                      <a:endParaRPr lang="en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>
                          <a:latin typeface="Courier New" panose="02070309020205020404" pitchFamily="49" charset="0"/>
                        </a:rPr>
                        <a:t>cipher_suite</a:t>
                      </a:r>
                      <a:endParaRPr lang="en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/>
                        <a:t>서버가 선택한 단일 암호 스위트 </a:t>
                      </a:r>
                      <a:r>
                        <a:rPr lang="en-US" altLang="ko-KR" sz="1000" dirty="0"/>
                        <a:t>(</a:t>
                      </a:r>
                      <a:r>
                        <a:rPr lang="en" sz="1000" dirty="0"/>
                        <a:t>ex: </a:t>
                      </a:r>
                      <a:r>
                        <a:rPr lang="en" sz="1000" dirty="0">
                          <a:latin typeface="Courier New" panose="02070309020205020404" pitchFamily="49" charset="0"/>
                        </a:rPr>
                        <a:t>0x1301</a:t>
                      </a:r>
                      <a:r>
                        <a:rPr lang="en" sz="10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/>
                        <a:t>평문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b="1"/>
                        <a:t>2 bytes</a:t>
                      </a:r>
                      <a:endParaRPr lang="en" sz="1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92096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b="1"/>
                        <a:t>Header</a:t>
                      </a:r>
                      <a:endParaRPr lang="en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 err="1">
                          <a:latin typeface="Courier New" panose="02070309020205020404" pitchFamily="49" charset="0"/>
                        </a:rPr>
                        <a:t>legacy_compression_method</a:t>
                      </a:r>
                      <a:endParaRPr lang="en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/>
                        <a:t>항상 </a:t>
                      </a:r>
                      <a:r>
                        <a:rPr lang="en-US" altLang="ko-KR" sz="1000">
                          <a:latin typeface="Courier New" panose="02070309020205020404" pitchFamily="49" charset="0"/>
                        </a:rPr>
                        <a:t>0</a:t>
                      </a:r>
                      <a:r>
                        <a:rPr lang="en" sz="1000">
                          <a:latin typeface="Courier New" panose="02070309020205020404" pitchFamily="49" charset="0"/>
                        </a:rPr>
                        <a:t>x00</a:t>
                      </a:r>
                      <a:r>
                        <a:rPr lang="en" sz="1000"/>
                        <a:t> (</a:t>
                      </a:r>
                      <a:r>
                        <a:rPr lang="ko-KR" altLang="en-US" sz="1000"/>
                        <a:t>압축 미사용</a:t>
                      </a:r>
                      <a:r>
                        <a:rPr lang="en-US" altLang="ko-KR" sz="100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/>
                        <a:t>평문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b="1"/>
                        <a:t>1 byte</a:t>
                      </a:r>
                      <a:endParaRPr lang="en" sz="1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95752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b="1"/>
                        <a:t>Extensions</a:t>
                      </a:r>
                      <a:endParaRPr lang="en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>
                          <a:latin typeface="Courier New" panose="02070309020205020404" pitchFamily="49" charset="0"/>
                        </a:rPr>
                        <a:t>extensions</a:t>
                      </a:r>
                      <a:r>
                        <a:rPr lang="en" sz="1000" dirty="0"/>
                        <a:t> </a:t>
                      </a:r>
                      <a:r>
                        <a:rPr lang="ko-KR" altLang="en-US" sz="1000" dirty="0"/>
                        <a:t>블록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/>
                        <a:t>아래 확장 필드 목록으로 구성됨 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각각 길이 앞에 </a:t>
                      </a:r>
                      <a:r>
                        <a:rPr lang="en-US" altLang="ko-KR" sz="1000" dirty="0"/>
                        <a:t>2</a:t>
                      </a:r>
                      <a:r>
                        <a:rPr lang="ko-KR" altLang="en-US" sz="1000" dirty="0"/>
                        <a:t>바이트 </a:t>
                      </a:r>
                      <a:r>
                        <a:rPr lang="en" sz="1000" dirty="0"/>
                        <a:t>length prefix </a:t>
                      </a:r>
                      <a:r>
                        <a:rPr lang="ko-KR" altLang="en-US" sz="1000" dirty="0"/>
                        <a:t>포함</a:t>
                      </a:r>
                      <a:r>
                        <a:rPr lang="en-US" altLang="ko-KR" sz="10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/>
                        <a:t>평문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b="1" dirty="0"/>
                        <a:t>2 bytes (</a:t>
                      </a:r>
                      <a:r>
                        <a:rPr lang="ko-KR" altLang="en-US" sz="1000" b="1" dirty="0"/>
                        <a:t>전체 길이 필드</a:t>
                      </a:r>
                      <a:r>
                        <a:rPr lang="en-US" altLang="ko-KR" sz="1000" b="1" dirty="0"/>
                        <a:t>) + </a:t>
                      </a:r>
                      <a:r>
                        <a:rPr lang="en" sz="1000" b="1" dirty="0"/>
                        <a:t>N bytes </a:t>
                      </a:r>
                      <a:r>
                        <a:rPr lang="ko-KR" altLang="en-US" sz="1000" b="1" dirty="0"/>
                        <a:t>데이터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56388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0263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9E971E-6E5A-6321-C2F8-36B3A51B2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 err="1"/>
              <a:t>ServerHello</a:t>
            </a:r>
            <a:endParaRPr kumimoji="1"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3C8A53-8882-0A14-2AF3-02E2C663E6BA}"/>
              </a:ext>
            </a:extLst>
          </p:cNvPr>
          <p:cNvSpPr txBox="1"/>
          <p:nvPr/>
        </p:nvSpPr>
        <p:spPr>
          <a:xfrm>
            <a:off x="458609" y="3119412"/>
            <a:ext cx="471937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Extension: </a:t>
            </a:r>
            <a:r>
              <a:rPr lang="en" altLang="ko-K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supported_versions</a:t>
            </a:r>
            <a:endParaRPr lang="en" altLang="ko-KR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Type: </a:t>
            </a:r>
            <a:r>
              <a:rPr lang="en" altLang="ko-K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supported_versions</a:t>
            </a:r>
            <a:r>
              <a:rPr lang="en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(43)</a:t>
            </a:r>
          </a:p>
          <a:p>
            <a:r>
              <a:rPr lang="en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Length: 5</a:t>
            </a:r>
          </a:p>
          <a:p>
            <a:r>
              <a:rPr lang="en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Supported Versions length: 4</a:t>
            </a:r>
          </a:p>
          <a:p>
            <a:r>
              <a:rPr lang="en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" altLang="ko-K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Supported Version: TLS 1.3 (0x0304)</a:t>
            </a:r>
          </a:p>
          <a:p>
            <a:r>
              <a:rPr lang="en" altLang="ko-K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Supported Version: TLS 1.2 (0x0303)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0522C7-577B-E60D-1287-7A21CB2C1E5B}"/>
              </a:ext>
            </a:extLst>
          </p:cNvPr>
          <p:cNvSpPr txBox="1"/>
          <p:nvPr/>
        </p:nvSpPr>
        <p:spPr>
          <a:xfrm>
            <a:off x="550415" y="1303530"/>
            <a:ext cx="980615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struct {</a:t>
            </a:r>
          </a:p>
          <a:p>
            <a:r>
              <a:rPr lang="en" altLang="ko-K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" altLang="ko-KR" sz="1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ProtocolVersion</a:t>
            </a:r>
            <a:r>
              <a:rPr lang="en" altLang="ko-K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ko-KR" sz="1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legacy_version</a:t>
            </a:r>
            <a:r>
              <a:rPr lang="en" altLang="ko-K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0x0303;   // </a:t>
            </a:r>
            <a:r>
              <a:rPr lang="ko-KR" altLang="en-US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항상 </a:t>
            </a:r>
            <a:r>
              <a:rPr lang="en" altLang="ko-K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TLS 1.2</a:t>
            </a:r>
          </a:p>
          <a:p>
            <a:r>
              <a:rPr lang="en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Random random;</a:t>
            </a:r>
          </a:p>
          <a:p>
            <a:r>
              <a:rPr lang="en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opaque </a:t>
            </a:r>
            <a:r>
              <a:rPr lang="en" altLang="ko-K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legacy_session_id</a:t>
            </a:r>
            <a:r>
              <a:rPr lang="en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&lt;0..32&gt;;</a:t>
            </a:r>
          </a:p>
          <a:p>
            <a:r>
              <a:rPr lang="en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" altLang="ko-K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CipherSuite</a:t>
            </a:r>
            <a:r>
              <a:rPr lang="en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ko-K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cipher_suites</a:t>
            </a:r>
            <a:r>
              <a:rPr lang="en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&lt;2..2^16-2&gt;;</a:t>
            </a:r>
          </a:p>
          <a:p>
            <a:r>
              <a:rPr lang="en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opaque </a:t>
            </a:r>
            <a:r>
              <a:rPr lang="en" altLang="ko-K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legacy_compression_methods</a:t>
            </a:r>
            <a:r>
              <a:rPr lang="en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&lt;1..2^8-1&gt;;</a:t>
            </a:r>
          </a:p>
          <a:p>
            <a:r>
              <a:rPr lang="en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Extension extensions&lt;8..2^16-1&gt;;           // </a:t>
            </a:r>
            <a:r>
              <a:rPr lang="ko-KR" alt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여기 안에 </a:t>
            </a:r>
            <a:r>
              <a:rPr lang="en" altLang="ko-K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supported_versions</a:t>
            </a:r>
            <a:r>
              <a:rPr lang="en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ko-KR" alt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포함</a:t>
            </a:r>
          </a:p>
          <a:p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r>
              <a:rPr lang="en" altLang="ko-K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ClientHello</a:t>
            </a:r>
            <a:r>
              <a:rPr lang="en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84A626-1EBF-B15C-B79F-A7E8C1509DDD}"/>
              </a:ext>
            </a:extLst>
          </p:cNvPr>
          <p:cNvSpPr txBox="1"/>
          <p:nvPr/>
        </p:nvSpPr>
        <p:spPr>
          <a:xfrm>
            <a:off x="6591668" y="4044457"/>
            <a:ext cx="518841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ServerHello</a:t>
            </a:r>
            <a:r>
              <a:rPr lang="ko-KR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ko-KR" altLang="en-US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ko-KR" altLang="en-US" sz="1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legacy_version</a:t>
            </a:r>
            <a:r>
              <a:rPr lang="ko-KR" altLang="en-US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0x0303</a:t>
            </a:r>
          </a:p>
          <a:p>
            <a:r>
              <a:rPr lang="ko-KR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...</a:t>
            </a:r>
          </a:p>
          <a:p>
            <a:r>
              <a:rPr lang="ko-KR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ko-KR" alt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Extension</a:t>
            </a:r>
            <a:r>
              <a:rPr lang="ko-KR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ko-KR" alt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supported_versions</a:t>
            </a:r>
            <a:endParaRPr lang="ko-KR" alt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ko-KR" altLang="en-US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ko-KR" altLang="en-US" sz="1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Supported</a:t>
            </a:r>
            <a:r>
              <a:rPr lang="ko-KR" altLang="en-US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ko-KR" altLang="en-US" sz="1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Version</a:t>
            </a:r>
            <a:r>
              <a:rPr lang="ko-KR" altLang="en-US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TLS 1.3 (0x0304)</a:t>
            </a:r>
          </a:p>
        </p:txBody>
      </p:sp>
    </p:spTree>
    <p:extLst>
      <p:ext uri="{BB962C8B-B14F-4D97-AF65-F5344CB8AC3E}">
        <p14:creationId xmlns:p14="http://schemas.microsoft.com/office/powerpoint/2010/main" val="15764089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0AD52-3BB4-973A-634B-EFDBF7389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91EE42-82A4-3541-41D7-FCACFB185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 err="1"/>
              <a:t>ServerHello</a:t>
            </a:r>
            <a:r>
              <a:rPr kumimoji="1" lang="en-US" altLang="ko-KR" dirty="0"/>
              <a:t> </a:t>
            </a:r>
            <a:r>
              <a:rPr kumimoji="1" lang="ko-KR" altLang="en-US" dirty="0"/>
              <a:t>이후 </a:t>
            </a:r>
            <a:r>
              <a:rPr kumimoji="1" lang="en-US" altLang="ko-KR" dirty="0"/>
              <a:t>HKDF </a:t>
            </a:r>
            <a:r>
              <a:rPr kumimoji="1" lang="ko-KR" altLang="en-US" dirty="0"/>
              <a:t>기반 키 스케줄링 과정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34AFCF-7F9B-ECC1-2653-1FC830056C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b="1" dirty="0"/>
              <a:t>[</a:t>
            </a:r>
            <a:r>
              <a:rPr lang="ko-KR" altLang="en-US" sz="2000" b="1" dirty="0"/>
              <a:t>키 스케줄링 흐름도 요약</a:t>
            </a:r>
            <a:r>
              <a:rPr lang="en-US" altLang="ko-KR" sz="2000" b="1" dirty="0"/>
              <a:t>]</a:t>
            </a:r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endParaRPr lang="ko-KR" altLang="en-US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B6A2FE-B193-1182-6745-C221BD198059}"/>
              </a:ext>
            </a:extLst>
          </p:cNvPr>
          <p:cNvSpPr txBox="1"/>
          <p:nvPr/>
        </p:nvSpPr>
        <p:spPr>
          <a:xfrm>
            <a:off x="3448878" y="2099895"/>
            <a:ext cx="612913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ko-KR" altLang="en-US" sz="2000" dirty="0" err="1"/>
              <a:t>early_secret</a:t>
            </a:r>
            <a:endParaRPr lang="ko-KR" altLang="en-US" sz="2000" dirty="0"/>
          </a:p>
          <a:p>
            <a:pPr marL="0" indent="0">
              <a:buNone/>
            </a:pPr>
            <a:r>
              <a:rPr lang="ko-KR" altLang="en-US" sz="2000" dirty="0"/>
              <a:t>   ↓ (ECDHE </a:t>
            </a:r>
            <a:r>
              <a:rPr lang="ko-KR" altLang="en-US" sz="2000" dirty="0" err="1"/>
              <a:t>or</a:t>
            </a:r>
            <a:r>
              <a:rPr lang="ko-KR" altLang="en-US" sz="2000" dirty="0"/>
              <a:t> PSK)</a:t>
            </a:r>
          </a:p>
          <a:p>
            <a:pPr marL="0" indent="0">
              <a:buNone/>
            </a:pPr>
            <a:r>
              <a:rPr lang="ko-KR" altLang="en-US" sz="2000" dirty="0" err="1"/>
              <a:t>handshake_secret</a:t>
            </a:r>
            <a:endParaRPr lang="ko-KR" altLang="en-US" sz="2000" dirty="0"/>
          </a:p>
          <a:p>
            <a:pPr marL="0" indent="0">
              <a:buNone/>
            </a:pPr>
            <a:r>
              <a:rPr lang="ko-KR" altLang="en-US" sz="2000" dirty="0"/>
              <a:t>   ↓ (</a:t>
            </a:r>
            <a:r>
              <a:rPr lang="ko-KR" altLang="en-US" sz="2000" dirty="0" err="1"/>
              <a:t>derive</a:t>
            </a:r>
            <a:r>
              <a:rPr lang="ko-KR" altLang="en-US" sz="2000" dirty="0"/>
              <a:t> "</a:t>
            </a:r>
            <a:r>
              <a:rPr lang="ko-KR" altLang="en-US" sz="2000" dirty="0" err="1"/>
              <a:t>derived</a:t>
            </a:r>
            <a:r>
              <a:rPr lang="ko-KR" altLang="en-US" sz="2000" dirty="0"/>
              <a:t>")</a:t>
            </a:r>
          </a:p>
          <a:p>
            <a:pPr marL="0" indent="0">
              <a:buNone/>
            </a:pPr>
            <a:r>
              <a:rPr lang="ko-KR" altLang="en-US" sz="2000" dirty="0" err="1"/>
              <a:t>master_secret</a:t>
            </a:r>
            <a:endParaRPr lang="ko-KR" altLang="en-US" sz="2000" dirty="0"/>
          </a:p>
          <a:p>
            <a:pPr marL="0" indent="0">
              <a:buNone/>
            </a:pPr>
            <a:r>
              <a:rPr lang="ko-KR" altLang="en-US" sz="2000" dirty="0"/>
              <a:t>   ↓</a:t>
            </a:r>
          </a:p>
          <a:p>
            <a:pPr marL="0" indent="0">
              <a:buNone/>
            </a:pPr>
            <a:r>
              <a:rPr lang="ko-KR" altLang="en-US" sz="2000" dirty="0"/>
              <a:t>{</a:t>
            </a:r>
            <a:r>
              <a:rPr lang="ko-KR" altLang="en-US" sz="2000" dirty="0" err="1"/>
              <a:t>client,server</a:t>
            </a:r>
            <a:r>
              <a:rPr lang="ko-KR" altLang="en-US" sz="2000" dirty="0"/>
              <a:t>}_application_traffic_secret_0</a:t>
            </a:r>
          </a:p>
          <a:p>
            <a:pPr marL="0" indent="0">
              <a:buNone/>
            </a:pPr>
            <a:r>
              <a:rPr lang="ko-KR" altLang="en-US" sz="2000" dirty="0"/>
              <a:t>   ↓</a:t>
            </a:r>
          </a:p>
          <a:p>
            <a:pPr marL="0" indent="0">
              <a:buNone/>
            </a:pPr>
            <a:r>
              <a:rPr lang="ko-KR" altLang="en-US" sz="2000" dirty="0"/>
              <a:t>{</a:t>
            </a:r>
            <a:r>
              <a:rPr lang="ko-KR" altLang="en-US" sz="2000" dirty="0" err="1"/>
              <a:t>client,server</a:t>
            </a:r>
            <a:r>
              <a:rPr lang="ko-KR" altLang="en-US" sz="2000" dirty="0"/>
              <a:t>}_</a:t>
            </a:r>
            <a:r>
              <a:rPr lang="ko-KR" altLang="en-US" sz="2000" dirty="0" err="1"/>
              <a:t>application_key</a:t>
            </a:r>
            <a:r>
              <a:rPr lang="ko-KR" altLang="en-US" sz="2000" dirty="0"/>
              <a:t>, IV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071FB0-0B14-D2F4-EEE6-DE0C877C5371}"/>
              </a:ext>
            </a:extLst>
          </p:cNvPr>
          <p:cNvSpPr txBox="1"/>
          <p:nvPr/>
        </p:nvSpPr>
        <p:spPr>
          <a:xfrm>
            <a:off x="7096569" y="1072212"/>
            <a:ext cx="4962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dirty="0"/>
              <a:t>HKDF : HMAC</a:t>
            </a:r>
            <a:r>
              <a:rPr kumimoji="1" lang="ko-KR" altLang="en-US" dirty="0"/>
              <a:t>을 기반으로 하는 키 유도함수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142086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26EF0-4C5B-E097-AA5A-BE42EB378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B30D4F-AD65-A277-049C-69EAE9BB5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 err="1"/>
              <a:t>ServerHello</a:t>
            </a:r>
            <a:r>
              <a:rPr kumimoji="1" lang="en-US" altLang="ko-KR" dirty="0"/>
              <a:t> </a:t>
            </a:r>
            <a:r>
              <a:rPr kumimoji="1" lang="ko-KR" altLang="en-US" dirty="0"/>
              <a:t>이후 </a:t>
            </a:r>
            <a:r>
              <a:rPr kumimoji="1" lang="en-US" altLang="ko-KR" dirty="0"/>
              <a:t>HKDF </a:t>
            </a:r>
            <a:r>
              <a:rPr kumimoji="1" lang="ko-KR" altLang="en-US" dirty="0"/>
              <a:t>기반 키 스케줄링 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F6DAA6B4-6D0A-644E-A9DF-2FD215EEAAB9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/>
              <a:lstStyle/>
              <a:p>
                <a:r>
                  <a:rPr kumimoji="1" lang="en-US" altLang="ko-KR" sz="2000" dirty="0"/>
                  <a:t>PSK(Pre-Share Key)</a:t>
                </a:r>
              </a:p>
              <a:p>
                <a:pPr lvl="1"/>
                <a:r>
                  <a:rPr kumimoji="1" lang="ko-KR" altLang="en-US" sz="1800" dirty="0"/>
                  <a:t>미리 공유된 키</a:t>
                </a:r>
                <a:r>
                  <a:rPr kumimoji="1" lang="en-US" altLang="ko-KR" sz="1800" dirty="0"/>
                  <a:t>(</a:t>
                </a:r>
                <a:r>
                  <a:rPr kumimoji="1" lang="ko-KR" altLang="en-US" sz="1800" dirty="0"/>
                  <a:t>외부로 사전 배포된 키</a:t>
                </a:r>
                <a:r>
                  <a:rPr kumimoji="1" lang="en-US" altLang="ko-KR" sz="1800" dirty="0"/>
                  <a:t>,</a:t>
                </a:r>
                <a:r>
                  <a:rPr kumimoji="1" lang="ko-KR" altLang="en-US" sz="1800" dirty="0"/>
                  <a:t> 이전 세션에서 발급된 세션 티켓 등</a:t>
                </a:r>
                <a:r>
                  <a:rPr kumimoji="1" lang="en-US" altLang="ko-KR" sz="1800" dirty="0"/>
                  <a:t>)</a:t>
                </a:r>
                <a:r>
                  <a:rPr kumimoji="1" lang="ko-KR" altLang="en-US" sz="1800" dirty="0"/>
                  <a:t>로 새 연결을 빠르게 수립</a:t>
                </a:r>
                <a:endParaRPr kumimoji="1" lang="en-US" altLang="ko-KR" sz="1800" dirty="0"/>
              </a:p>
              <a:p>
                <a:pPr lvl="1"/>
                <a:endParaRPr kumimoji="1" lang="en-US" altLang="ko-KR" sz="1800" dirty="0"/>
              </a:p>
              <a:p>
                <a:pPr lvl="1"/>
                <a:r>
                  <a:rPr kumimoji="1" lang="en-US" altLang="ko-KR" sz="1800" dirty="0"/>
                  <a:t>TLS 1.3</a:t>
                </a:r>
                <a:r>
                  <a:rPr kumimoji="1" lang="ko-KR" altLang="en-US" sz="1800" dirty="0"/>
                  <a:t>에서 사용위치</a:t>
                </a:r>
                <a:endParaRPr kumimoji="1" lang="en-US" altLang="ko-KR" sz="1800" dirty="0"/>
              </a:p>
              <a:p>
                <a:pPr lvl="2"/>
                <a:r>
                  <a:rPr kumimoji="1" lang="ko-KR" altLang="en-US" sz="1400" dirty="0"/>
                  <a:t>세션 재개</a:t>
                </a:r>
                <a:r>
                  <a:rPr kumimoji="1" lang="en-US" altLang="ko-KR" sz="1400" dirty="0"/>
                  <a:t>(resumption) : </a:t>
                </a:r>
                <a:r>
                  <a:rPr kumimoji="1" lang="ko-KR" altLang="en-US" sz="1400" dirty="0"/>
                  <a:t>서버가 이전에 연결해준 클라이언트에게 준 </a:t>
                </a:r>
                <a:r>
                  <a:rPr kumimoji="1" lang="en-US" altLang="ko-KR" sz="1400" dirty="0"/>
                  <a:t>resumption ticket(=PSK)</a:t>
                </a:r>
                <a:r>
                  <a:rPr kumimoji="1" lang="ko-KR" altLang="en-US" sz="1400" dirty="0"/>
                  <a:t>로 다음 연결을 </a:t>
                </a:r>
                <a:r>
                  <a:rPr kumimoji="1" lang="en-US" altLang="ko-KR" sz="1400" dirty="0"/>
                  <a:t>1-RTT</a:t>
                </a:r>
                <a:r>
                  <a:rPr kumimoji="1" lang="ko-KR" altLang="en-US" sz="1400" dirty="0"/>
                  <a:t>로 빠르게 </a:t>
                </a:r>
                <a:br>
                  <a:rPr kumimoji="1" lang="en-US" altLang="ko-KR" sz="1400" dirty="0"/>
                </a:br>
                <a:r>
                  <a:rPr kumimoji="1" lang="ko-KR" altLang="en-US" sz="1400" dirty="0"/>
                  <a:t>재 수립</a:t>
                </a:r>
                <a:endParaRPr kumimoji="1" lang="en-US" altLang="ko-KR" sz="1400" dirty="0"/>
              </a:p>
              <a:p>
                <a:pPr lvl="2"/>
                <a:r>
                  <a:rPr kumimoji="1" lang="en-US" altLang="ko-KR" sz="1400" dirty="0"/>
                  <a:t>0-RTT</a:t>
                </a:r>
                <a:r>
                  <a:rPr kumimoji="1" lang="ko-KR" altLang="en-US" sz="1400" dirty="0"/>
                  <a:t> 데이터</a:t>
                </a:r>
                <a:r>
                  <a:rPr kumimoji="1" lang="en-US" altLang="ko-KR" sz="1400" dirty="0"/>
                  <a:t>(optional)</a:t>
                </a:r>
                <a:r>
                  <a:rPr kumimoji="1" lang="ko-KR" altLang="en-US" sz="1400" dirty="0"/>
                  <a:t> </a:t>
                </a:r>
                <a:r>
                  <a:rPr kumimoji="1" lang="en-US" altLang="ko-KR" sz="1400" dirty="0"/>
                  <a:t>:</a:t>
                </a:r>
                <a:r>
                  <a:rPr kumimoji="1" lang="ko-KR" altLang="en-US" sz="1400" dirty="0"/>
                  <a:t> </a:t>
                </a:r>
                <a:r>
                  <a:rPr kumimoji="1" lang="en-US" altLang="ko-KR" sz="1400" dirty="0"/>
                  <a:t>PSK</a:t>
                </a:r>
                <a:r>
                  <a:rPr kumimoji="1" lang="ko-KR" altLang="en-US" sz="1400" dirty="0"/>
                  <a:t>로 </a:t>
                </a:r>
                <a:r>
                  <a:rPr kumimoji="1" lang="en-US" altLang="ko-KR" sz="1400" dirty="0"/>
                  <a:t>Early Data</a:t>
                </a:r>
                <a:r>
                  <a:rPr kumimoji="1" lang="ko-KR" altLang="en-US" sz="1400" dirty="0" err="1"/>
                  <a:t>를</a:t>
                </a:r>
                <a:r>
                  <a:rPr kumimoji="1" lang="ko-KR" altLang="en-US" sz="1400" dirty="0"/>
                  <a:t> 보낼 수 있음</a:t>
                </a:r>
                <a:r>
                  <a:rPr kumimoji="1" lang="en-US" altLang="ko-KR" sz="1400" dirty="0"/>
                  <a:t>(</a:t>
                </a:r>
                <a:r>
                  <a:rPr kumimoji="1" lang="ko-KR" altLang="en-US" sz="1400" dirty="0"/>
                  <a:t>재전송</a:t>
                </a:r>
                <a:r>
                  <a:rPr kumimoji="1" lang="en-US" altLang="ko-KR" sz="1400" dirty="0"/>
                  <a:t>/</a:t>
                </a:r>
                <a:r>
                  <a:rPr kumimoji="1" lang="ko-KR" altLang="en-US" sz="1400" dirty="0"/>
                  <a:t>리플레이 위험</a:t>
                </a:r>
                <a:r>
                  <a:rPr kumimoji="1" lang="en-US" altLang="ko-KR" sz="1400" dirty="0"/>
                  <a:t>,</a:t>
                </a:r>
                <a:r>
                  <a:rPr kumimoji="1" lang="ko-KR" altLang="en-US" sz="1400" dirty="0"/>
                  <a:t> 서버 정책으로 제한적</a:t>
                </a:r>
                <a:r>
                  <a:rPr kumimoji="1" lang="en-US" altLang="ko-KR" sz="1400" dirty="0"/>
                  <a:t>)</a:t>
                </a:r>
              </a:p>
              <a:p>
                <a:pPr lvl="1"/>
                <a:endParaRPr kumimoji="1" lang="en-US" altLang="ko-KR" sz="1800" dirty="0"/>
              </a:p>
              <a:p>
                <a:pPr lvl="1"/>
                <a:r>
                  <a:rPr kumimoji="1" lang="en-US" altLang="ko-KR" sz="1800" dirty="0"/>
                  <a:t>TLS</a:t>
                </a:r>
                <a:r>
                  <a:rPr kumimoji="1" lang="ko-KR" altLang="en-US" sz="1800" dirty="0"/>
                  <a:t> </a:t>
                </a:r>
                <a:r>
                  <a:rPr kumimoji="1" lang="en-US" altLang="ko-KR" sz="1800" dirty="0"/>
                  <a:t>1.3</a:t>
                </a:r>
                <a:r>
                  <a:rPr kumimoji="1" lang="ko-KR" altLang="en-US" sz="1800" dirty="0"/>
                  <a:t>에서 사용되는 모드</a:t>
                </a:r>
                <a:endParaRPr kumimoji="1" lang="en-US" altLang="ko-KR" sz="1800" dirty="0"/>
              </a:p>
              <a:p>
                <a:pPr lvl="2"/>
                <a:r>
                  <a:rPr kumimoji="1" lang="en-US" altLang="ko-KR" sz="1400" dirty="0" err="1"/>
                  <a:t>psk_ke</a:t>
                </a:r>
                <a:r>
                  <a:rPr kumimoji="1" lang="en-US" altLang="ko-KR" sz="1400" dirty="0"/>
                  <a:t> : PSK</a:t>
                </a:r>
                <a:r>
                  <a:rPr kumimoji="1" lang="ko-KR" altLang="en-US" sz="1400" dirty="0"/>
                  <a:t>만으로 키 파생</a:t>
                </a:r>
                <a:r>
                  <a:rPr kumimoji="1" lang="en-US" altLang="ko-KR" sz="1400" dirty="0"/>
                  <a:t>	</a:t>
                </a:r>
                <a:br>
                  <a:rPr kumimoji="1" lang="en-US" altLang="ko-KR" sz="1400" dirty="0"/>
                </a:br>
                <a14:m>
                  <m:oMath xmlns:m="http://schemas.openxmlformats.org/officeDocument/2006/math">
                    <m:r>
                      <a:rPr kumimoji="1" lang="en-US" altLang="ko-KR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kumimoji="1" lang="ko-KR" altLang="en-US" sz="1400" dirty="0"/>
                  <a:t> 가장 빠르지만</a:t>
                </a:r>
                <a:r>
                  <a:rPr kumimoji="1" lang="en-US" altLang="ko-KR" sz="1400" dirty="0"/>
                  <a:t>,</a:t>
                </a:r>
                <a:r>
                  <a:rPr kumimoji="1" lang="ko-KR" altLang="en-US" sz="1400" dirty="0"/>
                  <a:t> 새로운 전방 안전성 없음 </a:t>
                </a:r>
                <a:r>
                  <a:rPr kumimoji="1" lang="en-US" altLang="ko-KR" sz="1400" dirty="0"/>
                  <a:t>–</a:t>
                </a:r>
                <a:r>
                  <a:rPr kumimoji="1" lang="ko-KR" altLang="en-US" sz="1400" dirty="0"/>
                  <a:t> </a:t>
                </a:r>
                <a:r>
                  <a:rPr kumimoji="1" lang="en-US" altLang="ko-KR" sz="1400" dirty="0"/>
                  <a:t>PSK</a:t>
                </a:r>
                <a:r>
                  <a:rPr kumimoji="1" lang="ko-KR" altLang="en-US" sz="1400" dirty="0"/>
                  <a:t>가 유출되면 해당 세션은 위험</a:t>
                </a:r>
                <a:endParaRPr kumimoji="1" lang="en-US" altLang="ko-KR" sz="1400" dirty="0"/>
              </a:p>
              <a:p>
                <a:pPr lvl="2"/>
                <a:endParaRPr kumimoji="1" lang="en-US" altLang="ko-KR" sz="1400" dirty="0"/>
              </a:p>
              <a:p>
                <a:pPr lvl="2"/>
                <a:r>
                  <a:rPr kumimoji="1" lang="en-US" altLang="ko-KR" sz="1400" dirty="0" err="1"/>
                  <a:t>psk_dhe_ke</a:t>
                </a:r>
                <a:r>
                  <a:rPr kumimoji="1" lang="en-US" altLang="ko-KR" sz="1400" dirty="0"/>
                  <a:t> : PSK+(EC)DHE</a:t>
                </a:r>
                <a:r>
                  <a:rPr kumimoji="1" lang="ko-KR" altLang="en-US" sz="1400" dirty="0"/>
                  <a:t> </a:t>
                </a:r>
                <a:r>
                  <a:rPr kumimoji="1" lang="ko-KR" altLang="en-US" sz="1400" dirty="0" err="1"/>
                  <a:t>를</a:t>
                </a:r>
                <a:r>
                  <a:rPr kumimoji="1" lang="ko-KR" altLang="en-US" sz="1400" dirty="0"/>
                  <a:t> 함께 사용하여 전방 안전성 확보</a:t>
                </a:r>
                <a:endParaRPr kumimoji="1" lang="en-US" altLang="ko-KR" sz="1400" dirty="0"/>
              </a:p>
              <a:p>
                <a:pPr lvl="1"/>
                <a:endParaRPr kumimoji="1" lang="en-US" altLang="ko-KR" sz="1800" dirty="0"/>
              </a:p>
              <a:p>
                <a:pPr lvl="1"/>
                <a:r>
                  <a:rPr kumimoji="1" lang="en-US" altLang="ko-KR" sz="1800" dirty="0"/>
                  <a:t>TLS 1.3</a:t>
                </a:r>
                <a:r>
                  <a:rPr kumimoji="1" lang="ko-KR" altLang="en-US" sz="1800" dirty="0"/>
                  <a:t> 메시지에서 </a:t>
                </a:r>
                <a:endParaRPr kumimoji="1" lang="en-US" altLang="ko-KR" sz="1800" dirty="0"/>
              </a:p>
              <a:p>
                <a:pPr lvl="2"/>
                <a:r>
                  <a:rPr kumimoji="1" lang="en-US" altLang="ko-KR" sz="1400" dirty="0" err="1"/>
                  <a:t>ClientHello.pre_shared_key</a:t>
                </a:r>
                <a:r>
                  <a:rPr kumimoji="1" lang="en-US" altLang="ko-KR" sz="1400" dirty="0"/>
                  <a:t>(PSK</a:t>
                </a:r>
                <a:r>
                  <a:rPr kumimoji="1" lang="ko-KR" altLang="en-US" sz="1400" dirty="0"/>
                  <a:t> </a:t>
                </a:r>
                <a:r>
                  <a:rPr kumimoji="1" lang="en-US" altLang="ko-KR" sz="1400" dirty="0"/>
                  <a:t>ID</a:t>
                </a:r>
                <a:r>
                  <a:rPr kumimoji="1" lang="ko-KR" altLang="en-US" sz="1400" dirty="0"/>
                  <a:t> 목록</a:t>
                </a:r>
                <a:r>
                  <a:rPr kumimoji="1" lang="en-US" altLang="ko-KR" sz="1400" dirty="0"/>
                  <a:t>,</a:t>
                </a:r>
                <a:r>
                  <a:rPr kumimoji="1" lang="ko-KR" altLang="en-US" sz="1400" dirty="0"/>
                  <a:t> 바인더 포함</a:t>
                </a:r>
                <a:r>
                  <a:rPr kumimoji="1" lang="en-US" altLang="ko-KR" sz="1400" dirty="0"/>
                  <a:t>,</a:t>
                </a:r>
                <a:r>
                  <a:rPr kumimoji="1" lang="ko-KR" altLang="en-US" sz="1400" dirty="0"/>
                  <a:t> </a:t>
                </a:r>
                <a:r>
                  <a:rPr kumimoji="1" lang="en-US" altLang="ko-KR" sz="1400" dirty="0" err="1"/>
                  <a:t>psk_key_exchange_modes</a:t>
                </a:r>
                <a:r>
                  <a:rPr kumimoji="1" lang="en-US" altLang="ko-KR" sz="1400" dirty="0"/>
                  <a:t>(</a:t>
                </a:r>
                <a:r>
                  <a:rPr kumimoji="1" lang="en-US" altLang="ko-KR" sz="1400" dirty="0" err="1"/>
                  <a:t>psk_ke</a:t>
                </a:r>
                <a:r>
                  <a:rPr kumimoji="1" lang="en-US" altLang="ko-KR" sz="1400" dirty="0"/>
                  <a:t>/</a:t>
                </a:r>
                <a:r>
                  <a:rPr kumimoji="1" lang="en-US" altLang="ko-KR" sz="1400" dirty="0" err="1"/>
                  <a:t>psk_dhe_ke</a:t>
                </a:r>
                <a:r>
                  <a:rPr kumimoji="1" lang="ko-KR" altLang="en-US" sz="1400" dirty="0"/>
                  <a:t> 선호</a:t>
                </a:r>
                <a:r>
                  <a:rPr kumimoji="1" lang="en-US" altLang="ko-KR" sz="1400" dirty="0"/>
                  <a:t>)</a:t>
                </a:r>
                <a:r>
                  <a:rPr kumimoji="1" lang="ko-KR" altLang="en-US" sz="1400" dirty="0"/>
                  <a:t>로 협상</a:t>
                </a:r>
                <a:endParaRPr kumimoji="1" lang="en-US" altLang="ko-KR" sz="1400" dirty="0"/>
              </a:p>
              <a:p>
                <a:endParaRPr kumimoji="1" lang="en-US" altLang="ko-KR" sz="2200" dirty="0"/>
              </a:p>
              <a:p>
                <a:endParaRPr kumimoji="1" lang="ko-KR" altLang="en-US" dirty="0"/>
              </a:p>
            </p:txBody>
          </p:sp>
        </mc:Choice>
        <mc:Fallback xmlns="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F6DAA6B4-6D0A-644E-A9DF-2FD215EEAA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2"/>
                <a:stretch>
                  <a:fillRect l="-446" t="-12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01264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E8ED92-871A-229E-763C-4DF82F8D2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 err="1"/>
              <a:t>ServerHello</a:t>
            </a:r>
            <a:r>
              <a:rPr kumimoji="1" lang="en-US" altLang="ko-KR" dirty="0"/>
              <a:t> </a:t>
            </a:r>
            <a:r>
              <a:rPr kumimoji="1" lang="ko-KR" altLang="en-US" dirty="0"/>
              <a:t>이후 </a:t>
            </a:r>
            <a:r>
              <a:rPr kumimoji="1" lang="en-US" altLang="ko-KR" dirty="0"/>
              <a:t>HKDF </a:t>
            </a:r>
            <a:r>
              <a:rPr kumimoji="1" lang="ko-KR" altLang="en-US" dirty="0"/>
              <a:t>기반 키 스케줄링 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3E782F15-3FB5-00EC-8CFF-43D4ADA01E02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ko-KR" altLang="en-US" sz="1800" b="1" dirty="0"/>
                  <a:t> </a:t>
                </a:r>
                <a:r>
                  <a:rPr lang="en-US" altLang="ko-KR" sz="1800" b="1" dirty="0"/>
                  <a:t>1</a:t>
                </a:r>
                <a:r>
                  <a:rPr lang="ko-KR" altLang="en-US" sz="1800" b="1" dirty="0"/>
                  <a:t>단계 </a:t>
                </a:r>
                <a:r>
                  <a:rPr lang="en-US" altLang="ko-KR" sz="1800" b="1" dirty="0"/>
                  <a:t>: </a:t>
                </a:r>
                <a:r>
                  <a:rPr lang="en" altLang="ko-KR" sz="1800" b="1" dirty="0" err="1"/>
                  <a:t>ServerHello</a:t>
                </a:r>
                <a:r>
                  <a:rPr lang="en" altLang="ko-KR" sz="1800" b="1" dirty="0"/>
                  <a:t> </a:t>
                </a:r>
                <a:r>
                  <a:rPr lang="ko-KR" altLang="en-US" sz="1800" b="1" dirty="0"/>
                  <a:t>도착 시점</a:t>
                </a:r>
              </a:p>
              <a:p>
                <a:pPr>
                  <a:buNone/>
                </a:pPr>
                <a:r>
                  <a:rPr lang="ko-KR" altLang="en-US" sz="1800" dirty="0"/>
                  <a:t>클라이언트가 </a:t>
                </a:r>
                <a:r>
                  <a:rPr lang="en" altLang="ko-KR" sz="1800" dirty="0" err="1">
                    <a:latin typeface="Courier New" panose="02070309020205020404" pitchFamily="49" charset="0"/>
                  </a:rPr>
                  <a:t>ServerHello</a:t>
                </a:r>
                <a:r>
                  <a:rPr lang="ko-KR" altLang="en-US" sz="1800" dirty="0" err="1"/>
                  <a:t>를</a:t>
                </a:r>
                <a:r>
                  <a:rPr lang="ko-KR" altLang="en-US" sz="1800" dirty="0"/>
                  <a:t> 수신하면</a:t>
                </a:r>
                <a:r>
                  <a:rPr lang="en-US" altLang="ko-KR" sz="1800" dirty="0"/>
                  <a:t>, </a:t>
                </a:r>
                <a:r>
                  <a:rPr lang="ko-KR" altLang="en-US" sz="1800" dirty="0"/>
                  <a:t>서버의 공개키 </a:t>
                </a:r>
                <a:r>
                  <a:rPr lang="en" altLang="ko-KR" sz="1800" dirty="0">
                    <a:latin typeface="Courier New" panose="02070309020205020404" pitchFamily="49" charset="0"/>
                  </a:rPr>
                  <a:t>Y</a:t>
                </a:r>
                <a:r>
                  <a:rPr lang="en" altLang="ko-KR" sz="1800" dirty="0"/>
                  <a:t> </a:t>
                </a:r>
                <a:r>
                  <a:rPr lang="ko-KR" altLang="en-US" sz="1800" dirty="0" err="1"/>
                  <a:t>를</a:t>
                </a:r>
                <a:r>
                  <a:rPr lang="ko-KR" altLang="en-US" sz="1800" dirty="0"/>
                  <a:t> 획득함</a:t>
                </a:r>
                <a:endParaRPr lang="en-US" altLang="ko-KR" sz="1800" dirty="0"/>
              </a:p>
              <a:p>
                <a:pPr>
                  <a:buNone/>
                </a:pPr>
                <a:endParaRPr lang="en-US" altLang="ko-KR" sz="1800" dirty="0"/>
              </a:p>
              <a:p>
                <a:pPr>
                  <a:buNone/>
                </a:pPr>
                <a:r>
                  <a:rPr lang="ko-KR" altLang="en-US" sz="1800" dirty="0"/>
                  <a:t>이 시점에서  </a:t>
                </a:r>
                <a:r>
                  <a:rPr lang="en" altLang="ko-KR" sz="1800" b="1" dirty="0"/>
                  <a:t>ECDHE </a:t>
                </a:r>
                <a:r>
                  <a:rPr lang="ko-KR" altLang="en-US" sz="1800" b="1" dirty="0"/>
                  <a:t>공유키 </a:t>
                </a:r>
                <a:r>
                  <a:rPr lang="en-US" altLang="ko-KR" sz="1800" b="1" dirty="0"/>
                  <a:t>(</a:t>
                </a:r>
                <a:r>
                  <a:rPr lang="en" altLang="ko-KR" sz="1800" b="1" dirty="0" err="1"/>
                  <a:t>shared_secret</a:t>
                </a:r>
                <a:r>
                  <a:rPr lang="en" altLang="ko-KR" sz="1800" b="1" dirty="0"/>
                  <a:t>)</a:t>
                </a:r>
                <a:r>
                  <a:rPr lang="en" altLang="ko-KR" sz="1800" dirty="0"/>
                  <a:t> </a:t>
                </a:r>
                <a:r>
                  <a:rPr lang="ko-KR" altLang="en-US" sz="1800" dirty="0"/>
                  <a:t>계산 가능함</a:t>
                </a:r>
                <a:endParaRPr lang="en-US" altLang="ko-KR" sz="1800" dirty="0"/>
              </a:p>
              <a:p>
                <a:pPr>
                  <a:buNone/>
                </a:pPr>
                <a:endParaRPr lang="en-US" altLang="ko-KR" sz="1800" dirty="0"/>
              </a:p>
              <a:p>
                <a:pPr>
                  <a:buNone/>
                </a:pPr>
                <a:r>
                  <a:rPr lang="en" altLang="ko-KR" sz="1800" dirty="0">
                    <a:latin typeface="Courier New" panose="02070309020205020404" pitchFamily="49" charset="0"/>
                  </a:rPr>
                  <a:t>					Client: </a:t>
                </a:r>
                <a:r>
                  <a:rPr lang="en" altLang="ko-KR" sz="1800" dirty="0" err="1">
                    <a:latin typeface="Courier New" panose="02070309020205020404" pitchFamily="49" charset="0"/>
                  </a:rPr>
                  <a:t>shared_secret</a:t>
                </a:r>
                <a:r>
                  <a:rPr lang="en" altLang="ko-KR" sz="1800" dirty="0">
                    <a:latin typeface="Courier New" panose="02070309020205020404" pitchFamily="49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" altLang="ko-KR" sz="18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" altLang="ko-KR" sz="1800" i="1" dirty="0" smtClean="0">
                        <a:latin typeface="Cambria Math" panose="02040503050406030204" pitchFamily="18" charset="0"/>
                      </a:rPr>
                      <m:t>·</m:t>
                    </m:r>
                    <m:r>
                      <a:rPr lang="en" altLang="ko-KR" sz="1800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en" altLang="ko-KR" sz="1800" dirty="0">
                  <a:latin typeface="Courier New" panose="02070309020205020404" pitchFamily="49" charset="0"/>
                </a:endParaRPr>
              </a:p>
              <a:p>
                <a:pPr>
                  <a:buNone/>
                </a:pPr>
                <a:r>
                  <a:rPr lang="en" altLang="ko-KR" sz="1800" dirty="0">
                    <a:latin typeface="Courier New" panose="02070309020205020404" pitchFamily="49" charset="0"/>
                  </a:rPr>
                  <a:t>					Server: </a:t>
                </a:r>
                <a:r>
                  <a:rPr lang="en" altLang="ko-KR" sz="1800" dirty="0" err="1">
                    <a:latin typeface="Courier New" panose="02070309020205020404" pitchFamily="49" charset="0"/>
                  </a:rPr>
                  <a:t>shared_secret</a:t>
                </a:r>
                <a:r>
                  <a:rPr lang="en" altLang="ko-KR" sz="1800" dirty="0">
                    <a:latin typeface="Courier New" panose="02070309020205020404" pitchFamily="49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" altLang="ko-KR" sz="18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" altLang="ko-KR" sz="1800" i="1" dirty="0" smtClean="0">
                        <a:latin typeface="Cambria Math" panose="02040503050406030204" pitchFamily="18" charset="0"/>
                      </a:rPr>
                      <m:t>·</m:t>
                    </m:r>
                    <m:r>
                      <a:rPr lang="en" altLang="ko-KR" sz="18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" altLang="ko-KR" sz="1800" dirty="0">
                  <a:latin typeface="Courier New" panose="02070309020205020404" pitchFamily="49" charset="0"/>
                </a:endParaRPr>
              </a:p>
              <a:p>
                <a:pPr>
                  <a:buNone/>
                </a:pPr>
                <a:endParaRPr lang="en-US" altLang="ko-KR" sz="1800" dirty="0"/>
              </a:p>
              <a:p>
                <a:pPr>
                  <a:buNone/>
                </a:pPr>
                <a:r>
                  <a:rPr lang="ko-KR" altLang="en-US" sz="1800" dirty="0"/>
                  <a:t>두 값은 동일하며</a:t>
                </a:r>
                <a:r>
                  <a:rPr lang="en-US" altLang="ko-KR" sz="1800" dirty="0"/>
                  <a:t>, </a:t>
                </a:r>
                <a:r>
                  <a:rPr lang="ko-KR" altLang="en-US" sz="1800" dirty="0"/>
                  <a:t>바로 다음 단계의 </a:t>
                </a:r>
                <a:r>
                  <a:rPr lang="en" altLang="ko-KR" sz="1800" dirty="0"/>
                  <a:t>HKDF </a:t>
                </a:r>
                <a:r>
                  <a:rPr lang="ko-KR" altLang="en-US" sz="1800" dirty="0" err="1"/>
                  <a:t>입력값으로</a:t>
                </a:r>
                <a:r>
                  <a:rPr lang="ko-KR" altLang="en-US" sz="1800" dirty="0"/>
                  <a:t> 사용됨</a:t>
                </a:r>
                <a:endParaRPr lang="en-US" altLang="ko-KR" sz="1800" dirty="0"/>
              </a:p>
              <a:p>
                <a:pPr>
                  <a:buNone/>
                </a:pPr>
                <a:br>
                  <a:rPr lang="en-US" altLang="ko-KR" sz="1800" dirty="0"/>
                </a:br>
                <a:endParaRPr lang="en-US" altLang="ko-KR" sz="1800" dirty="0"/>
              </a:p>
              <a:p>
                <a:pPr marL="0" indent="0">
                  <a:buNone/>
                </a:pPr>
                <a:r>
                  <a:rPr lang="ko-KR" altLang="en-US" sz="1800" b="1" dirty="0">
                    <a:solidFill>
                      <a:srgbClr val="FF0000"/>
                    </a:solidFill>
                  </a:rPr>
                  <a:t>즉</a:t>
                </a:r>
                <a:r>
                  <a:rPr lang="en-US" altLang="ko-KR" sz="1800" b="1" dirty="0">
                    <a:solidFill>
                      <a:srgbClr val="FF0000"/>
                    </a:solidFill>
                  </a:rPr>
                  <a:t>, </a:t>
                </a:r>
                <a:r>
                  <a:rPr lang="en" altLang="ko-KR" sz="1800" b="1" dirty="0" err="1">
                    <a:solidFill>
                      <a:srgbClr val="FF0000"/>
                    </a:solidFill>
                  </a:rPr>
                  <a:t>ServerHello</a:t>
                </a:r>
                <a:r>
                  <a:rPr lang="en" altLang="ko-KR" sz="1800" b="1" dirty="0">
                    <a:solidFill>
                      <a:srgbClr val="FF0000"/>
                    </a:solidFill>
                  </a:rPr>
                  <a:t> </a:t>
                </a:r>
                <a:r>
                  <a:rPr lang="ko-KR" altLang="en-US" sz="1800" b="1" dirty="0">
                    <a:solidFill>
                      <a:srgbClr val="FF0000"/>
                    </a:solidFill>
                  </a:rPr>
                  <a:t>수신 후</a:t>
                </a:r>
                <a:r>
                  <a:rPr lang="en-US" altLang="ko-KR" sz="1800" b="1" dirty="0">
                    <a:solidFill>
                      <a:srgbClr val="FF0000"/>
                    </a:solidFill>
                  </a:rPr>
                  <a:t>, </a:t>
                </a:r>
                <a:r>
                  <a:rPr lang="ko-KR" altLang="en-US" sz="1800" b="1" dirty="0">
                    <a:solidFill>
                      <a:srgbClr val="FF0000"/>
                    </a:solidFill>
                  </a:rPr>
                  <a:t>클라이언트와 서버가 동일한 </a:t>
                </a:r>
                <a:r>
                  <a:rPr lang="en" altLang="ko-KR" sz="1800" b="1" dirty="0" err="1">
                    <a:solidFill>
                      <a:srgbClr val="FF0000"/>
                    </a:solidFill>
                  </a:rPr>
                  <a:t>shared_secret</a:t>
                </a:r>
                <a:r>
                  <a:rPr lang="en" altLang="ko-KR" sz="1800" b="1" dirty="0">
                    <a:solidFill>
                      <a:srgbClr val="FF0000"/>
                    </a:solidFill>
                  </a:rPr>
                  <a:t> </a:t>
                </a:r>
                <a:r>
                  <a:rPr lang="ko-KR" altLang="en-US" sz="1800" b="1" dirty="0">
                    <a:solidFill>
                      <a:srgbClr val="FF0000"/>
                    </a:solidFill>
                  </a:rPr>
                  <a:t>생성함</a:t>
                </a:r>
              </a:p>
              <a:p>
                <a:pPr marL="0" indent="0">
                  <a:buNone/>
                </a:pPr>
                <a:endParaRPr kumimoji="1" lang="ko-KR" altLang="en-US" sz="1800" dirty="0"/>
              </a:p>
            </p:txBody>
          </p:sp>
        </mc:Choice>
        <mc:Fallback xmlns="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3E782F15-3FB5-00EC-8CFF-43D4ADA01E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2"/>
                <a:stretch>
                  <a:fillRect l="-446" t="-12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16893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321A7-3C93-7576-AEAD-F091EF7D3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BD6DAE-C21B-1BFA-D3F5-69951E5E8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 err="1"/>
              <a:t>ServerHello</a:t>
            </a:r>
            <a:r>
              <a:rPr kumimoji="1" lang="en-US" altLang="ko-KR" dirty="0"/>
              <a:t> </a:t>
            </a:r>
            <a:r>
              <a:rPr kumimoji="1" lang="ko-KR" altLang="en-US" dirty="0"/>
              <a:t>이후 </a:t>
            </a:r>
            <a:r>
              <a:rPr kumimoji="1" lang="en-US" altLang="ko-KR" dirty="0"/>
              <a:t>HKDF </a:t>
            </a:r>
            <a:r>
              <a:rPr kumimoji="1" lang="ko-KR" altLang="en-US" dirty="0"/>
              <a:t>기반 키 스케줄링 과정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7CF7CE-0396-5413-A79C-72446725B4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163" y="1152525"/>
            <a:ext cx="11369675" cy="5497728"/>
          </a:xfrm>
        </p:spPr>
        <p:txBody>
          <a:bodyPr>
            <a:noAutofit/>
          </a:bodyPr>
          <a:lstStyle/>
          <a:p>
            <a:r>
              <a:rPr lang="ko-KR" altLang="en-US" sz="1800" b="1" dirty="0"/>
              <a:t> </a:t>
            </a:r>
            <a:r>
              <a:rPr lang="en-US" altLang="ko-KR" sz="1800" b="1" dirty="0"/>
              <a:t>2</a:t>
            </a:r>
            <a:r>
              <a:rPr lang="ko-KR" altLang="en-US" sz="1800" b="1" dirty="0"/>
              <a:t>단계 </a:t>
            </a:r>
            <a:r>
              <a:rPr lang="en-US" altLang="ko-KR" sz="1800" b="1" dirty="0"/>
              <a:t>: </a:t>
            </a:r>
            <a:r>
              <a:rPr lang="en" altLang="ko-KR" sz="1800" b="1" dirty="0"/>
              <a:t>HKDF </a:t>
            </a:r>
            <a:r>
              <a:rPr lang="ko-KR" altLang="en-US" sz="1800" b="1" dirty="0"/>
              <a:t>기반 키 스케줄 시작</a:t>
            </a:r>
          </a:p>
          <a:p>
            <a:pPr>
              <a:buNone/>
            </a:pPr>
            <a:r>
              <a:rPr lang="ko-KR" altLang="en-US" sz="1600" b="1" dirty="0"/>
              <a:t>세션에서 사용할  모든 키의 </a:t>
            </a:r>
            <a:r>
              <a:rPr lang="en" altLang="ko-KR" sz="1600" b="1" dirty="0"/>
              <a:t>seed</a:t>
            </a:r>
            <a:r>
              <a:rPr lang="ko-KR" altLang="en-US" sz="1600" b="1" dirty="0"/>
              <a:t> 생성 과정 시작됨</a:t>
            </a:r>
            <a:endParaRPr lang="en-US" altLang="ko-KR" sz="1600" dirty="0"/>
          </a:p>
          <a:p>
            <a:pPr>
              <a:buNone/>
            </a:pPr>
            <a:r>
              <a:rPr lang="en" altLang="ko-KR" sz="1600" dirty="0">
                <a:latin typeface="Courier New" panose="02070309020205020404" pitchFamily="49" charset="0"/>
              </a:rPr>
              <a:t>			</a:t>
            </a:r>
          </a:p>
          <a:p>
            <a:pPr>
              <a:buNone/>
            </a:pPr>
            <a:r>
              <a:rPr lang="en" altLang="ko-KR" sz="1600" dirty="0">
                <a:latin typeface="Courier New" panose="02070309020205020404" pitchFamily="49" charset="0"/>
              </a:rPr>
              <a:t>				</a:t>
            </a:r>
            <a:r>
              <a:rPr lang="en" altLang="ko-KR" sz="1600" dirty="0" err="1">
                <a:latin typeface="Courier New" panose="02070309020205020404" pitchFamily="49" charset="0"/>
              </a:rPr>
              <a:t>early_secret</a:t>
            </a:r>
            <a:r>
              <a:rPr lang="en" altLang="ko-KR" sz="1600" dirty="0">
                <a:latin typeface="Courier New" panose="02070309020205020404" pitchFamily="49" charset="0"/>
              </a:rPr>
              <a:t> → </a:t>
            </a:r>
            <a:r>
              <a:rPr lang="en" altLang="ko-KR" sz="1600" dirty="0" err="1">
                <a:latin typeface="Courier New" panose="02070309020205020404" pitchFamily="49" charset="0"/>
              </a:rPr>
              <a:t>handshake_secret</a:t>
            </a:r>
            <a:r>
              <a:rPr lang="en" altLang="ko-KR" sz="1600" dirty="0">
                <a:latin typeface="Courier New" panose="02070309020205020404" pitchFamily="49" charset="0"/>
              </a:rPr>
              <a:t> → </a:t>
            </a:r>
            <a:r>
              <a:rPr lang="en" altLang="ko-KR" sz="1600" dirty="0" err="1">
                <a:latin typeface="Courier New" panose="02070309020205020404" pitchFamily="49" charset="0"/>
              </a:rPr>
              <a:t>master_secret</a:t>
            </a:r>
            <a:endParaRPr lang="en" altLang="ko-KR" sz="1600" dirty="0">
              <a:latin typeface="Courier New" panose="02070309020205020404" pitchFamily="49" charset="0"/>
            </a:endParaRPr>
          </a:p>
          <a:p>
            <a:pPr>
              <a:buNone/>
            </a:pPr>
            <a:endParaRPr lang="en" altLang="ko-KR" sz="1600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" altLang="ko-KR" sz="1600" b="1" dirty="0"/>
              <a:t>step 1) </a:t>
            </a:r>
            <a:r>
              <a:rPr lang="en" altLang="ko-KR" sz="1600" b="1" dirty="0" err="1"/>
              <a:t>early_secret</a:t>
            </a:r>
            <a:endParaRPr lang="en" altLang="ko-KR" sz="1600" b="1" dirty="0"/>
          </a:p>
          <a:p>
            <a:pPr>
              <a:buNone/>
            </a:pPr>
            <a:endParaRPr lang="en-US" altLang="ko-KR" sz="1600" dirty="0"/>
          </a:p>
          <a:p>
            <a:pPr>
              <a:buNone/>
            </a:pPr>
            <a:r>
              <a:rPr lang="ko-KR" altLang="en-US" sz="1600" dirty="0"/>
              <a:t>아무 입력이 없는 초기 상태에서 생성됨</a:t>
            </a:r>
            <a:r>
              <a:rPr lang="en" altLang="ko-KR" sz="1600" dirty="0"/>
              <a:t> </a:t>
            </a:r>
            <a:r>
              <a:rPr lang="en-US" altLang="ko-KR" sz="1600" dirty="0"/>
              <a:t>(=</a:t>
            </a:r>
            <a:r>
              <a:rPr lang="ko-KR" altLang="en-US" sz="1600" dirty="0"/>
              <a:t>가장 처음 “빈 상태</a:t>
            </a:r>
            <a:r>
              <a:rPr lang="en-US" altLang="ko-KR" sz="1600" dirty="0"/>
              <a:t>(0)”</a:t>
            </a:r>
            <a:r>
              <a:rPr lang="ko-KR" altLang="en-US" sz="1600" dirty="0"/>
              <a:t>에서 시작</a:t>
            </a:r>
            <a:r>
              <a:rPr lang="en-US" altLang="ko-KR" sz="1600" dirty="0"/>
              <a:t>)</a:t>
            </a:r>
            <a:endParaRPr lang="en" altLang="ko-KR" sz="1600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" altLang="ko-KR" sz="1600" dirty="0">
                <a:latin typeface="Courier New" panose="02070309020205020404" pitchFamily="49" charset="0"/>
              </a:rPr>
              <a:t>		</a:t>
            </a:r>
          </a:p>
          <a:p>
            <a:pPr>
              <a:buNone/>
            </a:pPr>
            <a:r>
              <a:rPr lang="en" altLang="ko-KR" sz="1600" dirty="0">
                <a:latin typeface="Courier New" panose="02070309020205020404" pitchFamily="49" charset="0"/>
              </a:rPr>
              <a:t>					</a:t>
            </a:r>
            <a:r>
              <a:rPr lang="en" altLang="ko-KR" sz="1600" dirty="0" err="1">
                <a:solidFill>
                  <a:srgbClr val="FF0000"/>
                </a:solidFill>
                <a:latin typeface="Courier New" panose="02070309020205020404" pitchFamily="49" charset="0"/>
              </a:rPr>
              <a:t>early_secret</a:t>
            </a:r>
            <a:r>
              <a:rPr lang="en" altLang="ko-KR" sz="1600" dirty="0">
                <a:latin typeface="Courier New" panose="02070309020205020404" pitchFamily="49" charset="0"/>
              </a:rPr>
              <a:t> = HKDF-Extract(</a:t>
            </a:r>
            <a:r>
              <a:rPr lang="en" altLang="ko-KR" sz="1600" dirty="0">
                <a:solidFill>
                  <a:srgbClr val="FF0000"/>
                </a:solidFill>
                <a:latin typeface="Courier New" panose="02070309020205020404" pitchFamily="49" charset="0"/>
              </a:rPr>
              <a:t>0, 0</a:t>
            </a:r>
            <a:r>
              <a:rPr lang="en" altLang="ko-KR" sz="1600" dirty="0"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endParaRPr lang="en" altLang="ko-KR" sz="1600" dirty="0"/>
          </a:p>
          <a:p>
            <a:pPr>
              <a:buNone/>
            </a:pPr>
            <a:r>
              <a:rPr lang="en" altLang="ko-KR" sz="1600" dirty="0"/>
              <a:t>PSK </a:t>
            </a:r>
            <a:r>
              <a:rPr lang="ko-KR" altLang="en-US" sz="1600" dirty="0"/>
              <a:t>재개 세션에서는 여기에 </a:t>
            </a:r>
            <a:r>
              <a:rPr lang="en" altLang="ko-KR" sz="1600" dirty="0"/>
              <a:t>PSK </a:t>
            </a:r>
            <a:r>
              <a:rPr lang="ko-KR" altLang="en-US" sz="1600" dirty="0"/>
              <a:t>값이 여기에서 사용됨</a:t>
            </a:r>
            <a:endParaRPr lang="en-US" altLang="ko-KR" sz="1600" dirty="0"/>
          </a:p>
          <a:p>
            <a:pPr>
              <a:buNone/>
            </a:pPr>
            <a:endParaRPr lang="en-US" altLang="ko-KR" sz="1400" b="1" dirty="0"/>
          </a:p>
        </p:txBody>
      </p:sp>
    </p:spTree>
    <p:extLst>
      <p:ext uri="{BB962C8B-B14F-4D97-AF65-F5344CB8AC3E}">
        <p14:creationId xmlns:p14="http://schemas.microsoft.com/office/powerpoint/2010/main" val="12813390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F70DA-4740-109E-079C-BC8BC391F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3C4828-8E33-5632-AE64-8E2C57978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 err="1"/>
              <a:t>ServerHello</a:t>
            </a:r>
            <a:r>
              <a:rPr kumimoji="1" lang="en-US" altLang="ko-KR" dirty="0"/>
              <a:t> </a:t>
            </a:r>
            <a:r>
              <a:rPr kumimoji="1" lang="ko-KR" altLang="en-US" dirty="0"/>
              <a:t>이후 </a:t>
            </a:r>
            <a:r>
              <a:rPr kumimoji="1" lang="en-US" altLang="ko-KR" dirty="0"/>
              <a:t>HKDF </a:t>
            </a:r>
            <a:r>
              <a:rPr kumimoji="1" lang="ko-KR" altLang="en-US" dirty="0"/>
              <a:t>기반 키 스케줄링 과정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0702867-498B-189F-0253-49F51FA0A28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163" y="1152525"/>
            <a:ext cx="11369675" cy="5497728"/>
          </a:xfrm>
        </p:spPr>
        <p:txBody>
          <a:bodyPr>
            <a:noAutofit/>
          </a:bodyPr>
          <a:lstStyle/>
          <a:p>
            <a:r>
              <a:rPr lang="ko-KR" altLang="en-US" sz="1800" b="1" dirty="0"/>
              <a:t> </a:t>
            </a:r>
            <a:r>
              <a:rPr lang="en-US" altLang="ko-KR" sz="1800" b="1" dirty="0"/>
              <a:t>2</a:t>
            </a:r>
            <a:r>
              <a:rPr lang="ko-KR" altLang="en-US" sz="1800" b="1" dirty="0"/>
              <a:t>단계 </a:t>
            </a:r>
            <a:r>
              <a:rPr lang="en-US" altLang="ko-KR" sz="1800" b="1" dirty="0"/>
              <a:t>: </a:t>
            </a:r>
            <a:r>
              <a:rPr lang="en" altLang="ko-KR" sz="1800" b="1" dirty="0"/>
              <a:t>HKDF </a:t>
            </a:r>
            <a:r>
              <a:rPr lang="ko-KR" altLang="en-US" sz="1800" b="1" dirty="0"/>
              <a:t>기반 키 스케줄 시작</a:t>
            </a:r>
          </a:p>
          <a:p>
            <a:pPr>
              <a:buNone/>
            </a:pPr>
            <a:r>
              <a:rPr lang="en" altLang="ko-KR" sz="1600" b="1" dirty="0"/>
              <a:t>step 2) </a:t>
            </a:r>
            <a:r>
              <a:rPr lang="en" altLang="ko-KR" sz="1600" b="1" dirty="0" err="1"/>
              <a:t>handshake_secret</a:t>
            </a:r>
            <a:endParaRPr lang="en" altLang="ko-KR" sz="1600" b="1" dirty="0"/>
          </a:p>
          <a:p>
            <a:pPr>
              <a:buNone/>
            </a:pPr>
            <a:r>
              <a:rPr lang="ko-KR" altLang="en-US" sz="1600" dirty="0"/>
              <a:t>실제 </a:t>
            </a:r>
            <a:r>
              <a:rPr lang="en" altLang="ko-KR" sz="1600" dirty="0"/>
              <a:t>ECDHE </a:t>
            </a:r>
            <a:r>
              <a:rPr lang="ko-KR" altLang="en-US" sz="1600" dirty="0"/>
              <a:t>공유키를 결합하여 </a:t>
            </a:r>
            <a:r>
              <a:rPr lang="ko-KR" altLang="en-US" sz="1600" dirty="0" err="1"/>
              <a:t>시드</a:t>
            </a:r>
            <a:r>
              <a:rPr lang="ko-KR" altLang="en-US" sz="1600" dirty="0"/>
              <a:t> 생성</a:t>
            </a:r>
            <a:endParaRPr lang="en-US" altLang="ko-KR" sz="1600" dirty="0"/>
          </a:p>
          <a:p>
            <a:pPr>
              <a:buNone/>
            </a:pPr>
            <a:endParaRPr lang="en-US" altLang="ko-KR" sz="1600" dirty="0"/>
          </a:p>
          <a:p>
            <a:pPr>
              <a:buNone/>
            </a:pPr>
            <a:r>
              <a:rPr lang="en" altLang="ko-KR" sz="1600" dirty="0" err="1">
                <a:latin typeface="Courier New" panose="02070309020205020404" pitchFamily="49" charset="0"/>
              </a:rPr>
              <a:t>handshake_secret</a:t>
            </a:r>
            <a:r>
              <a:rPr lang="en" altLang="ko-KR" sz="1600" dirty="0">
                <a:latin typeface="Courier New" panose="02070309020205020404" pitchFamily="49" charset="0"/>
              </a:rPr>
              <a:t> =</a:t>
            </a:r>
          </a:p>
          <a:p>
            <a:pPr>
              <a:buNone/>
            </a:pPr>
            <a:r>
              <a:rPr lang="en" altLang="ko-KR" sz="1600" dirty="0">
                <a:latin typeface="Courier New" panose="02070309020205020404" pitchFamily="49" charset="0"/>
              </a:rPr>
              <a:t>  HKDF-Extract(</a:t>
            </a:r>
          </a:p>
          <a:p>
            <a:pPr>
              <a:buNone/>
            </a:pPr>
            <a:r>
              <a:rPr lang="en" altLang="ko-KR" sz="1600" dirty="0">
                <a:latin typeface="Courier New" panose="02070309020205020404" pitchFamily="49" charset="0"/>
              </a:rPr>
              <a:t>      Derive-Secret(</a:t>
            </a:r>
            <a:r>
              <a:rPr lang="en" altLang="ko-KR" sz="1600" dirty="0" err="1">
                <a:latin typeface="Courier New" panose="02070309020205020404" pitchFamily="49" charset="0"/>
              </a:rPr>
              <a:t>early_secret</a:t>
            </a:r>
            <a:r>
              <a:rPr lang="en" altLang="ko-KR" sz="1600" dirty="0">
                <a:latin typeface="Courier New" panose="02070309020205020404" pitchFamily="49" charset="0"/>
              </a:rPr>
              <a:t>, </a:t>
            </a:r>
            <a:r>
              <a:rPr lang="en" altLang="ko-KR" sz="1600" dirty="0">
                <a:solidFill>
                  <a:srgbClr val="FF0000"/>
                </a:solidFill>
                <a:latin typeface="Courier New" panose="02070309020205020404" pitchFamily="49" charset="0"/>
              </a:rPr>
              <a:t>"derived", ""</a:t>
            </a:r>
            <a:r>
              <a:rPr lang="en" altLang="ko-KR" sz="1600" dirty="0">
                <a:latin typeface="Courier New" panose="02070309020205020404" pitchFamily="49" charset="0"/>
              </a:rPr>
              <a:t>),</a:t>
            </a:r>
          </a:p>
          <a:p>
            <a:pPr>
              <a:buNone/>
            </a:pPr>
            <a:r>
              <a:rPr lang="en" altLang="ko-KR" sz="1600" dirty="0">
                <a:latin typeface="Courier New" panose="02070309020205020404" pitchFamily="49" charset="0"/>
              </a:rPr>
              <a:t>      </a:t>
            </a:r>
            <a:r>
              <a:rPr lang="en" altLang="ko-KR" sz="1600" dirty="0" err="1">
                <a:latin typeface="Courier New" panose="02070309020205020404" pitchFamily="49" charset="0"/>
              </a:rPr>
              <a:t>shared_secret</a:t>
            </a:r>
            <a:endParaRPr lang="en" altLang="ko-KR" sz="1600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" altLang="ko-KR" sz="1600" dirty="0">
                <a:latin typeface="Courier New" panose="02070309020205020404" pitchFamily="49" charset="0"/>
              </a:rPr>
              <a:t>  )</a:t>
            </a:r>
          </a:p>
          <a:p>
            <a:pPr>
              <a:buNone/>
            </a:pPr>
            <a:endParaRPr lang="en" altLang="ko-KR" sz="1600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ko-KR" altLang="en-US" sz="1600" dirty="0"/>
              <a:t>즉</a:t>
            </a:r>
            <a:r>
              <a:rPr lang="en-US" altLang="ko-KR" sz="1600" dirty="0"/>
              <a:t>, </a:t>
            </a:r>
            <a:r>
              <a:rPr lang="en" altLang="ko-KR" sz="1600" dirty="0" err="1"/>
              <a:t>handshake_secret</a:t>
            </a:r>
            <a:r>
              <a:rPr lang="en" altLang="ko-KR" sz="1600" dirty="0"/>
              <a:t> = </a:t>
            </a:r>
            <a:r>
              <a:rPr lang="en" altLang="ko-KR" sz="1600" dirty="0" err="1"/>
              <a:t>early_secret</a:t>
            </a:r>
            <a:r>
              <a:rPr lang="en" altLang="ko-KR" sz="1600" dirty="0"/>
              <a:t> + ECDHE </a:t>
            </a:r>
            <a:r>
              <a:rPr lang="ko-KR" altLang="en-US" sz="1600" dirty="0"/>
              <a:t>결과를 섞은 값임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16019672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F2837-3970-5170-7D90-0F8B0D349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3A2F17-0C30-379B-28A2-434C8B63C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 err="1"/>
              <a:t>ServerHello</a:t>
            </a:r>
            <a:r>
              <a:rPr kumimoji="1" lang="en-US" altLang="ko-KR" dirty="0"/>
              <a:t> </a:t>
            </a:r>
            <a:r>
              <a:rPr kumimoji="1" lang="ko-KR" altLang="en-US" dirty="0"/>
              <a:t>이후 </a:t>
            </a:r>
            <a:r>
              <a:rPr kumimoji="1" lang="en-US" altLang="ko-KR" dirty="0"/>
              <a:t>HKDF </a:t>
            </a:r>
            <a:r>
              <a:rPr kumimoji="1" lang="ko-KR" altLang="en-US" dirty="0"/>
              <a:t>기반 키 스케줄링 과정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22C91B9-6AA6-B8AB-D10D-D177981E248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163" y="1152525"/>
            <a:ext cx="11369675" cy="54977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" altLang="ko-KR" sz="1800" dirty="0"/>
              <a:t>(Handshake </a:t>
            </a:r>
            <a:r>
              <a:rPr lang="ko-KR" altLang="en-US" sz="1800" dirty="0"/>
              <a:t>단계 하위</a:t>
            </a:r>
            <a:r>
              <a:rPr lang="en-US" altLang="ko-KR" sz="1800" dirty="0"/>
              <a:t>)</a:t>
            </a:r>
            <a:r>
              <a:rPr lang="en" altLang="ko-KR" sz="1800" b="1" dirty="0"/>
              <a:t>client/server handshake traffic secret </a:t>
            </a:r>
            <a:r>
              <a:rPr lang="ko-KR" altLang="en-US" sz="1800" b="1" dirty="0"/>
              <a:t>생성</a:t>
            </a:r>
            <a:r>
              <a:rPr lang="en-US" altLang="ko-KR" sz="1800" b="1" dirty="0"/>
              <a:t>(</a:t>
            </a:r>
            <a:r>
              <a:rPr lang="ko-KR" altLang="en-US" sz="1800" b="1" dirty="0" err="1"/>
              <a:t>핸드쉐이크</a:t>
            </a:r>
            <a:r>
              <a:rPr lang="ko-KR" altLang="en-US" sz="1800" b="1" dirty="0"/>
              <a:t> 트래픽용 </a:t>
            </a:r>
            <a:r>
              <a:rPr lang="en-US" altLang="ko-KR" sz="1800" b="1" dirty="0"/>
              <a:t>secret </a:t>
            </a:r>
            <a:r>
              <a:rPr lang="ko-KR" altLang="en-US" sz="1800" b="1" dirty="0"/>
              <a:t>파생</a:t>
            </a:r>
            <a:r>
              <a:rPr lang="en-US" altLang="ko-KR" sz="1800" b="1" dirty="0"/>
              <a:t>)</a:t>
            </a:r>
            <a:endParaRPr lang="en" altLang="ko-KR" sz="1800" b="1" dirty="0"/>
          </a:p>
          <a:p>
            <a:pPr>
              <a:buNone/>
            </a:pPr>
            <a:r>
              <a:rPr lang="en" altLang="ko-KR" sz="1600" dirty="0" err="1"/>
              <a:t>handshake_secret</a:t>
            </a:r>
            <a:r>
              <a:rPr lang="ko-KR" altLang="en-US" sz="1600" dirty="0" err="1"/>
              <a:t>으로부터</a:t>
            </a:r>
            <a:r>
              <a:rPr lang="ko-KR" altLang="en-US" sz="1600" dirty="0"/>
              <a:t> </a:t>
            </a:r>
            <a:r>
              <a:rPr lang="ko-KR" altLang="en-US" sz="1600" b="1" dirty="0"/>
              <a:t>서버와 클라이언트 각각이 쓸 암호화 키의 </a:t>
            </a:r>
            <a:r>
              <a:rPr lang="ko-KR" altLang="en-US" sz="1600" b="1" dirty="0" err="1"/>
              <a:t>근본값</a:t>
            </a:r>
            <a:r>
              <a:rPr lang="en-US" altLang="ko-KR" sz="1600" b="1" dirty="0"/>
              <a:t>(</a:t>
            </a:r>
            <a:r>
              <a:rPr lang="en" altLang="ko-KR" sz="1600" b="1" dirty="0"/>
              <a:t>secret)</a:t>
            </a:r>
            <a:r>
              <a:rPr lang="en" altLang="ko-KR" sz="1600" dirty="0"/>
              <a:t> </a:t>
            </a:r>
            <a:r>
              <a:rPr lang="ko-KR" altLang="en-US" sz="1600" dirty="0"/>
              <a:t>을 뽑습니다</a:t>
            </a:r>
            <a:r>
              <a:rPr lang="en-US" altLang="ko-KR" sz="1600" dirty="0"/>
              <a:t>.</a:t>
            </a:r>
          </a:p>
          <a:p>
            <a:pPr>
              <a:buNone/>
            </a:pPr>
            <a:r>
              <a:rPr lang="en-US" altLang="ko-KR" sz="1600" dirty="0"/>
              <a:t>(=</a:t>
            </a:r>
            <a:r>
              <a:rPr lang="ko-KR" altLang="en-US" sz="1600" dirty="0"/>
              <a:t>클라이언트</a:t>
            </a:r>
            <a:r>
              <a:rPr lang="en-US" altLang="ko-KR" sz="1600" dirty="0"/>
              <a:t>/</a:t>
            </a:r>
            <a:r>
              <a:rPr lang="ko-KR" altLang="en-US" sz="1600" dirty="0"/>
              <a:t>서버 방향별 트래픽 </a:t>
            </a:r>
            <a:r>
              <a:rPr lang="en-US" altLang="ko-KR" sz="1600" dirty="0"/>
              <a:t>secret </a:t>
            </a:r>
            <a:r>
              <a:rPr lang="ko-KR" altLang="en-US" sz="1600" dirty="0"/>
              <a:t>파생</a:t>
            </a:r>
            <a:r>
              <a:rPr lang="en-US" altLang="ko-KR" sz="1600" dirty="0"/>
              <a:t>)</a:t>
            </a:r>
          </a:p>
          <a:p>
            <a:pPr>
              <a:buNone/>
            </a:pPr>
            <a:r>
              <a:rPr lang="en" altLang="ko-KR" sz="1400" dirty="0" err="1">
                <a:latin typeface="Courier New" panose="02070309020205020404" pitchFamily="49" charset="0"/>
              </a:rPr>
              <a:t>client_handshake_traffic_secret</a:t>
            </a:r>
            <a:r>
              <a:rPr lang="en" altLang="ko-KR" sz="1400" dirty="0">
                <a:latin typeface="Courier New" panose="02070309020205020404" pitchFamily="49" charset="0"/>
              </a:rPr>
              <a:t> =</a:t>
            </a:r>
          </a:p>
          <a:p>
            <a:pPr>
              <a:buNone/>
            </a:pPr>
            <a:r>
              <a:rPr lang="en" altLang="ko-KR" sz="1400" dirty="0">
                <a:latin typeface="Courier New" panose="02070309020205020404" pitchFamily="49" charset="0"/>
              </a:rPr>
              <a:t>    Derive-Secret(</a:t>
            </a:r>
            <a:r>
              <a:rPr lang="en" altLang="ko-KR" sz="1400" dirty="0" err="1">
                <a:latin typeface="Courier New" panose="02070309020205020404" pitchFamily="49" charset="0"/>
              </a:rPr>
              <a:t>handshake_secret</a:t>
            </a:r>
            <a:r>
              <a:rPr lang="en" altLang="ko-KR" sz="1400" dirty="0">
                <a:latin typeface="Courier New" panose="02070309020205020404" pitchFamily="49" charset="0"/>
              </a:rPr>
              <a:t>,</a:t>
            </a:r>
          </a:p>
          <a:p>
            <a:pPr>
              <a:buNone/>
            </a:pPr>
            <a:r>
              <a:rPr lang="en" altLang="ko-KR" sz="1400" dirty="0">
                <a:latin typeface="Courier New" panose="02070309020205020404" pitchFamily="49" charset="0"/>
              </a:rPr>
              <a:t>                  "</a:t>
            </a:r>
            <a:r>
              <a:rPr lang="en" altLang="ko-KR" sz="1400" dirty="0">
                <a:solidFill>
                  <a:srgbClr val="FF0000"/>
                </a:solidFill>
                <a:latin typeface="Courier New" panose="02070309020205020404" pitchFamily="49" charset="0"/>
              </a:rPr>
              <a:t>c </a:t>
            </a:r>
            <a:r>
              <a:rPr lang="en" altLang="ko-KR" sz="1400" dirty="0" err="1">
                <a:solidFill>
                  <a:srgbClr val="FF0000"/>
                </a:solidFill>
                <a:latin typeface="Courier New" panose="02070309020205020404" pitchFamily="49" charset="0"/>
              </a:rPr>
              <a:t>hs</a:t>
            </a:r>
            <a:r>
              <a:rPr lang="en" altLang="ko-KR" sz="1400" dirty="0">
                <a:solidFill>
                  <a:srgbClr val="FF0000"/>
                </a:solidFill>
                <a:latin typeface="Courier New" panose="02070309020205020404" pitchFamily="49" charset="0"/>
              </a:rPr>
              <a:t> traffic</a:t>
            </a:r>
            <a:r>
              <a:rPr lang="en" altLang="ko-KR" sz="1400" dirty="0">
                <a:latin typeface="Courier New" panose="02070309020205020404" pitchFamily="49" charset="0"/>
              </a:rPr>
              <a:t>",</a:t>
            </a:r>
          </a:p>
          <a:p>
            <a:pPr>
              <a:buNone/>
            </a:pPr>
            <a:r>
              <a:rPr lang="en" altLang="ko-KR" sz="1400" dirty="0">
                <a:latin typeface="Courier New" panose="02070309020205020404" pitchFamily="49" charset="0"/>
              </a:rPr>
              <a:t>                  </a:t>
            </a:r>
            <a:r>
              <a:rPr lang="en" altLang="ko-KR" sz="1400" dirty="0" err="1">
                <a:latin typeface="Courier New" panose="02070309020205020404" pitchFamily="49" charset="0"/>
              </a:rPr>
              <a:t>transcript_hash</a:t>
            </a:r>
            <a:r>
              <a:rPr lang="en" altLang="ko-KR" sz="1400" dirty="0">
                <a:latin typeface="Courier New" panose="02070309020205020404" pitchFamily="49" charset="0"/>
              </a:rPr>
              <a:t>(</a:t>
            </a:r>
            <a:r>
              <a:rPr lang="en" altLang="ko-KR" sz="1400" dirty="0" err="1">
                <a:latin typeface="Courier New" panose="02070309020205020404" pitchFamily="49" charset="0"/>
              </a:rPr>
              <a:t>ClientHello</a:t>
            </a:r>
            <a:r>
              <a:rPr lang="en" altLang="ko-KR" sz="1400" dirty="0">
                <a:latin typeface="Courier New" panose="02070309020205020404" pitchFamily="49" charset="0"/>
              </a:rPr>
              <a:t>...</a:t>
            </a:r>
            <a:r>
              <a:rPr lang="en" altLang="ko-KR" sz="1400" dirty="0" err="1">
                <a:latin typeface="Courier New" panose="02070309020205020404" pitchFamily="49" charset="0"/>
              </a:rPr>
              <a:t>ServerHello</a:t>
            </a:r>
            <a:r>
              <a:rPr lang="en" altLang="ko-KR" sz="1400" dirty="0">
                <a:latin typeface="Courier New" panose="02070309020205020404" pitchFamily="49" charset="0"/>
              </a:rPr>
              <a:t>))</a:t>
            </a:r>
          </a:p>
          <a:p>
            <a:pPr>
              <a:buNone/>
            </a:pPr>
            <a:endParaRPr lang="en" altLang="ko-KR" sz="1400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" altLang="ko-KR" sz="1400" dirty="0" err="1">
                <a:latin typeface="Courier New" panose="02070309020205020404" pitchFamily="49" charset="0"/>
              </a:rPr>
              <a:t>server_handshake_traffic_secret</a:t>
            </a:r>
            <a:r>
              <a:rPr lang="en" altLang="ko-KR" sz="1400" dirty="0">
                <a:latin typeface="Courier New" panose="02070309020205020404" pitchFamily="49" charset="0"/>
              </a:rPr>
              <a:t> =</a:t>
            </a:r>
          </a:p>
          <a:p>
            <a:pPr>
              <a:buNone/>
            </a:pPr>
            <a:r>
              <a:rPr lang="en" altLang="ko-KR" sz="1400" dirty="0">
                <a:latin typeface="Courier New" panose="02070309020205020404" pitchFamily="49" charset="0"/>
              </a:rPr>
              <a:t>    Derive-Secret(</a:t>
            </a:r>
            <a:r>
              <a:rPr lang="en" altLang="ko-KR" sz="1400" dirty="0" err="1">
                <a:latin typeface="Courier New" panose="02070309020205020404" pitchFamily="49" charset="0"/>
              </a:rPr>
              <a:t>handshake_secret</a:t>
            </a:r>
            <a:r>
              <a:rPr lang="en" altLang="ko-KR" sz="1400" dirty="0">
                <a:latin typeface="Courier New" panose="02070309020205020404" pitchFamily="49" charset="0"/>
              </a:rPr>
              <a:t>,</a:t>
            </a:r>
          </a:p>
          <a:p>
            <a:pPr>
              <a:buNone/>
            </a:pPr>
            <a:r>
              <a:rPr lang="en" altLang="ko-KR" sz="1400" dirty="0">
                <a:latin typeface="Courier New" panose="02070309020205020404" pitchFamily="49" charset="0"/>
              </a:rPr>
              <a:t>                  "</a:t>
            </a:r>
            <a:r>
              <a:rPr lang="en" altLang="ko-KR" sz="1400" dirty="0">
                <a:solidFill>
                  <a:srgbClr val="FF0000"/>
                </a:solidFill>
                <a:latin typeface="Courier New" panose="02070309020205020404" pitchFamily="49" charset="0"/>
              </a:rPr>
              <a:t>s </a:t>
            </a:r>
            <a:r>
              <a:rPr lang="en" altLang="ko-KR" sz="1400" dirty="0" err="1">
                <a:solidFill>
                  <a:srgbClr val="FF0000"/>
                </a:solidFill>
                <a:latin typeface="Courier New" panose="02070309020205020404" pitchFamily="49" charset="0"/>
              </a:rPr>
              <a:t>hs</a:t>
            </a:r>
            <a:r>
              <a:rPr lang="en" altLang="ko-KR" sz="1400" dirty="0">
                <a:solidFill>
                  <a:srgbClr val="FF0000"/>
                </a:solidFill>
                <a:latin typeface="Courier New" panose="02070309020205020404" pitchFamily="49" charset="0"/>
              </a:rPr>
              <a:t> traffic</a:t>
            </a:r>
            <a:r>
              <a:rPr lang="en" altLang="ko-KR" sz="1400" dirty="0">
                <a:latin typeface="Courier New" panose="02070309020205020404" pitchFamily="49" charset="0"/>
              </a:rPr>
              <a:t>",</a:t>
            </a:r>
          </a:p>
          <a:p>
            <a:pPr>
              <a:buNone/>
            </a:pPr>
            <a:r>
              <a:rPr lang="en" altLang="ko-KR" sz="1400" dirty="0">
                <a:latin typeface="Courier New" panose="02070309020205020404" pitchFamily="49" charset="0"/>
              </a:rPr>
              <a:t>                  </a:t>
            </a:r>
            <a:r>
              <a:rPr lang="en" altLang="ko-KR" sz="1400" dirty="0" err="1">
                <a:latin typeface="Courier New" panose="02070309020205020404" pitchFamily="49" charset="0"/>
              </a:rPr>
              <a:t>transcript_hash</a:t>
            </a:r>
            <a:r>
              <a:rPr lang="en" altLang="ko-KR" sz="1400" dirty="0">
                <a:latin typeface="Courier New" panose="02070309020205020404" pitchFamily="49" charset="0"/>
              </a:rPr>
              <a:t>(</a:t>
            </a:r>
            <a:r>
              <a:rPr lang="en" altLang="ko-KR" sz="1400" dirty="0" err="1">
                <a:latin typeface="Courier New" panose="02070309020205020404" pitchFamily="49" charset="0"/>
              </a:rPr>
              <a:t>ClientHello</a:t>
            </a:r>
            <a:r>
              <a:rPr lang="en" altLang="ko-KR" sz="1400" dirty="0">
                <a:latin typeface="Courier New" panose="02070309020205020404" pitchFamily="49" charset="0"/>
              </a:rPr>
              <a:t>...</a:t>
            </a:r>
            <a:r>
              <a:rPr lang="en" altLang="ko-KR" sz="1400" dirty="0" err="1">
                <a:latin typeface="Courier New" panose="02070309020205020404" pitchFamily="49" charset="0"/>
              </a:rPr>
              <a:t>ServerHello</a:t>
            </a:r>
            <a:r>
              <a:rPr lang="en" altLang="ko-KR" sz="1400" dirty="0">
                <a:latin typeface="Courier New" panose="02070309020205020404" pitchFamily="49" charset="0"/>
              </a:rPr>
              <a:t>))</a:t>
            </a:r>
            <a:endParaRPr lang="en" altLang="ko-KR" sz="1600" dirty="0">
              <a:latin typeface="Courier New" panose="02070309020205020404" pitchFamily="49" charset="0"/>
            </a:endParaRPr>
          </a:p>
          <a:p>
            <a:pPr>
              <a:buNone/>
            </a:pPr>
            <a:endParaRPr lang="en" altLang="ko-KR" sz="1600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" altLang="ko-KR" sz="1600" b="1" dirty="0" err="1">
                <a:solidFill>
                  <a:srgbClr val="2E75B6"/>
                </a:solidFill>
                <a:latin typeface="Courier New" panose="02070309020205020404" pitchFamily="49" charset="0"/>
              </a:rPr>
              <a:t>transcript_hash</a:t>
            </a:r>
            <a:r>
              <a:rPr lang="ko-KR" altLang="en-US" sz="1600" b="1" dirty="0">
                <a:solidFill>
                  <a:srgbClr val="2E75B6"/>
                </a:solidFill>
                <a:latin typeface="Courier New" panose="02070309020205020404" pitchFamily="49" charset="0"/>
              </a:rPr>
              <a:t>는 지금까지 교환된 </a:t>
            </a:r>
            <a:r>
              <a:rPr lang="ko-KR" altLang="en-US" sz="1600" b="1" dirty="0" err="1">
                <a:solidFill>
                  <a:srgbClr val="2E75B6"/>
                </a:solidFill>
                <a:latin typeface="Courier New" panose="02070309020205020404" pitchFamily="49" charset="0"/>
              </a:rPr>
              <a:t>핸드쉐이크</a:t>
            </a:r>
            <a:r>
              <a:rPr lang="ko-KR" altLang="en-US" sz="1600" b="1" dirty="0">
                <a:solidFill>
                  <a:srgbClr val="2E75B6"/>
                </a:solidFill>
                <a:latin typeface="Courier New" panose="02070309020205020404" pitchFamily="49" charset="0"/>
              </a:rPr>
              <a:t> 메시지를 의미 </a:t>
            </a:r>
            <a:r>
              <a:rPr lang="en-US" altLang="ko-KR" sz="1600" b="1" dirty="0">
                <a:solidFill>
                  <a:srgbClr val="2E75B6"/>
                </a:solidFill>
                <a:latin typeface="Courier New" panose="02070309020205020404" pitchFamily="49" charset="0"/>
              </a:rPr>
              <a:t>-&gt; </a:t>
            </a:r>
            <a:r>
              <a:rPr lang="ko-KR" altLang="en-US" sz="1600" b="1" dirty="0">
                <a:solidFill>
                  <a:srgbClr val="2E75B6"/>
                </a:solidFill>
                <a:latin typeface="Courier New" panose="02070309020205020404" pitchFamily="49" charset="0"/>
              </a:rPr>
              <a:t>메시지 무결성이 반영된 키 파생 구조임</a:t>
            </a:r>
            <a:endParaRPr lang="en-US" altLang="ko-KR" sz="1600" b="1" dirty="0">
              <a:solidFill>
                <a:srgbClr val="2E75B6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endParaRPr lang="en-US" altLang="ko-KR" sz="1600" b="1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ko-KR" altLang="en-US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즉</a:t>
            </a:r>
            <a:r>
              <a:rPr lang="en-US" altLang="ko-KR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, </a:t>
            </a:r>
            <a:r>
              <a:rPr lang="ko-KR" altLang="en-US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서버와 </a:t>
            </a:r>
            <a:r>
              <a:rPr lang="ko-KR" altLang="en-US" sz="16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클라이어트가</a:t>
            </a:r>
            <a:r>
              <a:rPr lang="ko-KR" altLang="en-US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 각자 사용할 </a:t>
            </a:r>
            <a:r>
              <a:rPr lang="en" altLang="ko-KR" sz="16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traffic_secret</a:t>
            </a:r>
            <a:r>
              <a:rPr lang="ko-KR" altLang="en-US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을 생성하는 단계</a:t>
            </a:r>
            <a:endParaRPr lang="en" altLang="ko-KR" sz="1600" b="1" dirty="0">
              <a:solidFill>
                <a:srgbClr val="FF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26262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566981-4E9A-B93F-37E7-C2094BA2A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 err="1"/>
              <a:t>ServerHello</a:t>
            </a:r>
            <a:r>
              <a:rPr kumimoji="1" lang="en-US" altLang="ko-KR" dirty="0"/>
              <a:t> </a:t>
            </a:r>
            <a:r>
              <a:rPr kumimoji="1" lang="ko-KR" altLang="en-US" dirty="0"/>
              <a:t>이후 </a:t>
            </a:r>
            <a:r>
              <a:rPr kumimoji="1" lang="en-US" altLang="ko-KR" dirty="0"/>
              <a:t>HKDF </a:t>
            </a:r>
            <a:r>
              <a:rPr kumimoji="1" lang="ko-KR" altLang="en-US" dirty="0"/>
              <a:t>기반 키 스케줄링 과정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C751E83-BDBB-BF3D-5F62-CFA1C8FFEE7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" altLang="ko-KR" sz="2000" b="1" dirty="0"/>
              <a:t>step 3) </a:t>
            </a:r>
            <a:r>
              <a:rPr lang="en" altLang="ko-KR" sz="2000" dirty="0"/>
              <a:t>Master Secret </a:t>
            </a:r>
            <a:r>
              <a:rPr lang="ko-KR" altLang="en-US" sz="2000" dirty="0"/>
              <a:t>도출</a:t>
            </a:r>
            <a:endParaRPr lang="en-US" altLang="ko-KR" sz="2000" dirty="0"/>
          </a:p>
          <a:p>
            <a:endParaRPr kumimoji="1" lang="en-US" altLang="ko-KR" sz="2000" dirty="0"/>
          </a:p>
          <a:p>
            <a:endParaRPr kumimoji="1" lang="en-US" altLang="ko-KR" sz="2000" dirty="0"/>
          </a:p>
          <a:p>
            <a:endParaRPr kumimoji="1" lang="en-US" altLang="ko-KR" sz="2000" dirty="0"/>
          </a:p>
          <a:p>
            <a:endParaRPr kumimoji="1" lang="en-US" altLang="ko-KR" sz="2000" dirty="0"/>
          </a:p>
          <a:p>
            <a:endParaRPr kumimoji="1" lang="en-US" altLang="ko-KR" sz="2000" dirty="0"/>
          </a:p>
          <a:p>
            <a:endParaRPr kumimoji="1" lang="en-US" altLang="ko-KR" sz="2000" dirty="0"/>
          </a:p>
          <a:p>
            <a:r>
              <a:rPr kumimoji="1" lang="en-US" altLang="ko-KR" sz="2000" dirty="0" err="1"/>
              <a:t>Handshake_secret</a:t>
            </a:r>
            <a:r>
              <a:rPr kumimoji="1" lang="en-US" altLang="ko-KR" sz="2000" dirty="0"/>
              <a:t> </a:t>
            </a:r>
            <a:r>
              <a:rPr kumimoji="1" lang="ko-KR" altLang="en-US" sz="2000" dirty="0"/>
              <a:t>단계에서 마지막으로 파생됨</a:t>
            </a:r>
            <a:endParaRPr kumimoji="1" lang="en-US" altLang="ko-KR" sz="2000" dirty="0"/>
          </a:p>
          <a:p>
            <a:r>
              <a:rPr kumimoji="1" lang="en-US" altLang="ko-KR" sz="2000" dirty="0"/>
              <a:t>0</a:t>
            </a:r>
            <a:r>
              <a:rPr kumimoji="1" lang="ko-KR" altLang="en-US" sz="2000" dirty="0"/>
              <a:t>을 </a:t>
            </a:r>
            <a:r>
              <a:rPr kumimoji="1" lang="ko-KR" altLang="en-US" sz="2000" dirty="0" err="1"/>
              <a:t>입력값으로</a:t>
            </a:r>
            <a:r>
              <a:rPr kumimoji="1" lang="ko-KR" altLang="en-US" sz="2000" dirty="0"/>
              <a:t> 사용하여 새로운 상위 </a:t>
            </a:r>
            <a:r>
              <a:rPr kumimoji="1" lang="ko-KR" altLang="en-US" sz="2000" dirty="0" err="1"/>
              <a:t>시드</a:t>
            </a:r>
            <a:r>
              <a:rPr kumimoji="1" lang="ko-KR" altLang="en-US" sz="2000" dirty="0"/>
              <a:t> 생성</a:t>
            </a:r>
            <a:endParaRPr kumimoji="1" lang="en-US" altLang="ko-KR" sz="2000" dirty="0"/>
          </a:p>
          <a:p>
            <a:r>
              <a:rPr kumimoji="1" lang="ko-KR" altLang="en-US" sz="2000" dirty="0"/>
              <a:t>이</a:t>
            </a:r>
            <a:r>
              <a:rPr kumimoji="1" lang="en-US" altLang="ko-KR" sz="2000" dirty="0"/>
              <a:t> </a:t>
            </a:r>
            <a:r>
              <a:rPr kumimoji="1" lang="en-US" altLang="ko-KR" sz="2000" dirty="0" err="1"/>
              <a:t>master_secret</a:t>
            </a:r>
            <a:r>
              <a:rPr kumimoji="1" lang="ko-KR" altLang="en-US" sz="2000" dirty="0"/>
              <a:t>이 이후 모든 애플리케이션의 키의 뿌리</a:t>
            </a:r>
            <a:r>
              <a:rPr kumimoji="1" lang="en-US" altLang="ko-KR" sz="2000" dirty="0"/>
              <a:t>(root)</a:t>
            </a:r>
            <a:r>
              <a:rPr kumimoji="1" lang="ko-KR" altLang="en-US" sz="2000" dirty="0"/>
              <a:t>가 됨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5C5F3C-E974-A016-A2A2-8FA64E1DA222}"/>
              </a:ext>
            </a:extLst>
          </p:cNvPr>
          <p:cNvSpPr txBox="1"/>
          <p:nvPr/>
        </p:nvSpPr>
        <p:spPr>
          <a:xfrm>
            <a:off x="2332383" y="1659980"/>
            <a:ext cx="707334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master_secret</a:t>
            </a:r>
            <a:r>
              <a:rPr lang="ko-KR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</a:t>
            </a:r>
          </a:p>
          <a:p>
            <a:r>
              <a:rPr lang="ko-KR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HKDF-</a:t>
            </a:r>
            <a:r>
              <a:rPr lang="ko-KR" alt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Extract</a:t>
            </a:r>
            <a:r>
              <a:rPr lang="ko-KR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r>
              <a:rPr lang="ko-KR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ko-KR" alt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Derive-Secret</a:t>
            </a:r>
            <a:r>
              <a:rPr lang="ko-KR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ko-KR" alt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handshake_secret</a:t>
            </a:r>
            <a:r>
              <a:rPr lang="ko-KR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ko-KR" alt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ko-KR" altLang="en-US" sz="16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derived</a:t>
            </a:r>
            <a:r>
              <a:rPr lang="ko-KR" alt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", ""</a:t>
            </a:r>
            <a:r>
              <a:rPr lang="ko-KR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</a:p>
          <a:p>
            <a:r>
              <a:rPr lang="ko-KR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0</a:t>
            </a:r>
          </a:p>
          <a:p>
            <a:r>
              <a:rPr lang="ko-KR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7F132D-0A3D-1618-B67F-C7229F849994}"/>
              </a:ext>
            </a:extLst>
          </p:cNvPr>
          <p:cNvSpPr txBox="1"/>
          <p:nvPr/>
        </p:nvSpPr>
        <p:spPr>
          <a:xfrm>
            <a:off x="477078" y="5776738"/>
            <a:ext cx="985299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이 </a:t>
            </a:r>
            <a:r>
              <a:rPr lang="en" altLang="ko-KR" sz="1400" dirty="0" err="1">
                <a:solidFill>
                  <a:srgbClr val="FF0000"/>
                </a:solidFill>
              </a:rPr>
              <a:t>master_secret</a:t>
            </a:r>
            <a:r>
              <a:rPr lang="ko-KR" altLang="en-US" sz="1400" dirty="0">
                <a:solidFill>
                  <a:srgbClr val="FF0000"/>
                </a:solidFill>
              </a:rPr>
              <a:t>은 이후 </a:t>
            </a:r>
            <a:r>
              <a:rPr lang="en" altLang="ko-KR" sz="1400" dirty="0">
                <a:solidFill>
                  <a:srgbClr val="FF0000"/>
                </a:solidFill>
              </a:rPr>
              <a:t>Finished </a:t>
            </a:r>
            <a:r>
              <a:rPr lang="ko-KR" altLang="en-US" sz="1400" dirty="0">
                <a:solidFill>
                  <a:srgbClr val="FF0000"/>
                </a:solidFill>
              </a:rPr>
              <a:t>메시지 직후</a:t>
            </a:r>
            <a:br>
              <a:rPr lang="ko-KR" altLang="en-US" sz="1400" dirty="0">
                <a:solidFill>
                  <a:srgbClr val="FF0000"/>
                </a:solidFill>
              </a:rPr>
            </a:b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</a:rPr>
              <a:t>{</a:t>
            </a:r>
            <a:r>
              <a:rPr lang="en" altLang="ko-KR" sz="1400" dirty="0">
                <a:solidFill>
                  <a:srgbClr val="FF0000"/>
                </a:solidFill>
                <a:latin typeface="Courier New" panose="02070309020205020404" pitchFamily="49" charset="0"/>
              </a:rPr>
              <a:t>client, server}_application_traffic_secret_0</a:t>
            </a:r>
            <a:r>
              <a:rPr lang="ko-KR" altLang="en-US" sz="1400" dirty="0" err="1">
                <a:solidFill>
                  <a:srgbClr val="FF0000"/>
                </a:solidFill>
              </a:rPr>
              <a:t>으로</a:t>
            </a:r>
            <a:r>
              <a:rPr lang="ko-KR" altLang="en-US" sz="1400" dirty="0">
                <a:solidFill>
                  <a:srgbClr val="FF0000"/>
                </a:solidFill>
              </a:rPr>
              <a:t> 전환됨</a:t>
            </a:r>
            <a:r>
              <a:rPr lang="en-US" altLang="ko-KR" sz="1400" dirty="0">
                <a:solidFill>
                  <a:srgbClr val="FF0000"/>
                </a:solidFill>
              </a:rPr>
              <a:t>.</a:t>
            </a:r>
            <a:br>
              <a:rPr lang="en-US" altLang="ko-KR" sz="1400" dirty="0">
                <a:solidFill>
                  <a:srgbClr val="FF0000"/>
                </a:solidFill>
              </a:rPr>
            </a:br>
            <a:r>
              <a:rPr lang="ko-KR" altLang="en-US" sz="1400" dirty="0">
                <a:solidFill>
                  <a:srgbClr val="FF0000"/>
                </a:solidFill>
              </a:rPr>
              <a:t>즉</a:t>
            </a:r>
            <a:r>
              <a:rPr lang="en-US" altLang="ko-KR" sz="1400" dirty="0">
                <a:solidFill>
                  <a:srgbClr val="FF0000"/>
                </a:solidFill>
              </a:rPr>
              <a:t>, </a:t>
            </a:r>
            <a:r>
              <a:rPr lang="en" altLang="ko-KR" sz="1400" dirty="0">
                <a:solidFill>
                  <a:srgbClr val="FF0000"/>
                </a:solidFill>
              </a:rPr>
              <a:t>Finished </a:t>
            </a:r>
            <a:r>
              <a:rPr lang="ko-KR" altLang="en-US" sz="1400" dirty="0">
                <a:solidFill>
                  <a:srgbClr val="FF0000"/>
                </a:solidFill>
              </a:rPr>
              <a:t>이후부터는 </a:t>
            </a:r>
            <a:r>
              <a:rPr lang="en" altLang="ko-KR" sz="1400" dirty="0">
                <a:solidFill>
                  <a:srgbClr val="FF0000"/>
                </a:solidFill>
              </a:rPr>
              <a:t>handshake </a:t>
            </a:r>
            <a:r>
              <a:rPr lang="ko-KR" altLang="en-US" sz="1400" dirty="0">
                <a:solidFill>
                  <a:srgbClr val="FF0000"/>
                </a:solidFill>
              </a:rPr>
              <a:t>단계의 키 대신 </a:t>
            </a:r>
            <a:r>
              <a:rPr lang="en" altLang="ko-KR" sz="1400" dirty="0">
                <a:solidFill>
                  <a:srgbClr val="FF0000"/>
                </a:solidFill>
              </a:rPr>
              <a:t>application </a:t>
            </a:r>
            <a:r>
              <a:rPr lang="ko-KR" altLang="en-US" sz="1400" dirty="0">
                <a:solidFill>
                  <a:srgbClr val="FF0000"/>
                </a:solidFill>
              </a:rPr>
              <a:t>단계 키로 세션이 보호됨</a:t>
            </a:r>
          </a:p>
        </p:txBody>
      </p:sp>
    </p:spTree>
    <p:extLst>
      <p:ext uri="{BB962C8B-B14F-4D97-AF65-F5344CB8AC3E}">
        <p14:creationId xmlns:p14="http://schemas.microsoft.com/office/powerpoint/2010/main" val="26948681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6E5A0-FD7C-C42D-CE48-34E158F3D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33CD3F-2EE1-CCEF-9E1C-419CC48F3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 err="1"/>
              <a:t>ServerHello</a:t>
            </a:r>
            <a:r>
              <a:rPr kumimoji="1" lang="en-US" altLang="ko-KR" dirty="0"/>
              <a:t> </a:t>
            </a:r>
            <a:r>
              <a:rPr kumimoji="1" lang="ko-KR" altLang="en-US" dirty="0"/>
              <a:t>이후 </a:t>
            </a:r>
            <a:r>
              <a:rPr kumimoji="1" lang="en-US" altLang="ko-KR" dirty="0"/>
              <a:t>HKDF </a:t>
            </a:r>
            <a:r>
              <a:rPr kumimoji="1" lang="ko-KR" altLang="en-US" dirty="0"/>
              <a:t>기반 키 스케줄링 과정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11DB028-2965-2B3E-601E-F391B8DFA0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altLang="ko-KR" sz="1800" b="1" dirty="0"/>
              <a:t>3</a:t>
            </a:r>
            <a:r>
              <a:rPr lang="ko-KR" altLang="en-US" sz="1800" b="1" dirty="0"/>
              <a:t>단계 </a:t>
            </a:r>
            <a:r>
              <a:rPr lang="en-US" altLang="ko-KR" sz="1800" b="1" dirty="0"/>
              <a:t>: </a:t>
            </a:r>
            <a:r>
              <a:rPr lang="ko-KR" altLang="en-US" sz="1800" b="1" dirty="0"/>
              <a:t>실제 트래픽 키로 확장</a:t>
            </a:r>
          </a:p>
          <a:p>
            <a:pPr>
              <a:buNone/>
            </a:pPr>
            <a:r>
              <a:rPr lang="ko-KR" altLang="en-US" sz="1600" dirty="0"/>
              <a:t>이 </a:t>
            </a:r>
            <a:r>
              <a:rPr lang="en" altLang="ko-KR" sz="1600" dirty="0"/>
              <a:t>secret</a:t>
            </a:r>
            <a:r>
              <a:rPr lang="ko-KR" altLang="en-US" sz="1600" dirty="0"/>
              <a:t>들로부터 실제로 암호화를 수행할 </a:t>
            </a:r>
            <a:r>
              <a:rPr lang="ko-KR" altLang="en-US" sz="1600" b="1" dirty="0"/>
              <a:t>대칭키와 </a:t>
            </a:r>
            <a:r>
              <a:rPr lang="en" altLang="ko-KR" sz="1600" b="1" dirty="0"/>
              <a:t>IV</a:t>
            </a:r>
            <a:r>
              <a:rPr lang="en" altLang="ko-KR" sz="1600" dirty="0"/>
              <a:t> </a:t>
            </a:r>
            <a:r>
              <a:rPr lang="ko-KR" altLang="en-US" sz="1600" dirty="0"/>
              <a:t>가 생성됨</a:t>
            </a:r>
            <a:endParaRPr lang="en-US" altLang="ko-KR" sz="1600" dirty="0"/>
          </a:p>
          <a:p>
            <a:pPr>
              <a:buNone/>
            </a:pPr>
            <a:endParaRPr lang="en-US" altLang="ko-KR" sz="1600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" altLang="ko-KR" sz="1600" dirty="0" err="1">
                <a:latin typeface="Courier New" panose="02070309020205020404" pitchFamily="49" charset="0"/>
              </a:rPr>
              <a:t>client_handshake_key</a:t>
            </a:r>
            <a:r>
              <a:rPr lang="en" altLang="ko-KR" sz="1600" dirty="0">
                <a:latin typeface="Courier New" panose="02070309020205020404" pitchFamily="49" charset="0"/>
              </a:rPr>
              <a:t>, </a:t>
            </a:r>
            <a:r>
              <a:rPr lang="en" altLang="ko-KR" sz="1600" dirty="0" err="1">
                <a:latin typeface="Courier New" panose="02070309020205020404" pitchFamily="49" charset="0"/>
              </a:rPr>
              <a:t>client_handshake_iv</a:t>
            </a:r>
            <a:r>
              <a:rPr lang="en" altLang="ko-KR" sz="1600" dirty="0">
                <a:latin typeface="Courier New" panose="02070309020205020404" pitchFamily="49" charset="0"/>
              </a:rPr>
              <a:t> =</a:t>
            </a:r>
          </a:p>
          <a:p>
            <a:pPr>
              <a:buNone/>
            </a:pPr>
            <a:r>
              <a:rPr lang="en" altLang="ko-KR" sz="1600" dirty="0">
                <a:latin typeface="Courier New" panose="02070309020205020404" pitchFamily="49" charset="0"/>
              </a:rPr>
              <a:t>    HKDF-Expand(</a:t>
            </a:r>
            <a:r>
              <a:rPr lang="en" altLang="ko-KR" sz="1600" dirty="0" err="1">
                <a:latin typeface="Courier New" panose="02070309020205020404" pitchFamily="49" charset="0"/>
              </a:rPr>
              <a:t>client_handshake_traffic_secret</a:t>
            </a:r>
            <a:r>
              <a:rPr lang="en" altLang="ko-KR" sz="1600" dirty="0"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endParaRPr lang="en" altLang="ko-KR" sz="1600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" altLang="ko-KR" sz="1600" dirty="0" err="1">
                <a:latin typeface="Courier New" panose="02070309020205020404" pitchFamily="49" charset="0"/>
              </a:rPr>
              <a:t>server_handshake_key</a:t>
            </a:r>
            <a:r>
              <a:rPr lang="en" altLang="ko-KR" sz="1600" dirty="0">
                <a:latin typeface="Courier New" panose="02070309020205020404" pitchFamily="49" charset="0"/>
              </a:rPr>
              <a:t>, </a:t>
            </a:r>
            <a:r>
              <a:rPr lang="en" altLang="ko-KR" sz="1600" dirty="0" err="1">
                <a:latin typeface="Courier New" panose="02070309020205020404" pitchFamily="49" charset="0"/>
              </a:rPr>
              <a:t>server_handshake_iv</a:t>
            </a:r>
            <a:r>
              <a:rPr lang="en" altLang="ko-KR" sz="1600" dirty="0">
                <a:latin typeface="Courier New" panose="02070309020205020404" pitchFamily="49" charset="0"/>
              </a:rPr>
              <a:t> =</a:t>
            </a:r>
          </a:p>
          <a:p>
            <a:pPr>
              <a:buNone/>
            </a:pPr>
            <a:r>
              <a:rPr lang="en" altLang="ko-KR" sz="1600" dirty="0">
                <a:latin typeface="Courier New" panose="02070309020205020404" pitchFamily="49" charset="0"/>
              </a:rPr>
              <a:t>    HKDF-Expand(</a:t>
            </a:r>
            <a:r>
              <a:rPr lang="en" altLang="ko-KR" sz="1600" dirty="0" err="1">
                <a:latin typeface="Courier New" panose="02070309020205020404" pitchFamily="49" charset="0"/>
              </a:rPr>
              <a:t>server_handshake_traffic_secret</a:t>
            </a:r>
            <a:r>
              <a:rPr lang="en" altLang="ko-KR" sz="1600" dirty="0"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endParaRPr lang="en-US" altLang="ko-KR" sz="1600" dirty="0"/>
          </a:p>
          <a:p>
            <a:pPr>
              <a:buNone/>
            </a:pPr>
            <a:r>
              <a:rPr lang="ko-KR" altLang="en-US" sz="1600" b="1" dirty="0"/>
              <a:t>이 시점부터</a:t>
            </a:r>
            <a:r>
              <a:rPr lang="ko-KR" altLang="en-US" sz="1600" dirty="0"/>
              <a:t> 서버의 다음 메시지들 </a:t>
            </a:r>
            <a:r>
              <a:rPr lang="en-US" altLang="ko-KR" sz="1600" dirty="0"/>
              <a:t>(</a:t>
            </a:r>
            <a:r>
              <a:rPr lang="en" altLang="ko-KR" sz="1600" dirty="0" err="1">
                <a:latin typeface="Courier New" panose="02070309020205020404" pitchFamily="49" charset="0"/>
              </a:rPr>
              <a:t>EncryptedExtensions</a:t>
            </a:r>
            <a:r>
              <a:rPr lang="en" altLang="ko-KR" sz="1600" dirty="0"/>
              <a:t>, </a:t>
            </a:r>
            <a:r>
              <a:rPr lang="en" altLang="ko-KR" sz="1600" dirty="0">
                <a:latin typeface="Courier New" panose="02070309020205020404" pitchFamily="49" charset="0"/>
              </a:rPr>
              <a:t>Certificate</a:t>
            </a:r>
            <a:r>
              <a:rPr lang="en" altLang="ko-KR" sz="1600" dirty="0"/>
              <a:t>, </a:t>
            </a:r>
            <a:r>
              <a:rPr lang="en" altLang="ko-KR" sz="1600" dirty="0">
                <a:latin typeface="Courier New" panose="02070309020205020404" pitchFamily="49" charset="0"/>
              </a:rPr>
              <a:t>Finished</a:t>
            </a:r>
            <a:r>
              <a:rPr lang="en" altLang="ko-KR" sz="1600" dirty="0"/>
              <a:t> </a:t>
            </a:r>
            <a:r>
              <a:rPr lang="ko-KR" altLang="en-US" sz="1600" dirty="0"/>
              <a:t>등</a:t>
            </a:r>
            <a:r>
              <a:rPr lang="en-US" altLang="ko-KR" sz="1600" dirty="0"/>
              <a:t>)</a:t>
            </a:r>
            <a:r>
              <a:rPr lang="ko-KR" altLang="en-US" sz="1600" dirty="0"/>
              <a:t>은</a:t>
            </a:r>
            <a:endParaRPr lang="en-US" altLang="ko-KR" sz="1600" dirty="0"/>
          </a:p>
          <a:p>
            <a:pPr>
              <a:buNone/>
            </a:pPr>
            <a:r>
              <a:rPr lang="en" altLang="ko-KR" sz="1600" dirty="0" err="1">
                <a:latin typeface="Courier New" panose="02070309020205020404" pitchFamily="49" charset="0"/>
              </a:rPr>
              <a:t>server_handshake_key</a:t>
            </a:r>
            <a:r>
              <a:rPr lang="ko-KR" altLang="en-US" sz="1600" dirty="0"/>
              <a:t>로 암호화되어 전송 됨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797055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B1BAF-D5B5-063B-16E3-A98733F13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863DD3-DE68-FC3B-189C-10288BD07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ko-KR" dirty="0"/>
              <a:t>Application Traffic Secret </a:t>
            </a:r>
            <a:r>
              <a:rPr lang="ko-KR" altLang="en-US" dirty="0"/>
              <a:t>파생 및 의미</a:t>
            </a:r>
            <a:endParaRPr kumimoji="1"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B80D73-4790-9565-9DBC-D8333D0EFA0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kumimoji="1" lang="en-US" altLang="ko-KR" sz="2000" dirty="0"/>
              <a:t>Application Traffic Secret </a:t>
            </a:r>
            <a:r>
              <a:rPr kumimoji="1" lang="ko-KR" altLang="en-US" sz="2000" dirty="0"/>
              <a:t>파생</a:t>
            </a:r>
            <a:endParaRPr kumimoji="1" lang="en-US" altLang="ko-KR" sz="2000" dirty="0"/>
          </a:p>
          <a:p>
            <a:endParaRPr kumimoji="1" lang="en-US" altLang="ko-KR" sz="2000" dirty="0"/>
          </a:p>
          <a:p>
            <a:endParaRPr kumimoji="1" lang="en-US" altLang="ko-KR" sz="2000" dirty="0"/>
          </a:p>
          <a:p>
            <a:endParaRPr kumimoji="1" lang="en-US" altLang="ko-KR" sz="2000" dirty="0"/>
          </a:p>
          <a:p>
            <a:endParaRPr kumimoji="1" lang="en-US" altLang="ko-KR" sz="2000" dirty="0"/>
          </a:p>
          <a:p>
            <a:endParaRPr kumimoji="1" lang="en-US" altLang="ko-KR" sz="2000" dirty="0"/>
          </a:p>
          <a:p>
            <a:endParaRPr kumimoji="1" lang="en-US" altLang="ko-KR" sz="2000" dirty="0"/>
          </a:p>
          <a:p>
            <a:endParaRPr kumimoji="1" lang="en-US" altLang="ko-KR" sz="2000" dirty="0"/>
          </a:p>
          <a:p>
            <a:r>
              <a:rPr kumimoji="1" lang="en-US" altLang="ko-KR" sz="2000" dirty="0"/>
              <a:t>Finished(Server)</a:t>
            </a:r>
            <a:r>
              <a:rPr kumimoji="1" lang="ko-KR" altLang="en-US" sz="2000" dirty="0"/>
              <a:t> 메시지까지의 </a:t>
            </a:r>
            <a:r>
              <a:rPr kumimoji="1" lang="en-US" altLang="ko-KR" sz="2000" dirty="0" err="1"/>
              <a:t>transcript_hash</a:t>
            </a:r>
            <a:r>
              <a:rPr kumimoji="1" lang="ko-KR" altLang="en-US" sz="2000" dirty="0" err="1"/>
              <a:t>를</a:t>
            </a:r>
            <a:r>
              <a:rPr kumimoji="1" lang="ko-KR" altLang="en-US" sz="2000" dirty="0"/>
              <a:t> 입력으로 사용</a:t>
            </a:r>
            <a:endParaRPr kumimoji="1" lang="en-US" altLang="ko-KR" sz="2000" dirty="0"/>
          </a:p>
          <a:p>
            <a:r>
              <a:rPr kumimoji="1" lang="ko-KR" altLang="en-US" sz="2000" dirty="0"/>
              <a:t>클라이언트용</a:t>
            </a:r>
            <a:r>
              <a:rPr kumimoji="1" lang="en-US" altLang="ko-KR" sz="2000" dirty="0"/>
              <a:t>, </a:t>
            </a:r>
            <a:r>
              <a:rPr kumimoji="1" lang="ko-KR" altLang="en-US" sz="2000" dirty="0"/>
              <a:t>서버용 각각 독립적인 </a:t>
            </a:r>
            <a:r>
              <a:rPr kumimoji="1" lang="en-US" altLang="ko-KR" sz="2000" dirty="0"/>
              <a:t>secret</a:t>
            </a:r>
            <a:r>
              <a:rPr kumimoji="1" lang="ko-KR" altLang="en-US" sz="2000" dirty="0"/>
              <a:t>이 생성됨</a:t>
            </a:r>
            <a:endParaRPr kumimoji="1" lang="en-US" altLang="ko-KR" sz="2000" dirty="0"/>
          </a:p>
          <a:p>
            <a:r>
              <a:rPr kumimoji="1" lang="ko-KR" altLang="en-US" sz="2000" b="1" dirty="0">
                <a:solidFill>
                  <a:srgbClr val="FF0000"/>
                </a:solidFill>
              </a:rPr>
              <a:t>여기서 파생된 </a:t>
            </a:r>
            <a:r>
              <a:rPr kumimoji="1" lang="en-US" altLang="ko-KR" sz="2000" b="1" dirty="0">
                <a:solidFill>
                  <a:srgbClr val="FF0000"/>
                </a:solidFill>
              </a:rPr>
              <a:t>secret</a:t>
            </a:r>
            <a:r>
              <a:rPr kumimoji="1" lang="ko-KR" altLang="en-US" sz="2000" b="1" dirty="0" err="1">
                <a:solidFill>
                  <a:srgbClr val="FF0000"/>
                </a:solidFill>
              </a:rPr>
              <a:t>으로</a:t>
            </a:r>
            <a:r>
              <a:rPr kumimoji="1" lang="ko-KR" altLang="en-US" sz="2000" b="1" dirty="0">
                <a:solidFill>
                  <a:srgbClr val="FF0000"/>
                </a:solidFill>
              </a:rPr>
              <a:t> 실제 </a:t>
            </a:r>
            <a:r>
              <a:rPr kumimoji="1" lang="en-US" altLang="ko-KR" sz="2000" b="1" dirty="0">
                <a:solidFill>
                  <a:srgbClr val="FF0000"/>
                </a:solidFill>
              </a:rPr>
              <a:t>Application Data </a:t>
            </a:r>
            <a:r>
              <a:rPr kumimoji="1" lang="ko-KR" altLang="en-US" sz="2000" b="1" dirty="0">
                <a:solidFill>
                  <a:srgbClr val="FF0000"/>
                </a:solidFill>
              </a:rPr>
              <a:t>암호화 키와 </a:t>
            </a:r>
            <a:r>
              <a:rPr kumimoji="1" lang="en-US" altLang="ko-KR" sz="2000" b="1" dirty="0">
                <a:solidFill>
                  <a:srgbClr val="FF0000"/>
                </a:solidFill>
              </a:rPr>
              <a:t>IV </a:t>
            </a:r>
            <a:r>
              <a:rPr kumimoji="1" lang="ko-KR" altLang="en-US" sz="2000" b="1" dirty="0">
                <a:solidFill>
                  <a:srgbClr val="FF0000"/>
                </a:solidFill>
              </a:rPr>
              <a:t>생성됨</a:t>
            </a:r>
            <a:endParaRPr kumimoji="1" lang="en-US" altLang="ko-KR" sz="2000" b="1" dirty="0">
              <a:solidFill>
                <a:srgbClr val="FF0000"/>
              </a:solidFill>
            </a:endParaRPr>
          </a:p>
          <a:p>
            <a:endParaRPr kumimoji="1" lang="ko-KR" alt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FE457B-9E6B-B89B-11B6-F5FABE73D511}"/>
              </a:ext>
            </a:extLst>
          </p:cNvPr>
          <p:cNvSpPr txBox="1"/>
          <p:nvPr/>
        </p:nvSpPr>
        <p:spPr>
          <a:xfrm>
            <a:off x="1532282" y="1865530"/>
            <a:ext cx="912743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client_application_traffic_secret_0 =</a:t>
            </a:r>
          </a:p>
          <a:p>
            <a:r>
              <a:rPr lang="ko-KR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ko-KR" alt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Derive-Secret</a:t>
            </a:r>
            <a:r>
              <a:rPr lang="ko-KR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ko-KR" alt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master_secret</a:t>
            </a:r>
            <a:r>
              <a:rPr lang="ko-KR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"</a:t>
            </a:r>
            <a:r>
              <a:rPr lang="ko-KR" alt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 </a:t>
            </a:r>
            <a:r>
              <a:rPr lang="ko-KR" altLang="en-US" sz="16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</a:t>
            </a:r>
            <a:r>
              <a:rPr lang="ko-KR" alt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ko-KR" altLang="en-US" sz="16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traffic</a:t>
            </a:r>
            <a:r>
              <a:rPr lang="ko-KR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r>
              <a:rPr lang="ko-KR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ko-KR" alt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transcript_hash</a:t>
            </a:r>
            <a:r>
              <a:rPr lang="ko-KR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ko-KR" alt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ClientHello</a:t>
            </a:r>
            <a:r>
              <a:rPr lang="ko-KR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  <a:r>
              <a:rPr lang="ko-KR" alt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Finished_S</a:t>
            </a:r>
            <a:r>
              <a:rPr lang="ko-KR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endParaRPr lang="ko-KR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ko-KR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server_application_traffic_secret_0 =</a:t>
            </a:r>
          </a:p>
          <a:p>
            <a:r>
              <a:rPr lang="ko-KR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ko-KR" alt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Derive-Secret</a:t>
            </a:r>
            <a:r>
              <a:rPr lang="ko-KR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ko-KR" alt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master_secret</a:t>
            </a:r>
            <a:r>
              <a:rPr lang="ko-KR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"</a:t>
            </a:r>
            <a:r>
              <a:rPr lang="ko-KR" altLang="en-US" sz="16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ko-KR" alt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ko-KR" altLang="en-US" sz="16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</a:t>
            </a:r>
            <a:r>
              <a:rPr lang="ko-KR" alt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ko-KR" altLang="en-US" sz="16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traffic</a:t>
            </a:r>
            <a:r>
              <a:rPr lang="ko-KR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r>
              <a:rPr lang="ko-KR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ko-KR" alt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transcript_hash</a:t>
            </a:r>
            <a:r>
              <a:rPr lang="ko-KR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ko-KR" alt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ClientHello</a:t>
            </a:r>
            <a:r>
              <a:rPr lang="ko-KR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  <a:r>
              <a:rPr lang="ko-KR" alt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Finished_S</a:t>
            </a:r>
            <a:r>
              <a:rPr lang="ko-KR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35812706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DC465-7432-3FB7-F25A-AE9765F05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B706AD-9C38-2634-8F7E-D41A9C907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 err="1"/>
              <a:t>ServerHello</a:t>
            </a:r>
            <a:r>
              <a:rPr kumimoji="1" lang="en-US" altLang="ko-KR" dirty="0"/>
              <a:t> </a:t>
            </a:r>
            <a:r>
              <a:rPr kumimoji="1" lang="ko-KR" altLang="en-US" dirty="0"/>
              <a:t>이후 </a:t>
            </a:r>
            <a:r>
              <a:rPr kumimoji="1" lang="en-US" altLang="ko-KR" dirty="0"/>
              <a:t>HKDF </a:t>
            </a:r>
            <a:r>
              <a:rPr kumimoji="1" lang="ko-KR" altLang="en-US" dirty="0"/>
              <a:t>기반 키 스케줄링 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DE523648-85F8-68CB-C613-E61240AF53FE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en-US" altLang="ko-KR" sz="2000" dirty="0"/>
                  <a:t>Client_application_traffic_secret_0 ?</a:t>
                </a:r>
              </a:p>
              <a:p>
                <a:pPr lvl="1"/>
                <a:r>
                  <a:rPr kumimoji="1" lang="ko-KR" altLang="en-US" sz="1800" dirty="0"/>
                  <a:t>클라이언트</a:t>
                </a:r>
                <a:r>
                  <a:rPr kumimoji="1" lang="en-US" altLang="ko-KR" sz="180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ko-KR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kumimoji="1" lang="ko-KR" altLang="en-US" sz="1800" dirty="0"/>
                  <a:t>서버 방향의 </a:t>
                </a:r>
                <a:r>
                  <a:rPr kumimoji="1" lang="en-US" altLang="ko-KR" sz="1800" dirty="0"/>
                  <a:t>Application Data </a:t>
                </a:r>
                <a:r>
                  <a:rPr kumimoji="1" lang="ko-KR" altLang="en-US" sz="1800" dirty="0"/>
                  <a:t>암호화 키를 생성하기 위한 </a:t>
                </a:r>
                <a:r>
                  <a:rPr kumimoji="1" lang="en-US" altLang="ko-KR" sz="1800" dirty="0"/>
                  <a:t>seed</a:t>
                </a:r>
              </a:p>
              <a:p>
                <a:pPr lvl="1"/>
                <a:r>
                  <a:rPr kumimoji="1" lang="en-US" altLang="ko-KR" sz="1800" dirty="0"/>
                  <a:t>_0</a:t>
                </a:r>
                <a:r>
                  <a:rPr kumimoji="1" lang="ko-KR" altLang="en-US" sz="1800" dirty="0"/>
                  <a:t>은 초기 세션 상태</a:t>
                </a:r>
                <a:r>
                  <a:rPr kumimoji="1" lang="en-US" altLang="ko-KR" sz="1800" dirty="0"/>
                  <a:t>(</a:t>
                </a:r>
                <a:r>
                  <a:rPr kumimoji="1" lang="ko-KR" altLang="en-US" sz="1800" dirty="0"/>
                  <a:t>첫 번째 트래픽 시크릿</a:t>
                </a:r>
                <a:r>
                  <a:rPr kumimoji="1" lang="en-US" altLang="ko-KR" sz="1800" dirty="0"/>
                  <a:t>)</a:t>
                </a:r>
                <a:r>
                  <a:rPr kumimoji="1" lang="ko-KR" altLang="en-US" sz="1800" dirty="0"/>
                  <a:t>을 의미</a:t>
                </a:r>
                <a:endParaRPr kumimoji="1" lang="en-US" altLang="ko-KR" sz="1800" dirty="0"/>
              </a:p>
              <a:p>
                <a:pPr marL="457200" lvl="1" indent="0">
                  <a:buNone/>
                </a:pPr>
                <a:r>
                  <a:rPr kumimoji="1" lang="en-US" altLang="ko-KR" sz="1800" dirty="0"/>
                  <a:t>(</a:t>
                </a:r>
                <a:r>
                  <a:rPr kumimoji="1" lang="ko-KR" altLang="en-US" sz="1800" dirty="0"/>
                  <a:t>이후 </a:t>
                </a:r>
                <a:r>
                  <a:rPr kumimoji="1" lang="en-US" altLang="ko-KR" sz="1800" dirty="0" err="1"/>
                  <a:t>KeyUpdate</a:t>
                </a:r>
                <a:r>
                  <a:rPr kumimoji="1" lang="en-US" altLang="ko-KR" sz="1800" dirty="0"/>
                  <a:t> </a:t>
                </a:r>
                <a:r>
                  <a:rPr kumimoji="1" lang="ko-KR" altLang="en-US" sz="1800" dirty="0"/>
                  <a:t>메시지 발생 시 </a:t>
                </a:r>
                <a:r>
                  <a:rPr kumimoji="1" lang="en-US" altLang="ko-KR" sz="1800" dirty="0"/>
                  <a:t>_1,</a:t>
                </a:r>
                <a:r>
                  <a:rPr kumimoji="1" lang="ko-KR" altLang="en-US" sz="1800" dirty="0"/>
                  <a:t> </a:t>
                </a:r>
                <a:r>
                  <a:rPr kumimoji="1" lang="en-US" altLang="ko-KR" sz="1800" dirty="0"/>
                  <a:t>_2 , .. </a:t>
                </a:r>
                <a:r>
                  <a:rPr kumimoji="1" lang="ko-KR" altLang="en-US" sz="1800" dirty="0"/>
                  <a:t>로 갱신됨</a:t>
                </a:r>
                <a:r>
                  <a:rPr kumimoji="1" lang="en-US" altLang="ko-KR" sz="1800" dirty="0"/>
                  <a:t>)</a:t>
                </a:r>
              </a:p>
              <a:p>
                <a:pPr marL="457200" lvl="1" indent="0">
                  <a:buNone/>
                </a:pPr>
                <a:endParaRPr kumimoji="1" lang="en-US" altLang="ko-KR" sz="1800" dirty="0"/>
              </a:p>
              <a:p>
                <a:pPr marL="457200" lvl="1" indent="0">
                  <a:buNone/>
                </a:pPr>
                <a:endParaRPr kumimoji="1" lang="en-US" altLang="ko-KR" sz="1800" dirty="0"/>
              </a:p>
              <a:p>
                <a:pPr marL="457200" lvl="1" indent="0">
                  <a:buNone/>
                </a:pPr>
                <a:endParaRPr kumimoji="1" lang="en-US" altLang="ko-KR" sz="1800" dirty="0"/>
              </a:p>
              <a:p>
                <a:pPr marL="457200" lvl="1" indent="0">
                  <a:buNone/>
                </a:pPr>
                <a:endParaRPr kumimoji="1" lang="en-US" altLang="ko-KR" sz="1800" dirty="0"/>
              </a:p>
              <a:p>
                <a:pPr marL="457200" lvl="1" indent="0">
                  <a:buNone/>
                </a:pPr>
                <a:endParaRPr kumimoji="1" lang="en-US" altLang="ko-KR" sz="1800" dirty="0"/>
              </a:p>
              <a:p>
                <a:pPr marL="457200" lvl="1" indent="0">
                  <a:buNone/>
                </a:pPr>
                <a:r>
                  <a:rPr kumimoji="1" lang="ko-KR" altLang="en-US" sz="1800" dirty="0"/>
                  <a:t>서버는 </a:t>
                </a:r>
                <a:r>
                  <a:rPr kumimoji="1" lang="en-US" altLang="ko-KR" sz="1800" dirty="0"/>
                  <a:t>server_application_traffic_secret_0</a:t>
                </a:r>
                <a:r>
                  <a:rPr kumimoji="1" lang="ko-KR" altLang="en-US" sz="1800" dirty="0"/>
                  <a:t>을 동일한 방식으로 사용</a:t>
                </a:r>
                <a:endParaRPr kumimoji="1" lang="en-US" altLang="ko-KR" sz="1800" dirty="0"/>
              </a:p>
              <a:p>
                <a:pPr lvl="1"/>
                <a:endParaRPr kumimoji="1" lang="ko-KR" altLang="en-US" sz="1800" dirty="0"/>
              </a:p>
            </p:txBody>
          </p:sp>
        </mc:Choice>
        <mc:Fallback xmlns="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DE523648-85F8-68CB-C613-E61240AF53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2"/>
                <a:stretch>
                  <a:fillRect l="-446" t="-12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C38A4643-A534-41A2-B692-D5A3C69EFD71}"/>
              </a:ext>
            </a:extLst>
          </p:cNvPr>
          <p:cNvSpPr txBox="1"/>
          <p:nvPr/>
        </p:nvSpPr>
        <p:spPr>
          <a:xfrm>
            <a:off x="2100470" y="2782669"/>
            <a:ext cx="81467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0">
              <a:buNone/>
            </a:pPr>
            <a:r>
              <a:rPr kumimoji="1"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client_application_key</a:t>
            </a:r>
            <a:r>
              <a:rPr kumimoji="1"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kumimoji="1"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client_application_iv</a:t>
            </a:r>
            <a:r>
              <a:rPr kumimoji="1"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</a:t>
            </a:r>
          </a:p>
          <a:p>
            <a:pPr marL="457200" lvl="1" indent="0">
              <a:buNone/>
            </a:pPr>
            <a:r>
              <a:rPr kumimoji="1"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HKDF-Expand(client_application_traffic_secret_0)</a:t>
            </a:r>
          </a:p>
        </p:txBody>
      </p:sp>
    </p:spTree>
    <p:extLst>
      <p:ext uri="{BB962C8B-B14F-4D97-AF65-F5344CB8AC3E}">
        <p14:creationId xmlns:p14="http://schemas.microsoft.com/office/powerpoint/2010/main" val="19721233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E21E66-113E-877E-188C-542F23DF8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TLS</a:t>
            </a:r>
            <a:r>
              <a:rPr kumimoji="1" lang="ko-KR" altLang="en-US" dirty="0"/>
              <a:t> </a:t>
            </a:r>
            <a:r>
              <a:rPr kumimoji="1" lang="en-US" altLang="ko-KR" dirty="0"/>
              <a:t>1.3</a:t>
            </a:r>
            <a:r>
              <a:rPr kumimoji="1" lang="ko-KR" altLang="en-US" dirty="0"/>
              <a:t> </a:t>
            </a:r>
            <a:r>
              <a:rPr kumimoji="1" lang="en-US" altLang="ko-KR" dirty="0"/>
              <a:t>Handshake</a:t>
            </a:r>
            <a:endParaRPr kumimoji="1"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6C1DCAC-DA4C-E8D5-5412-00EBDD1699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b="1" dirty="0"/>
              <a:t>3) </a:t>
            </a:r>
            <a:r>
              <a:rPr lang="en" altLang="ko-KR" sz="2000" b="1" dirty="0" err="1"/>
              <a:t>EncryptedExtensions</a:t>
            </a:r>
            <a:endParaRPr lang="en" altLang="ko-KR" sz="2000" b="1" dirty="0"/>
          </a:p>
          <a:p>
            <a:pPr lvl="1"/>
            <a:r>
              <a:rPr kumimoji="1" lang="ko-KR" altLang="en-US" sz="1800" dirty="0"/>
              <a:t>암호화되어야 할 서버 측 확장들</a:t>
            </a:r>
            <a:r>
              <a:rPr kumimoji="1" lang="en-US" altLang="ko-KR" sz="1800" dirty="0"/>
              <a:t>(extensions) </a:t>
            </a:r>
            <a:r>
              <a:rPr kumimoji="1" lang="ko-KR" altLang="en-US" sz="1800" dirty="0"/>
              <a:t>전달</a:t>
            </a:r>
            <a:endParaRPr kumimoji="1" lang="en-US" altLang="ko-KR" sz="1800" dirty="0"/>
          </a:p>
          <a:p>
            <a:pPr lvl="1"/>
            <a:r>
              <a:rPr kumimoji="1" lang="ko-KR" altLang="en-US" sz="1800" dirty="0"/>
              <a:t>예시 </a:t>
            </a:r>
            <a:r>
              <a:rPr kumimoji="1" lang="en-US" altLang="ko-KR" sz="1800" dirty="0"/>
              <a:t>: </a:t>
            </a:r>
            <a:r>
              <a:rPr kumimoji="1" lang="en-US" altLang="ko-KR" sz="1800" dirty="0" err="1"/>
              <a:t>server_name</a:t>
            </a:r>
            <a:r>
              <a:rPr kumimoji="1" lang="en-US" altLang="ko-KR" sz="1800" dirty="0"/>
              <a:t>(SNI), </a:t>
            </a:r>
            <a:r>
              <a:rPr kumimoji="1" lang="en-US" altLang="ko-KR" sz="1800" dirty="0" err="1"/>
              <a:t>max_fragment_length</a:t>
            </a:r>
            <a:r>
              <a:rPr kumimoji="1" lang="en-US" altLang="ko-KR" sz="1800" dirty="0"/>
              <a:t>, </a:t>
            </a:r>
            <a:r>
              <a:rPr kumimoji="1" lang="en-US" altLang="ko-KR" sz="1800" dirty="0" err="1"/>
              <a:t>alph</a:t>
            </a:r>
            <a:r>
              <a:rPr kumimoji="1" lang="en-US" altLang="ko-KR" sz="1800" dirty="0"/>
              <a:t>, </a:t>
            </a:r>
            <a:r>
              <a:rPr kumimoji="1" lang="en-US" altLang="ko-KR" sz="1800" dirty="0" err="1"/>
              <a:t>record_size_limit</a:t>
            </a:r>
            <a:r>
              <a:rPr kumimoji="1" lang="en-US" altLang="ko-KR" sz="1800" dirty="0"/>
              <a:t> </a:t>
            </a:r>
            <a:r>
              <a:rPr kumimoji="1" lang="ko-KR" altLang="en-US" sz="1800" dirty="0"/>
              <a:t>등</a:t>
            </a:r>
            <a:endParaRPr kumimoji="1" lang="en-US" altLang="ko-KR" sz="1800" dirty="0"/>
          </a:p>
          <a:p>
            <a:pPr lvl="1"/>
            <a:r>
              <a:rPr kumimoji="1" lang="ko-KR" altLang="en-US" sz="1800" dirty="0"/>
              <a:t>보호키 </a:t>
            </a:r>
            <a:r>
              <a:rPr kumimoji="1" lang="en-US" altLang="ko-KR" sz="1800" dirty="0"/>
              <a:t>: </a:t>
            </a:r>
            <a:r>
              <a:rPr lang="en" altLang="ko-KR" sz="1800" dirty="0" err="1">
                <a:latin typeface="Courier New" panose="02070309020205020404" pitchFamily="49" charset="0"/>
              </a:rPr>
              <a:t>server_handshake_traffic_secret</a:t>
            </a:r>
            <a:r>
              <a:rPr lang="en" altLang="ko-KR" sz="1800" dirty="0">
                <a:latin typeface="Courier New" panose="02070309020205020404" pitchFamily="49" charset="0"/>
              </a:rPr>
              <a:t> </a:t>
            </a:r>
            <a:r>
              <a:rPr kumimoji="1" lang="ko-KR" altLang="en-US" sz="1800" dirty="0"/>
              <a:t>로 </a:t>
            </a:r>
            <a:r>
              <a:rPr kumimoji="1" lang="en-US" altLang="ko-KR" sz="1800" dirty="0"/>
              <a:t>AEAD</a:t>
            </a:r>
            <a:r>
              <a:rPr kumimoji="1" lang="ko-KR" altLang="en-US" sz="1800" dirty="0"/>
              <a:t>보호</a:t>
            </a:r>
            <a:endParaRPr kumimoji="1" lang="en-US" altLang="ko-KR" sz="1800" dirty="0"/>
          </a:p>
          <a:p>
            <a:pPr marL="457200" lvl="1" indent="0">
              <a:buNone/>
            </a:pPr>
            <a:endParaRPr kumimoji="1" lang="en-US" altLang="ko-KR" sz="1800" dirty="0"/>
          </a:p>
          <a:p>
            <a:pPr marL="457200" lvl="1" indent="0">
              <a:buNone/>
            </a:pPr>
            <a:endParaRPr kumimoji="1" lang="en-US" altLang="ko-KR" sz="1800" dirty="0"/>
          </a:p>
          <a:p>
            <a:pPr marL="457200" lvl="1" indent="0">
              <a:buNone/>
            </a:pPr>
            <a:endParaRPr kumimoji="1" lang="en-US" altLang="ko-KR" sz="1800" dirty="0"/>
          </a:p>
          <a:p>
            <a:pPr marL="0" indent="0">
              <a:buNone/>
            </a:pPr>
            <a:r>
              <a:rPr kumimoji="1" lang="en-US" altLang="ko-KR" sz="2000" b="1" dirty="0"/>
              <a:t>4)</a:t>
            </a:r>
            <a:r>
              <a:rPr kumimoji="1" lang="ko-KR" altLang="en-US" sz="2000" b="1" dirty="0"/>
              <a:t> </a:t>
            </a:r>
            <a:r>
              <a:rPr kumimoji="1" lang="en-US" altLang="ko-KR" sz="2000" b="1" dirty="0" err="1"/>
              <a:t>CertificateRequest</a:t>
            </a:r>
            <a:r>
              <a:rPr kumimoji="1" lang="en-US" altLang="ko-KR" sz="2000" b="1" dirty="0"/>
              <a:t>(</a:t>
            </a:r>
            <a:r>
              <a:rPr kumimoji="1" lang="ko-KR" altLang="en-US" sz="2000" b="1" dirty="0"/>
              <a:t>선택</a:t>
            </a:r>
            <a:r>
              <a:rPr kumimoji="1" lang="en-US" altLang="ko-KR" sz="2000" b="1" dirty="0"/>
              <a:t>)</a:t>
            </a:r>
          </a:p>
          <a:p>
            <a:pPr lvl="1"/>
            <a:r>
              <a:rPr kumimoji="1" lang="ko-KR" altLang="en-US" sz="1800" dirty="0"/>
              <a:t>클라이언트 인증이 필요할 때만 전송</a:t>
            </a:r>
            <a:br>
              <a:rPr kumimoji="1" lang="en-US" altLang="ko-KR" sz="1800" dirty="0"/>
            </a:br>
            <a:r>
              <a:rPr kumimoji="1" lang="ko-KR" altLang="en-US" sz="1800" dirty="0"/>
              <a:t>어떤 신뢰 상위</a:t>
            </a:r>
            <a:r>
              <a:rPr kumimoji="1" lang="en-US" altLang="ko-KR" sz="1800" dirty="0"/>
              <a:t>(</a:t>
            </a:r>
            <a:r>
              <a:rPr kumimoji="1" lang="ko-KR" altLang="en-US" sz="1800" dirty="0"/>
              <a:t>허용</a:t>
            </a:r>
            <a:r>
              <a:rPr kumimoji="1" lang="en-US" altLang="ko-KR" sz="1800" dirty="0"/>
              <a:t> CA), </a:t>
            </a:r>
            <a:r>
              <a:rPr kumimoji="1" lang="ko-KR" altLang="en-US" sz="1800" dirty="0"/>
              <a:t>서명 알고리즘</a:t>
            </a:r>
            <a:r>
              <a:rPr kumimoji="1" lang="en-US" altLang="ko-KR" sz="1800" dirty="0"/>
              <a:t>, </a:t>
            </a:r>
            <a:r>
              <a:rPr kumimoji="1" lang="ko-KR" altLang="en-US" sz="1800" dirty="0"/>
              <a:t>인증서 요구 조건 등을 지정</a:t>
            </a:r>
            <a:endParaRPr kumimoji="1" lang="en-US" altLang="ko-KR" sz="1800" dirty="0"/>
          </a:p>
          <a:p>
            <a:pPr lvl="1"/>
            <a:r>
              <a:rPr kumimoji="1" lang="ko-KR" altLang="en-US" sz="1800" dirty="0"/>
              <a:t>보호 키 </a:t>
            </a:r>
            <a:r>
              <a:rPr kumimoji="1" lang="en-US" altLang="ko-KR" sz="1800" dirty="0"/>
              <a:t>: </a:t>
            </a:r>
            <a:r>
              <a:rPr lang="en" altLang="ko-KR" sz="1800" dirty="0" err="1">
                <a:latin typeface="Courier New" panose="02070309020205020404" pitchFamily="49" charset="0"/>
              </a:rPr>
              <a:t>server_handshake_traffic_secret</a:t>
            </a:r>
            <a:r>
              <a:rPr lang="en" altLang="ko-KR" sz="1800" dirty="0"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kumimoji="1" lang="ko-KR" altLang="en-US" sz="1800" dirty="0"/>
              <a:t>클라이언트 인증이 불필요하다면 이 단계는 </a:t>
            </a:r>
            <a:r>
              <a:rPr kumimoji="1" lang="ko-KR" altLang="en-US" sz="1800" dirty="0" err="1"/>
              <a:t>스킵되고</a:t>
            </a:r>
            <a:r>
              <a:rPr kumimoji="1" lang="en-US" altLang="ko-KR" sz="1800" dirty="0"/>
              <a:t>, </a:t>
            </a:r>
            <a:r>
              <a:rPr kumimoji="1" lang="ko-KR" altLang="en-US" sz="1800" dirty="0"/>
              <a:t>이후 클라이언트 인증 관련 메시지들도 생략됨</a:t>
            </a:r>
            <a:endParaRPr kumimoji="1"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15347120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25B3F-CDA9-C226-9DE4-C7C0326AD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27F5FC-DB6E-B5B1-E86D-A3E798E12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TLS</a:t>
            </a:r>
            <a:r>
              <a:rPr kumimoji="1" lang="ko-KR" altLang="en-US" dirty="0"/>
              <a:t> </a:t>
            </a:r>
            <a:r>
              <a:rPr kumimoji="1" lang="en-US" altLang="ko-KR" dirty="0"/>
              <a:t>1.3</a:t>
            </a:r>
            <a:r>
              <a:rPr kumimoji="1" lang="ko-KR" altLang="en-US" dirty="0"/>
              <a:t> </a:t>
            </a:r>
            <a:r>
              <a:rPr kumimoji="1" lang="en-US" altLang="ko-KR" dirty="0"/>
              <a:t>Handshake</a:t>
            </a:r>
            <a:endParaRPr kumimoji="1"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86F4CAD-0D44-EEFB-0CE6-300267421C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ko-KR" sz="2000" b="1" dirty="0"/>
              <a:t>5)</a:t>
            </a:r>
            <a:r>
              <a:rPr kumimoji="1" lang="ko-KR" altLang="en-US" sz="2000" b="1" dirty="0"/>
              <a:t> </a:t>
            </a:r>
            <a:r>
              <a:rPr kumimoji="1" lang="en-US" altLang="ko-KR" sz="2000" b="1" dirty="0"/>
              <a:t>Certificate(</a:t>
            </a:r>
            <a:r>
              <a:rPr kumimoji="1" lang="ko-KR" altLang="en-US" sz="2000" b="1" dirty="0"/>
              <a:t>서버 인증서</a:t>
            </a:r>
            <a:r>
              <a:rPr kumimoji="1" lang="en-US" altLang="ko-KR" sz="2000" b="1" dirty="0"/>
              <a:t>)</a:t>
            </a:r>
          </a:p>
          <a:p>
            <a:pPr lvl="1"/>
            <a:r>
              <a:rPr kumimoji="1" lang="ko-KR" altLang="en-US" sz="1600" dirty="0"/>
              <a:t>서버 신원 증명 자료</a:t>
            </a:r>
            <a:r>
              <a:rPr kumimoji="1" lang="en-US" altLang="ko-KR" sz="1600" dirty="0"/>
              <a:t>(X.509 chain) </a:t>
            </a:r>
            <a:r>
              <a:rPr kumimoji="1" lang="ko-KR" altLang="en-US" sz="1600" dirty="0"/>
              <a:t>전달</a:t>
            </a:r>
            <a:endParaRPr kumimoji="1" lang="en-US" altLang="ko-KR" sz="1600" dirty="0"/>
          </a:p>
          <a:p>
            <a:pPr lvl="1"/>
            <a:r>
              <a:rPr kumimoji="1" lang="ko-KR" altLang="en-US" sz="1600" dirty="0"/>
              <a:t>서버 </a:t>
            </a:r>
            <a:r>
              <a:rPr kumimoji="1" lang="en-US" altLang="ko-KR" sz="1600" dirty="0"/>
              <a:t>EE </a:t>
            </a:r>
            <a:r>
              <a:rPr kumimoji="1" lang="ko-KR" altLang="en-US" sz="1600" dirty="0"/>
              <a:t>인증서</a:t>
            </a:r>
            <a:r>
              <a:rPr kumimoji="1" lang="en-US" altLang="ko-KR" sz="1600" dirty="0"/>
              <a:t>(+</a:t>
            </a:r>
            <a:r>
              <a:rPr kumimoji="1" lang="ko-KR" altLang="en-US" sz="1600" dirty="0"/>
              <a:t>중간 </a:t>
            </a:r>
            <a:r>
              <a:rPr kumimoji="1" lang="en-US" altLang="ko-KR" sz="1600" dirty="0"/>
              <a:t>CA)</a:t>
            </a:r>
            <a:r>
              <a:rPr kumimoji="1" lang="ko-KR" altLang="en-US" sz="1600" dirty="0"/>
              <a:t>가 들어있음</a:t>
            </a:r>
            <a:br>
              <a:rPr kumimoji="1" lang="en-US" altLang="ko-KR" sz="1600" dirty="0"/>
            </a:br>
            <a:r>
              <a:rPr kumimoji="1" lang="ko-KR" altLang="en-US" sz="1600" dirty="0" err="1"/>
              <a:t>공캐키</a:t>
            </a:r>
            <a:r>
              <a:rPr kumimoji="1" lang="ko-KR" altLang="en-US" sz="1600" dirty="0"/>
              <a:t> 유형은 </a:t>
            </a:r>
            <a:r>
              <a:rPr kumimoji="1" lang="en-US" altLang="ko-KR" sz="1600" dirty="0"/>
              <a:t>RSA-PSS </a:t>
            </a:r>
            <a:r>
              <a:rPr kumimoji="1" lang="ko-KR" altLang="en-US" sz="1600" dirty="0"/>
              <a:t>또는 </a:t>
            </a:r>
            <a:r>
              <a:rPr kumimoji="1" lang="en-US" altLang="ko-KR" sz="1600" dirty="0"/>
              <a:t>ECDSA/</a:t>
            </a:r>
            <a:r>
              <a:rPr kumimoji="1" lang="en-US" altLang="ko-KR" sz="1600" dirty="0" err="1"/>
              <a:t>EdDSA</a:t>
            </a:r>
            <a:endParaRPr kumimoji="1" lang="en-US" altLang="ko-KR" sz="1600" dirty="0"/>
          </a:p>
          <a:p>
            <a:pPr lvl="1"/>
            <a:r>
              <a:rPr kumimoji="1" lang="ko-KR" altLang="en-US" sz="1600" dirty="0"/>
              <a:t>클라이언트 검사 </a:t>
            </a:r>
            <a:r>
              <a:rPr kumimoji="1" lang="en-US" altLang="ko-KR" sz="1600" dirty="0"/>
              <a:t>: </a:t>
            </a:r>
            <a:r>
              <a:rPr kumimoji="1" lang="ko-KR" altLang="en-US" sz="1600" dirty="0"/>
              <a:t>체인</a:t>
            </a:r>
            <a:r>
              <a:rPr kumimoji="1" lang="en-US" altLang="ko-KR" sz="1600" dirty="0"/>
              <a:t>/</a:t>
            </a:r>
            <a:r>
              <a:rPr kumimoji="1" lang="ko-KR" altLang="en-US" sz="1600" dirty="0"/>
              <a:t>유효기간</a:t>
            </a:r>
            <a:r>
              <a:rPr kumimoji="1" lang="en-US" altLang="ko-KR" sz="1600" dirty="0"/>
              <a:t>/</a:t>
            </a:r>
            <a:r>
              <a:rPr kumimoji="1" lang="ko-KR" altLang="en-US" sz="1600" dirty="0"/>
              <a:t>정책</a:t>
            </a:r>
            <a:r>
              <a:rPr kumimoji="1" lang="en-US" altLang="ko-KR" sz="1600" dirty="0"/>
              <a:t>/</a:t>
            </a:r>
            <a:r>
              <a:rPr kumimoji="1" lang="ko-KR" altLang="en-US" sz="1600" dirty="0"/>
              <a:t>이름 일치</a:t>
            </a:r>
            <a:r>
              <a:rPr kumimoji="1" lang="en-US" altLang="ko-KR" sz="1600" dirty="0"/>
              <a:t>(SAN)/ </a:t>
            </a:r>
            <a:r>
              <a:rPr kumimoji="1" lang="ko-KR" altLang="en-US" sz="1600" dirty="0"/>
              <a:t>해지 등</a:t>
            </a:r>
            <a:endParaRPr kumimoji="1" lang="en-US" altLang="ko-KR" sz="1600" dirty="0"/>
          </a:p>
          <a:p>
            <a:pPr lvl="1"/>
            <a:r>
              <a:rPr kumimoji="1" lang="ko-KR" altLang="en-US" sz="1600" dirty="0"/>
              <a:t>보호 키 </a:t>
            </a:r>
            <a:r>
              <a:rPr kumimoji="1" lang="en-US" altLang="ko-KR" sz="1600" dirty="0"/>
              <a:t>: </a:t>
            </a:r>
            <a:r>
              <a:rPr lang="en" altLang="ko-KR" sz="1600" dirty="0" err="1">
                <a:latin typeface="Courier New" panose="02070309020205020404" pitchFamily="49" charset="0"/>
              </a:rPr>
              <a:t>server_handshake_traffic_secret</a:t>
            </a:r>
            <a:endParaRPr lang="en" altLang="ko-KR" sz="1600" dirty="0">
              <a:latin typeface="Courier New" panose="02070309020205020404" pitchFamily="49" charset="0"/>
            </a:endParaRPr>
          </a:p>
          <a:p>
            <a:pPr lvl="1"/>
            <a:endParaRPr kumimoji="1" lang="en" altLang="ko-KR" sz="1600" dirty="0">
              <a:latin typeface="Courier New" panose="02070309020205020404" pitchFamily="49" charset="0"/>
            </a:endParaRPr>
          </a:p>
          <a:p>
            <a:pPr lvl="1"/>
            <a:endParaRPr kumimoji="1" lang="en-US" altLang="ko-KR" sz="1600" dirty="0"/>
          </a:p>
          <a:p>
            <a:pPr marL="0" indent="0">
              <a:buNone/>
            </a:pPr>
            <a:r>
              <a:rPr kumimoji="1" lang="en-US" altLang="ko-KR" sz="2000" b="1" dirty="0"/>
              <a:t>6) </a:t>
            </a:r>
            <a:r>
              <a:rPr kumimoji="1" lang="en-US" altLang="ko-KR" sz="2000" b="1" dirty="0" err="1"/>
              <a:t>CertificateVerify</a:t>
            </a:r>
            <a:endParaRPr kumimoji="1" lang="en-US" altLang="ko-KR" sz="2000" b="1" dirty="0"/>
          </a:p>
          <a:p>
            <a:pPr lvl="1"/>
            <a:r>
              <a:rPr kumimoji="1" lang="ko-KR" altLang="en-US" sz="1600" dirty="0"/>
              <a:t>서버가 인증서의 개인키를 실제로 보유함을 증명</a:t>
            </a:r>
            <a:endParaRPr kumimoji="1" lang="en-US" altLang="ko-KR" sz="1600" dirty="0"/>
          </a:p>
          <a:p>
            <a:pPr lvl="1"/>
            <a:r>
              <a:rPr kumimoji="1" lang="ko-KR" altLang="en-US" sz="1600" dirty="0"/>
              <a:t>서명 입력 </a:t>
            </a:r>
            <a:r>
              <a:rPr kumimoji="1" lang="en-US" altLang="ko-KR" sz="1600" dirty="0"/>
              <a:t>: </a:t>
            </a:r>
            <a:r>
              <a:rPr kumimoji="1" lang="ko-KR" altLang="en-US" sz="1600" dirty="0"/>
              <a:t>그 시점까지의 </a:t>
            </a:r>
            <a:r>
              <a:rPr kumimoji="1" lang="en-US" altLang="ko-KR" sz="1600" dirty="0"/>
              <a:t>handshake transcript hash</a:t>
            </a:r>
            <a:r>
              <a:rPr kumimoji="1" lang="ko-KR" altLang="en-US" sz="1600" dirty="0" err="1"/>
              <a:t>를</a:t>
            </a:r>
            <a:r>
              <a:rPr kumimoji="1" lang="ko-KR" altLang="en-US" sz="1600" dirty="0"/>
              <a:t> 자신의 개인키로 서명</a:t>
            </a:r>
            <a:endParaRPr kumimoji="1" lang="en-US" altLang="ko-KR" sz="1600" dirty="0"/>
          </a:p>
          <a:p>
            <a:pPr lvl="2"/>
            <a:r>
              <a:rPr kumimoji="1" lang="en-US" altLang="ko-KR" sz="1200" b="1" dirty="0">
                <a:solidFill>
                  <a:srgbClr val="2E75B6"/>
                </a:solidFill>
              </a:rPr>
              <a:t>handshake transcript hash : </a:t>
            </a:r>
            <a:r>
              <a:rPr kumimoji="1" lang="ko-KR" altLang="en-US" sz="1200" b="1" dirty="0">
                <a:solidFill>
                  <a:srgbClr val="2E75B6"/>
                </a:solidFill>
              </a:rPr>
              <a:t>지금까지 주고받은 모든 </a:t>
            </a:r>
            <a:r>
              <a:rPr kumimoji="1" lang="ko-KR" altLang="en-US" sz="1200" b="1" dirty="0" err="1">
                <a:solidFill>
                  <a:srgbClr val="2E75B6"/>
                </a:solidFill>
              </a:rPr>
              <a:t>핸드쉐이크</a:t>
            </a:r>
            <a:r>
              <a:rPr kumimoji="1" lang="ko-KR" altLang="en-US" sz="1200" b="1" dirty="0">
                <a:solidFill>
                  <a:srgbClr val="2E75B6"/>
                </a:solidFill>
              </a:rPr>
              <a:t> 메시지의 요약본</a:t>
            </a:r>
            <a:r>
              <a:rPr kumimoji="1" lang="en-US" altLang="ko-KR" sz="1200" b="1" dirty="0">
                <a:solidFill>
                  <a:srgbClr val="2E75B6"/>
                </a:solidFill>
              </a:rPr>
              <a:t>(hash)</a:t>
            </a:r>
          </a:p>
          <a:p>
            <a:pPr marL="914400" lvl="2" indent="0">
              <a:buNone/>
            </a:pPr>
            <a:r>
              <a:rPr kumimoji="1" lang="en-US" altLang="ko-KR" sz="1200" dirty="0" err="1"/>
              <a:t>transcript_hash</a:t>
            </a:r>
            <a:r>
              <a:rPr kumimoji="1" lang="en-US" altLang="ko-KR" sz="1200" dirty="0"/>
              <a:t> = Hash(</a:t>
            </a:r>
            <a:r>
              <a:rPr kumimoji="1" lang="en-US" altLang="ko-KR" sz="1200" dirty="0" err="1"/>
              <a:t>ClientHello</a:t>
            </a:r>
            <a:r>
              <a:rPr kumimoji="1" lang="en-US" altLang="ko-KR" sz="1200" dirty="0"/>
              <a:t> || </a:t>
            </a:r>
            <a:r>
              <a:rPr kumimoji="1" lang="en-US" altLang="ko-KR" sz="1200" dirty="0" err="1"/>
              <a:t>ServerHello</a:t>
            </a:r>
            <a:r>
              <a:rPr kumimoji="1" lang="en-US" altLang="ko-KR" sz="1200" dirty="0"/>
              <a:t> || </a:t>
            </a:r>
            <a:r>
              <a:rPr kumimoji="1" lang="en-US" altLang="ko-KR" sz="1200" dirty="0" err="1"/>
              <a:t>EncryptedExtensions</a:t>
            </a:r>
            <a:r>
              <a:rPr kumimoji="1" lang="en-US" altLang="ko-KR" sz="1200" dirty="0"/>
              <a:t> || Certificate)</a:t>
            </a:r>
          </a:p>
          <a:p>
            <a:pPr lvl="1"/>
            <a:r>
              <a:rPr kumimoji="1" lang="ko-KR" altLang="en-US" sz="1600" dirty="0"/>
              <a:t>알고리즘 </a:t>
            </a:r>
            <a:r>
              <a:rPr kumimoji="1" lang="en-US" altLang="ko-KR" sz="1600" dirty="0"/>
              <a:t>: RSA-PSS, ECDSA, </a:t>
            </a:r>
            <a:r>
              <a:rPr kumimoji="1" lang="en-US" altLang="ko-KR" sz="1600" dirty="0" err="1"/>
              <a:t>EdDSA</a:t>
            </a:r>
            <a:endParaRPr kumimoji="1" lang="en-US" altLang="ko-KR" sz="1600" dirty="0"/>
          </a:p>
          <a:p>
            <a:pPr lvl="1"/>
            <a:r>
              <a:rPr kumimoji="1" lang="ko-KR" altLang="en-US" sz="1600" dirty="0"/>
              <a:t>보호 키 </a:t>
            </a:r>
            <a:r>
              <a:rPr kumimoji="1" lang="en-US" altLang="ko-KR" sz="1600" dirty="0"/>
              <a:t>: </a:t>
            </a:r>
            <a:r>
              <a:rPr lang="en" altLang="ko-KR" sz="1600" dirty="0" err="1">
                <a:latin typeface="Courier New" panose="02070309020205020404" pitchFamily="49" charset="0"/>
              </a:rPr>
              <a:t>server_handshake_traffic_secret</a:t>
            </a:r>
            <a:endParaRPr kumimoji="1" lang="en-US" altLang="ko-KR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179AD6-2C2C-E168-82FF-D7FD585A21A4}"/>
              </a:ext>
            </a:extLst>
          </p:cNvPr>
          <p:cNvSpPr txBox="1"/>
          <p:nvPr/>
        </p:nvSpPr>
        <p:spPr>
          <a:xfrm>
            <a:off x="7524169" y="1107489"/>
            <a:ext cx="425591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[</a:t>
            </a:r>
            <a:r>
              <a:rPr lang="ko-KR" altLang="en-US" dirty="0" err="1"/>
              <a:t>Root</a:t>
            </a:r>
            <a:r>
              <a:rPr lang="ko-KR" altLang="en-US" dirty="0"/>
              <a:t> CA]</a:t>
            </a:r>
          </a:p>
          <a:p>
            <a:r>
              <a:rPr lang="ko-KR" altLang="en-US" dirty="0"/>
              <a:t>   └──&gt; [</a:t>
            </a:r>
            <a:r>
              <a:rPr lang="ko-KR" altLang="en-US" dirty="0" err="1"/>
              <a:t>Intermediate</a:t>
            </a:r>
            <a:r>
              <a:rPr lang="ko-KR" altLang="en-US" dirty="0"/>
              <a:t> CA]</a:t>
            </a:r>
          </a:p>
          <a:p>
            <a:r>
              <a:rPr lang="ko-KR" altLang="en-US" dirty="0"/>
              <a:t>             └──&gt; [Server </a:t>
            </a:r>
            <a:r>
              <a:rPr lang="ko-KR" altLang="en-US" dirty="0" err="1"/>
              <a:t>Certificate</a:t>
            </a:r>
            <a:r>
              <a:rPr lang="ko-KR" altLang="en-US" dirty="0"/>
              <a:t>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CC30D9-B0E9-5D2B-5808-112DE72A7816}"/>
              </a:ext>
            </a:extLst>
          </p:cNvPr>
          <p:cNvSpPr txBox="1"/>
          <p:nvPr/>
        </p:nvSpPr>
        <p:spPr>
          <a:xfrm>
            <a:off x="7808386" y="2487651"/>
            <a:ext cx="428033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rgbClr val="FF0000"/>
                </a:solidFill>
              </a:rPr>
              <a:t>서버의 인증서 하나만으로는 신뢰할 수 없음</a:t>
            </a:r>
            <a:r>
              <a:rPr lang="en-US" altLang="ko-KR" sz="1000" b="1" dirty="0">
                <a:solidFill>
                  <a:srgbClr val="FF0000"/>
                </a:solidFill>
              </a:rPr>
              <a:t>.</a:t>
            </a:r>
            <a:br>
              <a:rPr lang="en-US" altLang="ko-KR" sz="1000" dirty="0"/>
            </a:br>
            <a:r>
              <a:rPr lang="ko-KR" altLang="en-US" sz="1000" dirty="0"/>
              <a:t>따라서 </a:t>
            </a:r>
            <a:r>
              <a:rPr lang="ko-KR" altLang="en-US" sz="1000" b="1" dirty="0"/>
              <a:t>상위 인증서</a:t>
            </a:r>
            <a:r>
              <a:rPr lang="en-US" altLang="ko-KR" sz="1000" b="1" dirty="0"/>
              <a:t>(</a:t>
            </a:r>
            <a:r>
              <a:rPr lang="en" altLang="ko-KR" sz="1000" b="1" dirty="0"/>
              <a:t>Intermediate CA)</a:t>
            </a:r>
            <a:r>
              <a:rPr lang="en" altLang="ko-KR" sz="1000" dirty="0"/>
              <a:t> </a:t>
            </a:r>
            <a:r>
              <a:rPr lang="ko-KR" altLang="en-US" sz="1000" dirty="0"/>
              <a:t>와 </a:t>
            </a:r>
            <a:r>
              <a:rPr lang="ko-KR" altLang="en-US" sz="1000" b="1" dirty="0"/>
              <a:t>최상위 인증서</a:t>
            </a:r>
            <a:r>
              <a:rPr lang="en-US" altLang="ko-KR" sz="1000" b="1" dirty="0"/>
              <a:t>(</a:t>
            </a:r>
            <a:r>
              <a:rPr lang="en" altLang="ko-KR" sz="1000" b="1" dirty="0"/>
              <a:t>Root CA) </a:t>
            </a:r>
            <a:r>
              <a:rPr lang="ko-KR" altLang="en-US" sz="1000" dirty="0"/>
              <a:t>하여</a:t>
            </a:r>
            <a:r>
              <a:rPr lang="ko-KR" altLang="en-US" sz="1000" b="1" dirty="0"/>
              <a:t> </a:t>
            </a:r>
            <a:br>
              <a:rPr lang="en-US" altLang="ko-KR" sz="1000" b="1" dirty="0"/>
            </a:br>
            <a:r>
              <a:rPr lang="ko-KR" altLang="en-US" sz="1000" dirty="0"/>
              <a:t>“이 인증서는 신뢰할 만한 기관이 발급한 </a:t>
            </a:r>
            <a:r>
              <a:rPr lang="ko-KR" altLang="en-US" sz="1000" dirty="0" err="1"/>
              <a:t>것”임을</a:t>
            </a:r>
            <a:r>
              <a:rPr lang="ko-KR" altLang="en-US" sz="1000" dirty="0"/>
              <a:t> 보장합니다</a:t>
            </a:r>
            <a:r>
              <a:rPr lang="en-US" altLang="ko-KR" sz="1000" dirty="0"/>
              <a:t>.</a:t>
            </a:r>
          </a:p>
          <a:p>
            <a:r>
              <a:rPr lang="ko-KR" altLang="en-US" sz="1000" dirty="0"/>
              <a:t>이를 </a:t>
            </a:r>
            <a:r>
              <a:rPr lang="ko-KR" altLang="en-US" sz="1000" b="1" dirty="0"/>
              <a:t>인증서 체인</a:t>
            </a:r>
            <a:r>
              <a:rPr lang="en-US" altLang="ko-KR" sz="1000" b="1" dirty="0"/>
              <a:t>(</a:t>
            </a:r>
            <a:r>
              <a:rPr lang="en" altLang="ko-KR" sz="1000" b="1" dirty="0"/>
              <a:t>Certificate Chain)</a:t>
            </a:r>
            <a:r>
              <a:rPr lang="en" altLang="ko-KR" sz="1000" dirty="0"/>
              <a:t> </a:t>
            </a:r>
            <a:r>
              <a:rPr lang="ko-KR" altLang="en-US" sz="1000" dirty="0"/>
              <a:t>또는 </a:t>
            </a:r>
            <a:r>
              <a:rPr lang="en" altLang="ko-KR" sz="1000" b="1" dirty="0"/>
              <a:t>X.509 chain</a:t>
            </a:r>
            <a:r>
              <a:rPr lang="ko-KR" altLang="en-US" sz="1000" dirty="0"/>
              <a:t>이라고 부름</a:t>
            </a:r>
            <a:endParaRPr lang="en-US" altLang="ko-KR" sz="1000" dirty="0"/>
          </a:p>
          <a:p>
            <a:endParaRPr kumimoji="1"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8310896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BE8B66-0D61-06F5-3FF1-80732C87F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TLS</a:t>
            </a:r>
            <a:r>
              <a:rPr kumimoji="1" lang="ko-KR" altLang="en-US" dirty="0"/>
              <a:t> </a:t>
            </a:r>
            <a:r>
              <a:rPr kumimoji="1" lang="en-US" altLang="ko-KR" dirty="0"/>
              <a:t>1.3</a:t>
            </a:r>
            <a:r>
              <a:rPr kumimoji="1" lang="ko-KR" altLang="en-US" dirty="0"/>
              <a:t> </a:t>
            </a:r>
            <a:r>
              <a:rPr kumimoji="1" lang="en-US" altLang="ko-KR" dirty="0"/>
              <a:t>Handshake</a:t>
            </a:r>
            <a:endParaRPr kumimoji="1"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F40B367-C420-49FC-B2BE-69DF498D74A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ko-KR" sz="2000" b="1" dirty="0"/>
              <a:t>7) Finished(</a:t>
            </a:r>
            <a:r>
              <a:rPr kumimoji="1" lang="ko-KR" altLang="en-US" sz="2000" b="1" dirty="0"/>
              <a:t>서버</a:t>
            </a:r>
            <a:r>
              <a:rPr kumimoji="1" lang="en-US" altLang="ko-KR" sz="2000" b="1" dirty="0"/>
              <a:t>)</a:t>
            </a:r>
          </a:p>
          <a:p>
            <a:pPr lvl="1"/>
            <a:r>
              <a:rPr kumimoji="1" lang="ko-KR" altLang="en-US" sz="1600" dirty="0"/>
              <a:t>서버 </a:t>
            </a:r>
            <a:r>
              <a:rPr kumimoji="1" lang="ko-KR" altLang="en-US" sz="1600" dirty="0" err="1"/>
              <a:t>핸드쉐이크</a:t>
            </a:r>
            <a:r>
              <a:rPr kumimoji="1" lang="ko-KR" altLang="en-US" sz="1600" dirty="0"/>
              <a:t> 종료</a:t>
            </a:r>
            <a:r>
              <a:rPr kumimoji="1" lang="en-US" altLang="ko-KR" sz="1600" dirty="0"/>
              <a:t> +  transcript(</a:t>
            </a:r>
            <a:r>
              <a:rPr kumimoji="1" lang="ko-KR" altLang="en-US" sz="1600" dirty="0"/>
              <a:t>지금까지 수행한 </a:t>
            </a:r>
            <a:r>
              <a:rPr kumimoji="1" lang="ko-KR" altLang="en-US" sz="1600" dirty="0" err="1"/>
              <a:t>핸드쉐이크</a:t>
            </a:r>
            <a:r>
              <a:rPr kumimoji="1" lang="ko-KR" altLang="en-US" sz="1600" dirty="0"/>
              <a:t> 요약본</a:t>
            </a:r>
            <a:r>
              <a:rPr kumimoji="1" lang="en-US" altLang="ko-KR" sz="1600" dirty="0"/>
              <a:t>) </a:t>
            </a:r>
            <a:r>
              <a:rPr kumimoji="1" lang="ko-KR" altLang="en-US" sz="1600" dirty="0"/>
              <a:t>무결성 증명</a:t>
            </a:r>
            <a:endParaRPr kumimoji="1" lang="en-US" altLang="ko-KR" sz="1600" dirty="0"/>
          </a:p>
          <a:p>
            <a:pPr lvl="1"/>
            <a:r>
              <a:rPr lang="en" altLang="ko-KR" sz="1600" dirty="0" err="1"/>
              <a:t>finished_key</a:t>
            </a:r>
            <a:r>
              <a:rPr lang="en" altLang="ko-KR" sz="1600" dirty="0"/>
              <a:t> = HKDF-Expand-Label(</a:t>
            </a:r>
            <a:r>
              <a:rPr lang="en" altLang="ko-KR" sz="1600" dirty="0" err="1"/>
              <a:t>server_handshake_traffic_secret</a:t>
            </a:r>
            <a:r>
              <a:rPr lang="en" altLang="ko-KR" sz="1600" dirty="0"/>
              <a:t>, "finished", "")</a:t>
            </a:r>
            <a:br>
              <a:rPr lang="en" altLang="ko-KR" sz="1600" dirty="0"/>
            </a:br>
            <a:r>
              <a:rPr lang="en" altLang="ko-KR" sz="1600" dirty="0" err="1"/>
              <a:t>verify_data</a:t>
            </a:r>
            <a:r>
              <a:rPr lang="en" altLang="ko-KR" sz="1600" dirty="0"/>
              <a:t> = HMAC(</a:t>
            </a:r>
            <a:r>
              <a:rPr lang="en" altLang="ko-KR" sz="1600" dirty="0" err="1"/>
              <a:t>finished_key</a:t>
            </a:r>
            <a:r>
              <a:rPr lang="en" altLang="ko-KR" sz="1600" dirty="0"/>
              <a:t>, </a:t>
            </a:r>
            <a:r>
              <a:rPr lang="en" altLang="ko-KR" sz="1600" dirty="0" err="1"/>
              <a:t>transcript_hash</a:t>
            </a:r>
            <a:r>
              <a:rPr lang="en" altLang="ko-KR" sz="1600" dirty="0"/>
              <a:t>(</a:t>
            </a:r>
            <a:r>
              <a:rPr lang="en" altLang="ko-KR" sz="1600" dirty="0" err="1"/>
              <a:t>ClientHello</a:t>
            </a:r>
            <a:r>
              <a:rPr lang="en" altLang="ko-KR" sz="1600" dirty="0"/>
              <a:t>..</a:t>
            </a:r>
            <a:r>
              <a:rPr lang="en" altLang="ko-KR" sz="1600" dirty="0" err="1"/>
              <a:t>CertificateVerify_S</a:t>
            </a:r>
            <a:r>
              <a:rPr lang="en" altLang="ko-KR" sz="1600" dirty="0"/>
              <a:t>))</a:t>
            </a:r>
          </a:p>
          <a:p>
            <a:pPr lvl="1"/>
            <a:r>
              <a:rPr kumimoji="1" lang="ko-KR" altLang="en-US" sz="1600" dirty="0"/>
              <a:t>보호 키 </a:t>
            </a:r>
            <a:r>
              <a:rPr kumimoji="1" lang="en-US" altLang="ko-KR" sz="1600" dirty="0"/>
              <a:t>: </a:t>
            </a:r>
            <a:r>
              <a:rPr lang="en" altLang="ko-KR" sz="1600" dirty="0" err="1">
                <a:latin typeface="Courier New" panose="02070309020205020404" pitchFamily="49" charset="0"/>
              </a:rPr>
              <a:t>server_handshake_traffic_secret</a:t>
            </a:r>
            <a:endParaRPr kumimoji="1" lang="en-US" altLang="ko-KR" sz="1600" dirty="0"/>
          </a:p>
          <a:p>
            <a:pPr lvl="1"/>
            <a:r>
              <a:rPr kumimoji="1" lang="ko-KR" altLang="en-US" sz="1600" dirty="0"/>
              <a:t>이 메시지 직후 서버는 </a:t>
            </a:r>
            <a:r>
              <a:rPr kumimoji="1" lang="en-US" altLang="ko-KR" sz="1600" b="1" dirty="0"/>
              <a:t>server_application_traffic_secret_0 </a:t>
            </a:r>
            <a:r>
              <a:rPr kumimoji="1" lang="ko-KR" altLang="en-US" sz="1600" b="1" dirty="0"/>
              <a:t>로 전환</a:t>
            </a:r>
            <a:r>
              <a:rPr kumimoji="1" lang="ko-KR" altLang="en-US" sz="1600" dirty="0"/>
              <a:t>해 </a:t>
            </a:r>
            <a:r>
              <a:rPr kumimoji="1" lang="en-US" altLang="ko-KR" sz="1600" dirty="0"/>
              <a:t>Application Data</a:t>
            </a:r>
            <a:r>
              <a:rPr kumimoji="1" lang="ko-KR" altLang="en-US" sz="1600" dirty="0" err="1"/>
              <a:t>를</a:t>
            </a:r>
            <a:r>
              <a:rPr kumimoji="1" lang="ko-KR" altLang="en-US" sz="1600" dirty="0"/>
              <a:t> 곧바로 보낼 수 있음</a:t>
            </a:r>
            <a:endParaRPr kumimoji="1" lang="en-US" altLang="ko-KR" sz="1600" dirty="0"/>
          </a:p>
          <a:p>
            <a:pPr lvl="1"/>
            <a:endParaRPr kumimoji="1" lang="en-US" altLang="ko-KR" sz="1600" dirty="0"/>
          </a:p>
          <a:p>
            <a:pPr lvl="1"/>
            <a:endParaRPr kumimoji="1" lang="en-US" altLang="ko-KR" sz="1600" dirty="0"/>
          </a:p>
          <a:p>
            <a:pPr lvl="1"/>
            <a:endParaRPr kumimoji="1" lang="en-US" altLang="ko-KR" sz="1600" dirty="0"/>
          </a:p>
          <a:p>
            <a:pPr lvl="1"/>
            <a:endParaRPr kumimoji="1" lang="en-US" altLang="ko-KR" sz="1600" dirty="0"/>
          </a:p>
          <a:p>
            <a:pPr lvl="1"/>
            <a:endParaRPr kumimoji="1" lang="en-US" altLang="ko-KR" sz="1600" dirty="0"/>
          </a:p>
          <a:p>
            <a:pPr marL="0" indent="0">
              <a:buNone/>
            </a:pPr>
            <a:r>
              <a:rPr kumimoji="1" lang="en-US" altLang="ko-KR" sz="2000" b="1" dirty="0"/>
              <a:t>8) Finished(</a:t>
            </a:r>
            <a:r>
              <a:rPr kumimoji="1" lang="ko-KR" altLang="en-US" sz="2000" b="1" dirty="0"/>
              <a:t>클라이언트</a:t>
            </a:r>
            <a:r>
              <a:rPr kumimoji="1" lang="en-US" altLang="ko-KR" sz="2000" b="1" dirty="0"/>
              <a:t>)</a:t>
            </a:r>
          </a:p>
          <a:p>
            <a:pPr lvl="1"/>
            <a:r>
              <a:rPr kumimoji="1" lang="ko-KR" altLang="en-US" sz="1600" dirty="0"/>
              <a:t>클라이언트도 </a:t>
            </a:r>
            <a:r>
              <a:rPr kumimoji="1" lang="ko-KR" altLang="en-US" sz="1600" dirty="0" err="1"/>
              <a:t>핸드쉐이크</a:t>
            </a:r>
            <a:r>
              <a:rPr kumimoji="1" lang="ko-KR" altLang="en-US" sz="1600" dirty="0"/>
              <a:t> 종료</a:t>
            </a:r>
            <a:r>
              <a:rPr kumimoji="1" lang="en-US" altLang="ko-KR" sz="1600" dirty="0"/>
              <a:t> +  transcript </a:t>
            </a:r>
            <a:r>
              <a:rPr kumimoji="1" lang="ko-KR" altLang="en-US" sz="1600" dirty="0"/>
              <a:t>무결성 증명</a:t>
            </a:r>
            <a:endParaRPr kumimoji="1" lang="en-US" altLang="ko-KR" sz="1600" dirty="0"/>
          </a:p>
          <a:p>
            <a:pPr lvl="1"/>
            <a:r>
              <a:rPr kumimoji="1" lang="ko-KR" altLang="en-US" sz="1600" dirty="0"/>
              <a:t>보호 키 </a:t>
            </a:r>
            <a:r>
              <a:rPr kumimoji="1" lang="en-US" altLang="ko-KR" sz="1600" dirty="0"/>
              <a:t>: </a:t>
            </a:r>
            <a:r>
              <a:rPr lang="en" altLang="ko-KR" sz="1600" dirty="0" err="1">
                <a:latin typeface="Courier New" panose="02070309020205020404" pitchFamily="49" charset="0"/>
              </a:rPr>
              <a:t>client_handshake_traffic_secret</a:t>
            </a:r>
            <a:endParaRPr kumimoji="1" lang="en-US" altLang="ko-KR" sz="1600" dirty="0"/>
          </a:p>
          <a:p>
            <a:pPr lvl="1"/>
            <a:r>
              <a:rPr kumimoji="1" lang="ko-KR" altLang="en-US" sz="1600" dirty="0"/>
              <a:t>이후 상태 </a:t>
            </a:r>
            <a:r>
              <a:rPr kumimoji="1" lang="en-US" altLang="ko-KR" sz="1600" dirty="0"/>
              <a:t>: {client, server}_</a:t>
            </a:r>
            <a:r>
              <a:rPr kumimoji="1" lang="en-US" altLang="ko-KR" sz="1600" b="1" dirty="0"/>
              <a:t>application_traffic_secret_0 </a:t>
            </a:r>
            <a:r>
              <a:rPr kumimoji="1" lang="ko-KR" altLang="en-US" sz="1600" b="1" dirty="0"/>
              <a:t>로 전환</a:t>
            </a:r>
            <a:r>
              <a:rPr kumimoji="1" lang="ko-KR" altLang="en-US" sz="1600" dirty="0"/>
              <a:t> 완료 </a:t>
            </a:r>
            <a:br>
              <a:rPr kumimoji="1" lang="en-US" altLang="ko-KR" sz="1600" dirty="0"/>
            </a:br>
            <a:r>
              <a:rPr kumimoji="1" lang="ko-KR" altLang="en-US" sz="1600" dirty="0"/>
              <a:t>즉</a:t>
            </a:r>
            <a:r>
              <a:rPr kumimoji="1" lang="en-US" altLang="ko-KR" sz="1600" dirty="0"/>
              <a:t>, </a:t>
            </a:r>
            <a:r>
              <a:rPr kumimoji="1" lang="ko-KR" altLang="en-US" sz="1600" dirty="0"/>
              <a:t>양방향 </a:t>
            </a:r>
            <a:r>
              <a:rPr kumimoji="1" lang="en-US" altLang="ko-KR" sz="1600" dirty="0"/>
              <a:t>Application Data </a:t>
            </a:r>
            <a:r>
              <a:rPr kumimoji="1" lang="ko-KR" altLang="en-US" sz="1600" dirty="0"/>
              <a:t>가능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2B146C-CFAE-C90B-5060-05F6DADD111B}"/>
              </a:ext>
            </a:extLst>
          </p:cNvPr>
          <p:cNvSpPr txBox="1"/>
          <p:nvPr/>
        </p:nvSpPr>
        <p:spPr>
          <a:xfrm>
            <a:off x="2643740" y="3279914"/>
            <a:ext cx="69045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클라이언트 인증을 사용하는 경우</a:t>
            </a:r>
            <a:endParaRPr kumimoji="1" lang="en-US" altLang="ko-KR" dirty="0"/>
          </a:p>
          <a:p>
            <a:r>
              <a:rPr kumimoji="1" lang="en-US" altLang="ko-KR" dirty="0"/>
              <a:t>7</a:t>
            </a:r>
            <a:r>
              <a:rPr kumimoji="1" lang="ko-KR" altLang="en-US" dirty="0"/>
              <a:t>과 </a:t>
            </a:r>
            <a:r>
              <a:rPr kumimoji="1" lang="en-US" altLang="ko-KR" dirty="0"/>
              <a:t>8 </a:t>
            </a:r>
            <a:r>
              <a:rPr kumimoji="1" lang="ko-KR" altLang="en-US" dirty="0"/>
              <a:t>사이에 클라이언트 측 </a:t>
            </a:r>
            <a:r>
              <a:rPr kumimoji="1" lang="en-US" altLang="ko-KR" dirty="0"/>
              <a:t>Certificate / </a:t>
            </a:r>
            <a:r>
              <a:rPr kumimoji="1" lang="en-US" altLang="ko-KR" dirty="0" err="1"/>
              <a:t>CertificateVerify</a:t>
            </a:r>
            <a:r>
              <a:rPr kumimoji="1" lang="ko-KR" altLang="en-US" dirty="0"/>
              <a:t>가 추가됨</a:t>
            </a:r>
          </a:p>
        </p:txBody>
      </p:sp>
    </p:spTree>
    <p:extLst>
      <p:ext uri="{BB962C8B-B14F-4D97-AF65-F5344CB8AC3E}">
        <p14:creationId xmlns:p14="http://schemas.microsoft.com/office/powerpoint/2010/main" val="6176430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B9B64F-E329-AF11-D26B-671857DDF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TLS</a:t>
            </a:r>
            <a:r>
              <a:rPr kumimoji="1" lang="ko-KR" altLang="en-US" dirty="0"/>
              <a:t> </a:t>
            </a:r>
            <a:r>
              <a:rPr kumimoji="1" lang="en-US" altLang="ko-KR" dirty="0"/>
              <a:t>1.3</a:t>
            </a:r>
            <a:r>
              <a:rPr kumimoji="1" lang="ko-KR" altLang="en-US" dirty="0"/>
              <a:t> </a:t>
            </a:r>
            <a:r>
              <a:rPr kumimoji="1" lang="en-US" altLang="ko-KR" dirty="0"/>
              <a:t>Handshake</a:t>
            </a:r>
            <a:endParaRPr kumimoji="1"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BCF854B-5196-81B7-5196-BD8B420821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06EF8DA3-7C7D-C77D-7B77-D87A95F7E3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491052"/>
              </p:ext>
            </p:extLst>
          </p:nvPr>
        </p:nvGraphicFramePr>
        <p:xfrm>
          <a:off x="411919" y="1522952"/>
          <a:ext cx="11368161" cy="3812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904">
                  <a:extLst>
                    <a:ext uri="{9D8B030D-6E8A-4147-A177-3AD203B41FA5}">
                      <a16:colId xmlns:a16="http://schemas.microsoft.com/office/drawing/2014/main" val="1246625030"/>
                    </a:ext>
                  </a:extLst>
                </a:gridCol>
                <a:gridCol w="688489">
                  <a:extLst>
                    <a:ext uri="{9D8B030D-6E8A-4147-A177-3AD203B41FA5}">
                      <a16:colId xmlns:a16="http://schemas.microsoft.com/office/drawing/2014/main" val="1371907090"/>
                    </a:ext>
                  </a:extLst>
                </a:gridCol>
                <a:gridCol w="2151530">
                  <a:extLst>
                    <a:ext uri="{9D8B030D-6E8A-4147-A177-3AD203B41FA5}">
                      <a16:colId xmlns:a16="http://schemas.microsoft.com/office/drawing/2014/main" val="2598643394"/>
                    </a:ext>
                  </a:extLst>
                </a:gridCol>
                <a:gridCol w="828339">
                  <a:extLst>
                    <a:ext uri="{9D8B030D-6E8A-4147-A177-3AD203B41FA5}">
                      <a16:colId xmlns:a16="http://schemas.microsoft.com/office/drawing/2014/main" val="2890308879"/>
                    </a:ext>
                  </a:extLst>
                </a:gridCol>
                <a:gridCol w="3471457">
                  <a:extLst>
                    <a:ext uri="{9D8B030D-6E8A-4147-A177-3AD203B41FA5}">
                      <a16:colId xmlns:a16="http://schemas.microsoft.com/office/drawing/2014/main" val="1378735663"/>
                    </a:ext>
                  </a:extLst>
                </a:gridCol>
                <a:gridCol w="3843442">
                  <a:extLst>
                    <a:ext uri="{9D8B030D-6E8A-4147-A177-3AD203B41FA5}">
                      <a16:colId xmlns:a16="http://schemas.microsoft.com/office/drawing/2014/main" val="2986508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/>
                        <a:t>단계</a:t>
                      </a:r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/>
                        <a:t>방향</a:t>
                      </a:r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/>
                        <a:t>메시지</a:t>
                      </a:r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/>
                        <a:t>암호화 여부</a:t>
                      </a:r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/>
                        <a:t>사용 키</a:t>
                      </a:r>
                      <a:r>
                        <a:rPr lang="en-US" altLang="ko-KR" sz="1400"/>
                        <a:t>(</a:t>
                      </a:r>
                      <a:r>
                        <a:rPr lang="ko-KR" altLang="en-US" sz="1400"/>
                        <a:t>레코드 보호 키</a:t>
                      </a:r>
                      <a:r>
                        <a:rPr lang="en-US" altLang="ko-KR" sz="1400"/>
                        <a:t>)</a:t>
                      </a:r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/>
                        <a:t>비고</a:t>
                      </a:r>
                    </a:p>
                  </a:txBody>
                  <a:tcPr marL="47817" marR="47817" marT="23908" marB="23908" anchor="ctr"/>
                </a:tc>
                <a:extLst>
                  <a:ext uri="{0D108BD9-81ED-4DB2-BD59-A6C34878D82A}">
                    <a16:rowId xmlns:a16="http://schemas.microsoft.com/office/drawing/2014/main" val="42946405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/>
                        <a:t>1</a:t>
                      </a:r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dirty="0"/>
                        <a:t>C → S</a:t>
                      </a:r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b="1" dirty="0" err="1"/>
                        <a:t>ClientHello</a:t>
                      </a:r>
                      <a:endParaRPr lang="en" sz="1400" dirty="0"/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 err="1"/>
                        <a:t>평문</a:t>
                      </a:r>
                      <a:endParaRPr lang="ko-KR" altLang="en-US" sz="1400" dirty="0"/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/>
                        <a:t>—</a:t>
                      </a:r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>
                          <a:latin typeface="Courier New" panose="02070309020205020404" pitchFamily="49" charset="0"/>
                        </a:rPr>
                        <a:t>key_share</a:t>
                      </a:r>
                      <a:r>
                        <a:rPr lang="en" sz="1400"/>
                        <a:t> </a:t>
                      </a:r>
                      <a:r>
                        <a:rPr lang="ko-KR" altLang="en-US" sz="1400"/>
                        <a:t>포함</a:t>
                      </a:r>
                    </a:p>
                  </a:txBody>
                  <a:tcPr marL="47817" marR="47817" marT="23908" marB="23908" anchor="ctr"/>
                </a:tc>
                <a:extLst>
                  <a:ext uri="{0D108BD9-81ED-4DB2-BD59-A6C34878D82A}">
                    <a16:rowId xmlns:a16="http://schemas.microsoft.com/office/drawing/2014/main" val="13567436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/>
                        <a:t>2</a:t>
                      </a:r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/>
                        <a:t>S → C</a:t>
                      </a:r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b="1" dirty="0" err="1"/>
                        <a:t>ServerHello</a:t>
                      </a:r>
                      <a:endParaRPr lang="en" sz="1400" dirty="0"/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 err="1"/>
                        <a:t>평문</a:t>
                      </a:r>
                      <a:endParaRPr lang="ko-KR" altLang="en-US" sz="1400" dirty="0"/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/>
                        <a:t>—</a:t>
                      </a:r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/>
                        <a:t>여기까지 평문</a:t>
                      </a:r>
                    </a:p>
                  </a:txBody>
                  <a:tcPr marL="47817" marR="47817" marT="23908" marB="23908" anchor="ctr"/>
                </a:tc>
                <a:extLst>
                  <a:ext uri="{0D108BD9-81ED-4DB2-BD59-A6C34878D82A}">
                    <a16:rowId xmlns:a16="http://schemas.microsoft.com/office/drawing/2014/main" val="15264076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/>
                        <a:t>3</a:t>
                      </a:r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/>
                        <a:t>S → C</a:t>
                      </a:r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b="1" dirty="0" err="1"/>
                        <a:t>EncryptedExtensions</a:t>
                      </a:r>
                      <a:endParaRPr lang="en" sz="1400" dirty="0"/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/>
                        <a:t> 암호화</a:t>
                      </a:r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b="1" dirty="0" err="1"/>
                        <a:t>server_handshake_traffic_key</a:t>
                      </a:r>
                      <a:endParaRPr lang="en" sz="1400" dirty="0"/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/>
                        <a:t>ServerHello </a:t>
                      </a:r>
                      <a:r>
                        <a:rPr lang="ko-KR" altLang="en-US" sz="1400"/>
                        <a:t>이후부터 핸드셰이크 키 사용 시작</a:t>
                      </a:r>
                    </a:p>
                  </a:txBody>
                  <a:tcPr marL="47817" marR="47817" marT="23908" marB="23908" anchor="ctr"/>
                </a:tc>
                <a:extLst>
                  <a:ext uri="{0D108BD9-81ED-4DB2-BD59-A6C34878D82A}">
                    <a16:rowId xmlns:a16="http://schemas.microsoft.com/office/drawing/2014/main" val="20283903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/>
                        <a:t>4</a:t>
                      </a:r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/>
                        <a:t>S → C</a:t>
                      </a:r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b="1"/>
                        <a:t>CertificateRequest</a:t>
                      </a:r>
                      <a:r>
                        <a:rPr lang="en" sz="1400"/>
                        <a:t> </a:t>
                      </a:r>
                      <a:r>
                        <a:rPr lang="en" sz="1400" i="1"/>
                        <a:t>(</a:t>
                      </a:r>
                      <a:r>
                        <a:rPr lang="ko-KR" altLang="en-US" sz="1400" i="1"/>
                        <a:t>선택</a:t>
                      </a:r>
                      <a:r>
                        <a:rPr lang="en-US" altLang="ko-KR" sz="1400" i="1"/>
                        <a:t>)</a:t>
                      </a:r>
                      <a:endParaRPr lang="ko-KR" altLang="en-US" sz="1400"/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/>
                        <a:t> 암호화</a:t>
                      </a:r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b="1" dirty="0" err="1"/>
                        <a:t>server_handshake_traffic_key</a:t>
                      </a:r>
                      <a:endParaRPr lang="en" sz="1400" dirty="0"/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/>
                        <a:t>클라이언트 인증 쓸 때만</a:t>
                      </a:r>
                    </a:p>
                  </a:txBody>
                  <a:tcPr marL="47817" marR="47817" marT="23908" marB="23908" anchor="ctr"/>
                </a:tc>
                <a:extLst>
                  <a:ext uri="{0D108BD9-81ED-4DB2-BD59-A6C34878D82A}">
                    <a16:rowId xmlns:a16="http://schemas.microsoft.com/office/drawing/2014/main" val="924527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/>
                        <a:t>5</a:t>
                      </a:r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/>
                        <a:t>S → C</a:t>
                      </a:r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b="1" dirty="0"/>
                        <a:t>Certificate</a:t>
                      </a:r>
                      <a:r>
                        <a:rPr lang="en" sz="1400" dirty="0"/>
                        <a:t> (</a:t>
                      </a:r>
                      <a:r>
                        <a:rPr lang="ko-KR" altLang="en-US" sz="1400" dirty="0"/>
                        <a:t>서버</a:t>
                      </a:r>
                      <a:r>
                        <a:rPr lang="en-US" altLang="ko-KR" sz="1400" dirty="0"/>
                        <a:t>)</a:t>
                      </a:r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/>
                        <a:t>암호화</a:t>
                      </a:r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b="1" dirty="0" err="1"/>
                        <a:t>server_handshake_traffic_key</a:t>
                      </a:r>
                      <a:endParaRPr lang="en" sz="1400" dirty="0"/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/>
                        <a:t>서버 인증서 체인</a:t>
                      </a:r>
                    </a:p>
                  </a:txBody>
                  <a:tcPr marL="47817" marR="47817" marT="23908" marB="23908" anchor="ctr"/>
                </a:tc>
                <a:extLst>
                  <a:ext uri="{0D108BD9-81ED-4DB2-BD59-A6C34878D82A}">
                    <a16:rowId xmlns:a16="http://schemas.microsoft.com/office/drawing/2014/main" val="1766081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/>
                        <a:t>6</a:t>
                      </a:r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/>
                        <a:t>S → C</a:t>
                      </a:r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b="1"/>
                        <a:t>CertificateVerify</a:t>
                      </a:r>
                      <a:r>
                        <a:rPr lang="en" sz="1400"/>
                        <a:t> (</a:t>
                      </a:r>
                      <a:r>
                        <a:rPr lang="ko-KR" altLang="en-US" sz="1400"/>
                        <a:t>서버</a:t>
                      </a:r>
                      <a:r>
                        <a:rPr lang="en-US" altLang="ko-KR" sz="1400"/>
                        <a:t>)</a:t>
                      </a:r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/>
                        <a:t>암호화</a:t>
                      </a:r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b="1" dirty="0" err="1"/>
                        <a:t>server_handshake_traffic_key</a:t>
                      </a:r>
                      <a:endParaRPr lang="en" sz="1400" dirty="0"/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/>
                        <a:t>transcript </a:t>
                      </a:r>
                      <a:r>
                        <a:rPr lang="ko-KR" altLang="en-US" sz="1400"/>
                        <a:t>서명 포함</a:t>
                      </a:r>
                    </a:p>
                  </a:txBody>
                  <a:tcPr marL="47817" marR="47817" marT="23908" marB="23908" anchor="ctr"/>
                </a:tc>
                <a:extLst>
                  <a:ext uri="{0D108BD9-81ED-4DB2-BD59-A6C34878D82A}">
                    <a16:rowId xmlns:a16="http://schemas.microsoft.com/office/drawing/2014/main" val="1285508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/>
                        <a:t>7</a:t>
                      </a:r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/>
                        <a:t>S → C</a:t>
                      </a:r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b="1"/>
                        <a:t>Finished</a:t>
                      </a:r>
                      <a:r>
                        <a:rPr lang="en" sz="1400"/>
                        <a:t> (</a:t>
                      </a:r>
                      <a:r>
                        <a:rPr lang="ko-KR" altLang="en-US" sz="1400"/>
                        <a:t>서버</a:t>
                      </a:r>
                      <a:r>
                        <a:rPr lang="en-US" altLang="ko-KR" sz="1400"/>
                        <a:t>)</a:t>
                      </a:r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/>
                        <a:t>암호화</a:t>
                      </a:r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b="1" dirty="0" err="1"/>
                        <a:t>server_handshake_traffic_key</a:t>
                      </a:r>
                      <a:endParaRPr lang="en" sz="1400" dirty="0"/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/>
                        <a:t>서버 측 </a:t>
                      </a:r>
                      <a:r>
                        <a:rPr lang="ko-KR" altLang="en-US" sz="1400" dirty="0" err="1"/>
                        <a:t>핸드셰이크</a:t>
                      </a:r>
                      <a:r>
                        <a:rPr lang="ko-KR" altLang="en-US" sz="1400" dirty="0"/>
                        <a:t> 종료 신호</a:t>
                      </a:r>
                    </a:p>
                  </a:txBody>
                  <a:tcPr marL="47817" marR="47817" marT="23908" marB="23908" anchor="ctr"/>
                </a:tc>
                <a:extLst>
                  <a:ext uri="{0D108BD9-81ED-4DB2-BD59-A6C34878D82A}">
                    <a16:rowId xmlns:a16="http://schemas.microsoft.com/office/drawing/2014/main" val="3011646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/>
                        <a:t>8</a:t>
                      </a:r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/>
                        <a:t>C → S</a:t>
                      </a:r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b="1" dirty="0"/>
                        <a:t>Finished</a:t>
                      </a:r>
                      <a:r>
                        <a:rPr lang="en" sz="1400" dirty="0"/>
                        <a:t> (</a:t>
                      </a:r>
                      <a:r>
                        <a:rPr lang="ko-KR" altLang="en-US" sz="1400" dirty="0"/>
                        <a:t>클라이언트</a:t>
                      </a:r>
                      <a:r>
                        <a:rPr lang="en-US" altLang="ko-KR" sz="1400" dirty="0"/>
                        <a:t>)</a:t>
                      </a:r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/>
                        <a:t>암호화</a:t>
                      </a:r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b="1" dirty="0" err="1"/>
                        <a:t>client_handshake_traffic_key</a:t>
                      </a:r>
                      <a:endParaRPr lang="en" sz="1400" dirty="0"/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/>
                        <a:t>이 직후 </a:t>
                      </a:r>
                      <a:r>
                        <a:rPr lang="ko-KR" altLang="en-US" sz="1400" dirty="0" err="1"/>
                        <a:t>앱키로</a:t>
                      </a:r>
                      <a:r>
                        <a:rPr lang="ko-KR" altLang="en-US" sz="1400" dirty="0"/>
                        <a:t> 전환 가능</a:t>
                      </a:r>
                    </a:p>
                  </a:txBody>
                  <a:tcPr marL="47817" marR="47817" marT="23908" marB="23908" anchor="ctr"/>
                </a:tc>
                <a:extLst>
                  <a:ext uri="{0D108BD9-81ED-4DB2-BD59-A6C34878D82A}">
                    <a16:rowId xmlns:a16="http://schemas.microsoft.com/office/drawing/2014/main" val="20592186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/>
                        <a:t>9</a:t>
                      </a:r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/>
                        <a:t>양방향</a:t>
                      </a:r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b="1" dirty="0"/>
                        <a:t>Application Data</a:t>
                      </a:r>
                      <a:endParaRPr lang="en" sz="1400" dirty="0"/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/>
                        <a:t>암호화</a:t>
                      </a:r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b="1" dirty="0"/>
                        <a:t>{</a:t>
                      </a:r>
                      <a:r>
                        <a:rPr lang="en" sz="1400" b="1" dirty="0" err="1"/>
                        <a:t>client,server</a:t>
                      </a:r>
                      <a:r>
                        <a:rPr lang="en" sz="1400" b="1" dirty="0"/>
                        <a:t>}_</a:t>
                      </a:r>
                      <a:r>
                        <a:rPr lang="en" sz="1400" b="1" dirty="0" err="1"/>
                        <a:t>application_traffic_key</a:t>
                      </a:r>
                      <a:endParaRPr lang="en" sz="1400" dirty="0"/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/>
                        <a:t>이후 전부 </a:t>
                      </a:r>
                      <a:r>
                        <a:rPr lang="ko-KR" altLang="en-US" sz="1400" dirty="0" err="1"/>
                        <a:t>앱키로</a:t>
                      </a:r>
                      <a:r>
                        <a:rPr lang="ko-KR" altLang="en-US" sz="1400" dirty="0"/>
                        <a:t> 보호</a:t>
                      </a:r>
                    </a:p>
                  </a:txBody>
                  <a:tcPr marL="47817" marR="47817" marT="23908" marB="23908" anchor="ctr"/>
                </a:tc>
                <a:extLst>
                  <a:ext uri="{0D108BD9-81ED-4DB2-BD59-A6C34878D82A}">
                    <a16:rowId xmlns:a16="http://schemas.microsoft.com/office/drawing/2014/main" val="394424148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39B4945-AADB-AFF9-7648-1DF2376C64C7}"/>
              </a:ext>
            </a:extLst>
          </p:cNvPr>
          <p:cNvSpPr txBox="1"/>
          <p:nvPr/>
        </p:nvSpPr>
        <p:spPr>
          <a:xfrm>
            <a:off x="4031429" y="6511753"/>
            <a:ext cx="79203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sz="1200" dirty="0" err="1"/>
              <a:t>application_traffic_key</a:t>
            </a:r>
            <a:r>
              <a:rPr lang="en-US" altLang="ko-KR" sz="1200" dirty="0"/>
              <a:t>(</a:t>
            </a:r>
            <a:r>
              <a:rPr lang="ko-KR" altLang="en-US" sz="1200" dirty="0" err="1"/>
              <a:t>앱키</a:t>
            </a:r>
            <a:r>
              <a:rPr lang="en-US" altLang="ko-KR" sz="1200" dirty="0"/>
              <a:t>)</a:t>
            </a:r>
            <a:r>
              <a:rPr lang="ko-KR" altLang="en-US" sz="1200" dirty="0"/>
              <a:t> </a:t>
            </a:r>
            <a:r>
              <a:rPr lang="en-US" altLang="ko-KR" sz="1200" dirty="0"/>
              <a:t>:</a:t>
            </a:r>
            <a:r>
              <a:rPr lang="ko-KR" altLang="en-US" sz="1200" dirty="0"/>
              <a:t> </a:t>
            </a:r>
            <a:r>
              <a:rPr lang="en-US" altLang="ko-KR" sz="1200" dirty="0"/>
              <a:t>TLS 1.3</a:t>
            </a:r>
            <a:r>
              <a:rPr lang="ko-KR" altLang="en-US" sz="1200" dirty="0"/>
              <a:t> 에서 통신</a:t>
            </a:r>
            <a:r>
              <a:rPr lang="en-US" altLang="ko-KR" sz="1200" dirty="0"/>
              <a:t>(</a:t>
            </a:r>
            <a:r>
              <a:rPr lang="ko-KR" altLang="en-US" sz="1200" dirty="0"/>
              <a:t>웹 요청</a:t>
            </a:r>
            <a:r>
              <a:rPr lang="en-US" altLang="ko-KR" sz="1200" dirty="0"/>
              <a:t>/</a:t>
            </a:r>
            <a:r>
              <a:rPr lang="ko-KR" altLang="en-US" sz="1200" dirty="0"/>
              <a:t>응답</a:t>
            </a:r>
            <a:r>
              <a:rPr lang="en-US" altLang="ko-KR" sz="1200" dirty="0"/>
              <a:t>,</a:t>
            </a:r>
            <a:r>
              <a:rPr lang="ko-KR" altLang="en-US" sz="1200" dirty="0"/>
              <a:t> 사용자 데이터 전송 등</a:t>
            </a:r>
            <a:r>
              <a:rPr lang="en-US" altLang="ko-KR" sz="1200" dirty="0"/>
              <a:t>)</a:t>
            </a:r>
            <a:r>
              <a:rPr lang="ko-KR" altLang="en-US" sz="1200" dirty="0"/>
              <a:t> 을 암호화할 때 사용하는 키</a:t>
            </a:r>
          </a:p>
        </p:txBody>
      </p:sp>
    </p:spTree>
    <p:extLst>
      <p:ext uri="{BB962C8B-B14F-4D97-AF65-F5344CB8AC3E}">
        <p14:creationId xmlns:p14="http://schemas.microsoft.com/office/powerpoint/2010/main" val="21318706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868ED-5F9B-7BAB-97E4-9E91564DE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270563-C26B-E034-09BF-19ABF6ABA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356552A-9F47-1EB7-8B1D-B845210B94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A836888-D965-7D58-C5D6-EB0B763635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36695"/>
            <a:ext cx="7772400" cy="6184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8060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4499981"/>
      </p:ext>
    </p:extLst>
  </p:cSld>
  <p:clrMapOvr>
    <a:masterClrMapping/>
  </p:clrMapOvr>
</p:sld>
</file>

<file path=ppt/theme/theme1.xml><?xml version="1.0" encoding="utf-8"?>
<a:theme xmlns:a="http://schemas.openxmlformats.org/drawingml/2006/main" name="CryptoCraft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2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[CLEAN]_CryptoCraft Lab PPT 양식" id="{E712E38C-1C04-504C-B5D5-8F368DAED54C}" vid="{1DC7DBC3-F67B-F842-ADBC-4328E0BB0FA1}"/>
    </a:ext>
  </a:extLst>
</a:theme>
</file>

<file path=ppt/theme/theme2.xml><?xml version="1.0" encoding="utf-8"?>
<a:theme xmlns:a="http://schemas.openxmlformats.org/drawingml/2006/main" name="제목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2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[CLEAN]_CryptoCraft Lab PPT 양식" id="{E712E38C-1C04-504C-B5D5-8F368DAED54C}" vid="{E15818DC-538F-214A-8100-A2D2BA8DAB29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CryptoCraft 테마</Template>
  <TotalTime>3455</TotalTime>
  <Words>2608</Words>
  <Application>Microsoft Macintosh PowerPoint</Application>
  <PresentationFormat>와이드스크린</PresentationFormat>
  <Paragraphs>399</Paragraphs>
  <Slides>24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24</vt:i4>
      </vt:variant>
    </vt:vector>
  </HeadingPairs>
  <TitlesOfParts>
    <vt:vector size="30" baseType="lpstr">
      <vt:lpstr>맑은 고딕</vt:lpstr>
      <vt:lpstr>Arial</vt:lpstr>
      <vt:lpstr>Cambria Math</vt:lpstr>
      <vt:lpstr>Courier New</vt:lpstr>
      <vt:lpstr>CryptoCraft 테마</vt:lpstr>
      <vt:lpstr>제목 테마</vt:lpstr>
      <vt:lpstr>TLS 핸드셰이크 상세 분석</vt:lpstr>
      <vt:lpstr>TLS</vt:lpstr>
      <vt:lpstr>TLS Handshake</vt:lpstr>
      <vt:lpstr>TLS 1.3 Handshake 프로토콜 Flow</vt:lpstr>
      <vt:lpstr>ClientHello</vt:lpstr>
      <vt:lpstr>DHE(Ephemeral Diffie-Hellman)</vt:lpstr>
      <vt:lpstr>ServerHello</vt:lpstr>
      <vt:lpstr>ServerHello</vt:lpstr>
      <vt:lpstr>ServerHello 이후 HKDF 기반 키 스케줄링 과정</vt:lpstr>
      <vt:lpstr>ServerHello 이후 HKDF 기반 키 스케줄링 과정</vt:lpstr>
      <vt:lpstr>ServerHello 이후 HKDF 기반 키 스케줄링 과정</vt:lpstr>
      <vt:lpstr>ServerHello 이후 HKDF 기반 키 스케줄링 과정</vt:lpstr>
      <vt:lpstr>ServerHello 이후 HKDF 기반 키 스케줄링 과정</vt:lpstr>
      <vt:lpstr>ServerHello 이후 HKDF 기반 키 스케줄링 과정</vt:lpstr>
      <vt:lpstr>ServerHello 이후 HKDF 기반 키 스케줄링 과정</vt:lpstr>
      <vt:lpstr>ServerHello 이후 HKDF 기반 키 스케줄링 과정</vt:lpstr>
      <vt:lpstr>Application Traffic Secret 파생 및 의미</vt:lpstr>
      <vt:lpstr>ServerHello 이후 HKDF 기반 키 스케줄링 과정</vt:lpstr>
      <vt:lpstr>TLS 1.3 Handshake</vt:lpstr>
      <vt:lpstr>TLS 1.3 Handshake</vt:lpstr>
      <vt:lpstr>TLS 1.3 Handshake</vt:lpstr>
      <vt:lpstr>TLS 1.3 Handshake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심민주</dc:creator>
  <cp:lastModifiedBy>심민주</cp:lastModifiedBy>
  <cp:revision>2</cp:revision>
  <dcterms:created xsi:type="dcterms:W3CDTF">2025-10-21T04:41:02Z</dcterms:created>
  <dcterms:modified xsi:type="dcterms:W3CDTF">2025-10-31T08:35:47Z</dcterms:modified>
</cp:coreProperties>
</file>