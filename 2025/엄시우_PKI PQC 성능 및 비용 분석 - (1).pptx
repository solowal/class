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1"/>
  </p:notesMasterIdLst>
  <p:handoutMasterIdLst>
    <p:handoutMasterId r:id="rId12"/>
  </p:handoutMasterIdLst>
  <p:sldIdLst>
    <p:sldId id="276" r:id="rId2"/>
    <p:sldId id="279" r:id="rId3"/>
    <p:sldId id="285" r:id="rId4"/>
    <p:sldId id="287" r:id="rId5"/>
    <p:sldId id="280" r:id="rId6"/>
    <p:sldId id="288" r:id="rId7"/>
    <p:sldId id="289" r:id="rId8"/>
    <p:sldId id="290" r:id="rId9"/>
    <p:sldId id="27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94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 Variable" panose="02000003000000020004" pitchFamily="2" charset="-128"/>
              <a:ea typeface="Pretendard JP Variable" panose="02000003000000020004" pitchFamily="2" charset="-128"/>
              <a:cs typeface="Pretendard JP Variable" panose="02000003000000020004" pitchFamily="2" charset="-128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411163" y="1152525"/>
            <a:ext cx="11369675" cy="50577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  <a:lvl2pPr>
              <a:lnSpc>
                <a:spcPct val="100000"/>
              </a:lnSpc>
              <a:defRPr sz="20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2pPr>
            <a:lvl3pPr>
              <a:lnSpc>
                <a:spcPct val="100000"/>
              </a:lnSpc>
              <a:defRPr sz="18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3pPr>
            <a:lvl4pPr>
              <a:lnSpc>
                <a:spcPct val="100000"/>
              </a:lnSpc>
              <a:defRPr sz="16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4pPr>
            <a:lvl5pPr>
              <a:lnSpc>
                <a:spcPct val="100000"/>
              </a:lnSpc>
              <a:defRPr sz="160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 Variable" panose="02000003000000020004" pitchFamily="2" charset="-128"/>
              <a:ea typeface="Pretendard JP Variable" panose="02000003000000020004" pitchFamily="2" charset="-128"/>
              <a:cs typeface="Pretendard JP Variable" panose="02000003000000020004" pitchFamily="2" charset="-128"/>
            </a:endParaRPr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 Variable" panose="02000003000000020004" pitchFamily="2" charset="-128"/>
              <a:ea typeface="Pretendard JP Variable" panose="02000003000000020004" pitchFamily="2" charset="-128"/>
              <a:cs typeface="Pretendard JP Variable" panose="02000003000000020004" pitchFamily="2" charset="-128"/>
            </a:endParaRPr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 Variable" panose="02000003000000020004" pitchFamily="2" charset="-128"/>
              <a:ea typeface="Pretendard JP Variable" panose="02000003000000020004" pitchFamily="2" charset="-128"/>
              <a:cs typeface="Pretendard JP Variable" panose="02000003000000020004" pitchFamily="2" charset="-128"/>
            </a:endParaRPr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JP Variable" panose="02000003000000020004" pitchFamily="2" charset="-128"/>
              <a:ea typeface="Pretendard JP Variable" panose="02000003000000020004" pitchFamily="2" charset="-128"/>
              <a:cs typeface="Pretendard JP Variable" panose="020000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8000" dirty="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rPr>
              <a:t>감 사 합 </a:t>
            </a:r>
            <a:r>
              <a:rPr lang="ko-KR" altLang="en-US" sz="8000" dirty="0" err="1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rPr>
              <a:t>니</a:t>
            </a:r>
            <a:r>
              <a:rPr lang="ko-KR" altLang="en-US" sz="8000" dirty="0"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rPr>
              <a:t> 다</a:t>
            </a: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 JP Variable" panose="02000003000000020004" pitchFamily="2" charset="-128"/>
                <a:ea typeface="Pretendard JP Variable" panose="02000003000000020004" pitchFamily="2" charset="-128"/>
                <a:cs typeface="Pretendard JP Variable" panose="02000003000000020004" pitchFamily="2" charset="-128"/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66" r:id="rId3"/>
    <p:sldLayoutId id="2147483669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JP Variable" panose="02000003000000020004" pitchFamily="2" charset="-128"/>
          <a:ea typeface="Pretendard JP Variable" panose="02000003000000020004" pitchFamily="2" charset="-128"/>
          <a:cs typeface="Pretendard JP Variable" panose="02000003000000020004" pitchFamily="2" charset="-128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F235A-CA45-7790-6CD2-5D0E6DAC3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PKI-PQC </a:t>
            </a:r>
            <a:r>
              <a:rPr lang="ko-KR" altLang="en-US" dirty="0"/>
              <a:t>성능 및 비용 분석</a:t>
            </a:r>
            <a:br>
              <a:rPr lang="en-US" altLang="ko-KR" dirty="0"/>
            </a:br>
            <a:r>
              <a:rPr lang="en-US" altLang="ko-KR" sz="3600" dirty="0"/>
              <a:t>(1) Agent</a:t>
            </a:r>
            <a:r>
              <a:rPr lang="ko-KR" altLang="en-US" sz="3600" dirty="0"/>
              <a:t> 활용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B3FE65-083D-F4F6-8772-137E7A6C5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https://youtu.be/LGsfqOMhOK0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69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35E2-8222-F710-7C02-3B17B608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52184-3CFA-CA50-3C9D-1F61D282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FF0FC8-82AE-E1AD-0FD2-54FF4A55B6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/>
          <a:lstStyle/>
          <a:p>
            <a:r>
              <a:rPr lang="en-US" altLang="ko-KR" dirty="0"/>
              <a:t>Cursor</a:t>
            </a:r>
            <a:r>
              <a:rPr lang="ko-KR" altLang="en-US" dirty="0"/>
              <a:t> </a:t>
            </a:r>
            <a:r>
              <a:rPr lang="en-US" altLang="ko-KR" dirty="0"/>
              <a:t>- Agent Mode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en-US" altLang="ko-KR" dirty="0"/>
              <a:t>Claude Opus 4.5 </a:t>
            </a:r>
            <a:r>
              <a:rPr lang="ko-KR" altLang="en-US" dirty="0"/>
              <a:t>모델 활용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Claude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를 설치해서 사용할 수 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Cursor</a:t>
            </a:r>
            <a:r>
              <a:rPr lang="ko-KR" altLang="en-US" dirty="0"/>
              <a:t>에서 더 쉽게 접근하여 사용할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Google Antigravity</a:t>
            </a:r>
            <a:r>
              <a:rPr lang="ko-KR" altLang="en-US" dirty="0"/>
              <a:t>로도 구현 가능</a:t>
            </a:r>
            <a:endParaRPr lang="en-US" altLang="ko-KR" dirty="0"/>
          </a:p>
          <a:p>
            <a:pPr lvl="1"/>
            <a:r>
              <a:rPr lang="ko-KR" altLang="en-US" dirty="0"/>
              <a:t>최근에 발표된 </a:t>
            </a:r>
            <a:r>
              <a:rPr lang="en-US" altLang="ko-KR" dirty="0"/>
              <a:t>Google</a:t>
            </a:r>
            <a:r>
              <a:rPr lang="ko-KR" altLang="en-US" dirty="0"/>
              <a:t>에서 개발한 </a:t>
            </a:r>
            <a:r>
              <a:rPr lang="en-US" altLang="ko-KR" dirty="0" err="1"/>
              <a:t>Vscode</a:t>
            </a:r>
            <a:r>
              <a:rPr lang="en-US" altLang="ko-KR" dirty="0"/>
              <a:t> </a:t>
            </a:r>
            <a:r>
              <a:rPr lang="ko-KR" altLang="en-US" dirty="0"/>
              <a:t>기반의 </a:t>
            </a:r>
            <a:r>
              <a:rPr lang="en-US" altLang="ko-KR" dirty="0"/>
              <a:t>IDE</a:t>
            </a:r>
          </a:p>
          <a:p>
            <a:pPr lvl="1"/>
            <a:r>
              <a:rPr lang="en-US" altLang="ko-KR" dirty="0"/>
              <a:t>Cursor</a:t>
            </a:r>
            <a:r>
              <a:rPr lang="ko-KR" altLang="en-US" dirty="0"/>
              <a:t>와 동일하게 동작</a:t>
            </a:r>
            <a:endParaRPr lang="en-US" altLang="ko-KR" dirty="0"/>
          </a:p>
          <a:p>
            <a:pPr lvl="2"/>
            <a:r>
              <a:rPr lang="en-US" altLang="ko-KR" dirty="0"/>
              <a:t>Gemini 3 Pro</a:t>
            </a:r>
            <a:r>
              <a:rPr lang="ko-KR" altLang="en-US" dirty="0"/>
              <a:t>로 구현</a:t>
            </a:r>
          </a:p>
        </p:txBody>
      </p:sp>
      <p:pic>
        <p:nvPicPr>
          <p:cNvPr id="1026" name="Picture 2" descr="Download · Cursor">
            <a:extLst>
              <a:ext uri="{FF2B5EF4-FFF2-40B4-BE49-F238E27FC236}">
                <a16:creationId xmlns:a16="http://schemas.microsoft.com/office/drawing/2014/main" id="{A5D83468-F41E-74FD-140A-3725DFD58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221" y="2067143"/>
            <a:ext cx="11525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B1EB35-7807-FACE-62E3-BBD4E58F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988" y="1076325"/>
            <a:ext cx="2219635" cy="31341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9130E4-DAC4-63C4-216A-A0F1F9FEE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301564"/>
            <a:ext cx="1252745" cy="11525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01B9B2-2C0B-D480-F207-5B0727288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066" y="4916454"/>
            <a:ext cx="3258005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5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F91F-CA8B-ECE9-1865-734E567C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7CDD6-F7C7-2559-B633-20F1B711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Google Antigravity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135779-2FDA-649B-E431-ED386B96EA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구체화 및 </a:t>
            </a:r>
            <a:r>
              <a:rPr lang="en-US" altLang="ko-KR" dirty="0"/>
              <a:t>Agent </a:t>
            </a:r>
            <a:r>
              <a:rPr lang="ko-KR" altLang="en-US" dirty="0"/>
              <a:t>구현 규칙 문서화</a:t>
            </a:r>
            <a:endParaRPr lang="en-US" altLang="ko-KR" dirty="0"/>
          </a:p>
          <a:p>
            <a:pPr lvl="1"/>
            <a:r>
              <a:rPr lang="en-US" altLang="ko-KR" dirty="0"/>
              <a:t>Document </a:t>
            </a:r>
            <a:r>
              <a:rPr lang="ko-KR" altLang="en-US" dirty="0"/>
              <a:t>디렉토리 내에 </a:t>
            </a:r>
            <a:r>
              <a:rPr lang="en-US" altLang="ko-KR" dirty="0"/>
              <a:t>Plan, history, manual</a:t>
            </a:r>
            <a:r>
              <a:rPr lang="ko-KR" altLang="en-US" dirty="0"/>
              <a:t>과 같은 마크다운</a:t>
            </a:r>
            <a:r>
              <a:rPr lang="en-US" altLang="ko-KR" dirty="0"/>
              <a:t>(.md) </a:t>
            </a:r>
            <a:r>
              <a:rPr lang="ko-KR" altLang="en-US" dirty="0"/>
              <a:t>파일을 생성하고 </a:t>
            </a:r>
            <a:r>
              <a:rPr lang="en-US" altLang="ko-KR" dirty="0"/>
              <a:t>Agent</a:t>
            </a:r>
            <a:r>
              <a:rPr lang="ko-KR" altLang="en-US" dirty="0"/>
              <a:t>가 동작할 때 지속적으로 </a:t>
            </a:r>
            <a:r>
              <a:rPr lang="en-US" altLang="ko-KR" dirty="0"/>
              <a:t>update </a:t>
            </a:r>
            <a:r>
              <a:rPr lang="ko-KR" altLang="en-US" dirty="0"/>
              <a:t>하거나 참고할 수 있도록 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프로젝트의 </a:t>
            </a:r>
            <a:r>
              <a:rPr lang="en-US" altLang="ko-KR" dirty="0"/>
              <a:t>plan</a:t>
            </a:r>
            <a:r>
              <a:rPr lang="ko-KR" altLang="en-US" dirty="0"/>
              <a:t>을 내가 원하는 대로 제대로 작성되도록 하는 것이 중요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6278BA-4ED6-D245-E7A9-A134DCC76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737" y="4730730"/>
            <a:ext cx="4228892" cy="19494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3908CA-91FD-BA47-1249-E7A4928BC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43" y="3859091"/>
            <a:ext cx="2569194" cy="19494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A24BFA-7746-E72A-FF77-6A99FA8D7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5" y="5025080"/>
            <a:ext cx="2875960" cy="162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4592FFF-D545-5AF5-FB8B-CDC6E00BE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313" y="2441687"/>
            <a:ext cx="3573316" cy="18572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5EA4FA9-F804-CDC7-9F31-0893B4343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562" y="3175580"/>
            <a:ext cx="2867193" cy="166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8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C0D6D-D96D-0458-603D-A12632BA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7ED40-0D4A-30C0-0B18-2A87263F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Google Antigravity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3009E-4A25-D3BF-6797-06D405AB9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Google Antigravity – Gemini 3 Pro (High)</a:t>
            </a:r>
          </a:p>
          <a:p>
            <a:pPr lvl="1"/>
            <a:r>
              <a:rPr lang="ko-KR" altLang="en-US" dirty="0"/>
              <a:t>프로젝트 목표 설정 후 최종 프로젝트를 위한 </a:t>
            </a:r>
            <a:r>
              <a:rPr lang="en-US" altLang="ko-KR" dirty="0"/>
              <a:t>Phase</a:t>
            </a:r>
            <a:r>
              <a:rPr lang="ko-KR" altLang="en-US" dirty="0"/>
              <a:t>를 구분</a:t>
            </a:r>
            <a:endParaRPr lang="en-US" altLang="ko-KR" dirty="0"/>
          </a:p>
          <a:p>
            <a:pPr lvl="2"/>
            <a:r>
              <a:rPr lang="ko-KR" altLang="en-US" dirty="0"/>
              <a:t>최종 프로젝트로 바로 완성될 경우 코드를 이해하는 데 어려울 것 같아서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Phase </a:t>
            </a:r>
            <a:r>
              <a:rPr lang="ko-KR" altLang="en-US" dirty="0"/>
              <a:t>별로 </a:t>
            </a:r>
            <a:r>
              <a:rPr lang="en-US" altLang="ko-KR" dirty="0"/>
              <a:t>Snapshot?</a:t>
            </a:r>
            <a:r>
              <a:rPr lang="ko-KR" altLang="en-US" dirty="0"/>
              <a:t>을 통해 최종 코드와 분리하고 테스트를 할 수 있도록 구분함</a:t>
            </a:r>
            <a:endParaRPr lang="en-US" altLang="ko-KR" dirty="0"/>
          </a:p>
          <a:p>
            <a:pPr lvl="3"/>
            <a:r>
              <a:rPr lang="ko-KR" altLang="en-US" dirty="0"/>
              <a:t>물론 </a:t>
            </a:r>
            <a:r>
              <a:rPr lang="en-US" altLang="ko-KR" dirty="0"/>
              <a:t>Agent</a:t>
            </a:r>
            <a:r>
              <a:rPr lang="ko-KR" altLang="en-US" dirty="0"/>
              <a:t>가 다 </a:t>
            </a:r>
            <a:r>
              <a:rPr lang="ko-KR" altLang="en-US" dirty="0" err="1"/>
              <a:t>해줌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실제 동작하게 되면 </a:t>
            </a:r>
            <a:r>
              <a:rPr lang="en-US" altLang="ko-KR" dirty="0"/>
              <a:t>Agent </a:t>
            </a:r>
            <a:r>
              <a:rPr lang="ko-KR" altLang="en-US" dirty="0"/>
              <a:t>자체에서도 </a:t>
            </a:r>
            <a:r>
              <a:rPr lang="en-US" altLang="ko-KR" dirty="0"/>
              <a:t>Task</a:t>
            </a:r>
            <a:r>
              <a:rPr lang="ko-KR" altLang="en-US" dirty="0"/>
              <a:t>와 </a:t>
            </a:r>
            <a:r>
              <a:rPr lang="en-US" altLang="ko-KR" dirty="0"/>
              <a:t>implementation Plan</a:t>
            </a:r>
            <a:r>
              <a:rPr lang="ko-KR" altLang="en-US" dirty="0"/>
              <a:t>을 계획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1B76DFB-D2F0-2AD7-E90C-87E6B1338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9184" y="1183674"/>
            <a:ext cx="1819529" cy="18862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7DCFEA-0570-74EE-7CC2-6014F657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2" y="3935841"/>
            <a:ext cx="3658014" cy="23759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A67AD2-F9BE-7A12-A90C-530A2FCAB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431" y="4037328"/>
            <a:ext cx="3758819" cy="2172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72C823-CB92-6F93-5E37-B80CE8CA2592}"/>
              </a:ext>
            </a:extLst>
          </p:cNvPr>
          <p:cNvSpPr txBox="1"/>
          <p:nvPr/>
        </p:nvSpPr>
        <p:spPr>
          <a:xfrm>
            <a:off x="1838325" y="628092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Implementation Plan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9747D-2B00-B4AF-F0C2-499804DDB817}"/>
              </a:ext>
            </a:extLst>
          </p:cNvPr>
          <p:cNvSpPr txBox="1"/>
          <p:nvPr/>
        </p:nvSpPr>
        <p:spPr>
          <a:xfrm>
            <a:off x="8643149" y="6392915"/>
            <a:ext cx="65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42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4B71-BB3E-62A3-01EE-BEF88171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D238B-270F-37E9-1720-F718D78D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Google Antigravity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E0EFBC-DA6A-C7B2-DBB5-CCBFA5368E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결과 리포트까지 작성하고</a:t>
            </a:r>
            <a:r>
              <a:rPr lang="en-US" altLang="ko-KR" dirty="0"/>
              <a:t>, </a:t>
            </a:r>
            <a:r>
              <a:rPr lang="ko-KR" altLang="en-US" dirty="0"/>
              <a:t>측정 결과도 </a:t>
            </a:r>
            <a:r>
              <a:rPr lang="en-US" altLang="ko-KR" dirty="0"/>
              <a:t>CSV</a:t>
            </a:r>
            <a:r>
              <a:rPr lang="ko-KR" altLang="en-US" dirty="0"/>
              <a:t>나 </a:t>
            </a:r>
            <a:r>
              <a:rPr lang="en-US" altLang="ko-KR" dirty="0"/>
              <a:t>JSON</a:t>
            </a:r>
            <a:r>
              <a:rPr lang="ko-KR" altLang="en-US" dirty="0"/>
              <a:t>으로 제공</a:t>
            </a:r>
            <a:endParaRPr lang="en-US" altLang="ko-KR" dirty="0"/>
          </a:p>
          <a:p>
            <a:r>
              <a:rPr lang="ko-KR" altLang="en-US" dirty="0"/>
              <a:t>다만</a:t>
            </a:r>
            <a:r>
              <a:rPr lang="en-US" altLang="ko-KR" dirty="0"/>
              <a:t>, PQC</a:t>
            </a:r>
            <a:r>
              <a:rPr lang="ko-KR" altLang="en-US" dirty="0"/>
              <a:t> 알고리즘이 제대로 동작하지 않아서</a:t>
            </a:r>
            <a:r>
              <a:rPr lang="en-US" altLang="ko-KR" dirty="0"/>
              <a:t> Mock</a:t>
            </a:r>
            <a:r>
              <a:rPr lang="ko-KR" altLang="en-US" dirty="0"/>
              <a:t>로 가짜 구현체로 동작하도록 구현됨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제대로된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안내하거나 중간에 </a:t>
            </a:r>
            <a:r>
              <a:rPr lang="en-US" altLang="ko-KR" dirty="0"/>
              <a:t>Agent</a:t>
            </a:r>
            <a:r>
              <a:rPr lang="ko-KR" altLang="en-US" dirty="0"/>
              <a:t>가 물어보는 질문에서 내 의견을 </a:t>
            </a:r>
            <a:r>
              <a:rPr lang="ko-KR" altLang="en-US" dirty="0" err="1"/>
              <a:t>전달해야함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Auto</a:t>
            </a:r>
            <a:r>
              <a:rPr lang="ko-KR" altLang="en-US" dirty="0"/>
              <a:t>로 동작하면 그냥 쭉 진행될 수 있음</a:t>
            </a:r>
            <a:endParaRPr lang="en-US" altLang="ko-KR" dirty="0"/>
          </a:p>
          <a:p>
            <a:r>
              <a:rPr lang="en-US" altLang="ko-KR" dirty="0"/>
              <a:t>Google</a:t>
            </a:r>
            <a:r>
              <a:rPr lang="ko-KR" altLang="en-US" dirty="0"/>
              <a:t>의 </a:t>
            </a:r>
            <a:r>
              <a:rPr lang="en-US" altLang="ko-KR" dirty="0"/>
              <a:t>Antigravity</a:t>
            </a:r>
            <a:r>
              <a:rPr lang="ko-KR" altLang="en-US" dirty="0"/>
              <a:t>의 장점은 빠르고</a:t>
            </a:r>
            <a:r>
              <a:rPr lang="en-US" altLang="ko-KR" dirty="0"/>
              <a:t>, agent</a:t>
            </a:r>
            <a:r>
              <a:rPr lang="ko-KR" altLang="en-US" dirty="0"/>
              <a:t> 채팅 내역이 클라우드로 저장되는 것</a:t>
            </a:r>
            <a:r>
              <a:rPr lang="en-US" altLang="ko-KR" dirty="0"/>
              <a:t> </a:t>
            </a:r>
            <a:r>
              <a:rPr lang="ko-KR" altLang="en-US" dirty="0"/>
              <a:t>그리고 </a:t>
            </a:r>
            <a:r>
              <a:rPr lang="en-US" altLang="ko-KR" dirty="0"/>
              <a:t>Google.</a:t>
            </a:r>
          </a:p>
          <a:p>
            <a:pPr lvl="1"/>
            <a:r>
              <a:rPr lang="ko-KR" altLang="en-US" dirty="0"/>
              <a:t>두 개 정도의 다른 프로젝트를 진행했을 때</a:t>
            </a:r>
            <a:r>
              <a:rPr lang="en-US" altLang="ko-KR" dirty="0"/>
              <a:t>, </a:t>
            </a:r>
            <a:r>
              <a:rPr lang="ko-KR" altLang="en-US" dirty="0"/>
              <a:t>사용량 제한으로 </a:t>
            </a:r>
            <a:r>
              <a:rPr lang="en-US" altLang="ko-KR" dirty="0"/>
              <a:t>4</a:t>
            </a:r>
            <a:r>
              <a:rPr lang="ko-KR" altLang="en-US" dirty="0"/>
              <a:t>시간 정도 쉬는 시간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05F3C8-ABF6-44E4-E9E2-5C68C143E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84" y="4182941"/>
            <a:ext cx="4253391" cy="24609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C8476A-5A8A-D162-4F8E-EAA3BF55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952" y="4799132"/>
            <a:ext cx="5582128" cy="159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3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0BB8-AACB-70FC-0200-AA218C93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8E6B2-F3EC-BBD4-FF94-893F84F6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Cursor Claude Opus 4.5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E6B637-1D14-E55C-A87C-743216EBDB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286375"/>
          </a:xfrm>
        </p:spPr>
        <p:txBody>
          <a:bodyPr/>
          <a:lstStyle/>
          <a:p>
            <a:r>
              <a:rPr lang="en-US" altLang="ko-KR" dirty="0"/>
              <a:t>Cursor</a:t>
            </a:r>
            <a:r>
              <a:rPr lang="ko-KR" altLang="en-US" dirty="0"/>
              <a:t>의 장점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많은 모델이 있어서 여러 모델을 사용해서 비교해 볼 수 있음</a:t>
            </a:r>
            <a:endParaRPr lang="en-US" altLang="ko-KR" dirty="0"/>
          </a:p>
          <a:p>
            <a:pPr lvl="1"/>
            <a:r>
              <a:rPr lang="ko-KR" altLang="en-US" dirty="0"/>
              <a:t>생각보다 많은 사용량을 제공함</a:t>
            </a:r>
            <a:endParaRPr lang="en-US" altLang="ko-KR" dirty="0"/>
          </a:p>
          <a:p>
            <a:pPr lvl="2"/>
            <a:r>
              <a:rPr lang="en-US" altLang="ko-KR" dirty="0"/>
              <a:t>Claude Opus</a:t>
            </a:r>
            <a:r>
              <a:rPr lang="ko-KR" altLang="en-US" dirty="0"/>
              <a:t>를 </a:t>
            </a:r>
            <a:r>
              <a:rPr lang="en-US" altLang="ko-KR" dirty="0"/>
              <a:t>Claude Code</a:t>
            </a:r>
            <a:r>
              <a:rPr lang="ko-KR" altLang="en-US" dirty="0"/>
              <a:t>로 사용하면 더 적은 사용량을 제공할 것 같은 느낌</a:t>
            </a:r>
            <a:endParaRPr lang="en-US" altLang="ko-KR" dirty="0"/>
          </a:p>
          <a:p>
            <a:pPr lvl="2"/>
            <a:r>
              <a:rPr lang="en-US" altLang="ko-KR" dirty="0"/>
              <a:t>5</a:t>
            </a:r>
            <a:r>
              <a:rPr lang="ko-KR" altLang="en-US" dirty="0"/>
              <a:t>시간 동안 한시간에 두 번 정도 진행하도록 해도 사용량 제한이 안 걸렸음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아직까지는</a:t>
            </a:r>
            <a:r>
              <a:rPr lang="ko-KR" altLang="en-US" dirty="0"/>
              <a:t> 다른 </a:t>
            </a:r>
            <a:r>
              <a:rPr lang="en-US" altLang="ko-KR" dirty="0"/>
              <a:t>IDE </a:t>
            </a:r>
            <a:r>
              <a:rPr lang="ko-KR" altLang="en-US" dirty="0"/>
              <a:t>보다 훨씬 사용자 친화적으로 </a:t>
            </a:r>
            <a:r>
              <a:rPr lang="en-US" altLang="ko-KR" dirty="0"/>
              <a:t>AI</a:t>
            </a:r>
            <a:r>
              <a:rPr lang="ko-KR" altLang="en-US" dirty="0"/>
              <a:t>를 사용하기 좋음</a:t>
            </a:r>
            <a:endParaRPr lang="en-US" altLang="ko-KR" dirty="0"/>
          </a:p>
          <a:p>
            <a:pPr lvl="2"/>
            <a:r>
              <a:rPr lang="ko-KR" altLang="en-US" dirty="0"/>
              <a:t>코드 </a:t>
            </a:r>
            <a:r>
              <a:rPr lang="ko-KR" altLang="en-US" dirty="0" err="1"/>
              <a:t>작성중에</a:t>
            </a:r>
            <a:r>
              <a:rPr lang="ko-KR" altLang="en-US" dirty="0"/>
              <a:t> 바로 명령으로 코드를 생성하는 것</a:t>
            </a:r>
            <a:endParaRPr lang="en-US" altLang="ko-KR" dirty="0"/>
          </a:p>
          <a:p>
            <a:pPr lvl="2"/>
            <a:r>
              <a:rPr lang="ko-KR" altLang="en-US" dirty="0"/>
              <a:t>채팅창에 코드나 디렉토리를 지정하기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Cursor</a:t>
            </a:r>
            <a:r>
              <a:rPr lang="ko-KR" altLang="en-US" dirty="0"/>
              <a:t>의 단점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채팅이 작업 공간에 종속</a:t>
            </a:r>
            <a:r>
              <a:rPr lang="en-US" altLang="ko-KR" dirty="0"/>
              <a:t>?</a:t>
            </a:r>
            <a:r>
              <a:rPr lang="ko-KR" altLang="en-US" dirty="0"/>
              <a:t>됨</a:t>
            </a:r>
            <a:endParaRPr lang="en-US" altLang="ko-KR" dirty="0"/>
          </a:p>
          <a:p>
            <a:pPr lvl="2"/>
            <a:r>
              <a:rPr lang="en-US" altLang="ko-KR" dirty="0"/>
              <a:t>A</a:t>
            </a:r>
            <a:r>
              <a:rPr lang="ko-KR" altLang="en-US" dirty="0"/>
              <a:t>컴퓨터에서 작업하다가 </a:t>
            </a:r>
            <a:r>
              <a:rPr lang="en-US" altLang="ko-KR" dirty="0"/>
              <a:t>B</a:t>
            </a:r>
            <a:r>
              <a:rPr lang="ko-KR" altLang="en-US" dirty="0"/>
              <a:t>컴퓨터에서 작업하면 이전의 채팅 내용을 확인할 수 없음</a:t>
            </a:r>
            <a:endParaRPr lang="en-US" altLang="ko-KR" dirty="0"/>
          </a:p>
          <a:p>
            <a:pPr lvl="2"/>
            <a:r>
              <a:rPr lang="en-US" altLang="ko-KR" dirty="0"/>
              <a:t>X </a:t>
            </a:r>
            <a:r>
              <a:rPr lang="ko-KR" altLang="en-US" dirty="0"/>
              <a:t>디렉토리를 열어서 작업하다가 </a:t>
            </a:r>
            <a:r>
              <a:rPr lang="en-US" altLang="ko-KR" dirty="0"/>
              <a:t>Y </a:t>
            </a:r>
            <a:r>
              <a:rPr lang="ko-KR" altLang="en-US" dirty="0"/>
              <a:t>디렉토리를 열어서 작업하면 채팅 내용을 확인할 수 없음</a:t>
            </a:r>
            <a:endParaRPr lang="en-US" altLang="ko-KR" dirty="0"/>
          </a:p>
          <a:p>
            <a:pPr lvl="1"/>
            <a:r>
              <a:rPr lang="en-US" altLang="ko-KR" dirty="0"/>
              <a:t>Opus </a:t>
            </a:r>
            <a:r>
              <a:rPr lang="ko-KR" altLang="en-US" dirty="0"/>
              <a:t>모델 문제일수도 있으나</a:t>
            </a:r>
            <a:r>
              <a:rPr lang="en-US" altLang="ko-KR" dirty="0"/>
              <a:t>, Google Antigravity </a:t>
            </a:r>
            <a:r>
              <a:rPr lang="ko-KR" altLang="en-US" dirty="0"/>
              <a:t>보다 체감상 </a:t>
            </a:r>
            <a:r>
              <a:rPr lang="en-US" altLang="ko-KR" dirty="0"/>
              <a:t>3</a:t>
            </a:r>
            <a:r>
              <a:rPr lang="ko-KR" altLang="en-US" dirty="0"/>
              <a:t>배 느림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07D532-7F45-232A-AFAB-8508D915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287" y="3495653"/>
            <a:ext cx="3114793" cy="10095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4C24AD-C875-C6AE-94E0-8F1E4E1D1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333" y="2457406"/>
            <a:ext cx="2381582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69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117B-452A-FF6C-7A5A-999B30A6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060E9-A22C-A865-6A6E-92098146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Cursor Claude Opus 4.5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AB6084-EF58-6C6F-4B65-A673F67B99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Cursor Claude Opus 4.5</a:t>
            </a:r>
            <a:r>
              <a:rPr lang="ko-KR" altLang="en-US" dirty="0"/>
              <a:t>에서도 동일하게 프로젝트 설명하고 </a:t>
            </a:r>
            <a:r>
              <a:rPr lang="en-US" altLang="ko-KR" dirty="0"/>
              <a:t>Document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1"/>
            <a:r>
              <a:rPr lang="en-US" altLang="ko-KR" dirty="0"/>
              <a:t>Gemini 3 Pro </a:t>
            </a:r>
            <a:r>
              <a:rPr lang="ko-KR" altLang="en-US" dirty="0"/>
              <a:t>보다 </a:t>
            </a:r>
            <a:r>
              <a:rPr lang="en-US" altLang="ko-KR" dirty="0"/>
              <a:t>Opus 4.5</a:t>
            </a:r>
            <a:r>
              <a:rPr lang="ko-KR" altLang="en-US" dirty="0"/>
              <a:t>가 문서 작성은 더 괜찮음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7B55D2-07D7-C001-8A3B-EB17642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929" y="1609273"/>
            <a:ext cx="1676634" cy="1238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5EDED0-A55A-1FF3-738A-4BF5BEB3F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8" y="2057212"/>
            <a:ext cx="2641421" cy="27435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61C6B3-2DF1-9609-04C1-F81E08102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272" y="2228485"/>
            <a:ext cx="3585261" cy="17146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8A20D6-1BFF-2940-F9C4-47D5E2196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55" y="4911794"/>
            <a:ext cx="2156525" cy="18624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D2390F-9789-5718-34B1-776D32B34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321" y="4182934"/>
            <a:ext cx="4401164" cy="24673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F7DB75B-F5D3-A187-401A-698A11B23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58" y="5202251"/>
            <a:ext cx="3620005" cy="14480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B3CFC6F-1F44-E194-A0C6-C0D771D1F4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1283" y="2964592"/>
            <a:ext cx="2290963" cy="214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2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2400-3867-492D-D19E-F99155D3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F851A-2CD9-273E-C3FF-C969F231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프로젝트 구현 방법 </a:t>
            </a:r>
            <a:r>
              <a:rPr lang="en-US" altLang="ko-KR" dirty="0"/>
              <a:t>– Cursor Claude Opus 4.5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201C70-55D9-656D-4D23-AB2DB731D2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26AF3C-153B-A00F-6AD5-0696ADA0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25" y="2215973"/>
            <a:ext cx="4315427" cy="37438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490E32-A793-4B81-489E-AD564AE52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82" y="2025445"/>
            <a:ext cx="4001058" cy="4124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B6E78A-0BEF-DF78-33FD-C6E87B0B7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0" y="2254078"/>
            <a:ext cx="3258005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8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52164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451</Words>
  <Application>Microsoft Office PowerPoint</Application>
  <PresentationFormat>와이드스크린</PresentationFormat>
  <Paragraphs>54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 JP Variable</vt:lpstr>
      <vt:lpstr>맑은 고딕</vt:lpstr>
      <vt:lpstr>Arial</vt:lpstr>
      <vt:lpstr>제목 테마</vt:lpstr>
      <vt:lpstr>PKI-PQC 성능 및 비용 분석 (1) Agent 활용</vt:lpstr>
      <vt:lpstr>0. 프로젝트 구현 방법</vt:lpstr>
      <vt:lpstr>0. 프로젝트 구현 방법 – Google Antigravity</vt:lpstr>
      <vt:lpstr>0. 프로젝트 구현 방법 – Google Antigravity</vt:lpstr>
      <vt:lpstr>0. 프로젝트 구현 방법 – Google Antigravity</vt:lpstr>
      <vt:lpstr>0. 프로젝트 구현 방법 – Cursor Claude Opus 4.5</vt:lpstr>
      <vt:lpstr>0. 프로젝트 구현 방법 – Cursor Claude Opus 4.5</vt:lpstr>
      <vt:lpstr>0. 프로젝트 구현 방법 – Cursor Claude Opus 4.5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엄시우</cp:lastModifiedBy>
  <cp:revision>73</cp:revision>
  <dcterms:created xsi:type="dcterms:W3CDTF">2019-03-05T04:29:07Z</dcterms:created>
  <dcterms:modified xsi:type="dcterms:W3CDTF">2025-11-30T12:37:22Z</dcterms:modified>
</cp:coreProperties>
</file>