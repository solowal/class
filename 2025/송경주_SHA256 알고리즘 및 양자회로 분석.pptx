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8"/>
  </p:notesMasterIdLst>
  <p:handoutMasterIdLst>
    <p:handoutMasterId r:id="rId19"/>
  </p:handoutMasterIdLst>
  <p:sldIdLst>
    <p:sldId id="269" r:id="rId2"/>
    <p:sldId id="315" r:id="rId3"/>
    <p:sldId id="321" r:id="rId4"/>
    <p:sldId id="314" r:id="rId5"/>
    <p:sldId id="316" r:id="rId6"/>
    <p:sldId id="317" r:id="rId7"/>
    <p:sldId id="319" r:id="rId8"/>
    <p:sldId id="320" r:id="rId9"/>
    <p:sldId id="326" r:id="rId10"/>
    <p:sldId id="318" r:id="rId11"/>
    <p:sldId id="324" r:id="rId12"/>
    <p:sldId id="327" r:id="rId13"/>
    <p:sldId id="337" r:id="rId14"/>
    <p:sldId id="336" r:id="rId15"/>
    <p:sldId id="335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4"/>
    <p:restoredTop sz="94673"/>
  </p:normalViewPr>
  <p:slideViewPr>
    <p:cSldViewPr snapToGrid="0">
      <p:cViewPr varScale="1">
        <p:scale>
          <a:sx n="107" d="100"/>
          <a:sy n="107" d="100"/>
        </p:scale>
        <p:origin x="29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2025. 12. 14.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2025. 12. 14.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664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39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274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38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>
                <a:latin typeface="+mj-lt"/>
              </a:rPr>
              <a:t>Q &amp; A</a:t>
            </a:r>
            <a:endParaRPr lang="ko-KR" altLang="en-US" sz="8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1014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SHA256 </a:t>
            </a:r>
            <a:r>
              <a:rPr lang="ko-KR" altLang="en-US" dirty="0"/>
              <a:t>알고리즘</a:t>
            </a:r>
            <a:br>
              <a:rPr lang="en-US" altLang="ko-KR" dirty="0"/>
            </a:br>
            <a:r>
              <a:rPr lang="en-US" altLang="ko-KR" dirty="0"/>
              <a:t>&amp; </a:t>
            </a:r>
            <a:r>
              <a:rPr lang="ko-KR" altLang="en-US" dirty="0"/>
              <a:t>양자회로 분석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https://</a:t>
            </a:r>
            <a:r>
              <a:rPr lang="en-US" altLang="ko-KR" dirty="0" err="1"/>
              <a:t>youtu.be</a:t>
            </a:r>
            <a:r>
              <a:rPr lang="en-US" altLang="ko-KR" dirty="0"/>
              <a:t>/3cr9l8oT9T0</a:t>
            </a:r>
          </a:p>
          <a:p>
            <a:endParaRPr lang="en-US" altLang="ko-KR" dirty="0"/>
          </a:p>
          <a:p>
            <a:r>
              <a:rPr lang="ko-KR" altLang="en-US" dirty="0"/>
              <a:t>정보컴퓨터공학과 송경주</a:t>
            </a: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C9868-6BF4-F91D-BBD4-9BE3F6E2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Structure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F7AB58-5258-E618-6ED1-4F3054316F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4" y="1152525"/>
            <a:ext cx="8016958" cy="5603875"/>
          </a:xfrm>
        </p:spPr>
        <p:txBody>
          <a:bodyPr>
            <a:normAutofit/>
          </a:bodyPr>
          <a:lstStyle/>
          <a:p>
            <a:r>
              <a:rPr kumimoji="1" lang="ko-KR" altLang="en-US" sz="2000"/>
              <a:t>초기화</a:t>
            </a:r>
            <a:r>
              <a:rPr kumimoji="1" lang="en-US" altLang="ko-KR" sz="2000"/>
              <a:t> (SHA256_Init())</a:t>
            </a:r>
          </a:p>
          <a:p>
            <a:pPr lvl="1"/>
            <a:r>
              <a:rPr kumimoji="1" lang="ko-KR" altLang="en-US" sz="1800"/>
              <a:t>초기 </a:t>
            </a:r>
            <a:r>
              <a:rPr kumimoji="1" lang="ko-KR" altLang="en-US" sz="1800" err="1"/>
              <a:t>해시값</a:t>
            </a:r>
            <a:r>
              <a:rPr kumimoji="1" lang="ko-KR" altLang="en-US" sz="1800"/>
              <a:t> 설정</a:t>
            </a:r>
            <a:endParaRPr kumimoji="1" lang="en-US" altLang="ko-KR" sz="1800"/>
          </a:p>
          <a:p>
            <a:pPr lvl="2"/>
            <a:r>
              <a:rPr kumimoji="1" lang="en-US" altLang="ko-KR" sz="1200"/>
              <a:t>H[0] = 0x6a09e667, H[1] = 0xbb67ae85, H[2] = 0x3c6ef372, H[3] = 0xa54ff53a,   </a:t>
            </a:r>
          </a:p>
          <a:p>
            <a:pPr lvl="2"/>
            <a:r>
              <a:rPr kumimoji="1" lang="en-US" altLang="ko-KR" sz="1200"/>
              <a:t>H[4] = 0x510e527f,  H[5] = 0x9b05688c,    H[6] = 0x1f83d9ab,  H[7] = 0x5be0cd19</a:t>
            </a:r>
          </a:p>
          <a:p>
            <a:endParaRPr kumimoji="1" lang="en-US" altLang="ko-KR" sz="1800"/>
          </a:p>
          <a:p>
            <a:r>
              <a:rPr kumimoji="1" lang="ko-KR" altLang="en-US" sz="2000"/>
              <a:t>업데이트 함수</a:t>
            </a:r>
            <a:r>
              <a:rPr kumimoji="1" lang="en-US" altLang="ko-KR" sz="2000"/>
              <a:t>(SHA256_Update())</a:t>
            </a:r>
          </a:p>
          <a:p>
            <a:pPr lvl="1"/>
            <a:r>
              <a:rPr kumimoji="1" lang="en-US" altLang="ko-KR" sz="1800"/>
              <a:t>64 </a:t>
            </a:r>
            <a:r>
              <a:rPr kumimoji="1" lang="ko-KR" altLang="en-US" sz="1800"/>
              <a:t>바이트 블록 단위로 자름</a:t>
            </a:r>
            <a:endParaRPr kumimoji="1" lang="en-US" altLang="ko-KR" sz="1800"/>
          </a:p>
          <a:p>
            <a:pPr lvl="1"/>
            <a:r>
              <a:rPr kumimoji="1" lang="ko-KR" altLang="en-US" sz="1800"/>
              <a:t>압축함수 호출</a:t>
            </a:r>
            <a:endParaRPr kumimoji="1" lang="en-US" altLang="ko-KR" sz="1800"/>
          </a:p>
          <a:p>
            <a:pPr lvl="1"/>
            <a:endParaRPr kumimoji="1" lang="en-US" altLang="ko-KR" sz="1800"/>
          </a:p>
          <a:p>
            <a:r>
              <a:rPr kumimoji="1" lang="ko-KR" altLang="en-US" sz="2000"/>
              <a:t>압축함수 </a:t>
            </a:r>
            <a:r>
              <a:rPr kumimoji="1" lang="en-US" altLang="ko-KR" sz="2000"/>
              <a:t>(Compression)</a:t>
            </a:r>
          </a:p>
          <a:p>
            <a:pPr lvl="1"/>
            <a:r>
              <a:rPr kumimoji="1" lang="en-US" altLang="ko-KR" sz="1800"/>
              <a:t>64 Round function</a:t>
            </a:r>
          </a:p>
          <a:p>
            <a:pPr lvl="1"/>
            <a:endParaRPr kumimoji="1" lang="en-US" altLang="ko-KR" sz="1800"/>
          </a:p>
          <a:p>
            <a:r>
              <a:rPr kumimoji="1" lang="en-US" altLang="ko-KR" sz="2200"/>
              <a:t>Final function</a:t>
            </a:r>
            <a:endParaRPr kumimoji="1" lang="en-US" altLang="ko-KR" sz="1800"/>
          </a:p>
          <a:p>
            <a:pPr lvl="1"/>
            <a:endParaRPr kumimoji="1" lang="en-US" altLang="ko-KR" sz="2400"/>
          </a:p>
          <a:p>
            <a:endParaRPr kumimoji="1" lang="en-US" altLang="ko-KR"/>
          </a:p>
          <a:p>
            <a:endParaRPr kumimoji="1" lang="ko-KR" altLang="en-US" sz="2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1062A6-887A-DB1E-B051-B7A92C0F6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122" y="1594098"/>
            <a:ext cx="3273711" cy="50091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27230E-4166-6DDF-BFC4-8AA58DF6C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389" y="4019984"/>
            <a:ext cx="3886200" cy="25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4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3CAA3-710A-EA3D-76C0-C86BF39F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Compression function in SHA256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F2D24B-6778-9943-09B7-8F165C397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25520" y="1175465"/>
            <a:ext cx="2801269" cy="2908132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ko-KR" sz="1200"/>
              <a:t>T1 = h + </a:t>
            </a:r>
            <a:r>
              <a:rPr lang="el-GR" altLang="ko-KR" sz="1200"/>
              <a:t>Σ1(</a:t>
            </a:r>
            <a:r>
              <a:rPr lang="en" altLang="ko-KR" sz="1200"/>
              <a:t>e) + Ch(</a:t>
            </a:r>
            <a:r>
              <a:rPr lang="en" altLang="ko-KR" sz="1200" err="1"/>
              <a:t>e,f,g</a:t>
            </a:r>
            <a:r>
              <a:rPr lang="en" altLang="ko-KR" sz="1200"/>
              <a:t>) + K[</a:t>
            </a:r>
            <a:r>
              <a:rPr lang="en" altLang="ko-KR" sz="1200" err="1"/>
              <a:t>i</a:t>
            </a:r>
            <a:r>
              <a:rPr lang="en" altLang="ko-KR" sz="1200"/>
              <a:t>] + W[</a:t>
            </a:r>
            <a:r>
              <a:rPr lang="en" altLang="ko-KR" sz="1200" err="1"/>
              <a:t>i</a:t>
            </a:r>
            <a:r>
              <a:rPr lang="en" altLang="ko-KR" sz="1200"/>
              <a:t>] </a:t>
            </a:r>
          </a:p>
          <a:p>
            <a:pPr marL="0" indent="0">
              <a:buNone/>
            </a:pPr>
            <a:r>
              <a:rPr lang="en" altLang="ko-KR" sz="1200"/>
              <a:t>T2 = </a:t>
            </a:r>
            <a:r>
              <a:rPr lang="el-GR" altLang="ko-KR" sz="1200"/>
              <a:t>Σ0(</a:t>
            </a:r>
            <a:r>
              <a:rPr lang="en" altLang="ko-KR" sz="1200"/>
              <a:t>a) + Maj(</a:t>
            </a:r>
            <a:r>
              <a:rPr lang="en" altLang="ko-KR" sz="1200" err="1"/>
              <a:t>a,b,c</a:t>
            </a:r>
            <a:r>
              <a:rPr lang="en" altLang="ko-KR" sz="1200"/>
              <a:t>) </a:t>
            </a:r>
          </a:p>
          <a:p>
            <a:pPr marL="0" indent="0">
              <a:buNone/>
            </a:pPr>
            <a:r>
              <a:rPr lang="en" altLang="ko-KR" sz="1200"/>
              <a:t>h = g</a:t>
            </a:r>
          </a:p>
          <a:p>
            <a:pPr marL="0" indent="0">
              <a:buNone/>
            </a:pPr>
            <a:r>
              <a:rPr lang="en" altLang="ko-KR" sz="1200"/>
              <a:t>g = f</a:t>
            </a:r>
          </a:p>
          <a:p>
            <a:pPr marL="0" indent="0">
              <a:buNone/>
            </a:pPr>
            <a:r>
              <a:rPr lang="en" altLang="ko-KR" sz="1200"/>
              <a:t>f = e</a:t>
            </a:r>
          </a:p>
          <a:p>
            <a:pPr marL="0" indent="0">
              <a:buNone/>
            </a:pPr>
            <a:r>
              <a:rPr lang="en" altLang="ko-KR" sz="1200"/>
              <a:t>e = d + T1</a:t>
            </a:r>
          </a:p>
          <a:p>
            <a:pPr marL="0" indent="0">
              <a:buNone/>
            </a:pPr>
            <a:r>
              <a:rPr lang="en" altLang="ko-KR" sz="1200"/>
              <a:t>d = c</a:t>
            </a:r>
          </a:p>
          <a:p>
            <a:pPr marL="0" indent="0">
              <a:buNone/>
            </a:pPr>
            <a:r>
              <a:rPr lang="en" altLang="ko-KR" sz="1200"/>
              <a:t>c = b</a:t>
            </a:r>
          </a:p>
          <a:p>
            <a:pPr marL="0" indent="0">
              <a:buNone/>
            </a:pPr>
            <a:r>
              <a:rPr lang="en" altLang="ko-KR" sz="1200"/>
              <a:t>b = a</a:t>
            </a:r>
          </a:p>
          <a:p>
            <a:pPr marL="0" indent="0">
              <a:buNone/>
            </a:pPr>
            <a:r>
              <a:rPr lang="en" altLang="ko-KR" sz="1200"/>
              <a:t>a = T1 + T2</a:t>
            </a:r>
            <a:endParaRPr kumimoji="1"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4312AA-1CE2-59FA-106D-35FF2940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89" y="4289153"/>
            <a:ext cx="3402932" cy="22620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EAC431C-D361-328E-DC87-8704EF361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629" y="1870129"/>
            <a:ext cx="6955452" cy="392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1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E9B4B-ABFC-9523-4566-8E2259CB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06CB46-DB65-126E-7489-559A0DF3D4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/>
              <a:t>Lee et. al [1]</a:t>
            </a:r>
          </a:p>
          <a:p>
            <a:pPr lvl="1"/>
            <a:r>
              <a:rPr kumimoji="1" lang="ko-KR" altLang="en-US" sz="2000"/>
              <a:t>다양한 최적화 변형 양자회로 제안</a:t>
            </a:r>
            <a:r>
              <a:rPr kumimoji="1" lang="en-US" altLang="ko-KR" sz="2000"/>
              <a:t>(</a:t>
            </a:r>
            <a:r>
              <a:rPr kumimoji="1" lang="ko-KR" altLang="en-US" sz="2000" err="1"/>
              <a:t>큐비트</a:t>
            </a:r>
            <a:r>
              <a:rPr kumimoji="1" lang="en-US" altLang="ko-KR" sz="2000"/>
              <a:t>, T-depth, balanced)</a:t>
            </a:r>
          </a:p>
          <a:p>
            <a:pPr lvl="1"/>
            <a:r>
              <a:rPr kumimoji="1" lang="en-US" altLang="ko-KR" sz="2000"/>
              <a:t>Pruning Procedure</a:t>
            </a:r>
            <a:r>
              <a:rPr kumimoji="1" lang="ko-KR" altLang="en-US" sz="2000"/>
              <a:t>을 이용하여 </a:t>
            </a:r>
            <a:r>
              <a:rPr kumimoji="1" lang="en-US" altLang="ko-KR" sz="2000"/>
              <a:t>adder</a:t>
            </a:r>
            <a:r>
              <a:rPr kumimoji="1" lang="ko-KR" altLang="en-US" sz="2000"/>
              <a:t>들의 </a:t>
            </a:r>
            <a:r>
              <a:rPr kumimoji="1" lang="en-US" altLang="ko-KR" sz="2000"/>
              <a:t>T-depth </a:t>
            </a:r>
            <a:r>
              <a:rPr kumimoji="1" lang="ko-KR" altLang="en-US" sz="2000"/>
              <a:t>최적화</a:t>
            </a:r>
            <a:r>
              <a:rPr kumimoji="1" lang="en-US" altLang="ko-KR" sz="2000"/>
              <a:t> </a:t>
            </a:r>
            <a:r>
              <a:rPr kumimoji="1" lang="en-US" altLang="ko-KR" sz="2000">
                <a:sym typeface="Wingdings" pitchFamily="2" charset="2"/>
              </a:rPr>
              <a:t> SHA256</a:t>
            </a:r>
            <a:r>
              <a:rPr kumimoji="1" lang="ko-KR" altLang="en-US" sz="2000" err="1">
                <a:sym typeface="Wingdings" pitchFamily="2" charset="2"/>
              </a:rPr>
              <a:t>에</a:t>
            </a:r>
            <a:r>
              <a:rPr kumimoji="1" lang="ko-KR" altLang="en-US" sz="2000">
                <a:sym typeface="Wingdings" pitchFamily="2" charset="2"/>
              </a:rPr>
              <a:t> 사용</a:t>
            </a:r>
            <a:endParaRPr kumimoji="1" lang="en-US" altLang="ko-KR" sz="2000">
              <a:sym typeface="Wingdings" pitchFamily="2" charset="2"/>
            </a:endParaRPr>
          </a:p>
          <a:p>
            <a:endParaRPr kumimoji="1" lang="en-US" altLang="ko-KR" sz="2400"/>
          </a:p>
          <a:p>
            <a:r>
              <a:rPr kumimoji="1" lang="en-US" altLang="ko-KR" sz="2400"/>
              <a:t>Jang et. al [2]</a:t>
            </a:r>
          </a:p>
          <a:p>
            <a:pPr lvl="1"/>
            <a:r>
              <a:rPr kumimoji="1" lang="en-US" altLang="ko-KR" sz="2000"/>
              <a:t>Depth </a:t>
            </a:r>
            <a:r>
              <a:rPr kumimoji="1" lang="ko-KR" altLang="en-US" sz="2000"/>
              <a:t>최적화 양자회로 제안</a:t>
            </a:r>
            <a:endParaRPr kumimoji="1" lang="en-US" altLang="ko-KR" sz="2000"/>
          </a:p>
          <a:p>
            <a:pPr lvl="1"/>
            <a:r>
              <a:rPr kumimoji="1" lang="en-US" altLang="ko-KR" sz="2000"/>
              <a:t>Save adder</a:t>
            </a:r>
            <a:r>
              <a:rPr kumimoji="1" lang="ko-KR" altLang="en-US" sz="2000"/>
              <a:t>을 사용한 다중 곱셈단계 최적화</a:t>
            </a:r>
            <a:endParaRPr kumimoji="1" lang="en-US" altLang="ko-KR" sz="2000"/>
          </a:p>
          <a:p>
            <a:pPr lvl="1"/>
            <a:endParaRPr kumimoji="1" lang="en-US" altLang="ko-KR" sz="2000"/>
          </a:p>
          <a:p>
            <a:endParaRPr kumimoji="1" lang="en-US" altLang="ko-KR" sz="2000">
              <a:sym typeface="Wingdings" pitchFamily="2" charset="2"/>
            </a:endParaRPr>
          </a:p>
          <a:p>
            <a:r>
              <a:rPr kumimoji="1" lang="en-US" altLang="ko-KR" sz="2000">
                <a:sym typeface="Wingdings" pitchFamily="2" charset="2"/>
              </a:rPr>
              <a:t>(</a:t>
            </a:r>
            <a:r>
              <a:rPr kumimoji="1" lang="ko-KR" altLang="en-US" sz="2000">
                <a:sym typeface="Wingdings" pitchFamily="2" charset="2"/>
              </a:rPr>
              <a:t>공통</a:t>
            </a:r>
            <a:r>
              <a:rPr kumimoji="1" lang="en-US" altLang="ko-KR" sz="2000">
                <a:sym typeface="Wingdings" pitchFamily="2" charset="2"/>
              </a:rPr>
              <a:t>) Final </a:t>
            </a:r>
            <a:r>
              <a:rPr kumimoji="1" lang="ko-KR" altLang="en-US" sz="2000">
                <a:sym typeface="Wingdings" pitchFamily="2" charset="2"/>
              </a:rPr>
              <a:t>단계에서 </a:t>
            </a:r>
            <a:r>
              <a:rPr kumimoji="1" lang="en-US" altLang="ko-KR" sz="2000">
                <a:sym typeface="Wingdings" pitchFamily="2" charset="2"/>
              </a:rPr>
              <a:t>initial hash vale</a:t>
            </a:r>
            <a:r>
              <a:rPr kumimoji="1" lang="ko-KR" altLang="en-US" sz="2000">
                <a:sym typeface="Wingdings" pitchFamily="2" charset="2"/>
              </a:rPr>
              <a:t>와 라운드 결과 </a:t>
            </a:r>
            <a:r>
              <a:rPr kumimoji="1" lang="en-US" altLang="ko-KR" sz="2000">
                <a:sym typeface="Wingdings" pitchFamily="2" charset="2"/>
              </a:rPr>
              <a:t>(a ~ h)</a:t>
            </a:r>
            <a:r>
              <a:rPr kumimoji="1" lang="ko-KR" altLang="en-US" sz="2000" err="1">
                <a:sym typeface="Wingdings" pitchFamily="2" charset="2"/>
              </a:rPr>
              <a:t>를</a:t>
            </a:r>
            <a:r>
              <a:rPr kumimoji="1" lang="ko-KR" altLang="en-US" sz="2000">
                <a:sym typeface="Wingdings" pitchFamily="2" charset="2"/>
              </a:rPr>
              <a:t> 더하는 과정 생략</a:t>
            </a:r>
            <a:endParaRPr kumimoji="1" lang="en-US" altLang="ko-KR" sz="2000">
              <a:sym typeface="Wingdings" pitchFamily="2" charset="2"/>
            </a:endParaRPr>
          </a:p>
          <a:p>
            <a:pPr lvl="1"/>
            <a:r>
              <a:rPr kumimoji="1" lang="en-US" altLang="ko-KR" sz="1800">
                <a:sym typeface="Wingdings" pitchFamily="2" charset="2"/>
              </a:rPr>
              <a:t>Grover’s algorithm</a:t>
            </a:r>
            <a:r>
              <a:rPr kumimoji="1" lang="ko-KR" altLang="en-US" sz="1800">
                <a:sym typeface="Wingdings" pitchFamily="2" charset="2"/>
              </a:rPr>
              <a:t> 수행에 생략 가능하다고 판단</a:t>
            </a:r>
            <a:endParaRPr kumimoji="1" lang="en-US" altLang="ko-KR" sz="1800">
              <a:sym typeface="Wingdings" pitchFamily="2" charset="2"/>
            </a:endParaRPr>
          </a:p>
          <a:p>
            <a:pPr lvl="1"/>
            <a:r>
              <a:rPr kumimoji="1" lang="ko-KR" altLang="en-US" sz="1800" err="1">
                <a:sym typeface="Wingdings" pitchFamily="2" charset="2"/>
              </a:rPr>
              <a:t>해시값</a:t>
            </a:r>
            <a:r>
              <a:rPr kumimoji="1" lang="ko-KR" altLang="en-US" sz="1800">
                <a:sym typeface="Wingdings" pitchFamily="2" charset="2"/>
              </a:rPr>
              <a:t> </a:t>
            </a:r>
            <a:r>
              <a:rPr kumimoji="1" lang="en-US" altLang="ko-KR" sz="1800">
                <a:sym typeface="Wingdings" pitchFamily="2" charset="2"/>
              </a:rPr>
              <a:t>Y</a:t>
            </a:r>
            <a:r>
              <a:rPr kumimoji="1" lang="ko-KR" altLang="en-US" sz="1800" err="1">
                <a:sym typeface="Wingdings" pitchFamily="2" charset="2"/>
              </a:rPr>
              <a:t>를</a:t>
            </a:r>
            <a:r>
              <a:rPr kumimoji="1" lang="ko-KR" altLang="en-US" sz="1800">
                <a:sym typeface="Wingdings" pitchFamily="2" charset="2"/>
              </a:rPr>
              <a:t> </a:t>
            </a:r>
            <a:r>
              <a:rPr kumimoji="1" lang="ko-KR" altLang="en-US" sz="1800" err="1">
                <a:sym typeface="Wingdings" pitchFamily="2" charset="2"/>
              </a:rPr>
              <a:t>알고있는</a:t>
            </a:r>
            <a:r>
              <a:rPr kumimoji="1" lang="ko-KR" altLang="en-US" sz="1800">
                <a:sym typeface="Wingdings" pitchFamily="2" charset="2"/>
              </a:rPr>
              <a:t> 상태에서 원본 메시지 </a:t>
            </a:r>
            <a:r>
              <a:rPr kumimoji="1" lang="en-US" altLang="ko-KR" sz="1800">
                <a:sym typeface="Wingdings" pitchFamily="2" charset="2"/>
              </a:rPr>
              <a:t>X</a:t>
            </a:r>
            <a:r>
              <a:rPr kumimoji="1" lang="ko-KR" altLang="en-US" sz="1800" err="1">
                <a:sym typeface="Wingdings" pitchFamily="2" charset="2"/>
              </a:rPr>
              <a:t>를</a:t>
            </a:r>
            <a:r>
              <a:rPr kumimoji="1" lang="ko-KR" altLang="en-US" sz="1800">
                <a:sym typeface="Wingdings" pitchFamily="2" charset="2"/>
              </a:rPr>
              <a:t> 찾는 </a:t>
            </a:r>
            <a:r>
              <a:rPr kumimoji="1" lang="en-US" altLang="ko-KR" sz="1800">
                <a:sym typeface="Wingdings" pitchFamily="2" charset="2"/>
              </a:rPr>
              <a:t>pre-image attack</a:t>
            </a:r>
            <a:r>
              <a:rPr kumimoji="1" lang="ko-KR" altLang="en-US" sz="1800">
                <a:sym typeface="Wingdings" pitchFamily="2" charset="2"/>
              </a:rPr>
              <a:t> </a:t>
            </a:r>
            <a:r>
              <a:rPr kumimoji="1" lang="en-US" altLang="ko-KR" sz="1800">
                <a:sym typeface="Wingdings" pitchFamily="2" charset="2"/>
              </a:rPr>
              <a:t>(</a:t>
            </a:r>
            <a:r>
              <a:rPr kumimoji="1" lang="ko-KR" altLang="en-US" sz="1800">
                <a:sym typeface="Wingdings" pitchFamily="2" charset="2"/>
              </a:rPr>
              <a:t>즉</a:t>
            </a:r>
            <a:r>
              <a:rPr kumimoji="1" lang="en-US" altLang="ko-KR" sz="1800">
                <a:sym typeface="Wingdings" pitchFamily="2" charset="2"/>
              </a:rPr>
              <a:t>, H(X)=Y</a:t>
            </a:r>
            <a:r>
              <a:rPr kumimoji="1" lang="ko-KR" altLang="en-US" sz="1800" err="1">
                <a:sym typeface="Wingdings" pitchFamily="2" charset="2"/>
              </a:rPr>
              <a:t>를</a:t>
            </a:r>
            <a:r>
              <a:rPr kumimoji="1" lang="ko-KR" altLang="en-US" sz="1800">
                <a:sym typeface="Wingdings" pitchFamily="2" charset="2"/>
              </a:rPr>
              <a:t> 만족하는 </a:t>
            </a:r>
            <a:r>
              <a:rPr kumimoji="1" lang="en-US" altLang="ko-KR" sz="1800">
                <a:sym typeface="Wingdings" pitchFamily="2" charset="2"/>
              </a:rPr>
              <a:t>X</a:t>
            </a:r>
            <a:r>
              <a:rPr kumimoji="1" lang="ko-KR" altLang="en-US" sz="1800">
                <a:sym typeface="Wingdings" pitchFamily="2" charset="2"/>
              </a:rPr>
              <a:t>찾기</a:t>
            </a:r>
            <a:r>
              <a:rPr kumimoji="1" lang="en-US" altLang="ko-KR" sz="1800">
                <a:sym typeface="Wingdings" pitchFamily="2" charset="2"/>
              </a:rPr>
              <a:t>)</a:t>
            </a:r>
          </a:p>
          <a:p>
            <a:pPr lvl="1"/>
            <a:r>
              <a:rPr kumimoji="1" lang="en-US" altLang="ko-KR" sz="1800">
                <a:sym typeface="Wingdings" pitchFamily="2" charset="2"/>
              </a:rPr>
              <a:t>Y = H + </a:t>
            </a:r>
            <a:r>
              <a:rPr kumimoji="1" lang="en-US" altLang="ko-KR" sz="1800" err="1">
                <a:sym typeface="Wingdings" pitchFamily="2" charset="2"/>
              </a:rPr>
              <a:t>RoundOutput</a:t>
            </a:r>
            <a:r>
              <a:rPr kumimoji="1" lang="en-US" altLang="ko-KR" sz="1800">
                <a:sym typeface="Wingdings" pitchFamily="2" charset="2"/>
              </a:rPr>
              <a:t>(X) </a:t>
            </a:r>
            <a:r>
              <a:rPr kumimoji="1" lang="ko-KR" altLang="en-US" sz="1800">
                <a:sym typeface="Wingdings" pitchFamily="2" charset="2"/>
              </a:rPr>
              <a:t>인 </a:t>
            </a:r>
            <a:r>
              <a:rPr kumimoji="1" lang="en-US" altLang="ko-KR" sz="1800">
                <a:sym typeface="Wingdings" pitchFamily="2" charset="2"/>
              </a:rPr>
              <a:t>classic data </a:t>
            </a:r>
            <a:r>
              <a:rPr kumimoji="1" lang="ko-KR" altLang="en-US" sz="1800">
                <a:sym typeface="Wingdings" pitchFamily="2" charset="2"/>
              </a:rPr>
              <a:t>이므로</a:t>
            </a:r>
            <a:r>
              <a:rPr kumimoji="1" lang="en-US" altLang="ko-KR" sz="1800">
                <a:sym typeface="Wingdings" pitchFamily="2" charset="2"/>
              </a:rPr>
              <a:t>, Y = Y-H = </a:t>
            </a:r>
            <a:r>
              <a:rPr kumimoji="1" lang="en-US" altLang="ko-KR" sz="1800" err="1">
                <a:sym typeface="Wingdings" pitchFamily="2" charset="2"/>
              </a:rPr>
              <a:t>RoundOuput</a:t>
            </a:r>
            <a:r>
              <a:rPr kumimoji="1" lang="en-US" altLang="ko-KR" sz="1800">
                <a:sym typeface="Wingdings" pitchFamily="2" charset="2"/>
              </a:rPr>
              <a:t>(X) </a:t>
            </a:r>
            <a:r>
              <a:rPr kumimoji="1" lang="ko-KR" altLang="en-US" sz="1800" err="1">
                <a:sym typeface="Wingdings" pitchFamily="2" charset="2"/>
              </a:rPr>
              <a:t>으로</a:t>
            </a:r>
            <a:r>
              <a:rPr kumimoji="1" lang="ko-KR" altLang="en-US" sz="1800">
                <a:sym typeface="Wingdings" pitchFamily="2" charset="2"/>
              </a:rPr>
              <a:t> </a:t>
            </a:r>
            <a:r>
              <a:rPr kumimoji="1" lang="en-US" altLang="ko-KR" sz="1800">
                <a:sym typeface="Wingdings" pitchFamily="2" charset="2"/>
              </a:rPr>
              <a:t>pre-computation</a:t>
            </a:r>
            <a:r>
              <a:rPr kumimoji="1" lang="ko-KR" altLang="en-US" sz="1800">
                <a:sym typeface="Wingdings" pitchFamily="2" charset="2"/>
              </a:rPr>
              <a:t> 가능 </a:t>
            </a:r>
            <a:endParaRPr kumimoji="1" lang="en-US" altLang="ko-KR" sz="2000"/>
          </a:p>
          <a:p>
            <a:endParaRPr kumimoji="1" lang="ko-KR" altLang="en-US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18C62-8798-DE1D-6A7A-CBEB9D1815A0}"/>
              </a:ext>
            </a:extLst>
          </p:cNvPr>
          <p:cNvSpPr txBox="1"/>
          <p:nvPr/>
        </p:nvSpPr>
        <p:spPr>
          <a:xfrm>
            <a:off x="0" y="6442502"/>
            <a:ext cx="10201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/>
              <a:t>[1] J. Lee, S. Lee, Y.-S. Lee, and D. Choi, “T-depth reduction method for efficient SHA-256 quantum circuit construction,” IET Information Security, vol. 17, no. 1, pp. 46–65, 2023.</a:t>
            </a:r>
          </a:p>
          <a:p>
            <a:r>
              <a:rPr kumimoji="1" lang="en-US" altLang="ko-KR" sz="1000"/>
              <a:t>[2] Jang, </a:t>
            </a:r>
            <a:r>
              <a:rPr kumimoji="1" lang="en-US" altLang="ko-KR" sz="1000" err="1"/>
              <a:t>Kyungbae</a:t>
            </a:r>
            <a:r>
              <a:rPr kumimoji="1" lang="en-US" altLang="ko-KR" sz="1000"/>
              <a:t>, et al. "Quantum implementation and analysis of SHA-2 and SHA-3." IEEE Transactions on Emerging Topics in Computing (2025).</a:t>
            </a:r>
            <a:endParaRPr kumimoji="1"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52269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8537E-8A05-2604-5DDD-775CEF2D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(Lee et. al)</a:t>
            </a:r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24826F2-7088-561F-E3EB-4E9A8BB582A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562397" cy="5603875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sz="2400"/>
                  <a:t>Pruning Procedure</a:t>
                </a:r>
              </a:p>
              <a:p>
                <a:pPr lvl="1"/>
                <a:r>
                  <a:rPr kumimoji="1" lang="ko-KR" altLang="en-US" sz="2000"/>
                  <a:t>양자회로 최적화 기법 중 하나로</a:t>
                </a:r>
                <a:r>
                  <a:rPr kumimoji="1" lang="en-US" altLang="ko-KR" sz="2000"/>
                  <a:t>, </a:t>
                </a:r>
                <a:r>
                  <a:rPr kumimoji="1" lang="ko-KR" altLang="en-US" sz="2000"/>
                  <a:t>회로 내 게이트들을 줄이거나 합치는 방식</a:t>
                </a:r>
                <a:endParaRPr kumimoji="1" lang="en-US" altLang="ko-KR" sz="2000"/>
              </a:p>
              <a:p>
                <a:pPr lvl="1"/>
                <a:r>
                  <a:rPr kumimoji="1" lang="en-US" altLang="ko-KR" sz="2000"/>
                  <a:t>Subcircuit</a:t>
                </a:r>
                <a:r>
                  <a:rPr kumimoji="1" lang="ko-KR" altLang="en-US" sz="2000"/>
                  <a:t> 을 식별하여 회로 최적화</a:t>
                </a:r>
                <a:endParaRPr kumimoji="1" lang="en-US" altLang="ko-KR" sz="2000"/>
              </a:p>
              <a:p>
                <a:pPr marL="457200" lvl="1" indent="0">
                  <a:buNone/>
                </a:pPr>
                <a:r>
                  <a:rPr kumimoji="1" lang="en-US" altLang="ko-KR" sz="1800"/>
                  <a:t>[Subcircuit </a:t>
                </a:r>
                <a:r>
                  <a:rPr kumimoji="1" lang="ko-KR" altLang="en-US" sz="1800"/>
                  <a:t>식별</a:t>
                </a:r>
                <a:r>
                  <a:rPr kumimoji="1" lang="en-US" altLang="ko-KR" sz="1800"/>
                  <a:t>]</a:t>
                </a:r>
              </a:p>
              <a:p>
                <a:pPr marL="914400" lvl="2" indent="0">
                  <a:buNone/>
                </a:pPr>
                <a:r>
                  <a:rPr kumimoji="1" lang="en-US" altLang="ko-KR" sz="1600"/>
                  <a:t>1. </a:t>
                </a:r>
                <a:r>
                  <a:rPr kumimoji="1" lang="ko-KR" altLang="en-US" sz="1600"/>
                  <a:t>시작점 설정 </a:t>
                </a:r>
                <a:r>
                  <a:rPr kumimoji="1" lang="en-US" altLang="ko-KR" sz="1600"/>
                  <a:t>(Start Point)</a:t>
                </a:r>
              </a:p>
              <a:p>
                <a:pPr lvl="3"/>
                <a:r>
                  <a:rPr kumimoji="1" lang="ko-KR" altLang="en-US" sz="1600"/>
                  <a:t>하나의 </a:t>
                </a:r>
                <a:r>
                  <a:rPr kumimoji="1" lang="en-US" altLang="ko-KR" sz="1600"/>
                  <a:t>CNOT</a:t>
                </a:r>
                <a:r>
                  <a:rPr kumimoji="1" lang="ko-KR" altLang="en-US" sz="1600"/>
                  <a:t>게이트 지정 </a:t>
                </a:r>
                <a:r>
                  <a:rPr kumimoji="1" lang="en-US" altLang="ko-KR" sz="1600">
                    <a:sym typeface="Wingdings" pitchFamily="2" charset="2"/>
                  </a:rPr>
                  <a:t> “Start Point”</a:t>
                </a:r>
              </a:p>
              <a:p>
                <a:pPr lvl="3"/>
                <a:r>
                  <a:rPr kumimoji="1" lang="en-US" altLang="ko-KR" sz="1600">
                    <a:sym typeface="Wingdings" pitchFamily="2" charset="2"/>
                  </a:rPr>
                  <a:t>Start Point </a:t>
                </a:r>
                <a:r>
                  <a:rPr kumimoji="1" lang="ko-KR" altLang="en-US" sz="1600">
                    <a:sym typeface="Wingdings" pitchFamily="2" charset="2"/>
                  </a:rPr>
                  <a:t>의 각 두 개의 </a:t>
                </a:r>
                <a:r>
                  <a:rPr kumimoji="1" lang="en-US" altLang="ko-KR" sz="1600">
                    <a:sym typeface="Wingdings" pitchFamily="2" charset="2"/>
                  </a:rPr>
                  <a:t>Wire</a:t>
                </a:r>
                <a:r>
                  <a:rPr kumimoji="1" lang="ko-KR" altLang="en-US" sz="1600">
                    <a:sym typeface="Wingdings" pitchFamily="2" charset="2"/>
                  </a:rPr>
                  <a:t>을 기준으로 탐색</a:t>
                </a:r>
                <a:endParaRPr kumimoji="1" lang="en-US" altLang="ko-KR" sz="1600">
                  <a:sym typeface="Wingdings" pitchFamily="2" charset="2"/>
                </a:endParaRPr>
              </a:p>
              <a:p>
                <a:pPr marL="914400" lvl="2" indent="0">
                  <a:buNone/>
                </a:pPr>
                <a:r>
                  <a:rPr kumimoji="1" lang="en-US" altLang="ko-KR" sz="1600">
                    <a:sym typeface="Wingdings" pitchFamily="2" charset="2"/>
                  </a:rPr>
                  <a:t>2. </a:t>
                </a:r>
                <a:r>
                  <a:rPr kumimoji="1" lang="ko-KR" altLang="en-US" sz="1600">
                    <a:sym typeface="Wingdings" pitchFamily="2" charset="2"/>
                  </a:rPr>
                  <a:t>탐색 방향 및 범위 </a:t>
                </a:r>
                <a:r>
                  <a:rPr kumimoji="1" lang="en-US" altLang="ko-KR" sz="1600">
                    <a:sym typeface="Wingdings" pitchFamily="2" charset="2"/>
                  </a:rPr>
                  <a:t>(Traversing)</a:t>
                </a:r>
              </a:p>
              <a:p>
                <a:pPr lvl="3"/>
                <a:r>
                  <a:rPr kumimoji="1" lang="en-US" altLang="ko-KR" sz="1400">
                    <a:sym typeface="Wingdings" pitchFamily="2" charset="2"/>
                  </a:rPr>
                  <a:t>Start Point (CNOT gate)</a:t>
                </a:r>
                <a:r>
                  <a:rPr kumimoji="1" lang="ko-KR" altLang="en-US" sz="1400" err="1">
                    <a:sym typeface="Wingdings" pitchFamily="2" charset="2"/>
                  </a:rPr>
                  <a:t>를</a:t>
                </a:r>
                <a:r>
                  <a:rPr kumimoji="1" lang="ko-KR" altLang="en-US" sz="1400">
                    <a:sym typeface="Wingdings" pitchFamily="2" charset="2"/>
                  </a:rPr>
                  <a:t> 기준으로 좌우로 회로 탐색 시작</a:t>
                </a:r>
                <a:endParaRPr kumimoji="1" lang="en-US" altLang="ko-KR" sz="1400">
                  <a:sym typeface="Wingdings" pitchFamily="2" charset="2"/>
                </a:endParaRPr>
              </a:p>
              <a:p>
                <a:pPr lvl="3"/>
                <a:r>
                  <a:rPr kumimoji="1" lang="ko-KR" altLang="en-US" sz="1400">
                    <a:sym typeface="Wingdings" pitchFamily="2" charset="2"/>
                  </a:rPr>
                  <a:t>탐색을 진행하며 </a:t>
                </a:r>
                <a:r>
                  <a:rPr kumimoji="1" lang="en-US" altLang="ko-KR" sz="1400">
                    <a:sym typeface="Wingdings" pitchFamily="2" charset="2"/>
                  </a:rPr>
                  <a:t>Subcircuit</a:t>
                </a:r>
                <a:r>
                  <a:rPr kumimoji="1" lang="ko-KR" altLang="en-US" sz="1400" err="1">
                    <a:sym typeface="Wingdings" pitchFamily="2" charset="2"/>
                  </a:rPr>
                  <a:t>에</a:t>
                </a:r>
                <a:r>
                  <a:rPr kumimoji="1" lang="ko-KR" altLang="en-US" sz="1400">
                    <a:sym typeface="Wingdings" pitchFamily="2" charset="2"/>
                  </a:rPr>
                  <a:t> 포함할지 여부 결정</a:t>
                </a:r>
                <a:r>
                  <a:rPr kumimoji="1" lang="en-US" altLang="ko-KR" sz="1400">
                    <a:sym typeface="Wingdings" pitchFamily="2" charset="2"/>
                  </a:rPr>
                  <a:t>, </a:t>
                </a:r>
                <a:r>
                  <a:rPr kumimoji="1" lang="ko-KR" altLang="en-US" sz="1400">
                    <a:sym typeface="Wingdings" pitchFamily="2" charset="2"/>
                  </a:rPr>
                  <a:t>탐색이 끝나는 지점이 </a:t>
                </a:r>
                <a:r>
                  <a:rPr kumimoji="1" lang="en-US" altLang="ko-KR" sz="1400">
                    <a:sym typeface="Wingdings" pitchFamily="2" charset="2"/>
                  </a:rPr>
                  <a:t>Termination border</a:t>
                </a:r>
                <a:r>
                  <a:rPr kumimoji="1" lang="ko-KR" altLang="en-US" sz="1400">
                    <a:sym typeface="Wingdings" pitchFamily="2" charset="2"/>
                  </a:rPr>
                  <a:t>가 됨</a:t>
                </a:r>
                <a:endParaRPr kumimoji="1" lang="en-US" altLang="ko-KR" sz="1400">
                  <a:sym typeface="Wingdings" pitchFamily="2" charset="2"/>
                </a:endParaRPr>
              </a:p>
              <a:p>
                <a:pPr marL="914400" lvl="2" indent="0">
                  <a:buNone/>
                </a:pPr>
                <a:r>
                  <a:rPr kumimoji="1" lang="en-US" altLang="ko-KR" sz="1600">
                    <a:sym typeface="Wingdings" pitchFamily="2" charset="2"/>
                  </a:rPr>
                  <a:t>3.</a:t>
                </a:r>
                <a:r>
                  <a:rPr kumimoji="1" lang="ko-KR" altLang="en-US" sz="1600">
                    <a:sym typeface="Wingdings" pitchFamily="2" charset="2"/>
                  </a:rPr>
                  <a:t> 게이트별 처리 규칙 </a:t>
                </a:r>
                <a:r>
                  <a:rPr kumimoji="1" lang="en-US" altLang="ko-KR" sz="1600">
                    <a:sym typeface="Wingdings" pitchFamily="2" charset="2"/>
                  </a:rPr>
                  <a:t>(Rule)</a:t>
                </a:r>
              </a:p>
              <a:p>
                <a:pPr lvl="3"/>
                <a:r>
                  <a:rPr kumimoji="1" lang="en-US" altLang="ko-KR" sz="1400">
                    <a:sym typeface="Wingdings" pitchFamily="2" charset="2"/>
                  </a:rPr>
                  <a:t>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4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1" lang="en-US" altLang="ko-KR" sz="1400">
                    <a:sym typeface="Wingdings" pitchFamily="2" charset="2"/>
                  </a:rPr>
                  <a:t> </a:t>
                </a:r>
                <a:r>
                  <a:rPr kumimoji="1" lang="ko-KR" altLang="en-US" sz="1400">
                    <a:sym typeface="Wingdings" pitchFamily="2" charset="2"/>
                  </a:rPr>
                  <a:t>게이트</a:t>
                </a:r>
                <a:r>
                  <a:rPr kumimoji="1" lang="en-US" altLang="ko-KR" sz="1400">
                    <a:sym typeface="Wingdings" pitchFamily="2" charset="2"/>
                  </a:rPr>
                  <a:t>: </a:t>
                </a:r>
                <a:r>
                  <a:rPr kumimoji="1" lang="ko-KR" altLang="en-US" sz="1400">
                    <a:sym typeface="Wingdings" pitchFamily="2" charset="2"/>
                  </a:rPr>
                  <a:t>만나는 즉시 통과</a:t>
                </a:r>
                <a:r>
                  <a:rPr kumimoji="1" lang="en-US" altLang="ko-KR" sz="1400">
                    <a:sym typeface="Wingdings" pitchFamily="2" charset="2"/>
                  </a:rPr>
                  <a:t> (</a:t>
                </a:r>
                <a:r>
                  <a:rPr kumimoji="1" lang="ko-KR" altLang="en-US" sz="1400">
                    <a:sym typeface="Wingdings" pitchFamily="2" charset="2"/>
                  </a:rPr>
                  <a:t>부분회로에 포함</a:t>
                </a:r>
                <a:r>
                  <a:rPr kumimoji="1" lang="en-US" altLang="ko-KR" sz="1400">
                    <a:sym typeface="Wingdings" pitchFamily="2" charset="2"/>
                  </a:rPr>
                  <a:t>)</a:t>
                </a:r>
              </a:p>
              <a:p>
                <a:pPr lvl="3"/>
                <a:r>
                  <a:rPr kumimoji="1" lang="en-US" altLang="ko-KR" sz="1400">
                    <a:sym typeface="Wingdings" pitchFamily="2" charset="2"/>
                  </a:rPr>
                  <a:t>H </a:t>
                </a:r>
                <a:r>
                  <a:rPr kumimoji="1" lang="ko-KR" altLang="en-US" sz="1400">
                    <a:sym typeface="Wingdings" pitchFamily="2" charset="2"/>
                  </a:rPr>
                  <a:t>게이트</a:t>
                </a:r>
                <a:r>
                  <a:rPr kumimoji="1" lang="en-US" altLang="ko-KR" sz="1400">
                    <a:sym typeface="Wingdings" pitchFamily="2" charset="2"/>
                  </a:rPr>
                  <a:t>: </a:t>
                </a:r>
                <a:r>
                  <a:rPr kumimoji="1" lang="ko-KR" altLang="en-US" sz="1400">
                    <a:sym typeface="Wingdings" pitchFamily="2" charset="2"/>
                  </a:rPr>
                  <a:t>종료지점</a:t>
                </a:r>
                <a:r>
                  <a:rPr kumimoji="1" lang="en-US" altLang="ko-KR" sz="1400">
                    <a:sym typeface="Wingdings" pitchFamily="2" charset="2"/>
                  </a:rPr>
                  <a:t>(Termination point)</a:t>
                </a:r>
                <a:r>
                  <a:rPr kumimoji="1" lang="ko-KR" altLang="en-US" sz="1400">
                    <a:sym typeface="Wingdings" pitchFamily="2" charset="2"/>
                  </a:rPr>
                  <a:t>이 되며</a:t>
                </a:r>
                <a:r>
                  <a:rPr kumimoji="1" lang="en-US" altLang="ko-KR" sz="1400">
                    <a:sym typeface="Wingdings" pitchFamily="2" charset="2"/>
                  </a:rPr>
                  <a:t>, </a:t>
                </a:r>
                <a:r>
                  <a:rPr kumimoji="1" lang="ko-KR" altLang="en-US" sz="1400">
                    <a:sym typeface="Wingdings" pitchFamily="2" charset="2"/>
                  </a:rPr>
                  <a:t>탐색중단</a:t>
                </a:r>
                <a:endParaRPr kumimoji="1" lang="en-US" altLang="ko-KR" sz="1400">
                  <a:sym typeface="Wingdings" pitchFamily="2" charset="2"/>
                </a:endParaRPr>
              </a:p>
              <a:p>
                <a:pPr lvl="3"/>
                <a:r>
                  <a:rPr kumimoji="1" lang="en-US" altLang="ko-KR" sz="1400">
                    <a:sym typeface="Wingdings" pitchFamily="2" charset="2"/>
                  </a:rPr>
                  <a:t>CNOT</a:t>
                </a:r>
                <a:r>
                  <a:rPr kumimoji="1" lang="ko-KR" altLang="en-US" sz="1400">
                    <a:sym typeface="Wingdings" pitchFamily="2" charset="2"/>
                  </a:rPr>
                  <a:t>게이트</a:t>
                </a:r>
                <a:r>
                  <a:rPr kumimoji="1" lang="en-US" altLang="ko-KR" sz="1400">
                    <a:sym typeface="Wingdings" pitchFamily="2" charset="2"/>
                  </a:rPr>
                  <a:t>: 1) </a:t>
                </a:r>
                <a:r>
                  <a:rPr kumimoji="1" lang="ko-KR" altLang="en-US" sz="1400">
                    <a:sym typeface="Wingdings" pitchFamily="2" charset="2"/>
                  </a:rPr>
                  <a:t>공유</a:t>
                </a:r>
                <a:r>
                  <a:rPr kumimoji="1" lang="en-US" altLang="ko-KR" sz="1400">
                    <a:sym typeface="Wingdings" pitchFamily="2" charset="2"/>
                  </a:rPr>
                  <a:t>: Start point(CNOT)</a:t>
                </a:r>
                <a:r>
                  <a:rPr kumimoji="1" lang="ko-KR" altLang="en-US" sz="1400">
                    <a:sym typeface="Wingdings" pitchFamily="2" charset="2"/>
                  </a:rPr>
                  <a:t>와 </a:t>
                </a:r>
                <a:r>
                  <a:rPr kumimoji="1" lang="en-US" altLang="ko-KR" sz="1400">
                    <a:sym typeface="Wingdings" pitchFamily="2" charset="2"/>
                  </a:rPr>
                  <a:t>control, target </a:t>
                </a:r>
                <a:r>
                  <a:rPr kumimoji="1" lang="ko-KR" altLang="en-US" sz="1400">
                    <a:sym typeface="Wingdings" pitchFamily="2" charset="2"/>
                  </a:rPr>
                  <a:t>라인을 모두 공유 </a:t>
                </a:r>
                <a:r>
                  <a:rPr kumimoji="1" lang="en-US" altLang="ko-KR" sz="1400">
                    <a:sym typeface="Wingdings" pitchFamily="2" charset="2"/>
                  </a:rPr>
                  <a:t>or </a:t>
                </a:r>
                <a:r>
                  <a:rPr kumimoji="1" lang="ko-KR" altLang="en-US" sz="1400">
                    <a:sym typeface="Wingdings" pitchFamily="2" charset="2"/>
                  </a:rPr>
                  <a:t>종료 경계 안에 포함된 라인이 </a:t>
                </a:r>
                <a:r>
                  <a:rPr kumimoji="1" lang="ko-KR" altLang="en-US" sz="1400" err="1">
                    <a:sym typeface="Wingdings" pitchFamily="2" charset="2"/>
                  </a:rPr>
                  <a:t>있을때</a:t>
                </a:r>
                <a:r>
                  <a:rPr kumimoji="1" lang="ko-KR" altLang="en-US" sz="1400">
                    <a:sym typeface="Wingdings" pitchFamily="2" charset="2"/>
                  </a:rPr>
                  <a:t> </a:t>
                </a:r>
                <a:r>
                  <a:rPr kumimoji="1" lang="en-US" altLang="ko-KR" sz="1400">
                    <a:sym typeface="Wingdings" pitchFamily="2" charset="2"/>
                  </a:rPr>
                  <a:t> </a:t>
                </a:r>
                <a:r>
                  <a:rPr kumimoji="1" lang="ko-KR" altLang="en-US" sz="1400">
                    <a:sym typeface="Wingdings" pitchFamily="2" charset="2"/>
                  </a:rPr>
                  <a:t>포함</a:t>
                </a:r>
                <a:endParaRPr kumimoji="1" lang="en-US" altLang="ko-KR" sz="1400">
                  <a:sym typeface="Wingdings" pitchFamily="2" charset="2"/>
                </a:endParaRPr>
              </a:p>
              <a:p>
                <a:pPr marL="2743200" lvl="6" indent="0">
                  <a:buNone/>
                </a:pPr>
                <a:r>
                  <a:rPr kumimoji="1" lang="en-US" altLang="ko-KR" sz="1400">
                    <a:sym typeface="Wingdings" pitchFamily="2" charset="2"/>
                  </a:rPr>
                  <a:t>2) New</a:t>
                </a:r>
                <a:r>
                  <a:rPr kumimoji="1" lang="ko-KR" altLang="en-US" sz="1400">
                    <a:sym typeface="Wingdings" pitchFamily="2" charset="2"/>
                  </a:rPr>
                  <a:t> 연결</a:t>
                </a:r>
                <a:r>
                  <a:rPr kumimoji="1" lang="en-US" altLang="ko-KR" sz="1400">
                    <a:sym typeface="Wingdings" pitchFamily="2" charset="2"/>
                  </a:rPr>
                  <a:t>: </a:t>
                </a:r>
                <a:r>
                  <a:rPr kumimoji="1" lang="ko-KR" altLang="en-US" sz="1400">
                    <a:sym typeface="Wingdings" pitchFamily="2" charset="2"/>
                  </a:rPr>
                  <a:t>탐색중인 부분과</a:t>
                </a:r>
                <a:r>
                  <a:rPr kumimoji="1" lang="en-US" altLang="ko-KR" sz="1400">
                    <a:sym typeface="Wingdings" pitchFamily="2" charset="2"/>
                  </a:rPr>
                  <a:t> control </a:t>
                </a:r>
                <a:r>
                  <a:rPr kumimoji="1" lang="ko-KR" altLang="en-US" sz="1400">
                    <a:sym typeface="Wingdings" pitchFamily="2" charset="2"/>
                  </a:rPr>
                  <a:t>만 공유</a:t>
                </a:r>
                <a:r>
                  <a:rPr kumimoji="1" lang="en-US" altLang="ko-KR" sz="1400">
                    <a:sym typeface="Wingdings" pitchFamily="2" charset="2"/>
                  </a:rPr>
                  <a:t>  </a:t>
                </a:r>
                <a:r>
                  <a:rPr kumimoji="1" lang="ko-KR" altLang="en-US" sz="1400">
                    <a:sym typeface="Wingdings" pitchFamily="2" charset="2"/>
                  </a:rPr>
                  <a:t>포함 </a:t>
                </a:r>
                <a:r>
                  <a:rPr kumimoji="1" lang="en-US" altLang="ko-KR" sz="1400">
                    <a:sym typeface="Wingdings" pitchFamily="2" charset="2"/>
                  </a:rPr>
                  <a:t>(</a:t>
                </a:r>
                <a:r>
                  <a:rPr kumimoji="1" lang="ko-KR" altLang="en-US" sz="1400">
                    <a:sym typeface="Wingdings" pitchFamily="2" charset="2"/>
                  </a:rPr>
                  <a:t>타겟 부분이 있는 새로운 라인이 </a:t>
                </a:r>
                <a:r>
                  <a:rPr kumimoji="1" lang="en-US" altLang="ko-KR" sz="1400">
                    <a:sym typeface="Wingdings" pitchFamily="2" charset="2"/>
                  </a:rPr>
                  <a:t>Anchor point</a:t>
                </a:r>
                <a:r>
                  <a:rPr kumimoji="1" lang="ko-KR" altLang="en-US" sz="1400">
                    <a:sym typeface="Wingdings" pitchFamily="2" charset="2"/>
                  </a:rPr>
                  <a:t>가 되어 탐색 라인의 범위가 확장됨</a:t>
                </a:r>
                <a:r>
                  <a:rPr kumimoji="1" lang="en-US" altLang="ko-KR" sz="1400">
                    <a:sym typeface="Wingdings" pitchFamily="2" charset="2"/>
                  </a:rPr>
                  <a:t>)</a:t>
                </a:r>
              </a:p>
              <a:p>
                <a:pPr marL="2743200" lvl="6" indent="0">
                  <a:buNone/>
                </a:pPr>
                <a:r>
                  <a:rPr kumimoji="1" lang="en-US" altLang="ko-KR" sz="1400">
                    <a:sym typeface="Wingdings" pitchFamily="2" charset="2"/>
                  </a:rPr>
                  <a:t>3) </a:t>
                </a:r>
                <a:r>
                  <a:rPr kumimoji="1" lang="ko-KR" altLang="en-US" sz="1400">
                    <a:sym typeface="Wingdings" pitchFamily="2" charset="2"/>
                  </a:rPr>
                  <a:t>연결불가</a:t>
                </a:r>
                <a:r>
                  <a:rPr kumimoji="1" lang="en-US" altLang="ko-KR" sz="1400">
                    <a:sym typeface="Wingdings" pitchFamily="2" charset="2"/>
                  </a:rPr>
                  <a:t>: </a:t>
                </a:r>
                <a:r>
                  <a:rPr kumimoji="1" lang="ko-KR" altLang="en-US" sz="1400">
                    <a:sym typeface="Wingdings" pitchFamily="2" charset="2"/>
                  </a:rPr>
                  <a:t>탐색중인 라인에 </a:t>
                </a:r>
                <a:r>
                  <a:rPr kumimoji="1" lang="en-US" altLang="ko-KR" sz="1400">
                    <a:sym typeface="Wingdings" pitchFamily="2" charset="2"/>
                  </a:rPr>
                  <a:t>target </a:t>
                </a:r>
                <a:r>
                  <a:rPr kumimoji="1" lang="ko-KR" altLang="en-US" sz="1400">
                    <a:sym typeface="Wingdings" pitchFamily="2" charset="2"/>
                  </a:rPr>
                  <a:t>부분만 있고 </a:t>
                </a:r>
                <a:r>
                  <a:rPr kumimoji="1" lang="en-US" altLang="ko-KR" sz="1400">
                    <a:sym typeface="Wingdings" pitchFamily="2" charset="2"/>
                  </a:rPr>
                  <a:t>control</a:t>
                </a:r>
                <a:r>
                  <a:rPr kumimoji="1" lang="ko-KR" altLang="en-US" sz="1400">
                    <a:sym typeface="Wingdings" pitchFamily="2" charset="2"/>
                  </a:rPr>
                  <a:t>부분이 경계 밖에 </a:t>
                </a:r>
                <a:r>
                  <a:rPr kumimoji="1" lang="ko-KR" altLang="en-US" sz="1400" err="1">
                    <a:sym typeface="Wingdings" pitchFamily="2" charset="2"/>
                  </a:rPr>
                  <a:t>있을때</a:t>
                </a:r>
                <a:r>
                  <a:rPr kumimoji="1" lang="ko-KR" altLang="en-US" sz="1400">
                    <a:sym typeface="Wingdings" pitchFamily="2" charset="2"/>
                  </a:rPr>
                  <a:t> </a:t>
                </a:r>
                <a:r>
                  <a:rPr kumimoji="1" lang="en-US" altLang="ko-KR" sz="1400">
                    <a:sym typeface="Wingdings" pitchFamily="2" charset="2"/>
                  </a:rPr>
                  <a:t> Skip</a:t>
                </a:r>
              </a:p>
              <a:p>
                <a:pPr marL="2743200" lvl="6" indent="0">
                  <a:buNone/>
                </a:pPr>
                <a:endParaRPr kumimoji="1" lang="en-US" altLang="ko-KR" sz="1400">
                  <a:sym typeface="Wingdings" pitchFamily="2" charset="2"/>
                </a:endParaRPr>
              </a:p>
              <a:p>
                <a:pPr marL="2743200" lvl="6" indent="0">
                  <a:buNone/>
                </a:pPr>
                <a:endParaRPr kumimoji="1" lang="en-US" altLang="ko-KR" sz="1400">
                  <a:sym typeface="Wingdings" pitchFamily="2" charset="2"/>
                </a:endParaRPr>
              </a:p>
              <a:p>
                <a:pPr marL="2743200" lvl="6" indent="0">
                  <a:buNone/>
                </a:pPr>
                <a:endParaRPr kumimoji="1" lang="en-US" altLang="ko-KR" sz="1400">
                  <a:sym typeface="Wingdings" pitchFamily="2" charset="2"/>
                </a:endParaRPr>
              </a:p>
              <a:p>
                <a:pPr lvl="3"/>
                <a:endParaRPr kumimoji="1" lang="en-US" altLang="ko-KR" sz="140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24826F2-7088-561F-E3EB-4E9A8BB58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562397" cy="5603875"/>
              </a:xfrm>
              <a:blipFill>
                <a:blip r:embed="rId2"/>
                <a:stretch>
                  <a:fillRect l="-685" t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09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7C573-CD33-7167-AA83-41F09A1A3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C1F66-86A1-BA09-4047-38A6D074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(Lee et. al)</a:t>
            </a:r>
            <a:endParaRPr kumimoji="1" lang="ko-KR" altLang="en-US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BA5AF813-F57F-28E6-646F-BAD5A3FC5029}"/>
              </a:ext>
            </a:extLst>
          </p:cNvPr>
          <p:cNvSpPr txBox="1">
            <a:spLocks/>
          </p:cNvSpPr>
          <p:nvPr/>
        </p:nvSpPr>
        <p:spPr>
          <a:xfrm>
            <a:off x="411164" y="1152525"/>
            <a:ext cx="11368160" cy="535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800"/>
              <a:t>Maj [1] (in-place)</a:t>
            </a:r>
          </a:p>
          <a:p>
            <a:pPr lvl="1"/>
            <a:r>
              <a:rPr kumimoji="1" lang="en-US" altLang="ko-KR" sz="1600"/>
              <a:t>Maj(x, y, z)  = (((x) &amp; (y)) ^ ((x) &amp; (z)) ^ ((y) &amp; (z)))</a:t>
            </a:r>
          </a:p>
          <a:p>
            <a:pPr lvl="1"/>
            <a:r>
              <a:rPr kumimoji="1" lang="en-US" altLang="ko-KR" sz="1600"/>
              <a:t>Toffoli 1</a:t>
            </a:r>
            <a:r>
              <a:rPr kumimoji="1" lang="ko-KR" altLang="en-US" sz="1600"/>
              <a:t>개 </a:t>
            </a:r>
            <a:r>
              <a:rPr kumimoji="1" lang="en-US" altLang="ko-KR" sz="1600"/>
              <a:t>CNOT 2</a:t>
            </a:r>
            <a:r>
              <a:rPr kumimoji="1" lang="ko-KR" altLang="en-US" sz="1600"/>
              <a:t>개</a:t>
            </a:r>
            <a:endParaRPr kumimoji="1" lang="en-US" altLang="ko-KR" sz="1600"/>
          </a:p>
          <a:p>
            <a:r>
              <a:rPr kumimoji="1" lang="en-US" altLang="ko-KR" sz="1800"/>
              <a:t>Ch (in-place)</a:t>
            </a:r>
          </a:p>
          <a:p>
            <a:pPr lvl="1"/>
            <a:r>
              <a:rPr kumimoji="1" lang="en-US" altLang="ko-KR" sz="1600"/>
              <a:t>Ch(x, y, z)   (((x) &amp; (y)) ^ ((~(x)) &amp; (z)))</a:t>
            </a:r>
          </a:p>
          <a:p>
            <a:pPr lvl="1"/>
            <a:r>
              <a:rPr kumimoji="1" lang="en-US" altLang="ko-KR" sz="1600"/>
              <a:t>CNOT 1</a:t>
            </a:r>
            <a:r>
              <a:rPr kumimoji="1" lang="ko-KR" altLang="en-US" sz="1600"/>
              <a:t>개</a:t>
            </a:r>
            <a:r>
              <a:rPr kumimoji="1" lang="en-US" altLang="ko-KR" sz="1600"/>
              <a:t>, Toffoli 1</a:t>
            </a:r>
            <a:r>
              <a:rPr kumimoji="1" lang="ko-KR" altLang="en-US" sz="1600"/>
              <a:t>개</a:t>
            </a:r>
            <a:endParaRPr kumimoji="1" lang="en-US" altLang="ko-KR" sz="1600"/>
          </a:p>
          <a:p>
            <a:pPr lvl="1"/>
            <a:endParaRPr kumimoji="1" lang="en-US" altLang="ko-KR" sz="1600"/>
          </a:p>
          <a:p>
            <a:pPr lvl="1"/>
            <a:endParaRPr kumimoji="1" lang="en-US" altLang="ko-KR" sz="1400"/>
          </a:p>
          <a:p>
            <a:pPr lvl="1"/>
            <a:endParaRPr kumimoji="1" lang="en-US" altLang="ko-KR" sz="1600"/>
          </a:p>
          <a:p>
            <a:r>
              <a:rPr kumimoji="1" lang="el-GR" altLang="ko-KR" sz="1800"/>
              <a:t>Σ0 </a:t>
            </a:r>
            <a:r>
              <a:rPr kumimoji="1" lang="en-US" altLang="ko-KR" sz="1800"/>
              <a:t>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)</a:t>
            </a:r>
          </a:p>
          <a:p>
            <a:pPr lvl="1"/>
            <a:r>
              <a:rPr kumimoji="1" lang="en-US" altLang="ko-KR" sz="1600"/>
              <a:t>Sigma0(x)  = (ROTR(x, 2) ^ ROTR(x, 13) ^ ROTR(x, 22))</a:t>
            </a:r>
          </a:p>
          <a:p>
            <a:r>
              <a:rPr kumimoji="1" lang="el-GR" altLang="ko-KR" sz="1800"/>
              <a:t>Σ1</a:t>
            </a:r>
            <a:r>
              <a:rPr kumimoji="1" lang="en-US" altLang="ko-KR" sz="1800"/>
              <a:t> [2] 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)</a:t>
            </a:r>
          </a:p>
          <a:p>
            <a:pPr lvl="1"/>
            <a:r>
              <a:rPr lang="en" altLang="ko-KR" sz="1600"/>
              <a:t>Sigma1(x) </a:t>
            </a:r>
            <a:r>
              <a:rPr lang="en-US" altLang="ko-KR" sz="1600"/>
              <a:t>=</a:t>
            </a:r>
            <a:r>
              <a:rPr lang="en" altLang="ko-KR" sz="1600"/>
              <a:t> (ROTR(x, 6) ^ ROTR(x, 11) ^ ROTR(x, 25))</a:t>
            </a:r>
          </a:p>
          <a:p>
            <a:r>
              <a:rPr lang="el-GR" altLang="ko-KR" sz="1800"/>
              <a:t>σ0</a:t>
            </a:r>
            <a:r>
              <a:rPr lang="en-US" altLang="ko-KR" sz="1800"/>
              <a:t> [2] </a:t>
            </a:r>
            <a:r>
              <a:rPr kumimoji="1" lang="en-US" altLang="ko-KR" sz="1800"/>
              <a:t>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)</a:t>
            </a:r>
            <a:endParaRPr lang="en-US" altLang="ko-KR" sz="1800"/>
          </a:p>
          <a:p>
            <a:pPr lvl="1"/>
            <a:r>
              <a:rPr lang="en" altLang="ko-KR" sz="1600"/>
              <a:t>sigma0(x) </a:t>
            </a:r>
            <a:r>
              <a:rPr lang="en-US" altLang="ko-KR" sz="1600"/>
              <a:t>=</a:t>
            </a:r>
            <a:r>
              <a:rPr lang="en" altLang="ko-KR" sz="1600"/>
              <a:t> (ROTR(x, 7) ^ ROTR(x, 18) ^ SHR(x, 3))</a:t>
            </a:r>
          </a:p>
          <a:p>
            <a:r>
              <a:rPr lang="el-GR" altLang="ko-KR" sz="1800"/>
              <a:t>σ1</a:t>
            </a:r>
            <a:r>
              <a:rPr lang="en-US" altLang="ko-KR" sz="1800"/>
              <a:t> [2] </a:t>
            </a:r>
            <a:r>
              <a:rPr kumimoji="1" lang="en-US" altLang="ko-KR" sz="1800"/>
              <a:t>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)</a:t>
            </a:r>
            <a:endParaRPr lang="en-US" altLang="ko-KR" sz="1800"/>
          </a:p>
          <a:p>
            <a:pPr lvl="1"/>
            <a:r>
              <a:rPr lang="en" altLang="ko-KR" sz="1600"/>
              <a:t>sigma1(x)     (ROTR(x, 17) ^ ROTR(x, 19) ^ SHR(x, 10))</a:t>
            </a:r>
            <a:endParaRPr kumimoji="1" lang="en-US" altLang="ko-KR" sz="2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FFE257-D2BF-9409-BEBA-55DBA4DD8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124" y="1108109"/>
            <a:ext cx="3886200" cy="25832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056571-8F83-DE23-4FBF-D9195F3E0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064" y="1045311"/>
            <a:ext cx="904412" cy="108675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0A720EA-3982-AF32-9A14-564A5B549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429" y="2132063"/>
            <a:ext cx="677683" cy="11666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0C0F8CB-2900-0974-B198-4DD2A73C8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6856" y="4122955"/>
            <a:ext cx="4822468" cy="248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3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25DD2-EA12-5FB9-CA03-E1FB1593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(Lee et. al)</a:t>
            </a:r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3E6E3C-B38E-F153-FF6D-C28C631AE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45" y="1161049"/>
            <a:ext cx="9729818" cy="5432926"/>
          </a:xfrm>
          <a:prstGeom prst="rect">
            <a:avLst/>
          </a:prstGeom>
        </p:spPr>
      </p:pic>
      <p:sp>
        <p:nvSpPr>
          <p:cNvPr id="5" name="오른쪽 중괄호[R] 4">
            <a:extLst>
              <a:ext uri="{FF2B5EF4-FFF2-40B4-BE49-F238E27FC236}">
                <a16:creationId xmlns:a16="http://schemas.microsoft.com/office/drawing/2014/main" id="{1E702EA2-6811-29A6-A22B-75F4EE13C260}"/>
              </a:ext>
            </a:extLst>
          </p:cNvPr>
          <p:cNvSpPr/>
          <p:nvPr/>
        </p:nvSpPr>
        <p:spPr>
          <a:xfrm>
            <a:off x="10232858" y="1491916"/>
            <a:ext cx="324853" cy="2298031"/>
          </a:xfrm>
          <a:prstGeom prst="rightBrace">
            <a:avLst>
              <a:gd name="adj1" fmla="val 37963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0FA08-A32A-A91C-87B2-90270BC6E81A}"/>
              </a:ext>
            </a:extLst>
          </p:cNvPr>
          <p:cNvSpPr txBox="1"/>
          <p:nvPr/>
        </p:nvSpPr>
        <p:spPr>
          <a:xfrm>
            <a:off x="10705477" y="4892657"/>
            <a:ext cx="1283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/>
              <a:t>Message scheduling</a:t>
            </a:r>
            <a:endParaRPr kumimoji="1" lang="ko-KR" altLang="en-US"/>
          </a:p>
        </p:txBody>
      </p:sp>
      <p:sp>
        <p:nvSpPr>
          <p:cNvPr id="7" name="오른쪽 중괄호[R] 6">
            <a:extLst>
              <a:ext uri="{FF2B5EF4-FFF2-40B4-BE49-F238E27FC236}">
                <a16:creationId xmlns:a16="http://schemas.microsoft.com/office/drawing/2014/main" id="{8DAA404D-0E70-EBEB-CEBE-5D8084A70100}"/>
              </a:ext>
            </a:extLst>
          </p:cNvPr>
          <p:cNvSpPr/>
          <p:nvPr/>
        </p:nvSpPr>
        <p:spPr>
          <a:xfrm>
            <a:off x="10232858" y="4066808"/>
            <a:ext cx="324853" cy="2298031"/>
          </a:xfrm>
          <a:prstGeom prst="rightBrace">
            <a:avLst>
              <a:gd name="adj1" fmla="val 37963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96D0E-B756-2C7E-FC31-53538E8A2FAF}"/>
              </a:ext>
            </a:extLst>
          </p:cNvPr>
          <p:cNvSpPr txBox="1"/>
          <p:nvPr/>
        </p:nvSpPr>
        <p:spPr>
          <a:xfrm>
            <a:off x="10705477" y="2317765"/>
            <a:ext cx="1283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/>
              <a:t>Round function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007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C5C8-E5F1-C321-F886-2E855844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0E6CB-F8B2-6CA5-9A47-666220C11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(Lee et. al)</a:t>
            </a:r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C36648-ABEA-644C-7A5F-F1D581B46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900" y="2526689"/>
            <a:ext cx="7467100" cy="4169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8FCC24-2A78-3A6D-DB68-D4AEF92BF0FB}"/>
              </a:ext>
            </a:extLst>
          </p:cNvPr>
          <p:cNvSpPr txBox="1"/>
          <p:nvPr/>
        </p:nvSpPr>
        <p:spPr>
          <a:xfrm>
            <a:off x="457199" y="1046247"/>
            <a:ext cx="107324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파란색 블록</a:t>
            </a:r>
            <a:r>
              <a:rPr lang="en-US" altLang="ko-KR"/>
              <a:t>: </a:t>
            </a:r>
            <a:r>
              <a:rPr lang="ko-KR" altLang="en-US"/>
              <a:t>가장 많은 연산이 필요한 부분 </a:t>
            </a:r>
            <a:r>
              <a:rPr lang="en-US" altLang="ko-KR"/>
              <a:t>(</a:t>
            </a:r>
            <a:r>
              <a:rPr lang="en" altLang="ko-KR"/>
              <a:t>Critical Path)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기존 연구에서는 이 경로에 덧셈기가 </a:t>
            </a:r>
            <a:r>
              <a:rPr kumimoji="1" lang="en-US" altLang="ko-KR"/>
              <a:t>7~10</a:t>
            </a:r>
            <a:r>
              <a:rPr kumimoji="1" lang="ko-KR" altLang="en-US"/>
              <a:t>개</a:t>
            </a:r>
            <a:r>
              <a:rPr kumimoji="1" lang="en-US" altLang="ko-KR"/>
              <a:t> </a:t>
            </a:r>
            <a:r>
              <a:rPr kumimoji="1" lang="ko-KR" altLang="en-US"/>
              <a:t>사용</a:t>
            </a:r>
            <a:r>
              <a:rPr kumimoji="1" lang="en-US" altLang="ko-KR"/>
              <a:t> </a:t>
            </a:r>
            <a:r>
              <a:rPr kumimoji="1" lang="en-US" altLang="ko-KR">
                <a:sym typeface="Wingdings" pitchFamily="2" charset="2"/>
              </a:rPr>
              <a:t></a:t>
            </a:r>
            <a:r>
              <a:rPr kumimoji="1" lang="en-US" altLang="ko-KR"/>
              <a:t> 3</a:t>
            </a:r>
            <a:r>
              <a:rPr kumimoji="1" lang="ko-KR" altLang="en-US"/>
              <a:t>개의 덧셈기만으로 구성</a:t>
            </a: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“</a:t>
            </a:r>
            <a:r>
              <a:rPr kumimoji="1" lang="ko-KR" altLang="en-US"/>
              <a:t>빨간색 블록</a:t>
            </a:r>
            <a:r>
              <a:rPr kumimoji="1" lang="en-US" altLang="ko-KR"/>
              <a:t>: 2</a:t>
            </a:r>
            <a:r>
              <a:rPr kumimoji="1" lang="ko-KR" altLang="en-US"/>
              <a:t>라운드</a:t>
            </a:r>
            <a:r>
              <a:rPr kumimoji="1" lang="en-US" altLang="ko-KR"/>
              <a:t>, </a:t>
            </a:r>
            <a:r>
              <a:rPr kumimoji="1" lang="ko-KR" altLang="en-US"/>
              <a:t>검은색 블록</a:t>
            </a:r>
            <a:r>
              <a:rPr kumimoji="1" lang="en-US" altLang="ko-KR"/>
              <a:t>: 4</a:t>
            </a:r>
            <a:r>
              <a:rPr kumimoji="1" lang="ko-KR" altLang="en-US"/>
              <a:t>라운드</a:t>
            </a:r>
            <a:r>
              <a:rPr kumimoji="1" lang="en-US" altLang="ko-KR"/>
              <a:t>, </a:t>
            </a:r>
            <a:r>
              <a:rPr kumimoji="1" lang="ko-KR" altLang="en-US"/>
              <a:t>초록색 블록</a:t>
            </a:r>
            <a:r>
              <a:rPr kumimoji="1" lang="en-US" altLang="ko-KR"/>
              <a:t>: 5</a:t>
            </a:r>
            <a:r>
              <a:rPr kumimoji="1" lang="ko-KR" altLang="en-US"/>
              <a:t>라운드</a:t>
            </a:r>
            <a:r>
              <a:rPr kumimoji="1" lang="en-US" altLang="ko-KR"/>
              <a:t>, </a:t>
            </a:r>
            <a:r>
              <a:rPr kumimoji="1" lang="ko-KR" altLang="en-US"/>
              <a:t>노란색 블록</a:t>
            </a:r>
            <a:r>
              <a:rPr kumimoji="1" lang="en-US" altLang="ko-KR"/>
              <a:t>: 6</a:t>
            </a:r>
            <a:r>
              <a:rPr kumimoji="1" lang="ko-KR" altLang="en-US"/>
              <a:t>라운드</a:t>
            </a:r>
            <a:r>
              <a:rPr kumimoji="1" lang="en-US" altLang="ko-KR"/>
              <a:t>”</a:t>
            </a:r>
            <a:r>
              <a:rPr kumimoji="1" lang="ko-KR" altLang="en-US"/>
              <a:t> </a:t>
            </a:r>
            <a:r>
              <a:rPr kumimoji="1" lang="ko-KR" altLang="en-US" err="1"/>
              <a:t>부터</a:t>
            </a:r>
            <a:r>
              <a:rPr kumimoji="1" lang="ko-KR" altLang="en-US"/>
              <a:t> 실행</a:t>
            </a: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64</a:t>
            </a:r>
            <a:r>
              <a:rPr kumimoji="1" lang="ko-KR" altLang="en-US"/>
              <a:t> 라운드 </a:t>
            </a:r>
            <a:r>
              <a:rPr kumimoji="1" lang="en-US" altLang="ko-KR">
                <a:sym typeface="Wingdings" pitchFamily="2" charset="2"/>
              </a:rPr>
              <a:t> 65</a:t>
            </a:r>
            <a:r>
              <a:rPr kumimoji="1" lang="ko-KR" altLang="en-US">
                <a:sym typeface="Wingdings" pitchFamily="2" charset="2"/>
              </a:rPr>
              <a:t>라운드 </a:t>
            </a:r>
            <a:r>
              <a:rPr kumimoji="1" lang="en-US" altLang="ko-KR">
                <a:sym typeface="Wingdings" pitchFamily="2" charset="2"/>
              </a:rPr>
              <a:t>(</a:t>
            </a:r>
            <a:r>
              <a:rPr kumimoji="1" lang="ko-KR" altLang="en-US">
                <a:sym typeface="Wingdings" pitchFamily="2" charset="2"/>
              </a:rPr>
              <a:t>딜레이 실행</a:t>
            </a:r>
            <a:r>
              <a:rPr kumimoji="1" lang="en-US" altLang="ko-KR">
                <a:sym typeface="Wingdings" pitchFamily="2" charset="2"/>
              </a:rPr>
              <a:t>, </a:t>
            </a:r>
            <a:r>
              <a:rPr kumimoji="1" lang="ko-KR" altLang="en-US">
                <a:sym typeface="Wingdings" pitchFamily="2" charset="2"/>
              </a:rPr>
              <a:t>마지막 라운드는 빨간색 블록만 연산</a:t>
            </a:r>
            <a:r>
              <a:rPr kumimoji="1" lang="en-US" altLang="ko-KR">
                <a:sym typeface="Wingdings" pitchFamily="2" charset="2"/>
              </a:rPr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9606B21-83CF-4E2F-FC8A-D372BCC1B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20" y="4905786"/>
            <a:ext cx="4211877" cy="143820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A14C85-797C-5FD8-CCE7-B74E0E0E8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748" y="2514947"/>
            <a:ext cx="1466220" cy="219136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5D59A9-47E8-16A8-FAED-95157876770C}"/>
              </a:ext>
            </a:extLst>
          </p:cNvPr>
          <p:cNvSpPr/>
          <p:nvPr/>
        </p:nvSpPr>
        <p:spPr>
          <a:xfrm>
            <a:off x="1784749" y="4974679"/>
            <a:ext cx="311804" cy="5723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28EEFF-9306-A477-69BE-E74A27E3D4E6}"/>
              </a:ext>
            </a:extLst>
          </p:cNvPr>
          <p:cNvSpPr/>
          <p:nvPr/>
        </p:nvSpPr>
        <p:spPr>
          <a:xfrm>
            <a:off x="10666891" y="2712888"/>
            <a:ext cx="1417334" cy="1928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775D3E-41FE-FA14-E893-0A2298110CB1}"/>
              </a:ext>
            </a:extLst>
          </p:cNvPr>
          <p:cNvSpPr txBox="1"/>
          <p:nvPr/>
        </p:nvSpPr>
        <p:spPr>
          <a:xfrm>
            <a:off x="11081471" y="2449640"/>
            <a:ext cx="681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/>
              <a:t>T1-W[</a:t>
            </a:r>
            <a:r>
              <a:rPr kumimoji="1" lang="en-US" altLang="ko-KR" sz="1200" err="1"/>
              <a:t>i</a:t>
            </a:r>
            <a:r>
              <a:rPr kumimoji="1" lang="en-US" altLang="ko-KR" sz="1200"/>
              <a:t>]</a:t>
            </a:r>
            <a:endParaRPr kumimoji="1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60842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58F9D-241A-E4A2-EB9F-97787C24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(Lee et. al)</a:t>
            </a:r>
            <a:endParaRPr kumimoji="1" lang="ko-KR" altLang="en-US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DAE6B73A-FD01-24AB-B641-7C94D4ED6C27}"/>
              </a:ext>
            </a:extLst>
          </p:cNvPr>
          <p:cNvSpPr txBox="1">
            <a:spLocks/>
          </p:cNvSpPr>
          <p:nvPr/>
        </p:nvSpPr>
        <p:spPr>
          <a:xfrm>
            <a:off x="777913" y="2473908"/>
            <a:ext cx="2801269" cy="29081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T1 = h + </a:t>
            </a:r>
            <a:r>
              <a:rPr lang="el-GR" altLang="ko-KR" sz="1200"/>
              <a:t>Σ1(</a:t>
            </a:r>
            <a:r>
              <a:rPr lang="en" altLang="ko-KR" sz="1200"/>
              <a:t>e) + Ch(</a:t>
            </a:r>
            <a:r>
              <a:rPr lang="en" altLang="ko-KR" sz="1200" err="1"/>
              <a:t>e,f,g</a:t>
            </a:r>
            <a:r>
              <a:rPr lang="en" altLang="ko-KR" sz="1200"/>
              <a:t>) + K[</a:t>
            </a:r>
            <a:r>
              <a:rPr lang="en" altLang="ko-KR" sz="1200" err="1"/>
              <a:t>i</a:t>
            </a:r>
            <a:r>
              <a:rPr lang="en" altLang="ko-KR" sz="1200"/>
              <a:t>] + W[</a:t>
            </a:r>
            <a:r>
              <a:rPr lang="en" altLang="ko-KR" sz="1200" err="1"/>
              <a:t>i</a:t>
            </a:r>
            <a:r>
              <a:rPr lang="en" altLang="ko-KR" sz="1200"/>
              <a:t>]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T2 = </a:t>
            </a:r>
            <a:r>
              <a:rPr lang="el-GR" altLang="ko-KR" sz="1200"/>
              <a:t>Σ0(</a:t>
            </a:r>
            <a:r>
              <a:rPr lang="en" altLang="ko-KR" sz="1200"/>
              <a:t>a) + Maj(</a:t>
            </a:r>
            <a:r>
              <a:rPr lang="en" altLang="ko-KR" sz="1200" err="1"/>
              <a:t>a,b,c</a:t>
            </a:r>
            <a:r>
              <a:rPr lang="en" altLang="ko-KR" sz="1200"/>
              <a:t>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h = 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g = 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f = 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e = d + T1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d = 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c = 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b = 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ko-KR" sz="1200"/>
              <a:t>a = T1 + T2</a:t>
            </a:r>
            <a:endParaRPr kumimoji="1"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E156D9-C4F5-ACB1-7F84-478C7E48B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35" y="1967682"/>
            <a:ext cx="6955452" cy="392058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3DDD4D5-BFF5-8E2A-5E88-80AD1F09AAD3}"/>
              </a:ext>
            </a:extLst>
          </p:cNvPr>
          <p:cNvSpPr/>
          <p:nvPr/>
        </p:nvSpPr>
        <p:spPr>
          <a:xfrm>
            <a:off x="6782844" y="2004164"/>
            <a:ext cx="1960323" cy="394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EBAC79-904C-4B02-E42E-D6C23AABA7AB}"/>
              </a:ext>
            </a:extLst>
          </p:cNvPr>
          <p:cNvSpPr/>
          <p:nvPr/>
        </p:nvSpPr>
        <p:spPr>
          <a:xfrm>
            <a:off x="828807" y="3108542"/>
            <a:ext cx="755736" cy="1031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4AE1E-C04B-1548-E2AD-5C3C67C66693}"/>
              </a:ext>
            </a:extLst>
          </p:cNvPr>
          <p:cNvSpPr txBox="1"/>
          <p:nvPr/>
        </p:nvSpPr>
        <p:spPr>
          <a:xfrm>
            <a:off x="457199" y="1046247"/>
            <a:ext cx="937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병목 현상이 많은 부분 </a:t>
            </a:r>
            <a:r>
              <a:rPr lang="en-US" altLang="ko-KR"/>
              <a:t>(d+T1)</a:t>
            </a:r>
            <a:r>
              <a:rPr lang="ko-KR" altLang="en-US"/>
              <a:t>을 먼저 계산 </a:t>
            </a:r>
            <a:r>
              <a:rPr lang="en-US" altLang="ko-KR">
                <a:sym typeface="Wingdings" pitchFamily="2" charset="2"/>
              </a:rPr>
              <a:t> </a:t>
            </a:r>
            <a:r>
              <a:rPr lang="ko-KR" altLang="en-US">
                <a:sym typeface="Wingdings" pitchFamily="2" charset="2"/>
              </a:rPr>
              <a:t>다음 라운드 먼저 진출하여 병목현상 줄임</a:t>
            </a:r>
            <a:endParaRPr kumimoji="1" lang="en-US" altLang="ko-KR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4560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2BF56-C7F0-45D4-B163-D4231BA7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(Jang et. al)</a:t>
            </a:r>
            <a:endParaRPr kumimoji="1" lang="ko-KR" altLang="en-US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82BC096D-8FEA-A598-E6E5-0E82E0842002}"/>
              </a:ext>
            </a:extLst>
          </p:cNvPr>
          <p:cNvSpPr txBox="1">
            <a:spLocks/>
          </p:cNvSpPr>
          <p:nvPr/>
        </p:nvSpPr>
        <p:spPr>
          <a:xfrm>
            <a:off x="411164" y="1152525"/>
            <a:ext cx="11368160" cy="535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800"/>
              <a:t>Maj (in-place, Lee et. al)</a:t>
            </a:r>
          </a:p>
          <a:p>
            <a:pPr lvl="1"/>
            <a:r>
              <a:rPr kumimoji="1" lang="en-US" altLang="ko-KR" sz="1600"/>
              <a:t>Maj(x, y, z)  = (((x) &amp; (y)) ^ ((x) &amp; (z)) ^ ((y) &amp; (z)))</a:t>
            </a:r>
          </a:p>
          <a:p>
            <a:pPr lvl="1"/>
            <a:r>
              <a:rPr kumimoji="1" lang="en-US" altLang="ko-KR" sz="1600"/>
              <a:t>Toffoli 1</a:t>
            </a:r>
            <a:r>
              <a:rPr kumimoji="1" lang="ko-KR" altLang="en-US" sz="1600"/>
              <a:t>개 </a:t>
            </a:r>
            <a:r>
              <a:rPr kumimoji="1" lang="en-US" altLang="ko-KR" sz="1600"/>
              <a:t>CNOT 2</a:t>
            </a:r>
            <a:r>
              <a:rPr kumimoji="1" lang="ko-KR" altLang="en-US" sz="1600"/>
              <a:t>개</a:t>
            </a:r>
            <a:endParaRPr kumimoji="1" lang="en-US" altLang="ko-KR" sz="1600"/>
          </a:p>
          <a:p>
            <a:r>
              <a:rPr kumimoji="1" lang="en-US" altLang="ko-KR" sz="1800"/>
              <a:t>Ch (in-place, Cuccaro et. al)</a:t>
            </a:r>
          </a:p>
          <a:p>
            <a:pPr lvl="1"/>
            <a:r>
              <a:rPr kumimoji="1" lang="en-US" altLang="ko-KR" sz="1600"/>
              <a:t>Ch(x, y, z)   (((x) &amp; (y)) ^ ((~(x)) &amp; (z)))</a:t>
            </a:r>
          </a:p>
          <a:p>
            <a:pPr lvl="1"/>
            <a:r>
              <a:rPr kumimoji="1" lang="en-US" altLang="ko-KR" sz="1600"/>
              <a:t>CNOT 1</a:t>
            </a:r>
            <a:r>
              <a:rPr kumimoji="1" lang="ko-KR" altLang="en-US" sz="1600"/>
              <a:t>개</a:t>
            </a:r>
            <a:r>
              <a:rPr kumimoji="1" lang="en-US" altLang="ko-KR" sz="1600"/>
              <a:t>, Toffoli 1</a:t>
            </a:r>
            <a:r>
              <a:rPr kumimoji="1" lang="ko-KR" altLang="en-US" sz="1600"/>
              <a:t>개</a:t>
            </a:r>
            <a:endParaRPr kumimoji="1" lang="en-US" altLang="ko-KR" sz="1600"/>
          </a:p>
          <a:p>
            <a:pPr lvl="1"/>
            <a:endParaRPr kumimoji="1" lang="en-US" altLang="ko-KR" sz="1600"/>
          </a:p>
          <a:p>
            <a:pPr lvl="1"/>
            <a:endParaRPr kumimoji="1" lang="en-US" altLang="ko-KR" sz="1400"/>
          </a:p>
          <a:p>
            <a:pPr lvl="1"/>
            <a:endParaRPr kumimoji="1" lang="en-US" altLang="ko-KR" sz="1600"/>
          </a:p>
          <a:p>
            <a:r>
              <a:rPr kumimoji="1" lang="el-GR" altLang="ko-KR" sz="1800"/>
              <a:t>Σ0 </a:t>
            </a:r>
            <a:r>
              <a:rPr kumimoji="1" lang="en-US" altLang="ko-KR" sz="1800"/>
              <a:t>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, </a:t>
            </a:r>
            <a:r>
              <a:rPr kumimoji="1" lang="en-US" altLang="ko-KR" sz="1800">
                <a:solidFill>
                  <a:srgbClr val="FF0000"/>
                </a:solidFill>
              </a:rPr>
              <a:t>out-of-place</a:t>
            </a:r>
            <a:r>
              <a:rPr kumimoji="1" lang="en-US" altLang="ko-KR" sz="1800"/>
              <a:t>)</a:t>
            </a:r>
          </a:p>
          <a:p>
            <a:pPr lvl="1"/>
            <a:r>
              <a:rPr kumimoji="1" lang="en-US" altLang="ko-KR" sz="1600"/>
              <a:t>Sigma0(x)  = (ROTR(x, 2) ^ ROTR(x, 13) ^ ROTR(x, 22))</a:t>
            </a:r>
          </a:p>
          <a:p>
            <a:r>
              <a:rPr kumimoji="1" lang="el-GR" altLang="ko-KR" sz="1800"/>
              <a:t>Σ1</a:t>
            </a:r>
            <a:r>
              <a:rPr kumimoji="1" lang="en-US" altLang="ko-KR" sz="1800"/>
              <a:t> [2] 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 , </a:t>
            </a:r>
            <a:r>
              <a:rPr kumimoji="1" lang="en-US" altLang="ko-KR" sz="1800">
                <a:solidFill>
                  <a:srgbClr val="FF0000"/>
                </a:solidFill>
              </a:rPr>
              <a:t>out-of-place</a:t>
            </a:r>
            <a:r>
              <a:rPr kumimoji="1" lang="en-US" altLang="ko-KR" sz="1800"/>
              <a:t>)</a:t>
            </a:r>
          </a:p>
          <a:p>
            <a:pPr lvl="1"/>
            <a:r>
              <a:rPr lang="en" altLang="ko-KR" sz="1600"/>
              <a:t>Sigma1(x) </a:t>
            </a:r>
            <a:r>
              <a:rPr lang="en-US" altLang="ko-KR" sz="1600"/>
              <a:t>=</a:t>
            </a:r>
            <a:r>
              <a:rPr lang="en" altLang="ko-KR" sz="1600"/>
              <a:t> (ROTR(x, 6) ^ ROTR(x, 11) ^ ROTR(x, 25))</a:t>
            </a:r>
          </a:p>
          <a:p>
            <a:r>
              <a:rPr lang="el-GR" altLang="ko-KR" sz="1800"/>
              <a:t>σ0</a:t>
            </a:r>
            <a:r>
              <a:rPr lang="en-US" altLang="ko-KR" sz="1800"/>
              <a:t> [2] </a:t>
            </a:r>
            <a:r>
              <a:rPr kumimoji="1" lang="en-US" altLang="ko-KR" sz="1800"/>
              <a:t>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 , </a:t>
            </a:r>
            <a:r>
              <a:rPr kumimoji="1" lang="en-US" altLang="ko-KR" sz="1800">
                <a:solidFill>
                  <a:srgbClr val="FF0000"/>
                </a:solidFill>
              </a:rPr>
              <a:t>out-of-place</a:t>
            </a:r>
            <a:r>
              <a:rPr kumimoji="1" lang="en-US" altLang="ko-KR" sz="1800"/>
              <a:t>)</a:t>
            </a:r>
            <a:endParaRPr lang="en-US" altLang="ko-KR" sz="1800"/>
          </a:p>
          <a:p>
            <a:pPr lvl="1"/>
            <a:r>
              <a:rPr lang="en" altLang="ko-KR" sz="1600"/>
              <a:t>sigma0(x) </a:t>
            </a:r>
            <a:r>
              <a:rPr lang="en-US" altLang="ko-KR" sz="1600"/>
              <a:t>=</a:t>
            </a:r>
            <a:r>
              <a:rPr lang="en" altLang="ko-KR" sz="1600"/>
              <a:t> (ROTR(x, 7) ^ ROTR(x, 18) ^ SHR(x, 3))</a:t>
            </a:r>
          </a:p>
          <a:p>
            <a:r>
              <a:rPr lang="el-GR" altLang="ko-KR" sz="1800"/>
              <a:t>σ1</a:t>
            </a:r>
            <a:r>
              <a:rPr lang="en-US" altLang="ko-KR" sz="1800"/>
              <a:t> [2] </a:t>
            </a:r>
            <a:r>
              <a:rPr kumimoji="1" lang="en-US" altLang="ko-KR" sz="1800"/>
              <a:t>(PLU </a:t>
            </a:r>
            <a:r>
              <a:rPr kumimoji="1" lang="ko-KR" altLang="en-US" sz="1800"/>
              <a:t>분해 방식</a:t>
            </a:r>
            <a:r>
              <a:rPr kumimoji="1" lang="en-US" altLang="ko-KR" sz="1800"/>
              <a:t> , </a:t>
            </a:r>
            <a:r>
              <a:rPr kumimoji="1" lang="en-US" altLang="ko-KR" sz="1800">
                <a:solidFill>
                  <a:srgbClr val="FF0000"/>
                </a:solidFill>
              </a:rPr>
              <a:t>out-of-place</a:t>
            </a:r>
            <a:r>
              <a:rPr kumimoji="1" lang="en-US" altLang="ko-KR" sz="1800"/>
              <a:t>)</a:t>
            </a:r>
            <a:endParaRPr lang="en-US" altLang="ko-KR" sz="1800"/>
          </a:p>
          <a:p>
            <a:pPr lvl="1"/>
            <a:r>
              <a:rPr lang="en" altLang="ko-KR" sz="1600"/>
              <a:t>sigma1(x)     (ROTR(x, 17) ^ ROTR(x, 19) ^ SHR(x, 10))</a:t>
            </a:r>
            <a:endParaRPr kumimoji="1" lang="en-US" altLang="ko-KR" sz="20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ECB0B0-69C8-BF7E-04EF-E53C54AD8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096" y="4577286"/>
            <a:ext cx="5182228" cy="19976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E5CCC17-035E-181D-143F-0197F469C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331" y="1152525"/>
            <a:ext cx="3618398" cy="218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5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FB294-AD6E-E51D-C224-4F195119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(Jang et. al)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056D3-E630-2523-0810-01D66DFCBA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/>
              <a:t>Critical path</a:t>
            </a:r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5A6C05-F280-7FE0-7F01-64C7CF7A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729" y="1152525"/>
            <a:ext cx="5361351" cy="37930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005D0A0-4380-1B11-A668-1A017DF66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24" y="1842248"/>
            <a:ext cx="5009776" cy="121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4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60F4-676C-DC1B-E57E-05EB8EBA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CB39A-8401-76D8-3EA2-81690941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(Jang et. al)</a:t>
            </a:r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76A908-62B2-EAA2-5366-EC867A01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22" y="3319039"/>
            <a:ext cx="4930164" cy="27789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3E4AF1D-5E4C-6425-CB4D-C7EACF193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22" y="1257845"/>
            <a:ext cx="4376547" cy="105754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454197-0D49-4E1C-C270-6B331DD28C96}"/>
              </a:ext>
            </a:extLst>
          </p:cNvPr>
          <p:cNvSpPr/>
          <p:nvPr/>
        </p:nvSpPr>
        <p:spPr>
          <a:xfrm>
            <a:off x="1058646" y="1520141"/>
            <a:ext cx="2674110" cy="199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EF9846-67F0-84DE-2D07-FC4FC8A42C3C}"/>
              </a:ext>
            </a:extLst>
          </p:cNvPr>
          <p:cNvSpPr txBox="1"/>
          <p:nvPr/>
        </p:nvSpPr>
        <p:spPr>
          <a:xfrm>
            <a:off x="5130917" y="1232026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>
                <a:solidFill>
                  <a:srgbClr val="FF0000"/>
                </a:solidFill>
              </a:rPr>
              <a:t>Quantum carry-save adder (QCSA)</a:t>
            </a:r>
            <a:endParaRPr kumimoji="1" lang="ko-KR" altLang="en-US" sz="120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0DFFCF-A78F-ACB9-B397-08D01C7CD0DF}"/>
              </a:ext>
            </a:extLst>
          </p:cNvPr>
          <p:cNvSpPr txBox="1"/>
          <p:nvPr/>
        </p:nvSpPr>
        <p:spPr>
          <a:xfrm>
            <a:off x="3810568" y="1496710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>
                <a:solidFill>
                  <a:srgbClr val="FF0000"/>
                </a:solidFill>
              </a:rPr>
              <a:t>Quantum carry-save adder (QCSA)</a:t>
            </a:r>
            <a:endParaRPr kumimoji="1" lang="ko-KR" altLang="en-US" sz="1200">
              <a:solidFill>
                <a:srgbClr val="FF0000"/>
              </a:solidFill>
            </a:endParaRPr>
          </a:p>
        </p:txBody>
      </p:sp>
      <p:sp>
        <p:nvSpPr>
          <p:cNvPr id="17" name="오른쪽 중괄호[R] 16">
            <a:extLst>
              <a:ext uri="{FF2B5EF4-FFF2-40B4-BE49-F238E27FC236}">
                <a16:creationId xmlns:a16="http://schemas.microsoft.com/office/drawing/2014/main" id="{BA8DA3AB-0544-0D26-6C92-0B43EF9E04E1}"/>
              </a:ext>
            </a:extLst>
          </p:cNvPr>
          <p:cNvSpPr/>
          <p:nvPr/>
        </p:nvSpPr>
        <p:spPr>
          <a:xfrm>
            <a:off x="7723293" y="1276037"/>
            <a:ext cx="138570" cy="981243"/>
          </a:xfrm>
          <a:prstGeom prst="rightBrace">
            <a:avLst>
              <a:gd name="adj1" fmla="val 41844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449712-8E23-A9E4-A415-BE5F1F5DC4EB}"/>
              </a:ext>
            </a:extLst>
          </p:cNvPr>
          <p:cNvSpPr txBox="1"/>
          <p:nvPr/>
        </p:nvSpPr>
        <p:spPr>
          <a:xfrm>
            <a:off x="7861863" y="1612769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/>
              <a:t>Parallel</a:t>
            </a:r>
            <a:endParaRPr kumimoji="1" lang="ko-KR" altLang="en-US" sz="1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580FF0-5DAF-DA42-1375-E7F6D92CC984}"/>
              </a:ext>
            </a:extLst>
          </p:cNvPr>
          <p:cNvSpPr/>
          <p:nvPr/>
        </p:nvSpPr>
        <p:spPr>
          <a:xfrm>
            <a:off x="1296542" y="2057700"/>
            <a:ext cx="3786052" cy="199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03306A-D166-4B8A-C61B-5FC1FD60ABB5}"/>
              </a:ext>
            </a:extLst>
          </p:cNvPr>
          <p:cNvSpPr txBox="1"/>
          <p:nvPr/>
        </p:nvSpPr>
        <p:spPr>
          <a:xfrm>
            <a:off x="5045148" y="2022022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>
                <a:solidFill>
                  <a:srgbClr val="FF0000"/>
                </a:solidFill>
              </a:rPr>
              <a:t>Quantum carry-save adder (QCSA)</a:t>
            </a:r>
            <a:endParaRPr kumimoji="1" lang="ko-KR" altLang="en-US" sz="1200">
              <a:solidFill>
                <a:srgbClr val="FF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EE85AD-DBB9-BC90-8AF1-EE8F952EDA56}"/>
              </a:ext>
            </a:extLst>
          </p:cNvPr>
          <p:cNvSpPr/>
          <p:nvPr/>
        </p:nvSpPr>
        <p:spPr>
          <a:xfrm>
            <a:off x="1058646" y="1270735"/>
            <a:ext cx="3986502" cy="199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7AB3E4-CC40-6928-5E9B-70045386A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105" y="2812018"/>
            <a:ext cx="5361351" cy="379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9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0F3BC-DA53-8692-4E1C-B6E21683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/>
              <a:t>Quantum carry-save adder (QCSA)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14636D-B458-DB78-A3FC-965D90D1E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ko-KR" sz="2400"/>
              <a:t>QCSA</a:t>
            </a:r>
          </a:p>
          <a:p>
            <a:pPr lvl="1"/>
            <a:r>
              <a:rPr kumimoji="1" lang="ko-KR" altLang="en-US" sz="2000"/>
              <a:t>각 단계에서 발생하는 </a:t>
            </a:r>
            <a:r>
              <a:rPr kumimoji="1" lang="en-US" altLang="ko-KR" sz="2000"/>
              <a:t>Carry</a:t>
            </a:r>
            <a:r>
              <a:rPr kumimoji="1" lang="ko-KR" altLang="en-US" sz="2000" err="1"/>
              <a:t>를</a:t>
            </a:r>
            <a:r>
              <a:rPr kumimoji="1" lang="ko-KR" altLang="en-US" sz="2000"/>
              <a:t> 즉시 전파시키지 않고 다음 단계의 입력으로 넘김 </a:t>
            </a:r>
            <a:r>
              <a:rPr kumimoji="1" lang="en-US" altLang="ko-KR" sz="2000"/>
              <a:t>(</a:t>
            </a:r>
            <a:r>
              <a:rPr kumimoji="1" lang="ko-KR" altLang="en-US" sz="2000" err="1"/>
              <a:t>병렬성</a:t>
            </a:r>
            <a:r>
              <a:rPr kumimoji="1" lang="en-US" altLang="ko-KR" sz="2000"/>
              <a:t>)</a:t>
            </a:r>
          </a:p>
          <a:p>
            <a:pPr lvl="1"/>
            <a:r>
              <a:rPr kumimoji="1" lang="en-US" altLang="ko-KR" sz="2000"/>
              <a:t>(</a:t>
            </a:r>
            <a:r>
              <a:rPr kumimoji="1" lang="en" altLang="ko-KR" sz="2000"/>
              <a:t>Reduction</a:t>
            </a:r>
            <a:r>
              <a:rPr kumimoji="1" lang="en-US" altLang="ko-KR" sz="2000"/>
              <a:t>) </a:t>
            </a:r>
            <a:r>
              <a:rPr kumimoji="1" lang="en" altLang="ko-KR" sz="2000"/>
              <a:t>QHA</a:t>
            </a:r>
            <a:r>
              <a:rPr kumimoji="1" lang="ko-KR" altLang="en-US" sz="2000"/>
              <a:t>와 </a:t>
            </a:r>
            <a:r>
              <a:rPr kumimoji="1" lang="en" altLang="ko-KR" sz="2000"/>
              <a:t>QFA</a:t>
            </a:r>
            <a:r>
              <a:rPr kumimoji="1" lang="ko-KR" altLang="en-US" sz="2000" err="1"/>
              <a:t>를</a:t>
            </a:r>
            <a:r>
              <a:rPr kumimoji="1" lang="ko-KR" altLang="en-US" sz="2000"/>
              <a:t> 트리 형태로 배치하여</a:t>
            </a:r>
            <a:r>
              <a:rPr kumimoji="1" lang="en-US" altLang="ko-KR" sz="2000"/>
              <a:t>, </a:t>
            </a:r>
            <a:r>
              <a:rPr kumimoji="1" lang="ko-KR" altLang="en-US" sz="2000"/>
              <a:t>피연산자의 개수가 </a:t>
            </a:r>
            <a:r>
              <a:rPr kumimoji="1" lang="en-US" altLang="ko-KR" sz="2000"/>
              <a:t>2</a:t>
            </a:r>
            <a:r>
              <a:rPr kumimoji="1" lang="ko-KR" altLang="en-US" sz="2000"/>
              <a:t>개가 남을 때까지 반복적으로 줄임</a:t>
            </a:r>
            <a:endParaRPr kumimoji="1" lang="en-US" altLang="ko-KR" sz="2000"/>
          </a:p>
          <a:p>
            <a:pPr lvl="1"/>
            <a:r>
              <a:rPr kumimoji="1" lang="ko-KR" altLang="en-US" sz="2000"/>
              <a:t>다수의 피연산자 </a:t>
            </a:r>
            <a:r>
              <a:rPr kumimoji="1" lang="en-US" altLang="ko-KR" sz="2000">
                <a:sym typeface="Wingdings" pitchFamily="2" charset="2"/>
              </a:rPr>
              <a:t> QCSA(Tree-reduction)  2</a:t>
            </a:r>
            <a:r>
              <a:rPr kumimoji="1" lang="ko-KR" altLang="en-US" sz="2000">
                <a:sym typeface="Wingdings" pitchFamily="2" charset="2"/>
              </a:rPr>
              <a:t>개의 피연산자 </a:t>
            </a:r>
            <a:r>
              <a:rPr kumimoji="1" lang="en-US" altLang="ko-KR" sz="2000">
                <a:sym typeface="Wingdings" pitchFamily="2" charset="2"/>
              </a:rPr>
              <a:t>(ADD)  </a:t>
            </a:r>
            <a:r>
              <a:rPr kumimoji="1" lang="ko-KR" altLang="en-US" sz="2000">
                <a:sym typeface="Wingdings" pitchFamily="2" charset="2"/>
              </a:rPr>
              <a:t>최종결과</a:t>
            </a:r>
            <a:endParaRPr kumimoji="1" lang="ko-KR" altLang="en-US" sz="2000"/>
          </a:p>
          <a:p>
            <a:endParaRPr kumimoji="1" lang="en" altLang="ko-KR" sz="2400"/>
          </a:p>
          <a:p>
            <a:endParaRPr kumimoji="1" lang="en" altLang="ko-KR" sz="2400"/>
          </a:p>
          <a:p>
            <a:r>
              <a:rPr kumimoji="1" lang="en" altLang="ko-KR" sz="2000"/>
              <a:t>QHA (Quantum Half Adder)</a:t>
            </a:r>
          </a:p>
          <a:p>
            <a:pPr lvl="1"/>
            <a:r>
              <a:rPr kumimoji="1" lang="en-US" altLang="ko-KR" sz="1800"/>
              <a:t>2</a:t>
            </a:r>
            <a:r>
              <a:rPr kumimoji="1" lang="ko-KR" altLang="en-US" sz="1800"/>
              <a:t>개의 입력을 더해서 합</a:t>
            </a:r>
            <a:r>
              <a:rPr kumimoji="1" lang="en-US" altLang="ko-KR" sz="1800"/>
              <a:t>(</a:t>
            </a:r>
            <a:r>
              <a:rPr kumimoji="1" lang="en" altLang="ko-KR" sz="1800"/>
              <a:t>Sum)</a:t>
            </a:r>
            <a:r>
              <a:rPr kumimoji="1" lang="ko-KR" altLang="en-US" sz="1800"/>
              <a:t>과 올림</a:t>
            </a:r>
            <a:r>
              <a:rPr kumimoji="1" lang="en-US" altLang="ko-KR" sz="1800"/>
              <a:t>(</a:t>
            </a:r>
            <a:r>
              <a:rPr kumimoji="1" lang="en" altLang="ko-KR" sz="1800"/>
              <a:t>Carry)</a:t>
            </a:r>
            <a:r>
              <a:rPr kumimoji="1" lang="ko-KR" altLang="en-US" sz="1800" err="1"/>
              <a:t>를</a:t>
            </a:r>
            <a:r>
              <a:rPr kumimoji="1" lang="ko-KR" altLang="en-US" sz="1800"/>
              <a:t> 출력</a:t>
            </a:r>
          </a:p>
          <a:p>
            <a:r>
              <a:rPr kumimoji="1" lang="en" altLang="ko-KR" sz="2000"/>
              <a:t>QFA (Quantum Full Adder)</a:t>
            </a:r>
          </a:p>
          <a:p>
            <a:pPr lvl="1"/>
            <a:r>
              <a:rPr kumimoji="1" lang="en-US" altLang="ko-KR" sz="1800"/>
              <a:t>3</a:t>
            </a:r>
            <a:r>
              <a:rPr kumimoji="1" lang="ko-KR" altLang="en-US" sz="1800"/>
              <a:t>개의 입력을 더해서 합</a:t>
            </a:r>
            <a:r>
              <a:rPr kumimoji="1" lang="en-US" altLang="ko-KR" sz="1800"/>
              <a:t>(</a:t>
            </a:r>
            <a:r>
              <a:rPr kumimoji="1" lang="en" altLang="ko-KR" sz="1800"/>
              <a:t>Sum)</a:t>
            </a:r>
            <a:r>
              <a:rPr kumimoji="1" lang="ko-KR" altLang="en-US" sz="1800"/>
              <a:t>과 올림</a:t>
            </a:r>
            <a:r>
              <a:rPr kumimoji="1" lang="en-US" altLang="ko-KR" sz="1800"/>
              <a:t>(</a:t>
            </a:r>
            <a:r>
              <a:rPr kumimoji="1" lang="en" altLang="ko-KR" sz="1800"/>
              <a:t>Carry)</a:t>
            </a:r>
            <a:r>
              <a:rPr kumimoji="1" lang="ko-KR" altLang="en-US" sz="1800" err="1"/>
              <a:t>를</a:t>
            </a:r>
            <a:r>
              <a:rPr kumimoji="1" lang="ko-KR" altLang="en-US" sz="1800"/>
              <a:t> 출력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B3C19C-196F-50E1-D05E-CF2F944F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856" y="3100960"/>
            <a:ext cx="4541855" cy="365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50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87293-9511-2703-1A51-16D04508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/>
              <a:t>Quantum carry-save adder (QCSA)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3537A9-FD23-2AF5-59DC-D9809F5429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6"/>
            <a:ext cx="11369675" cy="522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2000"/>
              <a:t>1. A = 3 (0011), B = 5 (0101), C=7(0111), D=2(0010), E = 11 (1011)</a:t>
            </a:r>
            <a:endParaRPr kumimoji="1" lang="ko-KR" altLang="en-US" sz="200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DDE481DC-6DF1-BCF1-C0BA-DA3BAD60C2C6}"/>
              </a:ext>
            </a:extLst>
          </p:cNvPr>
          <p:cNvSpPr txBox="1">
            <a:spLocks/>
          </p:cNvSpPr>
          <p:nvPr/>
        </p:nvSpPr>
        <p:spPr>
          <a:xfrm>
            <a:off x="1530725" y="1534227"/>
            <a:ext cx="1203603" cy="10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A    0 0 1 1</a:t>
            </a:r>
          </a:p>
          <a:p>
            <a:pPr marL="0" indent="0">
              <a:buNone/>
            </a:pPr>
            <a:r>
              <a:rPr kumimoji="1" lang="en-US" altLang="ko-KR" sz="1600"/>
              <a:t>B    0 1 0 1</a:t>
            </a:r>
          </a:p>
          <a:p>
            <a:pPr marL="0" indent="0">
              <a:buNone/>
            </a:pPr>
            <a:r>
              <a:rPr kumimoji="1" lang="en-US" altLang="ko-KR" sz="1600"/>
              <a:t>C    0 1 1 1</a:t>
            </a:r>
            <a:endParaRPr kumimoji="1" lang="ko-KR" altLang="en-US" sz="1600"/>
          </a:p>
          <a:p>
            <a:pPr marL="0" indent="0">
              <a:buNone/>
            </a:pPr>
            <a:endParaRPr kumimoji="1" lang="ko-KR" altLang="en-US" sz="1600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C55E0039-655E-7A00-1377-CAB17ED2E55F}"/>
              </a:ext>
            </a:extLst>
          </p:cNvPr>
          <p:cNvCxnSpPr>
            <a:cxnSpLocks/>
          </p:cNvCxnSpPr>
          <p:nvPr/>
        </p:nvCxnSpPr>
        <p:spPr>
          <a:xfrm>
            <a:off x="1451714" y="2554445"/>
            <a:ext cx="1282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966B397A-5044-8949-8F2C-26FA1539E246}"/>
              </a:ext>
            </a:extLst>
          </p:cNvPr>
          <p:cNvSpPr txBox="1">
            <a:spLocks/>
          </p:cNvSpPr>
          <p:nvPr/>
        </p:nvSpPr>
        <p:spPr>
          <a:xfrm>
            <a:off x="1530724" y="2595124"/>
            <a:ext cx="1203603" cy="726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S    0 0 0 1</a:t>
            </a:r>
          </a:p>
          <a:p>
            <a:pPr marL="0" indent="0">
              <a:buNone/>
            </a:pPr>
            <a:r>
              <a:rPr kumimoji="1" lang="en-US" altLang="ko-KR" sz="1600"/>
              <a:t>C    0 1 1 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2CEE80-73AF-17FE-BF64-A93C2947A74C}"/>
              </a:ext>
            </a:extLst>
          </p:cNvPr>
          <p:cNvSpPr/>
          <p:nvPr/>
        </p:nvSpPr>
        <p:spPr>
          <a:xfrm>
            <a:off x="730293" y="1184424"/>
            <a:ext cx="4265154" cy="294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DBBDFD-756F-FBEB-F6A1-4E7393923ECD}"/>
              </a:ext>
            </a:extLst>
          </p:cNvPr>
          <p:cNvSpPr/>
          <p:nvPr/>
        </p:nvSpPr>
        <p:spPr>
          <a:xfrm>
            <a:off x="5117162" y="1184424"/>
            <a:ext cx="2873097" cy="294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3497F-AC1D-F616-85C5-80E5F3EEF85A}"/>
              </a:ext>
            </a:extLst>
          </p:cNvPr>
          <p:cNvSpPr txBox="1"/>
          <p:nvPr/>
        </p:nvSpPr>
        <p:spPr>
          <a:xfrm>
            <a:off x="1037127" y="2750827"/>
            <a:ext cx="493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/>
              <a:t>QFA</a:t>
            </a:r>
            <a:endParaRPr kumimoji="1" lang="ko-KR" altLang="en-US" sz="120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5EAF2DC2-884F-075D-9DEE-194B89576CAA}"/>
              </a:ext>
            </a:extLst>
          </p:cNvPr>
          <p:cNvSpPr txBox="1">
            <a:spLocks/>
          </p:cNvSpPr>
          <p:nvPr/>
        </p:nvSpPr>
        <p:spPr>
          <a:xfrm>
            <a:off x="3537494" y="1534227"/>
            <a:ext cx="1203603" cy="10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ko-KR" sz="1600"/>
          </a:p>
          <a:p>
            <a:pPr marL="0" indent="0">
              <a:buNone/>
            </a:pPr>
            <a:r>
              <a:rPr kumimoji="1" lang="en-US" altLang="ko-KR" sz="1600"/>
              <a:t>D    0 0 1 0</a:t>
            </a:r>
          </a:p>
          <a:p>
            <a:pPr marL="0" indent="0">
              <a:buNone/>
            </a:pPr>
            <a:r>
              <a:rPr kumimoji="1" lang="en-US" altLang="ko-KR" sz="1600"/>
              <a:t>E    1 0 1 1</a:t>
            </a:r>
            <a:endParaRPr kumimoji="1" lang="ko-KR" altLang="en-US" sz="1600"/>
          </a:p>
          <a:p>
            <a:pPr marL="0" indent="0">
              <a:buNone/>
            </a:pPr>
            <a:endParaRPr kumimoji="1" lang="ko-KR" altLang="en-US" sz="1600"/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C5F153F0-7ADB-C0FE-BADA-ADBD81AFF123}"/>
              </a:ext>
            </a:extLst>
          </p:cNvPr>
          <p:cNvCxnSpPr>
            <a:cxnSpLocks/>
          </p:cNvCxnSpPr>
          <p:nvPr/>
        </p:nvCxnSpPr>
        <p:spPr>
          <a:xfrm>
            <a:off x="3458483" y="2554445"/>
            <a:ext cx="1282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5FA6CA41-CB13-E70A-4521-BB0F51B11120}"/>
              </a:ext>
            </a:extLst>
          </p:cNvPr>
          <p:cNvSpPr txBox="1">
            <a:spLocks/>
          </p:cNvSpPr>
          <p:nvPr/>
        </p:nvSpPr>
        <p:spPr>
          <a:xfrm>
            <a:off x="3537493" y="2595124"/>
            <a:ext cx="1203603" cy="726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S    1 0 0 1</a:t>
            </a:r>
          </a:p>
          <a:p>
            <a:pPr marL="0" indent="0">
              <a:buNone/>
            </a:pPr>
            <a:r>
              <a:rPr kumimoji="1" lang="en-US" altLang="ko-KR" sz="1600"/>
              <a:t>C    0 0 1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83C468-36AC-8E70-06D9-95147FCD6E0E}"/>
              </a:ext>
            </a:extLst>
          </p:cNvPr>
          <p:cNvSpPr txBox="1"/>
          <p:nvPr/>
        </p:nvSpPr>
        <p:spPr>
          <a:xfrm>
            <a:off x="3043896" y="2750827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/>
              <a:t>QHA</a:t>
            </a:r>
            <a:endParaRPr kumimoji="1" lang="ko-KR" altLang="en-US" sz="120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5A68682-8A35-F4D5-5D5B-8010A6CCC758}"/>
              </a:ext>
            </a:extLst>
          </p:cNvPr>
          <p:cNvCxnSpPr>
            <a:cxnSpLocks/>
          </p:cNvCxnSpPr>
          <p:nvPr/>
        </p:nvCxnSpPr>
        <p:spPr>
          <a:xfrm flipH="1">
            <a:off x="1853347" y="3234151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25C5D77D-4538-87B8-B435-59C89EF58B76}"/>
              </a:ext>
            </a:extLst>
          </p:cNvPr>
          <p:cNvSpPr txBox="1">
            <a:spLocks/>
          </p:cNvSpPr>
          <p:nvPr/>
        </p:nvSpPr>
        <p:spPr>
          <a:xfrm>
            <a:off x="1530724" y="3407829"/>
            <a:ext cx="1203603" cy="317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   0 1 1 1 0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70206D-896A-1EBE-BC8B-EF25D7ADDCB9}"/>
              </a:ext>
            </a:extLst>
          </p:cNvPr>
          <p:cNvSpPr txBox="1"/>
          <p:nvPr/>
        </p:nvSpPr>
        <p:spPr>
          <a:xfrm>
            <a:off x="1367084" y="3160645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>
                <a:solidFill>
                  <a:srgbClr val="FF0000"/>
                </a:solidFill>
              </a:rPr>
              <a:t>shift</a:t>
            </a:r>
            <a:endParaRPr kumimoji="1" lang="ko-KR" altLang="en-US" sz="1400">
              <a:solidFill>
                <a:srgbClr val="FF0000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0BCADFA-4D13-A386-B1A1-5C0B0E2148FB}"/>
              </a:ext>
            </a:extLst>
          </p:cNvPr>
          <p:cNvCxnSpPr>
            <a:cxnSpLocks/>
          </p:cNvCxnSpPr>
          <p:nvPr/>
        </p:nvCxnSpPr>
        <p:spPr>
          <a:xfrm flipH="1">
            <a:off x="2051762" y="3234151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47D2E30-1293-78C3-1D8C-44821FAE0729}"/>
              </a:ext>
            </a:extLst>
          </p:cNvPr>
          <p:cNvCxnSpPr>
            <a:cxnSpLocks/>
          </p:cNvCxnSpPr>
          <p:nvPr/>
        </p:nvCxnSpPr>
        <p:spPr>
          <a:xfrm flipH="1">
            <a:off x="2224279" y="3238142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00463D3-32F8-F754-1A1E-0F3B0B30E277}"/>
              </a:ext>
            </a:extLst>
          </p:cNvPr>
          <p:cNvCxnSpPr>
            <a:cxnSpLocks/>
          </p:cNvCxnSpPr>
          <p:nvPr/>
        </p:nvCxnSpPr>
        <p:spPr>
          <a:xfrm flipH="1">
            <a:off x="2408098" y="3235863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6E6B9B1-9136-F0C2-2DC6-E63AECCC07BF}"/>
              </a:ext>
            </a:extLst>
          </p:cNvPr>
          <p:cNvCxnSpPr>
            <a:cxnSpLocks/>
          </p:cNvCxnSpPr>
          <p:nvPr/>
        </p:nvCxnSpPr>
        <p:spPr>
          <a:xfrm flipH="1">
            <a:off x="3860116" y="3215557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F65B47A7-4932-F072-4AAF-7FE1EA0D9936}"/>
              </a:ext>
            </a:extLst>
          </p:cNvPr>
          <p:cNvSpPr txBox="1">
            <a:spLocks/>
          </p:cNvSpPr>
          <p:nvPr/>
        </p:nvSpPr>
        <p:spPr>
          <a:xfrm>
            <a:off x="3537493" y="3389235"/>
            <a:ext cx="1203603" cy="317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   0 0 1 0 0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EA3D7F-6E00-2668-CDB8-6B3709A4D3C4}"/>
              </a:ext>
            </a:extLst>
          </p:cNvPr>
          <p:cNvSpPr txBox="1"/>
          <p:nvPr/>
        </p:nvSpPr>
        <p:spPr>
          <a:xfrm>
            <a:off x="3373853" y="3142051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>
                <a:solidFill>
                  <a:srgbClr val="FF0000"/>
                </a:solidFill>
              </a:rPr>
              <a:t>shift</a:t>
            </a:r>
            <a:endParaRPr kumimoji="1" lang="ko-KR" altLang="en-US" sz="1400">
              <a:solidFill>
                <a:srgbClr val="FF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B0E996A-4C84-A767-C4AD-0F7ED80EC2F8}"/>
              </a:ext>
            </a:extLst>
          </p:cNvPr>
          <p:cNvCxnSpPr>
            <a:cxnSpLocks/>
          </p:cNvCxnSpPr>
          <p:nvPr/>
        </p:nvCxnSpPr>
        <p:spPr>
          <a:xfrm flipH="1">
            <a:off x="4058531" y="3215557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9E5FE54-85D7-A7D5-8D27-A879667EF62C}"/>
              </a:ext>
            </a:extLst>
          </p:cNvPr>
          <p:cNvCxnSpPr>
            <a:cxnSpLocks/>
          </p:cNvCxnSpPr>
          <p:nvPr/>
        </p:nvCxnSpPr>
        <p:spPr>
          <a:xfrm flipH="1">
            <a:off x="4231048" y="3219548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B3B2D64-DDF7-F4CE-7AFE-34680FE647BA}"/>
              </a:ext>
            </a:extLst>
          </p:cNvPr>
          <p:cNvCxnSpPr>
            <a:cxnSpLocks/>
          </p:cNvCxnSpPr>
          <p:nvPr/>
        </p:nvCxnSpPr>
        <p:spPr>
          <a:xfrm flipH="1">
            <a:off x="4414867" y="3217269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9BD586C3-2943-6C3C-FC20-F7D93F31E6C4}"/>
              </a:ext>
            </a:extLst>
          </p:cNvPr>
          <p:cNvSpPr txBox="1">
            <a:spLocks/>
          </p:cNvSpPr>
          <p:nvPr/>
        </p:nvSpPr>
        <p:spPr>
          <a:xfrm>
            <a:off x="411163" y="3789988"/>
            <a:ext cx="5179565" cy="522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2000"/>
              <a:t>2. S = 0001, C = 1110, S = 1001, C = 0100</a:t>
            </a:r>
            <a:endParaRPr kumimoji="1" lang="ko-KR" altLang="en-US" sz="20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A630765-7AA6-A168-A22B-7B60839F0F05}"/>
              </a:ext>
            </a:extLst>
          </p:cNvPr>
          <p:cNvSpPr/>
          <p:nvPr/>
        </p:nvSpPr>
        <p:spPr>
          <a:xfrm>
            <a:off x="730293" y="3808582"/>
            <a:ext cx="3393712" cy="294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F67D7454-C77A-991A-9348-2498CCFE6DF0}"/>
              </a:ext>
            </a:extLst>
          </p:cNvPr>
          <p:cNvSpPr txBox="1">
            <a:spLocks/>
          </p:cNvSpPr>
          <p:nvPr/>
        </p:nvSpPr>
        <p:spPr>
          <a:xfrm>
            <a:off x="2333890" y="4303555"/>
            <a:ext cx="1203603" cy="10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S    0 0 0 1</a:t>
            </a:r>
          </a:p>
          <a:p>
            <a:pPr marL="0" indent="0">
              <a:buNone/>
            </a:pPr>
            <a:r>
              <a:rPr kumimoji="1" lang="en-US" altLang="ko-KR" sz="1600"/>
              <a:t>C    1 1 1 0</a:t>
            </a:r>
          </a:p>
          <a:p>
            <a:pPr marL="0" indent="0">
              <a:buNone/>
            </a:pPr>
            <a:r>
              <a:rPr kumimoji="1" lang="en-US" altLang="ko-KR" sz="1600"/>
              <a:t>S    1 0 0 1</a:t>
            </a:r>
            <a:endParaRPr kumimoji="1" lang="ko-KR" altLang="en-US" sz="1600"/>
          </a:p>
          <a:p>
            <a:pPr marL="0" indent="0">
              <a:buNone/>
            </a:pPr>
            <a:endParaRPr kumimoji="1" lang="ko-KR" altLang="en-US" sz="1600"/>
          </a:p>
        </p:txBody>
      </p: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7660B091-304C-0E48-124A-B8F9E2E721AD}"/>
              </a:ext>
            </a:extLst>
          </p:cNvPr>
          <p:cNvCxnSpPr>
            <a:cxnSpLocks/>
          </p:cNvCxnSpPr>
          <p:nvPr/>
        </p:nvCxnSpPr>
        <p:spPr>
          <a:xfrm>
            <a:off x="2254879" y="5323773"/>
            <a:ext cx="1282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42C5A63B-6090-F0FD-7915-25545C86B5D3}"/>
              </a:ext>
            </a:extLst>
          </p:cNvPr>
          <p:cNvSpPr txBox="1">
            <a:spLocks/>
          </p:cNvSpPr>
          <p:nvPr/>
        </p:nvSpPr>
        <p:spPr>
          <a:xfrm>
            <a:off x="2333889" y="5364452"/>
            <a:ext cx="1203603" cy="726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S    0 1 1 0</a:t>
            </a:r>
          </a:p>
          <a:p>
            <a:pPr marL="0" indent="0">
              <a:buNone/>
            </a:pPr>
            <a:r>
              <a:rPr kumimoji="1" lang="en-US" altLang="ko-KR" sz="1600"/>
              <a:t>C    1 0 0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9257E9-6B82-5352-9816-84BFC7FC3692}"/>
              </a:ext>
            </a:extLst>
          </p:cNvPr>
          <p:cNvSpPr txBox="1"/>
          <p:nvPr/>
        </p:nvSpPr>
        <p:spPr>
          <a:xfrm>
            <a:off x="1840292" y="5520155"/>
            <a:ext cx="493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/>
              <a:t>QFA</a:t>
            </a:r>
            <a:endParaRPr kumimoji="1" lang="ko-KR" altLang="en-US" sz="120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E92EDE1-DAEC-3D21-D7D9-8DFE92D0ABC6}"/>
              </a:ext>
            </a:extLst>
          </p:cNvPr>
          <p:cNvCxnSpPr>
            <a:cxnSpLocks/>
          </p:cNvCxnSpPr>
          <p:nvPr/>
        </p:nvCxnSpPr>
        <p:spPr>
          <a:xfrm flipH="1">
            <a:off x="2656512" y="6003479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텍스트 개체 틀 2">
            <a:extLst>
              <a:ext uri="{FF2B5EF4-FFF2-40B4-BE49-F238E27FC236}">
                <a16:creationId xmlns:a16="http://schemas.microsoft.com/office/drawing/2014/main" id="{3860AED0-68DC-9AEE-281F-435086C60E6C}"/>
              </a:ext>
            </a:extLst>
          </p:cNvPr>
          <p:cNvSpPr txBox="1">
            <a:spLocks/>
          </p:cNvSpPr>
          <p:nvPr/>
        </p:nvSpPr>
        <p:spPr>
          <a:xfrm>
            <a:off x="2333889" y="6177157"/>
            <a:ext cx="1203603" cy="317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   1 0 0 1 0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36BD48-E00A-BA5E-B875-2638E2253F26}"/>
              </a:ext>
            </a:extLst>
          </p:cNvPr>
          <p:cNvSpPr txBox="1"/>
          <p:nvPr/>
        </p:nvSpPr>
        <p:spPr>
          <a:xfrm>
            <a:off x="2170249" y="5929973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>
                <a:solidFill>
                  <a:srgbClr val="FF0000"/>
                </a:solidFill>
              </a:rPr>
              <a:t>shift</a:t>
            </a:r>
            <a:endParaRPr kumimoji="1" lang="ko-KR" altLang="en-US" sz="1400">
              <a:solidFill>
                <a:srgbClr val="FF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4331BC8-6F41-AA12-1857-99C9EA89FF62}"/>
              </a:ext>
            </a:extLst>
          </p:cNvPr>
          <p:cNvCxnSpPr>
            <a:cxnSpLocks/>
          </p:cNvCxnSpPr>
          <p:nvPr/>
        </p:nvCxnSpPr>
        <p:spPr>
          <a:xfrm flipH="1">
            <a:off x="2854927" y="6003479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17FC99F-4385-8EA9-E350-627F7AF2DA8C}"/>
              </a:ext>
            </a:extLst>
          </p:cNvPr>
          <p:cNvCxnSpPr>
            <a:cxnSpLocks/>
          </p:cNvCxnSpPr>
          <p:nvPr/>
        </p:nvCxnSpPr>
        <p:spPr>
          <a:xfrm flipH="1">
            <a:off x="3027444" y="6007470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EA9981C-AC55-4A4B-E3FF-FC8AE7D4A8E9}"/>
              </a:ext>
            </a:extLst>
          </p:cNvPr>
          <p:cNvCxnSpPr>
            <a:cxnSpLocks/>
          </p:cNvCxnSpPr>
          <p:nvPr/>
        </p:nvCxnSpPr>
        <p:spPr>
          <a:xfrm flipH="1">
            <a:off x="3211263" y="6005191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텍스트 개체 틀 2">
            <a:extLst>
              <a:ext uri="{FF2B5EF4-FFF2-40B4-BE49-F238E27FC236}">
                <a16:creationId xmlns:a16="http://schemas.microsoft.com/office/drawing/2014/main" id="{58FA37F8-7F98-3CF2-24E1-70E274BF34F2}"/>
              </a:ext>
            </a:extLst>
          </p:cNvPr>
          <p:cNvSpPr txBox="1">
            <a:spLocks/>
          </p:cNvSpPr>
          <p:nvPr/>
        </p:nvSpPr>
        <p:spPr>
          <a:xfrm>
            <a:off x="6046732" y="3789988"/>
            <a:ext cx="5179565" cy="522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2000"/>
              <a:t>3. S = 0110, C = 10010, C = 0100</a:t>
            </a:r>
            <a:endParaRPr kumimoji="1" lang="ko-KR" altLang="en-US" sz="200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3862BCB-D343-76F7-6D0E-FF661CCEDA91}"/>
              </a:ext>
            </a:extLst>
          </p:cNvPr>
          <p:cNvSpPr/>
          <p:nvPr/>
        </p:nvSpPr>
        <p:spPr>
          <a:xfrm>
            <a:off x="6365861" y="3808582"/>
            <a:ext cx="3563663" cy="294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텍스트 개체 틀 2">
            <a:extLst>
              <a:ext uri="{FF2B5EF4-FFF2-40B4-BE49-F238E27FC236}">
                <a16:creationId xmlns:a16="http://schemas.microsoft.com/office/drawing/2014/main" id="{08112908-C5D7-45F2-3273-883DAEC828DF}"/>
              </a:ext>
            </a:extLst>
          </p:cNvPr>
          <p:cNvSpPr txBox="1">
            <a:spLocks/>
          </p:cNvSpPr>
          <p:nvPr/>
        </p:nvSpPr>
        <p:spPr>
          <a:xfrm>
            <a:off x="7969459" y="4303555"/>
            <a:ext cx="1203603" cy="10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S    0 1 1 0</a:t>
            </a:r>
          </a:p>
          <a:p>
            <a:pPr marL="0" indent="0">
              <a:buNone/>
            </a:pPr>
            <a:r>
              <a:rPr kumimoji="1" lang="en-US" altLang="ko-KR" sz="1600"/>
              <a:t>C 1 0 0 1 0</a:t>
            </a:r>
          </a:p>
          <a:p>
            <a:pPr marL="0" indent="0">
              <a:buNone/>
            </a:pPr>
            <a:r>
              <a:rPr kumimoji="1" lang="en-US" altLang="ko-KR" sz="1600"/>
              <a:t>C    0 1 0 0</a:t>
            </a:r>
            <a:endParaRPr kumimoji="1" lang="ko-KR" altLang="en-US" sz="1600"/>
          </a:p>
          <a:p>
            <a:pPr marL="0" indent="0">
              <a:buNone/>
            </a:pPr>
            <a:endParaRPr kumimoji="1" lang="ko-KR" altLang="en-US" sz="1600"/>
          </a:p>
        </p:txBody>
      </p:sp>
      <p:cxnSp>
        <p:nvCxnSpPr>
          <p:cNvPr id="56" name="직선 연결선[R] 55">
            <a:extLst>
              <a:ext uri="{FF2B5EF4-FFF2-40B4-BE49-F238E27FC236}">
                <a16:creationId xmlns:a16="http://schemas.microsoft.com/office/drawing/2014/main" id="{0ED1B9AC-C0CA-3868-69EC-2386D7EAC13A}"/>
              </a:ext>
            </a:extLst>
          </p:cNvPr>
          <p:cNvCxnSpPr>
            <a:cxnSpLocks/>
          </p:cNvCxnSpPr>
          <p:nvPr/>
        </p:nvCxnSpPr>
        <p:spPr>
          <a:xfrm>
            <a:off x="7890448" y="5323773"/>
            <a:ext cx="1282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텍스트 개체 틀 2">
            <a:extLst>
              <a:ext uri="{FF2B5EF4-FFF2-40B4-BE49-F238E27FC236}">
                <a16:creationId xmlns:a16="http://schemas.microsoft.com/office/drawing/2014/main" id="{39FEA9C4-4773-D452-C93E-5F1D4C3630FD}"/>
              </a:ext>
            </a:extLst>
          </p:cNvPr>
          <p:cNvSpPr txBox="1">
            <a:spLocks/>
          </p:cNvSpPr>
          <p:nvPr/>
        </p:nvSpPr>
        <p:spPr>
          <a:xfrm>
            <a:off x="7969458" y="5364452"/>
            <a:ext cx="1282614" cy="726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S 1 0 0 0 0</a:t>
            </a:r>
          </a:p>
          <a:p>
            <a:pPr marL="0" indent="0">
              <a:buNone/>
            </a:pPr>
            <a:r>
              <a:rPr kumimoji="1" lang="en-US" altLang="ko-KR" sz="1600"/>
              <a:t>C    0 1 1 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6C7841-5653-32EE-7D8C-0C64DAC9AAA2}"/>
              </a:ext>
            </a:extLst>
          </p:cNvPr>
          <p:cNvSpPr txBox="1"/>
          <p:nvPr/>
        </p:nvSpPr>
        <p:spPr>
          <a:xfrm>
            <a:off x="7475861" y="5520155"/>
            <a:ext cx="493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/>
              <a:t>QFA</a:t>
            </a:r>
            <a:endParaRPr kumimoji="1" lang="ko-KR" altLang="en-US" sz="120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FA7698B-D594-E6D5-A136-BB16AA2A2759}"/>
              </a:ext>
            </a:extLst>
          </p:cNvPr>
          <p:cNvCxnSpPr>
            <a:cxnSpLocks/>
          </p:cNvCxnSpPr>
          <p:nvPr/>
        </p:nvCxnSpPr>
        <p:spPr>
          <a:xfrm flipH="1">
            <a:off x="8292081" y="6003479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B9A2D0EB-37C7-026D-0FF4-1AA91357CD6A}"/>
              </a:ext>
            </a:extLst>
          </p:cNvPr>
          <p:cNvSpPr txBox="1">
            <a:spLocks/>
          </p:cNvSpPr>
          <p:nvPr/>
        </p:nvSpPr>
        <p:spPr>
          <a:xfrm>
            <a:off x="7969458" y="6177157"/>
            <a:ext cx="1203603" cy="317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600"/>
              <a:t>   0 1 1 0 0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9D748A-9872-936B-F43A-F8DFF0B89115}"/>
              </a:ext>
            </a:extLst>
          </p:cNvPr>
          <p:cNvSpPr txBox="1"/>
          <p:nvPr/>
        </p:nvSpPr>
        <p:spPr>
          <a:xfrm>
            <a:off x="7805818" y="5929973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>
                <a:solidFill>
                  <a:srgbClr val="FF0000"/>
                </a:solidFill>
              </a:rPr>
              <a:t>shift</a:t>
            </a:r>
            <a:endParaRPr kumimoji="1" lang="ko-KR" altLang="en-US" sz="1400">
              <a:solidFill>
                <a:srgbClr val="FF0000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6677107-96AB-CD15-406C-44B694154920}"/>
              </a:ext>
            </a:extLst>
          </p:cNvPr>
          <p:cNvCxnSpPr>
            <a:cxnSpLocks/>
          </p:cNvCxnSpPr>
          <p:nvPr/>
        </p:nvCxnSpPr>
        <p:spPr>
          <a:xfrm flipH="1">
            <a:off x="8490496" y="6003479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9075993-2A7D-2395-FF6B-9D315B1ABCDA}"/>
              </a:ext>
            </a:extLst>
          </p:cNvPr>
          <p:cNvCxnSpPr>
            <a:cxnSpLocks/>
          </p:cNvCxnSpPr>
          <p:nvPr/>
        </p:nvCxnSpPr>
        <p:spPr>
          <a:xfrm flipH="1">
            <a:off x="8663013" y="6007470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33A4B581-387A-22B7-5402-966475744F3A}"/>
              </a:ext>
            </a:extLst>
          </p:cNvPr>
          <p:cNvCxnSpPr>
            <a:cxnSpLocks/>
          </p:cNvCxnSpPr>
          <p:nvPr/>
        </p:nvCxnSpPr>
        <p:spPr>
          <a:xfrm flipH="1">
            <a:off x="8846832" y="6005191"/>
            <a:ext cx="171834" cy="170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5C8666E-214F-4B60-1D8F-2EEB72AFE356}"/>
              </a:ext>
            </a:extLst>
          </p:cNvPr>
          <p:cNvSpPr/>
          <p:nvPr/>
        </p:nvSpPr>
        <p:spPr>
          <a:xfrm>
            <a:off x="7969458" y="5421706"/>
            <a:ext cx="1143857" cy="191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37764A4-CC13-B3E1-3CD4-E1DABA50E1BC}"/>
              </a:ext>
            </a:extLst>
          </p:cNvPr>
          <p:cNvSpPr/>
          <p:nvPr/>
        </p:nvSpPr>
        <p:spPr>
          <a:xfrm>
            <a:off x="7988302" y="6215476"/>
            <a:ext cx="1143857" cy="191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8" name="오른쪽 중괄호[R] 67">
            <a:extLst>
              <a:ext uri="{FF2B5EF4-FFF2-40B4-BE49-F238E27FC236}">
                <a16:creationId xmlns:a16="http://schemas.microsoft.com/office/drawing/2014/main" id="{96B9E12F-30E8-BC98-A2FD-4308839DCB3D}"/>
              </a:ext>
            </a:extLst>
          </p:cNvPr>
          <p:cNvSpPr/>
          <p:nvPr/>
        </p:nvSpPr>
        <p:spPr>
          <a:xfrm>
            <a:off x="9224104" y="5517485"/>
            <a:ext cx="227066" cy="818309"/>
          </a:xfrm>
          <a:prstGeom prst="rightBrace">
            <a:avLst>
              <a:gd name="adj1" fmla="val 32657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149953-29C4-49EF-5F80-10F59E96397A}"/>
              </a:ext>
            </a:extLst>
          </p:cNvPr>
          <p:cNvSpPr txBox="1"/>
          <p:nvPr/>
        </p:nvSpPr>
        <p:spPr>
          <a:xfrm>
            <a:off x="9502213" y="5741973"/>
            <a:ext cx="1853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>
                <a:solidFill>
                  <a:srgbClr val="FF0000"/>
                </a:solidFill>
              </a:rPr>
              <a:t>ADD = 11100 = 28</a:t>
            </a:r>
            <a:endParaRPr kumimoji="1" lang="ko-KR" altLang="en-US" sz="1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6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6B56-E629-98AC-A6C8-07A9522C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459CE-6067-3379-1184-FEB803A8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SHA256 Quantum circuit (Jang et. al)</a:t>
            </a:r>
            <a:endParaRPr kumimoji="1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53D16C-9DCA-450D-431A-CC5F85C59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271" y="2957992"/>
            <a:ext cx="3296421" cy="37895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29CA5DB-EAFA-5E8F-F9EA-89CC20213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710" y="3084044"/>
            <a:ext cx="4871229" cy="3537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5F873C-5BCA-B0E5-9F93-7255E33DBEBE}"/>
              </a:ext>
            </a:extLst>
          </p:cNvPr>
          <p:cNvSpPr txBox="1"/>
          <p:nvPr/>
        </p:nvSpPr>
        <p:spPr>
          <a:xfrm>
            <a:off x="411920" y="1013081"/>
            <a:ext cx="113681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/>
              <a:t>큐비트를 아끼기 위해 특정 라운드 </a:t>
            </a:r>
            <a:r>
              <a:rPr kumimoji="1" lang="en-US" altLang="ko-KR" sz="2000"/>
              <a:t>(9~14)</a:t>
            </a:r>
            <a:r>
              <a:rPr kumimoji="1" lang="ko-KR" altLang="en-US" sz="2000"/>
              <a:t>에서 </a:t>
            </a:r>
            <a:r>
              <a:rPr kumimoji="1" lang="en-US" altLang="ko-KR" sz="2000"/>
              <a:t>csa1  </a:t>
            </a:r>
            <a:r>
              <a:rPr kumimoji="1" lang="en-US" altLang="ko-KR" sz="2000">
                <a:sym typeface="Wingdings" pitchFamily="2" charset="2"/>
              </a:rPr>
              <a:t> csa1_0</a:t>
            </a:r>
            <a:r>
              <a:rPr kumimoji="1" lang="ko-KR" altLang="en-US" sz="2000">
                <a:sym typeface="Wingdings" pitchFamily="2" charset="2"/>
              </a:rPr>
              <a:t> 을 사용 </a:t>
            </a:r>
            <a:r>
              <a:rPr kumimoji="1" lang="en-US" altLang="ko-KR" sz="2000">
                <a:sym typeface="Wingdings" pitchFamily="2" charset="2"/>
              </a:rPr>
              <a:t>(</a:t>
            </a:r>
            <a:r>
              <a:rPr kumimoji="1" lang="ko-KR" altLang="en-US" sz="2000" err="1">
                <a:sym typeface="Wingdings" pitchFamily="2" charset="2"/>
              </a:rPr>
              <a:t>큐비트</a:t>
            </a:r>
            <a:r>
              <a:rPr kumimoji="1" lang="ko-KR" altLang="en-US" sz="2000">
                <a:sym typeface="Wingdings" pitchFamily="2" charset="2"/>
              </a:rPr>
              <a:t> 감소</a:t>
            </a:r>
            <a:r>
              <a:rPr kumimoji="1" lang="en-US" altLang="ko-KR" sz="2000">
                <a:sym typeface="Wingdings" pitchFamily="2" charset="2"/>
              </a:rPr>
              <a:t>, depth </a:t>
            </a:r>
            <a:r>
              <a:rPr kumimoji="1" lang="ko-KR" altLang="en-US" sz="2000">
                <a:sym typeface="Wingdings" pitchFamily="2" charset="2"/>
              </a:rPr>
              <a:t>증가</a:t>
            </a:r>
            <a:r>
              <a:rPr kumimoji="1" lang="en-US" altLang="ko-KR" sz="2000">
                <a:sym typeface="Wingdings" pitchFamily="2" charset="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>
                <a:sym typeface="Wingdings" pitchFamily="2" charset="2"/>
              </a:rPr>
              <a:t>csa1: </a:t>
            </a:r>
            <a:r>
              <a:rPr kumimoji="1" lang="ko-KR" altLang="en-US" sz="2000">
                <a:sym typeface="Wingdings" pitchFamily="2" charset="2"/>
              </a:rPr>
              <a:t>덧셈 입력 항목 </a:t>
            </a:r>
            <a:r>
              <a:rPr kumimoji="1" lang="en-US" altLang="ko-KR" sz="2000">
                <a:sym typeface="Wingdings" pitchFamily="2" charset="2"/>
              </a:rPr>
              <a:t>7</a:t>
            </a:r>
            <a:r>
              <a:rPr kumimoji="1" lang="ko-KR" altLang="en-US" sz="2000">
                <a:sym typeface="Wingdings" pitchFamily="2" charset="2"/>
              </a:rPr>
              <a:t>개 </a:t>
            </a:r>
            <a:r>
              <a:rPr kumimoji="1" lang="en-US" altLang="ko-KR" sz="2000">
                <a:sym typeface="Wingdings" pitchFamily="2" charset="2"/>
              </a:rPr>
              <a:t>(W</a:t>
            </a:r>
            <a:r>
              <a:rPr kumimoji="1" lang="ko-KR" altLang="en-US" sz="2000">
                <a:sym typeface="Wingdings" pitchFamily="2" charset="2"/>
              </a:rPr>
              <a:t>포함</a:t>
            </a:r>
            <a:r>
              <a:rPr kumimoji="1" lang="en-US" altLang="ko-KR" sz="2000">
                <a:sym typeface="Wingdings" pitchFamily="2" charset="2"/>
              </a:rPr>
              <a:t>), 3</a:t>
            </a:r>
            <a:r>
              <a:rPr kumimoji="1" lang="ko-KR" altLang="en-US" sz="2000">
                <a:sym typeface="Wingdings" pitchFamily="2" charset="2"/>
              </a:rPr>
              <a:t>개</a:t>
            </a:r>
            <a:endParaRPr kumimoji="1" lang="en-US" altLang="ko-KR" sz="2000">
              <a:sym typeface="Wingdings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1600">
                <a:sym typeface="Wingdings" pitchFamily="2" charset="2"/>
              </a:rPr>
              <a:t>W[</a:t>
            </a:r>
            <a:r>
              <a:rPr kumimoji="1" lang="en-US" altLang="ko-KR" sz="1600" err="1">
                <a:sym typeface="Wingdings" pitchFamily="2" charset="2"/>
              </a:rPr>
              <a:t>i</a:t>
            </a:r>
            <a:r>
              <a:rPr kumimoji="1" lang="en-US" altLang="ko-KR" sz="1600">
                <a:sym typeface="Wingdings" pitchFamily="2" charset="2"/>
              </a:rPr>
              <a:t>]</a:t>
            </a:r>
            <a:r>
              <a:rPr kumimoji="1" lang="ko-KR" altLang="en-US" sz="1600" err="1">
                <a:sym typeface="Wingdings" pitchFamily="2" charset="2"/>
              </a:rPr>
              <a:t>를</a:t>
            </a:r>
            <a:r>
              <a:rPr kumimoji="1" lang="ko-KR" altLang="en-US" sz="1600">
                <a:sym typeface="Wingdings" pitchFamily="2" charset="2"/>
              </a:rPr>
              <a:t> 포함한 </a:t>
            </a:r>
            <a:r>
              <a:rPr kumimoji="1" lang="en-US" altLang="ko-KR" sz="1600">
                <a:sym typeface="Wingdings" pitchFamily="2" charset="2"/>
              </a:rPr>
              <a:t>7</a:t>
            </a:r>
            <a:r>
              <a:rPr kumimoji="1" lang="ko-KR" altLang="en-US" sz="1600">
                <a:sym typeface="Wingdings" pitchFamily="2" charset="2"/>
              </a:rPr>
              <a:t>개의 입력의 </a:t>
            </a:r>
            <a:r>
              <a:rPr kumimoji="1" lang="ko-KR" altLang="en-US" sz="1600" err="1">
                <a:sym typeface="Wingdings" pitchFamily="2" charset="2"/>
              </a:rPr>
              <a:t>첫단계를</a:t>
            </a:r>
            <a:r>
              <a:rPr kumimoji="1" lang="ko-KR" altLang="en-US" sz="1600">
                <a:sym typeface="Wingdings" pitchFamily="2" charset="2"/>
              </a:rPr>
              <a:t> 병렬로 먼저 처리</a:t>
            </a:r>
            <a:endParaRPr kumimoji="1" lang="en-US" altLang="ko-KR" sz="160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>
                <a:sym typeface="Wingdings" pitchFamily="2" charset="2"/>
              </a:rPr>
              <a:t>csa1_0: </a:t>
            </a:r>
            <a:r>
              <a:rPr kumimoji="1" lang="ko-KR" altLang="en-US" sz="2000">
                <a:sym typeface="Wingdings" pitchFamily="2" charset="2"/>
              </a:rPr>
              <a:t>덧셈 입력 항목 </a:t>
            </a:r>
            <a:r>
              <a:rPr kumimoji="1" lang="en-US" altLang="ko-KR" sz="2000">
                <a:sym typeface="Wingdings" pitchFamily="2" charset="2"/>
              </a:rPr>
              <a:t>6</a:t>
            </a:r>
            <a:r>
              <a:rPr kumimoji="1" lang="ko-KR" altLang="en-US" sz="2000">
                <a:sym typeface="Wingdings" pitchFamily="2" charset="2"/>
              </a:rPr>
              <a:t>개</a:t>
            </a:r>
            <a:r>
              <a:rPr kumimoji="1" lang="en-US" altLang="ko-KR" sz="2000">
                <a:sym typeface="Wingdings" pitchFamily="2" charset="2"/>
              </a:rPr>
              <a:t>, 4</a:t>
            </a:r>
            <a:r>
              <a:rPr kumimoji="1" lang="ko-KR" altLang="en-US" sz="2000">
                <a:sym typeface="Wingdings" pitchFamily="2" charset="2"/>
              </a:rPr>
              <a:t>개</a:t>
            </a:r>
            <a:r>
              <a:rPr kumimoji="1" lang="en-US" altLang="ko-KR" sz="2000">
                <a:sym typeface="Wingdings" pitchFamily="2" charset="2"/>
              </a:rPr>
              <a:t>(W</a:t>
            </a:r>
            <a:r>
              <a:rPr kumimoji="1" lang="ko-KR" altLang="en-US" sz="2000">
                <a:sym typeface="Wingdings" pitchFamily="2" charset="2"/>
              </a:rPr>
              <a:t>포함</a:t>
            </a:r>
            <a:r>
              <a:rPr kumimoji="1" lang="en-US" altLang="ko-KR" sz="2000">
                <a:sym typeface="Wingdings" pitchFamily="2" charset="2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1600">
                <a:sym typeface="Wingdings" pitchFamily="2" charset="2"/>
              </a:rPr>
              <a:t>W[</a:t>
            </a:r>
            <a:r>
              <a:rPr kumimoji="1" lang="en-US" altLang="ko-KR" sz="1600" err="1">
                <a:sym typeface="Wingdings" pitchFamily="2" charset="2"/>
              </a:rPr>
              <a:t>i</a:t>
            </a:r>
            <a:r>
              <a:rPr kumimoji="1" lang="en-US" altLang="ko-KR" sz="1600">
                <a:sym typeface="Wingdings" pitchFamily="2" charset="2"/>
              </a:rPr>
              <a:t>]</a:t>
            </a:r>
            <a:r>
              <a:rPr kumimoji="1" lang="ko-KR" altLang="en-US" sz="1600" err="1">
                <a:sym typeface="Wingdings" pitchFamily="2" charset="2"/>
              </a:rPr>
              <a:t>를</a:t>
            </a:r>
            <a:r>
              <a:rPr kumimoji="1" lang="ko-KR" altLang="en-US" sz="1600">
                <a:sym typeface="Wingdings" pitchFamily="2" charset="2"/>
              </a:rPr>
              <a:t> 제외한 </a:t>
            </a:r>
            <a:r>
              <a:rPr kumimoji="1" lang="en-US" altLang="ko-KR" sz="1600">
                <a:sym typeface="Wingdings" pitchFamily="2" charset="2"/>
              </a:rPr>
              <a:t>6</a:t>
            </a:r>
            <a:r>
              <a:rPr kumimoji="1" lang="ko-KR" altLang="en-US" sz="1600">
                <a:sym typeface="Wingdings" pitchFamily="2" charset="2"/>
              </a:rPr>
              <a:t>개만 먼저 계산</a:t>
            </a:r>
            <a:r>
              <a:rPr kumimoji="1" lang="en-US" altLang="ko-KR" sz="1600">
                <a:sym typeface="Wingdings" pitchFamily="2" charset="2"/>
              </a:rPr>
              <a:t>(ancilla</a:t>
            </a:r>
            <a:r>
              <a:rPr kumimoji="1" lang="ko-KR" altLang="en-US" sz="1600">
                <a:sym typeface="Wingdings" pitchFamily="2" charset="2"/>
              </a:rPr>
              <a:t> 부족</a:t>
            </a:r>
            <a:r>
              <a:rPr kumimoji="1" lang="en-US" altLang="ko-KR" sz="1600">
                <a:sym typeface="Wingdings" pitchFamily="2" charset="2"/>
              </a:rPr>
              <a:t>, </a:t>
            </a:r>
            <a:r>
              <a:rPr kumimoji="1" lang="ko-KR" altLang="en-US" sz="1600">
                <a:sym typeface="Wingdings" pitchFamily="2" charset="2"/>
              </a:rPr>
              <a:t>일부 </a:t>
            </a:r>
            <a:r>
              <a:rPr kumimoji="1" lang="en-US" altLang="ko-KR" sz="1600">
                <a:sym typeface="Wingdings" pitchFamily="2" charset="2"/>
              </a:rPr>
              <a:t>ancilla </a:t>
            </a:r>
            <a:r>
              <a:rPr kumimoji="1" lang="ko-KR" altLang="en-US" sz="1600">
                <a:sym typeface="Wingdings" pitchFamily="2" charset="2"/>
              </a:rPr>
              <a:t>가져와서 사용</a:t>
            </a:r>
            <a:r>
              <a:rPr kumimoji="1" lang="en-US" altLang="ko-KR" sz="1600">
                <a:sym typeface="Wingdings" pitchFamily="2" charset="2"/>
              </a:rPr>
              <a:t>)</a:t>
            </a:r>
            <a:endParaRPr kumimoji="1"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238348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1667</Words>
  <Application>Microsoft Macintosh PowerPoint</Application>
  <PresentationFormat>와이드스크린</PresentationFormat>
  <Paragraphs>187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Cambria Math</vt:lpstr>
      <vt:lpstr>Wingdings</vt:lpstr>
      <vt:lpstr>제목 테마</vt:lpstr>
      <vt:lpstr>SHA256 알고리즘 &amp; 양자회로 분석</vt:lpstr>
      <vt:lpstr>SHA256 Structure</vt:lpstr>
      <vt:lpstr>Compression function in SHA256</vt:lpstr>
      <vt:lpstr>SHA256 Quantum circuit</vt:lpstr>
      <vt:lpstr>SHA256 Quantum circuit (Lee et. al)</vt:lpstr>
      <vt:lpstr>SHA256 Quantum circuit (Lee et. al)</vt:lpstr>
      <vt:lpstr>SHA256 Quantum circuit (Lee et. al)</vt:lpstr>
      <vt:lpstr>SHA256 Quantum circuit (Lee et. al)</vt:lpstr>
      <vt:lpstr>SHA256 Quantum circuit (Lee et. al)</vt:lpstr>
      <vt:lpstr>SHA256 Quantum circuit (Jang et. al)</vt:lpstr>
      <vt:lpstr>SHA256 Quantum circuit (Jang et. al)</vt:lpstr>
      <vt:lpstr>SHA256 Quantum circuit (Jang et. al)</vt:lpstr>
      <vt:lpstr>Quantum carry-save adder (QCSA)</vt:lpstr>
      <vt:lpstr>Quantum carry-save adder (QCSA)</vt:lpstr>
      <vt:lpstr>SHA256 Quantum circuit (Jang et. al)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송경주</cp:lastModifiedBy>
  <cp:revision>3</cp:revision>
  <dcterms:created xsi:type="dcterms:W3CDTF">2019-03-05T04:29:07Z</dcterms:created>
  <dcterms:modified xsi:type="dcterms:W3CDTF">2025-12-14T12:51:49Z</dcterms:modified>
</cp:coreProperties>
</file>