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  <p:sldMasterId id="2147483664" r:id="rId2"/>
  </p:sldMasterIdLst>
  <p:notesMasterIdLst>
    <p:notesMasterId r:id="rId16"/>
  </p:notesMasterIdLst>
  <p:handoutMasterIdLst>
    <p:handoutMasterId r:id="rId17"/>
  </p:handoutMasterIdLst>
  <p:sldIdLst>
    <p:sldId id="269" r:id="rId3"/>
    <p:sldId id="289" r:id="rId4"/>
    <p:sldId id="292" r:id="rId5"/>
    <p:sldId id="291" r:id="rId6"/>
    <p:sldId id="293" r:id="rId7"/>
    <p:sldId id="299" r:id="rId8"/>
    <p:sldId id="296" r:id="rId9"/>
    <p:sldId id="300" r:id="rId10"/>
    <p:sldId id="297" r:id="rId11"/>
    <p:sldId id="298" r:id="rId12"/>
    <p:sldId id="301" r:id="rId13"/>
    <p:sldId id="294" r:id="rId14"/>
    <p:sldId id="274" r:id="rId15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E75B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B19EE37-3EB1-DF48-B874-A24472BD178A}" v="5" dt="2025-12-14T15:02:22.849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7204" autoAdjust="0"/>
    <p:restoredTop sz="94894"/>
  </p:normalViewPr>
  <p:slideViewPr>
    <p:cSldViewPr snapToGrid="0">
      <p:cViewPr varScale="1">
        <p:scale>
          <a:sx n="179" d="100"/>
          <a:sy n="179" d="100"/>
        </p:scale>
        <p:origin x="1376" y="18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3730" y="91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presProps" Target="presProps.xml"/><Relationship Id="rId3" Type="http://schemas.openxmlformats.org/officeDocument/2006/relationships/slide" Target="slides/slide1.xml"/><Relationship Id="rId21" Type="http://schemas.openxmlformats.org/officeDocument/2006/relationships/tableStyles" Target="tableStyles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handoutMaster" Target="handoutMasters/handoutMaster1.xml"/><Relationship Id="rId2" Type="http://schemas.openxmlformats.org/officeDocument/2006/relationships/slideMaster" Target="slideMasters/slideMaster2.xml"/><Relationship Id="rId16" Type="http://schemas.openxmlformats.org/officeDocument/2006/relationships/notesMaster" Target="notesMasters/notesMaster1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10" Type="http://schemas.openxmlformats.org/officeDocument/2006/relationships/slide" Target="slides/slide8.xml"/><Relationship Id="rId19" Type="http://schemas.openxmlformats.org/officeDocument/2006/relationships/viewProps" Target="viewProp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microsoft.com/office/2015/10/relationships/revisionInfo" Target="revisionInfo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5546E7E-6CE1-4F62-BC39-1BE7148D0D0D}" type="datetimeFigureOut">
              <a:rPr lang="ko-KR" altLang="en-US" smtClean="0"/>
              <a:t>2025. 12. 14.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2F56489-CFDC-4DF4-92D1-C366C0FB173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4984057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B8A1C54-2D0D-48EB-888A-9786B070F533}" type="datetimeFigureOut">
              <a:rPr lang="ko-KR" altLang="en-US" smtClean="0"/>
              <a:t>2025. 12. 14.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002C913-610E-4BF0-B55F-9CE65BBA65D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329765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02C913-610E-4BF0-B55F-9CE65BBA65D1}" type="slidenum">
              <a:rPr lang="ko-KR" altLang="en-US" smtClean="0"/>
              <a:t>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7189794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11920" y="207747"/>
            <a:ext cx="11368160" cy="762163"/>
          </a:xfrm>
        </p:spPr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ko-KR" altLang="en-US"/>
              <a:t>마스터 제목 스타일 편집</a:t>
            </a:r>
            <a:endParaRPr lang="ko-KR" altLang="en-US" dirty="0"/>
          </a:p>
        </p:txBody>
      </p:sp>
      <p:sp>
        <p:nvSpPr>
          <p:cNvPr id="20" name="모서리가 둥근 직사각형 19"/>
          <p:cNvSpPr/>
          <p:nvPr userDrawn="1"/>
        </p:nvSpPr>
        <p:spPr>
          <a:xfrm>
            <a:off x="411920" y="207747"/>
            <a:ext cx="11368160" cy="762163"/>
          </a:xfrm>
          <a:prstGeom prst="roundRect">
            <a:avLst/>
          </a:prstGeom>
          <a:noFill/>
          <a:ln w="19050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텍스트 개체 틀 8"/>
          <p:cNvSpPr>
            <a:spLocks noGrp="1"/>
          </p:cNvSpPr>
          <p:nvPr>
            <p:ph type="body" sz="quarter" idx="10"/>
          </p:nvPr>
        </p:nvSpPr>
        <p:spPr>
          <a:xfrm>
            <a:off x="411163" y="1152525"/>
            <a:ext cx="11369675" cy="5057775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</p:spTree>
    <p:extLst>
      <p:ext uri="{BB962C8B-B14F-4D97-AF65-F5344CB8AC3E}">
        <p14:creationId xmlns:p14="http://schemas.microsoft.com/office/powerpoint/2010/main" val="81985057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0" y="1223120"/>
            <a:ext cx="12192000" cy="2387600"/>
          </a:xfrm>
        </p:spPr>
        <p:txBody>
          <a:bodyPr anchor="ctr"/>
          <a:lstStyle>
            <a:lvl1pPr algn="ctr">
              <a:defRPr sz="6000" b="0">
                <a:latin typeface="+mj-ea"/>
                <a:ea typeface="+mj-ea"/>
                <a:cs typeface="함초롬돋움" panose="020B0604000101010101" pitchFamily="50" charset="-127"/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-2" y="3794871"/>
            <a:ext cx="12192001" cy="1655762"/>
          </a:xfrm>
        </p:spPr>
        <p:txBody>
          <a:bodyPr anchor="ctr"/>
          <a:lstStyle>
            <a:lvl1pPr marL="0" indent="0" algn="ctr">
              <a:buNone/>
              <a:defRPr sz="2400">
                <a:latin typeface="+mn-ea"/>
                <a:ea typeface="+mn-ea"/>
                <a:cs typeface="함초롬돋움" panose="020B0604000101010101" pitchFamily="50" charset="-127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 dirty="0"/>
              <a:t>클릭하여 마스터 부제목 스타일 편집</a:t>
            </a:r>
          </a:p>
        </p:txBody>
      </p:sp>
      <p:pic>
        <p:nvPicPr>
          <p:cNvPr id="8" name="그림 7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896" y="6195047"/>
            <a:ext cx="3026852" cy="642781"/>
          </a:xfrm>
          <a:prstGeom prst="rect">
            <a:avLst/>
          </a:prstGeom>
        </p:spPr>
      </p:pic>
      <p:pic>
        <p:nvPicPr>
          <p:cNvPr id="9" name="그림 8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80202" y="6215220"/>
            <a:ext cx="1311798" cy="6427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82633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목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" name="직선 연결선 8"/>
          <p:cNvCxnSpPr>
            <a:cxnSpLocks/>
          </p:cNvCxnSpPr>
          <p:nvPr userDrawn="1"/>
        </p:nvCxnSpPr>
        <p:spPr>
          <a:xfrm>
            <a:off x="4863597" y="2208981"/>
            <a:ext cx="1994074" cy="0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텍스트 개체 틀 4"/>
          <p:cNvSpPr>
            <a:spLocks noGrp="1"/>
          </p:cNvSpPr>
          <p:nvPr>
            <p:ph type="body" sz="quarter" idx="11" hasCustomPrompt="1"/>
          </p:nvPr>
        </p:nvSpPr>
        <p:spPr>
          <a:xfrm>
            <a:off x="1055592" y="1691017"/>
            <a:ext cx="10071852" cy="718952"/>
          </a:xfrm>
          <a:ln w="28575">
            <a:noFill/>
          </a:ln>
        </p:spPr>
        <p:txBody>
          <a:bodyPr anchor="ctr">
            <a:normAutofit/>
          </a:bodyPr>
          <a:lstStyle>
            <a:lvl1pPr marL="0" indent="0">
              <a:buNone/>
              <a:defRPr sz="2800" b="0" baseline="0">
                <a:ln>
                  <a:solidFill>
                    <a:schemeClr val="bg2">
                      <a:lumMod val="25000"/>
                    </a:schemeClr>
                  </a:solidFill>
                </a:ln>
                <a:solidFill>
                  <a:schemeClr val="bg2">
                    <a:lumMod val="25000"/>
                  </a:schemeClr>
                </a:solidFill>
                <a:latin typeface="+mn-ea"/>
                <a:ea typeface="+mn-ea"/>
              </a:defRPr>
            </a:lvl1pPr>
          </a:lstStyle>
          <a:p>
            <a:pPr lvl="0"/>
            <a:r>
              <a:rPr lang="ko-KR" altLang="en-US" dirty="0"/>
              <a:t>제목</a:t>
            </a:r>
          </a:p>
        </p:txBody>
      </p:sp>
      <p:sp>
        <p:nvSpPr>
          <p:cNvPr id="70" name="텍스트 개체 틀 4"/>
          <p:cNvSpPr>
            <a:spLocks noGrp="1"/>
          </p:cNvSpPr>
          <p:nvPr>
            <p:ph type="body" sz="quarter" idx="25" hasCustomPrompt="1"/>
          </p:nvPr>
        </p:nvSpPr>
        <p:spPr>
          <a:xfrm>
            <a:off x="1055592" y="2606858"/>
            <a:ext cx="10071850" cy="718952"/>
          </a:xfrm>
          <a:ln w="28575">
            <a:noFill/>
          </a:ln>
        </p:spPr>
        <p:txBody>
          <a:bodyPr anchor="ctr">
            <a:normAutofit/>
          </a:bodyPr>
          <a:lstStyle>
            <a:lvl1pPr marL="0" indent="0">
              <a:buNone/>
              <a:defRPr sz="2800" b="0" baseline="0">
                <a:ln>
                  <a:solidFill>
                    <a:schemeClr val="bg2">
                      <a:lumMod val="25000"/>
                    </a:schemeClr>
                  </a:solidFill>
                </a:ln>
                <a:solidFill>
                  <a:schemeClr val="bg2">
                    <a:lumMod val="25000"/>
                  </a:schemeClr>
                </a:solidFill>
                <a:latin typeface="+mn-ea"/>
                <a:ea typeface="+mn-ea"/>
              </a:defRPr>
            </a:lvl1pPr>
          </a:lstStyle>
          <a:p>
            <a:pPr lvl="0"/>
            <a:r>
              <a:rPr lang="ko-KR" altLang="en-US" dirty="0"/>
              <a:t>제목</a:t>
            </a:r>
          </a:p>
        </p:txBody>
      </p:sp>
      <p:sp>
        <p:nvSpPr>
          <p:cNvPr id="76" name="텍스트 개체 틀 4"/>
          <p:cNvSpPr>
            <a:spLocks noGrp="1"/>
          </p:cNvSpPr>
          <p:nvPr>
            <p:ph type="body" sz="quarter" idx="27" hasCustomPrompt="1"/>
          </p:nvPr>
        </p:nvSpPr>
        <p:spPr>
          <a:xfrm>
            <a:off x="1055592" y="3526039"/>
            <a:ext cx="10071850" cy="718952"/>
          </a:xfrm>
          <a:ln w="28575">
            <a:noFill/>
          </a:ln>
        </p:spPr>
        <p:txBody>
          <a:bodyPr anchor="ctr">
            <a:normAutofit/>
          </a:bodyPr>
          <a:lstStyle>
            <a:lvl1pPr marL="0" indent="0">
              <a:buNone/>
              <a:defRPr sz="2800" b="0" baseline="0">
                <a:ln>
                  <a:solidFill>
                    <a:schemeClr val="bg2">
                      <a:lumMod val="25000"/>
                    </a:schemeClr>
                  </a:solidFill>
                </a:ln>
                <a:solidFill>
                  <a:schemeClr val="bg2">
                    <a:lumMod val="25000"/>
                  </a:schemeClr>
                </a:solidFill>
                <a:latin typeface="+mn-ea"/>
                <a:ea typeface="+mn-ea"/>
              </a:defRPr>
            </a:lvl1pPr>
          </a:lstStyle>
          <a:p>
            <a:pPr lvl="0"/>
            <a:r>
              <a:rPr lang="ko-KR" altLang="en-US" dirty="0"/>
              <a:t>제목</a:t>
            </a:r>
          </a:p>
        </p:txBody>
      </p:sp>
      <p:sp>
        <p:nvSpPr>
          <p:cNvPr id="79" name="텍스트 개체 틀 4"/>
          <p:cNvSpPr>
            <a:spLocks noGrp="1"/>
          </p:cNvSpPr>
          <p:nvPr>
            <p:ph type="body" sz="quarter" idx="29" hasCustomPrompt="1"/>
          </p:nvPr>
        </p:nvSpPr>
        <p:spPr>
          <a:xfrm>
            <a:off x="1055593" y="4441880"/>
            <a:ext cx="10071849" cy="718952"/>
          </a:xfrm>
          <a:ln w="28575">
            <a:noFill/>
          </a:ln>
        </p:spPr>
        <p:txBody>
          <a:bodyPr anchor="ctr">
            <a:normAutofit/>
          </a:bodyPr>
          <a:lstStyle>
            <a:lvl1pPr marL="0" indent="0">
              <a:buNone/>
              <a:defRPr sz="2800" b="0" baseline="0">
                <a:ln>
                  <a:solidFill>
                    <a:schemeClr val="bg2">
                      <a:lumMod val="25000"/>
                    </a:schemeClr>
                  </a:solidFill>
                </a:ln>
                <a:solidFill>
                  <a:schemeClr val="bg2">
                    <a:lumMod val="25000"/>
                  </a:schemeClr>
                </a:solidFill>
                <a:latin typeface="+mn-ea"/>
                <a:ea typeface="+mn-ea"/>
              </a:defRPr>
            </a:lvl1pPr>
          </a:lstStyle>
          <a:p>
            <a:pPr lvl="0"/>
            <a:r>
              <a:rPr lang="ko-KR" altLang="en-US" dirty="0"/>
              <a:t>제목</a:t>
            </a:r>
          </a:p>
        </p:txBody>
      </p:sp>
      <p:sp>
        <p:nvSpPr>
          <p:cNvPr id="11" name="모서리가 둥근 직사각형 19">
            <a:extLst>
              <a:ext uri="{FF2B5EF4-FFF2-40B4-BE49-F238E27FC236}">
                <a16:creationId xmlns:a16="http://schemas.microsoft.com/office/drawing/2014/main" id="{9A1001AF-7C71-4701-94B0-3772F84D3418}"/>
              </a:ext>
            </a:extLst>
          </p:cNvPr>
          <p:cNvSpPr/>
          <p:nvPr userDrawn="1"/>
        </p:nvSpPr>
        <p:spPr>
          <a:xfrm>
            <a:off x="1064556" y="1691018"/>
            <a:ext cx="10062886" cy="715612"/>
          </a:xfrm>
          <a:prstGeom prst="roundRect">
            <a:avLst/>
          </a:prstGeom>
          <a:noFill/>
          <a:ln w="19050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모서리가 둥근 직사각형 19">
            <a:extLst>
              <a:ext uri="{FF2B5EF4-FFF2-40B4-BE49-F238E27FC236}">
                <a16:creationId xmlns:a16="http://schemas.microsoft.com/office/drawing/2014/main" id="{D9E18A4C-9D39-4312-9D41-EA0FA0703DAD}"/>
              </a:ext>
            </a:extLst>
          </p:cNvPr>
          <p:cNvSpPr/>
          <p:nvPr userDrawn="1"/>
        </p:nvSpPr>
        <p:spPr>
          <a:xfrm>
            <a:off x="1064556" y="2603620"/>
            <a:ext cx="10062886" cy="715612"/>
          </a:xfrm>
          <a:prstGeom prst="roundRect">
            <a:avLst/>
          </a:prstGeom>
          <a:noFill/>
          <a:ln w="19050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모서리가 둥근 직사각형 19">
            <a:extLst>
              <a:ext uri="{FF2B5EF4-FFF2-40B4-BE49-F238E27FC236}">
                <a16:creationId xmlns:a16="http://schemas.microsoft.com/office/drawing/2014/main" id="{DD43020D-DDFD-4ED7-A112-51545002358E}"/>
              </a:ext>
            </a:extLst>
          </p:cNvPr>
          <p:cNvSpPr/>
          <p:nvPr userDrawn="1"/>
        </p:nvSpPr>
        <p:spPr>
          <a:xfrm>
            <a:off x="1064556" y="3532617"/>
            <a:ext cx="10062886" cy="715612"/>
          </a:xfrm>
          <a:prstGeom prst="roundRect">
            <a:avLst/>
          </a:prstGeom>
          <a:noFill/>
          <a:ln w="19050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" name="모서리가 둥근 직사각형 19">
            <a:extLst>
              <a:ext uri="{FF2B5EF4-FFF2-40B4-BE49-F238E27FC236}">
                <a16:creationId xmlns:a16="http://schemas.microsoft.com/office/drawing/2014/main" id="{7B5C337D-B310-4C62-8229-6DD25DC8C899}"/>
              </a:ext>
            </a:extLst>
          </p:cNvPr>
          <p:cNvSpPr/>
          <p:nvPr userDrawn="1"/>
        </p:nvSpPr>
        <p:spPr>
          <a:xfrm>
            <a:off x="1064556" y="4445220"/>
            <a:ext cx="10062886" cy="715612"/>
          </a:xfrm>
          <a:prstGeom prst="roundRect">
            <a:avLst/>
          </a:prstGeom>
          <a:noFill/>
          <a:ln w="19050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4914753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종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/>
          <p:cNvSpPr/>
          <p:nvPr userDrawn="1"/>
        </p:nvSpPr>
        <p:spPr>
          <a:xfrm>
            <a:off x="0" y="2767280"/>
            <a:ext cx="12191999" cy="132343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ko-KR" sz="8000" dirty="0">
                <a:latin typeface="+mj-lt"/>
              </a:rPr>
              <a:t>Q &amp; A</a:t>
            </a:r>
            <a:endParaRPr lang="ko-KR" altLang="en-US" sz="8000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132943816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4.xml"/><Relationship Id="rId2" Type="http://schemas.openxmlformats.org/officeDocument/2006/relationships/slideLayout" Target="../slideLayouts/slideLayout3.xml"/><Relationship Id="rId1" Type="http://schemas.openxmlformats.org/officeDocument/2006/relationships/slideLayout" Target="../slideLayouts/slideLayout2.xml"/><Relationship Id="rId4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dirty="0"/>
              <a:t>마스터 텍스트 스타일 편집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  <p:sp>
        <p:nvSpPr>
          <p:cNvPr id="10" name="직사각형 9"/>
          <p:cNvSpPr/>
          <p:nvPr userDrawn="1"/>
        </p:nvSpPr>
        <p:spPr>
          <a:xfrm>
            <a:off x="8623390" y="6412231"/>
            <a:ext cx="3568610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fld id="{86B743E8-9D27-4F69-87ED-4623B89CBF9F}" type="slidenum">
              <a:rPr lang="ko-KR" altLang="en-US" sz="2000" smtClean="0">
                <a:solidFill>
                  <a:schemeClr val="tx1"/>
                </a:solidFill>
                <a:latin typeface="+mn-lt"/>
              </a:rPr>
              <a:t>‹#›</a:t>
            </a:fld>
            <a:endParaRPr lang="ko-KR" altLang="en-US" sz="2000" dirty="0">
              <a:solidFill>
                <a:schemeClr val="tx1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10699327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0" r:id="rId1"/>
  </p:sldLayoutIdLst>
  <p:hf sldNum="0" hdr="0" ftr="0" dt="0"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dirty="0"/>
              <a:t>마스터 텍스트 스타일 편집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8DAAC8-442A-4C15-9819-F07FF5E73150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5966651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5" r:id="rId1"/>
    <p:sldLayoutId id="2147483666" r:id="rId2"/>
    <p:sldLayoutId id="2147483669" r:id="rId3"/>
  </p:sldLayoutIdLst>
  <p:hf sldNum="0" hdr="0" ftr="0" dt="0"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https://youtu.be/IeaQ9avMYgk" TargetMode="Externa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svg"/><Relationship Id="rId13" Type="http://schemas.openxmlformats.org/officeDocument/2006/relationships/image" Target="../media/image17.png"/><Relationship Id="rId18" Type="http://schemas.openxmlformats.org/officeDocument/2006/relationships/image" Target="../media/image22.svg"/><Relationship Id="rId26" Type="http://schemas.openxmlformats.org/officeDocument/2006/relationships/image" Target="../media/image30.svg"/><Relationship Id="rId3" Type="http://schemas.openxmlformats.org/officeDocument/2006/relationships/image" Target="../media/image7.png"/><Relationship Id="rId21" Type="http://schemas.openxmlformats.org/officeDocument/2006/relationships/image" Target="../media/image25.png"/><Relationship Id="rId7" Type="http://schemas.openxmlformats.org/officeDocument/2006/relationships/image" Target="../media/image11.png"/><Relationship Id="rId12" Type="http://schemas.openxmlformats.org/officeDocument/2006/relationships/image" Target="../media/image16.svg"/><Relationship Id="rId17" Type="http://schemas.openxmlformats.org/officeDocument/2006/relationships/image" Target="../media/image21.png"/><Relationship Id="rId25" Type="http://schemas.openxmlformats.org/officeDocument/2006/relationships/image" Target="../media/image29.png"/><Relationship Id="rId2" Type="http://schemas.openxmlformats.org/officeDocument/2006/relationships/notesSlide" Target="../notesSlides/notesSlide1.xml"/><Relationship Id="rId16" Type="http://schemas.openxmlformats.org/officeDocument/2006/relationships/image" Target="../media/image20.svg"/><Relationship Id="rId20" Type="http://schemas.openxmlformats.org/officeDocument/2006/relationships/image" Target="../media/image24.sv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svg"/><Relationship Id="rId11" Type="http://schemas.openxmlformats.org/officeDocument/2006/relationships/image" Target="../media/image15.png"/><Relationship Id="rId24" Type="http://schemas.openxmlformats.org/officeDocument/2006/relationships/image" Target="../media/image28.svg"/><Relationship Id="rId5" Type="http://schemas.openxmlformats.org/officeDocument/2006/relationships/image" Target="../media/image9.png"/><Relationship Id="rId15" Type="http://schemas.openxmlformats.org/officeDocument/2006/relationships/image" Target="../media/image19.png"/><Relationship Id="rId23" Type="http://schemas.openxmlformats.org/officeDocument/2006/relationships/image" Target="../media/image27.png"/><Relationship Id="rId28" Type="http://schemas.openxmlformats.org/officeDocument/2006/relationships/image" Target="../media/image32.svg"/><Relationship Id="rId10" Type="http://schemas.openxmlformats.org/officeDocument/2006/relationships/image" Target="../media/image14.svg"/><Relationship Id="rId19" Type="http://schemas.openxmlformats.org/officeDocument/2006/relationships/image" Target="../media/image23.png"/><Relationship Id="rId4" Type="http://schemas.openxmlformats.org/officeDocument/2006/relationships/image" Target="../media/image8.svg"/><Relationship Id="rId9" Type="http://schemas.openxmlformats.org/officeDocument/2006/relationships/image" Target="../media/image13.png"/><Relationship Id="rId14" Type="http://schemas.openxmlformats.org/officeDocument/2006/relationships/image" Target="../media/image18.svg"/><Relationship Id="rId22" Type="http://schemas.openxmlformats.org/officeDocument/2006/relationships/image" Target="../media/image26.svg"/><Relationship Id="rId27" Type="http://schemas.openxmlformats.org/officeDocument/2006/relationships/image" Target="../media/image31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9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/>
        <p:txBody>
          <a:bodyPr>
            <a:noAutofit/>
          </a:bodyPr>
          <a:lstStyle/>
          <a:p>
            <a:r>
              <a:rPr lang="en" altLang="ko-KR" sz="4400" dirty="0"/>
              <a:t>Zero-Downtime Post-Quantum TLS 1.3</a:t>
            </a:r>
            <a:br>
              <a:rPr lang="en" altLang="ko-KR" sz="4400" dirty="0"/>
            </a:br>
            <a:r>
              <a:rPr lang="en" altLang="ko-KR" sz="4400" dirty="0"/>
              <a:t>Migration: A Bridge-Server-Based Approach</a:t>
            </a:r>
            <a:endParaRPr lang="ko-KR" altLang="en-US" sz="4400" dirty="0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" altLang="ko-KR" dirty="0">
                <a:hlinkClick r:id="rId2"/>
              </a:rPr>
              <a:t>https://youtu.be/IeaQ9avMYgk</a:t>
            </a:r>
            <a:r>
              <a:rPr lang="ko-KR" alt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40632220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024FF3-50C9-0540-1A0E-6E6914D4E7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DA31D49-A797-0AB8-AEAE-4124816718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" altLang="ko-KR" dirty="0"/>
              <a:t>Zero-Downtime Post-Quantum TLS 1.3 Migration</a:t>
            </a:r>
            <a:endParaRPr lang="ko-KR" altLang="en-US" dirty="0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5FA8271D-9EBD-D922-3BD9-FCBB25892E7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ko-KR" altLang="en-US" b="1" dirty="0"/>
              <a:t>시스템 전체 구조도</a:t>
            </a: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A46ED0DC-44D4-0274-A2BA-4137FE522AF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703" t="5616" r="1370" b="21132"/>
          <a:stretch>
            <a:fillRect/>
          </a:stretch>
        </p:blipFill>
        <p:spPr>
          <a:xfrm>
            <a:off x="2335899" y="2054442"/>
            <a:ext cx="7767073" cy="4743778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47443084-8DB9-1699-B4A5-C6135B1C9E6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703" t="82975" r="1370" b="2772"/>
          <a:stretch>
            <a:fillRect/>
          </a:stretch>
        </p:blipFill>
        <p:spPr>
          <a:xfrm>
            <a:off x="4958866" y="1061217"/>
            <a:ext cx="6821214" cy="8106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300960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891D76-6C0A-DFF0-4C24-C894F12605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96C7DFA-EEAF-6580-9D00-9F88AD8900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시스템 구성 요소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98071740-78B6-E09B-005D-D36C19D1027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>
            <a:normAutofit/>
          </a:bodyPr>
          <a:lstStyle/>
          <a:p>
            <a:r>
              <a:rPr lang="ko-KR" altLang="en-US" sz="2400" b="1" dirty="0"/>
              <a:t>클라이언트</a:t>
            </a:r>
            <a:endParaRPr lang="en-US" altLang="ko-KR" sz="2400" b="1" dirty="0"/>
          </a:p>
          <a:p>
            <a:pPr lvl="1"/>
            <a:r>
              <a:rPr lang="en-US" altLang="ko-KR" sz="2000" b="1" dirty="0">
                <a:solidFill>
                  <a:srgbClr val="2E75B6"/>
                </a:solidFill>
              </a:rPr>
              <a:t>Classic</a:t>
            </a:r>
            <a:r>
              <a:rPr lang="ko-KR" altLang="en-US" sz="2000" b="1" dirty="0">
                <a:solidFill>
                  <a:srgbClr val="2E75B6"/>
                </a:solidFill>
              </a:rPr>
              <a:t> </a:t>
            </a:r>
            <a:r>
              <a:rPr lang="en-US" altLang="ko-KR" sz="2000" b="1" dirty="0">
                <a:solidFill>
                  <a:srgbClr val="2E75B6"/>
                </a:solidFill>
              </a:rPr>
              <a:t>TLS </a:t>
            </a:r>
            <a:r>
              <a:rPr lang="ko-KR" altLang="en-US" sz="2000" b="1" dirty="0">
                <a:solidFill>
                  <a:srgbClr val="2E75B6"/>
                </a:solidFill>
              </a:rPr>
              <a:t>클라이언트</a:t>
            </a:r>
            <a:r>
              <a:rPr lang="en-US" altLang="ko-KR" sz="2000" b="1" dirty="0">
                <a:solidFill>
                  <a:srgbClr val="2E75B6"/>
                </a:solidFill>
              </a:rPr>
              <a:t>(v1), PQC</a:t>
            </a:r>
            <a:r>
              <a:rPr lang="ko-KR" altLang="en-US" sz="2000" b="1" dirty="0">
                <a:solidFill>
                  <a:srgbClr val="2E75B6"/>
                </a:solidFill>
              </a:rPr>
              <a:t> </a:t>
            </a:r>
            <a:r>
              <a:rPr lang="en-US" altLang="ko-KR" sz="2000" b="1" dirty="0">
                <a:solidFill>
                  <a:srgbClr val="2E75B6"/>
                </a:solidFill>
              </a:rPr>
              <a:t>TLS </a:t>
            </a:r>
            <a:r>
              <a:rPr lang="ko-KR" altLang="en-US" sz="2000" b="1" dirty="0">
                <a:solidFill>
                  <a:srgbClr val="2E75B6"/>
                </a:solidFill>
              </a:rPr>
              <a:t>클라이언트</a:t>
            </a:r>
            <a:r>
              <a:rPr lang="en-US" altLang="ko-KR" sz="2000" b="1" dirty="0">
                <a:solidFill>
                  <a:srgbClr val="2E75B6"/>
                </a:solidFill>
              </a:rPr>
              <a:t>(v2)</a:t>
            </a:r>
            <a:r>
              <a:rPr lang="ko-KR" altLang="en-US" sz="2000" dirty="0"/>
              <a:t>로 구분됨</a:t>
            </a:r>
            <a:endParaRPr lang="en-US" altLang="ko-KR" sz="2000" dirty="0"/>
          </a:p>
          <a:p>
            <a:pPr lvl="1"/>
            <a:r>
              <a:rPr lang="ko-KR" altLang="en-US" sz="2000" dirty="0"/>
              <a:t>역할 </a:t>
            </a:r>
            <a:r>
              <a:rPr lang="en-US" altLang="ko-KR" sz="2000" dirty="0"/>
              <a:t>: Bridge</a:t>
            </a:r>
            <a:r>
              <a:rPr lang="ko-KR" altLang="en-US" sz="2000" dirty="0" err="1"/>
              <a:t>를</a:t>
            </a:r>
            <a:r>
              <a:rPr lang="ko-KR" altLang="en-US" sz="2000" dirty="0"/>
              <a:t> 통해 암호화 기능을 협상</a:t>
            </a:r>
            <a:endParaRPr lang="en-US" altLang="ko-KR" sz="2000" dirty="0"/>
          </a:p>
          <a:p>
            <a:endParaRPr lang="en-US" altLang="ko-KR" sz="2400" b="1" dirty="0"/>
          </a:p>
          <a:p>
            <a:r>
              <a:rPr lang="en-US" altLang="ko-KR" sz="2400" b="1" dirty="0"/>
              <a:t>Bridge</a:t>
            </a:r>
          </a:p>
          <a:p>
            <a:pPr lvl="1"/>
            <a:r>
              <a:rPr lang="ko-KR" altLang="en-US" sz="2000" b="1" dirty="0">
                <a:solidFill>
                  <a:srgbClr val="FF0000"/>
                </a:solidFill>
              </a:rPr>
              <a:t>정책 상황에 따라 클라이언트를 적절한 서버로 라우팅하는 역할</a:t>
            </a:r>
            <a:endParaRPr lang="en-US" altLang="ko-KR" sz="2000" b="1" dirty="0">
              <a:solidFill>
                <a:srgbClr val="FF0000"/>
              </a:solidFill>
            </a:endParaRPr>
          </a:p>
          <a:p>
            <a:pPr lvl="1"/>
            <a:r>
              <a:rPr lang="ko-KR" altLang="en-US" sz="2000" dirty="0"/>
              <a:t>제공 기능</a:t>
            </a:r>
            <a:endParaRPr lang="en-US" altLang="ko-KR" sz="2000" dirty="0"/>
          </a:p>
          <a:p>
            <a:pPr lvl="2"/>
            <a:r>
              <a:rPr lang="ko-KR" altLang="en-US" sz="1800" dirty="0"/>
              <a:t>마이그레이션 정책 상태</a:t>
            </a:r>
            <a:r>
              <a:rPr lang="en-US" altLang="ko-KR" sz="1800" dirty="0"/>
              <a:t>, </a:t>
            </a:r>
            <a:r>
              <a:rPr lang="ko-KR" altLang="en-US" sz="1800" dirty="0"/>
              <a:t>메시지 변환</a:t>
            </a:r>
            <a:r>
              <a:rPr lang="en-US" altLang="ko-KR" sz="1800" dirty="0"/>
              <a:t>, </a:t>
            </a:r>
            <a:r>
              <a:rPr lang="ko-KR" altLang="en-US" sz="1800" dirty="0"/>
              <a:t>롤백 기능</a:t>
            </a:r>
            <a:endParaRPr lang="en-US" altLang="ko-KR" sz="1800" dirty="0"/>
          </a:p>
          <a:p>
            <a:pPr lvl="1"/>
            <a:r>
              <a:rPr lang="ko-KR" altLang="en-US" sz="2000" b="1" dirty="0" err="1">
                <a:solidFill>
                  <a:srgbClr val="FF0000"/>
                </a:solidFill>
              </a:rPr>
              <a:t>무중단</a:t>
            </a:r>
            <a:r>
              <a:rPr lang="ko-KR" altLang="en-US" sz="2000" b="1" dirty="0">
                <a:solidFill>
                  <a:srgbClr val="FF0000"/>
                </a:solidFill>
              </a:rPr>
              <a:t> 및 무지연을 보장하도록 설계</a:t>
            </a:r>
            <a:endParaRPr lang="en-US" altLang="ko-KR" sz="2400" b="1" dirty="0">
              <a:solidFill>
                <a:srgbClr val="FF0000"/>
              </a:solidFill>
            </a:endParaRPr>
          </a:p>
          <a:p>
            <a:endParaRPr lang="en-US" altLang="ko-KR" sz="2400" b="1" dirty="0"/>
          </a:p>
          <a:p>
            <a:r>
              <a:rPr lang="ko-KR" altLang="en-US" sz="2400" b="1" dirty="0"/>
              <a:t>서버</a:t>
            </a:r>
            <a:endParaRPr lang="en-US" altLang="ko-KR" sz="2400" b="1" dirty="0"/>
          </a:p>
          <a:p>
            <a:pPr lvl="1"/>
            <a:r>
              <a:rPr lang="en-US" altLang="ko-KR" sz="2000" b="1" dirty="0">
                <a:solidFill>
                  <a:srgbClr val="2E75B6"/>
                </a:solidFill>
              </a:rPr>
              <a:t>Classic</a:t>
            </a:r>
            <a:r>
              <a:rPr lang="ko-KR" altLang="en-US" sz="2000" b="1" dirty="0">
                <a:solidFill>
                  <a:srgbClr val="2E75B6"/>
                </a:solidFill>
              </a:rPr>
              <a:t> </a:t>
            </a:r>
            <a:r>
              <a:rPr lang="en-US" altLang="ko-KR" sz="2000" b="1" dirty="0">
                <a:solidFill>
                  <a:srgbClr val="2E75B6"/>
                </a:solidFill>
              </a:rPr>
              <a:t>TLS </a:t>
            </a:r>
            <a:r>
              <a:rPr lang="ko-KR" altLang="en-US" sz="2000" b="1" dirty="0">
                <a:solidFill>
                  <a:srgbClr val="2E75B6"/>
                </a:solidFill>
              </a:rPr>
              <a:t>서버</a:t>
            </a:r>
            <a:r>
              <a:rPr lang="en-US" altLang="ko-KR" sz="2000" b="1" dirty="0">
                <a:solidFill>
                  <a:srgbClr val="2E75B6"/>
                </a:solidFill>
              </a:rPr>
              <a:t>(v1), PQC</a:t>
            </a:r>
            <a:r>
              <a:rPr lang="ko-KR" altLang="en-US" sz="2000" b="1" dirty="0">
                <a:solidFill>
                  <a:srgbClr val="2E75B6"/>
                </a:solidFill>
              </a:rPr>
              <a:t> </a:t>
            </a:r>
            <a:r>
              <a:rPr lang="en-US" altLang="ko-KR" sz="2000" b="1" dirty="0">
                <a:solidFill>
                  <a:srgbClr val="2E75B6"/>
                </a:solidFill>
              </a:rPr>
              <a:t>TLS </a:t>
            </a:r>
            <a:r>
              <a:rPr lang="ko-KR" altLang="en-US" sz="2000" b="1" dirty="0">
                <a:solidFill>
                  <a:srgbClr val="2E75B6"/>
                </a:solidFill>
              </a:rPr>
              <a:t>서버</a:t>
            </a:r>
            <a:r>
              <a:rPr lang="en-US" altLang="ko-KR" sz="2000" b="1" dirty="0">
                <a:solidFill>
                  <a:srgbClr val="2E75B6"/>
                </a:solidFill>
              </a:rPr>
              <a:t>(v2)</a:t>
            </a:r>
            <a:r>
              <a:rPr lang="ko-KR" altLang="en-US" sz="2000" dirty="0"/>
              <a:t>로 구분됨</a:t>
            </a:r>
            <a:endParaRPr lang="en-US" altLang="ko-KR" sz="2000" dirty="0"/>
          </a:p>
          <a:p>
            <a:pPr lvl="1"/>
            <a:r>
              <a:rPr lang="ko-KR" altLang="en-US" sz="2000" dirty="0"/>
              <a:t>역할 </a:t>
            </a:r>
            <a:r>
              <a:rPr lang="en-US" altLang="ko-KR" sz="2000" dirty="0"/>
              <a:t>: Bridge</a:t>
            </a:r>
            <a:r>
              <a:rPr lang="ko-KR" altLang="en-US" sz="2000" dirty="0" err="1"/>
              <a:t>를</a:t>
            </a:r>
            <a:r>
              <a:rPr lang="ko-KR" altLang="en-US" sz="2000" dirty="0"/>
              <a:t> 통해 클라이언트 요청을 분배 받아  처리 </a:t>
            </a:r>
            <a:endParaRPr lang="en-US" altLang="ko-KR" sz="2000" dirty="0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4C40B0A7-753B-78DF-C40A-8DB115B43D9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30810" y="1358626"/>
            <a:ext cx="1173218" cy="1173218"/>
          </a:xfrm>
          <a:prstGeom prst="rect">
            <a:avLst/>
          </a:prstGeo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773147F1-E9A3-B7E7-5CB2-87B51C6A4AC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05242" y="5236779"/>
            <a:ext cx="973521" cy="973521"/>
          </a:xfrm>
          <a:prstGeom prst="rect">
            <a:avLst/>
          </a:prstGeom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7FEAC85E-8216-1F7C-9A23-AEE3560F26B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30507" y="3201878"/>
            <a:ext cx="973521" cy="9735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437724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235392-C9B2-E24D-6234-CEA8CFA3E1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5920F09-E3D3-B1BF-437C-09487D3F47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정책 갱신 메커니즘</a:t>
            </a:r>
            <a:endParaRPr lang="en-US" altLang="ko-KR" dirty="0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C7E6EE6D-4AD9-61C4-9E3B-46772622B0F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11163" y="1152525"/>
            <a:ext cx="11612671" cy="5497728"/>
          </a:xfrm>
        </p:spPr>
        <p:txBody>
          <a:bodyPr>
            <a:normAutofit/>
          </a:bodyPr>
          <a:lstStyle/>
          <a:p>
            <a:r>
              <a:rPr lang="en-US" altLang="ko-KR" b="1" dirty="0">
                <a:solidFill>
                  <a:srgbClr val="FF0000"/>
                </a:solidFill>
              </a:rPr>
              <a:t>Hot Reload</a:t>
            </a:r>
            <a:r>
              <a:rPr lang="ko-KR" altLang="en-US" b="1" dirty="0">
                <a:solidFill>
                  <a:srgbClr val="FF0000"/>
                </a:solidFill>
              </a:rPr>
              <a:t> 메커니즘</a:t>
            </a:r>
            <a:endParaRPr lang="en-US" altLang="ko-KR" b="1" dirty="0">
              <a:solidFill>
                <a:srgbClr val="FF0000"/>
              </a:solidFill>
            </a:endParaRPr>
          </a:p>
          <a:p>
            <a:pPr lvl="1"/>
            <a:r>
              <a:rPr lang="ko-KR" altLang="en-US" b="1" dirty="0"/>
              <a:t>애플리케이션을 </a:t>
            </a:r>
            <a:r>
              <a:rPr lang="ko-KR" altLang="en-US" b="1" dirty="0">
                <a:solidFill>
                  <a:srgbClr val="FF0000"/>
                </a:solidFill>
              </a:rPr>
              <a:t>중단하지 않고 코드나 설정 파일의 변경을 즉시 변경</a:t>
            </a:r>
            <a:r>
              <a:rPr lang="ko-KR" altLang="en-US" b="1" dirty="0"/>
              <a:t>하는 기술</a:t>
            </a:r>
            <a:endParaRPr lang="en-US" altLang="ko-KR" b="1" dirty="0"/>
          </a:p>
          <a:p>
            <a:pPr lvl="1"/>
            <a:r>
              <a:rPr lang="ko-KR" altLang="en-US" dirty="0"/>
              <a:t>게임 로직이나 </a:t>
            </a:r>
            <a:r>
              <a:rPr lang="en-US" altLang="ko-KR" dirty="0"/>
              <a:t>UI</a:t>
            </a:r>
            <a:r>
              <a:rPr lang="ko-KR" altLang="en-US" dirty="0" err="1"/>
              <a:t>를</a:t>
            </a:r>
            <a:r>
              <a:rPr lang="ko-KR" altLang="en-US" dirty="0"/>
              <a:t> 재시작 없이 수정할 수 있는 런타임 교체 기법</a:t>
            </a:r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sz="2000" dirty="0"/>
          </a:p>
          <a:p>
            <a:pPr marL="457200" lvl="1" indent="0">
              <a:buNone/>
            </a:pPr>
            <a:endParaRPr lang="en-US" altLang="ko-KR" sz="2000" dirty="0"/>
          </a:p>
          <a:p>
            <a:pPr marL="457200" lvl="1" indent="0">
              <a:buNone/>
            </a:pPr>
            <a:endParaRPr lang="en-US" altLang="ko-KR" sz="2000" dirty="0"/>
          </a:p>
          <a:p>
            <a:r>
              <a:rPr lang="en-US" altLang="ko-KR" sz="2400" b="1" dirty="0"/>
              <a:t>SIGHUB</a:t>
            </a:r>
            <a:r>
              <a:rPr lang="ko-KR" altLang="en-US" sz="2400" b="1" dirty="0"/>
              <a:t> 신호</a:t>
            </a:r>
            <a:r>
              <a:rPr lang="en-US" altLang="ko-KR" sz="2400" b="1" dirty="0"/>
              <a:t> : </a:t>
            </a:r>
            <a:r>
              <a:rPr lang="ko-KR" altLang="en-US" sz="2400" dirty="0"/>
              <a:t>파일 변경 감지</a:t>
            </a:r>
            <a:endParaRPr lang="en-US" altLang="ko-KR" sz="2400" dirty="0"/>
          </a:p>
          <a:p>
            <a:pPr lvl="1"/>
            <a:r>
              <a:rPr lang="ko-KR" altLang="en-US" sz="2000" b="1" dirty="0">
                <a:solidFill>
                  <a:srgbClr val="2E75B6"/>
                </a:solidFill>
              </a:rPr>
              <a:t>감지 시 재시작 없이 메모리 내 정책을 재구성</a:t>
            </a:r>
            <a:endParaRPr lang="en-US" altLang="ko-KR" sz="2000" b="1" dirty="0">
              <a:solidFill>
                <a:srgbClr val="2E75B6"/>
              </a:solidFill>
            </a:endParaRPr>
          </a:p>
          <a:p>
            <a:endParaRPr lang="en-US" altLang="ko-KR" sz="2400" b="1" dirty="0"/>
          </a:p>
          <a:p>
            <a:r>
              <a:rPr lang="ko-KR" altLang="en-US" sz="2400" b="1" dirty="0"/>
              <a:t>부모</a:t>
            </a:r>
            <a:r>
              <a:rPr lang="en-US" altLang="ko-KR" sz="2400" b="1" dirty="0"/>
              <a:t>-</a:t>
            </a:r>
            <a:r>
              <a:rPr lang="ko-KR" altLang="en-US" sz="2400" b="1" dirty="0"/>
              <a:t>자식 프로세스</a:t>
            </a:r>
            <a:endParaRPr lang="en-US" altLang="ko-KR" sz="2400" b="1" dirty="0"/>
          </a:p>
          <a:p>
            <a:pPr lvl="1"/>
            <a:r>
              <a:rPr lang="ko-KR" altLang="en-US" sz="2000" dirty="0"/>
              <a:t>부모 프로세스에서 정책이 변경되어도 자식 프로세스의 세션에는 영향</a:t>
            </a:r>
            <a:r>
              <a:rPr lang="en-US" altLang="ko-KR" sz="2000" dirty="0"/>
              <a:t> X</a:t>
            </a:r>
          </a:p>
          <a:p>
            <a:pPr lvl="1"/>
            <a:r>
              <a:rPr lang="ko-KR" altLang="en-US" sz="2000" b="1" dirty="0">
                <a:solidFill>
                  <a:srgbClr val="2E75B6"/>
                </a:solidFill>
              </a:rPr>
              <a:t>기존 세션은 이전 정책을 유지</a:t>
            </a:r>
            <a:endParaRPr lang="en-US" altLang="ko-KR" sz="2000" b="1" dirty="0">
              <a:solidFill>
                <a:srgbClr val="2E75B6"/>
              </a:solidFill>
            </a:endParaRPr>
          </a:p>
          <a:p>
            <a:pPr lvl="1"/>
            <a:r>
              <a:rPr lang="ko-KR" altLang="en-US" sz="2000" b="1" dirty="0">
                <a:solidFill>
                  <a:srgbClr val="2E75B6"/>
                </a:solidFill>
              </a:rPr>
              <a:t>신규 세션부터 변경된 정책 적용 가능</a:t>
            </a:r>
            <a:endParaRPr lang="en-US" altLang="ko-KR" sz="2000" b="1" dirty="0">
              <a:solidFill>
                <a:srgbClr val="2E75B6"/>
              </a:solidFill>
            </a:endParaRPr>
          </a:p>
          <a:p>
            <a:pPr lvl="1"/>
            <a:endParaRPr lang="en-US" altLang="ko-KR" sz="20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7C10A16-3AFD-3257-E0DC-2D682B57E0DE}"/>
              </a:ext>
            </a:extLst>
          </p:cNvPr>
          <p:cNvSpPr txBox="1"/>
          <p:nvPr/>
        </p:nvSpPr>
        <p:spPr>
          <a:xfrm>
            <a:off x="0" y="2664043"/>
            <a:ext cx="12192000" cy="954107"/>
          </a:xfrm>
          <a:prstGeom prst="rect">
            <a:avLst/>
          </a:prstGeom>
          <a:solidFill>
            <a:schemeClr val="bg2"/>
          </a:solidFill>
        </p:spPr>
        <p:txBody>
          <a:bodyPr wrap="square" rtlCol="0">
            <a:spAutoFit/>
          </a:bodyPr>
          <a:lstStyle/>
          <a:p>
            <a:pPr algn="ctr"/>
            <a:r>
              <a:rPr kumimoji="1" lang="ko-KR" altLang="en-US" sz="2800" b="1" dirty="0"/>
              <a:t>본 프레임워크에서는 </a:t>
            </a:r>
            <a:r>
              <a:rPr kumimoji="1" lang="en-US" altLang="ko-KR" sz="2800" b="1" dirty="0"/>
              <a:t>Hot Reload</a:t>
            </a:r>
            <a:r>
              <a:rPr kumimoji="1" lang="ko-KR" altLang="en-US" sz="2800" b="1" dirty="0"/>
              <a:t> </a:t>
            </a:r>
            <a:r>
              <a:rPr kumimoji="1" lang="ko-KR" altLang="en-US" sz="2800" b="1" dirty="0" err="1"/>
              <a:t>매커니즘을</a:t>
            </a:r>
            <a:br>
              <a:rPr kumimoji="1" lang="en-US" altLang="ko-KR" sz="2800" b="1" dirty="0"/>
            </a:br>
            <a:r>
              <a:rPr kumimoji="1" lang="ko-KR" altLang="en-US" sz="2800" b="1" dirty="0"/>
              <a:t> </a:t>
            </a:r>
            <a:r>
              <a:rPr kumimoji="1" lang="en-US" altLang="ko-KR" sz="2800" b="1" dirty="0">
                <a:solidFill>
                  <a:srgbClr val="2E75B6"/>
                </a:solidFill>
              </a:rPr>
              <a:t>SIGHUB </a:t>
            </a:r>
            <a:r>
              <a:rPr kumimoji="1" lang="ko-KR" altLang="en-US" sz="2800" b="1" dirty="0">
                <a:solidFill>
                  <a:srgbClr val="2E75B6"/>
                </a:solidFill>
              </a:rPr>
              <a:t>신호</a:t>
            </a:r>
            <a:r>
              <a:rPr kumimoji="1" lang="ko-KR" altLang="en-US" sz="2800" b="1" dirty="0"/>
              <a:t>와 </a:t>
            </a:r>
            <a:r>
              <a:rPr kumimoji="1" lang="ko-KR" altLang="en-US" sz="2800" b="1" dirty="0">
                <a:solidFill>
                  <a:srgbClr val="2E75B6"/>
                </a:solidFill>
              </a:rPr>
              <a:t>부모</a:t>
            </a:r>
            <a:r>
              <a:rPr kumimoji="1" lang="en-US" altLang="ko-KR" sz="2800" b="1" dirty="0">
                <a:solidFill>
                  <a:srgbClr val="2E75B6"/>
                </a:solidFill>
              </a:rPr>
              <a:t>-</a:t>
            </a:r>
            <a:r>
              <a:rPr kumimoji="1" lang="ko-KR" altLang="en-US" sz="2800" b="1" dirty="0">
                <a:solidFill>
                  <a:srgbClr val="2E75B6"/>
                </a:solidFill>
              </a:rPr>
              <a:t>자식 프로세스</a:t>
            </a:r>
            <a:r>
              <a:rPr kumimoji="1" lang="ko-KR" altLang="en-US" sz="2800" b="1" dirty="0"/>
              <a:t> 도입을 통해 구현</a:t>
            </a:r>
          </a:p>
        </p:txBody>
      </p:sp>
    </p:spTree>
    <p:extLst>
      <p:ext uri="{BB962C8B-B14F-4D97-AF65-F5344CB8AC3E}">
        <p14:creationId xmlns:p14="http://schemas.microsoft.com/office/powerpoint/2010/main" val="196382747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5575FE-E92D-0A87-028F-4AF917AAF4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67B3C3F-79B6-21E7-A14E-96EEC4465D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정책 계층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B31D146B-0139-9E8B-6F74-654CEAD7267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>
            <a:normAutofit/>
          </a:bodyPr>
          <a:lstStyle/>
          <a:p>
            <a:r>
              <a:rPr lang="ko-KR" altLang="en-US" sz="2400" b="1" dirty="0"/>
              <a:t>독립적으로 동작하는 </a:t>
            </a:r>
            <a:r>
              <a:rPr lang="en-US" altLang="ko-KR" sz="2400" b="1" dirty="0">
                <a:solidFill>
                  <a:srgbClr val="FF0000"/>
                </a:solidFill>
              </a:rPr>
              <a:t>3</a:t>
            </a:r>
            <a:r>
              <a:rPr lang="ko-KR" altLang="en-US" sz="2400" b="1" dirty="0">
                <a:solidFill>
                  <a:srgbClr val="FF0000"/>
                </a:solidFill>
              </a:rPr>
              <a:t>개의 계층 정책 시스템</a:t>
            </a:r>
            <a:r>
              <a:rPr lang="ko-KR" altLang="en-US" sz="2400" b="1" dirty="0"/>
              <a:t>을 구성하여 알고리즘 및 정책 갱신</a:t>
            </a:r>
          </a:p>
        </p:txBody>
      </p:sp>
      <p:cxnSp>
        <p:nvCxnSpPr>
          <p:cNvPr id="19" name="직선 화살표 연결선 18">
            <a:extLst>
              <a:ext uri="{FF2B5EF4-FFF2-40B4-BE49-F238E27FC236}">
                <a16:creationId xmlns:a16="http://schemas.microsoft.com/office/drawing/2014/main" id="{156AB6A2-7D9D-DCB1-17DE-AB7544C92680}"/>
              </a:ext>
            </a:extLst>
          </p:cNvPr>
          <p:cNvCxnSpPr/>
          <p:nvPr/>
        </p:nvCxnSpPr>
        <p:spPr>
          <a:xfrm>
            <a:off x="3882785" y="5815923"/>
            <a:ext cx="1955293" cy="0"/>
          </a:xfrm>
          <a:prstGeom prst="straightConnector1">
            <a:avLst/>
          </a:prstGeom>
          <a:ln w="28575">
            <a:solidFill>
              <a:srgbClr val="FF0000"/>
            </a:solidFill>
            <a:prstDash val="sys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직선 화살표 연결선 19">
            <a:extLst>
              <a:ext uri="{FF2B5EF4-FFF2-40B4-BE49-F238E27FC236}">
                <a16:creationId xmlns:a16="http://schemas.microsoft.com/office/drawing/2014/main" id="{0AA95305-F56D-5CC1-181E-2B98426C4BF8}"/>
              </a:ext>
            </a:extLst>
          </p:cNvPr>
          <p:cNvCxnSpPr/>
          <p:nvPr/>
        </p:nvCxnSpPr>
        <p:spPr>
          <a:xfrm>
            <a:off x="3882785" y="4431623"/>
            <a:ext cx="1955293" cy="0"/>
          </a:xfrm>
          <a:prstGeom prst="straightConnector1">
            <a:avLst/>
          </a:prstGeom>
          <a:ln w="28575">
            <a:solidFill>
              <a:srgbClr val="FF0000"/>
            </a:solidFill>
            <a:prstDash val="sys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21" name="그룹 20">
            <a:extLst>
              <a:ext uri="{FF2B5EF4-FFF2-40B4-BE49-F238E27FC236}">
                <a16:creationId xmlns:a16="http://schemas.microsoft.com/office/drawing/2014/main" id="{1C60D75E-B284-1AD7-9F17-D55F0BD5E656}"/>
              </a:ext>
            </a:extLst>
          </p:cNvPr>
          <p:cNvGrpSpPr/>
          <p:nvPr/>
        </p:nvGrpSpPr>
        <p:grpSpPr>
          <a:xfrm>
            <a:off x="996160" y="2331240"/>
            <a:ext cx="4841918" cy="4174067"/>
            <a:chOff x="901339" y="1883601"/>
            <a:chExt cx="4841918" cy="4174067"/>
          </a:xfrm>
          <a:solidFill>
            <a:srgbClr val="2E75B6"/>
          </a:solidFill>
        </p:grpSpPr>
        <p:sp>
          <p:nvSpPr>
            <p:cNvPr id="22" name="이등변 삼각형 9">
              <a:extLst>
                <a:ext uri="{FF2B5EF4-FFF2-40B4-BE49-F238E27FC236}">
                  <a16:creationId xmlns:a16="http://schemas.microsoft.com/office/drawing/2014/main" id="{36B2B90A-AEE3-1F7A-6F1F-6957DC079E87}"/>
                </a:ext>
              </a:extLst>
            </p:cNvPr>
            <p:cNvSpPr/>
            <p:nvPr/>
          </p:nvSpPr>
          <p:spPr>
            <a:xfrm>
              <a:off x="901339" y="1883601"/>
              <a:ext cx="4841918" cy="4174067"/>
            </a:xfrm>
            <a:prstGeom prst="triangle">
              <a:avLst/>
            </a:prstGeom>
            <a:grpFill/>
            <a:ln w="57150">
              <a:solidFill>
                <a:srgbClr val="E5E8E8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cxnSp>
          <p:nvCxnSpPr>
            <p:cNvPr id="23" name="직선 연결선 11">
              <a:extLst>
                <a:ext uri="{FF2B5EF4-FFF2-40B4-BE49-F238E27FC236}">
                  <a16:creationId xmlns:a16="http://schemas.microsoft.com/office/drawing/2014/main" id="{7AFD31A3-152A-3D48-821F-FB28D3793603}"/>
                </a:ext>
              </a:extLst>
            </p:cNvPr>
            <p:cNvCxnSpPr>
              <a:cxnSpLocks/>
            </p:cNvCxnSpPr>
            <p:nvPr/>
          </p:nvCxnSpPr>
          <p:spPr>
            <a:xfrm>
              <a:off x="2429933" y="3395138"/>
              <a:ext cx="1778000" cy="0"/>
            </a:xfrm>
            <a:prstGeom prst="line">
              <a:avLst/>
            </a:prstGeom>
            <a:grpFill/>
            <a:ln w="57150">
              <a:solidFill>
                <a:srgbClr val="E5E8E8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직선 연결선 12">
              <a:extLst>
                <a:ext uri="{FF2B5EF4-FFF2-40B4-BE49-F238E27FC236}">
                  <a16:creationId xmlns:a16="http://schemas.microsoft.com/office/drawing/2014/main" id="{7FBE47C4-89AE-73C0-5865-7DC635A05217}"/>
                </a:ext>
              </a:extLst>
            </p:cNvPr>
            <p:cNvCxnSpPr>
              <a:cxnSpLocks/>
            </p:cNvCxnSpPr>
            <p:nvPr/>
          </p:nvCxnSpPr>
          <p:spPr>
            <a:xfrm>
              <a:off x="1634066" y="4758267"/>
              <a:ext cx="3352800" cy="0"/>
            </a:xfrm>
            <a:prstGeom prst="line">
              <a:avLst/>
            </a:prstGeom>
            <a:grpFill/>
            <a:ln w="57150">
              <a:solidFill>
                <a:srgbClr val="E5E8E8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25" name="그래픽 24" descr="말풍선 단색으로 채워진">
            <a:extLst>
              <a:ext uri="{FF2B5EF4-FFF2-40B4-BE49-F238E27FC236}">
                <a16:creationId xmlns:a16="http://schemas.microsoft.com/office/drawing/2014/main" id="{3A0EF7F7-B582-25C9-1E57-6DF7962D4BF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086919" y="5293029"/>
            <a:ext cx="795866" cy="795866"/>
          </a:xfrm>
          <a:prstGeom prst="rect">
            <a:avLst/>
          </a:prstGeom>
        </p:spPr>
      </p:pic>
      <p:pic>
        <p:nvPicPr>
          <p:cNvPr id="26" name="그래픽 25" descr="자물쇠 단색으로 채워진">
            <a:extLst>
              <a:ext uri="{FF2B5EF4-FFF2-40B4-BE49-F238E27FC236}">
                <a16:creationId xmlns:a16="http://schemas.microsoft.com/office/drawing/2014/main" id="{A61916F0-2073-1648-D6F9-D6B184BD10AC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023419" y="2727781"/>
            <a:ext cx="795866" cy="795866"/>
          </a:xfrm>
          <a:prstGeom prst="rect">
            <a:avLst/>
          </a:prstGeom>
        </p:spPr>
      </p:pic>
      <p:grpSp>
        <p:nvGrpSpPr>
          <p:cNvPr id="27" name="그룹 26">
            <a:extLst>
              <a:ext uri="{FF2B5EF4-FFF2-40B4-BE49-F238E27FC236}">
                <a16:creationId xmlns:a16="http://schemas.microsoft.com/office/drawing/2014/main" id="{37693809-9448-4B12-DDC8-70C5A4E6D8A0}"/>
              </a:ext>
            </a:extLst>
          </p:cNvPr>
          <p:cNvGrpSpPr/>
          <p:nvPr/>
        </p:nvGrpSpPr>
        <p:grpSpPr>
          <a:xfrm>
            <a:off x="2887529" y="4019493"/>
            <a:ext cx="1180561" cy="810063"/>
            <a:chOff x="2725843" y="3638495"/>
            <a:chExt cx="1356391" cy="930712"/>
          </a:xfrm>
        </p:grpSpPr>
        <p:pic>
          <p:nvPicPr>
            <p:cNvPr id="28" name="그래픽 27" descr="연결됨 단색으로 채워진">
              <a:extLst>
                <a:ext uri="{FF2B5EF4-FFF2-40B4-BE49-F238E27FC236}">
                  <a16:creationId xmlns:a16="http://schemas.microsoft.com/office/drawing/2014/main" id="{1F4B2E15-0AAB-ED4A-7A2C-26917D54A396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>
              <a:off x="2925233" y="3654807"/>
              <a:ext cx="914400" cy="914400"/>
            </a:xfrm>
            <a:prstGeom prst="rect">
              <a:avLst/>
            </a:prstGeom>
          </p:spPr>
        </p:pic>
        <p:pic>
          <p:nvPicPr>
            <p:cNvPr id="29" name="그래픽 28" descr="모니터 단색으로 채워진">
              <a:extLst>
                <a:ext uri="{FF2B5EF4-FFF2-40B4-BE49-F238E27FC236}">
                  <a16:creationId xmlns:a16="http://schemas.microsoft.com/office/drawing/2014/main" id="{F4BF635B-1E9F-E2E2-A1B8-3A46DF799C44}"/>
                </a:ext>
              </a:extLst>
            </p:cNvPr>
            <p:cNvPicPr>
              <a:picLocks noChangeAspect="1"/>
            </p:cNvPicPr>
            <p:nvPr/>
          </p:nvPicPr>
          <p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p:blipFill>
          <p:spPr>
            <a:xfrm>
              <a:off x="3701003" y="4187976"/>
              <a:ext cx="381231" cy="381231"/>
            </a:xfrm>
            <a:prstGeom prst="rect">
              <a:avLst/>
            </a:prstGeom>
          </p:spPr>
        </p:pic>
        <p:pic>
          <p:nvPicPr>
            <p:cNvPr id="30" name="그래픽 29" descr="사용자 단색으로 채워진">
              <a:extLst>
                <a:ext uri="{FF2B5EF4-FFF2-40B4-BE49-F238E27FC236}">
                  <a16:creationId xmlns:a16="http://schemas.microsoft.com/office/drawing/2014/main" id="{D7FF1A92-C856-5074-0E4B-D4D1249EF2DC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p:blipFill>
          <p:spPr>
            <a:xfrm>
              <a:off x="2725843" y="3638495"/>
              <a:ext cx="398780" cy="398780"/>
            </a:xfrm>
            <a:prstGeom prst="rect">
              <a:avLst/>
            </a:prstGeom>
          </p:spPr>
        </p:pic>
      </p:grpSp>
      <p:sp>
        <p:nvSpPr>
          <p:cNvPr id="31" name="TextBox 30">
            <a:extLst>
              <a:ext uri="{FF2B5EF4-FFF2-40B4-BE49-F238E27FC236}">
                <a16:creationId xmlns:a16="http://schemas.microsoft.com/office/drawing/2014/main" id="{5EB3D49E-F752-DA25-A55F-1CE0BD80FB0B}"/>
              </a:ext>
            </a:extLst>
          </p:cNvPr>
          <p:cNvSpPr txBox="1"/>
          <p:nvPr/>
        </p:nvSpPr>
        <p:spPr>
          <a:xfrm>
            <a:off x="2650339" y="3462032"/>
            <a:ext cx="1542025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300" dirty="0">
                <a:solidFill>
                  <a:schemeClr val="bg1"/>
                </a:solidFill>
              </a:rPr>
              <a:t>crypto policy</a:t>
            </a:r>
            <a:endParaRPr lang="ko-KR" altLang="en-US" sz="1300" dirty="0">
              <a:solidFill>
                <a:schemeClr val="bg1"/>
              </a:solidFill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506D59C4-F44A-FE41-19F4-21F6DA53A34D}"/>
              </a:ext>
            </a:extLst>
          </p:cNvPr>
          <p:cNvSpPr txBox="1"/>
          <p:nvPr/>
        </p:nvSpPr>
        <p:spPr>
          <a:xfrm>
            <a:off x="2687992" y="4810886"/>
            <a:ext cx="1542025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300">
                <a:solidFill>
                  <a:schemeClr val="bg1"/>
                </a:solidFill>
              </a:rPr>
              <a:t>routing</a:t>
            </a:r>
            <a:endParaRPr lang="ko-KR" altLang="en-US" sz="1300">
              <a:solidFill>
                <a:schemeClr val="bg1"/>
              </a:solidFill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BBA42810-CE73-20B7-FE70-ADE225910EBB}"/>
              </a:ext>
            </a:extLst>
          </p:cNvPr>
          <p:cNvSpPr txBox="1"/>
          <p:nvPr/>
        </p:nvSpPr>
        <p:spPr>
          <a:xfrm>
            <a:off x="2687992" y="6046490"/>
            <a:ext cx="1542025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300" dirty="0">
                <a:solidFill>
                  <a:schemeClr val="bg1"/>
                </a:solidFill>
              </a:rPr>
              <a:t>transform map</a:t>
            </a:r>
            <a:endParaRPr lang="ko-KR" altLang="en-US" sz="1300" dirty="0">
              <a:solidFill>
                <a:schemeClr val="bg1"/>
              </a:solidFill>
            </a:endParaRPr>
          </a:p>
        </p:txBody>
      </p:sp>
      <p:cxnSp>
        <p:nvCxnSpPr>
          <p:cNvPr id="34" name="직선 화살표 연결선 33">
            <a:extLst>
              <a:ext uri="{FF2B5EF4-FFF2-40B4-BE49-F238E27FC236}">
                <a16:creationId xmlns:a16="http://schemas.microsoft.com/office/drawing/2014/main" id="{25B26FFD-6C8A-3CD0-85EC-4A0CBF69865E}"/>
              </a:ext>
            </a:extLst>
          </p:cNvPr>
          <p:cNvCxnSpPr>
            <a:cxnSpLocks/>
          </p:cNvCxnSpPr>
          <p:nvPr/>
        </p:nvCxnSpPr>
        <p:spPr>
          <a:xfrm>
            <a:off x="795232" y="2397648"/>
            <a:ext cx="0" cy="4174068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TextBox 34">
            <a:extLst>
              <a:ext uri="{FF2B5EF4-FFF2-40B4-BE49-F238E27FC236}">
                <a16:creationId xmlns:a16="http://schemas.microsoft.com/office/drawing/2014/main" id="{EF404087-4948-044B-9C60-204B741EC69E}"/>
              </a:ext>
            </a:extLst>
          </p:cNvPr>
          <p:cNvSpPr txBox="1"/>
          <p:nvPr/>
        </p:nvSpPr>
        <p:spPr>
          <a:xfrm>
            <a:off x="280161" y="2397648"/>
            <a:ext cx="461665" cy="4200192"/>
          </a:xfrm>
          <a:prstGeom prst="rect">
            <a:avLst/>
          </a:prstGeom>
          <a:noFill/>
        </p:spPr>
        <p:txBody>
          <a:bodyPr vert="eaVert" wrap="square" rtlCol="0">
            <a:spAutoFit/>
          </a:bodyPr>
          <a:lstStyle/>
          <a:p>
            <a:pPr algn="dist"/>
            <a:r>
              <a:rPr lang="ko-KR" altLang="en-US" b="1" dirty="0"/>
              <a:t>상위 계층이 하위 계층을 결정</a:t>
            </a:r>
          </a:p>
        </p:txBody>
      </p:sp>
      <p:cxnSp>
        <p:nvCxnSpPr>
          <p:cNvPr id="36" name="직선 화살표 연결선 35">
            <a:extLst>
              <a:ext uri="{FF2B5EF4-FFF2-40B4-BE49-F238E27FC236}">
                <a16:creationId xmlns:a16="http://schemas.microsoft.com/office/drawing/2014/main" id="{CB710D43-315F-1764-6634-3BA4D02C9E3C}"/>
              </a:ext>
            </a:extLst>
          </p:cNvPr>
          <p:cNvCxnSpPr/>
          <p:nvPr/>
        </p:nvCxnSpPr>
        <p:spPr>
          <a:xfrm>
            <a:off x="3882785" y="3125714"/>
            <a:ext cx="1955293" cy="0"/>
          </a:xfrm>
          <a:prstGeom prst="straightConnector1">
            <a:avLst/>
          </a:prstGeom>
          <a:ln w="28575">
            <a:solidFill>
              <a:srgbClr val="FF0000"/>
            </a:solidFill>
            <a:prstDash val="sys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사각형: 둥근 모서리 15">
            <a:extLst>
              <a:ext uri="{FF2B5EF4-FFF2-40B4-BE49-F238E27FC236}">
                <a16:creationId xmlns:a16="http://schemas.microsoft.com/office/drawing/2014/main" id="{25B3894C-FC17-3BEB-EA0A-98A85B644B20}"/>
              </a:ext>
            </a:extLst>
          </p:cNvPr>
          <p:cNvSpPr/>
          <p:nvPr/>
        </p:nvSpPr>
        <p:spPr>
          <a:xfrm>
            <a:off x="5901578" y="2422804"/>
            <a:ext cx="1032933" cy="1114996"/>
          </a:xfrm>
          <a:prstGeom prst="roundRect">
            <a:avLst>
              <a:gd name="adj" fmla="val 14807"/>
            </a:avLst>
          </a:prstGeom>
          <a:solidFill>
            <a:srgbClr val="2E75B6"/>
          </a:solidFill>
          <a:ln w="1905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b="1"/>
              <a:t>보안</a:t>
            </a:r>
            <a:endParaRPr lang="en-US" altLang="ko-KR" b="1"/>
          </a:p>
          <a:p>
            <a:pPr algn="ctr"/>
            <a:r>
              <a:rPr lang="ko-KR" altLang="en-US" b="1"/>
              <a:t>정책</a:t>
            </a:r>
            <a:endParaRPr lang="en-US" altLang="ko-KR" b="1"/>
          </a:p>
          <a:p>
            <a:pPr algn="ctr"/>
            <a:r>
              <a:rPr lang="ko-KR" altLang="en-US" b="1"/>
              <a:t>계층</a:t>
            </a:r>
          </a:p>
        </p:txBody>
      </p:sp>
      <p:sp>
        <p:nvSpPr>
          <p:cNvPr id="38" name="사각형: 둥근 모서리 16">
            <a:extLst>
              <a:ext uri="{FF2B5EF4-FFF2-40B4-BE49-F238E27FC236}">
                <a16:creationId xmlns:a16="http://schemas.microsoft.com/office/drawing/2014/main" id="{EED8EC09-EC4F-6A04-F952-23F3059206E1}"/>
              </a:ext>
            </a:extLst>
          </p:cNvPr>
          <p:cNvSpPr/>
          <p:nvPr/>
        </p:nvSpPr>
        <p:spPr>
          <a:xfrm>
            <a:off x="5901578" y="3860775"/>
            <a:ext cx="1032933" cy="1114996"/>
          </a:xfrm>
          <a:prstGeom prst="roundRect">
            <a:avLst>
              <a:gd name="adj" fmla="val 14807"/>
            </a:avLst>
          </a:prstGeom>
          <a:solidFill>
            <a:srgbClr val="2E75B6"/>
          </a:solidFill>
          <a:ln w="1905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b="1" dirty="0"/>
              <a:t>라우팅</a:t>
            </a:r>
            <a:endParaRPr lang="en-US" altLang="ko-KR" b="1" dirty="0"/>
          </a:p>
          <a:p>
            <a:pPr algn="ctr"/>
            <a:r>
              <a:rPr lang="ko-KR" altLang="en-US" b="1" dirty="0"/>
              <a:t>정책</a:t>
            </a:r>
            <a:endParaRPr lang="en-US" altLang="ko-KR" b="1" dirty="0"/>
          </a:p>
          <a:p>
            <a:pPr algn="ctr"/>
            <a:r>
              <a:rPr lang="ko-KR" altLang="en-US" b="1" dirty="0"/>
              <a:t>계층</a:t>
            </a:r>
          </a:p>
        </p:txBody>
      </p:sp>
      <p:sp>
        <p:nvSpPr>
          <p:cNvPr id="39" name="사각형: 둥근 모서리 17">
            <a:extLst>
              <a:ext uri="{FF2B5EF4-FFF2-40B4-BE49-F238E27FC236}">
                <a16:creationId xmlns:a16="http://schemas.microsoft.com/office/drawing/2014/main" id="{8FC5BD29-DB47-392F-92C6-359EDEC4D51A}"/>
              </a:ext>
            </a:extLst>
          </p:cNvPr>
          <p:cNvSpPr/>
          <p:nvPr/>
        </p:nvSpPr>
        <p:spPr>
          <a:xfrm>
            <a:off x="5901578" y="5303827"/>
            <a:ext cx="1032933" cy="1114996"/>
          </a:xfrm>
          <a:prstGeom prst="roundRect">
            <a:avLst>
              <a:gd name="adj" fmla="val 14807"/>
            </a:avLst>
          </a:prstGeom>
          <a:solidFill>
            <a:srgbClr val="2E75B6"/>
          </a:solidFill>
          <a:ln w="1905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b="1" dirty="0"/>
              <a:t>콘텐츠</a:t>
            </a:r>
            <a:endParaRPr lang="en-US" altLang="ko-KR" b="1" dirty="0"/>
          </a:p>
          <a:p>
            <a:pPr algn="ctr"/>
            <a:r>
              <a:rPr lang="ko-KR" altLang="en-US" b="1" dirty="0"/>
              <a:t>변환</a:t>
            </a:r>
            <a:endParaRPr lang="en-US" altLang="ko-KR" b="1" dirty="0"/>
          </a:p>
          <a:p>
            <a:pPr algn="ctr"/>
            <a:r>
              <a:rPr lang="ko-KR" altLang="en-US" b="1" dirty="0"/>
              <a:t>계층</a:t>
            </a:r>
          </a:p>
        </p:txBody>
      </p:sp>
      <p:cxnSp>
        <p:nvCxnSpPr>
          <p:cNvPr id="40" name="직선 연결선 20">
            <a:extLst>
              <a:ext uri="{FF2B5EF4-FFF2-40B4-BE49-F238E27FC236}">
                <a16:creationId xmlns:a16="http://schemas.microsoft.com/office/drawing/2014/main" id="{D98D088D-FC92-A4CC-FEF5-E072AD53D1F2}"/>
              </a:ext>
            </a:extLst>
          </p:cNvPr>
          <p:cNvCxnSpPr>
            <a:cxnSpLocks/>
          </p:cNvCxnSpPr>
          <p:nvPr/>
        </p:nvCxnSpPr>
        <p:spPr>
          <a:xfrm>
            <a:off x="5957335" y="3743471"/>
            <a:ext cx="5694635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직선 연결선 22">
            <a:extLst>
              <a:ext uri="{FF2B5EF4-FFF2-40B4-BE49-F238E27FC236}">
                <a16:creationId xmlns:a16="http://schemas.microsoft.com/office/drawing/2014/main" id="{1214DABC-5321-1F8D-B64A-1610920679D2}"/>
              </a:ext>
            </a:extLst>
          </p:cNvPr>
          <p:cNvCxnSpPr>
            <a:cxnSpLocks/>
          </p:cNvCxnSpPr>
          <p:nvPr/>
        </p:nvCxnSpPr>
        <p:spPr>
          <a:xfrm>
            <a:off x="5957335" y="5133754"/>
            <a:ext cx="5694635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42" name="그래픽 41" descr="배지 체크 표시1 단색으로 채워진">
            <a:extLst>
              <a:ext uri="{FF2B5EF4-FFF2-40B4-BE49-F238E27FC236}">
                <a16:creationId xmlns:a16="http://schemas.microsoft.com/office/drawing/2014/main" id="{BF7B9845-CF13-6E31-30BF-2E8055E9B261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10854220" y="2305873"/>
            <a:ext cx="681385" cy="681385"/>
          </a:xfrm>
          <a:prstGeom prst="rect">
            <a:avLst/>
          </a:prstGeom>
        </p:spPr>
      </p:pic>
      <p:pic>
        <p:nvPicPr>
          <p:cNvPr id="43" name="그래픽 42" descr="폴더 단색으로 채워진">
            <a:extLst>
              <a:ext uri="{FF2B5EF4-FFF2-40B4-BE49-F238E27FC236}">
                <a16:creationId xmlns:a16="http://schemas.microsoft.com/office/drawing/2014/main" id="{29D81238-2D0E-A82F-AD5C-577895CE0971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10696145" y="3911052"/>
            <a:ext cx="721365" cy="721365"/>
          </a:xfrm>
          <a:prstGeom prst="rect">
            <a:avLst/>
          </a:prstGeom>
        </p:spPr>
      </p:pic>
      <p:pic>
        <p:nvPicPr>
          <p:cNvPr id="44" name="그래픽 43" descr="표식 단색으로 채워진">
            <a:extLst>
              <a:ext uri="{FF2B5EF4-FFF2-40B4-BE49-F238E27FC236}">
                <a16:creationId xmlns:a16="http://schemas.microsoft.com/office/drawing/2014/main" id="{C5D06FA0-0520-8720-100E-02DED16BBA7A}"/>
              </a:ext>
            </a:extLst>
          </p:cNvPr>
          <p:cNvPicPr>
            <a:picLocks noChangeAspect="1"/>
          </p:cNvPicPr>
          <p:nvPr/>
        </p:nvPicPr>
        <p:blipFill>
          <a:blip r:embed="rId17"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9126510" y="3902802"/>
            <a:ext cx="721365" cy="721365"/>
          </a:xfrm>
          <a:prstGeom prst="rect">
            <a:avLst/>
          </a:prstGeom>
        </p:spPr>
      </p:pic>
      <p:pic>
        <p:nvPicPr>
          <p:cNvPr id="45" name="그래픽 44" descr="키 단색으로 채워진">
            <a:extLst>
              <a:ext uri="{FF2B5EF4-FFF2-40B4-BE49-F238E27FC236}">
                <a16:creationId xmlns:a16="http://schemas.microsoft.com/office/drawing/2014/main" id="{8675B534-004A-77A0-5DDC-BF1440F8904C}"/>
              </a:ext>
            </a:extLst>
          </p:cNvPr>
          <p:cNvPicPr>
            <a:picLocks noChangeAspect="1"/>
          </p:cNvPicPr>
          <p:nvPr/>
        </p:nvPicPr>
        <p:blipFill>
          <a:blip r:embed="rId19">
            <a:extLst>
              <a:ext uri="{96DAC541-7B7A-43D3-8B79-37D633B846F1}">
                <asvg:svgBlip xmlns:asvg="http://schemas.microsoft.com/office/drawing/2016/SVG/main" r:embed="rId20"/>
              </a:ext>
            </a:extLst>
          </a:blip>
          <a:stretch>
            <a:fillRect/>
          </a:stretch>
        </p:blipFill>
        <p:spPr>
          <a:xfrm>
            <a:off x="9767758" y="2305873"/>
            <a:ext cx="749340" cy="749340"/>
          </a:xfrm>
          <a:prstGeom prst="rect">
            <a:avLst/>
          </a:prstGeom>
        </p:spPr>
      </p:pic>
      <p:pic>
        <p:nvPicPr>
          <p:cNvPr id="46" name="그래픽 45" descr="위층 단색으로 채워진">
            <a:extLst>
              <a:ext uri="{FF2B5EF4-FFF2-40B4-BE49-F238E27FC236}">
                <a16:creationId xmlns:a16="http://schemas.microsoft.com/office/drawing/2014/main" id="{635D4D41-380D-7EC4-161A-857EED89B028}"/>
              </a:ext>
            </a:extLst>
          </p:cNvPr>
          <p:cNvPicPr>
            <a:picLocks noChangeAspect="1"/>
          </p:cNvPicPr>
          <p:nvPr/>
        </p:nvPicPr>
        <p:blipFill>
          <a:blip r:embed="rId21">
            <a:extLst>
              <a:ext uri="{96DAC541-7B7A-43D3-8B79-37D633B846F1}">
                <asvg:svgBlip xmlns:asvg="http://schemas.microsoft.com/office/drawing/2016/SVG/main" r:embed="rId22"/>
              </a:ext>
            </a:extLst>
          </a:blip>
          <a:stretch>
            <a:fillRect/>
          </a:stretch>
        </p:blipFill>
        <p:spPr>
          <a:xfrm>
            <a:off x="7359491" y="2298110"/>
            <a:ext cx="749340" cy="749340"/>
          </a:xfrm>
          <a:prstGeom prst="rect">
            <a:avLst/>
          </a:prstGeom>
        </p:spPr>
      </p:pic>
      <p:sp>
        <p:nvSpPr>
          <p:cNvPr id="47" name="나누기 기호 42">
            <a:extLst>
              <a:ext uri="{FF2B5EF4-FFF2-40B4-BE49-F238E27FC236}">
                <a16:creationId xmlns:a16="http://schemas.microsoft.com/office/drawing/2014/main" id="{D03367AE-E311-9324-F81B-1DCDD1661B9C}"/>
              </a:ext>
            </a:extLst>
          </p:cNvPr>
          <p:cNvSpPr/>
          <p:nvPr/>
        </p:nvSpPr>
        <p:spPr>
          <a:xfrm rot="18014832">
            <a:off x="8605277" y="2277355"/>
            <a:ext cx="758344" cy="773885"/>
          </a:xfrm>
          <a:prstGeom prst="mathDivide">
            <a:avLst>
              <a:gd name="adj1" fmla="val 7212"/>
              <a:gd name="adj2" fmla="val 5880"/>
              <a:gd name="adj3" fmla="val 11760"/>
            </a:avLst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48" name="그래픽 47" descr="배지 1 단색으로 채워진">
            <a:extLst>
              <a:ext uri="{FF2B5EF4-FFF2-40B4-BE49-F238E27FC236}">
                <a16:creationId xmlns:a16="http://schemas.microsoft.com/office/drawing/2014/main" id="{BC1D5881-C02E-EFDF-34A1-D0333E2CE93C}"/>
              </a:ext>
            </a:extLst>
          </p:cNvPr>
          <p:cNvPicPr>
            <a:picLocks noChangeAspect="1"/>
          </p:cNvPicPr>
          <p:nvPr/>
        </p:nvPicPr>
        <p:blipFill>
          <a:blip r:embed="rId23">
            <a:extLst>
              <a:ext uri="{96DAC541-7B7A-43D3-8B79-37D633B846F1}">
                <asvg:svgBlip xmlns:asvg="http://schemas.microsoft.com/office/drawing/2016/SVG/main" r:embed="rId24"/>
              </a:ext>
            </a:extLst>
          </a:blip>
          <a:stretch>
            <a:fillRect/>
          </a:stretch>
        </p:blipFill>
        <p:spPr>
          <a:xfrm>
            <a:off x="7867157" y="5416663"/>
            <a:ext cx="705334" cy="705334"/>
          </a:xfrm>
          <a:prstGeom prst="rect">
            <a:avLst/>
          </a:prstGeom>
        </p:spPr>
      </p:pic>
      <p:pic>
        <p:nvPicPr>
          <p:cNvPr id="49" name="그래픽 48" descr="배지 단색으로 채워진">
            <a:extLst>
              <a:ext uri="{FF2B5EF4-FFF2-40B4-BE49-F238E27FC236}">
                <a16:creationId xmlns:a16="http://schemas.microsoft.com/office/drawing/2014/main" id="{AF4EFC56-12F1-D8C9-8334-F26D57DC8CD3}"/>
              </a:ext>
            </a:extLst>
          </p:cNvPr>
          <p:cNvPicPr>
            <a:picLocks noChangeAspect="1"/>
          </p:cNvPicPr>
          <p:nvPr/>
        </p:nvPicPr>
        <p:blipFill>
          <a:blip r:embed="rId25">
            <a:extLst>
              <a:ext uri="{96DAC541-7B7A-43D3-8B79-37D633B846F1}">
                <asvg:svgBlip xmlns:asvg="http://schemas.microsoft.com/office/drawing/2016/SVG/main" r:embed="rId26"/>
              </a:ext>
            </a:extLst>
          </a:blip>
          <a:stretch>
            <a:fillRect/>
          </a:stretch>
        </p:blipFill>
        <p:spPr>
          <a:xfrm>
            <a:off x="10308027" y="5406076"/>
            <a:ext cx="705334" cy="705334"/>
          </a:xfrm>
          <a:prstGeom prst="rect">
            <a:avLst/>
          </a:prstGeom>
        </p:spPr>
      </p:pic>
      <p:cxnSp>
        <p:nvCxnSpPr>
          <p:cNvPr id="50" name="직선 화살표 연결선 49">
            <a:extLst>
              <a:ext uri="{FF2B5EF4-FFF2-40B4-BE49-F238E27FC236}">
                <a16:creationId xmlns:a16="http://schemas.microsoft.com/office/drawing/2014/main" id="{6DD0A21F-5223-57AF-D4CD-D5E252D33CAA}"/>
              </a:ext>
            </a:extLst>
          </p:cNvPr>
          <p:cNvCxnSpPr>
            <a:cxnSpLocks/>
            <a:stCxn id="48" idx="3"/>
            <a:endCxn id="49" idx="1"/>
          </p:cNvCxnSpPr>
          <p:nvPr/>
        </p:nvCxnSpPr>
        <p:spPr>
          <a:xfrm flipV="1">
            <a:off x="8572491" y="5758743"/>
            <a:ext cx="1735536" cy="10587"/>
          </a:xfrm>
          <a:prstGeom prst="straightConnector1">
            <a:avLst/>
          </a:prstGeom>
          <a:ln w="28575">
            <a:solidFill>
              <a:schemeClr val="tx1"/>
            </a:solidFill>
            <a:prstDash val="sys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51" name="그래픽 50" descr="남성 프로그래머 단색으로 채워진">
            <a:extLst>
              <a:ext uri="{FF2B5EF4-FFF2-40B4-BE49-F238E27FC236}">
                <a16:creationId xmlns:a16="http://schemas.microsoft.com/office/drawing/2014/main" id="{DA1DDEC3-6618-5A9F-D4A9-D17CDD79441C}"/>
              </a:ext>
            </a:extLst>
          </p:cNvPr>
          <p:cNvPicPr>
            <a:picLocks noChangeAspect="1"/>
          </p:cNvPicPr>
          <p:nvPr/>
        </p:nvPicPr>
        <p:blipFill>
          <a:blip r:embed="rId27">
            <a:extLst>
              <a:ext uri="{96DAC541-7B7A-43D3-8B79-37D633B846F1}">
                <asvg:svgBlip xmlns:asvg="http://schemas.microsoft.com/office/drawing/2016/SVG/main" r:embed="rId28"/>
              </a:ext>
            </a:extLst>
          </a:blip>
          <a:stretch>
            <a:fillRect/>
          </a:stretch>
        </p:blipFill>
        <p:spPr>
          <a:xfrm>
            <a:off x="7493162" y="3898126"/>
            <a:ext cx="658103" cy="658103"/>
          </a:xfrm>
          <a:prstGeom prst="rect">
            <a:avLst/>
          </a:prstGeom>
        </p:spPr>
      </p:pic>
      <p:sp>
        <p:nvSpPr>
          <p:cNvPr id="52" name="TextBox 51">
            <a:extLst>
              <a:ext uri="{FF2B5EF4-FFF2-40B4-BE49-F238E27FC236}">
                <a16:creationId xmlns:a16="http://schemas.microsoft.com/office/drawing/2014/main" id="{AD432D7D-BD63-B878-F8D4-353DC170655C}"/>
              </a:ext>
            </a:extLst>
          </p:cNvPr>
          <p:cNvSpPr txBox="1"/>
          <p:nvPr/>
        </p:nvSpPr>
        <p:spPr>
          <a:xfrm>
            <a:off x="7074338" y="3010951"/>
            <a:ext cx="1326230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500" dirty="0"/>
              <a:t>현재 전환</a:t>
            </a:r>
            <a:endParaRPr lang="en-US" altLang="ko-KR" sz="1500" dirty="0"/>
          </a:p>
          <a:p>
            <a:pPr algn="ctr"/>
            <a:r>
              <a:rPr lang="ko-KR" altLang="en-US" sz="1500" dirty="0"/>
              <a:t>단계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145DE17A-D7B8-2A3D-7DC6-4474C1B1C146}"/>
              </a:ext>
            </a:extLst>
          </p:cNvPr>
          <p:cNvSpPr txBox="1"/>
          <p:nvPr/>
        </p:nvSpPr>
        <p:spPr>
          <a:xfrm>
            <a:off x="8289584" y="3002586"/>
            <a:ext cx="1389730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500" dirty="0"/>
              <a:t>Prefer </a:t>
            </a:r>
            <a:r>
              <a:rPr lang="ko-KR" altLang="en-US" sz="1500" dirty="0"/>
              <a:t>단계 </a:t>
            </a:r>
            <a:br>
              <a:rPr lang="en-US" altLang="ko-KR" sz="1500" dirty="0"/>
            </a:br>
            <a:r>
              <a:rPr lang="ko-KR" altLang="en-US" sz="1500" dirty="0"/>
              <a:t>내</a:t>
            </a:r>
            <a:r>
              <a:rPr lang="en-US" altLang="ko-KR" sz="1500" dirty="0"/>
              <a:t> </a:t>
            </a:r>
            <a:r>
              <a:rPr lang="ko-KR" altLang="en-US" sz="1500" dirty="0"/>
              <a:t>비율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491E8A8D-9ADB-54F4-7079-D766481B7204}"/>
              </a:ext>
            </a:extLst>
          </p:cNvPr>
          <p:cNvSpPr txBox="1"/>
          <p:nvPr/>
        </p:nvSpPr>
        <p:spPr>
          <a:xfrm>
            <a:off x="9553867" y="2996112"/>
            <a:ext cx="1120613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500"/>
              <a:t>사용 </a:t>
            </a:r>
            <a:endParaRPr lang="en-US" altLang="ko-KR" sz="1500"/>
          </a:p>
          <a:p>
            <a:pPr algn="ctr"/>
            <a:r>
              <a:rPr lang="en-US" altLang="ko-KR" sz="1500"/>
              <a:t>KEM</a:t>
            </a:r>
            <a:endParaRPr lang="ko-KR" altLang="en-US" sz="1500"/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694348AE-940C-1BF1-9B2F-E4149E7B7D7C}"/>
              </a:ext>
            </a:extLst>
          </p:cNvPr>
          <p:cNvSpPr txBox="1"/>
          <p:nvPr/>
        </p:nvSpPr>
        <p:spPr>
          <a:xfrm>
            <a:off x="10392379" y="3128093"/>
            <a:ext cx="188604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600" b="1" dirty="0">
                <a:solidFill>
                  <a:srgbClr val="FF0000"/>
                </a:solidFill>
              </a:rPr>
              <a:t>PQC</a:t>
            </a:r>
            <a:r>
              <a:rPr lang="ko-KR" altLang="en-US" sz="1600" b="1" dirty="0">
                <a:solidFill>
                  <a:srgbClr val="FF0000"/>
                </a:solidFill>
              </a:rPr>
              <a:t> 활성화 여부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805074B6-0AC2-3A19-6909-7EFD5D24FF02}"/>
              </a:ext>
            </a:extLst>
          </p:cNvPr>
          <p:cNvSpPr txBox="1"/>
          <p:nvPr/>
        </p:nvSpPr>
        <p:spPr>
          <a:xfrm>
            <a:off x="7003685" y="4680184"/>
            <a:ext cx="1856721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500" dirty="0"/>
              <a:t>기본 라우팅 서버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865B5594-1C6E-8577-6048-5F537BBDB6FB}"/>
              </a:ext>
            </a:extLst>
          </p:cNvPr>
          <p:cNvSpPr txBox="1"/>
          <p:nvPr/>
        </p:nvSpPr>
        <p:spPr>
          <a:xfrm>
            <a:off x="8750824" y="4692934"/>
            <a:ext cx="1444763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500" dirty="0"/>
              <a:t>포트 </a:t>
            </a:r>
            <a:r>
              <a:rPr lang="ko-KR" altLang="en-US" sz="1500" dirty="0" err="1"/>
              <a:t>설정값</a:t>
            </a:r>
            <a:endParaRPr lang="ko-KR" altLang="en-US" sz="1500" dirty="0"/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820E30A9-D362-079B-D824-67BD6B5EB50B}"/>
              </a:ext>
            </a:extLst>
          </p:cNvPr>
          <p:cNvSpPr txBox="1"/>
          <p:nvPr/>
        </p:nvSpPr>
        <p:spPr>
          <a:xfrm>
            <a:off x="10267148" y="4692935"/>
            <a:ext cx="18390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600" b="1" dirty="0">
                <a:solidFill>
                  <a:srgbClr val="FF0000"/>
                </a:solidFill>
              </a:rPr>
              <a:t>콘텐츠 변환 위치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9B026E38-C19B-5AFB-D020-95BFACB3F1DA}"/>
              </a:ext>
            </a:extLst>
          </p:cNvPr>
          <p:cNvSpPr txBox="1"/>
          <p:nvPr/>
        </p:nvSpPr>
        <p:spPr>
          <a:xfrm>
            <a:off x="7539686" y="6106608"/>
            <a:ext cx="1444763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500"/>
              <a:t>기존 텍스트 값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44F25297-4EF9-C100-0693-7ABD753AA942}"/>
              </a:ext>
            </a:extLst>
          </p:cNvPr>
          <p:cNvSpPr txBox="1"/>
          <p:nvPr/>
        </p:nvSpPr>
        <p:spPr>
          <a:xfrm>
            <a:off x="9740051" y="6120867"/>
            <a:ext cx="201907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600" b="1" dirty="0">
                <a:solidFill>
                  <a:srgbClr val="FF0000"/>
                </a:solidFill>
              </a:rPr>
              <a:t>변경할 텍스트 값</a:t>
            </a:r>
          </a:p>
        </p:txBody>
      </p:sp>
    </p:spTree>
    <p:extLst>
      <p:ext uri="{BB962C8B-B14F-4D97-AF65-F5344CB8AC3E}">
        <p14:creationId xmlns:p14="http://schemas.microsoft.com/office/powerpoint/2010/main" val="394653424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EE4DFD-611D-BFC4-901F-1D74411109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01CB3D9-9747-9061-17E0-E8D5116777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 dirty="0"/>
              <a:t>점진적 </a:t>
            </a:r>
            <a:r>
              <a:rPr kumimoji="1" lang="en-US" altLang="ko-KR" dirty="0"/>
              <a:t>PQC </a:t>
            </a:r>
            <a:r>
              <a:rPr kumimoji="1" lang="ko-KR" altLang="en-US" dirty="0"/>
              <a:t>마이그레이션</a:t>
            </a:r>
            <a:endParaRPr lang="ko-KR" altLang="en-US" dirty="0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1B3394D5-3F4C-DEAE-5164-B346450093B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ko-KR" altLang="en-US" b="1" dirty="0"/>
              <a:t>암호화 프로토콜 </a:t>
            </a:r>
            <a:r>
              <a:rPr lang="en-US" altLang="ko-KR" b="1" dirty="0"/>
              <a:t>PQC </a:t>
            </a:r>
            <a:r>
              <a:rPr lang="ko-KR" altLang="en-US" b="1" dirty="0"/>
              <a:t>전환 시나리오</a:t>
            </a:r>
            <a:endParaRPr lang="en-US" altLang="ko-KR" b="1" dirty="0"/>
          </a:p>
          <a:p>
            <a:pPr lvl="1"/>
            <a:r>
              <a:rPr lang="en-US" altLang="ko-KR" dirty="0"/>
              <a:t>prefer</a:t>
            </a:r>
            <a:r>
              <a:rPr lang="ko-KR" altLang="en-US" dirty="0"/>
              <a:t> 단계에서의 비율 조절을 통해 가중치 조절함으로써 </a:t>
            </a:r>
            <a:r>
              <a:rPr lang="ko-KR" altLang="en-US" b="1" dirty="0">
                <a:solidFill>
                  <a:srgbClr val="FF0000"/>
                </a:solidFill>
              </a:rPr>
              <a:t>클라이언트를 </a:t>
            </a:r>
            <a:br>
              <a:rPr lang="en-US" altLang="ko-KR" b="1" dirty="0">
                <a:solidFill>
                  <a:srgbClr val="FF0000"/>
                </a:solidFill>
              </a:rPr>
            </a:br>
            <a:r>
              <a:rPr lang="ko-KR" altLang="en-US" b="1" dirty="0">
                <a:solidFill>
                  <a:srgbClr val="FF0000"/>
                </a:solidFill>
              </a:rPr>
              <a:t>점진적으로 </a:t>
            </a:r>
            <a:r>
              <a:rPr lang="en-US" altLang="ko-KR" b="1" dirty="0">
                <a:solidFill>
                  <a:srgbClr val="FF0000"/>
                </a:solidFill>
              </a:rPr>
              <a:t>PQC </a:t>
            </a:r>
            <a:r>
              <a:rPr lang="ko-KR" altLang="en-US" b="1" dirty="0">
                <a:solidFill>
                  <a:srgbClr val="FF0000"/>
                </a:solidFill>
              </a:rPr>
              <a:t>서버로 유도</a:t>
            </a:r>
            <a:endParaRPr lang="en-US" altLang="ko-KR" b="1" dirty="0">
              <a:solidFill>
                <a:srgbClr val="FF0000"/>
              </a:solidFill>
            </a:endParaRP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48F344D8-CBEF-773E-9CD3-2020AD5EC03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33219" y="2890655"/>
            <a:ext cx="9525561" cy="23434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177822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2110E60-DAE8-BCC5-FD7F-199FAC6E60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 dirty="0"/>
              <a:t>점진적 </a:t>
            </a:r>
            <a:r>
              <a:rPr kumimoji="1" lang="en-US" altLang="ko-KR" dirty="0"/>
              <a:t>PQC </a:t>
            </a:r>
            <a:r>
              <a:rPr kumimoji="1" lang="ko-KR" altLang="en-US" dirty="0"/>
              <a:t>마이그레이션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50725714-D3A8-9AFB-E43F-5A87599F424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kumimoji="1" lang="en-US" altLang="ko-KR" b="1" dirty="0"/>
              <a:t>Policy : Announce </a:t>
            </a:r>
          </a:p>
          <a:p>
            <a:pPr lvl="1"/>
            <a:r>
              <a:rPr kumimoji="1" lang="ko-KR" altLang="en-US" dirty="0"/>
              <a:t>클라이언트에게 </a:t>
            </a:r>
            <a:r>
              <a:rPr kumimoji="1" lang="en-US" altLang="ko-KR" dirty="0"/>
              <a:t>PQC </a:t>
            </a:r>
            <a:r>
              <a:rPr kumimoji="1" lang="ko-KR" altLang="en-US" dirty="0"/>
              <a:t>서버 지원을 알림</a:t>
            </a:r>
            <a:endParaRPr kumimoji="1" lang="en-US" altLang="ko-KR" dirty="0"/>
          </a:p>
          <a:p>
            <a:pPr lvl="1"/>
            <a:r>
              <a:rPr kumimoji="1" lang="ko-KR" altLang="en-US" dirty="0"/>
              <a:t>하지만</a:t>
            </a:r>
            <a:r>
              <a:rPr kumimoji="1" lang="en-US" altLang="ko-KR" dirty="0"/>
              <a:t>, </a:t>
            </a:r>
            <a:r>
              <a:rPr kumimoji="1" lang="ko-KR" altLang="en-US" b="1" dirty="0">
                <a:solidFill>
                  <a:srgbClr val="2E75B6"/>
                </a:solidFill>
              </a:rPr>
              <a:t>클래식</a:t>
            </a:r>
            <a:r>
              <a:rPr kumimoji="1" lang="en-US" altLang="ko-KR" b="1" dirty="0">
                <a:solidFill>
                  <a:srgbClr val="2E75B6"/>
                </a:solidFill>
              </a:rPr>
              <a:t> TLS </a:t>
            </a:r>
            <a:r>
              <a:rPr kumimoji="1" lang="ko-KR" altLang="en-US" b="1" dirty="0">
                <a:solidFill>
                  <a:srgbClr val="2E75B6"/>
                </a:solidFill>
              </a:rPr>
              <a:t>클라이언트는 클래식 </a:t>
            </a:r>
            <a:r>
              <a:rPr kumimoji="1" lang="en-US" altLang="ko-KR" b="1" dirty="0">
                <a:solidFill>
                  <a:srgbClr val="2E75B6"/>
                </a:solidFill>
              </a:rPr>
              <a:t>TLS </a:t>
            </a:r>
            <a:r>
              <a:rPr kumimoji="1" lang="ko-KR" altLang="en-US" b="1" dirty="0">
                <a:solidFill>
                  <a:srgbClr val="2E75B6"/>
                </a:solidFill>
              </a:rPr>
              <a:t>서버로 매칭됨</a:t>
            </a:r>
            <a:br>
              <a:rPr kumimoji="1" lang="en-US" altLang="ko-KR" dirty="0"/>
            </a:br>
            <a:r>
              <a:rPr kumimoji="1" lang="en-US" altLang="ko-KR" b="1" dirty="0">
                <a:solidFill>
                  <a:srgbClr val="FF0000"/>
                </a:solidFill>
              </a:rPr>
              <a:t>(</a:t>
            </a:r>
            <a:r>
              <a:rPr kumimoji="1" lang="ko-KR" altLang="en-US" b="1" dirty="0">
                <a:solidFill>
                  <a:srgbClr val="FF0000"/>
                </a:solidFill>
              </a:rPr>
              <a:t>실제 전환은 수행</a:t>
            </a:r>
            <a:r>
              <a:rPr kumimoji="1" lang="en-US" altLang="ko-KR" b="1" dirty="0">
                <a:solidFill>
                  <a:srgbClr val="FF0000"/>
                </a:solidFill>
              </a:rPr>
              <a:t> X)</a:t>
            </a:r>
            <a:endParaRPr kumimoji="1" lang="ko-KR" altLang="en-US" b="1" dirty="0">
              <a:solidFill>
                <a:srgbClr val="FF0000"/>
              </a:solidFill>
            </a:endParaRP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137C24BC-7797-405B-3C9D-7BE3B12E14C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28239" y="3155075"/>
            <a:ext cx="7229811" cy="32378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2662272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BB9230-EE11-974C-F8E9-AA9C53FADF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DD4CD61-027F-CB46-96F0-5B2DB76DDE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 dirty="0"/>
              <a:t>점진적 </a:t>
            </a:r>
            <a:r>
              <a:rPr kumimoji="1" lang="en-US" altLang="ko-KR" dirty="0"/>
              <a:t>PQC </a:t>
            </a:r>
            <a:r>
              <a:rPr kumimoji="1" lang="ko-KR" altLang="en-US" dirty="0"/>
              <a:t>마이그레이션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텍스트 개체 틀 2">
                <a:extLst>
                  <a:ext uri="{FF2B5EF4-FFF2-40B4-BE49-F238E27FC236}">
                    <a16:creationId xmlns:a16="http://schemas.microsoft.com/office/drawing/2014/main" id="{D63FC358-941F-0149-E68A-B3CB18810692}"/>
                  </a:ext>
                </a:extLst>
              </p:cNvPr>
              <p:cNvSpPr>
                <a:spLocks noGrp="1"/>
              </p:cNvSpPr>
              <p:nvPr>
                <p:ph type="body" sz="quarter" idx="10"/>
              </p:nvPr>
            </p:nvSpPr>
            <p:spPr/>
            <p:txBody>
              <a:bodyPr/>
              <a:lstStyle/>
              <a:p>
                <a:r>
                  <a:rPr kumimoji="1" lang="en-US" altLang="ko-KR" b="1" dirty="0"/>
                  <a:t>Policy : Prefer(%) </a:t>
                </a:r>
              </a:p>
              <a:p>
                <a:pPr lvl="1"/>
                <a:r>
                  <a:rPr kumimoji="1" lang="ko-KR" altLang="en-US" dirty="0"/>
                  <a:t>전환 비율 설정을 통해 클래식 </a:t>
                </a:r>
                <a:r>
                  <a:rPr kumimoji="1" lang="en-US" altLang="ko-KR" dirty="0"/>
                  <a:t>TLS </a:t>
                </a:r>
                <a:r>
                  <a:rPr kumimoji="1" lang="ko-KR" altLang="en-US" dirty="0"/>
                  <a:t>클라이언트 일부를 </a:t>
                </a:r>
                <a:r>
                  <a:rPr kumimoji="1" lang="en-US" altLang="ko-KR" dirty="0"/>
                  <a:t>PQC </a:t>
                </a:r>
                <a:r>
                  <a:rPr kumimoji="1" lang="ko-KR" altLang="en-US" dirty="0"/>
                  <a:t>서버로 라우팅</a:t>
                </a:r>
                <a:endParaRPr kumimoji="1" lang="en-US" altLang="ko-KR" dirty="0"/>
              </a:p>
              <a:p>
                <a:pPr lvl="1"/>
                <a:r>
                  <a:rPr kumimoji="1" lang="en-US" altLang="ko-KR" b="1" dirty="0">
                    <a:solidFill>
                      <a:srgbClr val="FF0000"/>
                    </a:solidFill>
                  </a:rPr>
                  <a:t>25%</a:t>
                </a:r>
                <a:r>
                  <a:rPr kumimoji="1" lang="ko-KR" altLang="en-US" b="1" dirty="0">
                    <a:solidFill>
                      <a:srgbClr val="FF0000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kumimoji="1" lang="ko-KR" altLang="en-US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→</m:t>
                    </m:r>
                  </m:oMath>
                </a14:m>
                <a:r>
                  <a:rPr kumimoji="1" lang="ko-KR" altLang="en-US" b="1" dirty="0">
                    <a:solidFill>
                      <a:srgbClr val="FF0000"/>
                    </a:solidFill>
                  </a:rPr>
                  <a:t> </a:t>
                </a:r>
                <a:r>
                  <a:rPr kumimoji="1" lang="en-US" altLang="ko-KR" b="1" dirty="0">
                    <a:solidFill>
                      <a:srgbClr val="FF0000"/>
                    </a:solidFill>
                  </a:rPr>
                  <a:t>50% </a:t>
                </a:r>
                <a14:m>
                  <m:oMath xmlns:m="http://schemas.openxmlformats.org/officeDocument/2006/math">
                    <m:r>
                      <a:rPr kumimoji="1" lang="ko-KR" altLang="en-US" b="1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→</m:t>
                    </m:r>
                  </m:oMath>
                </a14:m>
                <a:r>
                  <a:rPr kumimoji="1" lang="ko-KR" altLang="en-US" b="1" dirty="0">
                    <a:solidFill>
                      <a:srgbClr val="FF0000"/>
                    </a:solidFill>
                  </a:rPr>
                  <a:t> </a:t>
                </a:r>
                <a:r>
                  <a:rPr kumimoji="1" lang="en-US" altLang="ko-KR" b="1" dirty="0">
                    <a:solidFill>
                      <a:srgbClr val="FF0000"/>
                    </a:solidFill>
                  </a:rPr>
                  <a:t>75% </a:t>
                </a:r>
                <a:r>
                  <a:rPr kumimoji="1" lang="ko-KR" altLang="en-US" b="1" dirty="0">
                    <a:solidFill>
                      <a:srgbClr val="FF0000"/>
                    </a:solidFill>
                  </a:rPr>
                  <a:t>로 점진적으로 전환 비율을 늘려가면서 라우팅</a:t>
                </a:r>
              </a:p>
            </p:txBody>
          </p:sp>
        </mc:Choice>
        <mc:Fallback xmlns="">
          <p:sp>
            <p:nvSpPr>
              <p:cNvPr id="3" name="텍스트 개체 틀 2">
                <a:extLst>
                  <a:ext uri="{FF2B5EF4-FFF2-40B4-BE49-F238E27FC236}">
                    <a16:creationId xmlns:a16="http://schemas.microsoft.com/office/drawing/2014/main" id="{D63FC358-941F-0149-E68A-B3CB1881069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quarter" idx="10"/>
              </p:nvPr>
            </p:nvSpPr>
            <p:spPr>
              <a:blipFill>
                <a:blip r:embed="rId2"/>
                <a:stretch>
                  <a:fillRect l="-893" t="-2000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그림 4">
            <a:extLst>
              <a:ext uri="{FF2B5EF4-FFF2-40B4-BE49-F238E27FC236}">
                <a16:creationId xmlns:a16="http://schemas.microsoft.com/office/drawing/2014/main" id="{11BDAF98-A231-0CFF-2180-6B42D2D5FDD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09497" y="2895284"/>
            <a:ext cx="6955221" cy="39127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2509930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D6521C-D0C7-C7FF-E33B-F18AF7AB37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E5A69FA-63DA-A4A1-B538-16CC470674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 dirty="0"/>
              <a:t>점진적 </a:t>
            </a:r>
            <a:r>
              <a:rPr kumimoji="1" lang="en-US" altLang="ko-KR" dirty="0"/>
              <a:t>PQC </a:t>
            </a:r>
            <a:r>
              <a:rPr kumimoji="1" lang="ko-KR" altLang="en-US" dirty="0"/>
              <a:t>마이그레이션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9DECDC1E-856A-18F4-964A-F6A4F7592BE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>
            <a:normAutofit/>
          </a:bodyPr>
          <a:lstStyle/>
          <a:p>
            <a:r>
              <a:rPr kumimoji="1" lang="ko-KR" altLang="en-US" sz="2400" b="1" dirty="0"/>
              <a:t>롤백 및 전환 기준</a:t>
            </a:r>
            <a:endParaRPr kumimoji="1" lang="en-US" altLang="ko-KR" sz="2400" b="1" dirty="0"/>
          </a:p>
          <a:p>
            <a:pPr lvl="1"/>
            <a:r>
              <a:rPr lang="ko-KR" altLang="en-US" b="1" dirty="0">
                <a:solidFill>
                  <a:srgbClr val="2E75B6"/>
                </a:solidFill>
              </a:rPr>
              <a:t>호환성</a:t>
            </a:r>
            <a:endParaRPr lang="en-US" altLang="ko-KR" b="1" dirty="0">
              <a:solidFill>
                <a:schemeClr val="bg2">
                  <a:lumMod val="10000"/>
                </a:schemeClr>
              </a:solidFill>
            </a:endParaRPr>
          </a:p>
          <a:p>
            <a:pPr marL="457200" lvl="1" indent="0">
              <a:buNone/>
            </a:pPr>
            <a:r>
              <a:rPr lang="en-US" altLang="ko-KR" b="1" dirty="0">
                <a:solidFill>
                  <a:schemeClr val="bg2">
                    <a:lumMod val="10000"/>
                  </a:schemeClr>
                </a:solidFill>
              </a:rPr>
              <a:t>   </a:t>
            </a:r>
            <a:r>
              <a:rPr lang="en-US" altLang="ko-KR" dirty="0">
                <a:solidFill>
                  <a:schemeClr val="bg2">
                    <a:lumMod val="10000"/>
                  </a:schemeClr>
                </a:solidFill>
              </a:rPr>
              <a:t>prefer </a:t>
            </a:r>
            <a:r>
              <a:rPr lang="ko-KR" altLang="en-US" dirty="0">
                <a:solidFill>
                  <a:schemeClr val="bg2">
                    <a:lumMod val="10000"/>
                  </a:schemeClr>
                </a:solidFill>
              </a:rPr>
              <a:t>비율 대비 </a:t>
            </a:r>
            <a:r>
              <a:rPr lang="en-US" altLang="ko-KR" dirty="0">
                <a:solidFill>
                  <a:schemeClr val="bg2">
                    <a:lumMod val="10000"/>
                  </a:schemeClr>
                </a:solidFill>
              </a:rPr>
              <a:t>PQC </a:t>
            </a:r>
            <a:r>
              <a:rPr lang="ko-KR" altLang="en-US" dirty="0">
                <a:solidFill>
                  <a:schemeClr val="bg2">
                    <a:lumMod val="10000"/>
                  </a:schemeClr>
                </a:solidFill>
              </a:rPr>
              <a:t>통신 성공률</a:t>
            </a:r>
            <a:r>
              <a:rPr lang="en-US" altLang="ko-KR" dirty="0">
                <a:solidFill>
                  <a:schemeClr val="bg2">
                    <a:lumMod val="10000"/>
                  </a:schemeClr>
                </a:solidFill>
              </a:rPr>
              <a:t> (ECC TLS </a:t>
            </a:r>
            <a:r>
              <a:rPr lang="en-US" altLang="ko-KR" dirty="0">
                <a:solidFill>
                  <a:schemeClr val="bg2">
                    <a:lumMod val="10000"/>
                  </a:schemeClr>
                </a:solidFill>
                <a:sym typeface="Wingdings" panose="05000000000000000000" pitchFamily="2" charset="2"/>
              </a:rPr>
              <a:t>PQC TLS</a:t>
            </a:r>
            <a:r>
              <a:rPr lang="ko-KR" altLang="en-US" dirty="0">
                <a:solidFill>
                  <a:schemeClr val="bg2">
                    <a:lumMod val="10000"/>
                  </a:schemeClr>
                </a:solidFill>
                <a:sym typeface="Wingdings" panose="05000000000000000000" pitchFamily="2" charset="2"/>
              </a:rPr>
              <a:t>로 성공적인 전환</a:t>
            </a:r>
            <a:r>
              <a:rPr lang="en-US" altLang="ko-KR" dirty="0">
                <a:solidFill>
                  <a:schemeClr val="bg2">
                    <a:lumMod val="10000"/>
                  </a:schemeClr>
                </a:solidFill>
                <a:sym typeface="Wingdings" panose="05000000000000000000" pitchFamily="2" charset="2"/>
              </a:rPr>
              <a:t>)</a:t>
            </a:r>
            <a:endParaRPr lang="en-US" altLang="ko-KR" dirty="0">
              <a:solidFill>
                <a:schemeClr val="bg2">
                  <a:lumMod val="10000"/>
                </a:schemeClr>
              </a:solidFill>
            </a:endParaRPr>
          </a:p>
          <a:p>
            <a:pPr lvl="1"/>
            <a:r>
              <a:rPr lang="ko-KR" altLang="en-US" b="1" dirty="0">
                <a:solidFill>
                  <a:srgbClr val="2E75B6"/>
                </a:solidFill>
              </a:rPr>
              <a:t>지연 시간</a:t>
            </a:r>
            <a:endParaRPr lang="en-US" altLang="ko-KR" b="1" dirty="0">
              <a:solidFill>
                <a:schemeClr val="bg2">
                  <a:lumMod val="10000"/>
                </a:schemeClr>
              </a:solidFill>
            </a:endParaRPr>
          </a:p>
          <a:p>
            <a:pPr marL="457200" lvl="1" indent="0">
              <a:buNone/>
            </a:pPr>
            <a:r>
              <a:rPr lang="ko-KR" altLang="en-US" dirty="0">
                <a:solidFill>
                  <a:schemeClr val="bg2">
                    <a:lumMod val="10000"/>
                  </a:schemeClr>
                </a:solidFill>
              </a:rPr>
              <a:t>   측정한 </a:t>
            </a:r>
            <a:r>
              <a:rPr lang="en-US" altLang="ko-KR" dirty="0">
                <a:solidFill>
                  <a:schemeClr val="bg2">
                    <a:lumMod val="10000"/>
                  </a:schemeClr>
                </a:solidFill>
              </a:rPr>
              <a:t>ECC</a:t>
            </a:r>
            <a:r>
              <a:rPr lang="en-US" altLang="ko-KR" dirty="0">
                <a:solidFill>
                  <a:schemeClr val="bg2">
                    <a:lumMod val="10000"/>
                  </a:schemeClr>
                </a:solidFill>
                <a:sym typeface="Wingdings" panose="05000000000000000000" pitchFamily="2" charset="2"/>
              </a:rPr>
              <a:t>PQC </a:t>
            </a:r>
            <a:r>
              <a:rPr lang="ko-KR" altLang="en-US" dirty="0">
                <a:solidFill>
                  <a:schemeClr val="bg2">
                    <a:lumMod val="10000"/>
                  </a:schemeClr>
                </a:solidFill>
                <a:sym typeface="Wingdings" panose="05000000000000000000" pitchFamily="2" charset="2"/>
              </a:rPr>
              <a:t>오버헤드의 평균값 </a:t>
            </a:r>
            <a:r>
              <a:rPr lang="en-US" altLang="ko-KR" dirty="0">
                <a:solidFill>
                  <a:schemeClr val="bg2">
                    <a:lumMod val="10000"/>
                  </a:schemeClr>
                </a:solidFill>
                <a:sym typeface="Wingdings" panose="05000000000000000000" pitchFamily="2" charset="2"/>
              </a:rPr>
              <a:t>5.81</a:t>
            </a:r>
            <a:r>
              <a:rPr lang="ko-KR" altLang="en-US" dirty="0">
                <a:solidFill>
                  <a:schemeClr val="bg2">
                    <a:lumMod val="10000"/>
                  </a:schemeClr>
                </a:solidFill>
                <a:sym typeface="Wingdings" panose="05000000000000000000" pitchFamily="2" charset="2"/>
              </a:rPr>
              <a:t>배를 기준으로 설정</a:t>
            </a:r>
            <a:r>
              <a:rPr lang="en-US" altLang="ko-KR" dirty="0">
                <a:solidFill>
                  <a:schemeClr val="bg2">
                    <a:lumMod val="10000"/>
                  </a:schemeClr>
                </a:solidFill>
                <a:sym typeface="Wingdings" panose="05000000000000000000" pitchFamily="2" charset="2"/>
              </a:rPr>
              <a:t> </a:t>
            </a:r>
          </a:p>
          <a:p>
            <a:pPr marL="457200" lvl="1" indent="0">
              <a:buNone/>
            </a:pPr>
            <a:r>
              <a:rPr lang="ko-KR" altLang="en-US" dirty="0">
                <a:solidFill>
                  <a:schemeClr val="bg2">
                    <a:lumMod val="10000"/>
                  </a:schemeClr>
                </a:solidFill>
                <a:sym typeface="Wingdings" panose="05000000000000000000" pitchFamily="2" charset="2"/>
              </a:rPr>
              <a:t>   전환 시 오버헤드가 </a:t>
            </a:r>
            <a:r>
              <a:rPr lang="en-US" altLang="ko-KR" dirty="0">
                <a:solidFill>
                  <a:schemeClr val="bg2">
                    <a:lumMod val="10000"/>
                  </a:schemeClr>
                </a:solidFill>
                <a:sym typeface="Wingdings" panose="05000000000000000000" pitchFamily="2" charset="2"/>
              </a:rPr>
              <a:t>7</a:t>
            </a:r>
            <a:r>
              <a:rPr lang="ko-KR" altLang="en-US" dirty="0">
                <a:solidFill>
                  <a:schemeClr val="bg2">
                    <a:lumMod val="10000"/>
                  </a:schemeClr>
                </a:solidFill>
                <a:sym typeface="Wingdings" panose="05000000000000000000" pitchFamily="2" charset="2"/>
              </a:rPr>
              <a:t>배를 초과할 경우 비정상적인 지연으로 판단함</a:t>
            </a:r>
            <a:endParaRPr lang="en-US" altLang="ko-KR" dirty="0">
              <a:solidFill>
                <a:schemeClr val="bg2">
                  <a:lumMod val="10000"/>
                </a:schemeClr>
              </a:solidFill>
              <a:sym typeface="Wingdings" panose="05000000000000000000" pitchFamily="2" charset="2"/>
            </a:endParaRPr>
          </a:p>
          <a:p>
            <a:pPr lvl="1"/>
            <a:r>
              <a:rPr lang="ko-KR" altLang="en-US" b="1" dirty="0">
                <a:solidFill>
                  <a:srgbClr val="2E75B6"/>
                </a:solidFill>
              </a:rPr>
              <a:t>치명적</a:t>
            </a:r>
            <a:r>
              <a:rPr lang="en-US" altLang="ko-KR" b="1" dirty="0">
                <a:solidFill>
                  <a:srgbClr val="2E75B6"/>
                </a:solidFill>
              </a:rPr>
              <a:t> </a:t>
            </a:r>
            <a:r>
              <a:rPr lang="ko-KR" altLang="en-US" b="1" dirty="0" err="1">
                <a:solidFill>
                  <a:srgbClr val="2E75B6"/>
                </a:solidFill>
              </a:rPr>
              <a:t>오류률</a:t>
            </a:r>
            <a:endParaRPr lang="en-US" altLang="ko-KR" b="1" dirty="0">
              <a:solidFill>
                <a:schemeClr val="bg2">
                  <a:lumMod val="10000"/>
                </a:schemeClr>
              </a:solidFill>
            </a:endParaRPr>
          </a:p>
          <a:p>
            <a:pPr marL="457200" lvl="1" indent="0">
              <a:buNone/>
            </a:pPr>
            <a:r>
              <a:rPr lang="ko-KR" altLang="en-US" dirty="0">
                <a:solidFill>
                  <a:schemeClr val="bg2">
                    <a:lumMod val="10000"/>
                  </a:schemeClr>
                </a:solidFill>
              </a:rPr>
              <a:t>   </a:t>
            </a:r>
            <a:r>
              <a:rPr lang="ko-KR" altLang="en-US" dirty="0" err="1">
                <a:solidFill>
                  <a:schemeClr val="bg2">
                    <a:lumMod val="10000"/>
                  </a:schemeClr>
                </a:solidFill>
              </a:rPr>
              <a:t>핸드셰이크</a:t>
            </a:r>
            <a:r>
              <a:rPr lang="ko-KR" altLang="en-US" dirty="0">
                <a:solidFill>
                  <a:schemeClr val="bg2">
                    <a:lumMod val="10000"/>
                  </a:schemeClr>
                </a:solidFill>
              </a:rPr>
              <a:t> 실패 등의 이유로 전환 이후에 발생하는 클라이언트의 직접적인         </a:t>
            </a:r>
            <a:endParaRPr lang="en-US" altLang="ko-KR" dirty="0">
              <a:solidFill>
                <a:schemeClr val="bg2">
                  <a:lumMod val="10000"/>
                </a:schemeClr>
              </a:solidFill>
            </a:endParaRPr>
          </a:p>
          <a:p>
            <a:pPr marL="457200" lvl="1" indent="0">
              <a:buNone/>
            </a:pPr>
            <a:r>
              <a:rPr lang="ko-KR" altLang="en-US" dirty="0">
                <a:solidFill>
                  <a:schemeClr val="bg2">
                    <a:lumMod val="10000"/>
                  </a:schemeClr>
                </a:solidFill>
              </a:rPr>
              <a:t>   접속 실패 </a:t>
            </a:r>
            <a:endParaRPr lang="en-US" altLang="ko-KR" dirty="0">
              <a:solidFill>
                <a:schemeClr val="bg2">
                  <a:lumMod val="10000"/>
                </a:schemeClr>
              </a:solidFill>
            </a:endParaRPr>
          </a:p>
          <a:p>
            <a:pPr lvl="1"/>
            <a:endParaRPr lang="en-US" altLang="ko-KR" dirty="0">
              <a:solidFill>
                <a:schemeClr val="bg2">
                  <a:lumMod val="10000"/>
                </a:schemeClr>
              </a:solidFill>
            </a:endParaRPr>
          </a:p>
          <a:p>
            <a:pPr marL="457200" lvl="1" indent="0">
              <a:buNone/>
            </a:pPr>
            <a:endParaRPr kumimoji="1" lang="ko-KR" alt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349110B-79C7-D47A-C776-DD9C4F5EF364}"/>
              </a:ext>
            </a:extLst>
          </p:cNvPr>
          <p:cNvSpPr txBox="1"/>
          <p:nvPr/>
        </p:nvSpPr>
        <p:spPr>
          <a:xfrm>
            <a:off x="0" y="4789449"/>
            <a:ext cx="12192000" cy="1384995"/>
          </a:xfrm>
          <a:prstGeom prst="rect">
            <a:avLst/>
          </a:prstGeom>
          <a:solidFill>
            <a:schemeClr val="bg2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ko-KR" sz="2800" b="1" dirty="0"/>
              <a:t>1</a:t>
            </a:r>
            <a:r>
              <a:rPr lang="ko-KR" altLang="en-US" sz="2800" b="1" dirty="0"/>
              <a:t>시간 </a:t>
            </a:r>
            <a:r>
              <a:rPr lang="en-US" altLang="ko-KR" sz="2800" b="1" dirty="0"/>
              <a:t>/ 5</a:t>
            </a:r>
            <a:r>
              <a:rPr lang="ko-KR" altLang="en-US" sz="2800" b="1" dirty="0"/>
              <a:t>분 간격으로 </a:t>
            </a:r>
            <a:r>
              <a:rPr lang="ko-KR" altLang="en-US" sz="2800" b="1" dirty="0">
                <a:solidFill>
                  <a:srgbClr val="FF0000"/>
                </a:solidFill>
              </a:rPr>
              <a:t>정책 전환 후의 시스템 상태를 모니터링</a:t>
            </a:r>
            <a:r>
              <a:rPr lang="ko-KR" altLang="en-US" sz="2800" b="1" dirty="0"/>
              <a:t>하며</a:t>
            </a:r>
            <a:r>
              <a:rPr lang="en-US" altLang="ko-KR" sz="2800" b="1" dirty="0"/>
              <a:t>, </a:t>
            </a:r>
          </a:p>
          <a:p>
            <a:pPr algn="ctr"/>
            <a:r>
              <a:rPr lang="ko-KR" altLang="en-US" sz="2800" b="1" dirty="0"/>
              <a:t>정책 전환</a:t>
            </a:r>
            <a:r>
              <a:rPr lang="en-US" altLang="ko-KR" sz="2800" b="1" dirty="0"/>
              <a:t>·</a:t>
            </a:r>
            <a:r>
              <a:rPr lang="ko-KR" altLang="en-US" sz="2800" b="1" dirty="0"/>
              <a:t>유지</a:t>
            </a:r>
            <a:r>
              <a:rPr lang="en-US" altLang="ko-KR" sz="2800" b="1" dirty="0"/>
              <a:t>·</a:t>
            </a:r>
            <a:r>
              <a:rPr lang="ko-KR" altLang="en-US" sz="2800" b="1" dirty="0"/>
              <a:t>롤백을 결정 </a:t>
            </a:r>
            <a:endParaRPr lang="en-US" altLang="ko-KR" sz="2800" b="1" dirty="0"/>
          </a:p>
          <a:p>
            <a:pPr algn="ctr"/>
            <a:r>
              <a:rPr lang="en-US" altLang="ko-KR" sz="2800" b="1" dirty="0">
                <a:solidFill>
                  <a:srgbClr val="2E75B6"/>
                </a:solidFill>
              </a:rPr>
              <a:t>1</a:t>
            </a:r>
            <a:r>
              <a:rPr lang="ko-KR" altLang="en-US" sz="2800" b="1" dirty="0">
                <a:solidFill>
                  <a:srgbClr val="2E75B6"/>
                </a:solidFill>
              </a:rPr>
              <a:t>시간</a:t>
            </a:r>
            <a:r>
              <a:rPr lang="en-US" altLang="ko-KR" sz="2800" b="1" dirty="0">
                <a:solidFill>
                  <a:srgbClr val="2E75B6"/>
                </a:solidFill>
              </a:rPr>
              <a:t>: </a:t>
            </a:r>
            <a:r>
              <a:rPr lang="ko-KR" altLang="en-US" sz="2800" b="1" dirty="0">
                <a:solidFill>
                  <a:srgbClr val="2E75B6"/>
                </a:solidFill>
              </a:rPr>
              <a:t>장기적인 롤백 판단 </a:t>
            </a:r>
            <a:r>
              <a:rPr lang="en-US" altLang="ko-KR" sz="2800" b="1" dirty="0">
                <a:solidFill>
                  <a:srgbClr val="2E75B6"/>
                </a:solidFill>
              </a:rPr>
              <a:t>| 5</a:t>
            </a:r>
            <a:r>
              <a:rPr lang="ko-KR" altLang="en-US" sz="2800" b="1" dirty="0">
                <a:solidFill>
                  <a:srgbClr val="2E75B6"/>
                </a:solidFill>
              </a:rPr>
              <a:t>분</a:t>
            </a:r>
            <a:r>
              <a:rPr lang="en-US" altLang="ko-KR" sz="2800" b="1" dirty="0">
                <a:solidFill>
                  <a:srgbClr val="2E75B6"/>
                </a:solidFill>
              </a:rPr>
              <a:t>: </a:t>
            </a:r>
            <a:r>
              <a:rPr lang="ko-KR" altLang="en-US" sz="2800" b="1" dirty="0">
                <a:solidFill>
                  <a:srgbClr val="2E75B6"/>
                </a:solidFill>
              </a:rPr>
              <a:t>단기적인 롤백 판단 </a:t>
            </a:r>
            <a:r>
              <a:rPr lang="en-US" altLang="ko-KR" sz="2800" b="1" dirty="0">
                <a:solidFill>
                  <a:srgbClr val="2E75B6"/>
                </a:solidFill>
              </a:rPr>
              <a:t>(</a:t>
            </a:r>
            <a:r>
              <a:rPr lang="ko-KR" altLang="en-US" sz="2800" b="1" dirty="0">
                <a:solidFill>
                  <a:srgbClr val="2E75B6"/>
                </a:solidFill>
              </a:rPr>
              <a:t>치명적인 결함 판단</a:t>
            </a:r>
            <a:r>
              <a:rPr lang="en-US" altLang="ko-KR" sz="2800" b="1" dirty="0">
                <a:solidFill>
                  <a:srgbClr val="2E75B6"/>
                </a:solidFill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110318977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3CD4DE-2086-6F6C-3789-2AB1FBD5A9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9394266-A677-0138-1085-586FAD9090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 dirty="0"/>
              <a:t>점진적 </a:t>
            </a:r>
            <a:r>
              <a:rPr kumimoji="1" lang="en-US" altLang="ko-KR" dirty="0"/>
              <a:t>PQC </a:t>
            </a:r>
            <a:r>
              <a:rPr kumimoji="1" lang="ko-KR" altLang="en-US" dirty="0"/>
              <a:t>마이그레이션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4" name="표 3">
                <a:extLst>
                  <a:ext uri="{FF2B5EF4-FFF2-40B4-BE49-F238E27FC236}">
                    <a16:creationId xmlns:a16="http://schemas.microsoft.com/office/drawing/2014/main" id="{805E169B-49E3-70F3-58D5-AFD1427EA55F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709891927"/>
                  </p:ext>
                </p:extLst>
              </p:nvPr>
            </p:nvGraphicFramePr>
            <p:xfrm>
              <a:off x="411920" y="1493130"/>
              <a:ext cx="11368160" cy="2043557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2225427">
                      <a:extLst>
                        <a:ext uri="{9D8B030D-6E8A-4147-A177-3AD203B41FA5}">
                          <a16:colId xmlns:a16="http://schemas.microsoft.com/office/drawing/2014/main" val="2552854306"/>
                        </a:ext>
                      </a:extLst>
                    </a:gridCol>
                    <a:gridCol w="4342280">
                      <a:extLst>
                        <a:ext uri="{9D8B030D-6E8A-4147-A177-3AD203B41FA5}">
                          <a16:colId xmlns:a16="http://schemas.microsoft.com/office/drawing/2014/main" val="3906389802"/>
                        </a:ext>
                      </a:extLst>
                    </a:gridCol>
                    <a:gridCol w="4800453">
                      <a:extLst>
                        <a:ext uri="{9D8B030D-6E8A-4147-A177-3AD203B41FA5}">
                          <a16:colId xmlns:a16="http://schemas.microsoft.com/office/drawing/2014/main" val="635627430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 fontAlgn="t" latinLnBrk="0">
                            <a:buNone/>
                          </a:pPr>
                          <a:r>
                            <a:rPr lang="ko-KR" altLang="en-US" b="1" dirty="0">
                              <a:solidFill>
                                <a:schemeClr val="bg1"/>
                              </a:solidFill>
                              <a:effectLst/>
                            </a:rPr>
                            <a:t>구분</a:t>
                          </a:r>
                        </a:p>
                      </a:txBody>
                      <a:tcPr marL="50800" marR="50800" marT="50800" marB="50800"/>
                    </a:tc>
                    <a:tc>
                      <a:txBody>
                        <a:bodyPr/>
                        <a:lstStyle/>
                        <a:p>
                          <a:pPr algn="ctr" fontAlgn="t" latinLnBrk="0">
                            <a:buNone/>
                          </a:pPr>
                          <a:r>
                            <a:rPr lang="ko-KR" altLang="en-US" b="1" dirty="0">
                              <a:solidFill>
                                <a:schemeClr val="bg1"/>
                              </a:solidFill>
                              <a:effectLst/>
                            </a:rPr>
                            <a:t>롤백 조건</a:t>
                          </a:r>
                        </a:p>
                      </a:txBody>
                      <a:tcPr marL="50800" marR="50800" marT="50800" marB="50800"/>
                    </a:tc>
                    <a:tc>
                      <a:txBody>
                        <a:bodyPr/>
                        <a:lstStyle/>
                        <a:p>
                          <a:pPr algn="l" fontAlgn="t" latinLnBrk="0">
                            <a:buNone/>
                          </a:pPr>
                          <a:r>
                            <a:rPr lang="ko-KR" altLang="en-US" b="1" dirty="0">
                              <a:solidFill>
                                <a:schemeClr val="bg1"/>
                              </a:solidFill>
                              <a:effectLst/>
                            </a:rPr>
                            <a:t>평가 기준</a:t>
                          </a:r>
                        </a:p>
                      </a:txBody>
                      <a:tcPr marL="50800" marR="50800" marT="50800" marB="50800"/>
                    </a:tc>
                    <a:extLst>
                      <a:ext uri="{0D108BD9-81ED-4DB2-BD59-A6C34878D82A}">
                        <a16:rowId xmlns:a16="http://schemas.microsoft.com/office/drawing/2014/main" val="1016035045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 fontAlgn="base" latinLnBrk="0">
                            <a:buNone/>
                          </a:pPr>
                          <a:r>
                            <a:rPr lang="ko-KR" altLang="en-US" dirty="0">
                              <a:effectLst/>
                            </a:rPr>
                            <a:t>호환성</a:t>
                          </a:r>
                        </a:p>
                      </a:txBody>
                      <a:tcPr marL="50800" marR="50800" anchor="ctr"/>
                    </a:tc>
                    <a:tc>
                      <a:txBody>
                        <a:bodyPr/>
                        <a:lstStyle/>
                        <a:p>
                          <a:pPr fontAlgn="base" latinLnBrk="0"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ar-AE" altLang="ko-KR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ko-KR" altLang="ar-AE" i="1">
                                        <a:latin typeface="Cambria Math" panose="02040503050406030204" pitchFamily="18" charset="0"/>
                                      </a:rPr>
                                      <m:t>𝑆</m:t>
                                    </m:r>
                                  </m:e>
                                  <m:sub>
                                    <m:r>
                                      <a:rPr lang="ko-KR" altLang="ar-AE" i="1">
                                        <a:latin typeface="Cambria Math" panose="02040503050406030204" pitchFamily="18" charset="0"/>
                                      </a:rPr>
                                      <m:t>𝑃𝑄𝐶</m:t>
                                    </m:r>
                                  </m:sub>
                                </m:sSub>
                                <m:r>
                                  <a:rPr lang="ar-AE" altLang="ko-KR" i="0">
                                    <a:latin typeface="Cambria Math" panose="02040503050406030204" pitchFamily="18" charset="0"/>
                                  </a:rPr>
                                  <m:t>&lt;</m:t>
                                </m:r>
                                <m:sSub>
                                  <m:sSubPr>
                                    <m:ctrlPr>
                                      <a:rPr lang="ar-AE" altLang="ko-KR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ko-KR" altLang="ar-AE" i="1">
                                        <a:latin typeface="Cambria Math" panose="02040503050406030204" pitchFamily="18" charset="0"/>
                                      </a:rPr>
                                      <m:t>𝑆</m:t>
                                    </m:r>
                                  </m:e>
                                  <m:sub>
                                    <m:r>
                                      <a:rPr lang="ko-KR" altLang="ar-AE" i="1">
                                        <a:latin typeface="Cambria Math" panose="02040503050406030204" pitchFamily="18" charset="0"/>
                                      </a:rPr>
                                      <m:t>𝑝𝑟𝑒𝑓𝑒𝑟</m:t>
                                    </m:r>
                                  </m:sub>
                                </m:sSub>
                                <m:r>
                                  <a:rPr lang="ar-AE" altLang="ko-KR" i="0">
                                    <a:latin typeface="Cambria Math" panose="02040503050406030204" pitchFamily="18" charset="0"/>
                                  </a:rPr>
                                  <m:t>−5%</m:t>
                                </m:r>
                              </m:oMath>
                            </m:oMathPara>
                          </a14:m>
                          <a:endParaRPr lang="ar-AE" dirty="0">
                            <a:effectLst/>
                          </a:endParaRPr>
                        </a:p>
                      </a:txBody>
                      <a:tcPr marL="50800" marR="50800" anchor="ctr"/>
                    </a:tc>
                    <a:tc>
                      <a:txBody>
                        <a:bodyPr/>
                        <a:lstStyle/>
                        <a:p>
                          <a:pPr fontAlgn="base" latinLnBrk="0">
                            <a:buNone/>
                          </a:pPr>
                          <a:r>
                            <a:rPr lang="en-US" altLang="ko-KR" dirty="0">
                              <a:effectLst/>
                            </a:rPr>
                            <a:t>PQC </a:t>
                          </a:r>
                          <a:r>
                            <a:rPr lang="ko-KR" altLang="en-US" dirty="0">
                              <a:effectLst/>
                            </a:rPr>
                            <a:t>통신 성공률이 선호 기준 대비 </a:t>
                          </a:r>
                          <a:endParaRPr lang="en-US" altLang="ko-KR" dirty="0">
                            <a:effectLst/>
                          </a:endParaRPr>
                        </a:p>
                        <a:p>
                          <a:pPr fontAlgn="base" latinLnBrk="0">
                            <a:buNone/>
                          </a:pPr>
                          <a:r>
                            <a:rPr lang="en-US" altLang="ko-KR" dirty="0">
                              <a:effectLst/>
                            </a:rPr>
                            <a:t>5% </a:t>
                          </a:r>
                          <a:r>
                            <a:rPr lang="ko-KR" altLang="en-US" dirty="0">
                              <a:effectLst/>
                            </a:rPr>
                            <a:t>이상 감소한 경우</a:t>
                          </a:r>
                        </a:p>
                      </a:txBody>
                      <a:tcPr marL="50800" marR="50800" anchor="ctr"/>
                    </a:tc>
                    <a:extLst>
                      <a:ext uri="{0D108BD9-81ED-4DB2-BD59-A6C34878D82A}">
                        <a16:rowId xmlns:a16="http://schemas.microsoft.com/office/drawing/2014/main" val="132635926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 fontAlgn="base" latinLnBrk="0">
                            <a:buNone/>
                          </a:pPr>
                          <a:r>
                            <a:rPr lang="ko-KR" altLang="en-US">
                              <a:effectLst/>
                            </a:rPr>
                            <a:t>지연 시간</a:t>
                          </a:r>
                        </a:p>
                      </a:txBody>
                      <a:tcPr marL="50800" marR="50800" anchor="ctr"/>
                    </a:tc>
                    <a:tc>
                      <a:txBody>
                        <a:bodyPr/>
                        <a:lstStyle/>
                        <a:p>
                          <a:pPr fontAlgn="base" latinLnBrk="0"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ar-AE" altLang="ko-KR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ko-KR" altLang="ar-AE" i="1">
                                        <a:latin typeface="Cambria Math" panose="02040503050406030204" pitchFamily="18" charset="0"/>
                                      </a:rPr>
                                      <m:t>𝑅</m:t>
                                    </m:r>
                                  </m:e>
                                  <m:sub>
                                    <m:r>
                                      <a:rPr lang="ko-KR" altLang="ar-AE" i="1">
                                        <a:latin typeface="Cambria Math" panose="02040503050406030204" pitchFamily="18" charset="0"/>
                                      </a:rPr>
                                      <m:t>𝑑𝑒𝑙𝑎𝑦</m:t>
                                    </m:r>
                                  </m:sub>
                                </m:sSub>
                                <m:r>
                                  <a:rPr lang="ar-AE" altLang="ko-KR" i="0">
                                    <a:latin typeface="Cambria Math" panose="02040503050406030204" pitchFamily="18" charset="0"/>
                                  </a:rPr>
                                  <m:t>&gt;5%</m:t>
                                </m:r>
                              </m:oMath>
                            </m:oMathPara>
                          </a14:m>
                          <a:endParaRPr lang="ar-AE">
                            <a:effectLst/>
                          </a:endParaRPr>
                        </a:p>
                      </a:txBody>
                      <a:tcPr marL="50800" marR="50800" anchor="ctr"/>
                    </a:tc>
                    <a:tc>
                      <a:txBody>
                        <a:bodyPr/>
                        <a:lstStyle/>
                        <a:p>
                          <a:pPr fontAlgn="base" latinLnBrk="0">
                            <a:buNone/>
                          </a:pPr>
                          <a:r>
                            <a:rPr lang="ko-KR" altLang="en-US" dirty="0">
                              <a:effectLst/>
                            </a:rPr>
                            <a:t>전체 통신에서 지연되는 통신 비율 </a:t>
                          </a:r>
                          <a:r>
                            <a:rPr lang="en-US" altLang="ko-KR" dirty="0">
                              <a:effectLst/>
                            </a:rPr>
                            <a:t>(5%)</a:t>
                          </a:r>
                          <a:endParaRPr lang="ko-KR" altLang="en-US" dirty="0">
                            <a:effectLst/>
                          </a:endParaRPr>
                        </a:p>
                      </a:txBody>
                      <a:tcPr marL="50800" marR="50800" anchor="ctr"/>
                    </a:tc>
                    <a:extLst>
                      <a:ext uri="{0D108BD9-81ED-4DB2-BD59-A6C34878D82A}">
                        <a16:rowId xmlns:a16="http://schemas.microsoft.com/office/drawing/2014/main" val="2806684074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 fontAlgn="base" latinLnBrk="0">
                            <a:buNone/>
                          </a:pPr>
                          <a:r>
                            <a:rPr lang="ko-KR" altLang="en-US">
                              <a:effectLst/>
                            </a:rPr>
                            <a:t>치명적 오류율</a:t>
                          </a:r>
                        </a:p>
                      </a:txBody>
                      <a:tcPr marL="50800" marR="50800" anchor="ctr"/>
                    </a:tc>
                    <a:tc>
                      <a:txBody>
                        <a:bodyPr/>
                        <a:lstStyle/>
                        <a:p>
                          <a:pPr fontAlgn="base" latinLnBrk="0"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ar-AE" altLang="ko-KR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ko-KR" altLang="ar-AE" i="1">
                                        <a:latin typeface="Cambria Math" panose="02040503050406030204" pitchFamily="18" charset="0"/>
                                      </a:rPr>
                                      <m:t>𝐸</m:t>
                                    </m:r>
                                  </m:e>
                                  <m:sub>
                                    <m:r>
                                      <a:rPr lang="ko-KR" altLang="ar-AE" i="1">
                                        <a:latin typeface="Cambria Math" panose="02040503050406030204" pitchFamily="18" charset="0"/>
                                      </a:rPr>
                                      <m:t>𝑓𝑎𝑖𝑙</m:t>
                                    </m:r>
                                  </m:sub>
                                </m:sSub>
                                <m:r>
                                  <a:rPr lang="ar-AE" altLang="ko-KR" i="0">
                                    <a:latin typeface="Cambria Math" panose="02040503050406030204" pitchFamily="18" charset="0"/>
                                  </a:rPr>
                                  <m:t>&gt;0.1%</m:t>
                                </m:r>
                              </m:oMath>
                            </m:oMathPara>
                          </a14:m>
                          <a:endParaRPr lang="ar-AE" dirty="0">
                            <a:effectLst/>
                          </a:endParaRPr>
                        </a:p>
                      </a:txBody>
                      <a:tcPr marL="50800" marR="50800" anchor="ctr"/>
                    </a:tc>
                    <a:tc>
                      <a:txBody>
                        <a:bodyPr/>
                        <a:lstStyle/>
                        <a:p>
                          <a:pPr fontAlgn="base" latinLnBrk="0">
                            <a:buNone/>
                          </a:pPr>
                          <a:r>
                            <a:rPr lang="ko-KR" altLang="en-US" dirty="0" err="1">
                              <a:effectLst/>
                            </a:rPr>
                            <a:t>핸드셰이크</a:t>
                          </a:r>
                          <a:r>
                            <a:rPr lang="ko-KR" altLang="en-US" dirty="0">
                              <a:effectLst/>
                            </a:rPr>
                            <a:t> 실패</a:t>
                          </a:r>
                          <a:endParaRPr lang="en-US" altLang="ko-KR" dirty="0">
                            <a:effectLst/>
                          </a:endParaRPr>
                        </a:p>
                        <a:p>
                          <a:pPr fontAlgn="base" latinLnBrk="0">
                            <a:buNone/>
                          </a:pPr>
                          <a:r>
                            <a:rPr lang="ko-KR" altLang="en-US" dirty="0">
                              <a:effectLst/>
                            </a:rPr>
                            <a:t>인증 또는 암호화 오류 발생률 </a:t>
                          </a:r>
                          <a:r>
                            <a:rPr lang="en-US" altLang="ko-KR" dirty="0">
                              <a:effectLst/>
                            </a:rPr>
                            <a:t>(0.1%)</a:t>
                          </a:r>
                          <a:endParaRPr lang="ko-KR" altLang="en-US" dirty="0">
                            <a:effectLst/>
                          </a:endParaRPr>
                        </a:p>
                      </a:txBody>
                      <a:tcPr marL="50800" marR="50800" anchor="ctr"/>
                    </a:tc>
                    <a:extLst>
                      <a:ext uri="{0D108BD9-81ED-4DB2-BD59-A6C34878D82A}">
                        <a16:rowId xmlns:a16="http://schemas.microsoft.com/office/drawing/2014/main" val="385936488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4" name="표 3">
                <a:extLst>
                  <a:ext uri="{FF2B5EF4-FFF2-40B4-BE49-F238E27FC236}">
                    <a16:creationId xmlns:a16="http://schemas.microsoft.com/office/drawing/2014/main" id="{805E169B-49E3-70F3-58D5-AFD1427EA55F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709891927"/>
                  </p:ext>
                </p:extLst>
              </p:nvPr>
            </p:nvGraphicFramePr>
            <p:xfrm>
              <a:off x="411920" y="1493130"/>
              <a:ext cx="11368160" cy="2043557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2225427">
                      <a:extLst>
                        <a:ext uri="{9D8B030D-6E8A-4147-A177-3AD203B41FA5}">
                          <a16:colId xmlns:a16="http://schemas.microsoft.com/office/drawing/2014/main" val="2552854306"/>
                        </a:ext>
                      </a:extLst>
                    </a:gridCol>
                    <a:gridCol w="4342280">
                      <a:extLst>
                        <a:ext uri="{9D8B030D-6E8A-4147-A177-3AD203B41FA5}">
                          <a16:colId xmlns:a16="http://schemas.microsoft.com/office/drawing/2014/main" val="3906389802"/>
                        </a:ext>
                      </a:extLst>
                    </a:gridCol>
                    <a:gridCol w="4800453">
                      <a:extLst>
                        <a:ext uri="{9D8B030D-6E8A-4147-A177-3AD203B41FA5}">
                          <a16:colId xmlns:a16="http://schemas.microsoft.com/office/drawing/2014/main" val="635627430"/>
                        </a:ext>
                      </a:extLst>
                    </a:gridCol>
                  </a:tblGrid>
                  <a:tr h="375920">
                    <a:tc>
                      <a:txBody>
                        <a:bodyPr/>
                        <a:lstStyle/>
                        <a:p>
                          <a:pPr algn="ctr" fontAlgn="t" latinLnBrk="0">
                            <a:buNone/>
                          </a:pPr>
                          <a:r>
                            <a:rPr lang="ko-KR" altLang="en-US" b="1" dirty="0">
                              <a:solidFill>
                                <a:schemeClr val="bg1"/>
                              </a:solidFill>
                              <a:effectLst/>
                            </a:rPr>
                            <a:t>구분</a:t>
                          </a:r>
                        </a:p>
                      </a:txBody>
                      <a:tcPr marL="50800" marR="50800" marT="50800" marB="50800"/>
                    </a:tc>
                    <a:tc>
                      <a:txBody>
                        <a:bodyPr/>
                        <a:lstStyle/>
                        <a:p>
                          <a:pPr algn="ctr" fontAlgn="t" latinLnBrk="0">
                            <a:buNone/>
                          </a:pPr>
                          <a:r>
                            <a:rPr lang="ko-KR" altLang="en-US" b="1" dirty="0">
                              <a:solidFill>
                                <a:schemeClr val="bg1"/>
                              </a:solidFill>
                              <a:effectLst/>
                            </a:rPr>
                            <a:t>롤백 조건</a:t>
                          </a:r>
                        </a:p>
                      </a:txBody>
                      <a:tcPr marL="50800" marR="50800" marT="50800" marB="50800"/>
                    </a:tc>
                    <a:tc>
                      <a:txBody>
                        <a:bodyPr/>
                        <a:lstStyle/>
                        <a:p>
                          <a:pPr algn="l" fontAlgn="t" latinLnBrk="0">
                            <a:buNone/>
                          </a:pPr>
                          <a:r>
                            <a:rPr lang="ko-KR" altLang="en-US" b="1" dirty="0">
                              <a:solidFill>
                                <a:schemeClr val="bg1"/>
                              </a:solidFill>
                              <a:effectLst/>
                            </a:rPr>
                            <a:t>평가 기준</a:t>
                          </a:r>
                        </a:p>
                      </a:txBody>
                      <a:tcPr marL="50800" marR="50800" marT="50800" marB="50800"/>
                    </a:tc>
                    <a:extLst>
                      <a:ext uri="{0D108BD9-81ED-4DB2-BD59-A6C34878D82A}">
                        <a16:rowId xmlns:a16="http://schemas.microsoft.com/office/drawing/2014/main" val="1016035045"/>
                      </a:ext>
                    </a:extLst>
                  </a:tr>
                  <a:tr h="640080">
                    <a:tc>
                      <a:txBody>
                        <a:bodyPr/>
                        <a:lstStyle/>
                        <a:p>
                          <a:pPr algn="ctr" fontAlgn="base" latinLnBrk="0">
                            <a:buNone/>
                          </a:pPr>
                          <a:r>
                            <a:rPr lang="ko-KR" altLang="en-US" dirty="0">
                              <a:effectLst/>
                            </a:rPr>
                            <a:t>호환성</a:t>
                          </a:r>
                        </a:p>
                      </a:txBody>
                      <a:tcPr marL="50800" marR="50800" anchor="ctr"/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marL="50800" marR="50800" anchor="ctr">
                        <a:blipFill>
                          <a:blip r:embed="rId2"/>
                          <a:stretch>
                            <a:fillRect l="-51312" t="-62745" r="-110787" b="-17451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fontAlgn="base" latinLnBrk="0">
                            <a:buNone/>
                          </a:pPr>
                          <a:r>
                            <a:rPr lang="en-US" altLang="ko-KR" dirty="0">
                              <a:effectLst/>
                            </a:rPr>
                            <a:t>PQC </a:t>
                          </a:r>
                          <a:r>
                            <a:rPr lang="ko-KR" altLang="en-US" dirty="0">
                              <a:effectLst/>
                            </a:rPr>
                            <a:t>통신 성공률이 선호 기준 대비 </a:t>
                          </a:r>
                          <a:endParaRPr lang="en-US" altLang="ko-KR" dirty="0">
                            <a:effectLst/>
                          </a:endParaRPr>
                        </a:p>
                        <a:p>
                          <a:pPr fontAlgn="base" latinLnBrk="0">
                            <a:buNone/>
                          </a:pPr>
                          <a:r>
                            <a:rPr lang="en-US" altLang="ko-KR" dirty="0">
                              <a:effectLst/>
                            </a:rPr>
                            <a:t>5% </a:t>
                          </a:r>
                          <a:r>
                            <a:rPr lang="ko-KR" altLang="en-US" dirty="0">
                              <a:effectLst/>
                            </a:rPr>
                            <a:t>이상 감소한 경우</a:t>
                          </a:r>
                        </a:p>
                      </a:txBody>
                      <a:tcPr marL="50800" marR="50800" anchor="ctr"/>
                    </a:tc>
                    <a:extLst>
                      <a:ext uri="{0D108BD9-81ED-4DB2-BD59-A6C34878D82A}">
                        <a16:rowId xmlns:a16="http://schemas.microsoft.com/office/drawing/2014/main" val="1326359263"/>
                      </a:ext>
                    </a:extLst>
                  </a:tr>
                  <a:tr h="387477">
                    <a:tc>
                      <a:txBody>
                        <a:bodyPr/>
                        <a:lstStyle/>
                        <a:p>
                          <a:pPr algn="ctr" fontAlgn="base" latinLnBrk="0">
                            <a:buNone/>
                          </a:pPr>
                          <a:r>
                            <a:rPr lang="ko-KR" altLang="en-US">
                              <a:effectLst/>
                            </a:rPr>
                            <a:t>지연 시간</a:t>
                          </a:r>
                        </a:p>
                      </a:txBody>
                      <a:tcPr marL="50800" marR="50800" anchor="ctr"/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marL="50800" marR="50800" anchor="ctr">
                        <a:blipFill>
                          <a:blip r:embed="rId2"/>
                          <a:stretch>
                            <a:fillRect l="-51312" t="-276667" r="-110787" b="-196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fontAlgn="base" latinLnBrk="0">
                            <a:buNone/>
                          </a:pPr>
                          <a:r>
                            <a:rPr lang="ko-KR" altLang="en-US" dirty="0">
                              <a:effectLst/>
                            </a:rPr>
                            <a:t>전체 통신에서 지연되는 통신 비율 </a:t>
                          </a:r>
                          <a:r>
                            <a:rPr lang="en-US" altLang="ko-KR" dirty="0">
                              <a:effectLst/>
                            </a:rPr>
                            <a:t>(5%)</a:t>
                          </a:r>
                          <a:endParaRPr lang="ko-KR" altLang="en-US" dirty="0">
                            <a:effectLst/>
                          </a:endParaRPr>
                        </a:p>
                      </a:txBody>
                      <a:tcPr marL="50800" marR="50800" anchor="ctr"/>
                    </a:tc>
                    <a:extLst>
                      <a:ext uri="{0D108BD9-81ED-4DB2-BD59-A6C34878D82A}">
                        <a16:rowId xmlns:a16="http://schemas.microsoft.com/office/drawing/2014/main" val="2806684074"/>
                      </a:ext>
                    </a:extLst>
                  </a:tr>
                  <a:tr h="640080">
                    <a:tc>
                      <a:txBody>
                        <a:bodyPr/>
                        <a:lstStyle/>
                        <a:p>
                          <a:pPr algn="ctr" fontAlgn="base" latinLnBrk="0">
                            <a:buNone/>
                          </a:pPr>
                          <a:r>
                            <a:rPr lang="ko-KR" altLang="en-US">
                              <a:effectLst/>
                            </a:rPr>
                            <a:t>치명적 오류율</a:t>
                          </a:r>
                        </a:p>
                      </a:txBody>
                      <a:tcPr marL="50800" marR="50800" anchor="ctr"/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marL="50800" marR="50800" anchor="ctr">
                        <a:blipFill>
                          <a:blip r:embed="rId2"/>
                          <a:stretch>
                            <a:fillRect l="-51312" t="-221569" r="-110787" b="-1568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fontAlgn="base" latinLnBrk="0">
                            <a:buNone/>
                          </a:pPr>
                          <a:r>
                            <a:rPr lang="ko-KR" altLang="en-US" dirty="0" err="1">
                              <a:effectLst/>
                            </a:rPr>
                            <a:t>핸드셰이크</a:t>
                          </a:r>
                          <a:r>
                            <a:rPr lang="ko-KR" altLang="en-US" dirty="0">
                              <a:effectLst/>
                            </a:rPr>
                            <a:t> 실패</a:t>
                          </a:r>
                          <a:endParaRPr lang="en-US" altLang="ko-KR" dirty="0">
                            <a:effectLst/>
                          </a:endParaRPr>
                        </a:p>
                        <a:p>
                          <a:pPr fontAlgn="base" latinLnBrk="0">
                            <a:buNone/>
                          </a:pPr>
                          <a:r>
                            <a:rPr lang="ko-KR" altLang="en-US" dirty="0">
                              <a:effectLst/>
                            </a:rPr>
                            <a:t>인증 또는 암호화 오류 발생률 </a:t>
                          </a:r>
                          <a:r>
                            <a:rPr lang="en-US" altLang="ko-KR" dirty="0">
                              <a:effectLst/>
                            </a:rPr>
                            <a:t>(0.1%)</a:t>
                          </a:r>
                          <a:endParaRPr lang="ko-KR" altLang="en-US" dirty="0">
                            <a:effectLst/>
                          </a:endParaRPr>
                        </a:p>
                      </a:txBody>
                      <a:tcPr marL="50800" marR="50800" anchor="ctr"/>
                    </a:tc>
                    <a:extLst>
                      <a:ext uri="{0D108BD9-81ED-4DB2-BD59-A6C34878D82A}">
                        <a16:rowId xmlns:a16="http://schemas.microsoft.com/office/drawing/2014/main" val="385936488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7" name="TextBox 6">
            <a:extLst>
              <a:ext uri="{FF2B5EF4-FFF2-40B4-BE49-F238E27FC236}">
                <a16:creationId xmlns:a16="http://schemas.microsoft.com/office/drawing/2014/main" id="{D906F4C6-29B4-205B-7578-6429E8729650}"/>
              </a:ext>
            </a:extLst>
          </p:cNvPr>
          <p:cNvSpPr txBox="1"/>
          <p:nvPr/>
        </p:nvSpPr>
        <p:spPr>
          <a:xfrm>
            <a:off x="0" y="969910"/>
            <a:ext cx="391004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ko-KR" sz="2400" b="1" dirty="0">
                <a:solidFill>
                  <a:srgbClr val="FF0000"/>
                </a:solidFill>
              </a:rPr>
              <a:t>&lt;</a:t>
            </a:r>
            <a:r>
              <a:rPr kumimoji="1" lang="ko-KR" altLang="en-US" sz="2400" b="1" dirty="0">
                <a:solidFill>
                  <a:srgbClr val="FF0000"/>
                </a:solidFill>
              </a:rPr>
              <a:t>장기적 판단 기준 </a:t>
            </a:r>
            <a:r>
              <a:rPr kumimoji="1" lang="en-US" altLang="ko-KR" sz="2400" b="1" dirty="0">
                <a:solidFill>
                  <a:srgbClr val="FF0000"/>
                </a:solidFill>
              </a:rPr>
              <a:t>: 1</a:t>
            </a:r>
            <a:r>
              <a:rPr kumimoji="1" lang="ko-KR" altLang="en-US" sz="2400" b="1" dirty="0">
                <a:solidFill>
                  <a:srgbClr val="FF0000"/>
                </a:solidFill>
              </a:rPr>
              <a:t>시간</a:t>
            </a:r>
            <a:r>
              <a:rPr kumimoji="1" lang="en-US" altLang="ko-KR" sz="2400" b="1" dirty="0">
                <a:solidFill>
                  <a:srgbClr val="FF0000"/>
                </a:solidFill>
              </a:rPr>
              <a:t>&gt;</a:t>
            </a:r>
            <a:endParaRPr kumimoji="1" lang="ko-KR" altLang="en-US" sz="2400" b="1" dirty="0">
              <a:solidFill>
                <a:srgbClr val="FF0000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78DAA5A-FCC7-4F69-FECC-9810651B69A7}"/>
              </a:ext>
            </a:extLst>
          </p:cNvPr>
          <p:cNvSpPr txBox="1"/>
          <p:nvPr/>
        </p:nvSpPr>
        <p:spPr>
          <a:xfrm>
            <a:off x="6096000" y="1031465"/>
            <a:ext cx="311955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kumimoji="1" lang="ko-KR" altLang="en-US" sz="2000" b="1" dirty="0"/>
              <a:t>전환 유지 및 롤백 판단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9" name="표 8">
                <a:extLst>
                  <a:ext uri="{FF2B5EF4-FFF2-40B4-BE49-F238E27FC236}">
                    <a16:creationId xmlns:a16="http://schemas.microsoft.com/office/drawing/2014/main" id="{E3E31D6A-7844-432D-EC2A-D685FF917EB4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128798887"/>
                  </p:ext>
                </p:extLst>
              </p:nvPr>
            </p:nvGraphicFramePr>
            <p:xfrm>
              <a:off x="353104" y="4314851"/>
              <a:ext cx="11485791" cy="2031889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2248455">
                      <a:extLst>
                        <a:ext uri="{9D8B030D-6E8A-4147-A177-3AD203B41FA5}">
                          <a16:colId xmlns:a16="http://schemas.microsoft.com/office/drawing/2014/main" val="2552854306"/>
                        </a:ext>
                      </a:extLst>
                    </a:gridCol>
                    <a:gridCol w="4387211">
                      <a:extLst>
                        <a:ext uri="{9D8B030D-6E8A-4147-A177-3AD203B41FA5}">
                          <a16:colId xmlns:a16="http://schemas.microsoft.com/office/drawing/2014/main" val="3906389802"/>
                        </a:ext>
                      </a:extLst>
                    </a:gridCol>
                    <a:gridCol w="4850125">
                      <a:extLst>
                        <a:ext uri="{9D8B030D-6E8A-4147-A177-3AD203B41FA5}">
                          <a16:colId xmlns:a16="http://schemas.microsoft.com/office/drawing/2014/main" val="635627430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 fontAlgn="t" latinLnBrk="0">
                            <a:buNone/>
                          </a:pPr>
                          <a:r>
                            <a:rPr lang="ko-KR" altLang="en-US" sz="1800" b="1" dirty="0">
                              <a:solidFill>
                                <a:schemeClr val="bg1"/>
                              </a:solidFill>
                              <a:effectLst/>
                            </a:rPr>
                            <a:t>구분</a:t>
                          </a:r>
                        </a:p>
                      </a:txBody>
                      <a:tcPr marL="49223" marR="49223" marT="49223" marB="49223"/>
                    </a:tc>
                    <a:tc>
                      <a:txBody>
                        <a:bodyPr/>
                        <a:lstStyle/>
                        <a:p>
                          <a:pPr algn="ctr" fontAlgn="t" latinLnBrk="0">
                            <a:buNone/>
                          </a:pPr>
                          <a:r>
                            <a:rPr lang="ko-KR" altLang="en-US" sz="1800" b="1" dirty="0">
                              <a:solidFill>
                                <a:schemeClr val="bg1"/>
                              </a:solidFill>
                              <a:effectLst/>
                            </a:rPr>
                            <a:t>롤백 조건</a:t>
                          </a:r>
                        </a:p>
                      </a:txBody>
                      <a:tcPr marL="49223" marR="49223" marT="49223" marB="49223"/>
                    </a:tc>
                    <a:tc>
                      <a:txBody>
                        <a:bodyPr/>
                        <a:lstStyle/>
                        <a:p>
                          <a:pPr algn="l" fontAlgn="t" latinLnBrk="0">
                            <a:buNone/>
                          </a:pPr>
                          <a:r>
                            <a:rPr lang="ko-KR" altLang="en-US" sz="1800" b="1">
                              <a:solidFill>
                                <a:schemeClr val="bg1"/>
                              </a:solidFill>
                              <a:effectLst/>
                            </a:rPr>
                            <a:t>평가 기준</a:t>
                          </a:r>
                        </a:p>
                      </a:txBody>
                      <a:tcPr marL="49223" marR="49223" marT="49223" marB="49223"/>
                    </a:tc>
                    <a:extLst>
                      <a:ext uri="{0D108BD9-81ED-4DB2-BD59-A6C34878D82A}">
                        <a16:rowId xmlns:a16="http://schemas.microsoft.com/office/drawing/2014/main" val="1016035045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 fontAlgn="base" latinLnBrk="0">
                            <a:buNone/>
                          </a:pPr>
                          <a:r>
                            <a:rPr lang="ko-KR" altLang="en-US" sz="1800">
                              <a:effectLst/>
                            </a:rPr>
                            <a:t>호환성</a:t>
                          </a:r>
                        </a:p>
                      </a:txBody>
                      <a:tcPr marL="49223" marR="49223" marT="44301" marB="44301" anchor="ctr"/>
                    </a:tc>
                    <a:tc>
                      <a:txBody>
                        <a:bodyPr/>
                        <a:lstStyle/>
                        <a:p>
                          <a:pPr fontAlgn="base" latinLnBrk="0"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ar-AE" altLang="ko-KR" sz="18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ko-KR" altLang="ar-AE" sz="1800" i="1">
                                        <a:latin typeface="Cambria Math" panose="02040503050406030204" pitchFamily="18" charset="0"/>
                                      </a:rPr>
                                      <m:t>𝑆</m:t>
                                    </m:r>
                                  </m:e>
                                  <m:sub>
                                    <m:r>
                                      <a:rPr lang="ko-KR" altLang="ar-AE" sz="1800" i="1">
                                        <a:latin typeface="Cambria Math" panose="02040503050406030204" pitchFamily="18" charset="0"/>
                                      </a:rPr>
                                      <m:t>𝑃𝑄𝐶</m:t>
                                    </m:r>
                                  </m:sub>
                                </m:sSub>
                                <m:r>
                                  <a:rPr lang="ar-AE" altLang="ko-KR" sz="1800" i="0">
                                    <a:latin typeface="Cambria Math" panose="02040503050406030204" pitchFamily="18" charset="0"/>
                                  </a:rPr>
                                  <m:t>≥0.5×</m:t>
                                </m:r>
                                <m:sSub>
                                  <m:sSubPr>
                                    <m:ctrlPr>
                                      <a:rPr lang="ar-AE" altLang="ko-KR" sz="18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ko-KR" altLang="ar-AE" sz="1800" i="1">
                                        <a:latin typeface="Cambria Math" panose="02040503050406030204" pitchFamily="18" charset="0"/>
                                      </a:rPr>
                                      <m:t>𝑆</m:t>
                                    </m:r>
                                  </m:e>
                                  <m:sub>
                                    <m:r>
                                      <a:rPr lang="ko-KR" altLang="ar-AE" sz="1800" i="1">
                                        <a:latin typeface="Cambria Math" panose="02040503050406030204" pitchFamily="18" charset="0"/>
                                      </a:rPr>
                                      <m:t>𝑝𝑟𝑒𝑓𝑒𝑟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ar-AE" sz="1800" dirty="0">
                            <a:effectLst/>
                          </a:endParaRPr>
                        </a:p>
                      </a:txBody>
                      <a:tcPr marL="49223" marR="49223" marT="44301" marB="44301" anchor="ctr"/>
                    </a:tc>
                    <a:tc>
                      <a:txBody>
                        <a:bodyPr/>
                        <a:lstStyle/>
                        <a:p>
                          <a:pPr fontAlgn="base" latinLnBrk="0">
                            <a:buNone/>
                          </a:pPr>
                          <a:r>
                            <a:rPr lang="en-US" altLang="ko-KR" sz="1800" dirty="0">
                              <a:effectLst/>
                            </a:rPr>
                            <a:t>PQC </a:t>
                          </a:r>
                          <a:r>
                            <a:rPr lang="ko-KR" altLang="en-US" sz="1800" dirty="0">
                              <a:effectLst/>
                            </a:rPr>
                            <a:t>통신 성공률이 선호 기준 대비 </a:t>
                          </a:r>
                          <a:endParaRPr lang="en-US" altLang="ko-KR" sz="1800" dirty="0">
                            <a:effectLst/>
                          </a:endParaRPr>
                        </a:p>
                        <a:p>
                          <a:pPr fontAlgn="base" latinLnBrk="0">
                            <a:buNone/>
                          </a:pPr>
                          <a:r>
                            <a:rPr lang="ko-KR" altLang="en-US" sz="1800" dirty="0">
                              <a:effectLst/>
                            </a:rPr>
                            <a:t>절반 이하인 경우</a:t>
                          </a:r>
                        </a:p>
                      </a:txBody>
                      <a:tcPr marL="49223" marR="49223" marT="44301" marB="44301" anchor="ctr"/>
                    </a:tc>
                    <a:extLst>
                      <a:ext uri="{0D108BD9-81ED-4DB2-BD59-A6C34878D82A}">
                        <a16:rowId xmlns:a16="http://schemas.microsoft.com/office/drawing/2014/main" val="132635926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 fontAlgn="base" latinLnBrk="0">
                            <a:buNone/>
                          </a:pPr>
                          <a:r>
                            <a:rPr lang="ko-KR" altLang="en-US" sz="1800">
                              <a:effectLst/>
                            </a:rPr>
                            <a:t>지연 시간</a:t>
                          </a:r>
                        </a:p>
                      </a:txBody>
                      <a:tcPr marL="49223" marR="49223" marT="44301" marB="44301" anchor="ctr"/>
                    </a:tc>
                    <a:tc>
                      <a:txBody>
                        <a:bodyPr/>
                        <a:lstStyle/>
                        <a:p>
                          <a:pPr fontAlgn="base" latinLnBrk="0"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ar-AE" altLang="ko-KR" sz="18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ko-KR" altLang="ar-AE" sz="1800" i="1">
                                        <a:latin typeface="Cambria Math" panose="02040503050406030204" pitchFamily="18" charset="0"/>
                                      </a:rPr>
                                      <m:t>𝑅</m:t>
                                    </m:r>
                                  </m:e>
                                  <m:sub>
                                    <m:r>
                                      <a:rPr lang="ko-KR" altLang="ar-AE" sz="1800" i="1">
                                        <a:latin typeface="Cambria Math" panose="02040503050406030204" pitchFamily="18" charset="0"/>
                                      </a:rPr>
                                      <m:t>𝑑𝑒𝑙𝑎𝑦</m:t>
                                    </m:r>
                                  </m:sub>
                                </m:sSub>
                                <m:r>
                                  <a:rPr lang="ar-AE" altLang="ko-KR" sz="1800" i="0">
                                    <a:latin typeface="Cambria Math" panose="02040503050406030204" pitchFamily="18" charset="0"/>
                                  </a:rPr>
                                  <m:t>≥30%</m:t>
                                </m:r>
                              </m:oMath>
                            </m:oMathPara>
                          </a14:m>
                          <a:endParaRPr lang="ar-AE" sz="1800">
                            <a:effectLst/>
                          </a:endParaRPr>
                        </a:p>
                      </a:txBody>
                      <a:tcPr marL="49223" marR="49223" marT="44301" marB="44301" anchor="ctr"/>
                    </a:tc>
                    <a:tc>
                      <a:txBody>
                        <a:bodyPr/>
                        <a:lstStyle/>
                        <a:p>
                          <a:pPr fontAlgn="base" latinLnBrk="0">
                            <a:buNone/>
                          </a:pPr>
                          <a:r>
                            <a:rPr lang="en-US" altLang="ko-KR" sz="1800" dirty="0">
                              <a:effectLst/>
                            </a:rPr>
                            <a:t>5</a:t>
                          </a:r>
                          <a:r>
                            <a:rPr lang="ko-KR" altLang="en-US" sz="1800" dirty="0">
                              <a:effectLst/>
                            </a:rPr>
                            <a:t>분 내 전체 요청 중 지연된 비율 </a:t>
                          </a:r>
                          <a:r>
                            <a:rPr lang="en-US" altLang="ko-KR" sz="1800" dirty="0">
                              <a:effectLst/>
                            </a:rPr>
                            <a:t>(30%)</a:t>
                          </a:r>
                          <a:endParaRPr lang="ko-KR" altLang="en-US" sz="1800" dirty="0">
                            <a:effectLst/>
                          </a:endParaRPr>
                        </a:p>
                      </a:txBody>
                      <a:tcPr marL="49223" marR="49223" marT="44301" marB="44301" anchor="ctr"/>
                    </a:tc>
                    <a:extLst>
                      <a:ext uri="{0D108BD9-81ED-4DB2-BD59-A6C34878D82A}">
                        <a16:rowId xmlns:a16="http://schemas.microsoft.com/office/drawing/2014/main" val="2806684074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 fontAlgn="base" latinLnBrk="0">
                            <a:buNone/>
                          </a:pPr>
                          <a:r>
                            <a:rPr lang="ko-KR" altLang="en-US" sz="1800" dirty="0">
                              <a:effectLst/>
                            </a:rPr>
                            <a:t>치명적 </a:t>
                          </a:r>
                          <a:r>
                            <a:rPr lang="ko-KR" altLang="en-US" sz="1800" dirty="0" err="1">
                              <a:effectLst/>
                            </a:rPr>
                            <a:t>오류율</a:t>
                          </a:r>
                          <a:endParaRPr lang="ko-KR" altLang="en-US" sz="1800" dirty="0">
                            <a:effectLst/>
                          </a:endParaRPr>
                        </a:p>
                      </a:txBody>
                      <a:tcPr marL="49223" marR="49223" marT="44301" marB="44301" anchor="ctr"/>
                    </a:tc>
                    <a:tc>
                      <a:txBody>
                        <a:bodyPr/>
                        <a:lstStyle/>
                        <a:p>
                          <a:pPr fontAlgn="base" latinLnBrk="0"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ar-AE" altLang="ko-KR" sz="18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ko-KR" altLang="ar-AE" sz="1800" i="1">
                                        <a:latin typeface="Cambria Math" panose="02040503050406030204" pitchFamily="18" charset="0"/>
                                      </a:rPr>
                                      <m:t>𝐸</m:t>
                                    </m:r>
                                  </m:e>
                                  <m:sub>
                                    <m:r>
                                      <a:rPr lang="ko-KR" altLang="ar-AE" sz="1800" i="1">
                                        <a:latin typeface="Cambria Math" panose="02040503050406030204" pitchFamily="18" charset="0"/>
                                      </a:rPr>
                                      <m:t>𝑓𝑎𝑖𝑙</m:t>
                                    </m:r>
                                  </m:sub>
                                </m:sSub>
                                <m:r>
                                  <a:rPr lang="ar-AE" altLang="ko-KR" sz="1800" i="0">
                                    <a:latin typeface="Cambria Math" panose="02040503050406030204" pitchFamily="18" charset="0"/>
                                  </a:rPr>
                                  <m:t>&gt;1%</m:t>
                                </m:r>
                              </m:oMath>
                            </m:oMathPara>
                          </a14:m>
                          <a:endParaRPr lang="ar-AE" sz="1800">
                            <a:effectLst/>
                          </a:endParaRPr>
                        </a:p>
                      </a:txBody>
                      <a:tcPr marL="49223" marR="49223" marT="44301" marB="44301" anchor="ctr"/>
                    </a:tc>
                    <a:tc>
                      <a:txBody>
                        <a:bodyPr/>
                        <a:lstStyle/>
                        <a:p>
                          <a:pPr fontAlgn="base" latinLnBrk="0">
                            <a:buNone/>
                          </a:pPr>
                          <a:r>
                            <a:rPr lang="en-US" altLang="ko-KR" sz="1800" dirty="0">
                              <a:effectLst/>
                            </a:rPr>
                            <a:t>5</a:t>
                          </a:r>
                          <a:r>
                            <a:rPr lang="ko-KR" altLang="en-US" sz="1800" dirty="0">
                              <a:effectLst/>
                            </a:rPr>
                            <a:t>분 내 </a:t>
                          </a:r>
                          <a:r>
                            <a:rPr lang="ko-KR" altLang="en-US" sz="1800" dirty="0" err="1">
                              <a:effectLst/>
                            </a:rPr>
                            <a:t>핸드셰이크</a:t>
                          </a:r>
                          <a:r>
                            <a:rPr lang="ko-KR" altLang="en-US" sz="1800" dirty="0">
                              <a:effectLst/>
                            </a:rPr>
                            <a:t> 실패</a:t>
                          </a:r>
                          <a:endParaRPr lang="en-US" altLang="ko-KR" sz="1800" dirty="0">
                            <a:effectLst/>
                          </a:endParaRPr>
                        </a:p>
                        <a:p>
                          <a:pPr fontAlgn="base" latinLnBrk="0">
                            <a:buNone/>
                          </a:pPr>
                          <a:r>
                            <a:rPr lang="ko-KR" altLang="en-US" sz="1800" dirty="0">
                              <a:effectLst/>
                            </a:rPr>
                            <a:t>인증 또는 암호화 오류 발생률 </a:t>
                          </a:r>
                          <a:r>
                            <a:rPr lang="en-US" altLang="ko-KR" sz="1800" dirty="0">
                              <a:effectLst/>
                            </a:rPr>
                            <a:t>(1%)</a:t>
                          </a:r>
                          <a:endParaRPr lang="ko-KR" altLang="en-US" sz="1800" dirty="0">
                            <a:effectLst/>
                          </a:endParaRPr>
                        </a:p>
                      </a:txBody>
                      <a:tcPr marL="49223" marR="49223" marT="44301" marB="44301" anchor="ctr"/>
                    </a:tc>
                    <a:extLst>
                      <a:ext uri="{0D108BD9-81ED-4DB2-BD59-A6C34878D82A}">
                        <a16:rowId xmlns:a16="http://schemas.microsoft.com/office/drawing/2014/main" val="385936488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9" name="표 8">
                <a:extLst>
                  <a:ext uri="{FF2B5EF4-FFF2-40B4-BE49-F238E27FC236}">
                    <a16:creationId xmlns:a16="http://schemas.microsoft.com/office/drawing/2014/main" id="{E3E31D6A-7844-432D-EC2A-D685FF917EB4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128798887"/>
                  </p:ext>
                </p:extLst>
              </p:nvPr>
            </p:nvGraphicFramePr>
            <p:xfrm>
              <a:off x="353104" y="4314851"/>
              <a:ext cx="11485791" cy="2031889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2248455">
                      <a:extLst>
                        <a:ext uri="{9D8B030D-6E8A-4147-A177-3AD203B41FA5}">
                          <a16:colId xmlns:a16="http://schemas.microsoft.com/office/drawing/2014/main" val="2552854306"/>
                        </a:ext>
                      </a:extLst>
                    </a:gridCol>
                    <a:gridCol w="4387211">
                      <a:extLst>
                        <a:ext uri="{9D8B030D-6E8A-4147-A177-3AD203B41FA5}">
                          <a16:colId xmlns:a16="http://schemas.microsoft.com/office/drawing/2014/main" val="3906389802"/>
                        </a:ext>
                      </a:extLst>
                    </a:gridCol>
                    <a:gridCol w="4850125">
                      <a:extLst>
                        <a:ext uri="{9D8B030D-6E8A-4147-A177-3AD203B41FA5}">
                          <a16:colId xmlns:a16="http://schemas.microsoft.com/office/drawing/2014/main" val="635627430"/>
                        </a:ext>
                      </a:extLst>
                    </a:gridCol>
                  </a:tblGrid>
                  <a:tr h="372766">
                    <a:tc>
                      <a:txBody>
                        <a:bodyPr/>
                        <a:lstStyle/>
                        <a:p>
                          <a:pPr algn="ctr" fontAlgn="t" latinLnBrk="0">
                            <a:buNone/>
                          </a:pPr>
                          <a:r>
                            <a:rPr lang="ko-KR" altLang="en-US" sz="1800" b="1" dirty="0">
                              <a:solidFill>
                                <a:schemeClr val="bg1"/>
                              </a:solidFill>
                              <a:effectLst/>
                            </a:rPr>
                            <a:t>구분</a:t>
                          </a:r>
                        </a:p>
                      </a:txBody>
                      <a:tcPr marL="49223" marR="49223" marT="49223" marB="49223"/>
                    </a:tc>
                    <a:tc>
                      <a:txBody>
                        <a:bodyPr/>
                        <a:lstStyle/>
                        <a:p>
                          <a:pPr algn="ctr" fontAlgn="t" latinLnBrk="0">
                            <a:buNone/>
                          </a:pPr>
                          <a:r>
                            <a:rPr lang="ko-KR" altLang="en-US" sz="1800" b="1" dirty="0">
                              <a:solidFill>
                                <a:schemeClr val="bg1"/>
                              </a:solidFill>
                              <a:effectLst/>
                            </a:rPr>
                            <a:t>롤백 조건</a:t>
                          </a:r>
                        </a:p>
                      </a:txBody>
                      <a:tcPr marL="49223" marR="49223" marT="49223" marB="49223"/>
                    </a:tc>
                    <a:tc>
                      <a:txBody>
                        <a:bodyPr/>
                        <a:lstStyle/>
                        <a:p>
                          <a:pPr algn="l" fontAlgn="t" latinLnBrk="0">
                            <a:buNone/>
                          </a:pPr>
                          <a:r>
                            <a:rPr lang="ko-KR" altLang="en-US" sz="1800" b="1">
                              <a:solidFill>
                                <a:schemeClr val="bg1"/>
                              </a:solidFill>
                              <a:effectLst/>
                            </a:rPr>
                            <a:t>평가 기준</a:t>
                          </a:r>
                        </a:p>
                      </a:txBody>
                      <a:tcPr marL="49223" marR="49223" marT="49223" marB="49223"/>
                    </a:tc>
                    <a:extLst>
                      <a:ext uri="{0D108BD9-81ED-4DB2-BD59-A6C34878D82A}">
                        <a16:rowId xmlns:a16="http://schemas.microsoft.com/office/drawing/2014/main" val="1016035045"/>
                      </a:ext>
                    </a:extLst>
                  </a:tr>
                  <a:tr h="637242">
                    <a:tc>
                      <a:txBody>
                        <a:bodyPr/>
                        <a:lstStyle/>
                        <a:p>
                          <a:pPr algn="ctr" fontAlgn="base" latinLnBrk="0">
                            <a:buNone/>
                          </a:pPr>
                          <a:r>
                            <a:rPr lang="ko-KR" altLang="en-US" sz="1800">
                              <a:effectLst/>
                            </a:rPr>
                            <a:t>호환성</a:t>
                          </a:r>
                        </a:p>
                      </a:txBody>
                      <a:tcPr marL="49223" marR="49223" marT="44301" marB="44301" anchor="ctr"/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marL="49223" marR="49223" marT="44301" marB="44301" anchor="ctr">
                        <a:blipFill>
                          <a:blip r:embed="rId3"/>
                          <a:stretch>
                            <a:fillRect l="-51445" t="-64000" r="-111272" b="-178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fontAlgn="base" latinLnBrk="0">
                            <a:buNone/>
                          </a:pPr>
                          <a:r>
                            <a:rPr lang="en-US" altLang="ko-KR" sz="1800" dirty="0">
                              <a:effectLst/>
                            </a:rPr>
                            <a:t>PQC </a:t>
                          </a:r>
                          <a:r>
                            <a:rPr lang="ko-KR" altLang="en-US" sz="1800" dirty="0">
                              <a:effectLst/>
                            </a:rPr>
                            <a:t>통신 성공률이 선호 기준 대비 </a:t>
                          </a:r>
                          <a:endParaRPr lang="en-US" altLang="ko-KR" sz="1800" dirty="0">
                            <a:effectLst/>
                          </a:endParaRPr>
                        </a:p>
                        <a:p>
                          <a:pPr fontAlgn="base" latinLnBrk="0">
                            <a:buNone/>
                          </a:pPr>
                          <a:r>
                            <a:rPr lang="ko-KR" altLang="en-US" sz="1800" dirty="0">
                              <a:effectLst/>
                            </a:rPr>
                            <a:t>절반 이하인 경우</a:t>
                          </a:r>
                        </a:p>
                      </a:txBody>
                      <a:tcPr marL="49223" marR="49223" marT="44301" marB="44301" anchor="ctr"/>
                    </a:tc>
                    <a:extLst>
                      <a:ext uri="{0D108BD9-81ED-4DB2-BD59-A6C34878D82A}">
                        <a16:rowId xmlns:a16="http://schemas.microsoft.com/office/drawing/2014/main" val="1326359263"/>
                      </a:ext>
                    </a:extLst>
                  </a:tr>
                  <a:tr h="384639">
                    <a:tc>
                      <a:txBody>
                        <a:bodyPr/>
                        <a:lstStyle/>
                        <a:p>
                          <a:pPr algn="ctr" fontAlgn="base" latinLnBrk="0">
                            <a:buNone/>
                          </a:pPr>
                          <a:r>
                            <a:rPr lang="ko-KR" altLang="en-US" sz="1800">
                              <a:effectLst/>
                            </a:rPr>
                            <a:t>지연 시간</a:t>
                          </a:r>
                        </a:p>
                      </a:txBody>
                      <a:tcPr marL="49223" marR="49223" marT="44301" marB="44301" anchor="ctr"/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marL="49223" marR="49223" marT="44301" marB="44301" anchor="ctr">
                        <a:blipFill>
                          <a:blip r:embed="rId3"/>
                          <a:stretch>
                            <a:fillRect l="-51445" t="-264516" r="-111272" b="-18709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fontAlgn="base" latinLnBrk="0">
                            <a:buNone/>
                          </a:pPr>
                          <a:r>
                            <a:rPr lang="en-US" altLang="ko-KR" sz="1800" dirty="0">
                              <a:effectLst/>
                            </a:rPr>
                            <a:t>5</a:t>
                          </a:r>
                          <a:r>
                            <a:rPr lang="ko-KR" altLang="en-US" sz="1800" dirty="0">
                              <a:effectLst/>
                            </a:rPr>
                            <a:t>분 내 전체 요청 중 지연된 비율 </a:t>
                          </a:r>
                          <a:r>
                            <a:rPr lang="en-US" altLang="ko-KR" sz="1800" dirty="0">
                              <a:effectLst/>
                            </a:rPr>
                            <a:t>(30%)</a:t>
                          </a:r>
                          <a:endParaRPr lang="ko-KR" altLang="en-US" sz="1800" dirty="0">
                            <a:effectLst/>
                          </a:endParaRPr>
                        </a:p>
                      </a:txBody>
                      <a:tcPr marL="49223" marR="49223" marT="44301" marB="44301" anchor="ctr"/>
                    </a:tc>
                    <a:extLst>
                      <a:ext uri="{0D108BD9-81ED-4DB2-BD59-A6C34878D82A}">
                        <a16:rowId xmlns:a16="http://schemas.microsoft.com/office/drawing/2014/main" val="2806684074"/>
                      </a:ext>
                    </a:extLst>
                  </a:tr>
                  <a:tr h="637242">
                    <a:tc>
                      <a:txBody>
                        <a:bodyPr/>
                        <a:lstStyle/>
                        <a:p>
                          <a:pPr algn="ctr" fontAlgn="base" latinLnBrk="0">
                            <a:buNone/>
                          </a:pPr>
                          <a:r>
                            <a:rPr lang="ko-KR" altLang="en-US" sz="1800" dirty="0">
                              <a:effectLst/>
                            </a:rPr>
                            <a:t>치명적 </a:t>
                          </a:r>
                          <a:r>
                            <a:rPr lang="ko-KR" altLang="en-US" sz="1800" dirty="0" err="1">
                              <a:effectLst/>
                            </a:rPr>
                            <a:t>오류율</a:t>
                          </a:r>
                          <a:endParaRPr lang="ko-KR" altLang="en-US" sz="1800" dirty="0">
                            <a:effectLst/>
                          </a:endParaRPr>
                        </a:p>
                      </a:txBody>
                      <a:tcPr marL="49223" marR="49223" marT="44301" marB="44301" anchor="ctr"/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marL="49223" marR="49223" marT="44301" marB="44301" anchor="ctr">
                        <a:blipFill>
                          <a:blip r:embed="rId3"/>
                          <a:stretch>
                            <a:fillRect l="-51445" t="-226000" r="-111272" b="-16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fontAlgn="base" latinLnBrk="0">
                            <a:buNone/>
                          </a:pPr>
                          <a:r>
                            <a:rPr lang="en-US" altLang="ko-KR" sz="1800" dirty="0">
                              <a:effectLst/>
                            </a:rPr>
                            <a:t>5</a:t>
                          </a:r>
                          <a:r>
                            <a:rPr lang="ko-KR" altLang="en-US" sz="1800" dirty="0">
                              <a:effectLst/>
                            </a:rPr>
                            <a:t>분 내 </a:t>
                          </a:r>
                          <a:r>
                            <a:rPr lang="ko-KR" altLang="en-US" sz="1800" dirty="0" err="1">
                              <a:effectLst/>
                            </a:rPr>
                            <a:t>핸드셰이크</a:t>
                          </a:r>
                          <a:r>
                            <a:rPr lang="ko-KR" altLang="en-US" sz="1800" dirty="0">
                              <a:effectLst/>
                            </a:rPr>
                            <a:t> 실패</a:t>
                          </a:r>
                          <a:endParaRPr lang="en-US" altLang="ko-KR" sz="1800" dirty="0">
                            <a:effectLst/>
                          </a:endParaRPr>
                        </a:p>
                        <a:p>
                          <a:pPr fontAlgn="base" latinLnBrk="0">
                            <a:buNone/>
                          </a:pPr>
                          <a:r>
                            <a:rPr lang="ko-KR" altLang="en-US" sz="1800" dirty="0">
                              <a:effectLst/>
                            </a:rPr>
                            <a:t>인증 또는 암호화 오류 발생률 </a:t>
                          </a:r>
                          <a:r>
                            <a:rPr lang="en-US" altLang="ko-KR" sz="1800" dirty="0">
                              <a:effectLst/>
                            </a:rPr>
                            <a:t>(1%)</a:t>
                          </a:r>
                          <a:endParaRPr lang="ko-KR" altLang="en-US" sz="1800" dirty="0">
                            <a:effectLst/>
                          </a:endParaRPr>
                        </a:p>
                      </a:txBody>
                      <a:tcPr marL="49223" marR="49223" marT="44301" marB="44301" anchor="ctr"/>
                    </a:tc>
                    <a:extLst>
                      <a:ext uri="{0D108BD9-81ED-4DB2-BD59-A6C34878D82A}">
                        <a16:rowId xmlns:a16="http://schemas.microsoft.com/office/drawing/2014/main" val="385936488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10" name="TextBox 9">
            <a:extLst>
              <a:ext uri="{FF2B5EF4-FFF2-40B4-BE49-F238E27FC236}">
                <a16:creationId xmlns:a16="http://schemas.microsoft.com/office/drawing/2014/main" id="{39343FCB-513F-5E62-0793-8CAAEF0BE6B7}"/>
              </a:ext>
            </a:extLst>
          </p:cNvPr>
          <p:cNvSpPr txBox="1"/>
          <p:nvPr/>
        </p:nvSpPr>
        <p:spPr>
          <a:xfrm>
            <a:off x="-120869" y="3664159"/>
            <a:ext cx="360226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ko-KR" sz="2400" b="1" dirty="0">
                <a:solidFill>
                  <a:srgbClr val="FF0000"/>
                </a:solidFill>
              </a:rPr>
              <a:t>&lt;</a:t>
            </a:r>
            <a:r>
              <a:rPr kumimoji="1" lang="ko-KR" altLang="en-US" sz="2400" b="1" dirty="0">
                <a:solidFill>
                  <a:srgbClr val="FF0000"/>
                </a:solidFill>
              </a:rPr>
              <a:t>단기적 판단 기준 </a:t>
            </a:r>
            <a:r>
              <a:rPr kumimoji="1" lang="en-US" altLang="ko-KR" sz="2400" b="1" dirty="0">
                <a:solidFill>
                  <a:srgbClr val="FF0000"/>
                </a:solidFill>
              </a:rPr>
              <a:t>: 5</a:t>
            </a:r>
            <a:r>
              <a:rPr kumimoji="1" lang="ko-KR" altLang="en-US" sz="2400" b="1" dirty="0">
                <a:solidFill>
                  <a:srgbClr val="FF0000"/>
                </a:solidFill>
              </a:rPr>
              <a:t>분</a:t>
            </a:r>
            <a:r>
              <a:rPr kumimoji="1" lang="en-US" altLang="ko-KR" sz="2400" b="1" dirty="0">
                <a:solidFill>
                  <a:srgbClr val="FF0000"/>
                </a:solidFill>
              </a:rPr>
              <a:t>&gt;</a:t>
            </a:r>
            <a:endParaRPr kumimoji="1" lang="ko-KR" altLang="en-US" sz="2400" b="1" dirty="0">
              <a:solidFill>
                <a:srgbClr val="FF0000"/>
              </a:solidFill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D9AA91C-6B60-0179-EB10-74F28F85CC73}"/>
              </a:ext>
            </a:extLst>
          </p:cNvPr>
          <p:cNvSpPr txBox="1"/>
          <p:nvPr/>
        </p:nvSpPr>
        <p:spPr>
          <a:xfrm>
            <a:off x="6096000" y="3773524"/>
            <a:ext cx="47244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kumimoji="1" lang="ko-KR" altLang="en-US" sz="2000" b="1" dirty="0"/>
              <a:t>치명적인 오류 발생 시 즉시 롤백 판단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D331EAAC-2FB1-23D6-F95D-653A1522A5B6}"/>
                  </a:ext>
                </a:extLst>
              </p:cNvPr>
              <p:cNvSpPr txBox="1"/>
              <p:nvPr/>
            </p:nvSpPr>
            <p:spPr>
              <a:xfrm>
                <a:off x="1680265" y="6454462"/>
                <a:ext cx="10475356" cy="39158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ar-AE" altLang="ko-KR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ko-KR" altLang="ar-AE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ko-KR" altLang="ar-AE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𝑃𝑄𝐶</m:t>
                        </m:r>
                      </m:sub>
                    </m:sSub>
                  </m:oMath>
                </a14:m>
                <a:r>
                  <a:rPr lang="ko-KR" altLang="en-US" dirty="0">
                    <a:solidFill>
                      <a:schemeClr val="tx1"/>
                    </a:solidFill>
                  </a:rPr>
                  <a:t> </a:t>
                </a:r>
                <a:r>
                  <a:rPr lang="en-US" altLang="ko-KR" dirty="0">
                    <a:solidFill>
                      <a:schemeClr val="tx1"/>
                    </a:solidFill>
                  </a:rPr>
                  <a:t>: PQC </a:t>
                </a:r>
                <a:r>
                  <a:rPr lang="ko-KR" altLang="en-US" dirty="0">
                    <a:solidFill>
                      <a:schemeClr val="tx1"/>
                    </a:solidFill>
                  </a:rPr>
                  <a:t>통신 성공률 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altLang="ko-KR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ko-KR" altLang="ar-AE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ko-KR" altLang="ar-AE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𝑝𝑟𝑒𝑓𝑒𝑟</m:t>
                        </m:r>
                      </m:sub>
                    </m:sSub>
                    <m:r>
                      <a:rPr lang="en-US" altLang="ko-KR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 :</m:t>
                    </m:r>
                  </m:oMath>
                </a14:m>
                <a:r>
                  <a:rPr lang="ko-KR" altLang="en-US" dirty="0">
                    <a:solidFill>
                      <a:schemeClr val="tx1"/>
                    </a:solidFill>
                  </a:rPr>
                  <a:t> </a:t>
                </a:r>
                <a:r>
                  <a:rPr lang="en-US" altLang="ko-KR" dirty="0">
                    <a:solidFill>
                      <a:schemeClr val="tx1"/>
                    </a:solidFill>
                  </a:rPr>
                  <a:t>prefer </a:t>
                </a:r>
                <a:r>
                  <a:rPr lang="ko-KR" altLang="en-US" dirty="0">
                    <a:solidFill>
                      <a:schemeClr val="tx1"/>
                    </a:solidFill>
                  </a:rPr>
                  <a:t>비율 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altLang="ko-KR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ko-KR" altLang="ar-AE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ko-KR" altLang="ar-AE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𝑑𝑒𝑙𝑎𝑦</m:t>
                        </m:r>
                      </m:sub>
                    </m:sSub>
                    <m:r>
                      <a:rPr lang="en-US" altLang="ko-KR" b="0" i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altLang="ko-KR" dirty="0">
                    <a:solidFill>
                      <a:schemeClr val="tx1"/>
                    </a:solidFill>
                  </a:rPr>
                  <a:t>: </a:t>
                </a:r>
                <a:r>
                  <a:rPr lang="ko-KR" altLang="en-US" dirty="0">
                    <a:solidFill>
                      <a:schemeClr val="tx1"/>
                    </a:solidFill>
                  </a:rPr>
                  <a:t>지연되는 통신 비율 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altLang="ko-KR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ko-KR" altLang="ar-AE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  <m:sub>
                        <m:r>
                          <a:rPr lang="ko-KR" altLang="ar-AE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𝑓𝑎𝑖𝑙</m:t>
                        </m:r>
                      </m:sub>
                    </m:sSub>
                  </m:oMath>
                </a14:m>
                <a:r>
                  <a:rPr lang="en-US" altLang="ko-KR" dirty="0">
                    <a:solidFill>
                      <a:schemeClr val="tx1"/>
                    </a:solidFill>
                  </a:rPr>
                  <a:t>: </a:t>
                </a:r>
                <a:r>
                  <a:rPr lang="ko-KR" altLang="en-US" dirty="0">
                    <a:solidFill>
                      <a:schemeClr val="tx1"/>
                    </a:solidFill>
                  </a:rPr>
                  <a:t>오류 발생 비율   </a:t>
                </a:r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D331EAAC-2FB1-23D6-F95D-653A1522A5B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80265" y="6454462"/>
                <a:ext cx="10475356" cy="391582"/>
              </a:xfrm>
              <a:prstGeom prst="rect">
                <a:avLst/>
              </a:prstGeom>
              <a:blipFill>
                <a:blip r:embed="rId4"/>
                <a:stretch>
                  <a:fillRect t="-12500" b="-12500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86262513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CFC38B-447C-8483-921C-EF4CE7CDCE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04EB9CF-F3C7-66FA-6623-C04BDAD26C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 dirty="0"/>
              <a:t>점진적 </a:t>
            </a:r>
            <a:r>
              <a:rPr kumimoji="1" lang="en-US" altLang="ko-KR" dirty="0"/>
              <a:t>PQC </a:t>
            </a:r>
            <a:r>
              <a:rPr kumimoji="1" lang="ko-KR" altLang="en-US" dirty="0"/>
              <a:t>마이그레이션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161A57A9-2446-68C7-EF12-80741F3F797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kumimoji="1" lang="en-US" altLang="ko-KR" b="1" dirty="0"/>
              <a:t>Policy : Require</a:t>
            </a:r>
          </a:p>
          <a:p>
            <a:pPr lvl="1"/>
            <a:r>
              <a:rPr kumimoji="1" lang="ko-KR" altLang="en-US" b="1" dirty="0">
                <a:solidFill>
                  <a:srgbClr val="2E75B6"/>
                </a:solidFill>
              </a:rPr>
              <a:t>모든 신규 </a:t>
            </a:r>
            <a:r>
              <a:rPr kumimoji="1" lang="ko-KR" altLang="en-US" b="1" dirty="0" err="1">
                <a:solidFill>
                  <a:srgbClr val="2E75B6"/>
                </a:solidFill>
              </a:rPr>
              <a:t>핸드쉐이크가</a:t>
            </a:r>
            <a:r>
              <a:rPr kumimoji="1" lang="ko-KR" altLang="en-US" b="1" dirty="0">
                <a:solidFill>
                  <a:srgbClr val="2E75B6"/>
                </a:solidFill>
              </a:rPr>
              <a:t> </a:t>
            </a:r>
            <a:r>
              <a:rPr kumimoji="1" lang="en-US" altLang="ko-KR" b="1" dirty="0">
                <a:solidFill>
                  <a:srgbClr val="2E75B6"/>
                </a:solidFill>
              </a:rPr>
              <a:t>PQC </a:t>
            </a:r>
            <a:r>
              <a:rPr kumimoji="1" lang="ko-KR" altLang="en-US" b="1" dirty="0">
                <a:solidFill>
                  <a:srgbClr val="2E75B6"/>
                </a:solidFill>
              </a:rPr>
              <a:t>서버로 강제 </a:t>
            </a:r>
            <a:r>
              <a:rPr kumimoji="1" lang="ko-KR" altLang="en-US" b="1" dirty="0" err="1">
                <a:solidFill>
                  <a:srgbClr val="2E75B6"/>
                </a:solidFill>
              </a:rPr>
              <a:t>라우팅되는</a:t>
            </a:r>
            <a:r>
              <a:rPr kumimoji="1" lang="ko-KR" altLang="en-US" b="1" dirty="0">
                <a:solidFill>
                  <a:srgbClr val="2E75B6"/>
                </a:solidFill>
              </a:rPr>
              <a:t> 단계</a:t>
            </a:r>
            <a:endParaRPr kumimoji="1" lang="en-US" altLang="ko-KR" b="1" dirty="0">
              <a:solidFill>
                <a:srgbClr val="2E75B6"/>
              </a:solidFill>
            </a:endParaRPr>
          </a:p>
          <a:p>
            <a:pPr lvl="1"/>
            <a:r>
              <a:rPr kumimoji="1" lang="en-US" altLang="ko-KR" b="1" dirty="0">
                <a:solidFill>
                  <a:srgbClr val="FF0000"/>
                </a:solidFill>
              </a:rPr>
              <a:t>PQC</a:t>
            </a:r>
            <a:r>
              <a:rPr kumimoji="1" lang="ko-KR" altLang="en-US" b="1" dirty="0">
                <a:solidFill>
                  <a:srgbClr val="FF0000"/>
                </a:solidFill>
              </a:rPr>
              <a:t> 환경으로의 완전한 전환 단계</a:t>
            </a:r>
            <a:endParaRPr kumimoji="1" lang="en-US" altLang="ko-KR" b="1" dirty="0">
              <a:solidFill>
                <a:srgbClr val="FF0000"/>
              </a:solidFill>
            </a:endParaRP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9BA8D07D-5466-69CB-972F-09B159A45EC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9800" y="2731560"/>
            <a:ext cx="7772400" cy="34787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808627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5B5B2E-BB02-5E84-1564-93B21CF8FA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E6D74DC-E71E-0919-064C-8D5FCF1720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" altLang="ko-KR" dirty="0"/>
              <a:t>Zero-Downtime</a:t>
            </a:r>
            <a:r>
              <a:rPr lang="ko-KR" altLang="en-US" dirty="0"/>
              <a:t> 마이그레이션 평가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3F161A77-DE62-3A8E-3F56-38EA555DE29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ko-KR" altLang="en-US" b="1" dirty="0"/>
              <a:t>정책 전환 비율에 소요되는 실제 시간은 </a:t>
            </a:r>
            <a:r>
              <a:rPr lang="ko-KR" altLang="en-US" b="1" dirty="0">
                <a:solidFill>
                  <a:srgbClr val="2E75B6"/>
                </a:solidFill>
              </a:rPr>
              <a:t>약 </a:t>
            </a:r>
            <a:r>
              <a:rPr lang="en-US" altLang="ko-KR" b="1" dirty="0">
                <a:solidFill>
                  <a:srgbClr val="2E75B6"/>
                </a:solidFill>
              </a:rPr>
              <a:t>30ms </a:t>
            </a:r>
            <a:r>
              <a:rPr lang="ko-KR" altLang="en-US" b="1" dirty="0">
                <a:solidFill>
                  <a:srgbClr val="2E75B6"/>
                </a:solidFill>
              </a:rPr>
              <a:t>내외</a:t>
            </a:r>
            <a:endParaRPr lang="en-US" altLang="ko-KR" b="1" dirty="0">
              <a:solidFill>
                <a:srgbClr val="2E75B6"/>
              </a:solidFill>
            </a:endParaRPr>
          </a:p>
          <a:p>
            <a:r>
              <a:rPr lang="ko-KR" altLang="en-US" b="1" dirty="0">
                <a:solidFill>
                  <a:srgbClr val="FF0000"/>
                </a:solidFill>
              </a:rPr>
              <a:t>서비스 중단 없이 </a:t>
            </a:r>
            <a:r>
              <a:rPr lang="en-US" altLang="ko-KR" b="1" dirty="0">
                <a:solidFill>
                  <a:srgbClr val="FF0000"/>
                </a:solidFill>
              </a:rPr>
              <a:t>PQC</a:t>
            </a:r>
            <a:r>
              <a:rPr lang="ko-KR" altLang="en-US" b="1" dirty="0">
                <a:solidFill>
                  <a:srgbClr val="FF0000"/>
                </a:solidFill>
              </a:rPr>
              <a:t>로의 마이그레이션이 가능함을 보임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5" name="표 4">
                <a:extLst>
                  <a:ext uri="{FF2B5EF4-FFF2-40B4-BE49-F238E27FC236}">
                    <a16:creationId xmlns:a16="http://schemas.microsoft.com/office/drawing/2014/main" id="{B3A561E9-D0B5-C493-E238-D68175CB65D2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416399203"/>
                  </p:ext>
                </p:extLst>
              </p:nvPr>
            </p:nvGraphicFramePr>
            <p:xfrm>
              <a:off x="410404" y="2706121"/>
              <a:ext cx="11369676" cy="237744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3789892">
                      <a:extLst>
                        <a:ext uri="{9D8B030D-6E8A-4147-A177-3AD203B41FA5}">
                          <a16:colId xmlns:a16="http://schemas.microsoft.com/office/drawing/2014/main" val="2150312903"/>
                        </a:ext>
                      </a:extLst>
                    </a:gridCol>
                    <a:gridCol w="3789892">
                      <a:extLst>
                        <a:ext uri="{9D8B030D-6E8A-4147-A177-3AD203B41FA5}">
                          <a16:colId xmlns:a16="http://schemas.microsoft.com/office/drawing/2014/main" val="1061628294"/>
                        </a:ext>
                      </a:extLst>
                    </a:gridCol>
                    <a:gridCol w="3789892">
                      <a:extLst>
                        <a:ext uri="{9D8B030D-6E8A-4147-A177-3AD203B41FA5}">
                          <a16:colId xmlns:a16="http://schemas.microsoft.com/office/drawing/2014/main" val="604061116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marL="0" algn="ctr" defTabSz="914400" rtl="0" eaLnBrk="1" latinLnBrk="1" hangingPunct="1"/>
                          <a:r>
                            <a:rPr lang="en-US" altLang="ko-KR" sz="2000" kern="1200" dirty="0">
                              <a:solidFill>
                                <a:schemeClr val="lt1"/>
                              </a:solidFill>
                            </a:rPr>
                            <a:t>Process</a:t>
                          </a:r>
                          <a:endParaRPr lang="ko-KR" altLang="en-US" sz="2000" kern="1200" dirty="0">
                            <a:solidFill>
                              <a:schemeClr val="lt1"/>
                            </a:solidFill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algn="ctr" defTabSz="914400" rtl="0" eaLnBrk="1" latinLnBrk="1" hangingPunct="1"/>
                          <a:r>
                            <a:rPr lang="en-US" altLang="ko-KR" sz="2000" kern="1200" dirty="0">
                              <a:solidFill>
                                <a:schemeClr val="lt1"/>
                              </a:solidFill>
                            </a:rPr>
                            <a:t>Migration Time (</a:t>
                          </a:r>
                          <a:r>
                            <a:rPr lang="en-US" altLang="ko-KR" sz="2000" kern="1200" dirty="0" err="1">
                              <a:solidFill>
                                <a:schemeClr val="lt1"/>
                              </a:solidFill>
                            </a:rPr>
                            <a:t>ms</a:t>
                          </a:r>
                          <a:r>
                            <a:rPr lang="en-US" altLang="ko-KR" sz="2000" kern="1200" dirty="0">
                              <a:solidFill>
                                <a:schemeClr val="lt1"/>
                              </a:solidFill>
                            </a:rPr>
                            <a:t>)</a:t>
                          </a:r>
                          <a:endParaRPr lang="ko-KR" altLang="en-US" sz="2000" kern="1200" dirty="0">
                            <a:solidFill>
                              <a:schemeClr val="lt1"/>
                            </a:solidFill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algn="ctr" defTabSz="914400" rtl="0" eaLnBrk="1" latinLnBrk="1" hangingPunct="1"/>
                          <a:r>
                            <a:rPr lang="en-US" altLang="ko-KR" sz="2000" kern="1200">
                              <a:solidFill>
                                <a:schemeClr val="lt1"/>
                              </a:solidFill>
                            </a:rPr>
                            <a:t>Adjusted Migration Time </a:t>
                          </a:r>
                          <a:r>
                            <a:rPr lang="en-US" altLang="ko-KR" sz="2000" kern="1200" dirty="0">
                              <a:solidFill>
                                <a:schemeClr val="lt1"/>
                              </a:solidFill>
                            </a:rPr>
                            <a:t>(</a:t>
                          </a:r>
                          <a:r>
                            <a:rPr lang="en-US" altLang="ko-KR" sz="2000" kern="1200" dirty="0" err="1">
                              <a:solidFill>
                                <a:schemeClr val="lt1"/>
                              </a:solidFill>
                            </a:rPr>
                            <a:t>ms</a:t>
                          </a:r>
                          <a:r>
                            <a:rPr lang="en-US" altLang="ko-KR" sz="2000" kern="1200" dirty="0">
                              <a:solidFill>
                                <a:schemeClr val="lt1"/>
                              </a:solidFill>
                            </a:rPr>
                            <a:t>)</a:t>
                          </a:r>
                          <a:endParaRPr lang="ko-KR" altLang="en-US" sz="2000" kern="1200" dirty="0">
                            <a:solidFill>
                              <a:schemeClr val="lt1"/>
                            </a:solidFill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39245609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2000" dirty="0">
                              <a:solidFill>
                                <a:schemeClr val="tx1"/>
                              </a:solidFill>
                            </a:rPr>
                            <a:t>Announce </a:t>
                          </a:r>
                          <a14:m>
                            <m:oMath xmlns:m="http://schemas.openxmlformats.org/officeDocument/2006/math">
                              <m:r>
                                <a:rPr lang="en-US" altLang="ko-KR" sz="200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→</m:t>
                              </m:r>
                            </m:oMath>
                          </a14:m>
                          <a:r>
                            <a:rPr lang="en-US" altLang="ko-KR" sz="2000" dirty="0">
                              <a:solidFill>
                                <a:schemeClr val="tx1"/>
                              </a:solidFill>
                            </a:rPr>
                            <a:t> Prefer 25%</a:t>
                          </a:r>
                          <a:endParaRPr lang="ko-KR" altLang="en-US" sz="20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2000" dirty="0">
                              <a:solidFill>
                                <a:schemeClr val="tx1"/>
                              </a:solidFill>
                            </a:rPr>
                            <a:t>2,036.7</a:t>
                          </a:r>
                          <a:endParaRPr lang="ko-KR" altLang="en-US" sz="20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2000" dirty="0">
                              <a:solidFill>
                                <a:schemeClr val="tx1"/>
                              </a:solidFill>
                            </a:rPr>
                            <a:t>36.7</a:t>
                          </a:r>
                          <a:endParaRPr lang="ko-KR" altLang="en-US" sz="20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4042024577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2000" dirty="0">
                              <a:solidFill>
                                <a:schemeClr val="tx1"/>
                              </a:solidFill>
                            </a:rPr>
                            <a:t>Prefer 25% </a:t>
                          </a:r>
                          <a14:m>
                            <m:oMath xmlns:m="http://schemas.openxmlformats.org/officeDocument/2006/math">
                              <m:r>
                                <a:rPr lang="en-US" altLang="ko-KR" sz="200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→</m:t>
                              </m:r>
                            </m:oMath>
                          </a14:m>
                          <a:r>
                            <a:rPr lang="en-US" altLang="ko-KR" sz="2000" dirty="0">
                              <a:solidFill>
                                <a:schemeClr val="tx1"/>
                              </a:solidFill>
                            </a:rPr>
                            <a:t> Prefer 50%</a:t>
                          </a:r>
                          <a:endParaRPr lang="ko-KR" altLang="en-US" sz="20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2000" dirty="0">
                              <a:solidFill>
                                <a:schemeClr val="tx1"/>
                              </a:solidFill>
                            </a:rPr>
                            <a:t>2,035.2</a:t>
                          </a:r>
                          <a:endParaRPr lang="ko-KR" altLang="en-US" sz="20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2000" dirty="0">
                              <a:solidFill>
                                <a:schemeClr val="tx1"/>
                              </a:solidFill>
                            </a:rPr>
                            <a:t>35.2</a:t>
                          </a:r>
                          <a:endParaRPr lang="ko-KR" altLang="en-US" sz="20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25691987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2000">
                              <a:solidFill>
                                <a:schemeClr val="tx1"/>
                              </a:solidFill>
                            </a:rPr>
                            <a:t>Prefer 50% </a:t>
                          </a:r>
                          <a14:m>
                            <m:oMath xmlns:m="http://schemas.openxmlformats.org/officeDocument/2006/math">
                              <m:r>
                                <a:rPr lang="en-US" altLang="ko-KR" sz="200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→</m:t>
                              </m:r>
                            </m:oMath>
                          </a14:m>
                          <a:r>
                            <a:rPr lang="en-US" altLang="ko-KR" sz="2000">
                              <a:solidFill>
                                <a:schemeClr val="tx1"/>
                              </a:solidFill>
                            </a:rPr>
                            <a:t> Prefer 75</a:t>
                          </a:r>
                          <a:r>
                            <a:rPr lang="en-US" altLang="ko-KR" sz="2000" dirty="0">
                              <a:solidFill>
                                <a:schemeClr val="tx1"/>
                              </a:solidFill>
                            </a:rPr>
                            <a:t>%</a:t>
                          </a:r>
                          <a:endParaRPr lang="ko-KR" altLang="en-US" sz="20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2000" dirty="0">
                              <a:solidFill>
                                <a:schemeClr val="tx1"/>
                              </a:solidFill>
                            </a:rPr>
                            <a:t>2,030.7</a:t>
                          </a:r>
                          <a:endParaRPr lang="ko-KR" altLang="en-US" sz="20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2000" dirty="0">
                              <a:solidFill>
                                <a:schemeClr val="tx1"/>
                              </a:solidFill>
                            </a:rPr>
                            <a:t>30.7</a:t>
                          </a:r>
                          <a:endParaRPr lang="ko-KR" altLang="en-US" sz="20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17117477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2000" dirty="0">
                              <a:solidFill>
                                <a:schemeClr val="tx1"/>
                              </a:solidFill>
                            </a:rPr>
                            <a:t>Prefer 75</a:t>
                          </a:r>
                          <a:r>
                            <a:rPr lang="en-US" altLang="ko-KR" sz="2000">
                              <a:solidFill>
                                <a:schemeClr val="tx1"/>
                              </a:solidFill>
                            </a:rPr>
                            <a:t>% </a:t>
                          </a:r>
                          <a14:m>
                            <m:oMath xmlns:m="http://schemas.openxmlformats.org/officeDocument/2006/math">
                              <m:r>
                                <a:rPr lang="en-US" altLang="ko-KR" sz="200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→</m:t>
                              </m:r>
                            </m:oMath>
                          </a14:m>
                          <a:r>
                            <a:rPr lang="en-US" altLang="ko-KR" sz="2000">
                              <a:solidFill>
                                <a:schemeClr val="tx1"/>
                              </a:solidFill>
                            </a:rPr>
                            <a:t> Require</a:t>
                          </a:r>
                          <a:endParaRPr lang="ko-KR" altLang="en-US" sz="20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2000" dirty="0">
                              <a:solidFill>
                                <a:schemeClr val="tx1"/>
                              </a:solidFill>
                            </a:rPr>
                            <a:t>2,027.7</a:t>
                          </a:r>
                          <a:endParaRPr lang="ko-KR" altLang="en-US" sz="20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2000" dirty="0">
                              <a:solidFill>
                                <a:schemeClr val="tx1"/>
                              </a:solidFill>
                            </a:rPr>
                            <a:t>27.7</a:t>
                          </a:r>
                          <a:endParaRPr lang="ko-KR" altLang="en-US" sz="20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294357386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2000" dirty="0">
                              <a:solidFill>
                                <a:schemeClr val="tx1"/>
                              </a:solidFill>
                            </a:rPr>
                            <a:t>Total Migration</a:t>
                          </a:r>
                          <a:endParaRPr lang="ko-KR" altLang="en-US" sz="20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2000" dirty="0">
                              <a:solidFill>
                                <a:schemeClr val="tx1"/>
                              </a:solidFill>
                            </a:rPr>
                            <a:t>2,032.6</a:t>
                          </a:r>
                          <a:endParaRPr lang="ko-KR" altLang="en-US" sz="20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2000" dirty="0">
                              <a:solidFill>
                                <a:schemeClr val="tx1"/>
                              </a:solidFill>
                            </a:rPr>
                            <a:t>32.6</a:t>
                          </a:r>
                          <a:endParaRPr lang="ko-KR" altLang="en-US" sz="20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163410749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5" name="표 4">
                <a:extLst>
                  <a:ext uri="{FF2B5EF4-FFF2-40B4-BE49-F238E27FC236}">
                    <a16:creationId xmlns:a16="http://schemas.microsoft.com/office/drawing/2014/main" id="{B3A561E9-D0B5-C493-E238-D68175CB65D2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416399203"/>
                  </p:ext>
                </p:extLst>
              </p:nvPr>
            </p:nvGraphicFramePr>
            <p:xfrm>
              <a:off x="410404" y="2706121"/>
              <a:ext cx="11369676" cy="237744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3789892">
                      <a:extLst>
                        <a:ext uri="{9D8B030D-6E8A-4147-A177-3AD203B41FA5}">
                          <a16:colId xmlns:a16="http://schemas.microsoft.com/office/drawing/2014/main" val="2150312903"/>
                        </a:ext>
                      </a:extLst>
                    </a:gridCol>
                    <a:gridCol w="3789892">
                      <a:extLst>
                        <a:ext uri="{9D8B030D-6E8A-4147-A177-3AD203B41FA5}">
                          <a16:colId xmlns:a16="http://schemas.microsoft.com/office/drawing/2014/main" val="1061628294"/>
                        </a:ext>
                      </a:extLst>
                    </a:gridCol>
                    <a:gridCol w="3789892">
                      <a:extLst>
                        <a:ext uri="{9D8B030D-6E8A-4147-A177-3AD203B41FA5}">
                          <a16:colId xmlns:a16="http://schemas.microsoft.com/office/drawing/2014/main" val="604061116"/>
                        </a:ext>
                      </a:extLst>
                    </a:gridCol>
                  </a:tblGrid>
                  <a:tr h="396240">
                    <a:tc>
                      <a:txBody>
                        <a:bodyPr/>
                        <a:lstStyle/>
                        <a:p>
                          <a:pPr marL="0" algn="ctr" defTabSz="914400" rtl="0" eaLnBrk="1" latinLnBrk="1" hangingPunct="1"/>
                          <a:r>
                            <a:rPr lang="en-US" altLang="ko-KR" sz="2000" kern="1200" dirty="0">
                              <a:solidFill>
                                <a:schemeClr val="lt1"/>
                              </a:solidFill>
                            </a:rPr>
                            <a:t>Process</a:t>
                          </a:r>
                          <a:endParaRPr lang="ko-KR" altLang="en-US" sz="2000" kern="1200" dirty="0">
                            <a:solidFill>
                              <a:schemeClr val="lt1"/>
                            </a:solidFill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algn="ctr" defTabSz="914400" rtl="0" eaLnBrk="1" latinLnBrk="1" hangingPunct="1"/>
                          <a:r>
                            <a:rPr lang="en-US" altLang="ko-KR" sz="2000" kern="1200" dirty="0">
                              <a:solidFill>
                                <a:schemeClr val="lt1"/>
                              </a:solidFill>
                            </a:rPr>
                            <a:t>Migration Time (</a:t>
                          </a:r>
                          <a:r>
                            <a:rPr lang="en-US" altLang="ko-KR" sz="2000" kern="1200" dirty="0" err="1">
                              <a:solidFill>
                                <a:schemeClr val="lt1"/>
                              </a:solidFill>
                            </a:rPr>
                            <a:t>ms</a:t>
                          </a:r>
                          <a:r>
                            <a:rPr lang="en-US" altLang="ko-KR" sz="2000" kern="1200" dirty="0">
                              <a:solidFill>
                                <a:schemeClr val="lt1"/>
                              </a:solidFill>
                            </a:rPr>
                            <a:t>)</a:t>
                          </a:r>
                          <a:endParaRPr lang="ko-KR" altLang="en-US" sz="2000" kern="1200" dirty="0">
                            <a:solidFill>
                              <a:schemeClr val="lt1"/>
                            </a:solidFill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algn="ctr" defTabSz="914400" rtl="0" eaLnBrk="1" latinLnBrk="1" hangingPunct="1"/>
                          <a:r>
                            <a:rPr lang="en-US" altLang="ko-KR" sz="2000" kern="1200">
                              <a:solidFill>
                                <a:schemeClr val="lt1"/>
                              </a:solidFill>
                            </a:rPr>
                            <a:t>Adjusted Migration Time </a:t>
                          </a:r>
                          <a:r>
                            <a:rPr lang="en-US" altLang="ko-KR" sz="2000" kern="1200" dirty="0">
                              <a:solidFill>
                                <a:schemeClr val="lt1"/>
                              </a:solidFill>
                            </a:rPr>
                            <a:t>(</a:t>
                          </a:r>
                          <a:r>
                            <a:rPr lang="en-US" altLang="ko-KR" sz="2000" kern="1200" dirty="0" err="1">
                              <a:solidFill>
                                <a:schemeClr val="lt1"/>
                              </a:solidFill>
                            </a:rPr>
                            <a:t>ms</a:t>
                          </a:r>
                          <a:r>
                            <a:rPr lang="en-US" altLang="ko-KR" sz="2000" kern="1200" dirty="0">
                              <a:solidFill>
                                <a:schemeClr val="lt1"/>
                              </a:solidFill>
                            </a:rPr>
                            <a:t>)</a:t>
                          </a:r>
                          <a:endParaRPr lang="ko-KR" altLang="en-US" sz="2000" kern="1200" dirty="0">
                            <a:solidFill>
                              <a:schemeClr val="lt1"/>
                            </a:solidFill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392456090"/>
                      </a:ext>
                    </a:extLst>
                  </a:tr>
                  <a:tr h="396240"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334" t="-106250" r="-200334" b="-41562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2000" dirty="0">
                              <a:solidFill>
                                <a:schemeClr val="tx1"/>
                              </a:solidFill>
                            </a:rPr>
                            <a:t>2,036.7</a:t>
                          </a:r>
                          <a:endParaRPr lang="ko-KR" altLang="en-US" sz="20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2000" dirty="0">
                              <a:solidFill>
                                <a:schemeClr val="tx1"/>
                              </a:solidFill>
                            </a:rPr>
                            <a:t>36.7</a:t>
                          </a:r>
                          <a:endParaRPr lang="ko-KR" altLang="en-US" sz="20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4042024577"/>
                      </a:ext>
                    </a:extLst>
                  </a:tr>
                  <a:tr h="396240"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334" t="-212903" r="-200334" b="-32903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2000" dirty="0">
                              <a:solidFill>
                                <a:schemeClr val="tx1"/>
                              </a:solidFill>
                            </a:rPr>
                            <a:t>2,035.2</a:t>
                          </a:r>
                          <a:endParaRPr lang="ko-KR" altLang="en-US" sz="20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2000" dirty="0">
                              <a:solidFill>
                                <a:schemeClr val="tx1"/>
                              </a:solidFill>
                            </a:rPr>
                            <a:t>35.2</a:t>
                          </a:r>
                          <a:endParaRPr lang="ko-KR" altLang="en-US" sz="20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256919871"/>
                      </a:ext>
                    </a:extLst>
                  </a:tr>
                  <a:tr h="396240"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334" t="-312903" r="-200334" b="-22903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2000" dirty="0">
                              <a:solidFill>
                                <a:schemeClr val="tx1"/>
                              </a:solidFill>
                            </a:rPr>
                            <a:t>2,030.7</a:t>
                          </a:r>
                          <a:endParaRPr lang="ko-KR" altLang="en-US" sz="20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2000" dirty="0">
                              <a:solidFill>
                                <a:schemeClr val="tx1"/>
                              </a:solidFill>
                            </a:rPr>
                            <a:t>30.7</a:t>
                          </a:r>
                          <a:endParaRPr lang="ko-KR" altLang="en-US" sz="20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17117477"/>
                      </a:ext>
                    </a:extLst>
                  </a:tr>
                  <a:tr h="396240"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334" t="-400000" r="-200334" b="-12187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2000" dirty="0">
                              <a:solidFill>
                                <a:schemeClr val="tx1"/>
                              </a:solidFill>
                            </a:rPr>
                            <a:t>2,027.7</a:t>
                          </a:r>
                          <a:endParaRPr lang="ko-KR" altLang="en-US" sz="20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2000" dirty="0">
                              <a:solidFill>
                                <a:schemeClr val="tx1"/>
                              </a:solidFill>
                            </a:rPr>
                            <a:t>27.7</a:t>
                          </a:r>
                          <a:endParaRPr lang="ko-KR" altLang="en-US" sz="20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294357386"/>
                      </a:ext>
                    </a:extLst>
                  </a:tr>
                  <a:tr h="396240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2000" dirty="0">
                              <a:solidFill>
                                <a:schemeClr val="tx1"/>
                              </a:solidFill>
                            </a:rPr>
                            <a:t>Total Migration</a:t>
                          </a:r>
                          <a:endParaRPr lang="ko-KR" altLang="en-US" sz="20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2000" dirty="0">
                              <a:solidFill>
                                <a:schemeClr val="tx1"/>
                              </a:solidFill>
                            </a:rPr>
                            <a:t>2,032.6</a:t>
                          </a:r>
                          <a:endParaRPr lang="ko-KR" altLang="en-US" sz="20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2000" dirty="0">
                              <a:solidFill>
                                <a:schemeClr val="tx1"/>
                              </a:solidFill>
                            </a:rPr>
                            <a:t>32.6</a:t>
                          </a:r>
                          <a:endParaRPr lang="ko-KR" altLang="en-US" sz="20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163410749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17551141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34499981"/>
      </p:ext>
    </p:extLst>
  </p:cSld>
  <p:clrMapOvr>
    <a:masterClrMapping/>
  </p:clrMapOvr>
</p:sld>
</file>

<file path=ppt/theme/theme1.xml><?xml version="1.0" encoding="utf-8"?>
<a:theme xmlns:a="http://schemas.openxmlformats.org/drawingml/2006/main" name="CryptoCraft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사용자 지정 2">
      <a:majorFont>
        <a:latin typeface="Arial"/>
        <a:ea typeface="맑은 고딕"/>
        <a:cs typeface=""/>
      </a:majorFont>
      <a:minorFont>
        <a:latin typeface="Arial"/>
        <a:ea typeface="맑은 고딕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[CLEAN]_CryptoCraft Lab PPT 양식" id="{E712E38C-1C04-504C-B5D5-8F368DAED54C}" vid="{1DC7DBC3-F67B-F842-ADBC-4328E0BB0FA1}"/>
    </a:ext>
  </a:extLst>
</a:theme>
</file>

<file path=ppt/theme/theme2.xml><?xml version="1.0" encoding="utf-8"?>
<a:theme xmlns:a="http://schemas.openxmlformats.org/drawingml/2006/main" name="제목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사용자 지정 2">
      <a:majorFont>
        <a:latin typeface="Arial"/>
        <a:ea typeface="맑은 고딕"/>
        <a:cs typeface=""/>
      </a:majorFont>
      <a:minorFont>
        <a:latin typeface="Arial"/>
        <a:ea typeface="맑은 고딕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[CLEAN]_CryptoCraft Lab PPT 양식" id="{E712E38C-1C04-504C-B5D5-8F368DAED54C}" vid="{E15818DC-538F-214A-8100-A2D2BA8DAB29}"/>
    </a:ext>
  </a:extLst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CryptoCraft 테마</Template>
  <TotalTime>563</TotalTime>
  <Words>672</Words>
  <Application>Microsoft Macintosh PowerPoint</Application>
  <PresentationFormat>와이드스크린</PresentationFormat>
  <Paragraphs>144</Paragraphs>
  <Slides>13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2</vt:i4>
      </vt:variant>
      <vt:variant>
        <vt:lpstr>슬라이드 제목</vt:lpstr>
      </vt:variant>
      <vt:variant>
        <vt:i4>13</vt:i4>
      </vt:variant>
    </vt:vector>
  </HeadingPairs>
  <TitlesOfParts>
    <vt:vector size="19" baseType="lpstr">
      <vt:lpstr>맑은 고딕</vt:lpstr>
      <vt:lpstr>Arial</vt:lpstr>
      <vt:lpstr>Cambria Math</vt:lpstr>
      <vt:lpstr>Wingdings</vt:lpstr>
      <vt:lpstr>CryptoCraft 테마</vt:lpstr>
      <vt:lpstr>제목 테마</vt:lpstr>
      <vt:lpstr>Zero-Downtime Post-Quantum TLS 1.3 Migration: A Bridge-Server-Based Approach</vt:lpstr>
      <vt:lpstr>Zero-Downtime Post-Quantum TLS 1.3 Migration</vt:lpstr>
      <vt:lpstr>시스템 구성 요소</vt:lpstr>
      <vt:lpstr>정책 갱신 메커니즘</vt:lpstr>
      <vt:lpstr>정책 계층</vt:lpstr>
      <vt:lpstr>점진적 PQC 마이그레이션</vt:lpstr>
      <vt:lpstr>점진적 PQC 마이그레이션</vt:lpstr>
      <vt:lpstr>점진적 PQC 마이그레이션</vt:lpstr>
      <vt:lpstr>점진적 PQC 마이그레이션</vt:lpstr>
      <vt:lpstr>점진적 PQC 마이그레이션</vt:lpstr>
      <vt:lpstr>점진적 PQC 마이그레이션</vt:lpstr>
      <vt:lpstr>Zero-Downtime 마이그레이션 평가</vt:lpstr>
      <vt:lpstr>PowerPoint 프레젠테이션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심민주</dc:creator>
  <cp:keywords/>
  <dc:description/>
  <cp:lastModifiedBy>심민주</cp:lastModifiedBy>
  <cp:revision>2</cp:revision>
  <dcterms:created xsi:type="dcterms:W3CDTF">2025-10-21T04:44:28Z</dcterms:created>
  <dcterms:modified xsi:type="dcterms:W3CDTF">2025-12-14T15:03:02Z</dcterms:modified>
  <cp:category/>
</cp:coreProperties>
</file>