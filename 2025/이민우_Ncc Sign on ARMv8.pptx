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4" r:id="rId2"/>
  </p:sldMasterIdLst>
  <p:notesMasterIdLst>
    <p:notesMasterId r:id="rId13"/>
  </p:notesMasterIdLst>
  <p:handoutMasterIdLst>
    <p:handoutMasterId r:id="rId14"/>
  </p:handoutMasterIdLst>
  <p:sldIdLst>
    <p:sldId id="269" r:id="rId3"/>
    <p:sldId id="280" r:id="rId4"/>
    <p:sldId id="293" r:id="rId5"/>
    <p:sldId id="308" r:id="rId6"/>
    <p:sldId id="307" r:id="rId7"/>
    <p:sldId id="302" r:id="rId8"/>
    <p:sldId id="303" r:id="rId9"/>
    <p:sldId id="304" r:id="rId10"/>
    <p:sldId id="305" r:id="rId11"/>
    <p:sldId id="30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5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63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576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3730" y="9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546E7E-6CE1-4F62-BC39-1BE7148D0D0D}" type="datetimeFigureOut">
              <a:rPr lang="ko-KR" altLang="en-US" smtClean="0"/>
              <a:t>2025. 12. 8.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F56489-CFDC-4DF4-92D1-C366C0FB17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98405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A1C54-2D0D-48EB-888A-9786B070F533}" type="datetimeFigureOut">
              <a:rPr lang="ko-KR" altLang="en-US" smtClean="0"/>
              <a:t>2025. 12. 8.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02C913-610E-4BF0-B55F-9CE65BBA65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2976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1920" y="207747"/>
            <a:ext cx="11368160" cy="7621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0" name="모서리가 둥근 직사각형 19"/>
          <p:cNvSpPr/>
          <p:nvPr userDrawn="1"/>
        </p:nvSpPr>
        <p:spPr>
          <a:xfrm>
            <a:off x="411920" y="207747"/>
            <a:ext cx="11368160" cy="762163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60387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819850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1223120"/>
            <a:ext cx="12192000" cy="2387600"/>
          </a:xfrm>
        </p:spPr>
        <p:txBody>
          <a:bodyPr anchor="ctr"/>
          <a:lstStyle>
            <a:lvl1pPr algn="ctr">
              <a:defRPr sz="6000" b="0">
                <a:latin typeface="+mj-ea"/>
                <a:ea typeface="+mj-ea"/>
                <a:cs typeface="함초롬돋움" panose="020B0604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-2" y="3794871"/>
            <a:ext cx="12192001" cy="1655762"/>
          </a:xfrm>
        </p:spPr>
        <p:txBody>
          <a:bodyPr anchor="ctr"/>
          <a:lstStyle>
            <a:lvl1pPr marL="0" indent="0" algn="ctr">
              <a:buNone/>
              <a:defRPr sz="2400">
                <a:latin typeface="+mn-ea"/>
                <a:ea typeface="+mn-ea"/>
                <a:cs typeface="함초롬돋움" panose="020B060400010101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30" t="65598" b="9375"/>
          <a:stretch/>
        </p:blipFill>
        <p:spPr>
          <a:xfrm>
            <a:off x="0" y="6646331"/>
            <a:ext cx="1809148" cy="160867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460" b="12513"/>
          <a:stretch/>
        </p:blipFill>
        <p:spPr>
          <a:xfrm>
            <a:off x="10880202" y="6675969"/>
            <a:ext cx="1311798" cy="16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263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>
            <a:cxnSpLocks/>
          </p:cNvCxnSpPr>
          <p:nvPr userDrawn="1"/>
        </p:nvCxnSpPr>
        <p:spPr>
          <a:xfrm>
            <a:off x="4863597" y="2676048"/>
            <a:ext cx="199407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1055592" y="2158084"/>
            <a:ext cx="10071852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0" name="텍스트 개체 틀 4"/>
          <p:cNvSpPr>
            <a:spLocks noGrp="1"/>
          </p:cNvSpPr>
          <p:nvPr>
            <p:ph type="body" sz="quarter" idx="25" hasCustomPrompt="1"/>
          </p:nvPr>
        </p:nvSpPr>
        <p:spPr>
          <a:xfrm>
            <a:off x="1055592" y="3073925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6" name="텍스트 개체 틀 4"/>
          <p:cNvSpPr>
            <a:spLocks noGrp="1"/>
          </p:cNvSpPr>
          <p:nvPr>
            <p:ph type="body" sz="quarter" idx="27" hasCustomPrompt="1"/>
          </p:nvPr>
        </p:nvSpPr>
        <p:spPr>
          <a:xfrm>
            <a:off x="1055592" y="3993106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11" name="모서리가 둥근 직사각형 19">
            <a:extLst>
              <a:ext uri="{FF2B5EF4-FFF2-40B4-BE49-F238E27FC236}">
                <a16:creationId xmlns:a16="http://schemas.microsoft.com/office/drawing/2014/main" id="{9A1001AF-7C71-4701-94B0-3772F84D3418}"/>
              </a:ext>
            </a:extLst>
          </p:cNvPr>
          <p:cNvSpPr/>
          <p:nvPr userDrawn="1"/>
        </p:nvSpPr>
        <p:spPr>
          <a:xfrm>
            <a:off x="1064556" y="2158085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모서리가 둥근 직사각형 19">
            <a:extLst>
              <a:ext uri="{FF2B5EF4-FFF2-40B4-BE49-F238E27FC236}">
                <a16:creationId xmlns:a16="http://schemas.microsoft.com/office/drawing/2014/main" id="{D9E18A4C-9D39-4312-9D41-EA0FA0703DAD}"/>
              </a:ext>
            </a:extLst>
          </p:cNvPr>
          <p:cNvSpPr/>
          <p:nvPr userDrawn="1"/>
        </p:nvSpPr>
        <p:spPr>
          <a:xfrm>
            <a:off x="1064556" y="3070687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9">
            <a:extLst>
              <a:ext uri="{FF2B5EF4-FFF2-40B4-BE49-F238E27FC236}">
                <a16:creationId xmlns:a16="http://schemas.microsoft.com/office/drawing/2014/main" id="{DD43020D-DDFD-4ED7-A112-51545002358E}"/>
              </a:ext>
            </a:extLst>
          </p:cNvPr>
          <p:cNvSpPr/>
          <p:nvPr userDrawn="1"/>
        </p:nvSpPr>
        <p:spPr>
          <a:xfrm>
            <a:off x="1064556" y="3999684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147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종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2767280"/>
            <a:ext cx="1219199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8000" dirty="0">
                <a:latin typeface="+mj-lt"/>
              </a:rPr>
              <a:t>Q &amp; A</a:t>
            </a:r>
            <a:endParaRPr lang="ko-KR" altLang="en-US" sz="8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294381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1920" y="207747"/>
            <a:ext cx="11368160" cy="7621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0" name="모서리가 둥근 직사각형 19"/>
          <p:cNvSpPr/>
          <p:nvPr userDrawn="1"/>
        </p:nvSpPr>
        <p:spPr>
          <a:xfrm>
            <a:off x="411920" y="207747"/>
            <a:ext cx="11368160" cy="762163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60387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422504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9867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" name="직사각형 9"/>
          <p:cNvSpPr/>
          <p:nvPr userDrawn="1"/>
        </p:nvSpPr>
        <p:spPr>
          <a:xfrm>
            <a:off x="8623390" y="6412231"/>
            <a:ext cx="35686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fld id="{86B743E8-9D27-4F69-87ED-4623B89CBF9F}" type="slidenum">
              <a:rPr lang="ko-KR" altLang="en-US" sz="2000" smtClean="0">
                <a:solidFill>
                  <a:schemeClr val="tx1"/>
                </a:solidFill>
                <a:latin typeface="+mn-lt"/>
              </a:rPr>
              <a:t>‹#›</a:t>
            </a:fld>
            <a:endParaRPr lang="ko-KR" altLang="en-US" sz="20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06993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8DAAC8-442A-4C15-9819-F07FF5E7315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6665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9" r:id="rId3"/>
    <p:sldLayoutId id="2147483670" r:id="rId4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Lxy0Tow-upY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5400" dirty="0" err="1"/>
              <a:t>Ncc</a:t>
            </a:r>
            <a:r>
              <a:rPr lang="en-US" altLang="ko-KR" sz="5400" dirty="0"/>
              <a:t> Sign on ARMv8</a:t>
            </a:r>
            <a:endParaRPr lang="ko-KR" altLang="en-US" sz="54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유튜브 주소 </a:t>
            </a:r>
            <a:r>
              <a:rPr lang="en-US" altLang="ko-KR" dirty="0"/>
              <a:t>: </a:t>
            </a:r>
            <a:r>
              <a:rPr lang="en-US" altLang="ko-KR" dirty="0">
                <a:hlinkClick r:id="rId2"/>
              </a:rPr>
              <a:t>https://</a:t>
            </a:r>
            <a:r>
              <a:rPr lang="en-US" altLang="ko-KR" dirty="0" err="1">
                <a:hlinkClick r:id="rId2"/>
              </a:rPr>
              <a:t>youtu.be</a:t>
            </a:r>
            <a:r>
              <a:rPr lang="en-US" altLang="ko-KR" dirty="0">
                <a:hlinkClick r:id="rId2"/>
              </a:rPr>
              <a:t>/Lxy0Tow-upY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06322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NCC Sign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err="1"/>
              <a:t>KpqC</a:t>
            </a:r>
            <a:r>
              <a:rPr lang="ko-KR" altLang="en-US" sz="2400" dirty="0"/>
              <a:t>공모전에 제출된 전자서명 알고리즘</a:t>
            </a:r>
            <a:endParaRPr lang="en-US" altLang="ko-KR" sz="2400" dirty="0"/>
          </a:p>
          <a:p>
            <a:pPr lvl="1"/>
            <a:r>
              <a:rPr lang="en-US" altLang="ko-KR" sz="2000" dirty="0"/>
              <a:t>Round1</a:t>
            </a:r>
            <a:r>
              <a:rPr lang="ko-KR" altLang="en-US" sz="2000" dirty="0"/>
              <a:t>을 통과하여 </a:t>
            </a:r>
            <a:r>
              <a:rPr lang="en-US" altLang="ko-KR" sz="2000" dirty="0"/>
              <a:t>Round 2</a:t>
            </a:r>
            <a:r>
              <a:rPr lang="ko-KR" altLang="en-US" sz="2000" dirty="0"/>
              <a:t>에 진출</a:t>
            </a:r>
            <a:r>
              <a:rPr lang="en-US" altLang="ko-KR" sz="2000" dirty="0"/>
              <a:t>, </a:t>
            </a:r>
            <a:r>
              <a:rPr lang="ko-KR" altLang="en-US" sz="2000" dirty="0"/>
              <a:t>최종 선정 </a:t>
            </a:r>
            <a:r>
              <a:rPr lang="en-US" altLang="ko-KR" sz="2000" dirty="0"/>
              <a:t>X</a:t>
            </a:r>
            <a:endParaRPr lang="en-US" altLang="ko-KR" sz="2400" dirty="0"/>
          </a:p>
          <a:p>
            <a:r>
              <a:rPr lang="ko-KR" altLang="en-US" sz="2400" b="1" dirty="0">
                <a:solidFill>
                  <a:srgbClr val="FF0000"/>
                </a:solidFill>
              </a:rPr>
              <a:t>격자 기반으로 개발</a:t>
            </a:r>
            <a:endParaRPr lang="en-US" altLang="ko-KR" sz="2400" b="1" dirty="0">
              <a:solidFill>
                <a:srgbClr val="FF0000"/>
              </a:solidFill>
            </a:endParaRPr>
          </a:p>
          <a:p>
            <a:pPr lvl="1"/>
            <a:r>
              <a:rPr lang="en-US" altLang="ko-KR" sz="2000" dirty="0"/>
              <a:t>RLWE (Ring Learning With Errors)</a:t>
            </a:r>
          </a:p>
          <a:p>
            <a:pPr lvl="2"/>
            <a:r>
              <a:rPr lang="ko-KR" altLang="en-US" sz="1800" dirty="0"/>
              <a:t>고차원의 격자 문제</a:t>
            </a:r>
            <a:r>
              <a:rPr lang="en-US" altLang="ko-KR" sz="1800" dirty="0"/>
              <a:t>(LWE)</a:t>
            </a:r>
            <a:r>
              <a:rPr lang="ko-KR" altLang="en-US" sz="1800" dirty="0" err="1"/>
              <a:t>를</a:t>
            </a:r>
            <a:r>
              <a:rPr lang="ko-KR" altLang="en-US" sz="1800" dirty="0"/>
              <a:t> 다항식 구조로 확장한 형태</a:t>
            </a:r>
            <a:endParaRPr lang="en-US" altLang="ko-KR" sz="1800" dirty="0"/>
          </a:p>
          <a:p>
            <a:pPr lvl="2"/>
            <a:r>
              <a:rPr lang="ko-KR" altLang="en-US" sz="1800" dirty="0" err="1"/>
              <a:t>비순환</a:t>
            </a:r>
            <a:r>
              <a:rPr lang="ko-KR" altLang="en-US" sz="1800" dirty="0"/>
              <a:t> 다항식</a:t>
            </a:r>
            <a:r>
              <a:rPr lang="en-US" altLang="ko-KR" sz="1800" dirty="0"/>
              <a:t>(Non-Cyclotomic Polynomial)</a:t>
            </a:r>
            <a:r>
              <a:rPr lang="ko-KR" altLang="en-US" sz="1800" dirty="0"/>
              <a:t>을 사용하여 </a:t>
            </a:r>
            <a:r>
              <a:rPr lang="en-US" altLang="ko-KR" sz="1800" dirty="0"/>
              <a:t>RLWE </a:t>
            </a:r>
            <a:r>
              <a:rPr lang="ko-KR" altLang="en-US" sz="1800" dirty="0"/>
              <a:t>문제를 설정</a:t>
            </a:r>
            <a:endParaRPr lang="en-US" altLang="ko-KR" sz="1800" dirty="0"/>
          </a:p>
          <a:p>
            <a:pPr lvl="2"/>
            <a:r>
              <a:rPr lang="ko-KR" altLang="en-US" sz="1800" dirty="0"/>
              <a:t>기존 순환 다항식 구조의 대수적 약점을 제거</a:t>
            </a:r>
            <a:endParaRPr lang="en-US" altLang="ko-KR" sz="1800" dirty="0"/>
          </a:p>
          <a:p>
            <a:pPr lvl="1"/>
            <a:r>
              <a:rPr lang="en-US" altLang="ko-KR" sz="2000" dirty="0"/>
              <a:t>RSIS (Ring Short Integer Solution)</a:t>
            </a:r>
          </a:p>
          <a:p>
            <a:pPr lvl="2"/>
            <a:r>
              <a:rPr lang="ko-KR" altLang="en-US" sz="1800" dirty="0"/>
              <a:t>기존의 </a:t>
            </a:r>
            <a:r>
              <a:rPr lang="en-US" altLang="ko-KR" sz="1800" dirty="0"/>
              <a:t>Short Integer Solution (SIS) </a:t>
            </a:r>
            <a:r>
              <a:rPr lang="ko-KR" altLang="en-US" sz="1800" dirty="0"/>
              <a:t>문제를 다항식 링 구조로 확장한 형태</a:t>
            </a:r>
            <a:endParaRPr lang="en-US" altLang="ko-KR" sz="1800" dirty="0"/>
          </a:p>
          <a:p>
            <a:pPr lvl="2"/>
            <a:r>
              <a:rPr lang="ko-KR" altLang="en-US" sz="1800" dirty="0"/>
              <a:t>서명 생성 시 </a:t>
            </a:r>
            <a:r>
              <a:rPr lang="en-US" altLang="ko-KR" sz="1800" dirty="0"/>
              <a:t>RSIS </a:t>
            </a:r>
            <a:r>
              <a:rPr lang="ko-KR" altLang="en-US" sz="1800" dirty="0"/>
              <a:t>난제 활용</a:t>
            </a:r>
            <a:endParaRPr lang="en-US" altLang="ko-KR" sz="1800" dirty="0"/>
          </a:p>
          <a:p>
            <a:pPr lvl="1"/>
            <a:r>
              <a:rPr lang="en-US" altLang="ko-KR" sz="2000" dirty="0" err="1"/>
              <a:t>SelfTargetRSIS</a:t>
            </a:r>
            <a:endParaRPr lang="en-US" altLang="ko-KR" sz="2000" dirty="0"/>
          </a:p>
          <a:p>
            <a:pPr lvl="2"/>
            <a:r>
              <a:rPr lang="en-US" altLang="ko-KR" sz="1800" dirty="0"/>
              <a:t>RLWE</a:t>
            </a:r>
            <a:r>
              <a:rPr lang="ko-KR" altLang="en-US" sz="1800" dirty="0"/>
              <a:t>와 </a:t>
            </a:r>
            <a:r>
              <a:rPr lang="en-US" altLang="ko-KR" sz="1800" dirty="0"/>
              <a:t>RSIS</a:t>
            </a:r>
            <a:r>
              <a:rPr lang="ko-KR" altLang="en-US" sz="1800" dirty="0" err="1"/>
              <a:t>를</a:t>
            </a:r>
            <a:r>
              <a:rPr lang="ko-KR" altLang="en-US" sz="1800" dirty="0"/>
              <a:t> 조합한 형태로</a:t>
            </a:r>
            <a:r>
              <a:rPr lang="en-US" altLang="ko-KR" sz="1800" dirty="0"/>
              <a:t>, </a:t>
            </a:r>
            <a:r>
              <a:rPr lang="ko-KR" altLang="en-US" sz="1800" dirty="0"/>
              <a:t>서명 검증 시 활용</a:t>
            </a:r>
            <a:endParaRPr lang="en-US" altLang="ko-KR" sz="2600" dirty="0"/>
          </a:p>
          <a:p>
            <a:r>
              <a:rPr lang="ko-KR" altLang="en-US" sz="2400" dirty="0"/>
              <a:t>다항식</a:t>
            </a:r>
            <a:r>
              <a:rPr lang="en-US" altLang="ko-KR" sz="2400" dirty="0"/>
              <a:t> </a:t>
            </a:r>
            <a:r>
              <a:rPr lang="ko-KR" altLang="en-US" sz="2400" dirty="0"/>
              <a:t>및</a:t>
            </a:r>
            <a:r>
              <a:rPr lang="en-US" altLang="ko-KR" sz="2400" dirty="0"/>
              <a:t> </a:t>
            </a:r>
            <a:r>
              <a:rPr lang="en" altLang="ko-Kore-KR" sz="2400" dirty="0"/>
              <a:t>NTT(</a:t>
            </a:r>
            <a:r>
              <a:rPr lang="ko-KR" altLang="en-US" sz="2400" dirty="0"/>
              <a:t>수 이론 변환</a:t>
            </a:r>
            <a:r>
              <a:rPr lang="en-US" altLang="ko-KR" sz="2400" dirty="0"/>
              <a:t>)</a:t>
            </a:r>
            <a:r>
              <a:rPr lang="ko-KR" altLang="en-US" sz="2400" dirty="0"/>
              <a:t>를 활용하여 설계</a:t>
            </a:r>
            <a:endParaRPr lang="en-US" altLang="ko-KR" sz="2400" dirty="0"/>
          </a:p>
          <a:p>
            <a:r>
              <a:rPr lang="en-US" altLang="ko-KR" sz="2400" b="1" dirty="0">
                <a:solidFill>
                  <a:srgbClr val="FF0000"/>
                </a:solidFill>
              </a:rPr>
              <a:t>NTT</a:t>
            </a:r>
            <a:r>
              <a:rPr lang="ko-KR" altLang="en-US" sz="2400" b="1" dirty="0">
                <a:solidFill>
                  <a:srgbClr val="FF0000"/>
                </a:solidFill>
              </a:rPr>
              <a:t>가 주요 연산</a:t>
            </a:r>
            <a:endParaRPr lang="en-US" altLang="ko-KR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76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0D905-E450-1E61-D661-C4CC78006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1959A8-2E2C-5E7A-840E-6948AB90F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Montgomery reduction </a:t>
            </a:r>
            <a:r>
              <a:rPr kumimoji="1" lang="ko-KR" altLang="en-US" dirty="0"/>
              <a:t>최적 구현 코드</a:t>
            </a:r>
            <a:endParaRPr kumimoji="1" lang="ko-Kore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F3F608-8BED-F101-842F-4FDF06991D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1152526"/>
            <a:ext cx="11369675" cy="5497728"/>
          </a:xfrm>
        </p:spPr>
        <p:txBody>
          <a:bodyPr>
            <a:normAutofit/>
          </a:bodyPr>
          <a:lstStyle/>
          <a:p>
            <a:r>
              <a:rPr kumimoji="1" lang="en-US" altLang="en-US" dirty="0"/>
              <a:t>4</a:t>
            </a:r>
            <a:r>
              <a:rPr kumimoji="1" lang="ko-KR" altLang="en-US" dirty="0" err="1"/>
              <a:t>계수씩</a:t>
            </a:r>
            <a:r>
              <a:rPr kumimoji="1" lang="ko-KR" altLang="en-US" dirty="0"/>
              <a:t> 벡터 레지스터에 </a:t>
            </a:r>
            <a:r>
              <a:rPr kumimoji="1" lang="ko-KR" altLang="en-US" dirty="0" err="1"/>
              <a:t>로드하여</a:t>
            </a:r>
            <a:r>
              <a:rPr kumimoji="1" lang="ko-KR" altLang="en-US" dirty="0"/>
              <a:t> 병렬 연산</a:t>
            </a:r>
            <a:endParaRPr kumimoji="1" lang="en-US" altLang="ko-KR" dirty="0"/>
          </a:p>
          <a:p>
            <a:r>
              <a:rPr kumimoji="1" lang="ko-KR" altLang="en-US" dirty="0"/>
              <a:t>핵심 명령어</a:t>
            </a:r>
            <a:endParaRPr kumimoji="1" lang="en-US" altLang="ko-KR" dirty="0"/>
          </a:p>
          <a:p>
            <a:pPr lvl="1"/>
            <a:r>
              <a:rPr kumimoji="1" lang="en-US" altLang="en-US" dirty="0" err="1"/>
              <a:t>Sqdmulh</a:t>
            </a:r>
            <a:r>
              <a:rPr kumimoji="1" lang="en-US" altLang="ko-KR" dirty="0"/>
              <a:t>(vqdmulhq_s32)</a:t>
            </a:r>
            <a:r>
              <a:rPr kumimoji="1" lang="en-US" altLang="en-US" dirty="0"/>
              <a:t>: </a:t>
            </a:r>
            <a:r>
              <a:rPr kumimoji="1" lang="ko-KR" altLang="en-US" dirty="0"/>
              <a:t>상위 </a:t>
            </a:r>
            <a:r>
              <a:rPr kumimoji="1" lang="en-US" altLang="ko-KR" dirty="0"/>
              <a:t>32</a:t>
            </a:r>
            <a:r>
              <a:rPr kumimoji="1" lang="ko-KR" altLang="en-US" dirty="0"/>
              <a:t>비트 곱셈</a:t>
            </a:r>
            <a:endParaRPr kumimoji="1" lang="en-US" altLang="en-US" dirty="0"/>
          </a:p>
          <a:p>
            <a:pPr lvl="1"/>
            <a:r>
              <a:rPr kumimoji="1" lang="en-US" altLang="en-US" dirty="0"/>
              <a:t>Mul</a:t>
            </a:r>
            <a:r>
              <a:rPr kumimoji="1" lang="en-US" altLang="ko-KR" dirty="0"/>
              <a:t>(vmulq_s32)</a:t>
            </a:r>
            <a:r>
              <a:rPr kumimoji="1" lang="en-US" altLang="en-US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32</a:t>
            </a:r>
            <a:r>
              <a:rPr kumimoji="1" lang="ko-KR" altLang="en-US" dirty="0"/>
              <a:t>비트 정수 곱셈</a:t>
            </a:r>
            <a:r>
              <a:rPr kumimoji="1" lang="en-US" altLang="ko-KR" dirty="0"/>
              <a:t>, </a:t>
            </a:r>
            <a:r>
              <a:rPr kumimoji="1" lang="ko-KR" altLang="en-US" dirty="0"/>
              <a:t>하위 </a:t>
            </a:r>
            <a:r>
              <a:rPr kumimoji="1" lang="en-US" altLang="ko-KR" dirty="0"/>
              <a:t>32</a:t>
            </a:r>
            <a:r>
              <a:rPr kumimoji="1" lang="ko-KR" altLang="en-US" dirty="0"/>
              <a:t>비트 저장</a:t>
            </a:r>
            <a:endParaRPr kumimoji="1" lang="en-US" altLang="ko-KR" dirty="0"/>
          </a:p>
          <a:p>
            <a:pPr lvl="2"/>
            <a:r>
              <a:rPr kumimoji="1" lang="ko-KR" altLang="en-US" dirty="0" err="1"/>
              <a:t>모듈러</a:t>
            </a:r>
            <a:r>
              <a:rPr kumimoji="1" lang="ko-KR" altLang="en-US" dirty="0"/>
              <a:t> 연산을 </a:t>
            </a:r>
            <a:r>
              <a:rPr kumimoji="1" lang="ko-KR" altLang="en-US" dirty="0" err="1"/>
              <a:t>해야하므로</a:t>
            </a:r>
            <a:r>
              <a:rPr kumimoji="1" lang="ko-KR" altLang="en-US" dirty="0"/>
              <a:t> 상위 비트 필요 </a:t>
            </a:r>
            <a:r>
              <a:rPr kumimoji="1" lang="en-US" altLang="ko-KR" dirty="0"/>
              <a:t>X</a:t>
            </a:r>
          </a:p>
          <a:p>
            <a:pPr lvl="1"/>
            <a:r>
              <a:rPr kumimoji="1" lang="en-US" altLang="en-US" dirty="0" err="1"/>
              <a:t>Shsub</a:t>
            </a:r>
            <a:r>
              <a:rPr kumimoji="1" lang="en-US" altLang="ko-KR" dirty="0"/>
              <a:t>(vqdmulhq_s32)</a:t>
            </a:r>
            <a:r>
              <a:rPr kumimoji="1" lang="en-US" altLang="en-US" dirty="0"/>
              <a:t>: </a:t>
            </a:r>
            <a:r>
              <a:rPr kumimoji="1" lang="ko-KR" altLang="en-US" dirty="0"/>
              <a:t>비트 간 뺄셈 후 </a:t>
            </a:r>
            <a:r>
              <a:rPr kumimoji="1" lang="en-US" altLang="ko-KR" dirty="0"/>
              <a:t>½</a:t>
            </a:r>
            <a:endParaRPr kumimoji="1" lang="en-US" altLang="en-US" dirty="0"/>
          </a:p>
          <a:p>
            <a:r>
              <a:rPr kumimoji="1" lang="en-US" altLang="en-US" dirty="0"/>
              <a:t>C</a:t>
            </a:r>
            <a:r>
              <a:rPr kumimoji="1" lang="ko-KR" altLang="en-US" dirty="0"/>
              <a:t>에서 루프 </a:t>
            </a:r>
            <a:r>
              <a:rPr kumimoji="1" lang="en-US" altLang="ko-KR" dirty="0"/>
              <a:t>4</a:t>
            </a:r>
            <a:r>
              <a:rPr kumimoji="1" lang="ko-KR" altLang="en-US" dirty="0"/>
              <a:t>번 반복해야 할 연산을 한 번에 처리</a:t>
            </a:r>
            <a:endParaRPr kumimoji="1" lang="en-US" altLang="ko-KR" dirty="0"/>
          </a:p>
          <a:p>
            <a:r>
              <a:rPr kumimoji="1" lang="en-US" altLang="ko-KR" dirty="0" err="1"/>
              <a:t>Asm</a:t>
            </a:r>
            <a:r>
              <a:rPr kumimoji="1" lang="en-US" altLang="ko-KR" dirty="0"/>
              <a:t> -&gt; intrinsic</a:t>
            </a:r>
            <a:r>
              <a:rPr kumimoji="1" lang="ko-KR" altLang="en-US" dirty="0"/>
              <a:t>으로 구현</a:t>
            </a:r>
            <a:endParaRPr kumimoji="1" lang="en-US" altLang="ko-KR" dirty="0"/>
          </a:p>
          <a:p>
            <a:pPr lvl="1"/>
            <a:r>
              <a:rPr kumimoji="1" lang="ko-KR" altLang="en-US" b="1" dirty="0">
                <a:solidFill>
                  <a:srgbClr val="2E75B6"/>
                </a:solidFill>
              </a:rPr>
              <a:t>레퍼런스 </a:t>
            </a:r>
            <a:r>
              <a:rPr kumimoji="1" lang="en-US" altLang="ko-KR" b="1" dirty="0">
                <a:solidFill>
                  <a:srgbClr val="2E75B6"/>
                </a:solidFill>
              </a:rPr>
              <a:t>C </a:t>
            </a:r>
            <a:r>
              <a:rPr kumimoji="1" lang="ko-KR" altLang="en-US" b="1" dirty="0">
                <a:solidFill>
                  <a:srgbClr val="2E75B6"/>
                </a:solidFill>
              </a:rPr>
              <a:t>구현 대비 </a:t>
            </a:r>
            <a:r>
              <a:rPr kumimoji="1" lang="en-US" altLang="ko-KR" b="1" dirty="0">
                <a:solidFill>
                  <a:srgbClr val="2E75B6"/>
                </a:solidFill>
              </a:rPr>
              <a:t>6.8</a:t>
            </a:r>
            <a:r>
              <a:rPr kumimoji="1" lang="ko-KR" altLang="en-US" b="1" dirty="0">
                <a:solidFill>
                  <a:srgbClr val="2E75B6"/>
                </a:solidFill>
              </a:rPr>
              <a:t>배 정도 향상</a:t>
            </a:r>
            <a:endParaRPr kumimoji="1" lang="en-US" altLang="ko-KR" b="1" dirty="0">
              <a:solidFill>
                <a:srgbClr val="2E75B6"/>
              </a:solidFill>
            </a:endParaRPr>
          </a:p>
          <a:p>
            <a:pPr lvl="1"/>
            <a:r>
              <a:rPr kumimoji="1" lang="en-US" altLang="ko-KR" b="1" dirty="0" err="1">
                <a:solidFill>
                  <a:srgbClr val="2E75B6"/>
                </a:solidFill>
              </a:rPr>
              <a:t>Asm</a:t>
            </a:r>
            <a:r>
              <a:rPr kumimoji="1" lang="en-US" altLang="ko-KR" b="1" dirty="0">
                <a:solidFill>
                  <a:srgbClr val="2E75B6"/>
                </a:solidFill>
              </a:rPr>
              <a:t> </a:t>
            </a:r>
            <a:r>
              <a:rPr kumimoji="1" lang="ko-KR" altLang="en-US" b="1" dirty="0">
                <a:solidFill>
                  <a:srgbClr val="2E75B6"/>
                </a:solidFill>
              </a:rPr>
              <a:t>구현 대비 </a:t>
            </a:r>
            <a:r>
              <a:rPr kumimoji="1" lang="en-US" altLang="ko-KR" b="1" dirty="0">
                <a:solidFill>
                  <a:srgbClr val="2E75B6"/>
                </a:solidFill>
              </a:rPr>
              <a:t>2.3</a:t>
            </a:r>
            <a:r>
              <a:rPr kumimoji="1" lang="ko-KR" altLang="en-US" b="1" dirty="0">
                <a:solidFill>
                  <a:srgbClr val="2E75B6"/>
                </a:solidFill>
              </a:rPr>
              <a:t>배 정도 향상</a:t>
            </a:r>
            <a:endParaRPr kumimoji="1" lang="en-US" altLang="en-US" b="1" dirty="0">
              <a:solidFill>
                <a:srgbClr val="2E75B6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A6694E9-E583-498C-8DED-5A65986E06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9242"/>
          <a:stretch>
            <a:fillRect/>
          </a:stretch>
        </p:blipFill>
        <p:spPr>
          <a:xfrm>
            <a:off x="8983223" y="1967682"/>
            <a:ext cx="2892826" cy="219976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E9312F5-1A9F-B15A-BB99-4525D3420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5026" y="4876513"/>
            <a:ext cx="5452630" cy="1918189"/>
          </a:xfrm>
          <a:prstGeom prst="rect">
            <a:avLst/>
          </a:prstGeom>
        </p:spPr>
      </p:pic>
      <p:sp>
        <p:nvSpPr>
          <p:cNvPr id="7" name="오른쪽 화살표[R] 6">
            <a:extLst>
              <a:ext uri="{FF2B5EF4-FFF2-40B4-BE49-F238E27FC236}">
                <a16:creationId xmlns:a16="http://schemas.microsoft.com/office/drawing/2014/main" id="{34FBE85C-13F1-6405-0884-22C18E244827}"/>
              </a:ext>
            </a:extLst>
          </p:cNvPr>
          <p:cNvSpPr/>
          <p:nvPr/>
        </p:nvSpPr>
        <p:spPr>
          <a:xfrm rot="5400000">
            <a:off x="9767816" y="4267517"/>
            <a:ext cx="526453" cy="5089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D5721BF-C908-4F32-850A-78116C3751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3223" y="119221"/>
            <a:ext cx="2325844" cy="1162922"/>
          </a:xfrm>
          <a:prstGeom prst="rect">
            <a:avLst/>
          </a:prstGeom>
        </p:spPr>
      </p:pic>
      <p:sp>
        <p:nvSpPr>
          <p:cNvPr id="9" name="오른쪽 화살표[R] 6">
            <a:extLst>
              <a:ext uri="{FF2B5EF4-FFF2-40B4-BE49-F238E27FC236}">
                <a16:creationId xmlns:a16="http://schemas.microsoft.com/office/drawing/2014/main" id="{B896E02E-B605-D4CD-21D4-B1D1ED656BBB}"/>
              </a:ext>
            </a:extLst>
          </p:cNvPr>
          <p:cNvSpPr/>
          <p:nvPr/>
        </p:nvSpPr>
        <p:spPr>
          <a:xfrm rot="5400000">
            <a:off x="9911948" y="1358687"/>
            <a:ext cx="526453" cy="5089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0" name="오른쪽 화살표[R] 6">
            <a:extLst>
              <a:ext uri="{FF2B5EF4-FFF2-40B4-BE49-F238E27FC236}">
                <a16:creationId xmlns:a16="http://schemas.microsoft.com/office/drawing/2014/main" id="{A6AE58FB-8142-B347-736B-7CE22A68998A}"/>
              </a:ext>
            </a:extLst>
          </p:cNvPr>
          <p:cNvSpPr/>
          <p:nvPr/>
        </p:nvSpPr>
        <p:spPr>
          <a:xfrm rot="10800000">
            <a:off x="5919307" y="5867209"/>
            <a:ext cx="487502" cy="5089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12" name="그림 11" descr="텍스트, 폰트, 스크린샷이(가) 표시된 사진&#10;&#10;자동 생성된 설명">
            <a:extLst>
              <a:ext uri="{FF2B5EF4-FFF2-40B4-BE49-F238E27FC236}">
                <a16:creationId xmlns:a16="http://schemas.microsoft.com/office/drawing/2014/main" id="{4ED83B19-86C7-7BEA-2192-5A49A64006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1344" y="5441576"/>
            <a:ext cx="3937000" cy="142240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464D0376-FFBC-EB78-09B1-F06F480E2960}"/>
              </a:ext>
            </a:extLst>
          </p:cNvPr>
          <p:cNvSpPr/>
          <p:nvPr/>
        </p:nvSpPr>
        <p:spPr>
          <a:xfrm>
            <a:off x="1746919" y="6454603"/>
            <a:ext cx="2813241" cy="19969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556945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A30D3-3F0C-345E-B4BA-F11EFE45E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B3BCDF-B44C-F5AA-F018-964BDB10F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NCC-Sign</a:t>
            </a:r>
            <a:r>
              <a:rPr kumimoji="1" lang="en-US" altLang="ko-KR" dirty="0"/>
              <a:t>3</a:t>
            </a:r>
            <a:r>
              <a:rPr kumimoji="1" lang="en-US" altLang="ko-Kore-KR" dirty="0"/>
              <a:t> NTT </a:t>
            </a:r>
            <a:r>
              <a:rPr kumimoji="1" lang="ko-Kore-KR" altLang="en-US" dirty="0"/>
              <a:t>구현</a:t>
            </a:r>
            <a:r>
              <a:rPr kumimoji="1" lang="en-US" altLang="ko-Kore-KR" dirty="0"/>
              <a:t>(neon intrinsic)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6E8DD2-8A49-B14F-6311-72CAA76D80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1152524"/>
            <a:ext cx="11369675" cy="5705475"/>
          </a:xfrm>
        </p:spPr>
        <p:txBody>
          <a:bodyPr>
            <a:normAutofit/>
          </a:bodyPr>
          <a:lstStyle/>
          <a:p>
            <a:r>
              <a:rPr lang="en-US" altLang="ko-KR" dirty="0"/>
              <a:t>Reduce32_vec</a:t>
            </a:r>
          </a:p>
          <a:p>
            <a:pPr lvl="1"/>
            <a:r>
              <a:rPr lang="en-US" altLang="ko-KR" dirty="0"/>
              <a:t>Lazy modular reduction </a:t>
            </a:r>
            <a:r>
              <a:rPr lang="ko-KR" altLang="en-US" dirty="0"/>
              <a:t>수행 함수</a:t>
            </a:r>
            <a:endParaRPr lang="en-US" altLang="ko-KR" dirty="0"/>
          </a:p>
          <a:p>
            <a:pPr lvl="1"/>
            <a:r>
              <a:rPr lang="en-US" altLang="ko-KR" dirty="0"/>
              <a:t>23-bit </a:t>
            </a:r>
            <a:r>
              <a:rPr lang="ko-KR" altLang="en-US" dirty="0" err="1"/>
              <a:t>쉬프트로</a:t>
            </a:r>
            <a:r>
              <a:rPr lang="ko-KR" altLang="en-US" dirty="0"/>
              <a:t> </a:t>
            </a:r>
            <a:r>
              <a:rPr lang="en-US" altLang="ko-KR" dirty="0"/>
              <a:t>x – t</a:t>
            </a:r>
            <a:r>
              <a:rPr lang="ko-KR" altLang="en-US" dirty="0"/>
              <a:t>*</a:t>
            </a:r>
            <a:r>
              <a:rPr lang="en-US" altLang="ko-KR" dirty="0"/>
              <a:t>Q </a:t>
            </a:r>
            <a:r>
              <a:rPr lang="ko-KR" altLang="en-US" dirty="0"/>
              <a:t>계산</a:t>
            </a:r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r>
              <a:rPr lang="en-US" altLang="ko-KR" dirty="0"/>
              <a:t>Stage0_neon</a:t>
            </a:r>
          </a:p>
          <a:p>
            <a:pPr lvl="1"/>
            <a:r>
              <a:rPr lang="en-US" altLang="ko-KR" dirty="0"/>
              <a:t>NTT </a:t>
            </a:r>
            <a:r>
              <a:rPr lang="ko-KR" altLang="en-US" dirty="0"/>
              <a:t>첫 라운드 버터플라이 연산</a:t>
            </a:r>
            <a:endParaRPr lang="en-US" altLang="ko-KR" dirty="0"/>
          </a:p>
          <a:p>
            <a:pPr lvl="1"/>
            <a:r>
              <a:rPr lang="en-US" altLang="ko-KR" dirty="0"/>
              <a:t>T = z</a:t>
            </a:r>
            <a:r>
              <a:rPr lang="ko-KR" altLang="en-US" dirty="0"/>
              <a:t>*</a:t>
            </a:r>
            <a:r>
              <a:rPr lang="en-US" altLang="ko-KR" dirty="0"/>
              <a:t>b 4</a:t>
            </a:r>
            <a:r>
              <a:rPr lang="ko-KR" altLang="en-US" dirty="0"/>
              <a:t>배수 계산</a:t>
            </a:r>
            <a:endParaRPr lang="en-US" altLang="ko-KR" dirty="0"/>
          </a:p>
        </p:txBody>
      </p:sp>
      <p:pic>
        <p:nvPicPr>
          <p:cNvPr id="4" name="그림 3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BBACB7E9-B6C4-739E-DF3B-22028A4073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5443" y="3445550"/>
            <a:ext cx="5088914" cy="3412450"/>
          </a:xfrm>
          <a:prstGeom prst="rect">
            <a:avLst/>
          </a:prstGeom>
        </p:spPr>
      </p:pic>
      <p:pic>
        <p:nvPicPr>
          <p:cNvPr id="5" name="그림 4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C6A365E5-3F78-8CD9-761E-68E7D7C00D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5443" y="1023760"/>
            <a:ext cx="6336557" cy="1731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882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0D0862-30F5-2178-DDD4-1960274BE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NCC-Sign</a:t>
            </a:r>
            <a:r>
              <a:rPr kumimoji="1" lang="en-US" altLang="ko-KR" dirty="0"/>
              <a:t>3</a:t>
            </a:r>
            <a:r>
              <a:rPr kumimoji="1" lang="en-US" altLang="ko-Kore-KR" dirty="0"/>
              <a:t> NTT </a:t>
            </a:r>
            <a:r>
              <a:rPr kumimoji="1" lang="ko-Kore-KR" altLang="en-US" dirty="0"/>
              <a:t>구현</a:t>
            </a:r>
            <a:r>
              <a:rPr kumimoji="1" lang="en-US" altLang="ko-Kore-KR" dirty="0"/>
              <a:t>(neon intrinsic)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6F01DA-1D77-E57E-7738-E10EA3A596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Radix2_upper_neon</a:t>
            </a:r>
          </a:p>
          <a:p>
            <a:pPr lvl="1"/>
            <a:r>
              <a:rPr lang="en-US" altLang="ko-KR" dirty="0"/>
              <a:t>Len = 4/N ~ radix2_redlen_ntt </a:t>
            </a:r>
            <a:r>
              <a:rPr lang="ko-KR" altLang="en-US" dirty="0"/>
              <a:t>까지의 버터플라이 연산 처리</a:t>
            </a:r>
            <a:endParaRPr lang="en-US" altLang="ko-KR" dirty="0"/>
          </a:p>
          <a:p>
            <a:r>
              <a:rPr lang="en-US" altLang="ko-KR" dirty="0"/>
              <a:t>Radix2_lower_neon</a:t>
            </a:r>
          </a:p>
          <a:p>
            <a:pPr lvl="1"/>
            <a:r>
              <a:rPr lang="en-US" altLang="ko-KR" dirty="0"/>
              <a:t>Len = radix2_redlen_ntt ~ 3</a:t>
            </a:r>
            <a:r>
              <a:rPr lang="ko-KR" altLang="en-US" dirty="0"/>
              <a:t>*</a:t>
            </a:r>
            <a:r>
              <a:rPr lang="en-US" altLang="ko-KR" dirty="0"/>
              <a:t>radix3_len </a:t>
            </a:r>
            <a:r>
              <a:rPr lang="ko-KR" altLang="en-US" dirty="0"/>
              <a:t>까지의 버터플라이 연산 처리</a:t>
            </a:r>
          </a:p>
        </p:txBody>
      </p:sp>
      <p:pic>
        <p:nvPicPr>
          <p:cNvPr id="10" name="그림 9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A60296B8-70DE-21AE-228E-B7987A809E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843" y="3105308"/>
            <a:ext cx="4154871" cy="3728155"/>
          </a:xfrm>
          <a:prstGeom prst="rect">
            <a:avLst/>
          </a:prstGeom>
        </p:spPr>
      </p:pic>
      <p:pic>
        <p:nvPicPr>
          <p:cNvPr id="16" name="그림 15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C2CC5967-6EE1-ED54-1FEF-0C740526DF4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267" y="3105308"/>
            <a:ext cx="4021780" cy="3752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031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A9531C-90A6-5630-094E-52099119C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NCC-Sign</a:t>
            </a:r>
            <a:r>
              <a:rPr kumimoji="1" lang="en-US" altLang="ko-KR" dirty="0"/>
              <a:t>3</a:t>
            </a:r>
            <a:r>
              <a:rPr kumimoji="1" lang="en-US" altLang="ko-Kore-KR" dirty="0"/>
              <a:t> NTT </a:t>
            </a:r>
            <a:r>
              <a:rPr kumimoji="1" lang="ko-Kore-KR" altLang="en-US" dirty="0"/>
              <a:t>구현</a:t>
            </a:r>
            <a:r>
              <a:rPr kumimoji="1" lang="en-US" altLang="ko-Kore-KR" dirty="0"/>
              <a:t>(neon intrinsic)</a:t>
            </a:r>
            <a:endParaRPr kumimoji="1" lang="ko-Kore-KR" altLang="en-US" dirty="0"/>
          </a:p>
        </p:txBody>
      </p:sp>
      <p:pic>
        <p:nvPicPr>
          <p:cNvPr id="12" name="그림 11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BD3D4625-2A93-24EE-E55A-CC4A49C022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225" y="2296163"/>
            <a:ext cx="4269913" cy="4390760"/>
          </a:xfrm>
          <a:prstGeom prst="rect">
            <a:avLst/>
          </a:prstGeom>
        </p:spPr>
      </p:pic>
      <p:pic>
        <p:nvPicPr>
          <p:cNvPr id="6" name="그림 5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FCF7366A-9713-D222-0262-CAB51A4E41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0680" y="4010363"/>
            <a:ext cx="4265183" cy="962361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C063F2A1-3B27-830E-42DF-DBF13F7A6436}"/>
              </a:ext>
            </a:extLst>
          </p:cNvPr>
          <p:cNvGrpSpPr/>
          <p:nvPr/>
        </p:nvGrpSpPr>
        <p:grpSpPr>
          <a:xfrm>
            <a:off x="6320680" y="3056113"/>
            <a:ext cx="5004252" cy="745774"/>
            <a:chOff x="3155950" y="2109839"/>
            <a:chExt cx="5880100" cy="876300"/>
          </a:xfrm>
        </p:grpSpPr>
        <p:pic>
          <p:nvPicPr>
            <p:cNvPr id="3" name="그림 2" descr="텍스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90A4D92E-27C7-68CE-55CB-4C5D4E0DC6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55950" y="2109839"/>
              <a:ext cx="5880100" cy="87630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40640A79-46F6-961A-A5FB-71296B542B26}"/>
                </a:ext>
              </a:extLst>
            </p:cNvPr>
            <p:cNvSpPr/>
            <p:nvPr/>
          </p:nvSpPr>
          <p:spPr>
            <a:xfrm>
              <a:off x="3155950" y="2698072"/>
              <a:ext cx="3129015" cy="28806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</p:grpSp>
      <p:sp>
        <p:nvSpPr>
          <p:cNvPr id="4" name="오른쪽 화살표[R] 6">
            <a:extLst>
              <a:ext uri="{FF2B5EF4-FFF2-40B4-BE49-F238E27FC236}">
                <a16:creationId xmlns:a16="http://schemas.microsoft.com/office/drawing/2014/main" id="{D2901313-06EF-0ED7-AAE5-4ADAF2FC2856}"/>
              </a:ext>
            </a:extLst>
          </p:cNvPr>
          <p:cNvSpPr/>
          <p:nvPr/>
        </p:nvSpPr>
        <p:spPr>
          <a:xfrm>
            <a:off x="5435938" y="3755902"/>
            <a:ext cx="487502" cy="5089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8B8098C2-08AD-99A8-3E46-D5FF5D9535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1423407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NTT </a:t>
            </a:r>
            <a:r>
              <a:rPr kumimoji="1" lang="ko-KR" altLang="en-US" dirty="0"/>
              <a:t>메인 함수 최적 구현</a:t>
            </a:r>
            <a:endParaRPr kumimoji="1" lang="en-US" altLang="en-US" dirty="0"/>
          </a:p>
          <a:p>
            <a:r>
              <a:rPr kumimoji="1" lang="en-US" altLang="ko-KR" dirty="0"/>
              <a:t>NTT </a:t>
            </a:r>
            <a:r>
              <a:rPr kumimoji="1" lang="ko-Kore-KR" altLang="en-US" dirty="0"/>
              <a:t>성능 약 </a:t>
            </a:r>
            <a:r>
              <a:rPr kumimoji="1" lang="en-US" altLang="ko-Kore-KR" dirty="0"/>
              <a:t>2</a:t>
            </a:r>
            <a:r>
              <a:rPr kumimoji="1" lang="en-US" altLang="ko-KR" dirty="0"/>
              <a:t>.5~6</a:t>
            </a:r>
            <a:r>
              <a:rPr kumimoji="1" lang="ko-KR" altLang="en-US" dirty="0"/>
              <a:t>배 향상</a:t>
            </a:r>
            <a:endParaRPr kumimoji="1"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38495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1BCF5A-57F1-F06D-C1AC-776A2AAF7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ore-KR" dirty="0"/>
              <a:t>NCC-Sign </a:t>
            </a:r>
            <a:r>
              <a:rPr kumimoji="1" lang="en-US" altLang="ko-Kore-KR" dirty="0" err="1"/>
              <a:t>InvNTT</a:t>
            </a:r>
            <a:r>
              <a:rPr kumimoji="1" lang="en-US" altLang="ko-Kore-KR" dirty="0"/>
              <a:t> </a:t>
            </a:r>
            <a:r>
              <a:rPr kumimoji="1" lang="ko-Kore-KR" altLang="en-US" dirty="0"/>
              <a:t>구현</a:t>
            </a:r>
          </a:p>
        </p:txBody>
      </p:sp>
      <p:pic>
        <p:nvPicPr>
          <p:cNvPr id="7" name="그림 6" descr="텍스트, 스크린샷, 소프트웨어, 폰트이(가) 표시된 사진&#10;&#10;자동 생성된 설명">
            <a:extLst>
              <a:ext uri="{FF2B5EF4-FFF2-40B4-BE49-F238E27FC236}">
                <a16:creationId xmlns:a16="http://schemas.microsoft.com/office/drawing/2014/main" id="{A79A9EAC-E86E-8E7F-59BB-2276BDEE51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690" y="1616927"/>
            <a:ext cx="5218310" cy="450634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D925115-0DB9-5247-E98A-D35B81C2D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726" y="495350"/>
            <a:ext cx="4963632" cy="615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467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3888E2-79F6-1F7F-8E41-696980370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NTT radix3 </a:t>
            </a:r>
            <a:r>
              <a:rPr kumimoji="1" lang="ko-Kore-KR" altLang="en-US" dirty="0"/>
              <a:t>파트 구현</a:t>
            </a:r>
          </a:p>
        </p:txBody>
      </p:sp>
      <p:pic>
        <p:nvPicPr>
          <p:cNvPr id="4" name="그림 3" descr="텍스트, 스크린샷, 폰트, 소프트웨어이(가) 표시된 사진&#10;&#10;자동 생성된 설명">
            <a:extLst>
              <a:ext uri="{FF2B5EF4-FFF2-40B4-BE49-F238E27FC236}">
                <a16:creationId xmlns:a16="http://schemas.microsoft.com/office/drawing/2014/main" id="{E12DC902-0A80-7A74-B57A-AB236248C6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920" y="1459678"/>
            <a:ext cx="5657680" cy="454526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B5BB8A7-4762-C1FA-2DBC-523866B66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38" y="1359316"/>
            <a:ext cx="5097393" cy="5113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566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2074E46-78E1-A262-F054-791E6D2AF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ore-KR" dirty="0"/>
              <a:t>NCC Sign </a:t>
            </a:r>
            <a:r>
              <a:rPr lang="en-US" altLang="ko-KR" dirty="0"/>
              <a:t>1,3,5 </a:t>
            </a:r>
            <a:r>
              <a:rPr lang="ko-KR" altLang="en-US" dirty="0"/>
              <a:t>성능 측정</a:t>
            </a:r>
            <a:endParaRPr lang="ko-Kore-KR" altLang="en-US" dirty="0"/>
          </a:p>
        </p:txBody>
      </p:sp>
      <p:pic>
        <p:nvPicPr>
          <p:cNvPr id="6" name="그림 5" descr="도표, 텍스트, 스크린샷, 라인이(가) 표시된 사진&#10;&#10;자동 생성된 설명">
            <a:extLst>
              <a:ext uri="{FF2B5EF4-FFF2-40B4-BE49-F238E27FC236}">
                <a16:creationId xmlns:a16="http://schemas.microsoft.com/office/drawing/2014/main" id="{1CEB0FFB-C2A8-1CC0-F67C-8739E9131A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1305" y="3822909"/>
            <a:ext cx="6515100" cy="2844800"/>
          </a:xfrm>
          <a:prstGeom prst="rect">
            <a:avLst/>
          </a:prstGeom>
        </p:spPr>
      </p:pic>
      <p:sp>
        <p:nvSpPr>
          <p:cNvPr id="2" name="텍스트 개체 틀 2">
            <a:extLst>
              <a:ext uri="{FF2B5EF4-FFF2-40B4-BE49-F238E27FC236}">
                <a16:creationId xmlns:a16="http://schemas.microsoft.com/office/drawing/2014/main" id="{405F1E39-842F-8F0D-EFE5-2F759732FB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7505" y="1878965"/>
            <a:ext cx="11369675" cy="2276475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Keygen: </a:t>
            </a:r>
            <a:r>
              <a:rPr kumimoji="1" lang="ko-KR" altLang="en-US" dirty="0"/>
              <a:t>약 </a:t>
            </a:r>
            <a:r>
              <a:rPr kumimoji="1" lang="en-US" altLang="ko-KR" dirty="0"/>
              <a:t>20% </a:t>
            </a:r>
            <a:r>
              <a:rPr kumimoji="1" lang="ko-KR" altLang="en-US" dirty="0"/>
              <a:t>향상</a:t>
            </a:r>
            <a:endParaRPr kumimoji="1" lang="en-US" altLang="ko-KR" dirty="0"/>
          </a:p>
          <a:p>
            <a:r>
              <a:rPr lang="en-US" altLang="ko-KR" dirty="0"/>
              <a:t>Sign: 30~40% </a:t>
            </a:r>
            <a:r>
              <a:rPr lang="ko-KR" altLang="en-US" dirty="0"/>
              <a:t>향상</a:t>
            </a:r>
            <a:endParaRPr lang="en-US" altLang="ko-KR" dirty="0"/>
          </a:p>
          <a:p>
            <a:r>
              <a:rPr lang="en-US" altLang="ko-KR" dirty="0"/>
              <a:t>Verify: 30~40% </a:t>
            </a:r>
            <a:r>
              <a:rPr lang="ko-KR" altLang="en-US" dirty="0"/>
              <a:t>향상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DC02ABC-E027-34D8-E80C-4A03765766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21"/>
          <a:stretch>
            <a:fillRect/>
          </a:stretch>
        </p:blipFill>
        <p:spPr>
          <a:xfrm>
            <a:off x="4718602" y="1878965"/>
            <a:ext cx="7020905" cy="162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24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1596021"/>
      </p:ext>
    </p:extLst>
  </p:cSld>
  <p:clrMapOvr>
    <a:masterClrMapping/>
  </p:clrMapOvr>
</p:sld>
</file>

<file path=ppt/theme/theme1.xml><?xml version="1.0" encoding="utf-8"?>
<a:theme xmlns:a="http://schemas.openxmlformats.org/drawingml/2006/main" name="CryptoCraft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제목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1516</TotalTime>
  <Words>346</Words>
  <Application>Microsoft Macintosh PowerPoint</Application>
  <PresentationFormat>와이드스크린</PresentationFormat>
  <Paragraphs>51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맑은 고딕</vt:lpstr>
      <vt:lpstr>Arial</vt:lpstr>
      <vt:lpstr>CryptoCraft 테마</vt:lpstr>
      <vt:lpstr>제목 테마</vt:lpstr>
      <vt:lpstr>Ncc Sign on ARMv8</vt:lpstr>
      <vt:lpstr>NCC Sign</vt:lpstr>
      <vt:lpstr>Montgomery reduction 최적 구현 코드</vt:lpstr>
      <vt:lpstr>NCC-Sign3 NTT 구현(neon intrinsic)</vt:lpstr>
      <vt:lpstr>NCC-Sign3 NTT 구현(neon intrinsic)</vt:lpstr>
      <vt:lpstr>NCC-Sign3 NTT 구현(neon intrinsic)</vt:lpstr>
      <vt:lpstr>NCC-Sign InvNTT 구현</vt:lpstr>
      <vt:lpstr>NTT radix3 파트 구현</vt:lpstr>
      <vt:lpstr>NCC Sign 1,3,5 성능 측정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HD</dc:creator>
  <cp:lastModifiedBy>Minwoo Lee</cp:lastModifiedBy>
  <cp:revision>75</cp:revision>
  <dcterms:created xsi:type="dcterms:W3CDTF">2019-03-05T04:29:07Z</dcterms:created>
  <dcterms:modified xsi:type="dcterms:W3CDTF">2025-12-07T22:01:32Z</dcterms:modified>
</cp:coreProperties>
</file>