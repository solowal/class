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899" r:id="rId3"/>
    <p:sldId id="751" r:id="rId4"/>
    <p:sldId id="915" r:id="rId5"/>
    <p:sldId id="917" r:id="rId6"/>
    <p:sldId id="916" r:id="rId7"/>
    <p:sldId id="923" r:id="rId8"/>
    <p:sldId id="920" r:id="rId9"/>
    <p:sldId id="931" r:id="rId10"/>
    <p:sldId id="924" r:id="rId11"/>
    <p:sldId id="925" r:id="rId12"/>
    <p:sldId id="932" r:id="rId13"/>
    <p:sldId id="922" r:id="rId14"/>
    <p:sldId id="87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61"/>
    <p:restoredTop sz="96327"/>
  </p:normalViewPr>
  <p:slideViewPr>
    <p:cSldViewPr snapToGrid="0">
      <p:cViewPr varScale="1">
        <p:scale>
          <a:sx n="153" d="100"/>
          <a:sy n="153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6A019-C8CB-044C-8E50-2172BAD36A0A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26027-29C7-0645-87BD-87738D40BA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540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259FBD-8740-FA74-6040-CC2CB948A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3BF90E59-61F4-DE06-A119-211E7CA8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:notes">
            <a:extLst>
              <a:ext uri="{FF2B5EF4-FFF2-40B4-BE49-F238E27FC236}">
                <a16:creationId xmlns:a16="http://schemas.microsoft.com/office/drawing/2014/main" id="{72055865-64C6-CED8-63DD-5296F471E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8" name="Google Shape;828;p80:notes">
            <a:extLst>
              <a:ext uri="{FF2B5EF4-FFF2-40B4-BE49-F238E27FC236}">
                <a16:creationId xmlns:a16="http://schemas.microsoft.com/office/drawing/2014/main" id="{697FDFC0-29C0-7850-AF17-AEF7CD026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8196DA-FE72-DCDD-7AF3-7E45A50D6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2798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9681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E6FE3-F91C-DC2C-2A33-05902C22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7C2ECC-ED76-5F51-540D-B81846931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D9D055-8BB5-247E-A87C-65465E22F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F7D702-88E4-35FA-6D67-9E3E11E9E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4563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AAAA-E9BF-15C2-8DD0-C894D047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61EE95-AB7A-E5A5-E32A-B535705A0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7B7DF9-24BA-69F4-B386-7CE790902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1D25D-13CE-6330-C5A7-793CAF625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9686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2F4B-2329-F4DF-7932-66E62969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0B67F3-3D59-BD26-24F0-E2C971D03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F86A2E-41BA-566C-ADCB-9B618273D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D25CAB-E18E-4A06-EEA8-57CF1B75E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2041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96BCB-16C2-1CDC-A50E-683B2AD23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130AA-4A66-5370-4F5F-EB7147DB2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F77346-DC0B-BE79-0074-3ABC16A16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A2B035-C3B1-CC99-A86C-035B6FCC3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6259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9B72C-457A-660D-90A5-BDF042F9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C3E1B2-DD88-8007-1112-7621FE403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3D910-4FFF-D4C8-0199-2C2CE5DB9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36A9C-3AFC-41B6-145D-712EF9F5B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4839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4AD7E-7223-5AA5-DA91-12A0C136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B3A5AC-4BF0-6503-0BC2-62027E3C3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5A5B23-ABA0-F96F-8FC6-757FB45F5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8E1CF-A5DC-01CD-8D2E-706D4412D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1565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86A5-EFA5-6E1B-A592-D6D1023A2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7FA4B0-4628-93E9-CE94-9422DF62D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D1BF7B-0187-9BF2-CEAE-E18C12C2D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38A56-EE1F-B0E4-E571-CB558C593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31AFE-9D48-5443-86D1-ABF30934AD4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6646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40E2D6C1-7F30-5934-78A4-A33CE1E0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:notes">
            <a:extLst>
              <a:ext uri="{FF2B5EF4-FFF2-40B4-BE49-F238E27FC236}">
                <a16:creationId xmlns:a16="http://schemas.microsoft.com/office/drawing/2014/main" id="{D0D8EAA4-839F-A7B6-DE2A-B6EDACFAA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8" name="Google Shape;828;p80:notes">
            <a:extLst>
              <a:ext uri="{FF2B5EF4-FFF2-40B4-BE49-F238E27FC236}">
                <a16:creationId xmlns:a16="http://schemas.microsoft.com/office/drawing/2014/main" id="{CE6EDD75-E685-26F9-E58E-C93426828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1C94C-E412-1935-C4E4-515EBEDE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8738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4F22E-7FE1-6F6B-3925-20A560517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80A3AD-9C1A-7AF2-FB82-ACFB917DF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4130B-FF69-01E0-41D0-22A740D5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26E1F-C52A-3D77-1745-9558081D5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CA0BAF-EA5B-6002-60F0-909E216F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30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5F796-7037-B161-3530-2DB1CEC8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AC60C-C147-2247-EDED-6A3D121D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D3A44C-70B9-57BC-5198-BF819D72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7BE66C-ADB1-AA9A-4C0C-B61F31C1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A49D66-B53B-5488-BAB1-CD819A85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50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93D85-634E-3AC7-1687-EC8056CE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EA4EBF-45EB-6AF0-20C4-8D7DBDE4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606EB-7E17-A8B5-03B4-C2C3363D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4CD3A-94E5-EBD3-8C82-AB9B7C55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5D83F-325C-294D-BF31-5FD51E28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839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0F31A-3812-FE80-B1FC-05DFC576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EDDC4B-FF56-7304-A493-DDFFBE062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7BB2A5-3DBB-6C19-F25D-65BED24E9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16C0CA-666D-6909-19D2-198FCCCF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F57675-F846-D975-6A44-8EC6DEF9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7CE98-C184-89C3-F075-B9AA9D33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427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1B78B-72E4-5482-B2E9-2B30C75A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21113-86D0-2EC3-6F84-1AEBC983E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EF7864-75FC-F305-128B-90D3AE3F7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1470ED-C036-8ADB-CFE1-2B6ABDFE5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E67AC4-F10E-326C-4686-D85B86DF7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159063-7F81-2664-DD83-F94A41EF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9E7068-0D1C-6463-103A-3076F545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D2917C-CE16-6414-B7B1-2778ECD1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92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D08A5-D16E-B383-CCF4-C3C6E0C9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82D4F-8210-57AA-B713-8CD5C9AD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767DB9-253A-1192-E50D-D71FAD81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F7BC-B46C-0FB9-3D41-44260F4E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611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828351-7EF7-3614-53B1-02F8349D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ABF9B2-7EFE-E513-01E3-90DDAA74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AE732-0B36-3890-275B-FA8D9B09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45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68695-920A-3D10-7DE7-046E3F3CA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0EA2B-648D-4427-4B1A-AD0FADF3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A417D3-588D-2659-01F9-D34951C3E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00B9E7-F450-7882-0622-B75E0B75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103F1E-C721-847A-708E-0902B84F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9B72F1-36ED-473C-3287-6E4C5CB3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206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0622B-43B5-48D7-620D-1B8BDE4C5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DB2E2D-E0DA-9A34-BED4-D0DDEB62C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9A7D69-6D0F-8D92-DDFE-26D77B1C9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C821B-3E64-369D-5AB9-1CD473CF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0F5F82-CBA9-1483-68A2-61C95DB0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D50AF8-A8DB-04CA-9932-9727EB5E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983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A2633-9774-14EF-5D44-8DE42ABE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07F9F9-D452-078B-85EB-5E26B1112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2C70F8-8545-CBF1-ECB2-96F3306D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BC687-6632-98C8-66DA-48DD4921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29CCEC-E491-75E7-90E6-4F3A4C15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52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E83E84-D9FD-BF08-E72F-FB565FB55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086D06-E909-795D-9758-26BF6C434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D0C03-616F-42ED-EAC6-0EBAA500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0D5486-29E6-DBDE-079B-8892C38D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048185-F921-BB9E-6FCE-383232E5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288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l="40230" t="65597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t="62459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515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49EF0D51-C8D9-B097-CBF4-D0A1C6D43FB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A935F152-E3EB-585D-F6A5-928F652F7C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3AACA24-50E2-2E84-03A7-6F117C5B6A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‹#›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861330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2_제목 및 내용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11920" y="207747"/>
            <a:ext cx="11368160" cy="76216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11163" y="1152525"/>
            <a:ext cx="11369675" cy="505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BE68EB-B94C-2CA0-0048-751A8B92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3362F-5050-7057-38EC-5AFCC3C3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843C30-E512-869F-BA98-3E88D363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5157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9880BB-F218-6B69-E454-05AEFD43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D2A0E6-B194-7E13-BD23-8BBFFE503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B8E726-0AD0-8236-2173-959AD4B49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AB9C8-5071-FD42-8E0A-71378E7EB551}" type="datetimeFigureOut">
              <a:rPr kumimoji="1" lang="ko-KR" altLang="en-US" smtClean="0"/>
              <a:t>2025. 11. 5.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BF4DC-7E4D-18FD-C7E7-BEA3DB447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CA55D-83D3-D0BA-9613-2E1A53396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023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0" y="2259105"/>
            <a:ext cx="12192000" cy="233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양자 프로그래밍 툴 </a:t>
            </a:r>
            <a:r>
              <a:rPr lang="en-US" altLang="ko-KR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Depth </a:t>
            </a:r>
            <a:r>
              <a:rPr lang="ko-KR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최적화</a:t>
            </a:r>
            <a:br>
              <a:rPr lang="ko-KR" alt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</a:br>
            <a:br>
              <a:rPr kumimoji="1" lang="en-US" altLang="ko-Kore-KR" sz="3800" dirty="0">
                <a:solidFill>
                  <a:schemeClr val="tx2">
                    <a:lumMod val="75000"/>
                    <a:lumOff val="2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</a:br>
            <a:endParaRPr sz="3800" dirty="0">
              <a:solidFill>
                <a:schemeClr val="tx2">
                  <a:lumMod val="75000"/>
                  <a:lumOff val="2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-2" y="3684481"/>
            <a:ext cx="1219200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altLang="en-US" sz="2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장경배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5C16F-2661-116D-B900-220DA6B615E4}"/>
              </a:ext>
            </a:extLst>
          </p:cNvPr>
          <p:cNvSpPr txBox="1"/>
          <p:nvPr/>
        </p:nvSpPr>
        <p:spPr>
          <a:xfrm>
            <a:off x="4572344" y="4898567"/>
            <a:ext cx="3047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dirty="0"/>
              <a:t>https://youtu.be/htIvll4htek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32C4B913-D020-E4A1-235C-EC1890F2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">
            <a:extLst>
              <a:ext uri="{FF2B5EF4-FFF2-40B4-BE49-F238E27FC236}">
                <a16:creationId xmlns:a16="http://schemas.microsoft.com/office/drawing/2014/main" id="{9A112B9B-8EF0-C655-9724-839BF06CA00E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BB175EC-AA97-80F9-6E90-ACB92A7F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634BC15-5F44-D611-29B7-8D83B3FD7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18" y="311728"/>
            <a:ext cx="6287963" cy="62345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230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8FB6-D28B-770C-DEF9-2AE94FEF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7CB5A-37F9-8FB2-A4E7-0F916DC4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Case Study: AES MixColumn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23780-3174-4A1F-03FB-022C67E9679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3</a:t>
            </a:fld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C21897-438B-29CF-8389-4BBA4A47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01" y="5102350"/>
            <a:ext cx="11379570" cy="10119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52742-B284-83D7-F1DF-C5524CE43162}"/>
                  </a:ext>
                </a:extLst>
              </p:cNvPr>
              <p:cNvSpPr txBox="1"/>
              <p:nvPr/>
            </p:nvSpPr>
            <p:spPr>
              <a:xfrm>
                <a:off x="105662" y="1363464"/>
                <a:ext cx="11980676" cy="346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다음 두 논문에선 동일한 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AES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MixColumn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2200" b="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32</m:t>
                    </m:r>
                    <m:r>
                      <a:rPr kumimoji="1" lang="ko-KR" altLang="en-US" sz="2200" b="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 </m:t>
                    </m:r>
                    <m:r>
                      <a:rPr kumimoji="1" lang="en-US" altLang="ko-KR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ko-KR" alt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을 구현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하지만 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다른 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Depth</a:t>
                </a:r>
                <a:r>
                  <a:rPr kumimoji="1" lang="ko-KR" altLang="en-US" sz="2200" b="1" dirty="0" err="1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를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보고</a:t>
                </a:r>
                <a:endParaRPr kumimoji="1" lang="en-US" altLang="ko-Kore-KR" sz="2200" b="1" dirty="0">
                  <a:latin typeface="Gmarket Sans TTF Bold" panose="02000000000000000000" pitchFamily="2" charset="-128"/>
                  <a:ea typeface="Gmarket Sans TTF Bold" panose="02000000000000000000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PQCrypto’16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(M. 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Grassl et al,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전 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NIST </a:t>
                </a:r>
                <a:r>
                  <a:rPr kumimoji="1" lang="ko-Kore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표준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32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Qubits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277 CNOTs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39 Depth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EUROCRYT’20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(S.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Jaques et al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.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현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NIST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표준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32 Qubits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277 CNOTs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111 Depth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52742-B284-83D7-F1DF-C5524CE43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2" y="1363464"/>
                <a:ext cx="11980676" cy="3462486"/>
              </a:xfrm>
              <a:prstGeom prst="rect">
                <a:avLst/>
              </a:prstGeom>
              <a:blipFill>
                <a:blip r:embed="rId3"/>
                <a:stretch>
                  <a:fillRect l="-636" t="-1460" b="-29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D043719-D02D-416A-8CFD-C083CF7CC806}"/>
              </a:ext>
            </a:extLst>
          </p:cNvPr>
          <p:cNvSpPr txBox="1"/>
          <p:nvPr/>
        </p:nvSpPr>
        <p:spPr>
          <a:xfrm>
            <a:off x="0" y="6459121"/>
            <a:ext cx="111351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sz="800" dirty="0"/>
              <a:t>Markus Grassl, Brandon Langenberg, Martin Roetteler, and Rainer Stein- wandt. Applying Grover’s algorithm to AES: Quantum resource estimates. In Tsuyoshi Takagi, editor, Post-Quantum Cryptography, pages 29–43, Cham, 2016. </a:t>
            </a:r>
            <a:endParaRPr lang="en-US" altLang="ko-Kore-KR" sz="800" dirty="0"/>
          </a:p>
          <a:p>
            <a:r>
              <a:rPr lang="ko-Kore-KR" altLang="en-US" sz="800" dirty="0"/>
              <a:t>Samuel Jaques, Michael Naehrig, Martin Roetteler, and Fernando Virdia. Implementing grover oracles for quantum key search on AES and LowMC. Cryptology ePrint Archive, Report 2019/1146, 2019.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85A0BD0-59AE-1362-87D8-258567235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413" y="2637498"/>
            <a:ext cx="2478157" cy="22028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A3B9E1B-FEF4-83F5-CE08-F6191B236DB8}"/>
              </a:ext>
            </a:extLst>
          </p:cNvPr>
          <p:cNvCxnSpPr/>
          <p:nvPr/>
        </p:nvCxnSpPr>
        <p:spPr>
          <a:xfrm>
            <a:off x="8040756" y="3565705"/>
            <a:ext cx="5897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82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94F0-6A48-4733-1FC0-B0FB2098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C37B2A2-2559-B4D3-A6DF-3E8F9F60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</a:t>
            </a:r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프로그래밍</a:t>
            </a:r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툴</a:t>
            </a:r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Depth </a:t>
            </a:r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82E16D-FE7F-FAB4-314A-C61E385EB5C6}"/>
              </a:ext>
            </a:extLst>
          </p:cNvPr>
          <p:cNvSpPr txBox="1"/>
          <p:nvPr/>
        </p:nvSpPr>
        <p:spPr>
          <a:xfrm>
            <a:off x="0" y="1227611"/>
            <a:ext cx="12149480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하나의 </a:t>
            </a:r>
            <a:r>
              <a:rPr lang="ko-KR" altLang="en-US" sz="2200" b="1" dirty="0" err="1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큐빗의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반복적인 사용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은</a:t>
            </a:r>
            <a:r>
              <a:rPr lang="en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다른 연산과의 병렬화를 방해</a:t>
            </a:r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     </a:t>
            </a:r>
            <a:r>
              <a:rPr lang="en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⇒ 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프로그래밍 툴이 최적의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Depth</a:t>
            </a:r>
            <a:r>
              <a:rPr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찾을 수 없음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Qcrypton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ProjectQ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Q#, </a:t>
            </a:r>
            <a:r>
              <a:rPr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Qiksit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Cirq)</a:t>
            </a:r>
            <a:endParaRPr kumimoji="1"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133792-1D45-54AA-7854-A2D78F53C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914" y="2746658"/>
            <a:ext cx="5308654" cy="33712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E05F7B-4670-AC5D-65FA-D6A419473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303" y="2303133"/>
            <a:ext cx="2633279" cy="4258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23E6055-70CC-5D5E-51BE-851F325BEBF7}"/>
              </a:ext>
            </a:extLst>
          </p:cNvPr>
          <p:cNvSpPr/>
          <p:nvPr/>
        </p:nvSpPr>
        <p:spPr>
          <a:xfrm>
            <a:off x="3218923" y="2802070"/>
            <a:ext cx="171676" cy="9094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D6DAB4-9DEE-6538-5239-3DC80CEC1887}"/>
              </a:ext>
            </a:extLst>
          </p:cNvPr>
          <p:cNvSpPr/>
          <p:nvPr/>
        </p:nvSpPr>
        <p:spPr>
          <a:xfrm>
            <a:off x="3228862" y="3877787"/>
            <a:ext cx="171676" cy="7516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7A0726-533B-80A8-5A8D-82999F2DD31D}"/>
              </a:ext>
            </a:extLst>
          </p:cNvPr>
          <p:cNvSpPr/>
          <p:nvPr/>
        </p:nvSpPr>
        <p:spPr>
          <a:xfrm>
            <a:off x="3218923" y="4766005"/>
            <a:ext cx="171676" cy="9094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슬라이드 번호 개체 틀 10">
            <a:extLst>
              <a:ext uri="{FF2B5EF4-FFF2-40B4-BE49-F238E27FC236}">
                <a16:creationId xmlns:a16="http://schemas.microsoft.com/office/drawing/2014/main" id="{0D8B6894-D686-4887-3C3E-24F2948BC6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4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94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6BA7-ED58-514B-74F9-3E2DCAC5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6178A0E-9563-8CDE-4451-A9CFC6B4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</a:t>
            </a:r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프로그래밍</a:t>
            </a:r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툴</a:t>
            </a:r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Depth </a:t>
            </a:r>
            <a:r>
              <a:rPr kumimoji="1" lang="en-US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2A76A3-00C3-5F93-B09D-866F8D2C5787}"/>
              </a:ext>
            </a:extLst>
          </p:cNvPr>
          <p:cNvSpPr txBox="1"/>
          <p:nvPr/>
        </p:nvSpPr>
        <p:spPr>
          <a:xfrm>
            <a:off x="403756" y="1201109"/>
            <a:ext cx="9171100" cy="146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" altLang="ko-KR" sz="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하나의 </a:t>
            </a: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큐빗의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반복적인 사용을 회피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: Compiler-friendly</a:t>
            </a:r>
          </a:p>
          <a:p>
            <a:r>
              <a:rPr lang="en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      ⇒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프로그래밍 툴이 더 낮은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Depth</a:t>
            </a: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찾음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(9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 6)</a:t>
            </a:r>
          </a:p>
          <a:p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	(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암호 안전성 분석 측면에서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올바른 복잡도를 도출하는 것 또한 유의미함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)</a:t>
            </a:r>
          </a:p>
          <a:p>
            <a:endParaRPr lang="en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B8DE0A-6B67-AFAA-118F-342570490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108" y="2584686"/>
            <a:ext cx="2420809" cy="3871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AB2468E-426F-05F4-FC32-52399C187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744" y="2803345"/>
            <a:ext cx="5308654" cy="33173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18DD2-C6D9-40B7-B611-90D98DFCD73D}"/>
              </a:ext>
            </a:extLst>
          </p:cNvPr>
          <p:cNvSpPr txBox="1"/>
          <p:nvPr/>
        </p:nvSpPr>
        <p:spPr>
          <a:xfrm>
            <a:off x="403756" y="4092702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Reordered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4FDA5B5-D1F1-CCE9-14B2-B8CAB75C6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732" y="5075677"/>
            <a:ext cx="419559" cy="8816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E5EF9D-3165-93A5-BF05-CAD7387686A1}"/>
              </a:ext>
            </a:extLst>
          </p:cNvPr>
          <p:cNvSpPr txBox="1"/>
          <p:nvPr/>
        </p:nvSpPr>
        <p:spPr>
          <a:xfrm>
            <a:off x="8824248" y="510179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  <a:sym typeface="Wingdings" pitchFamily="2" charset="2"/>
              </a:rPr>
              <a:t>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FCCBE8-4DDD-B7B1-8D44-DCCD1260CCAF}"/>
              </a:ext>
            </a:extLst>
          </p:cNvPr>
          <p:cNvSpPr txBox="1"/>
          <p:nvPr/>
        </p:nvSpPr>
        <p:spPr>
          <a:xfrm>
            <a:off x="8824248" y="558330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C00000"/>
                </a:solidFill>
                <a:sym typeface="Wingdings" pitchFamily="2" charset="2"/>
              </a:rPr>
              <a:t></a:t>
            </a:r>
            <a:endParaRPr kumimoji="1"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슬라이드 번호 개체 틀 10">
            <a:extLst>
              <a:ext uri="{FF2B5EF4-FFF2-40B4-BE49-F238E27FC236}">
                <a16:creationId xmlns:a16="http://schemas.microsoft.com/office/drawing/2014/main" id="{DA8CD447-7F32-F39F-9BBA-BC6CCBA3FA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5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1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3FF0-F833-0A84-FDAB-1CF4BB91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C8551E8-2D0C-0917-736A-898BA12880CB}"/>
              </a:ext>
            </a:extLst>
          </p:cNvPr>
          <p:cNvSpPr txBox="1"/>
          <p:nvPr/>
        </p:nvSpPr>
        <p:spPr>
          <a:xfrm>
            <a:off x="242956" y="1417598"/>
            <a:ext cx="110262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프로그래밍 툴 용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 프레임워크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개발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7030911-8524-790E-DD25-133C28F5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프레임워크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CF8501-EE7B-D9D4-0754-E965EC68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336" y="2147280"/>
            <a:ext cx="8549640" cy="3401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0924EB-F523-7440-8A6F-B7583315F588}"/>
              </a:ext>
            </a:extLst>
          </p:cNvPr>
          <p:cNvSpPr txBox="1"/>
          <p:nvPr/>
        </p:nvSpPr>
        <p:spPr>
          <a:xfrm>
            <a:off x="4508860" y="5762215"/>
            <a:ext cx="297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&lt; 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프레임워크 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Overview &gt;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6FFB2-CB0E-DF36-5C2A-7891C6B4923F}"/>
              </a:ext>
            </a:extLst>
          </p:cNvPr>
          <p:cNvSpPr txBox="1"/>
          <p:nvPr/>
        </p:nvSpPr>
        <p:spPr>
          <a:xfrm>
            <a:off x="0" y="6611779"/>
            <a:ext cx="110262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Kyungbae</a:t>
            </a:r>
            <a:r>
              <a:rPr lang="en-US" altLang="ko-KR" sz="1000" dirty="0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Jang, Anubhab Baksi, and </a:t>
            </a:r>
            <a:r>
              <a:rPr lang="en-US" altLang="ko-KR" sz="1000" dirty="0" err="1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Hwajeong</a:t>
            </a:r>
            <a:r>
              <a:rPr lang="en-US" altLang="ko-KR" sz="1000" dirty="0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Seo</a:t>
            </a:r>
            <a:r>
              <a:rPr lang="ko-KR" altLang="en-US" sz="1000" dirty="0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-KR" sz="1000" dirty="0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“</a:t>
            </a:r>
            <a:r>
              <a:rPr lang="en" altLang="ko-KR" sz="1000" dirty="0">
                <a:solidFill>
                  <a:srgbClr val="222222"/>
                </a:solidFill>
                <a:effectLst/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 Framework for Depth-Efficient Quantum Implementations of Linear Layers</a:t>
            </a:r>
            <a:r>
              <a:rPr lang="en-US" altLang="ko-KR" sz="1000" dirty="0">
                <a:solidFill>
                  <a:srgbClr val="222222"/>
                </a:solidFill>
                <a:effectLst/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”, </a:t>
            </a:r>
            <a:r>
              <a:rPr lang="en-US" altLang="ko-KR" sz="1000" dirty="0" err="1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ePrint</a:t>
            </a:r>
            <a:r>
              <a:rPr lang="en-US" altLang="ko-KR" sz="1000" dirty="0">
                <a:solidFill>
                  <a:srgbClr val="222222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archive 2025.</a:t>
            </a:r>
            <a:endParaRPr lang="ko-KR" altLang="en-US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5" name="슬라이드 번호 개체 틀 10">
            <a:extLst>
              <a:ext uri="{FF2B5EF4-FFF2-40B4-BE49-F238E27FC236}">
                <a16:creationId xmlns:a16="http://schemas.microsoft.com/office/drawing/2014/main" id="{06F721ED-B6AA-D527-C7AC-C9751158F39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6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45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53FDF-A8A6-E67C-95D0-4C232103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2390E7-8119-5E92-CFE3-071AABF2A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48" y="2766785"/>
            <a:ext cx="8549640" cy="34014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C59EBB-1EDF-C940-5935-9C9464D3A360}"/>
              </a:ext>
            </a:extLst>
          </p:cNvPr>
          <p:cNvSpPr txBox="1"/>
          <p:nvPr/>
        </p:nvSpPr>
        <p:spPr>
          <a:xfrm>
            <a:off x="244771" y="1414720"/>
            <a:ext cx="110262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프로그래밍 툴 용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 프레임워크 개발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최적화하고 싶은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양자 구현 입력</a:t>
            </a:r>
            <a:endParaRPr kumimoji="1" lang="en-US" altLang="ko-KR" sz="2200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CAAF061-F7E4-D0FF-6F9A-ADD95C42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프레임워크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5FADA9-22D6-1052-03AA-A5E3C1F06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585" y="2184161"/>
            <a:ext cx="3721262" cy="42417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5FE3D75-ADFF-9844-73A8-F77638E02678}"/>
              </a:ext>
            </a:extLst>
          </p:cNvPr>
          <p:cNvSpPr/>
          <p:nvPr/>
        </p:nvSpPr>
        <p:spPr>
          <a:xfrm>
            <a:off x="1026980" y="3972069"/>
            <a:ext cx="2522466" cy="101288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D613019-5BBF-FEC5-5EBB-3F4AE49B4344}"/>
              </a:ext>
            </a:extLst>
          </p:cNvPr>
          <p:cNvCxnSpPr>
            <a:cxnSpLocks/>
          </p:cNvCxnSpPr>
          <p:nvPr/>
        </p:nvCxnSpPr>
        <p:spPr>
          <a:xfrm flipV="1">
            <a:off x="3677264" y="4100052"/>
            <a:ext cx="3746091" cy="367440"/>
          </a:xfrm>
          <a:prstGeom prst="straightConnector1">
            <a:avLst/>
          </a:prstGeom>
          <a:ln w="28575">
            <a:solidFill>
              <a:srgbClr val="C0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0">
            <a:extLst>
              <a:ext uri="{FF2B5EF4-FFF2-40B4-BE49-F238E27FC236}">
                <a16:creationId xmlns:a16="http://schemas.microsoft.com/office/drawing/2014/main" id="{8407F521-9449-767E-0E15-F454D1E7F727}"/>
              </a:ext>
            </a:extLst>
          </p:cNvPr>
          <p:cNvSpPr txBox="1">
            <a:spLocks/>
          </p:cNvSpPr>
          <p:nvPr/>
        </p:nvSpPr>
        <p:spPr>
          <a:xfrm>
            <a:off x="8620540" y="6425879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7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49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3F37A-A784-B5D9-CE7B-8AAFA9EE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B454F198-6C6D-6A84-535F-76C847B5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20" y="2766785"/>
            <a:ext cx="8549640" cy="34014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AE6E25-2FB6-FFA1-E71B-8230976FEB1D}"/>
              </a:ext>
            </a:extLst>
          </p:cNvPr>
          <p:cNvSpPr txBox="1"/>
          <p:nvPr/>
        </p:nvSpPr>
        <p:spPr>
          <a:xfrm>
            <a:off x="244771" y="1414720"/>
            <a:ext cx="110262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프로그래밍 툴 용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 프레임워크 개발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해당 양자 구현의 연산들 간의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의존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그래프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생성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kumimoji="1" lang="ko-KR" altLang="en-US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B9E1DD0-5610-2888-37FB-FF146D4C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프레임워크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2297AB-088B-5B9A-5F74-378A17D54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357" y="2280714"/>
            <a:ext cx="3721262" cy="4233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FFAA98-7132-26FC-014C-EE9B5A2D2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413" y="3970798"/>
            <a:ext cx="2365710" cy="1551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A93C6D-7735-9A33-5DE4-1848074AF4E4}"/>
              </a:ext>
            </a:extLst>
          </p:cNvPr>
          <p:cNvSpPr txBox="1"/>
          <p:nvPr/>
        </p:nvSpPr>
        <p:spPr>
          <a:xfrm>
            <a:off x="9458535" y="5741532"/>
            <a:ext cx="3029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# 9, 10, 11, 12, 13 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라인은 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   </a:t>
            </a:r>
          </a:p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 14 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라인보다 먼저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2B4968F-72A1-CDAF-FE80-CD3FF745A9C8}"/>
              </a:ext>
            </a:extLst>
          </p:cNvPr>
          <p:cNvSpPr/>
          <p:nvPr/>
        </p:nvSpPr>
        <p:spPr>
          <a:xfrm>
            <a:off x="421752" y="3972069"/>
            <a:ext cx="2522466" cy="101288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644E124-EEDC-3E1B-8327-D4EF7D2B3920}"/>
              </a:ext>
            </a:extLst>
          </p:cNvPr>
          <p:cNvCxnSpPr>
            <a:cxnSpLocks/>
          </p:cNvCxnSpPr>
          <p:nvPr/>
        </p:nvCxnSpPr>
        <p:spPr>
          <a:xfrm flipV="1">
            <a:off x="3072036" y="4100052"/>
            <a:ext cx="3746091" cy="367440"/>
          </a:xfrm>
          <a:prstGeom prst="straightConnector1">
            <a:avLst/>
          </a:prstGeom>
          <a:ln w="28575">
            <a:solidFill>
              <a:srgbClr val="C0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0">
            <a:extLst>
              <a:ext uri="{FF2B5EF4-FFF2-40B4-BE49-F238E27FC236}">
                <a16:creationId xmlns:a16="http://schemas.microsoft.com/office/drawing/2014/main" id="{5E4E71C3-E8E7-F968-EC1A-BCD9CC61DEE2}"/>
              </a:ext>
            </a:extLst>
          </p:cNvPr>
          <p:cNvSpPr txBox="1">
            <a:spLocks/>
          </p:cNvSpPr>
          <p:nvPr/>
        </p:nvSpPr>
        <p:spPr>
          <a:xfrm>
            <a:off x="8814988" y="646769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8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6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30;p80">
            <a:extLst>
              <a:ext uri="{FF2B5EF4-FFF2-40B4-BE49-F238E27FC236}">
                <a16:creationId xmlns:a16="http://schemas.microsoft.com/office/drawing/2014/main" id="{09595063-3DC4-7421-73D3-DE83AFF41082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4688E1-577C-B773-71D2-A8890ADC4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45" y="32346"/>
            <a:ext cx="6716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743E-1920-5E2C-99DB-7AD7ED7B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EA34535-D990-8A33-5983-33AD598D4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44" y="2628971"/>
            <a:ext cx="8549640" cy="34014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B5AFC74-7AF0-C21B-2AB7-73D1FC0960F6}"/>
              </a:ext>
            </a:extLst>
          </p:cNvPr>
          <p:cNvSpPr txBox="1"/>
          <p:nvPr/>
        </p:nvSpPr>
        <p:spPr>
          <a:xfrm>
            <a:off x="0" y="1414720"/>
            <a:ext cx="110262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프로그래밍 툴 용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 프레임워크 개발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생성된 의존 그래프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기반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랜덤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Reordering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9DFDFA0-FE57-8D5A-FA04-402FC18E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프레임워크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10A80E55-6756-6B6F-9CAB-3B219B8C229E}"/>
              </a:ext>
            </a:extLst>
          </p:cNvPr>
          <p:cNvSpPr/>
          <p:nvPr/>
        </p:nvSpPr>
        <p:spPr>
          <a:xfrm>
            <a:off x="3195485" y="2733205"/>
            <a:ext cx="2753032" cy="115037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D944EF-1750-B48C-8550-7BE00A614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350" y="1881142"/>
            <a:ext cx="4656279" cy="468410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33ED409-7007-9C8B-027E-7DBD7BF5D822}"/>
              </a:ext>
            </a:extLst>
          </p:cNvPr>
          <p:cNvCxnSpPr>
            <a:cxnSpLocks/>
          </p:cNvCxnSpPr>
          <p:nvPr/>
        </p:nvCxnSpPr>
        <p:spPr>
          <a:xfrm flipV="1">
            <a:off x="5757893" y="2386877"/>
            <a:ext cx="817236" cy="242094"/>
          </a:xfrm>
          <a:prstGeom prst="straightConnector1">
            <a:avLst/>
          </a:prstGeom>
          <a:ln w="28575">
            <a:solidFill>
              <a:srgbClr val="C0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072220CD-12C3-BB8F-2B73-578FBA2C7547}"/>
              </a:ext>
            </a:extLst>
          </p:cNvPr>
          <p:cNvCxnSpPr>
            <a:cxnSpLocks/>
          </p:cNvCxnSpPr>
          <p:nvPr/>
        </p:nvCxnSpPr>
        <p:spPr>
          <a:xfrm>
            <a:off x="7431306" y="2455703"/>
            <a:ext cx="95489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AAE1071C-F3D1-4BB3-DA6B-F3EDD3533EF2}"/>
              </a:ext>
            </a:extLst>
          </p:cNvPr>
          <p:cNvCxnSpPr>
            <a:cxnSpLocks/>
          </p:cNvCxnSpPr>
          <p:nvPr/>
        </p:nvCxnSpPr>
        <p:spPr>
          <a:xfrm>
            <a:off x="9618983" y="2455703"/>
            <a:ext cx="159962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802B2FF9-A694-D9C6-A5DB-71106578EA31}"/>
              </a:ext>
            </a:extLst>
          </p:cNvPr>
          <p:cNvSpPr txBox="1">
            <a:spLocks/>
          </p:cNvSpPr>
          <p:nvPr/>
        </p:nvSpPr>
        <p:spPr>
          <a:xfrm>
            <a:off x="9177130" y="646769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10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92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90F4-5A25-C029-34D1-1244243B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DB0DEDD-6390-F331-B4F6-FCEE88F0C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7292" y="2628971"/>
            <a:ext cx="8549640" cy="3401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F2A6AE-CAD6-AEF4-18E4-E0F509ABD0B8}"/>
                  </a:ext>
                </a:extLst>
              </p:cNvPr>
              <p:cNvSpPr txBox="1"/>
              <p:nvPr/>
            </p:nvSpPr>
            <p:spPr>
              <a:xfrm>
                <a:off x="0" y="1414720"/>
                <a:ext cx="1102624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양자 프로그래밍 툴 용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Compiler-friendly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최적화 프레임워크 개발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Reorder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된 구현의 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Depth 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추정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및 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Top-</a:t>
                </a:r>
                <a14:m>
                  <m:oMath xmlns:m="http://schemas.openxmlformats.org/officeDocument/2006/math">
                    <m:r>
                      <a:rPr kumimoji="1" lang="en-US" altLang="ko-KR" sz="2200" b="1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𝒌</m:t>
                    </m:r>
                    <m:r>
                      <a:rPr kumimoji="1" lang="en-US" altLang="ko-KR" sz="2200" b="0" i="0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 </m:t>
                    </m:r>
                  </m:oMath>
                </a14:m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분류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(1000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번 시도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ko-KR" sz="2200" i="1" dirty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𝑘</m:t>
                    </m:r>
                    <m:r>
                      <a:rPr kumimoji="1" lang="en-US" altLang="ko-KR" sz="2200" b="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=3</m:t>
                    </m:r>
                  </m:oMath>
                </a14:m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F2A6AE-CAD6-AEF4-18E4-E0F509ABD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14720"/>
                <a:ext cx="11026244" cy="769441"/>
              </a:xfrm>
              <a:prstGeom prst="rect">
                <a:avLst/>
              </a:prstGeom>
              <a:blipFill>
                <a:blip r:embed="rId4"/>
                <a:stretch>
                  <a:fillRect l="-690" t="-8197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제목 1">
            <a:extLst>
              <a:ext uri="{FF2B5EF4-FFF2-40B4-BE49-F238E27FC236}">
                <a16:creationId xmlns:a16="http://schemas.microsoft.com/office/drawing/2014/main" id="{BBF0843B-FFC9-64FD-590A-BFE6569C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Compiler-friendly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최적화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프레임워크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D32FCBC0-EE8B-2D4D-01E1-CDCAABA4B1DE}"/>
              </a:ext>
            </a:extLst>
          </p:cNvPr>
          <p:cNvSpPr/>
          <p:nvPr/>
        </p:nvSpPr>
        <p:spPr>
          <a:xfrm>
            <a:off x="2143432" y="4640663"/>
            <a:ext cx="5338916" cy="1524163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0446CB-4A0B-9384-E367-007D5FC81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1286" y="2381193"/>
            <a:ext cx="3988470" cy="6874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FFF5081-4DC7-2CDC-5F9B-E5217D9B6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866" y="3265704"/>
            <a:ext cx="1264318" cy="33432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013B7F-7906-6962-5AB4-DB1C80923F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9654" y="3248323"/>
            <a:ext cx="1231733" cy="34019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072187C-2352-F922-BE5C-B3590BBB1B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438" y="3248323"/>
            <a:ext cx="1264318" cy="3356311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912D296-ED38-5CF3-92F6-6A382D4D07D3}"/>
              </a:ext>
            </a:extLst>
          </p:cNvPr>
          <p:cNvCxnSpPr>
            <a:cxnSpLocks/>
          </p:cNvCxnSpPr>
          <p:nvPr/>
        </p:nvCxnSpPr>
        <p:spPr>
          <a:xfrm flipV="1">
            <a:off x="6550963" y="3598606"/>
            <a:ext cx="1236185" cy="883492"/>
          </a:xfrm>
          <a:prstGeom prst="straightConnector1">
            <a:avLst/>
          </a:prstGeom>
          <a:ln w="28575">
            <a:solidFill>
              <a:srgbClr val="C0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F9E4F2-C067-0150-43C2-1EB2DE1D3991}"/>
              </a:ext>
            </a:extLst>
          </p:cNvPr>
          <p:cNvSpPr/>
          <p:nvPr/>
        </p:nvSpPr>
        <p:spPr>
          <a:xfrm>
            <a:off x="7973961" y="2381193"/>
            <a:ext cx="4105459" cy="4363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슬라이드 번호 개체 틀 10">
            <a:extLst>
              <a:ext uri="{FF2B5EF4-FFF2-40B4-BE49-F238E27FC236}">
                <a16:creationId xmlns:a16="http://schemas.microsoft.com/office/drawing/2014/main" id="{6E86665F-C7B7-AD30-4DAD-7D5D7C9B479D}"/>
              </a:ext>
            </a:extLst>
          </p:cNvPr>
          <p:cNvSpPr txBox="1">
            <a:spLocks/>
          </p:cNvSpPr>
          <p:nvPr/>
        </p:nvSpPr>
        <p:spPr>
          <a:xfrm>
            <a:off x="9309787" y="6480917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11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337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DD2A-3564-AAD3-B411-A67A3761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30;p80">
            <a:extLst>
              <a:ext uri="{FF2B5EF4-FFF2-40B4-BE49-F238E27FC236}">
                <a16:creationId xmlns:a16="http://schemas.microsoft.com/office/drawing/2014/main" id="{88229C0E-604B-5A67-2BAC-FFA15A90E469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CC50B6-0CA7-5F2C-D924-ED99C6F4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1824"/>
            <a:ext cx="7772400" cy="437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10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F6EF-6243-16B5-131C-D939A98D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E79B0AD5-B0C1-52DD-5DEC-FE77357D8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Real-World Examples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16B2A-E200-1C07-2AE1-25F2CD46C793}"/>
              </a:ext>
            </a:extLst>
          </p:cNvPr>
          <p:cNvSpPr txBox="1"/>
          <p:nvPr/>
        </p:nvSpPr>
        <p:spPr>
          <a:xfrm>
            <a:off x="206583" y="1140649"/>
            <a:ext cx="1105783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실제 양자 회로 구현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들을 대상으로 테스트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선형 연산이 아니더라도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내부 작은 선형 연산들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을 대상으로 적용하여 최적화 가능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lang="en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	  ⇒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AES S-box, Multiplication (</a:t>
            </a: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모듈러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reduction)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ko-KR" altLang="en-US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769DB1-8A18-B2FC-40EB-0B6B006B9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673" y="2333482"/>
            <a:ext cx="5308654" cy="43855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0F1C64-2795-90F5-304E-6BB3A2DBEB01}"/>
              </a:ext>
            </a:extLst>
          </p:cNvPr>
          <p:cNvSpPr txBox="1"/>
          <p:nvPr/>
        </p:nvSpPr>
        <p:spPr>
          <a:xfrm>
            <a:off x="9033676" y="4697511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Best AES S-box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D14275FF-5AE0-31B7-FCF6-E7258B723E43}"/>
              </a:ext>
            </a:extLst>
          </p:cNvPr>
          <p:cNvSpPr/>
          <p:nvPr/>
        </p:nvSpPr>
        <p:spPr>
          <a:xfrm>
            <a:off x="8641305" y="4812182"/>
            <a:ext cx="277605" cy="9935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슬라이드 번호 개체 틀 10">
            <a:extLst>
              <a:ext uri="{FF2B5EF4-FFF2-40B4-BE49-F238E27FC236}">
                <a16:creationId xmlns:a16="http://schemas.microsoft.com/office/drawing/2014/main" id="{F27F0349-A442-E703-C68E-DC0DB627AC0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13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25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A9028BEB-C0BD-3D03-4928-C3A5318A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">
            <a:extLst>
              <a:ext uri="{FF2B5EF4-FFF2-40B4-BE49-F238E27FC236}">
                <a16:creationId xmlns:a16="http://schemas.microsoft.com/office/drawing/2014/main" id="{A2BF40BC-1257-C968-1A4D-AE82C2EE0F16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E3A98BA-0DEB-C1A4-9A0A-3332794E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2" name="Google Shape;831;p80">
            <a:extLst>
              <a:ext uri="{FF2B5EF4-FFF2-40B4-BE49-F238E27FC236}">
                <a16:creationId xmlns:a16="http://schemas.microsoft.com/office/drawing/2014/main" id="{4ABFA5C3-DCA8-8CE1-5811-095CB3A51476}"/>
              </a:ext>
            </a:extLst>
          </p:cNvPr>
          <p:cNvSpPr txBox="1"/>
          <p:nvPr/>
        </p:nvSpPr>
        <p:spPr>
          <a:xfrm>
            <a:off x="1337913" y="2998133"/>
            <a:ext cx="987552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ko-KR" altLang="en-US" sz="6000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3211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3692</TotalTime>
  <Words>421</Words>
  <Application>Microsoft Macintosh PowerPoint</Application>
  <PresentationFormat>와이드스크린</PresentationFormat>
  <Paragraphs>74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Gmarket Sans TTF Bold</vt:lpstr>
      <vt:lpstr>Gmarket Sans TTF Medium</vt:lpstr>
      <vt:lpstr>맑은 고딕</vt:lpstr>
      <vt:lpstr>Arial</vt:lpstr>
      <vt:lpstr>Calibri</vt:lpstr>
      <vt:lpstr>Cambria Math</vt:lpstr>
      <vt:lpstr>Wingdings</vt:lpstr>
      <vt:lpstr>Office 테마</vt:lpstr>
      <vt:lpstr>양자 프로그래밍 툴 Depth 최적화  </vt:lpstr>
      <vt:lpstr>PowerPoint 프레젠테이션</vt:lpstr>
      <vt:lpstr>Case Study: AES MixColumn</vt:lpstr>
      <vt:lpstr>양자 프로그래밍 툴 Depth 최적화</vt:lpstr>
      <vt:lpstr>양자 프로그래밍 툴 Depth 최적화</vt:lpstr>
      <vt:lpstr>Compiler-friendly 최적화 프레임워크</vt:lpstr>
      <vt:lpstr>Compiler-friendly 최적화 프레임워크</vt:lpstr>
      <vt:lpstr>Compiler-friendly 최적화 프레임워크</vt:lpstr>
      <vt:lpstr>PowerPoint 프레젠테이션</vt:lpstr>
      <vt:lpstr>Compiler-friendly 최적화 프레임워크</vt:lpstr>
      <vt:lpstr>Compiler-friendly 최적화 프레임워크</vt:lpstr>
      <vt:lpstr>PowerPoint 프레젠테이션</vt:lpstr>
      <vt:lpstr>Real-World Examples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장경배</dc:creator>
  <cp:lastModifiedBy>장경배</cp:lastModifiedBy>
  <cp:revision>142</cp:revision>
  <dcterms:created xsi:type="dcterms:W3CDTF">2025-10-10T03:23:45Z</dcterms:created>
  <dcterms:modified xsi:type="dcterms:W3CDTF">2025-11-05T07:40:58Z</dcterms:modified>
</cp:coreProperties>
</file>