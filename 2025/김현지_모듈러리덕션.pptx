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490" r:id="rId2"/>
    <p:sldId id="609" r:id="rId3"/>
    <p:sldId id="606" r:id="rId4"/>
    <p:sldId id="605" r:id="rId5"/>
    <p:sldId id="607" r:id="rId6"/>
    <p:sldId id="608" r:id="rId7"/>
    <p:sldId id="597" r:id="rId8"/>
    <p:sldId id="29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000000"/>
    <a:srgbClr val="FBE3D6"/>
    <a:srgbClr val="DCEAF7"/>
    <a:srgbClr val="595959"/>
    <a:srgbClr val="C00000"/>
    <a:srgbClr val="BFBFBF"/>
    <a:srgbClr val="F2F2F2"/>
    <a:srgbClr val="4E95D9"/>
    <a:srgbClr val="A6CA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5510" autoAdjust="0"/>
  </p:normalViewPr>
  <p:slideViewPr>
    <p:cSldViewPr snapToGrid="0">
      <p:cViewPr varScale="1">
        <p:scale>
          <a:sx n="152" d="100"/>
          <a:sy n="152" d="100"/>
        </p:scale>
        <p:origin x="141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3F31EC-EE7A-9145-A64F-79FFA1E11469}" type="datetimeFigureOut">
              <a:rPr kumimoji="1" lang="ko-KR" altLang="en-US" smtClean="0"/>
              <a:t>2025-10-29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B115F6-681B-864C-A49C-C1EF69C6542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38819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7D07A-46F2-C9EC-F0F0-335B61DC5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5A4E05-40C9-46D4-78F3-D968CF6D02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CEB7EE54-978F-9D1A-488F-A9F336B6262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다만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 </a:t>
                </a:r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이 방식은 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QCSA</a:t>
                </a:r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의 내부 변수인 마지막 두 오퍼랜드 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(A,B)</a:t>
                </a:r>
                <a:r>
                  <a:rPr lang="ko-KR" altLang="en-US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를</a:t>
                </a:r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lang="ko-KR" altLang="en-US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인플레이스로</a:t>
                </a:r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더하는 것임 </a:t>
                </a:r>
                <a:b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</a:b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 </a:t>
                </a:r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그래서 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low n-bit (L)</a:t>
                </a:r>
                <a:r>
                  <a:rPr lang="ko-KR" altLang="en-US" dirty="0" err="1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를</a:t>
                </a:r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 오퍼랜드에 넣지 말고 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(L=L+A, L=L+B)</a:t>
                </a:r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로 해서 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L</a:t>
                </a:r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에 누적하면 추가 </a:t>
                </a:r>
                <a:r>
                  <a:rPr lang="ko-KR" altLang="en-US" dirty="0" err="1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큐비트</a:t>
                </a:r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 방지할 수 있을 것 같음 이것도 실구현으로 확인 필요</a:t>
                </a:r>
                <a:endParaRPr lang="en-US" altLang="ko-KR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endParaRPr kumimoji="1" lang="ko-KR" altLang="en-US" dirty="0"/>
              </a:p>
            </p:txBody>
          </p:sp>
        </mc:Choice>
        <mc:Fallback xmlns="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592C300D-3ED7-CFE8-4692-24815A2102B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it affected by the bit size of </a:t>
                </a:r>
                <a:r>
                  <a:rPr lang="en-US" altLang="ko-KR" i="0">
                    <a:latin typeface="Cambria Math" panose="02040503050406030204" pitchFamily="18" charset="0"/>
                    <a:ea typeface="Noto Sans KR" panose="020B0200000000000000" pitchFamily="50" charset="-127"/>
                  </a:rPr>
                  <a:t>2^𝑛−𝑝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(i.e., </a:t>
                </a:r>
                <a:r>
                  <a:rPr lang="en-US" altLang="ko-KR" i="0" dirty="0">
                    <a:latin typeface="Cambria Math" panose="02040503050406030204" pitchFamily="18" charset="0"/>
                    <a:ea typeface="Noto Sans KR" panose="020B0200000000000000" pitchFamily="50" charset="-127"/>
                  </a:rPr>
                  <a:t>〖𝑙𝑒𝑛〗_𝑛𝑝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and its maximum is </a:t>
                </a:r>
                <a:r>
                  <a:rPr lang="en-US" altLang="ko-KR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𝑛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-bits) and window size.</a:t>
                </a:r>
              </a:p>
              <a:p>
                <a:endParaRPr kumimoji="1" lang="ko-KR" altLang="en-US" dirty="0"/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7A08D1-7A7E-EC46-0A05-199A19A36D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B115F6-681B-864C-A49C-C1EF69C6542F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8821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kumimoji="1" lang="en-US" altLang="ko-KR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2"/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-H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는 </a:t>
            </a:r>
            <a:r>
              <a:rPr kumimoji="1"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인플레이스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뺄셈 한 번 </a:t>
            </a:r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+ mod p 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보정이 요구됨</a:t>
            </a:r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lvl="2"/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그러나 </a:t>
            </a:r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QCSA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 </a:t>
            </a:r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-1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을 세팅할 경우</a:t>
            </a:r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QCSA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내부 마지막 덧셈과 </a:t>
            </a:r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mod p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 필요함</a:t>
            </a:r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lvl="1"/>
            <a:endParaRPr kumimoji="1"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ko-KR" altLang="en-US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B115F6-681B-864C-A49C-C1EF69C6542F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030639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35001-4306-486A-22C9-A9586D704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84F558-90B1-ECA5-86F4-DCF22A06AC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D553F3C-713E-BEF8-E4BB-A8A1C4D9E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kumimoji="1" lang="en-US" altLang="ko-KR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2"/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-H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는 </a:t>
            </a:r>
            <a:r>
              <a:rPr kumimoji="1"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인플레이스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뺄셈 한 번 </a:t>
            </a:r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+ mod p 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보정이 요구됨</a:t>
            </a:r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lvl="2"/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그러나 </a:t>
            </a:r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QCSA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 </a:t>
            </a:r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-1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을 세팅할 경우</a:t>
            </a:r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QCSA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내부 마지막 덧셈과 </a:t>
            </a:r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mod p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 필요함</a:t>
            </a:r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lvl="1"/>
            <a:endParaRPr kumimoji="1"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F3EE74-32C1-88C7-C41B-C846DED549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B115F6-681B-864C-A49C-C1EF69C6542F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975964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3ACDA-F1AA-2B49-4A35-894D8A832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E9052D-1685-F9A9-17CB-C930240B62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38DDD9-99E9-45E4-520F-767E2D9D9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kumimoji="1" lang="en-US" altLang="ko-KR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2"/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-H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는 </a:t>
            </a:r>
            <a:r>
              <a:rPr kumimoji="1"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인플레이스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뺄셈 한 번 </a:t>
            </a:r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+ mod p 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보정이 요구됨</a:t>
            </a:r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lvl="2"/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그러나 </a:t>
            </a:r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QCSA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 </a:t>
            </a:r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-1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을 세팅할 경우</a:t>
            </a:r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QCSA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내부 마지막 덧셈과 </a:t>
            </a:r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mod p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 필요함</a:t>
            </a:r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lvl="1"/>
            <a:endParaRPr kumimoji="1"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1CF2FA-8389-F956-DDE1-60ABE67763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B115F6-681B-864C-A49C-C1EF69C6542F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58979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4CA69-CE6F-5B14-F26E-4F2652A3B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B6F4AF-6014-588A-7552-BE55EDB79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40F7F2-9652-C65E-5464-2E6FF76F6E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F965B0-D12E-A1C8-8B8A-C986C9315F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B115F6-681B-864C-A49C-C1EF69C6542F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62540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4ADA06-94F4-8528-2598-3CBF51B88A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F575A47-6519-32F0-BBC1-2F1EDB5217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FE7E95-2568-7FE7-3600-1FD6116D7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E2436-1BD2-A84A-82C9-CAB576CC4165}" type="datetimeFigureOut">
              <a:rPr kumimoji="1" lang="ko-KR" altLang="en-US" smtClean="0"/>
              <a:t>2025-10-29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FE0B23-B8DC-C908-8AEC-64070B306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2BCBD6-CAB3-E5B0-D5AB-C6406B10E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95102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99EE02-0415-E6A4-F573-33575F963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4AD659-5234-34A7-6210-A593F868A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504220-89C0-7720-8EA5-1A1747129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E2436-1BD2-A84A-82C9-CAB576CC4165}" type="datetimeFigureOut">
              <a:rPr kumimoji="1" lang="ko-KR" altLang="en-US" smtClean="0"/>
              <a:t>2025-10-29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EC3866-F99F-2333-3BB0-E9F9924B8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CFE4C0-9A15-E6F6-AFF8-5A9334344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46906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0739F2-A377-198B-3BA9-6C8847184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C7ACFF-A3D6-1953-ADFC-389791D0C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5A104C-2370-0808-B1B8-EBF8936F9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E2436-1BD2-A84A-82C9-CAB576CC4165}" type="datetimeFigureOut">
              <a:rPr kumimoji="1" lang="ko-KR" altLang="en-US" smtClean="0"/>
              <a:t>2025-10-29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E8544A-214B-27F1-6928-0986067A5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F3BB7D-02C8-ECB0-3311-4FFFCB6BF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72871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A0683C-67A7-EBEC-FE49-ACC979C19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4E2623-584A-2DBE-FFBE-648CEDF1A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22B069-57BE-00F0-7696-10218B5B4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711D98-EC6A-EEFA-9F5D-DBFEA87A2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E2436-1BD2-A84A-82C9-CAB576CC4165}" type="datetimeFigureOut">
              <a:rPr kumimoji="1" lang="ko-KR" altLang="en-US" smtClean="0"/>
              <a:t>2025-10-29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598CCB-979D-1928-0382-7387B0DD1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78B039-4C85-5F8D-8AA3-6D6A6C9EE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91879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464E15-DD77-7F1F-E0DF-8A79DF8DC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0E897D-4AC2-E309-DC80-9FC0324FD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689CC9-16BB-09F7-7107-B3A461DB85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B03C486-86C5-D9C6-160E-831CC17F6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11C78B1-01A0-C80D-8D95-AEF8D53456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92248DF-0F01-B2E2-BCF7-335257060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E2436-1BD2-A84A-82C9-CAB576CC4165}" type="datetimeFigureOut">
              <a:rPr kumimoji="1" lang="ko-KR" altLang="en-US" smtClean="0"/>
              <a:t>2025-10-29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7E19DAC-D532-4249-020D-54D56B250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A1ADEC4-BDAD-0BCA-CB17-8E39FEF18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962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CF54D4-42E0-DC3E-155D-DDF4DF2A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4ECFD4D-047B-107A-63E2-4E9A31566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E2436-1BD2-A84A-82C9-CAB576CC4165}" type="datetimeFigureOut">
              <a:rPr kumimoji="1" lang="ko-KR" altLang="en-US" smtClean="0"/>
              <a:t>2025-10-29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07C40E-B632-0B6A-93C4-F98EA156F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CA156C5-C75B-3D14-7F85-6FCB99135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63105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AC365F4-F171-3F28-7C74-317E1961B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E2436-1BD2-A84A-82C9-CAB576CC4165}" type="datetimeFigureOut">
              <a:rPr kumimoji="1" lang="ko-KR" altLang="en-US" smtClean="0"/>
              <a:t>2025-10-29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8304B2D-17FF-265D-0333-A367E0EF0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355010-11FF-8A30-9542-5ABA50440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49050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AC5FA1-606E-02D7-F17D-2CE587F6B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D5D825-E0CF-E58A-B5CA-0E5F3F618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A1C8030-B6DD-14F4-DB1A-105045AFE5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4D35FF-4EFD-699C-2A0B-B6C6340BB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E2436-1BD2-A84A-82C9-CAB576CC4165}" type="datetimeFigureOut">
              <a:rPr kumimoji="1" lang="ko-KR" altLang="en-US" smtClean="0"/>
              <a:t>2025-10-29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EEC4C5-C033-85B9-F59B-6097828CB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2B38B2-206E-3564-17A6-1DC361A9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63171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1646D5-8A0C-7437-7F1D-0F2A91DD0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8E15370-F1EF-58BA-C4BD-946E65824C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C9C5A0-256A-8ED6-BA79-67B6FE9C1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AFA039-9910-B43D-5FB1-2ADF955FE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E2436-1BD2-A84A-82C9-CAB576CC4165}" type="datetimeFigureOut">
              <a:rPr kumimoji="1" lang="ko-KR" altLang="en-US" smtClean="0"/>
              <a:t>2025-10-29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61295DA-831B-A36A-9102-D9137E5A2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D797F1-29A3-E72C-7824-58542B433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59564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ECF08-7F65-7187-C6DD-B0D927D8B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47350AB-5F7E-02E5-5730-9D79CD325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37F166-78BD-7358-D64D-6AD8CC40E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E2436-1BD2-A84A-82C9-CAB576CC4165}" type="datetimeFigureOut">
              <a:rPr kumimoji="1" lang="ko-KR" altLang="en-US" smtClean="0"/>
              <a:t>2025-10-29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A4E61-927F-0D30-5F8D-81319D7ED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48B502-D49F-A3A3-C7ED-98B752EE8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02337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3FCA579-51EA-7FBC-DD38-652D09608E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57920AC-DA3A-96E0-0B4A-8ACBF5578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82D07F-68C3-AB75-152D-B389FE518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E2436-1BD2-A84A-82C9-CAB576CC4165}" type="datetimeFigureOut">
              <a:rPr kumimoji="1" lang="ko-KR" altLang="en-US" smtClean="0"/>
              <a:t>2025-10-29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A6102F-7489-45B7-144C-1CA22175F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356F0C-7441-FD23-EDBA-79DE3E23C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241464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함초롬돋움" panose="020B0604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G마켓 산스 TTF Light" panose="02000000000000000000" pitchFamily="2" charset="-127"/>
                <a:ea typeface="G마켓 산스 TTF Light" panose="02000000000000000000" pitchFamily="2" charset="-127"/>
                <a:cs typeface="함초롬돋움" panose="020B0604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36" t="69587"/>
          <a:stretch/>
        </p:blipFill>
        <p:spPr>
          <a:xfrm>
            <a:off x="0" y="6642340"/>
            <a:ext cx="1802918" cy="19548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520"/>
          <a:stretch/>
        </p:blipFill>
        <p:spPr>
          <a:xfrm>
            <a:off x="10880202" y="6584950"/>
            <a:ext cx="1311798" cy="27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127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057775"/>
          </a:xfrm>
        </p:spPr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  <a:lvl2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2pPr>
            <a:lvl3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3pPr>
            <a:lvl4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4pPr>
            <a:lvl5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5277415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000" dirty="0">
                <a:latin typeface="+mj-lt"/>
              </a:rPr>
              <a:t>Q &amp; A</a:t>
            </a:r>
            <a:endParaRPr lang="ko-KR" altLang="en-US" sz="8000" dirty="0">
              <a:latin typeface="+mj-lt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F54A3FA-9626-F1E9-93E9-8D9DC5208628}"/>
              </a:ext>
            </a:extLst>
          </p:cNvPr>
          <p:cNvSpPr/>
          <p:nvPr userDrawn="1"/>
        </p:nvSpPr>
        <p:spPr>
          <a:xfrm>
            <a:off x="2783197" y="2082113"/>
            <a:ext cx="6625606" cy="26937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감사합니다</a:t>
            </a:r>
            <a:r>
              <a:rPr kumimoji="1" lang="en-US" altLang="ko-KR" sz="40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  <a:endParaRPr kumimoji="1" lang="ko-KR" altLang="en-US" sz="4000" b="1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5587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B25361D-BF7D-A406-84A8-D5F98AC2E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E98C96-41E7-36DB-5B22-BE8E95FC5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2B9C7C-7BC7-D29C-E907-E7D73EB534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5E2436-1BD2-A84A-82C9-CAB576CC4165}" type="datetimeFigureOut">
              <a:rPr kumimoji="1" lang="ko-KR" altLang="en-US" smtClean="0"/>
              <a:t>2025-10-29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06EFAD-16B5-BE60-54DA-36E6F7EB2A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BEEBFF-FBBE-782B-2E44-94BAF3C59D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23779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0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99D05F-A05F-2997-51A1-420C19FA85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5200"/>
            <a:ext cx="12192000" cy="2387600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solidFill>
                  <a:srgbClr val="0070C0"/>
                </a:solidFill>
                <a:latin typeface="Noto Sans Armenian" panose="020B0502040504020204" pitchFamily="34" charset="0"/>
              </a:rPr>
              <a:t>Modular reduction for NIST curves (prime ECC)</a:t>
            </a:r>
            <a:endParaRPr lang="ko-KR" altLang="en-US" sz="4000" b="1" dirty="0">
              <a:solidFill>
                <a:srgbClr val="FF0000"/>
              </a:solidFill>
              <a:latin typeface="Noto Sans Armenian" panose="020B050204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9B6E4E-853A-50AA-D287-984EF7464B7C}"/>
              </a:ext>
            </a:extLst>
          </p:cNvPr>
          <p:cNvSpPr txBox="1"/>
          <p:nvPr/>
        </p:nvSpPr>
        <p:spPr>
          <a:xfrm>
            <a:off x="4163147" y="4382814"/>
            <a:ext cx="3865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https://youtu.be/gD1M7M581mk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8714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0D2166-AD7B-CF94-62BD-3A278419E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>
                <a:latin typeface="Noto Sans Armenian" panose="020B0502040504020204" pitchFamily="34" charset="0"/>
              </a:rPr>
              <a:t>Modular reduction for</a:t>
            </a:r>
            <a:r>
              <a:rPr kumimoji="1" lang="ko-KR" altLang="en-US" dirty="0">
                <a:latin typeface="Noto Sans Armenian" panose="020B0502040504020204" pitchFamily="34" charset="0"/>
              </a:rPr>
              <a:t> </a:t>
            </a:r>
            <a:r>
              <a:rPr kumimoji="1" lang="en-US" altLang="ko-KR" dirty="0">
                <a:latin typeface="Noto Sans Armenian" panose="020B0502040504020204" pitchFamily="34" charset="0"/>
              </a:rPr>
              <a:t>inversion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C1D3A7A8-FD6A-74B6-7548-E9C615A486E0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190501" y="1152525"/>
                <a:ext cx="11901426" cy="5057775"/>
              </a:xfrm>
            </p:spPr>
            <p:txBody>
              <a:bodyPr>
                <a:noAutofit/>
              </a:bodyPr>
              <a:lstStyle/>
              <a:p>
                <a:r>
                  <a:rPr kumimoji="1" lang="en-US" altLang="ko-KR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Prime of P-curves have these form, and we can use the modular congruence for reduction.</a:t>
                </a:r>
              </a:p>
              <a:p>
                <a:endParaRPr kumimoji="1" lang="en-US" altLang="ko-KR" sz="20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endParaRPr kumimoji="1" lang="en-US" altLang="ko-KR" sz="20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endParaRPr kumimoji="1" lang="en-US" altLang="ko-KR" sz="20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0" indent="0">
                  <a:buNone/>
                </a:pPr>
                <a:endParaRPr kumimoji="1" lang="en-US" altLang="ko-KR" sz="20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r>
                  <a:rPr kumimoji="1" lang="en-US" altLang="ko-KR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Modular reduction can be performed by addition.</a:t>
                </a:r>
              </a:p>
              <a:p>
                <a:pPr lvl="1"/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Example: n=4,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60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ko-KR" altLang="en-US" sz="1600" dirty="0"/>
                  <a:t>  </a:t>
                </a:r>
                <a:endParaRPr lang="en-US" altLang="ko-KR" sz="1600" dirty="0"/>
              </a:p>
              <a:p>
                <a:pPr lvl="1"/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input[4]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input[1] + input[0]</a:t>
                </a:r>
                <a:endParaRPr kumimoji="1" lang="en-US" altLang="ko-KR" sz="16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lvl="1"/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input[5]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input[2] + input[1] </a:t>
                </a:r>
                <a:b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</a:br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		…</a:t>
                </a:r>
              </a:p>
              <a:p>
                <a:pPr lvl="1"/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input[7]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input[4] + input[3]</a:t>
                </a:r>
                <a:b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</a:br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	</a:t>
                </a:r>
                <a:b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</a:br>
                <a:endParaRPr kumimoji="1" lang="en-US" altLang="ko-KR" sz="1600" dirty="0"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endParaRPr>
              </a:p>
              <a:p>
                <a:pPr marL="457200" lvl="1" indent="0">
                  <a:buNone/>
                </a:pPr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   </a:t>
                </a:r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 input[7]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 </m:t>
                    </m:r>
                  </m:oMath>
                </a14:m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input[1] + input[0] + input[3]</a:t>
                </a:r>
                <a:b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</a:br>
                <a:endParaRPr kumimoji="1" lang="en-US" altLang="ko-KR" sz="1600" dirty="0"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endParaRPr>
              </a:p>
              <a:p>
                <a:pPr lvl="1"/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1 bit (exceeding </a:t>
                </a:r>
                <a14:m>
                  <m:oMath xmlns:m="http://schemas.openxmlformats.org/officeDocument/2006/math">
                    <m:r>
                      <a:rPr kumimoji="1" lang="en-US" altLang="ko-KR" sz="1600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  <a:sym typeface="Wingdings" panose="05000000000000000000" pitchFamily="2" charset="2"/>
                      </a:rPr>
                      <m:t>𝑛</m:t>
                    </m:r>
                  </m:oMath>
                </a14:m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) maps to 2~3 bits depending on curve.</a:t>
                </a:r>
              </a:p>
              <a:p>
                <a:pPr lvl="1"/>
                <a:endParaRPr kumimoji="1" lang="en-US" altLang="ko-KR" sz="16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C1D3A7A8-FD6A-74B6-7548-E9C615A486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190501" y="1152525"/>
                <a:ext cx="11901426" cy="5057775"/>
              </a:xfrm>
              <a:blipFill>
                <a:blip r:embed="rId2"/>
                <a:stretch>
                  <a:fillRect l="-319" t="-1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99FED5-DBA0-05DC-1B16-5DC327D43EBD}"/>
                  </a:ext>
                </a:extLst>
              </p:cNvPr>
              <p:cNvSpPr txBox="1"/>
              <p:nvPr/>
            </p:nvSpPr>
            <p:spPr>
              <a:xfrm>
                <a:off x="751879" y="1513864"/>
                <a:ext cx="6097464" cy="14834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192</m:t>
                        </m:r>
                      </m:sup>
                    </m:sSup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ko-KR" altLang="en-US" dirty="0"/>
                  <a:t> </a:t>
                </a:r>
                <a:endParaRPr lang="en-US" altLang="ko-K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224</m:t>
                        </m:r>
                      </m:sup>
                    </m:sSup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96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ko-KR" altLang="en-US" dirty="0"/>
                  <a:t> </a:t>
                </a:r>
                <a:endParaRPr lang="en-US" altLang="ko-K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256</m:t>
                        </m:r>
                      </m:sup>
                    </m:sSup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224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192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96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ko-KR" altLang="en-US" dirty="0"/>
                  <a:t> </a:t>
                </a:r>
                <a:endParaRPr lang="en-US" altLang="ko-K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384</m:t>
                        </m:r>
                      </m:sup>
                    </m:sSup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96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ko-KR" altLang="en-US" dirty="0"/>
                  <a:t> </a:t>
                </a:r>
                <a:endParaRPr lang="en-US" altLang="ko-K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521</m:t>
                        </m:r>
                      </m:sup>
                    </m:sSup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ko-KR" altLang="en-US" dirty="0"/>
                  <a:t> 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99FED5-DBA0-05DC-1B16-5DC327D43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879" y="1513864"/>
                <a:ext cx="6097464" cy="1483483"/>
              </a:xfrm>
              <a:prstGeom prst="rect">
                <a:avLst/>
              </a:prstGeom>
              <a:blipFill>
                <a:blip r:embed="rId3"/>
                <a:stretch>
                  <a:fillRect l="-599" b="-45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그룹 12">
            <a:extLst>
              <a:ext uri="{FF2B5EF4-FFF2-40B4-BE49-F238E27FC236}">
                <a16:creationId xmlns:a16="http://schemas.microsoft.com/office/drawing/2014/main" id="{B08907E7-0637-2A8B-1D2A-A715AFDC1742}"/>
              </a:ext>
            </a:extLst>
          </p:cNvPr>
          <p:cNvGrpSpPr/>
          <p:nvPr/>
        </p:nvGrpSpPr>
        <p:grpSpPr>
          <a:xfrm>
            <a:off x="6381750" y="3706765"/>
            <a:ext cx="5710178" cy="2556920"/>
            <a:chOff x="6096000" y="3706765"/>
            <a:chExt cx="5710178" cy="2556920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43289091-1F0F-D72E-460A-C7F663323AB0}"/>
                </a:ext>
              </a:extLst>
            </p:cNvPr>
            <p:cNvGrpSpPr/>
            <p:nvPr/>
          </p:nvGrpSpPr>
          <p:grpSpPr>
            <a:xfrm>
              <a:off x="6096000" y="4023360"/>
              <a:ext cx="5710178" cy="2240325"/>
              <a:chOff x="6244287" y="4111647"/>
              <a:chExt cx="5710178" cy="2240325"/>
            </a:xfrm>
          </p:grpSpPr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CCC16B75-4565-6D90-05A4-0BA7559AC1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782" t="10101" r="818" b="42584"/>
              <a:stretch>
                <a:fillRect/>
              </a:stretch>
            </p:blipFill>
            <p:spPr>
              <a:xfrm>
                <a:off x="6244288" y="4111647"/>
                <a:ext cx="5710177" cy="1324303"/>
              </a:xfrm>
              <a:prstGeom prst="rect">
                <a:avLst/>
              </a:prstGeom>
            </p:spPr>
          </p:pic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CC1E5668-4A04-870C-FD24-B303987926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782" t="65265" r="818" b="2008"/>
              <a:stretch>
                <a:fillRect/>
              </a:stretch>
            </p:blipFill>
            <p:spPr>
              <a:xfrm>
                <a:off x="6244287" y="5435950"/>
                <a:ext cx="5710177" cy="916022"/>
              </a:xfrm>
              <a:prstGeom prst="rect">
                <a:avLst/>
              </a:prstGeom>
            </p:spPr>
          </p:pic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3C31A45-DD36-F776-F340-BAA322A3259D}"/>
                </a:ext>
              </a:extLst>
            </p:cNvPr>
            <p:cNvSpPr txBox="1"/>
            <p:nvPr/>
          </p:nvSpPr>
          <p:spPr>
            <a:xfrm>
              <a:off x="6096000" y="3706765"/>
              <a:ext cx="11624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Input[0]~[7]</a:t>
              </a:r>
              <a:endParaRPr lang="ko-KR" altLang="en-US" sz="1400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7BF729E-E10A-217A-A421-8EBE73C3B53C}"/>
              </a:ext>
            </a:extLst>
          </p:cNvPr>
          <p:cNvSpPr txBox="1"/>
          <p:nvPr/>
        </p:nvSpPr>
        <p:spPr>
          <a:xfrm>
            <a:off x="2146741" y="4884505"/>
            <a:ext cx="18450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= input[1] + input[0]</a:t>
            </a:r>
            <a:endParaRPr kumimoji="1"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F55E1FF-71FC-747C-3AD3-4EE86CFCA40B}"/>
              </a:ext>
            </a:extLst>
          </p:cNvPr>
          <p:cNvCxnSpPr/>
          <p:nvPr/>
        </p:nvCxnSpPr>
        <p:spPr>
          <a:xfrm>
            <a:off x="1991272" y="4878155"/>
            <a:ext cx="7630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1238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D019D-DFDB-47D6-9D35-7A36004BE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">
            <a:extLst>
              <a:ext uri="{FF2B5EF4-FFF2-40B4-BE49-F238E27FC236}">
                <a16:creationId xmlns:a16="http://schemas.microsoft.com/office/drawing/2014/main" id="{D120F91D-8093-CC66-DA9A-03D8AFD65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/>
          <a:p>
            <a:r>
              <a:rPr kumimoji="1" lang="en-US" altLang="en-US" dirty="0">
                <a:latin typeface="Noto Sans Armenian" panose="020B0502040504020204" pitchFamily="34" charset="0"/>
              </a:rPr>
              <a:t>Modular reduction for 2n-bit data</a:t>
            </a:r>
            <a:endParaRPr kumimoji="1" lang="ko-Kore-KR" altLang="en-US" dirty="0">
              <a:latin typeface="Noto Sans Armenian" panose="020B05020405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C854856-3864-E0E3-8488-F4F0ED1CDB77}"/>
                  </a:ext>
                </a:extLst>
              </p:cNvPr>
              <p:cNvSpPr txBox="1"/>
              <p:nvPr/>
            </p:nvSpPr>
            <p:spPr>
              <a:xfrm>
                <a:off x="115614" y="1054089"/>
                <a:ext cx="11664466" cy="5416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b="1" dirty="0">
                    <a:solidFill>
                      <a:srgbClr val="0070C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This can be performed by QCSA + few additions.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Total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𝑛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+1</m:t>
                    </m:r>
                  </m:oMath>
                </a14:m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operands.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Each operand is </a:t>
                </a:r>
                <a:r>
                  <a:rPr lang="en-US" altLang="ko-KR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constant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 and it depends on the curve parameter (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𝑛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,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𝑝</m:t>
                    </m:r>
                  </m:oMath>
                </a14:m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).</a:t>
                </a:r>
              </a:p>
              <a:p>
                <a:pPr marL="1257300" lvl="2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Not related to qubit state.</a:t>
                </a:r>
              </a:p>
              <a:p>
                <a:pPr marL="1257300" lvl="2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Can be set using controlled X gate.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Need </a:t>
                </a:r>
                <a:r>
                  <a:rPr lang="en-US" altLang="ko-KR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last 2 additions 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to ensure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𝑛</m:t>
                    </m:r>
                  </m:oMath>
                </a14:m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-bit result.</a:t>
                </a:r>
              </a:p>
              <a:p>
                <a:endParaRPr lang="en-US" altLang="ko-KR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endParaRPr lang="en-US" altLang="ko-KR" sz="10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It requires many ancillas for input setting.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Can </a:t>
                </a:r>
                <a:r>
                  <a:rPr lang="en-US" altLang="ko-KR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borrow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lang="en-US" altLang="ko-KR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the ancillas 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for input of </a:t>
                </a:r>
                <a:r>
                  <a:rPr lang="en-US" altLang="ko-KR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multiplication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8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𝑛</m:t>
                    </m:r>
                  </m:oMath>
                </a14:m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).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Allocate qubits only to bits involved in computation (colored cells). 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Need to </a:t>
                </a:r>
                <a:r>
                  <a:rPr lang="en-US" altLang="ko-KR" b="1" dirty="0">
                    <a:solidFill>
                      <a:srgbClr val="0070C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adjust the computation group 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properly.</a:t>
                </a:r>
              </a:p>
              <a:p>
                <a:pPr marL="1257300" lvl="2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No need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</m:ctrlPr>
                      </m:sSup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𝑛</m:t>
                        </m:r>
                      </m:e>
                      <m:sup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-qubits.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b="1" dirty="0">
                    <a:solidFill>
                      <a:srgbClr val="0070C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For n=192/224/521</a:t>
                </a:r>
                <a:r>
                  <a:rPr lang="en-US" altLang="ko-KR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 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ancillas for Mul (8n) </a:t>
                </a:r>
                <a:r>
                  <a:rPr lang="en-US" altLang="ko-KR" b="1" dirty="0">
                    <a:solidFill>
                      <a:srgbClr val="0070C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can cover</a:t>
                </a:r>
                <a:r>
                  <a:rPr lang="ko-KR" altLang="en-US" b="1" dirty="0">
                    <a:solidFill>
                      <a:srgbClr val="0070C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lang="en-US" altLang="ko-KR" b="1" dirty="0">
                    <a:solidFill>
                      <a:srgbClr val="0070C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these input ancillas of reduction</a:t>
                </a:r>
                <a:r>
                  <a:rPr lang="ko-KR" altLang="en-US" b="1" dirty="0">
                    <a:solidFill>
                      <a:srgbClr val="0070C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(2n~4n).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We will use </a:t>
                </a:r>
                <a:r>
                  <a:rPr lang="en-US" altLang="ko-KR" b="1" dirty="0">
                    <a:solidFill>
                      <a:srgbClr val="0070C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in-place QCSA</a:t>
                </a:r>
                <a:r>
                  <a:rPr lang="en-US" altLang="ko-KR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not to make additional qubits.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C854856-3864-E0E3-8488-F4F0ED1CD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14" y="1054089"/>
                <a:ext cx="11664466" cy="5416868"/>
              </a:xfrm>
              <a:prstGeom prst="rect">
                <a:avLst/>
              </a:prstGeom>
              <a:blipFill>
                <a:blip r:embed="rId3"/>
                <a:stretch>
                  <a:fillRect l="-470" t="-675" b="-7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33E94CA-3287-16F9-CEF5-B15A281037D8}"/>
                  </a:ext>
                </a:extLst>
              </p:cNvPr>
              <p:cNvSpPr txBox="1"/>
              <p:nvPr/>
            </p:nvSpPr>
            <p:spPr>
              <a:xfrm>
                <a:off x="7435255" y="5238756"/>
                <a:ext cx="36187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due to the small number of terms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(e.g.,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2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2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</m:sSup>
                    <m:r>
                      <a:rPr lang="en-US" altLang="ko-KR" sz="12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ko-KR" sz="1200" dirty="0">
                    <a:solidFill>
                      <a:schemeClr val="bg1">
                        <a:lumMod val="50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)</a:t>
                </a:r>
                <a:endParaRPr lang="ko-KR" altLang="en-US" sz="1200" dirty="0">
                  <a:solidFill>
                    <a:schemeClr val="bg1">
                      <a:lumMod val="50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33E94CA-3287-16F9-CEF5-B15A28103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5255" y="5238756"/>
                <a:ext cx="3618786" cy="276999"/>
              </a:xfrm>
              <a:prstGeom prst="rect">
                <a:avLst/>
              </a:prstGeom>
              <a:blipFill>
                <a:blip r:embed="rId4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그룹 28">
            <a:extLst>
              <a:ext uri="{FF2B5EF4-FFF2-40B4-BE49-F238E27FC236}">
                <a16:creationId xmlns:a16="http://schemas.microsoft.com/office/drawing/2014/main" id="{2A7D3123-0260-8C2C-6C6C-0B1054E897A1}"/>
              </a:ext>
            </a:extLst>
          </p:cNvPr>
          <p:cNvGrpSpPr/>
          <p:nvPr/>
        </p:nvGrpSpPr>
        <p:grpSpPr>
          <a:xfrm>
            <a:off x="6956729" y="1883156"/>
            <a:ext cx="5280182" cy="1319874"/>
            <a:chOff x="6956729" y="1757032"/>
            <a:chExt cx="5280182" cy="1319874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3E40F653-D14A-EEEA-977F-ECFE11A1E2A0}"/>
                </a:ext>
              </a:extLst>
            </p:cNvPr>
            <p:cNvGrpSpPr/>
            <p:nvPr/>
          </p:nvGrpSpPr>
          <p:grpSpPr>
            <a:xfrm>
              <a:off x="6956729" y="1757032"/>
              <a:ext cx="5280182" cy="1319874"/>
              <a:chOff x="6925198" y="1757032"/>
              <a:chExt cx="5280182" cy="1319874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2AFC326B-0EC3-996E-CBCD-FFA797B510AD}"/>
                  </a:ext>
                </a:extLst>
              </p:cNvPr>
              <p:cNvGrpSpPr/>
              <p:nvPr/>
            </p:nvGrpSpPr>
            <p:grpSpPr>
              <a:xfrm>
                <a:off x="6925198" y="2098453"/>
                <a:ext cx="5280182" cy="978453"/>
                <a:chOff x="6208417" y="1036156"/>
                <a:chExt cx="5280182" cy="978453"/>
              </a:xfrm>
            </p:grpSpPr>
            <p:grpSp>
              <p:nvGrpSpPr>
                <p:cNvPr id="20" name="그룹 19">
                  <a:extLst>
                    <a:ext uri="{FF2B5EF4-FFF2-40B4-BE49-F238E27FC236}">
                      <a16:creationId xmlns:a16="http://schemas.microsoft.com/office/drawing/2014/main" id="{33449D40-D82E-141E-EC87-C1FFFD4D4955}"/>
                    </a:ext>
                  </a:extLst>
                </p:cNvPr>
                <p:cNvGrpSpPr/>
                <p:nvPr/>
              </p:nvGrpSpPr>
              <p:grpSpPr>
                <a:xfrm>
                  <a:off x="6208417" y="1036156"/>
                  <a:ext cx="5280182" cy="978453"/>
                  <a:chOff x="6792617" y="1741447"/>
                  <a:chExt cx="5280182" cy="978453"/>
                </a:xfrm>
              </p:grpSpPr>
              <p:grpSp>
                <p:nvGrpSpPr>
                  <p:cNvPr id="10" name="그룹 9">
                    <a:extLst>
                      <a:ext uri="{FF2B5EF4-FFF2-40B4-BE49-F238E27FC236}">
                        <a16:creationId xmlns:a16="http://schemas.microsoft.com/office/drawing/2014/main" id="{DF961430-8038-E1DD-92B2-E990A41170FF}"/>
                      </a:ext>
                    </a:extLst>
                  </p:cNvPr>
                  <p:cNvGrpSpPr/>
                  <p:nvPr/>
                </p:nvGrpSpPr>
                <p:grpSpPr>
                  <a:xfrm>
                    <a:off x="8576817" y="1803878"/>
                    <a:ext cx="3495982" cy="916022"/>
                    <a:chOff x="7827501" y="2512978"/>
                    <a:chExt cx="4016697" cy="916022"/>
                  </a:xfrm>
                </p:grpSpPr>
                <p:pic>
                  <p:nvPicPr>
                    <p:cNvPr id="5" name="그림 4">
                      <a:extLst>
                        <a:ext uri="{FF2B5EF4-FFF2-40B4-BE49-F238E27FC236}">
                          <a16:creationId xmlns:a16="http://schemas.microsoft.com/office/drawing/2014/main" id="{FDD542CD-B082-38D9-9ABF-D4D32347333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/>
                    <a:srcRect l="50401" t="65265" r="818" b="2008"/>
                    <a:stretch>
                      <a:fillRect/>
                    </a:stretch>
                  </p:blipFill>
                  <p:spPr>
                    <a:xfrm>
                      <a:off x="7827501" y="2512978"/>
                      <a:ext cx="2859851" cy="916022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7" name="TextBox 6">
                      <a:extLst>
                        <a:ext uri="{FF2B5EF4-FFF2-40B4-BE49-F238E27FC236}">
                          <a16:creationId xmlns:a16="http://schemas.microsoft.com/office/drawing/2014/main" id="{6567BDFF-570D-1879-C112-35957ABD8E4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695289" y="2786734"/>
                      <a:ext cx="1148909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kumimoji="1"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  <a:sym typeface="Wingdings" panose="05000000000000000000" pitchFamily="2" charset="2"/>
                        </a:rPr>
                        <a:t>QCSA</a:t>
                      </a:r>
                      <a:endParaRPr kumimoji="1" lang="en-US" altLang="ko-KR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p:txBody>
                </p:sp>
                <p:sp>
                  <p:nvSpPr>
                    <p:cNvPr id="9" name="오른쪽 중괄호 8">
                      <a:extLst>
                        <a:ext uri="{FF2B5EF4-FFF2-40B4-BE49-F238E27FC236}">
                          <a16:creationId xmlns:a16="http://schemas.microsoft.com/office/drawing/2014/main" id="{20E4210D-B5C8-57D4-1F61-54519FF9E5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5289" y="2525590"/>
                      <a:ext cx="209550" cy="860842"/>
                    </a:xfrm>
                    <a:prstGeom prst="rightBrace">
                      <a:avLst/>
                    </a:prstGeom>
                    <a:ln>
                      <a:solidFill>
                        <a:srgbClr val="C00000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  <p:grpSp>
                <p:nvGrpSpPr>
                  <p:cNvPr id="19" name="그룹 18">
                    <a:extLst>
                      <a:ext uri="{FF2B5EF4-FFF2-40B4-BE49-F238E27FC236}">
                        <a16:creationId xmlns:a16="http://schemas.microsoft.com/office/drawing/2014/main" id="{B3E3AE2A-F614-E940-06C8-DB2D778D4CF7}"/>
                      </a:ext>
                    </a:extLst>
                  </p:cNvPr>
                  <p:cNvGrpSpPr/>
                  <p:nvPr/>
                </p:nvGrpSpPr>
                <p:grpSpPr>
                  <a:xfrm>
                    <a:off x="6792617" y="1741447"/>
                    <a:ext cx="1933233" cy="978453"/>
                    <a:chOff x="4388410" y="1741447"/>
                    <a:chExt cx="1933233" cy="978453"/>
                  </a:xfrm>
                </p:grpSpPr>
                <p:grpSp>
                  <p:nvGrpSpPr>
                    <p:cNvPr id="17" name="그룹 16">
                      <a:extLst>
                        <a:ext uri="{FF2B5EF4-FFF2-40B4-BE49-F238E27FC236}">
                          <a16:creationId xmlns:a16="http://schemas.microsoft.com/office/drawing/2014/main" id="{E92EB338-447C-62F6-1370-86B95500776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88410" y="1931171"/>
                      <a:ext cx="1663700" cy="788729"/>
                      <a:chOff x="4388410" y="1931171"/>
                      <a:chExt cx="1663700" cy="788729"/>
                    </a:xfrm>
                  </p:grpSpPr>
                  <p:sp>
                    <p:nvSpPr>
                      <p:cNvPr id="11" name="TextBox 10">
                        <a:extLst>
                          <a:ext uri="{FF2B5EF4-FFF2-40B4-BE49-F238E27FC236}">
                            <a16:creationId xmlns:a16="http://schemas.microsoft.com/office/drawing/2014/main" id="{3150BB27-D9E0-00E1-01A5-B268F2A518D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686300" y="1931171"/>
                        <a:ext cx="1365810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ko-KR" sz="1200" dirty="0"/>
                          <a:t>reduced input [0]</a:t>
                        </a:r>
                        <a:endParaRPr lang="ko-KR" altLang="en-US" sz="1200" dirty="0"/>
                      </a:p>
                    </p:txBody>
                  </p:sp>
                  <p:sp>
                    <p:nvSpPr>
                      <p:cNvPr id="12" name="TextBox 11">
                        <a:extLst>
                          <a:ext uri="{FF2B5EF4-FFF2-40B4-BE49-F238E27FC236}">
                            <a16:creationId xmlns:a16="http://schemas.microsoft.com/office/drawing/2014/main" id="{732BCA66-5BE1-6405-6B27-EA47E776261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686300" y="2105722"/>
                        <a:ext cx="1365810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ko-KR" sz="1200" dirty="0"/>
                          <a:t>reduced input [1]</a:t>
                        </a:r>
                        <a:endParaRPr lang="ko-KR" altLang="en-US" sz="1200" dirty="0"/>
                      </a:p>
                    </p:txBody>
                  </p: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13" name="TextBox 12">
                            <a:extLst>
                              <a:ext uri="{FF2B5EF4-FFF2-40B4-BE49-F238E27FC236}">
                                <a16:creationId xmlns:a16="http://schemas.microsoft.com/office/drawing/2014/main" id="{5ED4FCEF-E308-CF4F-3871-C992D20D015A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4388410" y="2442901"/>
                            <a:ext cx="1651000" cy="276999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en-US" altLang="ko-KR" sz="1200" dirty="0"/>
                              <a:t>reduced input [</a:t>
                            </a:r>
                            <a14:m>
                              <m:oMath xmlns:m="http://schemas.openxmlformats.org/officeDocument/2006/math">
                                <m:r>
                                  <a:rPr lang="en-US" altLang="ko-KR" sz="120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ko-KR" sz="1200" b="0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a14:m>
                            <a:r>
                              <a:rPr lang="en-US" altLang="ko-KR" sz="1200" dirty="0"/>
                              <a:t>]</a:t>
                            </a:r>
                            <a:endParaRPr lang="ko-KR" altLang="en-US" sz="1200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13" name="TextBox 12">
                            <a:extLst>
                              <a:ext uri="{FF2B5EF4-FFF2-40B4-BE49-F238E27FC236}">
                                <a16:creationId xmlns:a16="http://schemas.microsoft.com/office/drawing/2014/main" id="{5ED4FCEF-E308-CF4F-3871-C992D20D015A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4388410" y="2442901"/>
                            <a:ext cx="1651000" cy="276999"/>
                          </a:xfrm>
                          <a:prstGeom prst="rect">
                            <a:avLst/>
                          </a:prstGeom>
                          <a:blipFill>
                            <a:blip r:embed="rId6"/>
                            <a:stretch>
                              <a:fillRect r="-2290" b="-17391"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ko-KR" alt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14" name="TextBox 13">
                            <a:extLst>
                              <a:ext uri="{FF2B5EF4-FFF2-40B4-BE49-F238E27FC236}">
                                <a16:creationId xmlns:a16="http://schemas.microsoft.com/office/drawing/2014/main" id="{3C817775-1D48-1C1C-E739-0F2009E07711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5165943" y="2267325"/>
                            <a:ext cx="431800" cy="307777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r>
                                    <a:rPr lang="ko-KR" altLang="en-US" sz="140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oMath>
                              </m:oMathPara>
                            </a14:m>
                            <a:endParaRPr lang="ko-KR" altLang="en-US" sz="1400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14" name="TextBox 13">
                            <a:extLst>
                              <a:ext uri="{FF2B5EF4-FFF2-40B4-BE49-F238E27FC236}">
                                <a16:creationId xmlns:a16="http://schemas.microsoft.com/office/drawing/2014/main" id="{3C817775-1D48-1C1C-E739-0F2009E07711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5165943" y="2267325"/>
                            <a:ext cx="431800" cy="307777"/>
                          </a:xfrm>
                          <a:prstGeom prst="rect">
                            <a:avLst/>
                          </a:prstGeom>
                          <a:blipFill>
                            <a:blip r:embed="rId7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ko-KR" alt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6" name="TextBox 15">
                          <a:extLst>
                            <a:ext uri="{FF2B5EF4-FFF2-40B4-BE49-F238E27FC236}">
                              <a16:creationId xmlns:a16="http://schemas.microsoft.com/office/drawing/2014/main" id="{4D5AC982-2A8B-BBA5-8A35-58EF1BB0DED8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546600" y="1741447"/>
                          <a:ext cx="1775043" cy="27699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altLang="ko-KR" sz="1200" dirty="0"/>
                            <a:t>Low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2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altLang="ko-KR" sz="1200" dirty="0"/>
                            <a:t>-bits of input</a:t>
                          </a:r>
                          <a:endParaRPr lang="ko-KR" altLang="en-US" sz="1200" dirty="0"/>
                        </a:p>
                      </p:txBody>
                    </p:sp>
                  </mc:Choice>
                  <mc:Fallback xmlns="">
                    <p:sp>
                      <p:nvSpPr>
                        <p:cNvPr id="16" name="TextBox 15">
                          <a:extLst>
                            <a:ext uri="{FF2B5EF4-FFF2-40B4-BE49-F238E27FC236}">
                              <a16:creationId xmlns:a16="http://schemas.microsoft.com/office/drawing/2014/main" id="{4D5AC982-2A8B-BBA5-8A35-58EF1BB0DED8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546600" y="1741447"/>
                          <a:ext cx="1775043" cy="276999"/>
                        </a:xfrm>
                        <a:prstGeom prst="rect">
                          <a:avLst/>
                        </a:prstGeom>
                        <a:blipFill>
                          <a:blip r:embed="rId8"/>
                          <a:stretch>
                            <a:fillRect b="-17391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ko-KR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</p:grpSp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1FC08515-9ED4-7FDD-F443-56A48C3BE787}"/>
                    </a:ext>
                  </a:extLst>
                </p:cNvPr>
                <p:cNvSpPr txBox="1"/>
                <p:nvPr/>
              </p:nvSpPr>
              <p:spPr>
                <a:xfrm>
                  <a:off x="7921661" y="1269518"/>
                  <a:ext cx="114935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100" dirty="0"/>
                    <a:t>empty</a:t>
                  </a:r>
                  <a:endParaRPr lang="ko-KR" altLang="en-US" sz="1100" dirty="0"/>
                </a:p>
              </p:txBody>
            </p:sp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F544C2AA-131E-AC0E-1ED3-4D74F6789D53}"/>
                    </a:ext>
                  </a:extLst>
                </p:cNvPr>
                <p:cNvSpPr txBox="1"/>
                <p:nvPr/>
              </p:nvSpPr>
              <p:spPr>
                <a:xfrm>
                  <a:off x="8357097" y="1738850"/>
                  <a:ext cx="114935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100" dirty="0"/>
                    <a:t>empty</a:t>
                  </a:r>
                  <a:endParaRPr lang="ko-KR" altLang="en-US" sz="1100" dirty="0"/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142FA8C-C50D-6C0D-3F66-E5178644BAED}"/>
                    </a:ext>
                  </a:extLst>
                </p:cNvPr>
                <p:cNvSpPr txBox="1"/>
                <p:nvPr/>
              </p:nvSpPr>
              <p:spPr>
                <a:xfrm>
                  <a:off x="9391397" y="1531966"/>
                  <a:ext cx="114935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100" dirty="0"/>
                    <a:t>empty</a:t>
                  </a:r>
                  <a:endParaRPr lang="ko-KR" altLang="en-US" sz="1100" dirty="0"/>
                </a:p>
              </p:txBody>
            </p:sp>
          </p:grpSp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B651D6A5-FBF5-2A18-FC90-BDADBDD12CC5}"/>
                  </a:ext>
                </a:extLst>
              </p:cNvPr>
              <p:cNvGrpSpPr/>
              <p:nvPr/>
            </p:nvGrpSpPr>
            <p:grpSpPr>
              <a:xfrm>
                <a:off x="8662259" y="1757032"/>
                <a:ext cx="2634346" cy="261610"/>
                <a:chOff x="8662259" y="1757032"/>
                <a:chExt cx="2634346" cy="261610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ADA2198-7E49-F146-343D-E72DA7B4717A}"/>
                    </a:ext>
                  </a:extLst>
                </p:cNvPr>
                <p:cNvSpPr txBox="1"/>
                <p:nvPr/>
              </p:nvSpPr>
              <p:spPr>
                <a:xfrm>
                  <a:off x="10473367" y="1757032"/>
                  <a:ext cx="82323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050" b="1" dirty="0"/>
                    <a:t>Group 0</a:t>
                  </a:r>
                  <a:endParaRPr lang="ko-KR" altLang="en-US" sz="1050" b="1" dirty="0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0AC2852-BE00-2A17-3D02-E772CB3C0787}"/>
                    </a:ext>
                  </a:extLst>
                </p:cNvPr>
                <p:cNvSpPr txBox="1"/>
                <p:nvPr/>
              </p:nvSpPr>
              <p:spPr>
                <a:xfrm>
                  <a:off x="8662259" y="1757032"/>
                  <a:ext cx="82323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050" b="1" dirty="0"/>
                    <a:t>Group 3</a:t>
                  </a:r>
                  <a:endParaRPr lang="ko-KR" altLang="en-US" sz="1050" b="1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FCAE291B-116A-8A01-AB12-3B2A36A8CB7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36448" y="1761758"/>
                      <a:ext cx="823238" cy="25391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ko-KR" altLang="en-US" sz="1050" b="1" i="1" smtClean="0">
                                <a:latin typeface="Cambria Math" panose="02040503050406030204" pitchFamily="18" charset="0"/>
                              </a:rPr>
                              <m:t>⋯</m:t>
                            </m:r>
                          </m:oMath>
                        </m:oMathPara>
                      </a14:m>
                      <a:endParaRPr lang="ko-KR" altLang="en-US" sz="1050" b="1" dirty="0"/>
                    </a:p>
                  </p:txBody>
                </p:sp>
              </mc:Choice>
              <mc:Fallback xmlns="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FCAE291B-116A-8A01-AB12-3B2A36A8CB7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36448" y="1761758"/>
                      <a:ext cx="823238" cy="253916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0C0CBD9A-76D6-D1D0-D0A9-BEFC870E46B5}"/>
                </a:ext>
              </a:extLst>
            </p:cNvPr>
            <p:cNvCxnSpPr>
              <a:cxnSpLocks/>
              <a:stCxn id="15" idx="2"/>
            </p:cNvCxnSpPr>
            <p:nvPr/>
          </p:nvCxnSpPr>
          <p:spPr>
            <a:xfrm>
              <a:off x="10916517" y="2018642"/>
              <a:ext cx="3714" cy="16718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6CB0BFE2-ABE9-D5AB-4FA1-0CE0DE298E83}"/>
                </a:ext>
              </a:extLst>
            </p:cNvPr>
            <p:cNvCxnSpPr>
              <a:cxnSpLocks/>
            </p:cNvCxnSpPr>
            <p:nvPr/>
          </p:nvCxnSpPr>
          <p:spPr>
            <a:xfrm>
              <a:off x="9064767" y="2007337"/>
              <a:ext cx="3714" cy="16718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88937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0D2166-AD7B-CF94-62BD-3A278419E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>
                <a:latin typeface="Noto Sans Armenian" panose="020B0502040504020204" pitchFamily="34" charset="0"/>
              </a:rPr>
              <a:t>Modular reduction for</a:t>
            </a:r>
            <a:r>
              <a:rPr kumimoji="1" lang="ko-KR" altLang="en-US" dirty="0">
                <a:latin typeface="Noto Sans Armenian" panose="020B0502040504020204" pitchFamily="34" charset="0"/>
              </a:rPr>
              <a:t> </a:t>
            </a:r>
            <a:r>
              <a:rPr kumimoji="1" lang="en-US" altLang="ko-KR" dirty="0">
                <a:latin typeface="Noto Sans Armenian" panose="020B0502040504020204" pitchFamily="34" charset="0"/>
              </a:rPr>
              <a:t>inversion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C1D3A7A8-FD6A-74B6-7548-E9C615A486E0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190501" y="1057932"/>
                <a:ext cx="11901426" cy="5057775"/>
              </a:xfrm>
            </p:spPr>
            <p:txBody>
              <a:bodyPr>
                <a:noAutofit/>
              </a:bodyPr>
              <a:lstStyle/>
              <a:p>
                <a:r>
                  <a:rPr kumimoji="1" lang="en-US" altLang="ko-KR" sz="18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Finished implementations of P-192/224/256/384/521. </a:t>
                </a:r>
              </a:p>
              <a:p>
                <a:pPr lvl="1"/>
                <a:r>
                  <a:rPr kumimoji="1" lang="en-US" altLang="ko-KR" sz="14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With in-place method.</a:t>
                </a:r>
                <a:endParaRPr kumimoji="1"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lvl="1"/>
                <a:r>
                  <a:rPr kumimoji="1" lang="en-US" altLang="ko-KR" sz="14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Only few additional qubits (</a:t>
                </a:r>
                <a14:m>
                  <m:oMath xmlns:m="http://schemas.openxmlformats.org/officeDocument/2006/math">
                    <m:r>
                      <a:rPr kumimoji="1" lang="en-US" altLang="ko-KR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kumimoji="1"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kumimoji="1" lang="en-US" altLang="ko-KR" sz="14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) are required to adjust length of qubit array.</a:t>
                </a:r>
              </a:p>
              <a:p>
                <a:pPr marL="285750" indent="-285750"/>
                <a:endParaRPr kumimoji="1" lang="en-US" altLang="ko-KR" sz="1800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285750" indent="-285750"/>
                <a:r>
                  <a:rPr kumimoji="1" lang="en-US" altLang="ko-KR" sz="18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Modular congruence include positive and negative terms.</a:t>
                </a:r>
              </a:p>
              <a:p>
                <a:pPr marL="742950" lvl="1" indent="-285750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192</m:t>
                        </m:r>
                      </m:sup>
                    </m:sSup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</m:sSup>
                    <m:r>
                      <a:rPr lang="en-US" altLang="ko-KR" sz="14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ko-KR" altLang="en-US" sz="1400" dirty="0"/>
                  <a:t> </a:t>
                </a:r>
                <a:endParaRPr lang="en-US" altLang="ko-KR" sz="1400" dirty="0"/>
              </a:p>
              <a:p>
                <a:pPr marL="742950" lvl="1" indent="-285750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224</m:t>
                        </m:r>
                      </m:sup>
                    </m:sSup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96</m:t>
                        </m:r>
                      </m:sup>
                    </m:sSup>
                    <m:r>
                      <a:rPr lang="en-US" altLang="ko-KR" sz="14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ko-KR" altLang="en-US" sz="1400" dirty="0">
                    <a:solidFill>
                      <a:srgbClr val="0070C0"/>
                    </a:solidFill>
                  </a:rPr>
                  <a:t> </a:t>
                </a:r>
                <a:endParaRPr lang="en-US" altLang="ko-KR" sz="1400" dirty="0">
                  <a:solidFill>
                    <a:srgbClr val="0070C0"/>
                  </a:solidFill>
                </a:endParaRPr>
              </a:p>
              <a:p>
                <a:pPr marL="742950" lvl="1" indent="-285750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256</m:t>
                        </m:r>
                      </m:sup>
                    </m:sSup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224</m:t>
                        </m:r>
                      </m:sup>
                    </m:sSup>
                    <m:r>
                      <a:rPr lang="en-US" altLang="ko-KR" sz="14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ko-KR" sz="1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192</m:t>
                        </m:r>
                      </m:sup>
                    </m:sSup>
                    <m:r>
                      <a:rPr lang="en-US" altLang="ko-KR" sz="1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ko-KR" sz="1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sup>
                    </m:sSup>
                    <m:r>
                      <a:rPr lang="en-US" altLang="ko-KR" sz="14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ko-KR" altLang="en-US" sz="1400" dirty="0"/>
                  <a:t> </a:t>
                </a:r>
                <a:endParaRPr lang="en-US" altLang="ko-KR" sz="1400" dirty="0"/>
              </a:p>
              <a:p>
                <a:pPr marL="742950" lvl="1" indent="-285750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384</m:t>
                        </m:r>
                      </m:sup>
                    </m:sSup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128</m:t>
                        </m:r>
                      </m:sup>
                    </m:sSup>
                    <m:r>
                      <a:rPr lang="en-US" altLang="ko-KR" sz="1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96</m:t>
                        </m:r>
                      </m:sup>
                    </m:sSup>
                    <m:r>
                      <a:rPr lang="en-US" altLang="ko-KR" sz="14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ko-KR" sz="1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US" altLang="ko-KR" sz="14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ko-KR" altLang="en-US" sz="1400" dirty="0"/>
                  <a:t> </a:t>
                </a:r>
                <a:endParaRPr lang="en-US" altLang="ko-KR" sz="1400" dirty="0"/>
              </a:p>
              <a:p>
                <a:pPr marL="742950" lvl="1" indent="-285750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521</m:t>
                        </m:r>
                      </m:sup>
                    </m:sSup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ko-KR" altLang="en-US" sz="1400" dirty="0"/>
                  <a:t> </a:t>
                </a:r>
                <a:endParaRPr lang="en-US" altLang="ko-KR" sz="1400" dirty="0"/>
              </a:p>
              <a:p>
                <a:pPr marL="742950" lvl="1" indent="-285750"/>
                <a:endParaRPr kumimoji="1" lang="en-US" altLang="ko-KR" sz="1600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742950" lvl="1" indent="-285750"/>
                <a:r>
                  <a:rPr kumimoji="1" lang="en-US" altLang="ko-KR" sz="16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Therefore, we need 2 QCSA to handle two types of terms.</a:t>
                </a:r>
              </a:p>
              <a:p>
                <a:pPr marL="742950" lvl="1" indent="-285750"/>
                <a:endParaRPr kumimoji="1" lang="en-US" altLang="ko-KR" sz="16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742950" lvl="1" indent="-285750"/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If two type terms are integrated, we need more input ancilla qubits (</a:t>
                </a:r>
                <a14:m>
                  <m:oMath xmlns:m="http://schemas.openxmlformats.org/officeDocument/2006/math">
                    <m:r>
                      <a:rPr kumimoji="1"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kumimoji="1" lang="en-US" altLang="ko-K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) to cover a larger number of bits. </a:t>
                </a:r>
              </a:p>
              <a:p>
                <a:pPr marL="457200" lvl="1" indent="0">
                  <a:buNone/>
                </a:pPr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	</a:t>
                </a:r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 </a:t>
                </a:r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e.g.,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96</m:t>
                        </m:r>
                      </m:sup>
                    </m:sSup>
                    <m:r>
                      <a:rPr lang="en-US" altLang="ko-KR" sz="1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kumimoji="1" lang="en-US" altLang="ko-KR" sz="1200" b="1" dirty="0">
                    <a:solidFill>
                      <a:schemeClr val="tx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kumimoji="1" lang="en-US" altLang="ko-KR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= </a:t>
                </a:r>
                <a:r>
                  <a:rPr kumimoji="1" lang="en-US" altLang="ko-KR" sz="1200" dirty="0">
                    <a:solidFill>
                      <a:srgbClr val="0070C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1</a:t>
                </a:r>
                <a:r>
                  <a:rPr kumimoji="1" lang="en-US" altLang="ko-KR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00…0 – 0…</a:t>
                </a:r>
                <a:r>
                  <a:rPr kumimoji="1" lang="en-US" altLang="ko-KR" sz="1200" dirty="0">
                    <a:solidFill>
                      <a:srgbClr val="0070C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1</a:t>
                </a:r>
                <a:r>
                  <a:rPr kumimoji="1" lang="en-US" altLang="ko-KR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= 0</a:t>
                </a:r>
                <a:r>
                  <a:rPr kumimoji="1" lang="en-US" altLang="ko-KR" sz="1200" dirty="0">
                    <a:solidFill>
                      <a:srgbClr val="0070C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111…1      </a:t>
                </a:r>
                <a:r>
                  <a:rPr kumimoji="1" lang="en-US" altLang="ko-KR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 </a:t>
                </a:r>
                <a:r>
                  <a:rPr kumimoji="1" lang="en-US" altLang="ko-KR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It</a:t>
                </a:r>
                <a:r>
                  <a:rPr kumimoji="1" lang="ko-KR" altLang="en-US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kumimoji="1" lang="en-US" altLang="ko-KR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can</a:t>
                </a:r>
                <a:r>
                  <a:rPr kumimoji="1" lang="ko-KR" altLang="en-US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kumimoji="1" lang="en-US" altLang="ko-KR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lead to an increase of QCSA’s inner ancilla qubits. </a:t>
                </a:r>
                <a:endParaRPr kumimoji="1"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lvl="1"/>
                <a:endParaRPr kumimoji="1" lang="en-US" altLang="ko-KR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lvl="1"/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The approach that use QCSA twice requires about </a:t>
                </a:r>
                <a14:m>
                  <m:oMath xmlns:m="http://schemas.openxmlformats.org/officeDocument/2006/math">
                    <m:r>
                      <a:rPr kumimoji="1" lang="en-US" altLang="ko-KR" sz="1600" b="1" i="1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𝟑</m:t>
                    </m:r>
                    <m:r>
                      <a:rPr kumimoji="1" lang="en-US" altLang="ko-KR" sz="1600" b="1" i="1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𝒏</m:t>
                    </m:r>
                    <m:r>
                      <a:rPr kumimoji="1" lang="en-US" altLang="ko-KR" sz="1600" b="1" i="1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~</m:t>
                    </m:r>
                    <m:r>
                      <a:rPr kumimoji="1" lang="en-US" altLang="ko-KR" sz="1600" b="1" i="1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𝟏𝟎</m:t>
                    </m:r>
                    <m:r>
                      <a:rPr kumimoji="1" lang="en-US" altLang="ko-KR" sz="1600" b="1" i="1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𝒏</m:t>
                    </m:r>
                    <m:r>
                      <a:rPr kumimoji="1" lang="en-US" altLang="ko-KR" sz="1600" b="1" i="1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 </m:t>
                    </m:r>
                  </m:oMath>
                </a14:m>
                <a:r>
                  <a:rPr kumimoji="1" lang="en-US" altLang="ko-KR" sz="16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for input ancillas </a:t>
                </a:r>
                <a:r>
                  <a:rPr kumimoji="1" lang="en-US" altLang="ko-KR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(reused from Mul)</a:t>
                </a:r>
                <a:r>
                  <a:rPr kumimoji="1" lang="en-US" altLang="ko-KR" sz="16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.</a:t>
                </a:r>
              </a:p>
              <a:p>
                <a:pPr lvl="1"/>
                <a:endParaRPr kumimoji="1" lang="en-US" altLang="ko-KR" sz="1600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endParaRPr kumimoji="1" lang="en-US" altLang="ko-KR" sz="2000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0" indent="0">
                  <a:buNone/>
                </a:pPr>
                <a:endParaRPr kumimoji="1" lang="en-US" altLang="ko-KR" sz="2000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endParaRPr kumimoji="1" lang="en-US" altLang="ko-KR" sz="2000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근데 </a:t>
                </a:r>
                <a:r>
                  <a:rPr kumimoji="1" lang="ko-KR" altLang="en-US" sz="2000" b="1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리덕션이</a:t>
                </a:r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뺄셈으로 치환되는 경우가 있음 </a:t>
                </a:r>
                <a:r>
                  <a:rPr kumimoji="1" lang="en-US" altLang="ko-KR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=&gt; </a:t>
                </a:r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덧셈이랑 같이 할 수 없음 왜냐면</a:t>
                </a:r>
                <a:endParaRPr kumimoji="1" lang="en-US" altLang="ko-KR" sz="2000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r>
                  <a:rPr kumimoji="1" lang="ko-KR" altLang="en-US" sz="2000" b="1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음수항</a:t>
                </a:r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관련해서 </a:t>
                </a:r>
                <a:r>
                  <a:rPr kumimoji="1" lang="ko-KR" altLang="en-US" sz="2000" b="1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쟤네는</a:t>
                </a:r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뺀 값 자체를 세팅하면 </a:t>
                </a:r>
                <a:r>
                  <a:rPr kumimoji="1" lang="en-US" altLang="ko-KR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1</a:t>
                </a:r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의 개수가 많아져서 큐비트 소모 많아져서 저위치로 </a:t>
                </a:r>
                <a:r>
                  <a:rPr kumimoji="1" lang="ko-KR" altLang="en-US" sz="2000" b="1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리덕션하고</a:t>
                </a:r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kumimoji="1" lang="ko-KR" altLang="en-US" sz="2000" b="1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그것들끼리</a:t>
                </a:r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더한 후 마지막에 빼기로 변경 </a:t>
                </a:r>
                <a:endParaRPr kumimoji="1" lang="en-US" altLang="ko-KR" sz="2000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endParaRPr kumimoji="1" lang="en-US" altLang="ko-KR" sz="2000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근데 양</a:t>
                </a:r>
                <a:r>
                  <a:rPr kumimoji="1" lang="en-US" altLang="ko-KR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/</a:t>
                </a:r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음수 따로 </a:t>
                </a:r>
                <a:r>
                  <a:rPr kumimoji="1" lang="en-US" altLang="ko-KR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QCSA </a:t>
                </a:r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하는 거임 근데 </a:t>
                </a:r>
                <a:r>
                  <a:rPr kumimoji="1" lang="en-US" altLang="ko-KR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-1</a:t>
                </a:r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에 대한 부분은 사실상 모든 비트에 대해 </a:t>
                </a:r>
                <a:r>
                  <a:rPr kumimoji="1" lang="en-US" altLang="ko-KR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LSB</a:t>
                </a:r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부터 치환되는 거라 </a:t>
                </a:r>
                <a:r>
                  <a:rPr kumimoji="1" lang="en-US" altLang="ko-KR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– H</a:t>
                </a:r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랑 동일하기 때문에 </a:t>
                </a:r>
                <a:r>
                  <a:rPr kumimoji="1" lang="en-US" altLang="ko-KR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QCSA </a:t>
                </a:r>
                <a:r>
                  <a:rPr kumimoji="1" lang="ko-KR" altLang="en-US" sz="2000" b="1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안쓰고</a:t>
                </a:r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kumimoji="1" lang="en-US" altLang="ko-KR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–H</a:t>
                </a:r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로 함 그러면 </a:t>
                </a:r>
                <a:r>
                  <a:rPr kumimoji="1" lang="en-US" altLang="ko-KR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224</a:t>
                </a:r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에서는 </a:t>
                </a:r>
                <a:r>
                  <a:rPr kumimoji="1" lang="en-US" altLang="ko-KR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96</a:t>
                </a:r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에 대한 </a:t>
                </a:r>
                <a:r>
                  <a:rPr kumimoji="1" lang="ko-KR" altLang="en-US" sz="2000" b="1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리덕션만</a:t>
                </a:r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하고 </a:t>
                </a:r>
                <a:r>
                  <a:rPr kumimoji="1" lang="en-US" altLang="ko-KR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–H </a:t>
                </a:r>
              </a:p>
              <a:p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그리고 마이너스 항 들어가면 </a:t>
                </a:r>
                <a:r>
                  <a:rPr kumimoji="1" lang="ko-KR" altLang="en-US" sz="2000" b="1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음수될</a:t>
                </a:r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수 있어서 그에 대한 조건부 </a:t>
                </a:r>
                <a:r>
                  <a:rPr kumimoji="1" lang="en-US" altLang="ko-KR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+p (mod p) </a:t>
                </a:r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수행</a:t>
                </a:r>
                <a:endParaRPr kumimoji="1" lang="en-US" altLang="ko-KR" sz="2000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endParaRPr kumimoji="1" lang="en-US" altLang="ko-KR" sz="2000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r>
                  <a:rPr kumimoji="1" lang="en-US" altLang="ko-KR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192,224,384,521</a:t>
                </a:r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은 비교적 지수 차이가 </a:t>
                </a:r>
                <a:r>
                  <a:rPr kumimoji="1" lang="ko-KR" altLang="en-US" sz="2000" b="1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많이나서</a:t>
                </a:r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kumimoji="1" lang="ko-KR" altLang="en-US" sz="2000" b="1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재리덕션해야하는</a:t>
                </a:r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경우가 그렇게 많진 않음</a:t>
                </a:r>
                <a:endParaRPr kumimoji="1" lang="en-US" altLang="ko-KR" sz="2000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r>
                  <a:rPr kumimoji="1" lang="en-US" altLang="ko-KR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256</a:t>
                </a:r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은 좀 많음 </a:t>
                </a:r>
                <a:r>
                  <a:rPr kumimoji="1" lang="en-US" altLang="ko-KR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-&gt; </a:t>
                </a:r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진행중 </a:t>
                </a:r>
                <a:r>
                  <a:rPr kumimoji="1" lang="en-US" altLang="ko-KR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</a:t>
                </a:r>
                <a:r>
                  <a:rPr kumimoji="1" lang="ko-KR" altLang="en-US" sz="2000" b="1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리덕션</a:t>
                </a:r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kumimoji="1" lang="ko-KR" altLang="en-US" sz="2000" b="1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두번째것만추가하면됨</a:t>
                </a:r>
                <a:r>
                  <a:rPr kumimoji="1" lang="en-US" altLang="ko-KR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)</a:t>
                </a:r>
              </a:p>
              <a:p>
                <a:endParaRPr kumimoji="1" lang="en-US" altLang="ko-KR" sz="1600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r>
                  <a:rPr kumimoji="1" lang="ko-KR" altLang="en-US" sz="16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자원 이정도</a:t>
                </a:r>
                <a:endParaRPr kumimoji="1" lang="en-US" altLang="ko-KR" sz="1600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endParaRPr kumimoji="1" lang="en-US" altLang="ko-KR" sz="16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C1D3A7A8-FD6A-74B6-7548-E9C615A486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190501" y="1057932"/>
                <a:ext cx="11901426" cy="5057775"/>
              </a:xfrm>
              <a:blipFill>
                <a:blip r:embed="rId3"/>
                <a:stretch>
                  <a:fillRect l="-512" t="-1206" r="-768" b="-1220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그룹 14">
            <a:extLst>
              <a:ext uri="{FF2B5EF4-FFF2-40B4-BE49-F238E27FC236}">
                <a16:creationId xmlns:a16="http://schemas.microsoft.com/office/drawing/2014/main" id="{035EDFD7-6EE4-3B1F-FFE2-A79AAC2BAE9B}"/>
              </a:ext>
            </a:extLst>
          </p:cNvPr>
          <p:cNvGrpSpPr/>
          <p:nvPr/>
        </p:nvGrpSpPr>
        <p:grpSpPr>
          <a:xfrm>
            <a:off x="6220760" y="3879633"/>
            <a:ext cx="5871167" cy="642020"/>
            <a:chOff x="5908913" y="1810146"/>
            <a:chExt cx="5871167" cy="64202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A397768-EB87-C38F-2FC4-6D19EDD45008}"/>
                </a:ext>
              </a:extLst>
            </p:cNvPr>
            <p:cNvSpPr txBox="1"/>
            <p:nvPr/>
          </p:nvSpPr>
          <p:spPr>
            <a:xfrm>
              <a:off x="5908913" y="1898168"/>
              <a:ext cx="364498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QCSA 1</a:t>
              </a:r>
            </a:p>
            <a:p>
              <a:pPr algn="ctr"/>
              <a:r>
                <a:rPr lang="en-US" altLang="ko-KR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for addition of 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positive terms</a:t>
              </a:r>
              <a:endPara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5EB8CC8-FE4C-C86C-FB02-FC6F6B4803FF}"/>
                </a:ext>
              </a:extLst>
            </p:cNvPr>
            <p:cNvSpPr txBox="1"/>
            <p:nvPr/>
          </p:nvSpPr>
          <p:spPr>
            <a:xfrm>
              <a:off x="9130011" y="1898168"/>
              <a:ext cx="265006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QCSA 2</a:t>
              </a:r>
            </a:p>
            <a:p>
              <a:pPr algn="ctr"/>
              <a:r>
                <a:rPr lang="en-US" altLang="ko-KR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for addition of 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negative terms</a:t>
              </a:r>
              <a:endPara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D437D53-530C-FCF1-731F-CDE5CCC5ED2D}"/>
                </a:ext>
              </a:extLst>
            </p:cNvPr>
            <p:cNvSpPr txBox="1"/>
            <p:nvPr/>
          </p:nvSpPr>
          <p:spPr>
            <a:xfrm>
              <a:off x="8929589" y="1810146"/>
              <a:ext cx="3909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solidFill>
                    <a:srgbClr val="0070C0"/>
                  </a:solidFill>
                </a:rPr>
                <a:t>-</a:t>
              </a:r>
              <a:endParaRPr lang="ko-KR" altLang="en-US" sz="2400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FB0EC0E-D5A6-E2B7-4243-F129A7D8C7C2}"/>
              </a:ext>
            </a:extLst>
          </p:cNvPr>
          <p:cNvGrpSpPr/>
          <p:nvPr/>
        </p:nvGrpSpPr>
        <p:grpSpPr>
          <a:xfrm>
            <a:off x="3405355" y="5324454"/>
            <a:ext cx="1172954" cy="276999"/>
            <a:chOff x="10657492" y="4439570"/>
            <a:chExt cx="1172954" cy="276999"/>
          </a:xfrm>
        </p:grpSpPr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2EB9F8D8-A078-77F7-D89A-2295C9BD5966}"/>
                </a:ext>
              </a:extLst>
            </p:cNvPr>
            <p:cNvCxnSpPr>
              <a:cxnSpLocks/>
            </p:cNvCxnSpPr>
            <p:nvPr/>
          </p:nvCxnSpPr>
          <p:spPr>
            <a:xfrm>
              <a:off x="10985412" y="4458488"/>
              <a:ext cx="47296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DD1D9CD-3E1D-1DDC-49FE-BFB231376311}"/>
                </a:ext>
              </a:extLst>
            </p:cNvPr>
            <p:cNvSpPr txBox="1"/>
            <p:nvPr/>
          </p:nvSpPr>
          <p:spPr>
            <a:xfrm>
              <a:off x="10657492" y="4439570"/>
              <a:ext cx="11729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95 ones</a:t>
              </a:r>
              <a:endPara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8223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70575-BF3C-08B5-8BC3-56595950A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5F86C3-2D80-0175-57B2-0CBBE3266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>
                <a:latin typeface="Noto Sans Armenian" panose="020B0502040504020204" pitchFamily="34" charset="0"/>
              </a:rPr>
              <a:t>Modular reduction for</a:t>
            </a:r>
            <a:r>
              <a:rPr kumimoji="1" lang="ko-KR" altLang="en-US" dirty="0">
                <a:latin typeface="Noto Sans Armenian" panose="020B0502040504020204" pitchFamily="34" charset="0"/>
              </a:rPr>
              <a:t> </a:t>
            </a:r>
            <a:r>
              <a:rPr kumimoji="1" lang="en-US" altLang="ko-KR" dirty="0">
                <a:latin typeface="Noto Sans Armenian" panose="020B0502040504020204" pitchFamily="34" charset="0"/>
              </a:rPr>
              <a:t>inversion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F27C1803-5FBA-E9E3-F5E5-C78B027DE2C1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190501" y="1057932"/>
                <a:ext cx="11901426" cy="5057775"/>
              </a:xfrm>
            </p:spPr>
            <p:txBody>
              <a:bodyPr>
                <a:noAutofit/>
              </a:bodyPr>
              <a:lstStyle/>
              <a:p>
                <a:r>
                  <a:rPr kumimoji="1"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In addition, </a:t>
                </a:r>
                <a14:m>
                  <m:oMath xmlns:m="http://schemas.openxmlformats.org/officeDocument/2006/math">
                    <m:r>
                      <a:rPr kumimoji="1" lang="en-US" altLang="ko-KR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kumimoji="1" lang="en-US" altLang="ko-KR" sz="18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1 equals </a:t>
                </a:r>
                <a14:m>
                  <m:oMath xmlns:m="http://schemas.openxmlformats.org/officeDocument/2006/math">
                    <m:r>
                      <a:rPr kumimoji="1" lang="en-US" altLang="ko-KR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kumimoji="1" lang="en-US" altLang="ko-KR" sz="18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H (=upper </a:t>
                </a:r>
                <a14:m>
                  <m:oMath xmlns:m="http://schemas.openxmlformats.org/officeDocument/2006/math">
                    <m:r>
                      <a:rPr kumimoji="1" lang="en-US" altLang="ko-KR" sz="1800" b="1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𝒏</m:t>
                    </m:r>
                  </m:oMath>
                </a14:m>
                <a:r>
                  <a:rPr kumimoji="1" lang="en-US" altLang="ko-KR" sz="18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-bits).</a:t>
                </a:r>
              </a:p>
              <a:p>
                <a:pPr lvl="1">
                  <a:lnSpc>
                    <a:spcPct val="150000"/>
                  </a:lnSpc>
                </a:pPr>
                <a:endParaRPr kumimoji="1" lang="en-US" altLang="ko-KR" sz="16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lvl="1">
                  <a:lnSpc>
                    <a:spcPct val="150000"/>
                  </a:lnSpc>
                </a:pPr>
                <a:endParaRPr kumimoji="1" lang="en-US" altLang="ko-KR" sz="16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lvl="1">
                  <a:lnSpc>
                    <a:spcPct val="150000"/>
                  </a:lnSpc>
                </a:pPr>
                <a:endParaRPr kumimoji="1" lang="en-US" altLang="ko-KR" sz="16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lvl="1">
                  <a:lnSpc>
                    <a:spcPct val="150000"/>
                  </a:lnSpc>
                </a:pPr>
                <a:endParaRPr kumimoji="1" lang="en-US" altLang="ko-KR" sz="16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For </a:t>
                </a:r>
                <a14:m>
                  <m:oMath xmlns:m="http://schemas.openxmlformats.org/officeDocument/2006/math">
                    <m:r>
                      <a:rPr kumimoji="1" lang="en-US" altLang="ko-KR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 direct </a:t>
                </a:r>
                <a14:m>
                  <m:oMath xmlns:m="http://schemas.openxmlformats.org/officeDocument/2006/math">
                    <m:r>
                      <a:rPr kumimoji="1" lang="en-US" altLang="ko-KR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H is more efficient because QCSA</a:t>
                </a:r>
                <a:r>
                  <a:rPr kumimoji="1" lang="ko-KR" altLang="en-US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inherently includes a final addition stage </a:t>
                </a:r>
                <a:r>
                  <a:rPr kumimoji="1" lang="en-US" altLang="ko-KR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(almost </a:t>
                </a:r>
                <a14:m>
                  <m:oMath xmlns:m="http://schemas.openxmlformats.org/officeDocument/2006/math">
                    <m:r>
                      <a:rPr kumimoji="1" lang="en-US" altLang="ko-KR" sz="1200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𝑛</m:t>
                    </m:r>
                  </m:oMath>
                </a14:m>
                <a:r>
                  <a:rPr kumimoji="1" lang="en-US" altLang="ko-KR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-bit addition)</a:t>
                </a:r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.</a:t>
                </a:r>
                <a:endParaRPr lang="en-US" altLang="ko-KR" sz="16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6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For P-224, </a:t>
                </a:r>
                <a:r>
                  <a:rPr kumimoji="1" lang="en-US" altLang="ko-KR" sz="16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1 QCSA </a:t>
                </a:r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(for 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96</m:t>
                        </m:r>
                      </m:sup>
                    </m:sSup>
                  </m:oMath>
                </a14:m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) and </a:t>
                </a:r>
                <a:r>
                  <a:rPr kumimoji="1" lang="en-US" altLang="ko-KR" sz="16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1 subtraction </a:t>
                </a:r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(for –H) are required.</a:t>
                </a:r>
              </a:p>
              <a:p>
                <a:pPr lvl="1">
                  <a:lnSpc>
                    <a:spcPct val="150000"/>
                  </a:lnSpc>
                </a:pPr>
                <a:r>
                  <a:rPr kumimoji="1" lang="en-US" altLang="ko-KR" sz="16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For P-521, 1 addition</a:t>
                </a:r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(+H) is required.</a:t>
                </a:r>
              </a:p>
              <a:p>
                <a:endParaRPr kumimoji="1" lang="en-US" altLang="ko-KR" sz="2000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endParaRPr kumimoji="1" lang="en-US" altLang="ko-KR" sz="18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r>
                  <a:rPr kumimoji="1" lang="en-US" altLang="ko-KR" sz="18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All implementation includes </a:t>
                </a:r>
                <a:r>
                  <a:rPr kumimoji="1" lang="en-US" altLang="ko-KR" sz="18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1 or 2 conditional </a:t>
                </a:r>
                <a14:m>
                  <m:oMath xmlns:m="http://schemas.openxmlformats.org/officeDocument/2006/math">
                    <m:r>
                      <a:rPr kumimoji="1" lang="en-US" altLang="ko-KR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kumimoji="1" lang="en-US" altLang="ko-KR" sz="18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p (mod p) to ensure </a:t>
                </a:r>
                <a14:m>
                  <m:oMath xmlns:m="http://schemas.openxmlformats.org/officeDocument/2006/math">
                    <m:r>
                      <a:rPr kumimoji="1" lang="en-US" altLang="ko-KR" sz="1800" b="1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𝒏</m:t>
                    </m:r>
                  </m:oMath>
                </a14:m>
                <a:r>
                  <a:rPr kumimoji="1" lang="en-US" altLang="ko-KR" sz="18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-bits output.</a:t>
                </a:r>
              </a:p>
              <a:p>
                <a:pPr marL="0" indent="0">
                  <a:buNone/>
                </a:pPr>
                <a:endParaRPr kumimoji="1" lang="en-US" altLang="ko-KR" sz="2000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endParaRPr kumimoji="1" lang="en-US" altLang="ko-KR" sz="16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F27C1803-5FBA-E9E3-F5E5-C78B027DE2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190501" y="1057932"/>
                <a:ext cx="11901426" cy="5057775"/>
              </a:xfrm>
              <a:blipFill>
                <a:blip r:embed="rId3"/>
                <a:stretch>
                  <a:fillRect l="-512" t="-1206" b="-53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그룹 12">
            <a:extLst>
              <a:ext uri="{FF2B5EF4-FFF2-40B4-BE49-F238E27FC236}">
                <a16:creationId xmlns:a16="http://schemas.microsoft.com/office/drawing/2014/main" id="{FA67077D-A1C2-3DF0-F3AD-5AB243C999BA}"/>
              </a:ext>
            </a:extLst>
          </p:cNvPr>
          <p:cNvGrpSpPr/>
          <p:nvPr/>
        </p:nvGrpSpPr>
        <p:grpSpPr>
          <a:xfrm>
            <a:off x="949348" y="1619545"/>
            <a:ext cx="4597225" cy="1222080"/>
            <a:chOff x="6842235" y="2356145"/>
            <a:chExt cx="4597225" cy="122208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2E2EAA29-5AAD-2A12-6597-E4B554A44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42235" y="2356145"/>
              <a:ext cx="4597225" cy="899623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DAEEF485-9C6D-0590-2AD9-884650FC35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80" t="16980" r="50091" b="66433"/>
            <a:stretch>
              <a:fillRect/>
            </a:stretch>
          </p:blipFill>
          <p:spPr>
            <a:xfrm>
              <a:off x="9140846" y="3429000"/>
              <a:ext cx="2298613" cy="149225"/>
            </a:xfrm>
            <a:prstGeom prst="rect">
              <a:avLst/>
            </a:prstGeom>
          </p:spPr>
        </p:pic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2343BD00-5D78-086E-4D19-0775D0C821B8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>
              <a:off x="10290153" y="3255768"/>
              <a:ext cx="0" cy="1732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BABF385-1C83-C0EE-4C40-2251561038B2}"/>
                  </a:ext>
                </a:extLst>
              </p:cNvPr>
              <p:cNvSpPr txBox="1"/>
              <p:nvPr/>
            </p:nvSpPr>
            <p:spPr>
              <a:xfrm>
                <a:off x="8944040" y="1667329"/>
                <a:ext cx="3057459" cy="11742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192</m:t>
                        </m:r>
                      </m:sup>
                    </m:sSup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</m:sSup>
                    <m:r>
                      <a:rPr lang="en-US" altLang="ko-KR" sz="14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ko-KR" altLang="en-US" sz="1400" dirty="0"/>
                  <a:t> 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224</m:t>
                        </m:r>
                      </m:sup>
                    </m:sSup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96</m:t>
                        </m:r>
                      </m:sup>
                    </m:sSup>
                    <m:r>
                      <a:rPr lang="en-US" altLang="ko-KR" sz="14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ko-KR" altLang="en-US" sz="1400" dirty="0">
                    <a:solidFill>
                      <a:srgbClr val="0070C0"/>
                    </a:solidFill>
                  </a:rPr>
                  <a:t> </a:t>
                </a:r>
                <a:endParaRPr lang="en-US" altLang="ko-KR" sz="1400" dirty="0">
                  <a:solidFill>
                    <a:srgbClr val="0070C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</m:sup>
                    </m:sSup>
                    <m:r>
                      <a:rPr lang="en-US" altLang="ko-K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224</m:t>
                        </m:r>
                      </m:sup>
                    </m:sSup>
                    <m:r>
                      <a:rPr lang="en-US" altLang="ko-KR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192</m:t>
                        </m:r>
                      </m:sup>
                    </m:sSup>
                    <m:r>
                      <a:rPr lang="en-US" altLang="ko-K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sup>
                    </m:sSup>
                    <m:r>
                      <a:rPr lang="en-US" altLang="ko-K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ko-KR" altLang="en-US" sz="1400" dirty="0">
                    <a:solidFill>
                      <a:schemeClr val="tx1"/>
                    </a:solidFill>
                  </a:rPr>
                  <a:t> </a:t>
                </a:r>
                <a:endParaRPr lang="en-US" altLang="ko-KR" sz="14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384</m:t>
                        </m:r>
                      </m:sup>
                    </m:sSup>
                    <m:r>
                      <a:rPr lang="en-US" altLang="ko-K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sup>
                    </m:sSup>
                    <m:r>
                      <a:rPr lang="en-US" altLang="ko-K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sup>
                    </m:sSup>
                    <m:r>
                      <a:rPr lang="en-US" altLang="ko-KR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US" altLang="ko-K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ko-KR" altLang="en-US" sz="1400" dirty="0">
                    <a:solidFill>
                      <a:schemeClr val="tx1"/>
                    </a:solidFill>
                  </a:rPr>
                  <a:t> </a:t>
                </a:r>
                <a:endParaRPr lang="en-US" altLang="ko-KR" sz="14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521</m:t>
                        </m:r>
                      </m:sup>
                    </m:sSup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ko-KR" sz="14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ko-KR" altLang="en-US" sz="1400" dirty="0"/>
                  <a:t> </a:t>
                </a:r>
                <a:endParaRPr lang="en-US" altLang="ko-KR" sz="1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BABF385-1C83-C0EE-4C40-225156103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4040" y="1667329"/>
                <a:ext cx="3057459" cy="1174296"/>
              </a:xfrm>
              <a:prstGeom prst="rect">
                <a:avLst/>
              </a:prstGeom>
              <a:blipFill>
                <a:blip r:embed="rId5"/>
                <a:stretch>
                  <a:fillRect l="-199" b="-36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8373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B0372-DF18-6F1B-E6CE-F76D3EBE5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DFE281-F41F-3125-A321-CBFD9BC95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>
                <a:latin typeface="Noto Sans Armenian" panose="020B0502040504020204" pitchFamily="34" charset="0"/>
              </a:rPr>
              <a:t>Modular reduction for</a:t>
            </a:r>
            <a:r>
              <a:rPr kumimoji="1" lang="ko-KR" altLang="en-US" dirty="0">
                <a:latin typeface="Noto Sans Armenian" panose="020B0502040504020204" pitchFamily="34" charset="0"/>
              </a:rPr>
              <a:t> </a:t>
            </a:r>
            <a:r>
              <a:rPr kumimoji="1" lang="en-US" altLang="ko-KR" dirty="0">
                <a:latin typeface="Noto Sans Armenian" panose="020B0502040504020204" pitchFamily="34" charset="0"/>
              </a:rPr>
              <a:t>inversion - resources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219258-AEF2-E205-2FAC-17B41C01A0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1" y="1057932"/>
            <a:ext cx="11901426" cy="5057775"/>
          </a:xfrm>
        </p:spPr>
        <p:txBody>
          <a:bodyPr>
            <a:noAutofit/>
          </a:bodyPr>
          <a:lstStyle/>
          <a:p>
            <a:r>
              <a:rPr lang="en-US" altLang="ko-KR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Reduction step has a negligible impact on the circuit depth.</a:t>
            </a:r>
          </a:p>
          <a:p>
            <a:pPr lvl="1"/>
            <a:endParaRPr kumimoji="1" lang="en-US" altLang="ko-KR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For P-256, the depth is slightly higher.</a:t>
            </a:r>
          </a:p>
          <a:p>
            <a:pPr lvl="1"/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because it has multiple re-reduction cases.</a:t>
            </a:r>
          </a:p>
          <a:p>
            <a:endParaRPr kumimoji="1" lang="en-US" altLang="ko-KR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kumimoji="1" lang="en-US" altLang="ko-KR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kumimoji="1"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2A23268-6B1D-E059-F2B5-FA405CB2F098}"/>
              </a:ext>
            </a:extLst>
          </p:cNvPr>
          <p:cNvGrpSpPr/>
          <p:nvPr/>
        </p:nvGrpSpPr>
        <p:grpSpPr>
          <a:xfrm>
            <a:off x="7821736" y="1057933"/>
            <a:ext cx="3958342" cy="2296967"/>
            <a:chOff x="7740650" y="1057933"/>
            <a:chExt cx="3958342" cy="2296967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6598E213-4D97-848D-EFB4-A92004DCEAE4}"/>
                </a:ext>
              </a:extLst>
            </p:cNvPr>
            <p:cNvGrpSpPr/>
            <p:nvPr/>
          </p:nvGrpSpPr>
          <p:grpSpPr>
            <a:xfrm>
              <a:off x="7740650" y="1057933"/>
              <a:ext cx="3958342" cy="1901168"/>
              <a:chOff x="5867349" y="3648105"/>
              <a:chExt cx="5938829" cy="2615580"/>
            </a:xfrm>
          </p:grpSpPr>
          <p:grpSp>
            <p:nvGrpSpPr>
              <p:cNvPr id="7" name="그룹 6">
                <a:extLst>
                  <a:ext uri="{FF2B5EF4-FFF2-40B4-BE49-F238E27FC236}">
                    <a16:creationId xmlns:a16="http://schemas.microsoft.com/office/drawing/2014/main" id="{396A42D4-77ED-8B2E-F419-C8B6128A55E4}"/>
                  </a:ext>
                </a:extLst>
              </p:cNvPr>
              <p:cNvGrpSpPr/>
              <p:nvPr/>
            </p:nvGrpSpPr>
            <p:grpSpPr>
              <a:xfrm>
                <a:off x="6096000" y="4023360"/>
                <a:ext cx="5710178" cy="2240325"/>
                <a:chOff x="6244287" y="4111647"/>
                <a:chExt cx="5710178" cy="2240325"/>
              </a:xfrm>
            </p:grpSpPr>
            <p:pic>
              <p:nvPicPr>
                <p:cNvPr id="10" name="그림 9">
                  <a:extLst>
                    <a:ext uri="{FF2B5EF4-FFF2-40B4-BE49-F238E27FC236}">
                      <a16:creationId xmlns:a16="http://schemas.microsoft.com/office/drawing/2014/main" id="{A8F294F3-A178-9EB1-871D-EAA31F731E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1782" t="10101" r="818" b="42584"/>
                <a:stretch>
                  <a:fillRect/>
                </a:stretch>
              </p:blipFill>
              <p:spPr>
                <a:xfrm>
                  <a:off x="6244288" y="4111647"/>
                  <a:ext cx="5710177" cy="1324303"/>
                </a:xfrm>
                <a:prstGeom prst="rect">
                  <a:avLst/>
                </a:prstGeom>
              </p:spPr>
            </p:pic>
            <p:pic>
              <p:nvPicPr>
                <p:cNvPr id="11" name="그림 10">
                  <a:extLst>
                    <a:ext uri="{FF2B5EF4-FFF2-40B4-BE49-F238E27FC236}">
                      <a16:creationId xmlns:a16="http://schemas.microsoft.com/office/drawing/2014/main" id="{648E5E99-5926-6B17-F828-C294C2669D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1782" t="65265" r="818" b="2008"/>
                <a:stretch>
                  <a:fillRect/>
                </a:stretch>
              </p:blipFill>
              <p:spPr>
                <a:xfrm>
                  <a:off x="6244287" y="5435950"/>
                  <a:ext cx="5710177" cy="916022"/>
                </a:xfrm>
                <a:prstGeom prst="rect">
                  <a:avLst/>
                </a:prstGeom>
              </p:spPr>
            </p:pic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04EAB07-096D-5020-8EF7-CC7644D77A1E}"/>
                  </a:ext>
                </a:extLst>
              </p:cNvPr>
              <p:cNvSpPr txBox="1"/>
              <p:nvPr/>
            </p:nvSpPr>
            <p:spPr>
              <a:xfrm>
                <a:off x="5867349" y="3648105"/>
                <a:ext cx="1991166" cy="3752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Input[0]~[7]</a:t>
                </a:r>
                <a:endParaRPr lang="ko-KR" altLang="en-US" sz="1400" dirty="0"/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CE78074-3740-B6BE-09DE-838371F2A38E}"/>
                </a:ext>
              </a:extLst>
            </p:cNvPr>
            <p:cNvSpPr txBox="1"/>
            <p:nvPr/>
          </p:nvSpPr>
          <p:spPr>
            <a:xfrm>
              <a:off x="9188449" y="3047123"/>
              <a:ext cx="24574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Re-reduction case</a:t>
              </a:r>
              <a:endPara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310BF6F-2278-0E32-9D46-9170BDE25C74}"/>
                </a:ext>
              </a:extLst>
            </p:cNvPr>
            <p:cNvSpPr/>
            <p:nvPr/>
          </p:nvSpPr>
          <p:spPr>
            <a:xfrm>
              <a:off x="9328150" y="1818335"/>
              <a:ext cx="476250" cy="131115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D2C9E8C-98C0-80A2-1232-2EC0E269BE6D}"/>
                </a:ext>
              </a:extLst>
            </p:cNvPr>
            <p:cNvSpPr/>
            <p:nvPr/>
          </p:nvSpPr>
          <p:spPr>
            <a:xfrm>
              <a:off x="10760073" y="2808937"/>
              <a:ext cx="938917" cy="112064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7" name="연결선: 꺾임 16">
              <a:extLst>
                <a:ext uri="{FF2B5EF4-FFF2-40B4-BE49-F238E27FC236}">
                  <a16:creationId xmlns:a16="http://schemas.microsoft.com/office/drawing/2014/main" id="{36E62711-B815-798B-79AC-61B94B6640D5}"/>
                </a:ext>
              </a:extLst>
            </p:cNvPr>
            <p:cNvCxnSpPr>
              <a:stCxn id="14" idx="2"/>
              <a:endCxn id="15" idx="2"/>
            </p:cNvCxnSpPr>
            <p:nvPr/>
          </p:nvCxnSpPr>
          <p:spPr>
            <a:xfrm rot="16200000" flipH="1">
              <a:off x="9912128" y="1603596"/>
              <a:ext cx="971551" cy="1663257"/>
            </a:xfrm>
            <a:prstGeom prst="bentConnector3">
              <a:avLst>
                <a:gd name="adj1" fmla="val 112418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표 20">
                <a:extLst>
                  <a:ext uri="{FF2B5EF4-FFF2-40B4-BE49-F238E27FC236}">
                    <a16:creationId xmlns:a16="http://schemas.microsoft.com/office/drawing/2014/main" id="{D1126D96-BFC9-BB9B-2E03-EB66EEE854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2914050"/>
                  </p:ext>
                </p:extLst>
              </p:nvPr>
            </p:nvGraphicFramePr>
            <p:xfrm>
              <a:off x="411920" y="3921688"/>
              <a:ext cx="11368158" cy="11074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67780">
                      <a:extLst>
                        <a:ext uri="{9D8B030D-6E8A-4147-A177-3AD203B41FA5}">
                          <a16:colId xmlns:a16="http://schemas.microsoft.com/office/drawing/2014/main" val="2642765334"/>
                        </a:ext>
                      </a:extLst>
                    </a:gridCol>
                    <a:gridCol w="1657350">
                      <a:extLst>
                        <a:ext uri="{9D8B030D-6E8A-4147-A177-3AD203B41FA5}">
                          <a16:colId xmlns:a16="http://schemas.microsoft.com/office/drawing/2014/main" val="2149345065"/>
                        </a:ext>
                      </a:extLst>
                    </a:gridCol>
                    <a:gridCol w="1758949">
                      <a:extLst>
                        <a:ext uri="{9D8B030D-6E8A-4147-A177-3AD203B41FA5}">
                          <a16:colId xmlns:a16="http://schemas.microsoft.com/office/drawing/2014/main" val="3424720902"/>
                        </a:ext>
                      </a:extLst>
                    </a:gridCol>
                    <a:gridCol w="1894693">
                      <a:extLst>
                        <a:ext uri="{9D8B030D-6E8A-4147-A177-3AD203B41FA5}">
                          <a16:colId xmlns:a16="http://schemas.microsoft.com/office/drawing/2014/main" val="2456034439"/>
                        </a:ext>
                      </a:extLst>
                    </a:gridCol>
                    <a:gridCol w="1894693">
                      <a:extLst>
                        <a:ext uri="{9D8B030D-6E8A-4147-A177-3AD203B41FA5}">
                          <a16:colId xmlns:a16="http://schemas.microsoft.com/office/drawing/2014/main" val="2785429835"/>
                        </a:ext>
                      </a:extLst>
                    </a:gridCol>
                    <a:gridCol w="1894693">
                      <a:extLst>
                        <a:ext uri="{9D8B030D-6E8A-4147-A177-3AD203B41FA5}">
                          <a16:colId xmlns:a16="http://schemas.microsoft.com/office/drawing/2014/main" val="557896135"/>
                        </a:ext>
                      </a:extLst>
                    </a:gridCol>
                  </a:tblGrid>
                  <a:tr h="33443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Noto Sans KR" panose="020B0200000000000000" pitchFamily="50" charset="-127"/>
                              <a:ea typeface="Noto Sans KR" panose="020B0200000000000000" pitchFamily="50" charset="-127"/>
                            </a:rPr>
                            <a:t>Depth opt. version</a:t>
                          </a:r>
                          <a:endParaRPr lang="ko-KR" altLang="en-US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Noto Sans KR" panose="020B0200000000000000" pitchFamily="50" charset="-127"/>
                              <a:ea typeface="Noto Sans KR" panose="020B0200000000000000" pitchFamily="50" charset="-127"/>
                            </a:rPr>
                            <a:t>P-192</a:t>
                          </a:r>
                          <a:endParaRPr lang="ko-KR" altLang="en-US" dirty="0"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>
                              <a:latin typeface="Noto Sans KR" panose="020B0200000000000000" pitchFamily="50" charset="-127"/>
                              <a:ea typeface="Noto Sans KR" panose="020B0200000000000000" pitchFamily="50" charset="-127"/>
                            </a:rPr>
                            <a:t>P-224</a:t>
                          </a:r>
                          <a:endParaRPr lang="ko-KR" altLang="en-US" dirty="0"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Noto Sans KR" panose="020B0200000000000000" pitchFamily="50" charset="-127"/>
                              <a:ea typeface="Noto Sans KR" panose="020B0200000000000000" pitchFamily="50" charset="-127"/>
                            </a:rPr>
                            <a:t>P-256</a:t>
                          </a:r>
                          <a:endParaRPr lang="ko-KR" altLang="en-US" dirty="0"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Noto Sans KR" panose="020B0200000000000000" pitchFamily="50" charset="-127"/>
                              <a:ea typeface="Noto Sans KR" panose="020B0200000000000000" pitchFamily="50" charset="-127"/>
                            </a:rPr>
                            <a:t>P-384</a:t>
                          </a:r>
                          <a:endParaRPr lang="ko-KR" altLang="en-US" dirty="0"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Noto Sans KR" panose="020B0200000000000000" pitchFamily="50" charset="-127"/>
                              <a:ea typeface="Noto Sans KR" panose="020B0200000000000000" pitchFamily="50" charset="-127"/>
                            </a:rPr>
                            <a:t>P-521</a:t>
                          </a:r>
                          <a:endParaRPr lang="ko-KR" altLang="en-US" dirty="0"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206327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Noto Sans KR" panose="020B0200000000000000" pitchFamily="50" charset="-127"/>
                              <a:ea typeface="Noto Sans KR" panose="020B0200000000000000" pitchFamily="50" charset="-127"/>
                            </a:rPr>
                            <a:t>Additional qubits</a:t>
                          </a:r>
                          <a:endParaRPr lang="ko-KR" altLang="en-US" dirty="0"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tc gridSpan="5"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ko-KR" altLang="en-US" dirty="0"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83388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Noto Sans KR" panose="020B0200000000000000" pitchFamily="50" charset="-127"/>
                              <a:ea typeface="Noto Sans KR" panose="020B0200000000000000" pitchFamily="50" charset="-127"/>
                            </a:rPr>
                            <a:t>Depth</a:t>
                          </a:r>
                          <a:endParaRPr lang="ko-KR" altLang="en-US" dirty="0"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Noto Sans KR" panose="020B0200000000000000" pitchFamily="50" charset="-127"/>
                              <a:ea typeface="Noto Sans KR" panose="020B0200000000000000" pitchFamily="50" charset="-127"/>
                            </a:rPr>
                            <a:t>1423</a:t>
                          </a:r>
                          <a:endParaRPr lang="ko-KR" altLang="en-US" dirty="0"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Noto Sans KR" panose="020B0200000000000000" pitchFamily="50" charset="-127"/>
                              <a:ea typeface="Noto Sans KR" panose="020B0200000000000000" pitchFamily="50" charset="-127"/>
                            </a:rPr>
                            <a:t>1622</a:t>
                          </a:r>
                          <a:endParaRPr lang="ko-KR" altLang="en-US" dirty="0"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Noto Sans KR" panose="020B0200000000000000" pitchFamily="50" charset="-127"/>
                              <a:ea typeface="Noto Sans KR" panose="020B0200000000000000" pitchFamily="50" charset="-127"/>
                            </a:rPr>
                            <a:t>2531</a:t>
                          </a:r>
                          <a:endParaRPr lang="ko-KR" altLang="en-US" dirty="0"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Noto Sans KR" panose="020B0200000000000000" pitchFamily="50" charset="-127"/>
                              <a:ea typeface="Noto Sans KR" panose="020B0200000000000000" pitchFamily="50" charset="-127"/>
                            </a:rPr>
                            <a:t>2406</a:t>
                          </a:r>
                          <a:endParaRPr lang="ko-KR" altLang="en-US" dirty="0"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Noto Sans KR" panose="020B0200000000000000" pitchFamily="50" charset="-127"/>
                              <a:ea typeface="Noto Sans KR" panose="020B0200000000000000" pitchFamily="50" charset="-127"/>
                            </a:rPr>
                            <a:t>570</a:t>
                          </a:r>
                          <a:endParaRPr lang="ko-KR" altLang="en-US" dirty="0"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662431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표 20">
                <a:extLst>
                  <a:ext uri="{FF2B5EF4-FFF2-40B4-BE49-F238E27FC236}">
                    <a16:creationId xmlns:a16="http://schemas.microsoft.com/office/drawing/2014/main" id="{D1126D96-BFC9-BB9B-2E03-EB66EEE854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2914050"/>
                  </p:ext>
                </p:extLst>
              </p:nvPr>
            </p:nvGraphicFramePr>
            <p:xfrm>
              <a:off x="411920" y="3921688"/>
              <a:ext cx="11368158" cy="11074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67780">
                      <a:extLst>
                        <a:ext uri="{9D8B030D-6E8A-4147-A177-3AD203B41FA5}">
                          <a16:colId xmlns:a16="http://schemas.microsoft.com/office/drawing/2014/main" val="2642765334"/>
                        </a:ext>
                      </a:extLst>
                    </a:gridCol>
                    <a:gridCol w="1657350">
                      <a:extLst>
                        <a:ext uri="{9D8B030D-6E8A-4147-A177-3AD203B41FA5}">
                          <a16:colId xmlns:a16="http://schemas.microsoft.com/office/drawing/2014/main" val="2149345065"/>
                        </a:ext>
                      </a:extLst>
                    </a:gridCol>
                    <a:gridCol w="1758949">
                      <a:extLst>
                        <a:ext uri="{9D8B030D-6E8A-4147-A177-3AD203B41FA5}">
                          <a16:colId xmlns:a16="http://schemas.microsoft.com/office/drawing/2014/main" val="3424720902"/>
                        </a:ext>
                      </a:extLst>
                    </a:gridCol>
                    <a:gridCol w="1894693">
                      <a:extLst>
                        <a:ext uri="{9D8B030D-6E8A-4147-A177-3AD203B41FA5}">
                          <a16:colId xmlns:a16="http://schemas.microsoft.com/office/drawing/2014/main" val="2456034439"/>
                        </a:ext>
                      </a:extLst>
                    </a:gridCol>
                    <a:gridCol w="1894693">
                      <a:extLst>
                        <a:ext uri="{9D8B030D-6E8A-4147-A177-3AD203B41FA5}">
                          <a16:colId xmlns:a16="http://schemas.microsoft.com/office/drawing/2014/main" val="2785429835"/>
                        </a:ext>
                      </a:extLst>
                    </a:gridCol>
                    <a:gridCol w="1894693">
                      <a:extLst>
                        <a:ext uri="{9D8B030D-6E8A-4147-A177-3AD203B41FA5}">
                          <a16:colId xmlns:a16="http://schemas.microsoft.com/office/drawing/2014/main" val="557896135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Noto Sans KR" panose="020B0200000000000000" pitchFamily="50" charset="-127"/>
                              <a:ea typeface="Noto Sans KR" panose="020B0200000000000000" pitchFamily="50" charset="-127"/>
                            </a:rPr>
                            <a:t>Depth opt. version</a:t>
                          </a:r>
                          <a:endParaRPr lang="ko-KR" altLang="en-US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Noto Sans KR" panose="020B0200000000000000" pitchFamily="50" charset="-127"/>
                              <a:ea typeface="Noto Sans KR" panose="020B0200000000000000" pitchFamily="50" charset="-127"/>
                            </a:rPr>
                            <a:t>P-192</a:t>
                          </a:r>
                          <a:endParaRPr lang="ko-KR" altLang="en-US" dirty="0"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>
                              <a:latin typeface="Noto Sans KR" panose="020B0200000000000000" pitchFamily="50" charset="-127"/>
                              <a:ea typeface="Noto Sans KR" panose="020B0200000000000000" pitchFamily="50" charset="-127"/>
                            </a:rPr>
                            <a:t>P-224</a:t>
                          </a:r>
                          <a:endParaRPr lang="ko-KR" altLang="en-US" dirty="0"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Noto Sans KR" panose="020B0200000000000000" pitchFamily="50" charset="-127"/>
                              <a:ea typeface="Noto Sans KR" panose="020B0200000000000000" pitchFamily="50" charset="-127"/>
                            </a:rPr>
                            <a:t>P-256</a:t>
                          </a:r>
                          <a:endParaRPr lang="ko-KR" altLang="en-US" dirty="0"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Noto Sans KR" panose="020B0200000000000000" pitchFamily="50" charset="-127"/>
                              <a:ea typeface="Noto Sans KR" panose="020B0200000000000000" pitchFamily="50" charset="-127"/>
                            </a:rPr>
                            <a:t>P-384</a:t>
                          </a:r>
                          <a:endParaRPr lang="ko-KR" altLang="en-US" dirty="0"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Noto Sans KR" panose="020B0200000000000000" pitchFamily="50" charset="-127"/>
                              <a:ea typeface="Noto Sans KR" panose="020B0200000000000000" pitchFamily="50" charset="-127"/>
                            </a:rPr>
                            <a:t>P-521</a:t>
                          </a:r>
                          <a:endParaRPr lang="ko-KR" altLang="en-US" dirty="0"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206327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Noto Sans KR" panose="020B0200000000000000" pitchFamily="50" charset="-127"/>
                              <a:ea typeface="Noto Sans KR" panose="020B0200000000000000" pitchFamily="50" charset="-127"/>
                            </a:rPr>
                            <a:t>Additional qubits</a:t>
                          </a:r>
                          <a:endParaRPr lang="ko-KR" altLang="en-US" dirty="0"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tc gridSpan="5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24967" t="-106557" r="-134" b="-12459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83388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Noto Sans KR" panose="020B0200000000000000" pitchFamily="50" charset="-127"/>
                              <a:ea typeface="Noto Sans KR" panose="020B0200000000000000" pitchFamily="50" charset="-127"/>
                            </a:rPr>
                            <a:t>Depth</a:t>
                          </a:r>
                          <a:endParaRPr lang="ko-KR" altLang="en-US" dirty="0"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Noto Sans KR" panose="020B0200000000000000" pitchFamily="50" charset="-127"/>
                              <a:ea typeface="Noto Sans KR" panose="020B0200000000000000" pitchFamily="50" charset="-127"/>
                            </a:rPr>
                            <a:t>1423</a:t>
                          </a:r>
                          <a:endParaRPr lang="ko-KR" altLang="en-US" dirty="0"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Noto Sans KR" panose="020B0200000000000000" pitchFamily="50" charset="-127"/>
                              <a:ea typeface="Noto Sans KR" panose="020B0200000000000000" pitchFamily="50" charset="-127"/>
                            </a:rPr>
                            <a:t>1622</a:t>
                          </a:r>
                          <a:endParaRPr lang="ko-KR" altLang="en-US" dirty="0"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Noto Sans KR" panose="020B0200000000000000" pitchFamily="50" charset="-127"/>
                              <a:ea typeface="Noto Sans KR" panose="020B0200000000000000" pitchFamily="50" charset="-127"/>
                            </a:rPr>
                            <a:t>2531</a:t>
                          </a:r>
                          <a:endParaRPr lang="ko-KR" altLang="en-US" dirty="0"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Noto Sans KR" panose="020B0200000000000000" pitchFamily="50" charset="-127"/>
                              <a:ea typeface="Noto Sans KR" panose="020B0200000000000000" pitchFamily="50" charset="-127"/>
                            </a:rPr>
                            <a:t>2406</a:t>
                          </a:r>
                          <a:endParaRPr lang="ko-KR" altLang="en-US" dirty="0"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latin typeface="Noto Sans KR" panose="020B0200000000000000" pitchFamily="50" charset="-127"/>
                              <a:ea typeface="Noto Sans KR" panose="020B0200000000000000" pitchFamily="50" charset="-127"/>
                            </a:rPr>
                            <a:t>570</a:t>
                          </a:r>
                          <a:endParaRPr lang="ko-KR" altLang="en-US" dirty="0">
                            <a:latin typeface="Noto Sans KR" panose="020B0200000000000000" pitchFamily="50" charset="-127"/>
                            <a:ea typeface="Noto Sans KR" panose="020B0200000000000000" pitchFamily="50" charset="-127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6624312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59651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E94D5-08F1-93A5-31DA-4D51ADF72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">
            <a:extLst>
              <a:ext uri="{FF2B5EF4-FFF2-40B4-BE49-F238E27FC236}">
                <a16:creationId xmlns:a16="http://schemas.microsoft.com/office/drawing/2014/main" id="{A07F174D-AFD9-453A-1335-9C496185B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/>
          <a:p>
            <a:r>
              <a:rPr kumimoji="1" lang="en-US" altLang="en-US" dirty="0">
                <a:latin typeface="Noto Sans Armenian" panose="020B0502040504020204" pitchFamily="34" charset="0"/>
              </a:rPr>
              <a:t>Plan</a:t>
            </a:r>
            <a:endParaRPr kumimoji="1" lang="ko-Kore-KR" altLang="en-US" dirty="0">
              <a:latin typeface="Noto Sans Armenian" panose="020B05020405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067CD86-EC0C-116C-AA0A-0EE411E06905}"/>
                  </a:ext>
                </a:extLst>
              </p:cNvPr>
              <p:cNvSpPr txBox="1"/>
              <p:nvPr/>
            </p:nvSpPr>
            <p:spPr>
              <a:xfrm>
                <a:off x="411920" y="1123457"/>
                <a:ext cx="11368160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We will make reduction circuits for qubit optimized version.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The basic logic is the same.</a:t>
                </a:r>
              </a:p>
              <a:p>
                <a:pPr marL="1257300" lvl="2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If</a:t>
                </a:r>
                <a:r>
                  <a:rPr lang="ko-KR" altLang="en-US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we</a:t>
                </a:r>
                <a:r>
                  <a:rPr lang="ko-KR" altLang="en-US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change</a:t>
                </a:r>
                <a:r>
                  <a:rPr lang="ko-KR" altLang="en-US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QCSA</a:t>
                </a:r>
                <a:r>
                  <a:rPr lang="ko-KR" altLang="en-US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to</a:t>
                </a:r>
                <a:r>
                  <a:rPr lang="ko-KR" altLang="en-US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sequential addition directly, then we need </a:t>
                </a:r>
                <a14:m>
                  <m:oMath xmlns:m="http://schemas.openxmlformats.org/officeDocument/2006/math">
                    <m:r>
                      <a:rPr lang="en-US" altLang="ko-KR" sz="1600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𝑛</m:t>
                    </m:r>
                  </m:oMath>
                </a14:m>
                <a:r>
                  <a:rPr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additions.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To reduce circuit depth, we will</a:t>
                </a:r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check</a:t>
                </a:r>
                <a:r>
                  <a:rPr lang="ko-KR" altLang="en-US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whether </a:t>
                </a:r>
                <a:r>
                  <a:rPr lang="en-US" altLang="ko-KR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the number of additions can be slightly reduced </a:t>
                </a:r>
                <a:b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</a:br>
                <a:r>
                  <a:rPr lang="en-US" altLang="ko-KR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by the reduction rule.</a:t>
                </a:r>
                <a:br>
                  <a:rPr lang="en-US" altLang="ko-KR" dirty="0"/>
                </a:br>
                <a:endParaRPr lang="en-US" altLang="ko-KR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2000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Also, we can </a:t>
                </a:r>
                <a:r>
                  <a:rPr lang="en-US" altLang="ko-KR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change the reduction after multiplication to this approach</a:t>
                </a:r>
                <a:r>
                  <a:rPr lang="en-US" altLang="ko-KR" sz="2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067CD86-EC0C-116C-AA0A-0EE411E069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920" y="1123457"/>
                <a:ext cx="11368160" cy="3046988"/>
              </a:xfrm>
              <a:prstGeom prst="rect">
                <a:avLst/>
              </a:prstGeom>
              <a:blipFill>
                <a:blip r:embed="rId3"/>
                <a:stretch>
                  <a:fillRect l="-483" t="-1000" r="-697" b="-26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6523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C7F8B13-3D24-7EC2-8EC8-20289F72D407}"/>
              </a:ext>
            </a:extLst>
          </p:cNvPr>
          <p:cNvSpPr/>
          <p:nvPr/>
        </p:nvSpPr>
        <p:spPr>
          <a:xfrm>
            <a:off x="4327379" y="3042244"/>
            <a:ext cx="3220720" cy="7735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latin typeface="Noto Sans Armenian" panose="020B0502040504020204" pitchFamily="34" charset="0"/>
              <a:ea typeface="Malgun Gothic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A4225C-81B9-8718-EC0B-C9B3DB700608}"/>
              </a:ext>
            </a:extLst>
          </p:cNvPr>
          <p:cNvSpPr txBox="1"/>
          <p:nvPr/>
        </p:nvSpPr>
        <p:spPr>
          <a:xfrm>
            <a:off x="4551155" y="2659989"/>
            <a:ext cx="2768387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4500" dirty="0">
                <a:latin typeface="Noto Sans Armenian" panose="020B0502040504020204" pitchFamily="34" charset="0"/>
                <a:ea typeface="Malgun Gothic" panose="020B0503020000020004" pitchFamily="34" charset="-127"/>
              </a:rPr>
              <a:t>Thank</a:t>
            </a:r>
            <a:r>
              <a:rPr kumimoji="1" lang="ko-KR" altLang="en-US" sz="4500" dirty="0">
                <a:latin typeface="Noto Sans Armenian" panose="020B0502040504020204" pitchFamily="34" charset="0"/>
                <a:ea typeface="Malgun Gothic" panose="020B0503020000020004" pitchFamily="34" charset="-127"/>
              </a:rPr>
              <a:t> </a:t>
            </a:r>
            <a:r>
              <a:rPr kumimoji="1" lang="en-US" altLang="ko-Kore-KR" sz="4500" dirty="0">
                <a:latin typeface="Noto Sans Armenian" panose="020B0502040504020204" pitchFamily="34" charset="0"/>
                <a:ea typeface="Malgun Gothic" panose="020B0503020000020004" pitchFamily="34" charset="-127"/>
              </a:rPr>
              <a:t>you</a:t>
            </a:r>
            <a:r>
              <a:rPr kumimoji="1" lang="en-US" altLang="ko-KR" sz="4500" dirty="0">
                <a:latin typeface="Noto Sans Armenian" panose="020B0502040504020204" pitchFamily="34" charset="0"/>
                <a:ea typeface="Malgun Gothic" panose="020B0503020000020004" pitchFamily="34" charset="-127"/>
              </a:rPr>
              <a:t>.</a:t>
            </a:r>
            <a:endParaRPr kumimoji="1" lang="ko-Kore-KR" altLang="en-US" sz="4500" dirty="0">
              <a:latin typeface="Noto Sans Armenian" panose="020B0502040504020204" pitchFamily="34" charset="0"/>
              <a:ea typeface="Malgun Gothic" panose="020B0503020000020004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2A5FAE-03AC-60B4-A2F3-60EE48393B65}"/>
              </a:ext>
            </a:extLst>
          </p:cNvPr>
          <p:cNvSpPr txBox="1"/>
          <p:nvPr/>
        </p:nvSpPr>
        <p:spPr>
          <a:xfrm>
            <a:off x="4551155" y="3668666"/>
            <a:ext cx="28616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4000" dirty="0">
                <a:latin typeface="Noto Sans Armenian" panose="020B0502040504020204" pitchFamily="34" charset="0"/>
                <a:ea typeface="Malgun Gothic" panose="020B0503020000020004" pitchFamily="34" charset="-127"/>
              </a:rPr>
              <a:t>감사합니다</a:t>
            </a:r>
            <a:r>
              <a:rPr kumimoji="1" lang="en-US" altLang="ko-KR" sz="4000" dirty="0">
                <a:latin typeface="Noto Sans Armenian" panose="020B0502040504020204" pitchFamily="34" charset="0"/>
                <a:ea typeface="Malgun Gothic" panose="020B0503020000020004" pitchFamily="34" charset="-127"/>
              </a:rPr>
              <a:t>.</a:t>
            </a:r>
            <a:endParaRPr kumimoji="1" lang="ko-Kore-KR" altLang="en-US" sz="4000" dirty="0">
              <a:latin typeface="Noto Sans Armenian" panose="020B0502040504020204" pitchFamily="34" charset="0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9635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28754</TotalTime>
  <Words>1088</Words>
  <Application>Microsoft Office PowerPoint</Application>
  <PresentationFormat>와이드스크린</PresentationFormat>
  <Paragraphs>153</Paragraphs>
  <Slides>8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G마켓 산스 TTF Light</vt:lpstr>
      <vt:lpstr>G마켓 산스 TTF Medium</vt:lpstr>
      <vt:lpstr>Noto Sans Armenian</vt:lpstr>
      <vt:lpstr>Noto Sans KR</vt:lpstr>
      <vt:lpstr>맑은 고딕</vt:lpstr>
      <vt:lpstr>Arial</vt:lpstr>
      <vt:lpstr>Cambria Math</vt:lpstr>
      <vt:lpstr>Office 테마</vt:lpstr>
      <vt:lpstr>Modular reduction for NIST curves (prime ECC)</vt:lpstr>
      <vt:lpstr>Modular reduction for inversion</vt:lpstr>
      <vt:lpstr>Modular reduction for 2n-bit data</vt:lpstr>
      <vt:lpstr>Modular reduction for inversion</vt:lpstr>
      <vt:lpstr>Modular reduction for inversion</vt:lpstr>
      <vt:lpstr>Modular reduction for inversion - resources</vt:lpstr>
      <vt:lpstr>Plan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Shor on Elliptic Curves (non-binary)</dc:title>
  <dc:creator>장경배</dc:creator>
  <cp:lastModifiedBy>김현지</cp:lastModifiedBy>
  <cp:revision>2383</cp:revision>
  <dcterms:created xsi:type="dcterms:W3CDTF">2025-04-15T05:09:22Z</dcterms:created>
  <dcterms:modified xsi:type="dcterms:W3CDTF">2025-10-29T07:25:17Z</dcterms:modified>
</cp:coreProperties>
</file>