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1"/>
  </p:notesMasterIdLst>
  <p:sldIdLst>
    <p:sldId id="490" r:id="rId2"/>
    <p:sldId id="611" r:id="rId3"/>
    <p:sldId id="608" r:id="rId4"/>
    <p:sldId id="607" r:id="rId5"/>
    <p:sldId id="613" r:id="rId6"/>
    <p:sldId id="614" r:id="rId7"/>
    <p:sldId id="606" r:id="rId8"/>
    <p:sldId id="609" r:id="rId9"/>
    <p:sldId id="297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CC"/>
    <a:srgbClr val="000000"/>
    <a:srgbClr val="FBE3D6"/>
    <a:srgbClr val="DCEAF7"/>
    <a:srgbClr val="595959"/>
    <a:srgbClr val="C00000"/>
    <a:srgbClr val="BFBFBF"/>
    <a:srgbClr val="F2F2F2"/>
    <a:srgbClr val="4E95D9"/>
    <a:srgbClr val="A6CA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/>
    <p:restoredTop sz="89376" autoAdjust="0"/>
  </p:normalViewPr>
  <p:slideViewPr>
    <p:cSldViewPr snapToGrid="0">
      <p:cViewPr varScale="1">
        <p:scale>
          <a:sx n="135" d="100"/>
          <a:sy n="135" d="100"/>
        </p:scale>
        <p:origin x="1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3F31EC-EE7A-9145-A64F-79FFA1E11469}" type="datetimeFigureOut">
              <a:rPr kumimoji="1" lang="ko-KR" altLang="en-US" smtClean="0"/>
              <a:t>2025. 11. 19.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B115F6-681B-864C-A49C-C1EF69C6542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38819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이거 </a:t>
            </a:r>
            <a:r>
              <a:rPr kumimoji="1" lang="en-US" altLang="ko-KR" dirty="0"/>
              <a:t>q^2-q +1</a:t>
            </a:r>
            <a:r>
              <a:rPr kumimoji="1" lang="ko-KR" altLang="en-US" dirty="0"/>
              <a:t>이 </a:t>
            </a:r>
            <a:r>
              <a:rPr kumimoji="1" lang="ko-KR" altLang="en-US" dirty="0" err="1"/>
              <a:t>걔네</a:t>
            </a:r>
            <a:r>
              <a:rPr kumimoji="1" lang="ko-KR" altLang="en-US" dirty="0"/>
              <a:t> </a:t>
            </a:r>
            <a:r>
              <a:rPr kumimoji="1" lang="en-US" altLang="ko-KR" dirty="0" err="1"/>
              <a:t>sqr</a:t>
            </a:r>
            <a:r>
              <a:rPr kumimoji="1" lang="ko-KR" altLang="en-US" dirty="0"/>
              <a:t>의 </a:t>
            </a:r>
            <a:r>
              <a:rPr kumimoji="1" lang="en-US" altLang="ko-KR" dirty="0"/>
              <a:t>Td</a:t>
            </a:r>
            <a:r>
              <a:rPr kumimoji="1" lang="ko-KR" altLang="en-US" dirty="0"/>
              <a:t>임</a:t>
            </a:r>
            <a:endParaRPr kumimoji="1" lang="en-US" altLang="ko-KR" dirty="0"/>
          </a:p>
          <a:p>
            <a:r>
              <a:rPr kumimoji="1" lang="ko-KR" altLang="en-US" dirty="0"/>
              <a:t>그럼 나머지가 덧셈기의 </a:t>
            </a:r>
            <a:r>
              <a:rPr kumimoji="1" lang="en-US" altLang="ko-KR" dirty="0"/>
              <a:t>Td</a:t>
            </a:r>
            <a:r>
              <a:rPr kumimoji="1" lang="ko-KR" altLang="en-US" dirty="0"/>
              <a:t>임</a:t>
            </a:r>
            <a:r>
              <a:rPr kumimoji="1" lang="en-US" altLang="ko-KR" dirty="0"/>
              <a:t>?</a:t>
            </a:r>
            <a:r>
              <a:rPr kumimoji="1" lang="ko-KR" altLang="en-US" dirty="0"/>
              <a:t> 총 </a:t>
            </a:r>
            <a:r>
              <a:rPr kumimoji="1" lang="en-US" altLang="ko-KR" dirty="0"/>
              <a:t>n</a:t>
            </a:r>
            <a:r>
              <a:rPr kumimoji="1" lang="ko-KR" altLang="en-US" dirty="0"/>
              <a:t>번 직렬 누적에 대한 리버스 포함 비용이 </a:t>
            </a:r>
            <a:r>
              <a:rPr kumimoji="1" lang="en-US" altLang="ko-KR" dirty="0"/>
              <a:t>2*(4nq-2n)</a:t>
            </a:r>
            <a:r>
              <a:rPr kumimoji="1" lang="ko-KR" altLang="en-US" dirty="0"/>
              <a:t>이야</a:t>
            </a:r>
            <a:r>
              <a:rPr kumimoji="1" lang="en-US" altLang="ko-KR" dirty="0"/>
              <a:t>?</a:t>
            </a:r>
            <a:r>
              <a:rPr kumimoji="1" lang="ko-KR" altLang="en-US" dirty="0"/>
              <a:t> </a:t>
            </a:r>
            <a:r>
              <a:rPr kumimoji="1" lang="en-US" altLang="ko-KR" dirty="0"/>
              <a:t>=&gt;</a:t>
            </a:r>
            <a:r>
              <a:rPr kumimoji="1" lang="ko-KR" altLang="en-US" dirty="0"/>
              <a:t> </a:t>
            </a:r>
            <a:r>
              <a:rPr kumimoji="1" lang="en-US" altLang="ko-KR" dirty="0"/>
              <a:t>q</a:t>
            </a:r>
            <a:r>
              <a:rPr kumimoji="1" lang="ko-KR" altLang="en-US" dirty="0"/>
              <a:t>가 덧셈의 </a:t>
            </a:r>
            <a:r>
              <a:rPr kumimoji="1" lang="en-US" altLang="ko-KR" dirty="0"/>
              <a:t>Td, </a:t>
            </a:r>
            <a:r>
              <a:rPr kumimoji="1" lang="ko-KR" altLang="en-US" dirty="0"/>
              <a:t>직렬 누적 </a:t>
            </a:r>
            <a:r>
              <a:rPr kumimoji="1" lang="en-US" altLang="ko-KR" dirty="0"/>
              <a:t>n</a:t>
            </a:r>
            <a:r>
              <a:rPr kumimoji="1" lang="ko-KR" altLang="en-US" dirty="0"/>
              <a:t>이니까 리버스해서 </a:t>
            </a:r>
            <a:r>
              <a:rPr kumimoji="1" lang="en-US" altLang="ko-KR" dirty="0"/>
              <a:t>2nq , </a:t>
            </a:r>
            <a:r>
              <a:rPr kumimoji="1" lang="ko-KR" altLang="en-US" dirty="0"/>
              <a:t>앞에 병렬 덧셈 </a:t>
            </a:r>
            <a:r>
              <a:rPr kumimoji="1" lang="en-US" altLang="ko-KR" dirty="0"/>
              <a:t>q, </a:t>
            </a:r>
            <a:r>
              <a:rPr kumimoji="1" lang="ko-KR" altLang="en-US" dirty="0"/>
              <a:t>뒤에 뺄셈 </a:t>
            </a:r>
            <a:r>
              <a:rPr kumimoji="1" lang="en-US" altLang="ko-KR" dirty="0"/>
              <a:t>2q,</a:t>
            </a:r>
            <a:r>
              <a:rPr kumimoji="1" lang="ko-KR" altLang="en-US" dirty="0"/>
              <a:t> </a:t>
            </a:r>
            <a:r>
              <a:rPr kumimoji="1" lang="en-US" altLang="ko-KR" dirty="0"/>
              <a:t>=&gt;</a:t>
            </a:r>
            <a:r>
              <a:rPr kumimoji="1" lang="ko-KR" altLang="en-US" dirty="0"/>
              <a:t> </a:t>
            </a:r>
            <a:r>
              <a:rPr kumimoji="1" lang="en-US" altLang="ko-KR" dirty="0"/>
              <a:t>4nq</a:t>
            </a:r>
            <a:r>
              <a:rPr kumimoji="1" lang="ko-KR" altLang="en-US" dirty="0"/>
              <a:t> 에다가 리버스해서 </a:t>
            </a:r>
            <a:r>
              <a:rPr kumimoji="1" lang="en-US" altLang="ko-KR" dirty="0"/>
              <a:t>8nq</a:t>
            </a:r>
            <a:r>
              <a:rPr kumimoji="1" lang="ko-KR" altLang="en-US" dirty="0"/>
              <a:t> 정도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B115F6-681B-864C-A49C-C1EF69C6542F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279049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4ADA06-94F4-8528-2598-3CBF51B88A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F575A47-6519-32F0-BBC1-2F1EDB5217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FE7E95-2568-7FE7-3600-1FD6116D7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E2436-1BD2-A84A-82C9-CAB576CC4165}" type="datetimeFigureOut">
              <a:rPr kumimoji="1" lang="ko-KR" altLang="en-US" smtClean="0"/>
              <a:t>2025. 11. 19.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FE0B23-B8DC-C908-8AEC-64070B306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2BCBD6-CAB3-E5B0-D5AB-C6406B10E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48BA2-7C01-2B4D-8E76-A46DBFF655A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95102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99EE02-0415-E6A4-F573-33575F963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4AD659-5234-34A7-6210-A593F868A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504220-89C0-7720-8EA5-1A1747129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E2436-1BD2-A84A-82C9-CAB576CC4165}" type="datetimeFigureOut">
              <a:rPr kumimoji="1" lang="ko-KR" altLang="en-US" smtClean="0"/>
              <a:t>2025. 11. 19.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EC3866-F99F-2333-3BB0-E9F9924B8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CFE4C0-9A15-E6F6-AFF8-5A9334344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48BA2-7C01-2B4D-8E76-A46DBFF655A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46906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0739F2-A377-198B-3BA9-6C8847184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3C7ACFF-A3D6-1953-ADFC-389791D0C4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5A104C-2370-0808-B1B8-EBF8936F9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E2436-1BD2-A84A-82C9-CAB576CC4165}" type="datetimeFigureOut">
              <a:rPr kumimoji="1" lang="ko-KR" altLang="en-US" smtClean="0"/>
              <a:t>2025. 11. 19.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E8544A-214B-27F1-6928-0986067A5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F3BB7D-02C8-ECB0-3311-4FFFCB6BF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48BA2-7C01-2B4D-8E76-A46DBFF655A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72871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A0683C-67A7-EBEC-FE49-ACC979C19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4E2623-584A-2DBE-FFBE-648CEDF1A5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C22B069-57BE-00F0-7696-10218B5B44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3711D98-EC6A-EEFA-9F5D-DBFEA87A2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E2436-1BD2-A84A-82C9-CAB576CC4165}" type="datetimeFigureOut">
              <a:rPr kumimoji="1" lang="ko-KR" altLang="en-US" smtClean="0"/>
              <a:t>2025. 11. 19.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8598CCB-979D-1928-0382-7387B0DD1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178B039-4C85-5F8D-8AA3-6D6A6C9EE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48BA2-7C01-2B4D-8E76-A46DBFF655A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91879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464E15-DD77-7F1F-E0DF-8A79DF8DC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D0E897D-4AC2-E309-DC80-9FC0324FD6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B689CC9-16BB-09F7-7107-B3A461DB85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B03C486-86C5-D9C6-160E-831CC17F61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11C78B1-01A0-C80D-8D95-AEF8D53456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92248DF-0F01-B2E2-BCF7-335257060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E2436-1BD2-A84A-82C9-CAB576CC4165}" type="datetimeFigureOut">
              <a:rPr kumimoji="1" lang="ko-KR" altLang="en-US" smtClean="0"/>
              <a:t>2025. 11. 19.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7E19DAC-D532-4249-020D-54D56B250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A1ADEC4-BDAD-0BCA-CB17-8E39FEF18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48BA2-7C01-2B4D-8E76-A46DBFF655A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0962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CF54D4-42E0-DC3E-155D-DDF4DF2AA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4ECFD4D-047B-107A-63E2-4E9A31566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E2436-1BD2-A84A-82C9-CAB576CC4165}" type="datetimeFigureOut">
              <a:rPr kumimoji="1" lang="ko-KR" altLang="en-US" smtClean="0"/>
              <a:t>2025. 11. 19.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907C40E-B632-0B6A-93C4-F98EA156F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CA156C5-C75B-3D14-7F85-6FCB99135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48BA2-7C01-2B4D-8E76-A46DBFF655A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63105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AC365F4-F171-3F28-7C74-317E1961B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E2436-1BD2-A84A-82C9-CAB576CC4165}" type="datetimeFigureOut">
              <a:rPr kumimoji="1" lang="ko-KR" altLang="en-US" smtClean="0"/>
              <a:t>2025. 11. 19.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8304B2D-17FF-265D-0333-A367E0EF0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355010-11FF-8A30-9542-5ABA50440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48BA2-7C01-2B4D-8E76-A46DBFF655A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49050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AC5FA1-606E-02D7-F17D-2CE587F6B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D5D825-E0CF-E58A-B5CA-0E5F3F618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A1C8030-B6DD-14F4-DB1A-105045AFE5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D4D35FF-4EFD-699C-2A0B-B6C6340BB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E2436-1BD2-A84A-82C9-CAB576CC4165}" type="datetimeFigureOut">
              <a:rPr kumimoji="1" lang="ko-KR" altLang="en-US" smtClean="0"/>
              <a:t>2025. 11. 19.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EEEC4C5-C033-85B9-F59B-6097828CB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62B38B2-206E-3564-17A6-1DC361A99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48BA2-7C01-2B4D-8E76-A46DBFF655A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63171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1646D5-8A0C-7437-7F1D-0F2A91DD0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8E15370-F1EF-58BA-C4BD-946E65824C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9C9C5A0-256A-8ED6-BA79-67B6FE9C14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7AFA039-9910-B43D-5FB1-2ADF955FE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E2436-1BD2-A84A-82C9-CAB576CC4165}" type="datetimeFigureOut">
              <a:rPr kumimoji="1" lang="ko-KR" altLang="en-US" smtClean="0"/>
              <a:t>2025. 11. 19.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61295DA-831B-A36A-9102-D9137E5A2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D797F1-29A3-E72C-7824-58542B433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48BA2-7C01-2B4D-8E76-A46DBFF655A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59564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DECF08-7F65-7187-C6DD-B0D927D8B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47350AB-5F7E-02E5-5730-9D79CD3254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37F166-78BD-7358-D64D-6AD8CC40E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E2436-1BD2-A84A-82C9-CAB576CC4165}" type="datetimeFigureOut">
              <a:rPr kumimoji="1" lang="ko-KR" altLang="en-US" smtClean="0"/>
              <a:t>2025. 11. 19.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5A4E61-927F-0D30-5F8D-81319D7ED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48B502-D49F-A3A3-C7ED-98B752EE8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48BA2-7C01-2B4D-8E76-A46DBFF655A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02337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3FCA579-51EA-7FBC-DD38-652D09608E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57920AC-DA3A-96E0-0B4A-8ACBF55785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82D07F-68C3-AB75-152D-B389FE518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E2436-1BD2-A84A-82C9-CAB576CC4165}" type="datetimeFigureOut">
              <a:rPr kumimoji="1" lang="ko-KR" altLang="en-US" smtClean="0"/>
              <a:t>2025. 11. 19.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4A6102F-7489-45B7-144C-1CA22175F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356F0C-7441-FD23-EDBA-79DE3E23C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48BA2-7C01-2B4D-8E76-A46DBFF655A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241464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1223120"/>
            <a:ext cx="12192000" cy="2387600"/>
          </a:xfrm>
        </p:spPr>
        <p:txBody>
          <a:bodyPr anchor="ctr"/>
          <a:lstStyle>
            <a:lvl1pPr algn="ctr">
              <a:defRPr sz="6000" b="0"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함초롬돋움" panose="020B0604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-2" y="3794871"/>
            <a:ext cx="12192001" cy="1655762"/>
          </a:xfrm>
        </p:spPr>
        <p:txBody>
          <a:bodyPr anchor="ctr"/>
          <a:lstStyle>
            <a:lvl1pPr marL="0" indent="0" algn="ctr">
              <a:buNone/>
              <a:defRPr sz="2400">
                <a:latin typeface="G마켓 산스 TTF Light" panose="02000000000000000000" pitchFamily="2" charset="-127"/>
                <a:ea typeface="G마켓 산스 TTF Light" panose="02000000000000000000" pitchFamily="2" charset="-127"/>
                <a:cs typeface="함초롬돋움" panose="020B0604000101010101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436" t="69587"/>
          <a:stretch/>
        </p:blipFill>
        <p:spPr>
          <a:xfrm>
            <a:off x="0" y="6642340"/>
            <a:ext cx="1802918" cy="195488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520"/>
          <a:stretch/>
        </p:blipFill>
        <p:spPr>
          <a:xfrm>
            <a:off x="10880202" y="6584950"/>
            <a:ext cx="1311798" cy="27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1270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11920" y="207747"/>
            <a:ext cx="11368160" cy="762163"/>
          </a:xfrm>
        </p:spPr>
        <p:txBody>
          <a:bodyPr>
            <a:normAutofit/>
          </a:bodyPr>
          <a:lstStyle>
            <a:lvl1pPr>
              <a:defRPr sz="3600"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0" name="모서리가 둥근 직사각형 19"/>
          <p:cNvSpPr/>
          <p:nvPr userDrawn="1"/>
        </p:nvSpPr>
        <p:spPr>
          <a:xfrm>
            <a:off x="411920" y="207747"/>
            <a:ext cx="11368160" cy="762163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0"/>
          </p:nvPr>
        </p:nvSpPr>
        <p:spPr>
          <a:xfrm>
            <a:off x="411163" y="1152525"/>
            <a:ext cx="11369675" cy="5057775"/>
          </a:xfrm>
        </p:spPr>
        <p:txBody>
          <a:bodyPr/>
          <a:lstStyle>
            <a:lvl1pPr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  <a:lvl2pPr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2pPr>
            <a:lvl3pPr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3pPr>
            <a:lvl4pPr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4pPr>
            <a:lvl5pPr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5277415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종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>
          <a:xfrm>
            <a:off x="0" y="2767280"/>
            <a:ext cx="1219199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8000" dirty="0">
                <a:latin typeface="+mj-lt"/>
              </a:rPr>
              <a:t>Q &amp; A</a:t>
            </a:r>
            <a:endParaRPr lang="ko-KR" altLang="en-US" sz="8000" dirty="0">
              <a:latin typeface="+mj-lt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F54A3FA-9626-F1E9-93E9-8D9DC5208628}"/>
              </a:ext>
            </a:extLst>
          </p:cNvPr>
          <p:cNvSpPr/>
          <p:nvPr userDrawn="1"/>
        </p:nvSpPr>
        <p:spPr>
          <a:xfrm>
            <a:off x="2783197" y="2082113"/>
            <a:ext cx="6625606" cy="26937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4000" b="1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감사합니다</a:t>
            </a:r>
            <a:r>
              <a:rPr kumimoji="1" lang="en-US" altLang="ko-KR" sz="4000" b="1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  <a:endParaRPr kumimoji="1" lang="ko-KR" altLang="en-US" sz="4000" b="1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355879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B25361D-BF7D-A406-84A8-D5F98AC2E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0E98C96-41E7-36DB-5B22-BE8E95FC55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2B9C7C-7BC7-D29C-E907-E7D73EB534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5E2436-1BD2-A84A-82C9-CAB576CC4165}" type="datetimeFigureOut">
              <a:rPr kumimoji="1" lang="ko-KR" altLang="en-US" smtClean="0"/>
              <a:t>2025. 11. 19.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06EFAD-16B5-BE60-54DA-36E6F7EB2A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BEEBFF-FBBE-782B-2E44-94BAF3C59D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A48BA2-7C01-2B4D-8E76-A46DBFF655A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23779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99D05F-A05F-2997-51A1-420C19FA85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35200"/>
            <a:ext cx="12192000" cy="2387600"/>
          </a:xfrm>
        </p:spPr>
        <p:txBody>
          <a:bodyPr>
            <a:normAutofit/>
          </a:bodyPr>
          <a:lstStyle/>
          <a:p>
            <a:r>
              <a:rPr lang="en-US" altLang="ko-KR" sz="4000" b="1" dirty="0">
                <a:solidFill>
                  <a:srgbClr val="0070C0"/>
                </a:solidFill>
                <a:latin typeface="Noto Sans Armenian" panose="020B0502040504020204" pitchFamily="34" charset="0"/>
              </a:rPr>
              <a:t>Grover on Lattice </a:t>
            </a:r>
            <a:endParaRPr lang="ko-KR" altLang="en-US" sz="4000" b="1" dirty="0">
              <a:solidFill>
                <a:srgbClr val="FF0000"/>
              </a:solidFill>
              <a:latin typeface="Noto Sans Armenian" panose="020B0502040504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4ACCCA-B88E-B888-069A-59F52ECBDB83}"/>
              </a:ext>
            </a:extLst>
          </p:cNvPr>
          <p:cNvSpPr txBox="1"/>
          <p:nvPr/>
        </p:nvSpPr>
        <p:spPr>
          <a:xfrm>
            <a:off x="3046429" y="4438134"/>
            <a:ext cx="60991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 err="1"/>
              <a:t>https</a:t>
            </a:r>
            <a:r>
              <a:rPr lang="ko-KR" altLang="en-US" dirty="0"/>
              <a:t>://</a:t>
            </a:r>
            <a:r>
              <a:rPr lang="ko-KR" altLang="en-US" dirty="0" err="1"/>
              <a:t>youtu.be</a:t>
            </a:r>
            <a:r>
              <a:rPr lang="ko-KR" altLang="en-US" dirty="0"/>
              <a:t>/</a:t>
            </a:r>
            <a:r>
              <a:rPr lang="ko-KR" altLang="en-US" dirty="0" err="1"/>
              <a:t>wJEjwZAFpcA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28714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5033F-BCC0-53B8-D95C-EC413729C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F9AB36-F6A4-9866-591B-D870016558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919" y="1152525"/>
            <a:ext cx="11368161" cy="5057775"/>
          </a:xfrm>
        </p:spPr>
        <p:txBody>
          <a:bodyPr>
            <a:noAutofit/>
          </a:bodyPr>
          <a:lstStyle/>
          <a:p>
            <a:r>
              <a:rPr kumimoji="1"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ML-KEM, ML-DSA</a:t>
            </a:r>
            <a:r>
              <a:rPr kumimoji="1" lang="ko-KR" altLang="en-US" sz="20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에</a:t>
            </a:r>
            <a:r>
              <a:rPr kumimoji="1"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대한 공격 비용 추정</a:t>
            </a:r>
            <a:endParaRPr kumimoji="1" lang="en-US" altLang="ko-KR" sz="20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kumimoji="1" lang="en-US" altLang="ko-KR" sz="20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kumimoji="1"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그러나 몇가지 한계점 존재 </a:t>
            </a:r>
            <a:endParaRPr kumimoji="1" lang="en-US" altLang="ko-KR" sz="20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1"/>
            <a:r>
              <a:rPr kumimoji="1" lang="ko-KR" altLang="en-US" sz="18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디멘션</a:t>
            </a:r>
            <a:endParaRPr kumimoji="1" lang="en-US" altLang="ko-KR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1"/>
            <a:r>
              <a:rPr kumimoji="1"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검색 범위</a:t>
            </a:r>
            <a:endParaRPr kumimoji="1" lang="en-US" altLang="ko-KR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1"/>
            <a:r>
              <a:rPr kumimoji="1"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그 외</a:t>
            </a:r>
            <a:endParaRPr kumimoji="1" lang="en-US" altLang="ko-KR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kumimoji="1"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kumimoji="1"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전반적으로 표에 대한 설명 누락</a:t>
            </a:r>
            <a:r>
              <a:rPr kumimoji="1"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</a:t>
            </a:r>
            <a:r>
              <a:rPr kumimoji="1"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파라미터 명시하지 않음 등의 이유로 정확한 분석은 아니지만</a:t>
            </a:r>
            <a:r>
              <a:rPr kumimoji="1"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..</a:t>
            </a:r>
          </a:p>
          <a:p>
            <a:pPr lvl="1">
              <a:lnSpc>
                <a:spcPct val="150000"/>
              </a:lnSpc>
            </a:pPr>
            <a:r>
              <a:rPr kumimoji="1"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양자 비용이 높지 않게 제한된 가정에서의 비용 평가를 제시</a:t>
            </a:r>
            <a:endParaRPr kumimoji="1"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1">
              <a:lnSpc>
                <a:spcPct val="150000"/>
              </a:lnSpc>
            </a:pPr>
            <a:r>
              <a:rPr kumimoji="1"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벡터에 대한 전수조사의 본질이 흐려지는 것 같음 </a:t>
            </a:r>
            <a:r>
              <a:rPr kumimoji="1"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kumimoji="1"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솔루션 벡터가 커버하는 범위가 적음</a:t>
            </a:r>
            <a:r>
              <a:rPr kumimoji="1"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r>
              <a:rPr kumimoji="1"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endParaRPr kumimoji="1"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endParaRPr kumimoji="1" lang="en-US" altLang="ko-KR" sz="2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91D9A7C-BBB9-27B9-2E39-77B8F457E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CHES’25</a:t>
            </a:r>
            <a:endParaRPr kumimoji="1"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385794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C96CEC-5E30-D952-FF2A-6D6CABC27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dimension</a:t>
            </a:r>
            <a:r>
              <a:rPr kumimoji="1" lang="ko-KR" altLang="en-US" dirty="0"/>
              <a:t> 관련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17A8DD45-3F90-461F-211B-96C31CCCD1FD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411163" y="969910"/>
                <a:ext cx="11659295" cy="5057775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ko-KR" sz="2000" b="0" i="1" smtClean="0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𝑣</m:t>
                    </m:r>
                    <m:r>
                      <a:rPr kumimoji="1" lang="en-US" altLang="ko-KR" sz="2000" b="0" i="1" smtClean="0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=[</m:t>
                    </m:r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</m:ctrlPr>
                      </m:sSub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  <m:t>𝑣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  <m:t>0</m:t>
                        </m:r>
                      </m:sub>
                    </m:sSub>
                    <m:r>
                      <a:rPr kumimoji="1" lang="en-US" altLang="ko-KR" sz="2000" b="0" i="1" smtClean="0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, </m:t>
                    </m:r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</m:ctrlPr>
                      </m:sSub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  <m:t>𝑣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  <m:t>1</m:t>
                        </m:r>
                      </m:sub>
                    </m:sSub>
                    <m:r>
                      <a:rPr kumimoji="1" lang="en-US" altLang="ko-KR" sz="2000" b="0" i="1" smtClean="0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,…, </m:t>
                    </m:r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</m:ctrlPr>
                      </m:sSub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  <m:t>𝑣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  <m:t>𝑛</m:t>
                        </m:r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  <m:t>−1</m:t>
                        </m:r>
                      </m:sub>
                    </m:sSub>
                    <m:r>
                      <a:rPr kumimoji="1" lang="en-US" altLang="ko-KR" sz="2000" b="0" i="1" smtClean="0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]</m:t>
                    </m:r>
                  </m:oMath>
                </a14:m>
                <a:r>
                  <a:rPr kumimoji="1" lang="en-US" altLang="ko-KR" sz="20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</a:t>
                </a:r>
                <a:r>
                  <a:rPr kumimoji="1" lang="ko-KR" altLang="en-US" sz="20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이므로</a:t>
                </a:r>
                <a:r>
                  <a:rPr kumimoji="1" lang="en-US" altLang="ko-KR" sz="20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,</a:t>
                </a:r>
                <a:r>
                  <a:rPr kumimoji="1" lang="ko-KR" altLang="en-US" sz="20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</a:t>
                </a:r>
                <a:r>
                  <a:rPr kumimoji="1" lang="en-US" altLang="ko-KR" sz="20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lattice</a:t>
                </a:r>
                <a:r>
                  <a:rPr kumimoji="1" lang="ko-KR" altLang="en-US" sz="20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의 전체 차원</a:t>
                </a:r>
                <a:r>
                  <a:rPr kumimoji="1" lang="en-US" altLang="ko-KR" sz="20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(</a:t>
                </a:r>
                <a14:m>
                  <m:oMath xmlns:m="http://schemas.openxmlformats.org/officeDocument/2006/math">
                    <m:r>
                      <a:rPr kumimoji="1" lang="en-US" altLang="ko-KR" sz="2000" i="1" dirty="0" smtClean="0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𝑛</m:t>
                    </m:r>
                  </m:oMath>
                </a14:m>
                <a:r>
                  <a:rPr kumimoji="1" lang="en-US" altLang="ko-KR" sz="20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)</a:t>
                </a:r>
                <a:r>
                  <a:rPr kumimoji="1" lang="ko-KR" altLang="en-US" sz="2000" dirty="0" err="1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에</a:t>
                </a:r>
                <a:r>
                  <a:rPr kumimoji="1" lang="ko-KR" altLang="en-US" sz="20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대한 입력 벡터 설정이 필요함</a:t>
                </a:r>
                <a:endParaRPr kumimoji="1" lang="en-US" altLang="ko-KR" sz="2000" b="1" dirty="0"/>
              </a:p>
              <a:p>
                <a:endParaRPr kumimoji="1" lang="en-US" altLang="ko-KR" sz="500" b="1" dirty="0"/>
              </a:p>
              <a:p>
                <a:r>
                  <a:rPr kumimoji="1" lang="ko-KR" altLang="en-US" sz="2000" b="1" dirty="0"/>
                  <a:t>표</a:t>
                </a:r>
                <a:r>
                  <a:rPr kumimoji="1" lang="en-US" altLang="ko-KR" sz="2000" b="1" dirty="0"/>
                  <a:t>3</a:t>
                </a:r>
                <a:r>
                  <a:rPr kumimoji="1" lang="ko-KR" altLang="en-US" sz="2000" b="1" dirty="0"/>
                  <a:t>과 표</a:t>
                </a:r>
                <a:r>
                  <a:rPr kumimoji="1" lang="en-US" altLang="ko-KR" sz="2000" b="1" dirty="0"/>
                  <a:t>4,</a:t>
                </a:r>
                <a:r>
                  <a:rPr kumimoji="1" lang="ko-KR" altLang="en-US" sz="2000" b="1" dirty="0"/>
                  <a:t> </a:t>
                </a:r>
                <a:r>
                  <a:rPr kumimoji="1" lang="en-US" altLang="ko-KR" sz="2000" b="1" dirty="0"/>
                  <a:t>q</a:t>
                </a:r>
                <a:r>
                  <a:rPr kumimoji="1" lang="ko-KR" altLang="en-US" sz="2000" b="1" dirty="0"/>
                  <a:t>를 기반으로 </a:t>
                </a:r>
                <a14:m>
                  <m:oMath xmlns:m="http://schemas.openxmlformats.org/officeDocument/2006/math">
                    <m:r>
                      <a:rPr kumimoji="1" lang="en-US" altLang="ko-KR" sz="2000" b="1" i="1" dirty="0" smtClean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kumimoji="1" lang="en-US" altLang="ko-KR" sz="2000" b="1" dirty="0"/>
                  <a:t> (dimension</a:t>
                </a:r>
                <a:r>
                  <a:rPr kumimoji="1" lang="ko-KR" altLang="en-US" sz="2000" b="1" dirty="0" err="1"/>
                  <a:t>에</a:t>
                </a:r>
                <a:r>
                  <a:rPr kumimoji="1" lang="ko-KR" altLang="en-US" sz="2000" b="1" dirty="0"/>
                  <a:t> 해당</a:t>
                </a:r>
                <a:r>
                  <a:rPr kumimoji="1" lang="en-US" altLang="ko-KR" sz="2000" b="1" dirty="0"/>
                  <a:t>)</a:t>
                </a:r>
                <a:r>
                  <a:rPr kumimoji="1" lang="ko-KR" altLang="en-US" sz="2000" b="1" dirty="0"/>
                  <a:t>를 </a:t>
                </a:r>
                <a:r>
                  <a:rPr kumimoji="1" lang="ko-KR" altLang="en-US" sz="2000" b="1" dirty="0" err="1"/>
                  <a:t>역계산</a:t>
                </a:r>
                <a:endParaRPr kumimoji="1" lang="en-US" altLang="ko-KR" sz="2000" b="1" dirty="0"/>
              </a:p>
              <a:p>
                <a:pPr lvl="1">
                  <a:lnSpc>
                    <a:spcPct val="150000"/>
                  </a:lnSpc>
                </a:pPr>
                <a:r>
                  <a:rPr kumimoji="1" lang="en-US" altLang="ko-KR" sz="1600" dirty="0"/>
                  <a:t>ML-KEM-512</a:t>
                </a:r>
                <a:r>
                  <a:rPr kumimoji="1" lang="ko-KR" altLang="en-US" sz="1600" dirty="0" err="1"/>
                  <a:t>에</a:t>
                </a:r>
                <a14:m>
                  <m:oMath xmlns:m="http://schemas.openxmlformats.org/officeDocument/2006/math">
                    <m:r>
                      <a:rPr kumimoji="1" lang="ko-KR" altLang="en-US" sz="1600" b="0" i="0" smtClean="0">
                        <a:latin typeface="Cambria Math" panose="02040503050406030204" pitchFamily="18" charset="0"/>
                      </a:rPr>
                      <m:t>서</m:t>
                    </m:r>
                    <m:r>
                      <a:rPr kumimoji="1" lang="ko-KR" altLang="en-US" sz="1600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kumimoji="1"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</a:rPr>
                          <m:t>𝑞𝑠</m:t>
                        </m:r>
                      </m:sub>
                    </m:sSub>
                  </m:oMath>
                </a14:m>
                <a:r>
                  <a:rPr kumimoji="1" lang="ko-KR" altLang="en-US" sz="1600" dirty="0"/>
                  <a:t>에서 </a:t>
                </a:r>
                <a14:m>
                  <m:oMath xmlns:m="http://schemas.openxmlformats.org/officeDocument/2006/math">
                    <m:r>
                      <a:rPr kumimoji="1" lang="en-US" altLang="ko-KR" sz="16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ko-KR" altLang="en-US" sz="1600" dirty="0"/>
                  <a:t>은 약 </a:t>
                </a:r>
                <a:r>
                  <a:rPr kumimoji="1" lang="en-US" altLang="ko-KR" sz="1600" dirty="0"/>
                  <a:t>190,</a:t>
                </a:r>
                <a:r>
                  <a:rPr kumimoji="1" lang="ko-KR" altLang="en-US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600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</a:rPr>
                          <m:t>𝑑𝑒𝑝</m:t>
                        </m:r>
                      </m:sub>
                    </m:sSub>
                    <m:r>
                      <a:rPr kumimoji="1" lang="en-US" altLang="ko-KR" sz="16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ko-KR" altLang="en-US" sz="1600" dirty="0"/>
                  <a:t>에서 </a:t>
                </a:r>
                <a14:m>
                  <m:oMath xmlns:m="http://schemas.openxmlformats.org/officeDocument/2006/math">
                    <m:r>
                      <a:rPr kumimoji="1" lang="en-US" altLang="ko-KR" sz="16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ko-KR" altLang="en-US" sz="1600" dirty="0"/>
                  <a:t>은 약 </a:t>
                </a:r>
                <a:r>
                  <a:rPr kumimoji="1" lang="en-US" altLang="ko-KR" sz="1600" dirty="0"/>
                  <a:t>17</a:t>
                </a:r>
                <a:br>
                  <a:rPr kumimoji="1" lang="en-US" altLang="ko-KR" sz="1600" dirty="0"/>
                </a:br>
                <a:r>
                  <a:rPr kumimoji="1" lang="en-US" altLang="ko-KR" sz="1600" dirty="0">
                    <a:sym typeface="Wingdings" pitchFamily="2" charset="2"/>
                  </a:rPr>
                  <a:t> practical </a:t>
                </a:r>
                <a:r>
                  <a:rPr kumimoji="1" lang="ko-KR" altLang="en-US" sz="1600" dirty="0">
                    <a:sym typeface="Wingdings" pitchFamily="2" charset="2"/>
                  </a:rPr>
                  <a:t>비용을 위해 각각 다르게 제한한 것으로 보임</a:t>
                </a:r>
                <a:endParaRPr kumimoji="1" lang="en-US" altLang="ko-KR" sz="2000" dirty="0"/>
              </a:p>
              <a:p>
                <a:endParaRPr kumimoji="1" lang="en-US" altLang="ko-KR" sz="500" b="1" dirty="0"/>
              </a:p>
              <a:p>
                <a:r>
                  <a:rPr kumimoji="1" lang="ko-KR" altLang="en-US" sz="2000" b="1" dirty="0"/>
                  <a:t>논문에 명시된 값은 아니고</a:t>
                </a:r>
                <a:r>
                  <a:rPr kumimoji="1" lang="en-US" altLang="ko-KR" sz="2000" b="1" dirty="0"/>
                  <a:t>,</a:t>
                </a:r>
                <a:r>
                  <a:rPr kumimoji="1" lang="ko-KR" altLang="en-US" sz="2000" b="1" dirty="0"/>
                  <a:t> 나와 있는 정보 기반의 추측이긴 함</a:t>
                </a:r>
                <a:endParaRPr kumimoji="1" lang="en-US" altLang="ko-KR" sz="2000" b="1" dirty="0"/>
              </a:p>
              <a:p>
                <a:pPr lvl="1"/>
                <a:r>
                  <a:rPr kumimoji="1" lang="ko-KR" altLang="en-US" sz="1600" dirty="0"/>
                  <a:t>여러 수치를 비교했을 때 전체 </a:t>
                </a:r>
                <a:r>
                  <a:rPr kumimoji="1" lang="ko-KR" altLang="en-US" sz="1600" dirty="0" err="1"/>
                  <a:t>디멘션</a:t>
                </a:r>
                <a:r>
                  <a:rPr kumimoji="1" lang="ko-KR" altLang="en-US" sz="1600" dirty="0"/>
                  <a:t> </a:t>
                </a:r>
                <a:r>
                  <a:rPr kumimoji="1" lang="en-US" altLang="ko-KR" sz="1600" dirty="0"/>
                  <a:t>(e.g. 512, 768, 1024) </a:t>
                </a:r>
                <a:r>
                  <a:rPr kumimoji="1" lang="ko-KR" altLang="en-US" sz="1600" dirty="0" err="1"/>
                  <a:t>에</a:t>
                </a:r>
                <a:r>
                  <a:rPr kumimoji="1" lang="ko-KR" altLang="en-US" sz="1600" dirty="0"/>
                  <a:t> 대한 결과라고 보기 어려울 것 같음</a:t>
                </a:r>
                <a:endParaRPr kumimoji="1" lang="en-US" altLang="ko-KR" sz="1600" dirty="0"/>
              </a:p>
              <a:p>
                <a:pPr lvl="1"/>
                <a:r>
                  <a:rPr kumimoji="1" lang="ko-KR" altLang="en-US" sz="1600" dirty="0"/>
                  <a:t>제 방식으로 저 정도 세팅으로 돌려보면 거의 비슷한 수준의 자원 나옴</a:t>
                </a:r>
                <a:endParaRPr kumimoji="1" lang="en-US" altLang="ko-KR" sz="1600" dirty="0"/>
              </a:p>
            </p:txBody>
          </p:sp>
        </mc:Choice>
        <mc:Fallback xmlns="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17A8DD45-3F90-461F-211B-96C31CCCD1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411163" y="969910"/>
                <a:ext cx="11659295" cy="5057775"/>
              </a:xfrm>
              <a:blipFill>
                <a:blip r:embed="rId3"/>
                <a:stretch>
                  <a:fillRect l="-435" t="-15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그림 3">
            <a:extLst>
              <a:ext uri="{FF2B5EF4-FFF2-40B4-BE49-F238E27FC236}">
                <a16:creationId xmlns:a16="http://schemas.microsoft.com/office/drawing/2014/main" id="{1081853E-1EEA-F43C-8A11-14A6EC2BA6B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096" b="1315"/>
          <a:stretch/>
        </p:blipFill>
        <p:spPr>
          <a:xfrm>
            <a:off x="5943600" y="3925852"/>
            <a:ext cx="6126858" cy="286815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0CD0D7D-62A1-7512-0688-49864557E3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542" y="3984634"/>
            <a:ext cx="5695777" cy="1105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062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FAFB88-9A0D-A794-8F11-4DF237C9F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검색 공간 관련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883E0E85-3890-B014-DC61-F4438DDEDB20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en-US" altLang="ko-KR" sz="2000" b="1" dirty="0"/>
                  <a:t>Grover search</a:t>
                </a:r>
                <a:r>
                  <a:rPr kumimoji="1" lang="ko-KR" altLang="en-US" sz="2000" b="1" dirty="0"/>
                  <a:t>가 적용되는 부분 </a:t>
                </a:r>
                <a:r>
                  <a:rPr kumimoji="1" lang="en-US" altLang="ko-KR" sz="2000" b="1" dirty="0">
                    <a:sym typeface="Wingdings" pitchFamily="2" charset="2"/>
                  </a:rPr>
                  <a:t></a:t>
                </a:r>
                <a:r>
                  <a:rPr kumimoji="1" lang="ko-KR" altLang="en-US" sz="2000" b="1" dirty="0"/>
                  <a:t> 격자 위의 벡터 </a:t>
                </a:r>
                <a:r>
                  <a:rPr kumimoji="1" lang="en-US" altLang="ko-KR" sz="2000" b="1" dirty="0"/>
                  <a:t>w</a:t>
                </a:r>
                <a:r>
                  <a:rPr kumimoji="1" lang="ko-KR" altLang="en-US" sz="2000" b="1" dirty="0" err="1"/>
                  <a:t>에</a:t>
                </a:r>
                <a:r>
                  <a:rPr kumimoji="1" lang="ko-KR" altLang="en-US" sz="2000" b="1" dirty="0"/>
                  <a:t> 대한 전수 조사</a:t>
                </a:r>
                <a:endParaRPr kumimoji="1" lang="en-US" altLang="ko-KR" sz="2000" b="1" dirty="0"/>
              </a:p>
              <a:p>
                <a:r>
                  <a:rPr kumimoji="1" lang="ko-KR" altLang="en-US" sz="2000" dirty="0">
                    <a:ea typeface="Noto Sans KR" panose="020B0200000000000000" pitchFamily="50" charset="-127"/>
                  </a:rPr>
                  <a:t>격</a:t>
                </a:r>
                <a14:m>
                  <m:oMath xmlns:m="http://schemas.openxmlformats.org/officeDocument/2006/math">
                    <m:r>
                      <a:rPr kumimoji="1" lang="ko-KR" altLang="en-US" sz="2000" b="0" i="0" smtClean="0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자</m:t>
                    </m:r>
                    <m:r>
                      <a:rPr kumimoji="1" lang="ko-KR" altLang="en-US" sz="2000" b="0" i="0" smtClean="0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 </m:t>
                    </m:r>
                    <m:r>
                      <a:rPr kumimoji="1" lang="ko-KR" altLang="en-US" sz="2000" b="0" i="0" smtClean="0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위의</m:t>
                    </m:r>
                    <m:r>
                      <a:rPr kumimoji="1" lang="ko-KR" altLang="en-US" sz="2000" b="0" i="0" smtClean="0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 </m:t>
                    </m:r>
                    <m:r>
                      <a:rPr kumimoji="1" lang="ko-KR" altLang="en-US" sz="2000" b="0" i="0" smtClean="0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벡터</m:t>
                    </m:r>
                    <m:r>
                      <a:rPr kumimoji="1" lang="ko-KR" altLang="en-US" sz="2000" b="0" i="0" smtClean="0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 </m:t>
                    </m:r>
                    <m:d>
                      <m:d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</m:ctrlPr>
                      </m:d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  <m:t>𝑖</m:t>
                        </m:r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  <m:t>.</m:t>
                        </m:r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  <m:t>𝑒</m:t>
                        </m:r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  <m:t>.,</m:t>
                        </m:r>
                        <m:r>
                          <a:rPr kumimoji="1" lang="ko-KR" altLang="en-US" sz="2000" b="0" i="1" smtClean="0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  <m:t> </m:t>
                        </m:r>
                        <m:sSub>
                          <m:sSubPr>
                            <m:ctrlPr>
                              <a:rPr kumimoji="1" lang="en-US" altLang="ko-KR" sz="2000" b="0" i="1" smtClean="0">
                                <a:latin typeface="Cambria Math" panose="02040503050406030204" pitchFamily="18" charset="0"/>
                                <a:ea typeface="Noto Sans KR" panose="020B0200000000000000" pitchFamily="50" charset="-127"/>
                              </a:rPr>
                            </m:ctrlPr>
                          </m:sSubPr>
                          <m:e>
                            <m:r>
                              <a:rPr kumimoji="1" lang="en-US" altLang="ko-KR" sz="2000" b="0" i="1" smtClean="0">
                                <a:latin typeface="Cambria Math" panose="02040503050406030204" pitchFamily="18" charset="0"/>
                                <a:ea typeface="Noto Sans KR" panose="020B0200000000000000" pitchFamily="50" charset="-127"/>
                              </a:rPr>
                              <m:t>𝑣</m:t>
                            </m:r>
                          </m:e>
                          <m:sub>
                            <m:r>
                              <a:rPr kumimoji="1" lang="en-US" altLang="ko-KR" sz="2000" b="0" i="1" smtClean="0">
                                <a:latin typeface="Cambria Math" panose="02040503050406030204" pitchFamily="18" charset="0"/>
                                <a:ea typeface="Noto Sans KR" panose="020B0200000000000000" pitchFamily="50" charset="-127"/>
                              </a:rPr>
                              <m:t>0</m:t>
                            </m:r>
                          </m:sub>
                        </m:s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  <m:t>,</m:t>
                        </m:r>
                        <m:sSub>
                          <m:sSubPr>
                            <m:ctrlPr>
                              <a:rPr kumimoji="1" lang="en-US" altLang="ko-KR" sz="2000" i="1">
                                <a:latin typeface="Cambria Math" panose="02040503050406030204" pitchFamily="18" charset="0"/>
                                <a:ea typeface="Noto Sans KR" panose="020B0200000000000000" pitchFamily="50" charset="-127"/>
                              </a:rPr>
                            </m:ctrlPr>
                          </m:sSubPr>
                          <m:e>
                            <m:r>
                              <a:rPr kumimoji="1" lang="en-US" altLang="ko-KR" sz="2000" i="1">
                                <a:latin typeface="Cambria Math" panose="02040503050406030204" pitchFamily="18" charset="0"/>
                                <a:ea typeface="Noto Sans KR" panose="020B0200000000000000" pitchFamily="50" charset="-127"/>
                              </a:rPr>
                              <m:t>𝑣</m:t>
                            </m:r>
                          </m:e>
                          <m:sub>
                            <m:r>
                              <a:rPr kumimoji="1" lang="en-US" altLang="ko-KR" sz="2000" b="0" i="1" smtClean="0">
                                <a:latin typeface="Cambria Math" panose="02040503050406030204" pitchFamily="18" charset="0"/>
                                <a:ea typeface="Noto Sans KR" panose="020B0200000000000000" pitchFamily="50" charset="-127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ko-KR" sz="2000" i="1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  <m:t>,</m:t>
                        </m:r>
                        <m:sSub>
                          <m:sSubPr>
                            <m:ctrlPr>
                              <a:rPr kumimoji="1" lang="en-US" altLang="ko-KR" sz="2000" i="1" smtClean="0">
                                <a:latin typeface="Cambria Math" panose="02040503050406030204" pitchFamily="18" charset="0"/>
                                <a:ea typeface="Noto Sans KR" panose="020B0200000000000000" pitchFamily="50" charset="-127"/>
                              </a:rPr>
                            </m:ctrlPr>
                          </m:sSubPr>
                          <m:e>
                            <m:r>
                              <a:rPr kumimoji="1" lang="en-US" altLang="ko-KR" sz="2000" b="0" i="1" smtClean="0">
                                <a:latin typeface="Cambria Math" panose="02040503050406030204" pitchFamily="18" charset="0"/>
                                <a:ea typeface="Noto Sans KR" panose="020B0200000000000000" pitchFamily="50" charset="-127"/>
                              </a:rPr>
                              <m:t>𝑤</m:t>
                            </m:r>
                          </m:e>
                          <m:sub>
                            <m:r>
                              <a:rPr kumimoji="1" lang="en-US" altLang="ko-KR" sz="2000" i="1">
                                <a:latin typeface="Cambria Math" panose="02040503050406030204" pitchFamily="18" charset="0"/>
                                <a:ea typeface="Noto Sans KR" panose="020B0200000000000000" pitchFamily="50" charset="-127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kumimoji="1" lang="ko-KR" altLang="en-US" sz="2000" b="0" i="0" smtClean="0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의</m:t>
                    </m:r>
                    <m:r>
                      <a:rPr kumimoji="1" lang="ko-KR" altLang="en-US" sz="2000" b="0" i="0" smtClean="0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 </m:t>
                    </m:r>
                  </m:oMath>
                </a14:m>
                <a:r>
                  <a:rPr kumimoji="1" lang="ko-KR" altLang="en-US" sz="20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각 요소는 </a:t>
                </a:r>
                <a:r>
                  <a:rPr kumimoji="1" lang="en-US" altLang="ko-KR" sz="20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12</a:t>
                </a:r>
                <a:r>
                  <a:rPr kumimoji="1" lang="ko-KR" altLang="en-US" sz="20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비트여야 함 </a:t>
                </a:r>
                <a:r>
                  <a:rPr kumimoji="1" lang="en-US" altLang="ko-KR" sz="20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(ML-KEM-512</a:t>
                </a:r>
                <a:r>
                  <a:rPr kumimoji="1" lang="ko-KR" altLang="en-US" sz="20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기준</a:t>
                </a:r>
                <a:r>
                  <a:rPr kumimoji="1" lang="en-US" altLang="ko-KR" sz="20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ko-KR" sz="1600" b="0" i="1" smtClean="0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𝑣</m:t>
                    </m:r>
                  </m:oMath>
                </a14:m>
                <a:r>
                  <a:rPr kumimoji="1" lang="ko-KR" altLang="en-US" sz="16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는 모든 요소에 대해 </a:t>
                </a:r>
                <a:r>
                  <a:rPr kumimoji="1" lang="en-US" altLang="ko-KR" sz="16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12</a:t>
                </a:r>
                <a:r>
                  <a:rPr kumimoji="1" lang="ko-KR" altLang="en-US" sz="16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비트 사용함 </a:t>
                </a:r>
                <a:r>
                  <a:rPr kumimoji="1" lang="en-US" altLang="ko-KR" sz="1600" dirty="0">
                    <a:latin typeface="Noto Sans KR" panose="020B0200000000000000" pitchFamily="50" charset="-127"/>
                    <a:ea typeface="Noto Sans KR" panose="020B0200000000000000" pitchFamily="50" charset="-127"/>
                    <a:sym typeface="Wingdings" pitchFamily="2" charset="2"/>
                  </a:rPr>
                  <a:t></a:t>
                </a:r>
                <a:r>
                  <a:rPr kumimoji="1" lang="ko-KR" altLang="en-US" sz="1600" dirty="0">
                    <a:latin typeface="Noto Sans KR" panose="020B0200000000000000" pitchFamily="50" charset="-127"/>
                    <a:ea typeface="Noto Sans KR" panose="020B0200000000000000" pitchFamily="50" charset="-127"/>
                    <a:sym typeface="Wingdings" pitchFamily="2" charset="2"/>
                  </a:rPr>
                  <a:t> 즉</a:t>
                </a:r>
                <a:r>
                  <a:rPr kumimoji="1" lang="en-US" altLang="ko-KR" sz="1600" dirty="0">
                    <a:latin typeface="Noto Sans KR" panose="020B0200000000000000" pitchFamily="50" charset="-127"/>
                    <a:ea typeface="Noto Sans KR" panose="020B0200000000000000" pitchFamily="50" charset="-127"/>
                    <a:sym typeface="Wingdings" pitchFamily="2" charset="2"/>
                  </a:rPr>
                  <a:t>,</a:t>
                </a:r>
                <a:r>
                  <a:rPr kumimoji="1" lang="ko-KR" altLang="en-US" sz="1600" dirty="0">
                    <a:latin typeface="Noto Sans KR" panose="020B0200000000000000" pitchFamily="50" charset="-127"/>
                    <a:ea typeface="Noto Sans KR" panose="020B0200000000000000" pitchFamily="50" charset="-127"/>
                    <a:sym typeface="Wingdings" pitchFamily="2" charset="2"/>
                  </a:rPr>
                  <a:t> 내부 양자 연산 자체는 </a:t>
                </a:r>
                <a:r>
                  <a:rPr kumimoji="1" lang="en-US" altLang="ko-KR" sz="1600" dirty="0">
                    <a:latin typeface="Noto Sans KR" panose="020B0200000000000000" pitchFamily="50" charset="-127"/>
                    <a:ea typeface="Noto Sans KR" panose="020B0200000000000000" pitchFamily="50" charset="-127"/>
                    <a:sym typeface="Wingdings" pitchFamily="2" charset="2"/>
                  </a:rPr>
                  <a:t>12</a:t>
                </a:r>
                <a:r>
                  <a:rPr kumimoji="1" lang="ko-KR" altLang="en-US" sz="1600" dirty="0">
                    <a:latin typeface="Noto Sans KR" panose="020B0200000000000000" pitchFamily="50" charset="-127"/>
                    <a:ea typeface="Noto Sans KR" panose="020B0200000000000000" pitchFamily="50" charset="-127"/>
                    <a:sym typeface="Wingdings" pitchFamily="2" charset="2"/>
                  </a:rPr>
                  <a:t>비트로 동작</a:t>
                </a:r>
                <a:endParaRPr kumimoji="1" lang="en-US" altLang="ko-KR" sz="1600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endParaRPr kumimoji="1" lang="en-US" altLang="ko-KR" sz="1600" dirty="0"/>
              </a:p>
              <a:p>
                <a:r>
                  <a:rPr kumimoji="1" lang="ko-KR" altLang="en-US" sz="2000" dirty="0"/>
                  <a:t>그러나 논문에서 검색 대상인 </a:t>
                </a:r>
                <a:r>
                  <a:rPr kumimoji="1" lang="en-US" altLang="ko-KR" sz="2000" dirty="0"/>
                  <a:t>w</a:t>
                </a:r>
                <a:r>
                  <a:rPr kumimoji="1" lang="ko-KR" altLang="en-US" sz="2000" dirty="0"/>
                  <a:t>의 범위를 이를 </a:t>
                </a:r>
                <a:r>
                  <a:rPr kumimoji="1" lang="en-US" altLang="ko-KR" sz="2000" dirty="0"/>
                  <a:t>–T~T</a:t>
                </a:r>
                <a:r>
                  <a:rPr kumimoji="1" lang="ko-KR" altLang="en-US" sz="2000" dirty="0"/>
                  <a:t>로 제한함</a:t>
                </a:r>
                <a:endParaRPr kumimoji="1" lang="en-US" altLang="ko-KR" sz="2000" dirty="0"/>
              </a:p>
              <a:p>
                <a:pPr lvl="1"/>
                <a:r>
                  <a:rPr kumimoji="1" lang="ko-KR" altLang="en-US" sz="16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양자 비용이 매우 커지기 때문에 </a:t>
                </a:r>
                <a:r>
                  <a:rPr kumimoji="1" lang="en-US" altLang="ko-KR" sz="16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practical</a:t>
                </a:r>
                <a:r>
                  <a:rPr kumimoji="1" lang="ko-KR" altLang="en-US" sz="16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한 수치를 위해 제한한다고 함</a:t>
                </a:r>
                <a:endParaRPr kumimoji="1" lang="en-US" altLang="ko-KR" sz="1600" dirty="0"/>
              </a:p>
              <a:p>
                <a:pPr lvl="1"/>
                <a:r>
                  <a:rPr kumimoji="1" lang="ko-KR" altLang="en-US" sz="1600" dirty="0"/>
                  <a:t>이에 대한 수치나 관련 정보 명시하지 않음</a:t>
                </a:r>
                <a:endParaRPr kumimoji="1" lang="en-US" altLang="ko-KR" sz="1600" dirty="0"/>
              </a:p>
              <a:p>
                <a:r>
                  <a:rPr kumimoji="1" lang="ko-KR" altLang="en-US" sz="2000" dirty="0" err="1"/>
                  <a:t>역계산하면</a:t>
                </a:r>
                <a:r>
                  <a:rPr kumimoji="1" lang="ko-KR" altLang="en-US" sz="2000" dirty="0"/>
                  <a:t> 약 </a:t>
                </a:r>
                <a:r>
                  <a:rPr kumimoji="1" lang="en-US" altLang="ko-KR" sz="2000" dirty="0"/>
                  <a:t>3~6</a:t>
                </a:r>
                <a:r>
                  <a:rPr kumimoji="1" lang="ko-KR" altLang="en-US" sz="2000" dirty="0"/>
                  <a:t>비트로 추정되며</a:t>
                </a:r>
                <a:r>
                  <a:rPr kumimoji="1" lang="en-US" altLang="ko-KR" sz="2000" dirty="0"/>
                  <a:t>,</a:t>
                </a:r>
                <a:r>
                  <a:rPr kumimoji="1" lang="ko-KR" altLang="en-US" sz="2000" dirty="0"/>
                  <a:t> 이보다 크다고 해도 어쨌든 </a:t>
                </a:r>
                <a:r>
                  <a:rPr kumimoji="1" lang="en-US" altLang="ko-KR" sz="2000" dirty="0"/>
                  <a:t>12</a:t>
                </a:r>
                <a:r>
                  <a:rPr kumimoji="1" lang="ko-KR" altLang="en-US" sz="2000" dirty="0"/>
                  <a:t>비트에 대해 검색하지 않음</a:t>
                </a:r>
                <a:endParaRPr kumimoji="1" lang="en-US" altLang="ko-KR" sz="2000" dirty="0"/>
              </a:p>
              <a:p>
                <a:pPr lvl="1"/>
                <a:r>
                  <a:rPr kumimoji="1" lang="ko-KR" altLang="en-US" sz="1600" dirty="0">
                    <a:latin typeface="Noto Sans KR" panose="020B0200000000000000" pitchFamily="50" charset="-127"/>
                    <a:ea typeface="Noto Sans KR" panose="020B0200000000000000" pitchFamily="50" charset="-127"/>
                    <a:sym typeface="Wingdings" pitchFamily="2" charset="2"/>
                  </a:rPr>
                  <a:t>이는 실제 격자 상의 벡터가 가지는 계수 범위에 대한 검색이 아님</a:t>
                </a:r>
                <a:endParaRPr kumimoji="1" lang="en-US" altLang="ko-KR" sz="1600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pPr lvl="1"/>
                <a:endParaRPr kumimoji="1" lang="en-US" altLang="ko-KR" sz="1600" dirty="0"/>
              </a:p>
              <a:p>
                <a:r>
                  <a:rPr kumimoji="1" lang="ko-KR" altLang="en-US" sz="2000" dirty="0"/>
                  <a:t>이것은 </a:t>
                </a:r>
                <a:r>
                  <a:rPr kumimoji="1" lang="en-US" altLang="ko-KR" sz="2000" dirty="0"/>
                  <a:t>Grover iteration</a:t>
                </a:r>
                <a:r>
                  <a:rPr kumimoji="1" lang="ko-KR" altLang="en-US" sz="2000" dirty="0" err="1"/>
                  <a:t>에</a:t>
                </a:r>
                <a:r>
                  <a:rPr kumimoji="1" lang="ko-KR" altLang="en-US" sz="2000" dirty="0"/>
                  <a:t> 영향을 주며</a:t>
                </a:r>
                <a:r>
                  <a:rPr kumimoji="1" lang="en-US" altLang="ko-KR" sz="2000" dirty="0"/>
                  <a:t>,</a:t>
                </a:r>
                <a:r>
                  <a:rPr kumimoji="1" lang="ko-KR" altLang="en-US" sz="2000" dirty="0"/>
                  <a:t> 검색 공간이 작아지면 전체 비용이 크게 감소</a:t>
                </a:r>
                <a:endParaRPr kumimoji="1" lang="en-US" altLang="ko-KR" sz="2000" dirty="0"/>
              </a:p>
              <a:p>
                <a:pPr lvl="1"/>
                <a:r>
                  <a:rPr kumimoji="1" lang="ko-KR" altLang="en-US" sz="1600" dirty="0"/>
                  <a:t>오라클 비용에 영향을 주지는 않음 </a:t>
                </a:r>
                <a:r>
                  <a:rPr kumimoji="1" lang="en-US" altLang="ko-KR" sz="1600" dirty="0"/>
                  <a:t>(12</a:t>
                </a:r>
                <a:r>
                  <a:rPr kumimoji="1" lang="ko-KR" altLang="en-US" sz="1600" dirty="0"/>
                  <a:t>비트에 대한 연산을 하긴 하지만</a:t>
                </a:r>
                <a:r>
                  <a:rPr kumimoji="1" lang="en-US" altLang="ko-KR" sz="1600" dirty="0"/>
                  <a:t>,</a:t>
                </a:r>
                <a:r>
                  <a:rPr kumimoji="1" lang="ko-KR" altLang="en-US" sz="1600" dirty="0"/>
                  <a:t> 중첩으로 두는 부분이 제한된 것</a:t>
                </a:r>
                <a:r>
                  <a:rPr kumimoji="1" lang="en-US" altLang="ko-KR" sz="1600" dirty="0"/>
                  <a:t>)</a:t>
                </a:r>
              </a:p>
            </p:txBody>
          </p:sp>
        </mc:Choice>
        <mc:Fallback xmlns="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883E0E85-3890-B014-DC61-F4438DDEDB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2"/>
                <a:stretch>
                  <a:fillRect l="-446" t="-15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그림 3">
            <a:extLst>
              <a:ext uri="{FF2B5EF4-FFF2-40B4-BE49-F238E27FC236}">
                <a16:creationId xmlns:a16="http://schemas.microsoft.com/office/drawing/2014/main" id="{22D4FB5A-D4AE-4599-82F1-CA28F5184E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9581" y="5493028"/>
            <a:ext cx="8726526" cy="907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138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DAC03E-1CE3-EE15-0D8F-336DB92EC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제곱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AF08C91-872D-5498-A452-DCAF144B4F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547" y="1152525"/>
            <a:ext cx="11719292" cy="5057775"/>
          </a:xfrm>
        </p:spPr>
        <p:txBody>
          <a:bodyPr>
            <a:noAutofit/>
          </a:bodyPr>
          <a:lstStyle/>
          <a:p>
            <a:r>
              <a:rPr kumimoji="1" lang="en-US" altLang="ko-KR" sz="2000" dirty="0"/>
              <a:t>CHES’25</a:t>
            </a:r>
            <a:r>
              <a:rPr kumimoji="1" lang="ko-KR" altLang="en-US" sz="2000" dirty="0"/>
              <a:t>에는 제곱에 대한 설명은 없음 </a:t>
            </a:r>
            <a:r>
              <a:rPr kumimoji="1" lang="en-US" altLang="ko-KR" sz="2000" dirty="0"/>
              <a:t>(</a:t>
            </a:r>
            <a:r>
              <a:rPr kumimoji="1" lang="ko-KR" altLang="en-US" sz="2000" dirty="0"/>
              <a:t>제곱 해서 추가 레지스터에 저장한다 </a:t>
            </a:r>
            <a:r>
              <a:rPr kumimoji="1" lang="en-US" altLang="ko-KR" sz="2000" dirty="0"/>
              <a:t>+</a:t>
            </a:r>
            <a:r>
              <a:rPr kumimoji="1" lang="ko-KR" altLang="en-US" sz="2000" dirty="0"/>
              <a:t> 단순 수식만 존재</a:t>
            </a:r>
            <a:r>
              <a:rPr kumimoji="1" lang="en-US" altLang="ko-KR" sz="2000" dirty="0"/>
              <a:t>)</a:t>
            </a:r>
          </a:p>
          <a:p>
            <a:r>
              <a:rPr kumimoji="1" lang="ko-KR" altLang="en-US" sz="2000" b="1" dirty="0"/>
              <a:t>해당 제곱을 썼다는 말은 없지만 </a:t>
            </a:r>
            <a:r>
              <a:rPr kumimoji="1" lang="en-US" altLang="ko-KR" sz="2000" b="1" dirty="0"/>
              <a:t>AND</a:t>
            </a:r>
            <a:r>
              <a:rPr kumimoji="1" lang="ko-KR" altLang="en-US" sz="2000" b="1" dirty="0"/>
              <a:t> 게이트 인용하면서</a:t>
            </a:r>
            <a:r>
              <a:rPr kumimoji="1" lang="en-US" altLang="ko-KR" sz="2000" b="1" dirty="0"/>
              <a:t>,</a:t>
            </a:r>
            <a:r>
              <a:rPr kumimoji="1" lang="ko-KR" altLang="en-US" sz="2000" b="1" dirty="0"/>
              <a:t> 저자 본인들의 논문 </a:t>
            </a:r>
            <a:r>
              <a:rPr kumimoji="1" lang="en-US" altLang="ko-KR" sz="2000" b="1" dirty="0"/>
              <a:t>(QIP’25) </a:t>
            </a:r>
            <a:r>
              <a:rPr kumimoji="1" lang="ko-KR" altLang="en-US" sz="2000" b="1" dirty="0"/>
              <a:t>참조</a:t>
            </a:r>
            <a:endParaRPr kumimoji="1" lang="en-US" altLang="ko-KR" sz="2000" b="1" dirty="0"/>
          </a:p>
          <a:p>
            <a:pPr lvl="1"/>
            <a:r>
              <a:rPr kumimoji="1" lang="en-US" altLang="ko-KR" sz="1800" b="1" dirty="0"/>
              <a:t>QIP’25</a:t>
            </a:r>
            <a:r>
              <a:rPr kumimoji="1" lang="ko-KR" altLang="en-US" sz="1800" b="1" dirty="0"/>
              <a:t>가 제곱에 대한 논문</a:t>
            </a:r>
            <a:r>
              <a:rPr kumimoji="1" lang="ko-KR" altLang="en-US" sz="1800" dirty="0"/>
              <a:t>이라서 사용했을 것으로 보임</a:t>
            </a:r>
            <a:r>
              <a:rPr kumimoji="1" lang="en-US" altLang="ko-KR" sz="1800" dirty="0"/>
              <a:t>	</a:t>
            </a:r>
            <a:endParaRPr kumimoji="1" lang="en-US" altLang="ko-KR" sz="1600" dirty="0"/>
          </a:p>
          <a:p>
            <a:pPr lvl="1"/>
            <a:r>
              <a:rPr kumimoji="1" lang="ko-KR" altLang="en-US" sz="1800" dirty="0"/>
              <a:t>그리고 </a:t>
            </a:r>
            <a:r>
              <a:rPr kumimoji="1" lang="en-US" altLang="ko-KR" sz="1800" dirty="0"/>
              <a:t>QIP’25</a:t>
            </a:r>
            <a:r>
              <a:rPr kumimoji="1" lang="ko-KR" altLang="en-US" sz="1800" dirty="0"/>
              <a:t>의 </a:t>
            </a:r>
            <a:r>
              <a:rPr kumimoji="1" lang="en-US" altLang="ko-KR" sz="1800" dirty="0"/>
              <a:t>T depth</a:t>
            </a:r>
            <a:r>
              <a:rPr kumimoji="1" lang="ko-KR" altLang="en-US" sz="1800" dirty="0"/>
              <a:t> 반영 </a:t>
            </a:r>
            <a:r>
              <a:rPr kumimoji="1" lang="en-US" altLang="ko-KR" sz="1800" dirty="0"/>
              <a:t>(Table 3) </a:t>
            </a:r>
            <a:r>
              <a:rPr kumimoji="1" lang="ko-KR" altLang="en-US" sz="1800" dirty="0"/>
              <a:t>하면 </a:t>
            </a:r>
            <a:r>
              <a:rPr kumimoji="1" lang="en-US" altLang="ko-KR" sz="1800" dirty="0"/>
              <a:t>CHES’25</a:t>
            </a:r>
            <a:r>
              <a:rPr kumimoji="1" lang="ko-KR" altLang="en-US" sz="1800" dirty="0"/>
              <a:t> 논문의 수치</a:t>
            </a:r>
            <a:r>
              <a:rPr kumimoji="1" lang="en-US" altLang="ko-KR" sz="1800" dirty="0"/>
              <a:t> (Table 4)</a:t>
            </a:r>
            <a:r>
              <a:rPr kumimoji="1" lang="ko-KR" altLang="en-US" sz="1800" dirty="0"/>
              <a:t>가 비슷하게 나오긴 함</a:t>
            </a:r>
            <a:endParaRPr kumimoji="1" lang="en-US" altLang="ko-KR" sz="1800" dirty="0"/>
          </a:p>
          <a:p>
            <a:pPr lvl="1"/>
            <a:r>
              <a:rPr kumimoji="1" lang="en-US" altLang="ko-KR" sz="1800" dirty="0"/>
              <a:t>Td </a:t>
            </a:r>
            <a:r>
              <a:rPr kumimoji="1" lang="ko-KR" altLang="en-US" sz="1800" dirty="0"/>
              <a:t>비용식도 맞는듯</a:t>
            </a:r>
            <a:endParaRPr kumimoji="1" lang="en-US" altLang="ko-KR" sz="1800" dirty="0"/>
          </a:p>
          <a:p>
            <a:endParaRPr kumimoji="1" lang="en-US" altLang="ko-KR" sz="400" dirty="0"/>
          </a:p>
          <a:p>
            <a:r>
              <a:rPr kumimoji="1" lang="en-US" altLang="ko-KR" sz="2000" b="1" dirty="0"/>
              <a:t>1</a:t>
            </a:r>
            <a:r>
              <a:rPr kumimoji="1" lang="ko-KR" altLang="en-US" sz="2000" b="1" dirty="0"/>
              <a:t>번의 제곱에 대한 리소스</a:t>
            </a:r>
            <a:endParaRPr kumimoji="1" lang="en-US" altLang="ko-KR" sz="2000" b="1" dirty="0"/>
          </a:p>
          <a:p>
            <a:pPr lvl="1"/>
            <a:r>
              <a:rPr kumimoji="1" lang="en-US" altLang="ko-KR" sz="1800" dirty="0"/>
              <a:t>n=12,</a:t>
            </a:r>
            <a:r>
              <a:rPr kumimoji="1" lang="ko-KR" altLang="en-US" sz="1800" dirty="0"/>
              <a:t> </a:t>
            </a:r>
            <a:r>
              <a:rPr kumimoji="1" lang="en-US" altLang="ko-KR" sz="1800" dirty="0"/>
              <a:t>Qc = 211, Td = 133</a:t>
            </a:r>
          </a:p>
          <a:p>
            <a:pPr lvl="1"/>
            <a:r>
              <a:rPr kumimoji="1" lang="en-US" altLang="ko-KR" sz="1800" dirty="0"/>
              <a:t>Depth opt</a:t>
            </a:r>
            <a:r>
              <a:rPr kumimoji="1" lang="ko-KR" altLang="en-US" sz="1800" dirty="0"/>
              <a:t> 버전은 제곱 병렬 </a:t>
            </a:r>
            <a:r>
              <a:rPr kumimoji="1" lang="en-US" altLang="ko-KR" sz="1800" dirty="0"/>
              <a:t>(</a:t>
            </a:r>
            <a:r>
              <a:rPr kumimoji="1" lang="ko-KR" altLang="en-US" sz="1800" dirty="0"/>
              <a:t>큐비트 추가</a:t>
            </a:r>
            <a:r>
              <a:rPr kumimoji="1" lang="en-US" altLang="ko-KR" sz="1800" dirty="0"/>
              <a:t>,</a:t>
            </a:r>
            <a:r>
              <a:rPr kumimoji="1" lang="ko-KR" altLang="en-US" sz="1800" dirty="0"/>
              <a:t> </a:t>
            </a:r>
            <a:r>
              <a:rPr kumimoji="1" lang="ko-KR" altLang="en-US" sz="1800" dirty="0" err="1"/>
              <a:t>뎁스</a:t>
            </a:r>
            <a:r>
              <a:rPr kumimoji="1" lang="ko-KR" altLang="en-US" sz="1800" dirty="0"/>
              <a:t> 그대로</a:t>
            </a:r>
            <a:r>
              <a:rPr kumimoji="1" lang="en-US" altLang="ko-KR" sz="1800" dirty="0"/>
              <a:t>)</a:t>
            </a:r>
          </a:p>
          <a:p>
            <a:pPr lvl="1"/>
            <a:r>
              <a:rPr kumimoji="1" lang="en-US" altLang="ko-KR" sz="1800" dirty="0"/>
              <a:t>Qubit opt </a:t>
            </a:r>
            <a:r>
              <a:rPr kumimoji="1" lang="ko-KR" altLang="en-US" sz="1800" dirty="0"/>
              <a:t>버전은 제곱 </a:t>
            </a:r>
            <a:r>
              <a:rPr kumimoji="1" lang="ko-KR" altLang="en-US" sz="1800" dirty="0" err="1"/>
              <a:t>시퀀셜</a:t>
            </a:r>
            <a:r>
              <a:rPr kumimoji="1" lang="ko-KR" altLang="en-US" sz="1800" dirty="0"/>
              <a:t> </a:t>
            </a:r>
            <a:r>
              <a:rPr kumimoji="1" lang="en-US" altLang="ko-KR" sz="1800" dirty="0"/>
              <a:t>(</a:t>
            </a:r>
            <a:r>
              <a:rPr kumimoji="1" lang="ko-KR" altLang="en-US" sz="1800" dirty="0"/>
              <a:t>큐비트 그대로</a:t>
            </a:r>
            <a:r>
              <a:rPr kumimoji="1" lang="en-US" altLang="ko-KR" sz="1800" dirty="0"/>
              <a:t>,</a:t>
            </a:r>
            <a:r>
              <a:rPr kumimoji="1" lang="ko-KR" altLang="en-US" sz="1800" dirty="0"/>
              <a:t> </a:t>
            </a:r>
            <a:r>
              <a:rPr kumimoji="1" lang="ko-KR" altLang="en-US" sz="1800" dirty="0" err="1"/>
              <a:t>뎁스</a:t>
            </a:r>
            <a:r>
              <a:rPr kumimoji="1" lang="ko-KR" altLang="en-US" sz="1800" dirty="0"/>
              <a:t> 추가</a:t>
            </a:r>
            <a:r>
              <a:rPr kumimoji="1" lang="en-US" altLang="ko-KR" sz="1800" dirty="0"/>
              <a:t>)</a:t>
            </a:r>
          </a:p>
          <a:p>
            <a:pPr lvl="1"/>
            <a:endParaRPr kumimoji="1" lang="en-US" altLang="ko-KR" sz="1600" dirty="0"/>
          </a:p>
          <a:p>
            <a:pPr lvl="1"/>
            <a:r>
              <a:rPr kumimoji="1" lang="ko-KR" altLang="en-US" sz="1800" dirty="0"/>
              <a:t>하지만</a:t>
            </a:r>
            <a:r>
              <a:rPr kumimoji="1" lang="en-US" altLang="ko-KR" sz="1800" dirty="0"/>
              <a:t>,</a:t>
            </a:r>
            <a:r>
              <a:rPr kumimoji="1" lang="ko-KR" altLang="en-US" sz="1800" dirty="0"/>
              <a:t> 그대로 </a:t>
            </a:r>
            <a:r>
              <a:rPr kumimoji="1" lang="ko-KR" altLang="en-US" sz="1800" dirty="0" err="1"/>
              <a:t>스케일링하면</a:t>
            </a:r>
            <a:r>
              <a:rPr kumimoji="1" lang="ko-KR" altLang="en-US" sz="1800" dirty="0"/>
              <a:t> </a:t>
            </a:r>
            <a:r>
              <a:rPr kumimoji="1" lang="en-US" altLang="ko-KR" sz="1800" dirty="0"/>
              <a:t>CHES’25 </a:t>
            </a:r>
            <a:r>
              <a:rPr kumimoji="1" lang="ko-KR" altLang="en-US" sz="1800" dirty="0"/>
              <a:t>논문의 </a:t>
            </a:r>
            <a:br>
              <a:rPr kumimoji="1" lang="en-US" altLang="ko-KR" sz="1800" dirty="0"/>
            </a:br>
            <a:r>
              <a:rPr kumimoji="1" lang="ko-KR" altLang="en-US" sz="1800" dirty="0"/>
              <a:t>표</a:t>
            </a:r>
            <a:r>
              <a:rPr kumimoji="1" lang="en-US" altLang="ko-KR" sz="1800" dirty="0"/>
              <a:t>4</a:t>
            </a:r>
            <a:r>
              <a:rPr kumimoji="1" lang="ko-KR" altLang="en-US" sz="1800" dirty="0"/>
              <a:t>의 결과만큼 적은 큐비트가 나오지는 않지만</a:t>
            </a:r>
            <a:br>
              <a:rPr kumimoji="1" lang="en-US" altLang="ko-KR" sz="1800" dirty="0"/>
            </a:br>
            <a:r>
              <a:rPr kumimoji="1" lang="ko-KR" altLang="en-US" sz="1800" dirty="0"/>
              <a:t>자세히 분석하진 않았기도 하고</a:t>
            </a:r>
            <a:br>
              <a:rPr kumimoji="1" lang="en-US" altLang="ko-KR" sz="1800" dirty="0"/>
            </a:br>
            <a:r>
              <a:rPr kumimoji="1" lang="ko-KR" altLang="en-US" sz="1800" dirty="0"/>
              <a:t>구현 상의 </a:t>
            </a:r>
            <a:r>
              <a:rPr kumimoji="1" lang="ko-KR" altLang="en-US" sz="1800" dirty="0" err="1"/>
              <a:t>뭔가가</a:t>
            </a:r>
            <a:r>
              <a:rPr kumimoji="1" lang="ko-KR" altLang="en-US" sz="1800" dirty="0"/>
              <a:t> 있을 것이라고 생각하여</a:t>
            </a:r>
            <a:br>
              <a:rPr kumimoji="1" lang="en-US" altLang="ko-KR" sz="1800" dirty="0"/>
            </a:br>
            <a:r>
              <a:rPr kumimoji="1" lang="en-US" altLang="ko-KR" sz="1800" b="1" dirty="0"/>
              <a:t>CHES’25</a:t>
            </a:r>
            <a:r>
              <a:rPr kumimoji="1" lang="ko-KR" altLang="en-US" sz="1800" b="1" dirty="0" err="1"/>
              <a:t>에</a:t>
            </a:r>
            <a:r>
              <a:rPr kumimoji="1" lang="ko-KR" altLang="en-US" sz="1800" b="1" dirty="0"/>
              <a:t> 제시된 결과 그대로 사용</a:t>
            </a:r>
            <a:endParaRPr kumimoji="1" lang="en-US" altLang="ko-KR" sz="1800" b="1" dirty="0"/>
          </a:p>
          <a:p>
            <a:endParaRPr kumimoji="1" lang="en-US" altLang="ko-KR" sz="2000" dirty="0"/>
          </a:p>
          <a:p>
            <a:endParaRPr kumimoji="1" lang="en-US" altLang="ko-KR" sz="2000" dirty="0"/>
          </a:p>
          <a:p>
            <a:endParaRPr kumimoji="1" lang="en-US" altLang="ko-KR" sz="2000" dirty="0"/>
          </a:p>
          <a:p>
            <a:endParaRPr kumimoji="1" lang="en-US" altLang="ko-KR" sz="2000" dirty="0"/>
          </a:p>
          <a:p>
            <a:endParaRPr kumimoji="1" lang="ko-KR" altLang="en-US" sz="2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1BBB674-50BE-1AF4-30AF-7B04A69CED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19" t="17430" r="3931" b="4009"/>
          <a:stretch/>
        </p:blipFill>
        <p:spPr>
          <a:xfrm>
            <a:off x="5775772" y="4364611"/>
            <a:ext cx="6416228" cy="2408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6610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02FF9C-1A6F-CDBA-D1B5-0ABDB8E5B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Td</a:t>
            </a:r>
            <a:r>
              <a:rPr kumimoji="1" lang="ko-KR" altLang="en-US" dirty="0"/>
              <a:t> 비교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DAA7DA2-4A86-ABD7-C6D1-03884494E3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" y="1152525"/>
            <a:ext cx="12192000" cy="5057775"/>
          </a:xfrm>
        </p:spPr>
        <p:txBody>
          <a:bodyPr>
            <a:noAutofit/>
          </a:bodyPr>
          <a:lstStyle/>
          <a:p>
            <a:r>
              <a:rPr kumimoji="1" lang="ko-KR" altLang="en-US" sz="1800" dirty="0"/>
              <a:t>현재 제 구현과 </a:t>
            </a:r>
            <a:r>
              <a:rPr kumimoji="1" lang="en-US" altLang="ko-KR" sz="1800" dirty="0"/>
              <a:t>CHES’25</a:t>
            </a:r>
            <a:r>
              <a:rPr kumimoji="1" lang="ko-KR" altLang="en-US" sz="1800" dirty="0"/>
              <a:t>의 </a:t>
            </a:r>
            <a:r>
              <a:rPr kumimoji="1" lang="en-US" altLang="ko-KR" sz="1800" dirty="0"/>
              <a:t>Table 4</a:t>
            </a:r>
            <a:r>
              <a:rPr kumimoji="1" lang="ko-KR" altLang="en-US" sz="1800" dirty="0" err="1"/>
              <a:t>에</a:t>
            </a:r>
            <a:r>
              <a:rPr kumimoji="1" lang="ko-KR" altLang="en-US" sz="1800" dirty="0"/>
              <a:t> 제시된 비용 중 </a:t>
            </a:r>
            <a:r>
              <a:rPr kumimoji="1" lang="en-US" altLang="ko-KR" sz="1800" dirty="0"/>
              <a:t>Td </a:t>
            </a:r>
            <a:r>
              <a:rPr kumimoji="1" lang="ko-KR" altLang="en-US" sz="1800" dirty="0"/>
              <a:t>및 큐비트 수 비교 </a:t>
            </a:r>
            <a:r>
              <a:rPr kumimoji="1" lang="en-US" altLang="ko-KR" sz="1800" dirty="0"/>
              <a:t>(CHES’25 </a:t>
            </a:r>
            <a:r>
              <a:rPr kumimoji="1" lang="ko-KR" altLang="en-US" sz="1800" dirty="0"/>
              <a:t>세팅에 맞춰 </a:t>
            </a:r>
            <a:r>
              <a:rPr kumimoji="1" lang="en-US" altLang="ko-KR" sz="1800" dirty="0"/>
              <a:t>;</a:t>
            </a:r>
            <a:r>
              <a:rPr kumimoji="1" lang="ko-KR" altLang="en-US" sz="1800" dirty="0"/>
              <a:t> 추정이긴 함</a:t>
            </a:r>
            <a:r>
              <a:rPr kumimoji="1" lang="en-US" altLang="ko-KR" sz="1800" dirty="0"/>
              <a:t>)</a:t>
            </a:r>
          </a:p>
          <a:p>
            <a:pPr lvl="1"/>
            <a:r>
              <a:rPr kumimoji="1" lang="en-US" altLang="ko-KR" sz="1800" dirty="0"/>
              <a:t>q=</a:t>
            </a:r>
            <a:r>
              <a:rPr kumimoji="1" lang="ko-KR" altLang="en-US" sz="1800" dirty="0"/>
              <a:t> </a:t>
            </a:r>
            <a:r>
              <a:rPr kumimoji="1" lang="en-US" altLang="ko-KR" sz="1800" dirty="0"/>
              <a:t>12</a:t>
            </a:r>
            <a:r>
              <a:rPr kumimoji="1" lang="ko-KR" altLang="en-US" sz="1800" dirty="0"/>
              <a:t>비트</a:t>
            </a:r>
            <a:r>
              <a:rPr kumimoji="1" lang="en-US" altLang="ko-KR" sz="1800" dirty="0"/>
              <a:t>,</a:t>
            </a:r>
            <a:r>
              <a:rPr kumimoji="1" lang="ko-KR" altLang="en-US" sz="1800" dirty="0"/>
              <a:t> </a:t>
            </a:r>
            <a:r>
              <a:rPr kumimoji="1" lang="en-US" altLang="ko-KR" sz="1800" dirty="0"/>
              <a:t>dimension = 17</a:t>
            </a:r>
          </a:p>
          <a:p>
            <a:pPr marL="457200" lvl="1" indent="0">
              <a:buNone/>
            </a:pPr>
            <a:r>
              <a:rPr kumimoji="1" lang="en-US" altLang="ko-KR" sz="1800" dirty="0"/>
              <a:t>1.</a:t>
            </a:r>
            <a:r>
              <a:rPr kumimoji="1" lang="ko-KR" altLang="en-US" sz="1800" dirty="0"/>
              <a:t> </a:t>
            </a:r>
            <a:r>
              <a:rPr kumimoji="1" lang="en-US" altLang="ko-KR" sz="1800" b="1" dirty="0" err="1"/>
              <a:t>v+w</a:t>
            </a:r>
            <a:r>
              <a:rPr kumimoji="1" lang="ko-KR" altLang="en-US" sz="1800" b="1" dirty="0" err="1"/>
              <a:t>에</a:t>
            </a:r>
            <a:r>
              <a:rPr kumimoji="1" lang="ko-KR" altLang="en-US" sz="1800" b="1" dirty="0"/>
              <a:t> 대한 </a:t>
            </a:r>
            <a:r>
              <a:rPr kumimoji="1" lang="ko-KR" altLang="en-US" sz="1800" b="1" dirty="0" err="1"/>
              <a:t>시퀀셜</a:t>
            </a:r>
            <a:r>
              <a:rPr kumimoji="1" lang="ko-KR" altLang="en-US" sz="1800" b="1" dirty="0"/>
              <a:t> 덧셈</a:t>
            </a:r>
            <a:r>
              <a:rPr kumimoji="1" lang="en-US" altLang="ko-KR" sz="1800" b="1" dirty="0"/>
              <a:t> Td</a:t>
            </a:r>
            <a:r>
              <a:rPr kumimoji="1" lang="ko-KR" altLang="en-US" sz="1800" b="1" dirty="0"/>
              <a:t> </a:t>
            </a:r>
            <a:r>
              <a:rPr kumimoji="1" lang="en-US" altLang="ko-KR" sz="1800" dirty="0">
                <a:sym typeface="Wingdings" pitchFamily="2" charset="2"/>
              </a:rPr>
              <a:t></a:t>
            </a:r>
            <a:r>
              <a:rPr kumimoji="1" lang="ko-KR" altLang="en-US" sz="1800" dirty="0"/>
              <a:t> </a:t>
            </a:r>
            <a:r>
              <a:rPr kumimoji="1" lang="en-US" altLang="ko-KR" sz="1800" dirty="0"/>
              <a:t>17</a:t>
            </a:r>
            <a:r>
              <a:rPr kumimoji="1" lang="ko-KR" altLang="en-US" sz="1800" dirty="0"/>
              <a:t>*</a:t>
            </a:r>
            <a:r>
              <a:rPr kumimoji="1" lang="en-US" altLang="ko-KR" sz="1800" dirty="0"/>
              <a:t>17</a:t>
            </a:r>
            <a:r>
              <a:rPr kumimoji="1" lang="ko-KR" altLang="en-US" sz="1800" dirty="0"/>
              <a:t> </a:t>
            </a:r>
            <a:r>
              <a:rPr kumimoji="1" lang="en-US" altLang="ko-KR" sz="1800" dirty="0"/>
              <a:t>=</a:t>
            </a:r>
            <a:r>
              <a:rPr kumimoji="1" lang="ko-KR" altLang="en-US" sz="1800" dirty="0"/>
              <a:t> </a:t>
            </a:r>
            <a:r>
              <a:rPr kumimoji="1" lang="en-US" altLang="ko-KR" sz="1800" dirty="0"/>
              <a:t>289</a:t>
            </a:r>
          </a:p>
          <a:p>
            <a:pPr lvl="1"/>
            <a:endParaRPr kumimoji="1" lang="en-US" altLang="ko-KR" sz="1800" dirty="0"/>
          </a:p>
          <a:p>
            <a:pPr marL="457200" lvl="1" indent="0">
              <a:buNone/>
            </a:pPr>
            <a:r>
              <a:rPr kumimoji="1" lang="en-US" altLang="ko-KR" sz="1800" dirty="0"/>
              <a:t>2.</a:t>
            </a:r>
            <a:r>
              <a:rPr kumimoji="1" lang="ko-KR" altLang="en-US" sz="1800" dirty="0"/>
              <a:t> 제곱 한 번 </a:t>
            </a:r>
            <a:r>
              <a:rPr kumimoji="1" lang="en-US" altLang="ko-KR" sz="1800" dirty="0">
                <a:sym typeface="Wingdings" pitchFamily="2" charset="2"/>
              </a:rPr>
              <a:t></a:t>
            </a:r>
            <a:r>
              <a:rPr kumimoji="1" lang="ko-KR" altLang="en-US" sz="1800" dirty="0"/>
              <a:t> </a:t>
            </a:r>
            <a:r>
              <a:rPr kumimoji="1" lang="en-US" altLang="ko-KR" sz="1800" dirty="0"/>
              <a:t>20</a:t>
            </a:r>
            <a:r>
              <a:rPr kumimoji="1" lang="ko-KR" altLang="en-US" sz="1800" dirty="0"/>
              <a:t> </a:t>
            </a:r>
            <a:r>
              <a:rPr kumimoji="1" lang="en-US" altLang="ko-KR" sz="1800" dirty="0"/>
              <a:t>+</a:t>
            </a:r>
            <a:r>
              <a:rPr kumimoji="1" lang="ko-KR" altLang="en-US" sz="1800" dirty="0"/>
              <a:t> </a:t>
            </a:r>
            <a:r>
              <a:rPr kumimoji="1" lang="en-US" altLang="ko-KR" sz="1800" dirty="0"/>
              <a:t>21</a:t>
            </a:r>
            <a:r>
              <a:rPr kumimoji="1" lang="ko-KR" altLang="en-US" sz="1800" dirty="0"/>
              <a:t> </a:t>
            </a:r>
            <a:r>
              <a:rPr kumimoji="1" lang="en-US" altLang="ko-KR" sz="1800" dirty="0"/>
              <a:t>+</a:t>
            </a:r>
            <a:r>
              <a:rPr kumimoji="1" lang="ko-KR" altLang="en-US" sz="1800" dirty="0"/>
              <a:t> </a:t>
            </a:r>
            <a:r>
              <a:rPr kumimoji="1" lang="en-US" altLang="ko-KR" sz="1800" dirty="0"/>
              <a:t>12</a:t>
            </a:r>
            <a:r>
              <a:rPr kumimoji="1" lang="ko-KR" altLang="en-US" sz="1800" dirty="0"/>
              <a:t> </a:t>
            </a:r>
            <a:r>
              <a:rPr kumimoji="1" lang="en-US" altLang="ko-KR" sz="1800" dirty="0"/>
              <a:t>=</a:t>
            </a:r>
            <a:r>
              <a:rPr kumimoji="1" lang="ko-KR" altLang="en-US" sz="1800" dirty="0"/>
              <a:t> </a:t>
            </a:r>
            <a:r>
              <a:rPr kumimoji="1" lang="en-US" altLang="ko-KR" sz="1800" dirty="0"/>
              <a:t>53</a:t>
            </a:r>
          </a:p>
          <a:p>
            <a:pPr marL="457200" lvl="1" indent="0">
              <a:buNone/>
            </a:pPr>
            <a:r>
              <a:rPr kumimoji="1" lang="ko-KR" altLang="en-US" sz="1800" b="1" dirty="0"/>
              <a:t>   모든 </a:t>
            </a:r>
            <a:r>
              <a:rPr kumimoji="1" lang="ko-KR" altLang="en-US" sz="1800" b="1" dirty="0" err="1"/>
              <a:t>디멘션에</a:t>
            </a:r>
            <a:r>
              <a:rPr kumimoji="1" lang="ko-KR" altLang="en-US" sz="1800" b="1" dirty="0"/>
              <a:t> 대한 제곱 </a:t>
            </a:r>
            <a:r>
              <a:rPr kumimoji="1" lang="en-US" altLang="ko-KR" sz="1800" b="1" dirty="0"/>
              <a:t>Td</a:t>
            </a:r>
            <a:r>
              <a:rPr kumimoji="1" lang="ko-KR" altLang="en-US" sz="1800" b="1" dirty="0"/>
              <a:t> </a:t>
            </a:r>
            <a:r>
              <a:rPr kumimoji="1" lang="en-US" altLang="ko-KR" sz="1800" dirty="0"/>
              <a:t>=</a:t>
            </a:r>
            <a:r>
              <a:rPr kumimoji="1" lang="ko-KR" altLang="en-US" sz="1800" dirty="0"/>
              <a:t> </a:t>
            </a:r>
            <a:r>
              <a:rPr kumimoji="1" lang="en-US" altLang="ko-KR" sz="1800" dirty="0"/>
              <a:t>17</a:t>
            </a:r>
            <a:r>
              <a:rPr kumimoji="1" lang="ko-KR" altLang="en-US" sz="1800" dirty="0"/>
              <a:t> </a:t>
            </a:r>
            <a:r>
              <a:rPr kumimoji="1" lang="en-US" altLang="ko-KR" sz="1800" dirty="0"/>
              <a:t>x 53 = 901</a:t>
            </a:r>
          </a:p>
          <a:p>
            <a:pPr lvl="1"/>
            <a:endParaRPr kumimoji="1" lang="en-US" altLang="ko-KR" sz="1800" dirty="0"/>
          </a:p>
          <a:p>
            <a:pPr marL="457200" lvl="1" indent="0">
              <a:buNone/>
            </a:pPr>
            <a:r>
              <a:rPr kumimoji="1" lang="en-US" altLang="ko-KR" sz="1800" dirty="0"/>
              <a:t>3.</a:t>
            </a:r>
            <a:r>
              <a:rPr kumimoji="1" lang="ko-KR" altLang="en-US" sz="1800" dirty="0"/>
              <a:t> 마지막 </a:t>
            </a:r>
            <a:r>
              <a:rPr kumimoji="1" lang="ko-KR" altLang="en-US" sz="1800" b="1" dirty="0"/>
              <a:t>비교 </a:t>
            </a:r>
            <a:r>
              <a:rPr kumimoji="1" lang="en-US" altLang="ko-KR" sz="1800" b="1" dirty="0"/>
              <a:t>Td </a:t>
            </a:r>
            <a:r>
              <a:rPr kumimoji="1" lang="en-US" altLang="ko-KR" sz="1800" dirty="0">
                <a:sym typeface="Wingdings" pitchFamily="2" charset="2"/>
              </a:rPr>
              <a:t></a:t>
            </a:r>
            <a:r>
              <a:rPr kumimoji="1" lang="ko-KR" altLang="en-US" sz="1800" dirty="0">
                <a:sym typeface="Wingdings" pitchFamily="2" charset="2"/>
              </a:rPr>
              <a:t> </a:t>
            </a:r>
            <a:r>
              <a:rPr kumimoji="1" lang="en-US" altLang="ko-KR" sz="1800" dirty="0">
                <a:sym typeface="Wingdings" pitchFamily="2" charset="2"/>
              </a:rPr>
              <a:t>13</a:t>
            </a:r>
          </a:p>
          <a:p>
            <a:pPr lvl="1"/>
            <a:endParaRPr kumimoji="1" lang="en-US" altLang="ko-KR" sz="1800" dirty="0">
              <a:sym typeface="Wingdings" pitchFamily="2" charset="2"/>
            </a:endParaRPr>
          </a:p>
          <a:p>
            <a:pPr lvl="1"/>
            <a:r>
              <a:rPr kumimoji="1" lang="en-US" altLang="ko-KR" sz="1800" dirty="0"/>
              <a:t>Ours: </a:t>
            </a:r>
            <a:r>
              <a:rPr kumimoji="1" lang="ko-KR" altLang="en-US" sz="1800" dirty="0" err="1">
                <a:sym typeface="Wingdings" pitchFamily="2" charset="2"/>
              </a:rPr>
              <a:t>시퀀셜</a:t>
            </a:r>
            <a:r>
              <a:rPr kumimoji="1" lang="ko-KR" altLang="en-US" sz="1800" dirty="0">
                <a:sym typeface="Wingdings" pitchFamily="2" charset="2"/>
              </a:rPr>
              <a:t> 덧셈</a:t>
            </a:r>
            <a:r>
              <a:rPr kumimoji="1" lang="en-US" altLang="ko-KR" sz="1800" dirty="0">
                <a:sym typeface="Wingdings" pitchFamily="2" charset="2"/>
              </a:rPr>
              <a:t>,</a:t>
            </a:r>
            <a:r>
              <a:rPr kumimoji="1" lang="ko-KR" altLang="en-US" sz="1800" dirty="0">
                <a:sym typeface="Wingdings" pitchFamily="2" charset="2"/>
              </a:rPr>
              <a:t> 제곱</a:t>
            </a:r>
            <a:r>
              <a:rPr kumimoji="1" lang="en-US" altLang="ko-KR" sz="1800" dirty="0">
                <a:sym typeface="Wingdings" pitchFamily="2" charset="2"/>
              </a:rPr>
              <a:t>,</a:t>
            </a:r>
            <a:r>
              <a:rPr kumimoji="1" lang="ko-KR" altLang="en-US" sz="1800" dirty="0">
                <a:sym typeface="Wingdings" pitchFamily="2" charset="2"/>
              </a:rPr>
              <a:t> 마지막 비교 더하면 총 </a:t>
            </a:r>
            <a:r>
              <a:rPr kumimoji="1" lang="en-US" altLang="ko-KR" sz="1800" dirty="0">
                <a:sym typeface="Wingdings" pitchFamily="2" charset="2"/>
              </a:rPr>
              <a:t>1203</a:t>
            </a:r>
            <a:r>
              <a:rPr kumimoji="1" lang="ko-KR" altLang="en-US" sz="1800" dirty="0">
                <a:sym typeface="Wingdings" pitchFamily="2" charset="2"/>
              </a:rPr>
              <a:t> </a:t>
            </a:r>
            <a:r>
              <a:rPr kumimoji="1" lang="en-US" altLang="ko-KR" sz="1800" dirty="0">
                <a:sym typeface="Wingdings" pitchFamily="2" charset="2"/>
              </a:rPr>
              <a:t></a:t>
            </a:r>
            <a:r>
              <a:rPr kumimoji="1" lang="ko-KR" altLang="en-US" sz="1800" dirty="0">
                <a:sym typeface="Wingdings" pitchFamily="2" charset="2"/>
              </a:rPr>
              <a:t> 리버스 포함 총 </a:t>
            </a:r>
            <a:r>
              <a:rPr kumimoji="1" lang="en-US" altLang="ko-KR" sz="1800" dirty="0">
                <a:sym typeface="Wingdings" pitchFamily="2" charset="2"/>
              </a:rPr>
              <a:t>Td :</a:t>
            </a:r>
            <a:r>
              <a:rPr kumimoji="1" lang="ko-KR" altLang="en-US" sz="1800" dirty="0">
                <a:sym typeface="Wingdings" pitchFamily="2" charset="2"/>
              </a:rPr>
              <a:t> </a:t>
            </a:r>
            <a:r>
              <a:rPr kumimoji="1" lang="en-US" altLang="ko-KR" sz="1800" b="1" dirty="0">
                <a:sym typeface="Wingdings" pitchFamily="2" charset="2"/>
              </a:rPr>
              <a:t>2406</a:t>
            </a:r>
            <a:endParaRPr kumimoji="1" lang="en-US" altLang="ko-KR" sz="1800" dirty="0"/>
          </a:p>
          <a:p>
            <a:pPr lvl="1"/>
            <a:r>
              <a:rPr kumimoji="1" lang="en-US" altLang="ko-KR" sz="1800" dirty="0"/>
              <a:t>Ours: </a:t>
            </a:r>
            <a:r>
              <a:rPr kumimoji="1" lang="ko-KR" altLang="en-US" sz="1800" dirty="0"/>
              <a:t>큐비트 수 </a:t>
            </a:r>
            <a:r>
              <a:rPr kumimoji="1" lang="en-US" altLang="ko-KR" sz="1800" dirty="0">
                <a:sym typeface="Wingdings" pitchFamily="2" charset="2"/>
              </a:rPr>
              <a:t></a:t>
            </a:r>
            <a:r>
              <a:rPr kumimoji="1" lang="ko-KR" altLang="en-US" sz="1800" dirty="0">
                <a:sym typeface="Wingdings" pitchFamily="2" charset="2"/>
              </a:rPr>
              <a:t> </a:t>
            </a:r>
            <a:r>
              <a:rPr kumimoji="1" lang="en-US" altLang="ko-KR" sz="1800" dirty="0"/>
              <a:t>677</a:t>
            </a:r>
            <a:r>
              <a:rPr kumimoji="1" lang="ko-KR" altLang="en-US" sz="1800" dirty="0"/>
              <a:t> </a:t>
            </a:r>
            <a:r>
              <a:rPr kumimoji="1" lang="en-US" altLang="ko-KR" sz="1800" dirty="0"/>
              <a:t>–</a:t>
            </a:r>
            <a:r>
              <a:rPr kumimoji="1" lang="ko-KR" altLang="en-US" sz="1800" dirty="0"/>
              <a:t> </a:t>
            </a:r>
            <a:r>
              <a:rPr kumimoji="1" lang="en-US" altLang="ko-KR" sz="1800" dirty="0"/>
              <a:t>56</a:t>
            </a:r>
            <a:r>
              <a:rPr kumimoji="1" lang="ko-KR" altLang="en-US" sz="1800" dirty="0"/>
              <a:t> </a:t>
            </a:r>
            <a:r>
              <a:rPr kumimoji="1" lang="en-US" altLang="ko-KR" sz="1800" dirty="0"/>
              <a:t>(</a:t>
            </a:r>
            <a:r>
              <a:rPr kumimoji="1" lang="ko-KR" altLang="en-US" sz="1800" dirty="0"/>
              <a:t>구현 편의상 추가했지만 </a:t>
            </a:r>
            <a:r>
              <a:rPr kumimoji="1" lang="en-US" altLang="ko-KR" sz="1800" dirty="0"/>
              <a:t>idle</a:t>
            </a:r>
            <a:r>
              <a:rPr kumimoji="1" lang="ko-KR" altLang="en-US" sz="1800" dirty="0"/>
              <a:t> </a:t>
            </a:r>
            <a:r>
              <a:rPr kumimoji="1" lang="ko-KR" altLang="en-US" sz="1800" dirty="0" err="1"/>
              <a:t>큐빗이라</a:t>
            </a:r>
            <a:r>
              <a:rPr kumimoji="1" lang="ko-KR" altLang="en-US" sz="1800" dirty="0"/>
              <a:t> </a:t>
            </a:r>
            <a:r>
              <a:rPr kumimoji="1" lang="en-US" altLang="ko-KR" sz="1800" dirty="0"/>
              <a:t>56</a:t>
            </a:r>
            <a:r>
              <a:rPr kumimoji="1" lang="ko-KR" altLang="en-US" sz="1800" dirty="0"/>
              <a:t>개 제외</a:t>
            </a:r>
            <a:r>
              <a:rPr kumimoji="1" lang="en-US" altLang="ko-KR" sz="1800" dirty="0"/>
              <a:t>)</a:t>
            </a:r>
            <a:r>
              <a:rPr kumimoji="1" lang="ko-KR" altLang="en-US" sz="1800" dirty="0"/>
              <a:t> </a:t>
            </a:r>
            <a:r>
              <a:rPr kumimoji="1" lang="en-US" altLang="ko-KR" sz="1800" dirty="0"/>
              <a:t>=</a:t>
            </a:r>
            <a:r>
              <a:rPr kumimoji="1" lang="ko-KR" altLang="en-US" sz="1800" dirty="0"/>
              <a:t> </a:t>
            </a:r>
            <a:r>
              <a:rPr kumimoji="1" lang="en-US" altLang="ko-KR" sz="1800" b="1" dirty="0"/>
              <a:t>621</a:t>
            </a:r>
          </a:p>
          <a:p>
            <a:pPr lvl="1"/>
            <a:endParaRPr kumimoji="1" lang="en-US" altLang="ko-KR" sz="1800" dirty="0"/>
          </a:p>
          <a:p>
            <a:pPr lvl="1"/>
            <a:r>
              <a:rPr kumimoji="1" lang="en-US" altLang="ko-KR" sz="1800" dirty="0"/>
              <a:t>CHES’25</a:t>
            </a:r>
            <a:r>
              <a:rPr kumimoji="1" lang="ko-KR" altLang="en-US" sz="1800" dirty="0"/>
              <a:t>의 </a:t>
            </a:r>
            <a:r>
              <a:rPr kumimoji="1" lang="en-US" altLang="ko-KR" sz="1800" dirty="0"/>
              <a:t>Table 4 </a:t>
            </a:r>
            <a:r>
              <a:rPr kumimoji="1" lang="en-US" altLang="ko-KR" sz="1800" dirty="0">
                <a:sym typeface="Wingdings" pitchFamily="2" charset="2"/>
              </a:rPr>
              <a:t> Td = </a:t>
            </a:r>
            <a:r>
              <a:rPr kumimoji="1" lang="en-US" altLang="ko-KR" sz="1800" b="1" dirty="0">
                <a:sym typeface="Wingdings" pitchFamily="2" charset="2"/>
              </a:rPr>
              <a:t>1874</a:t>
            </a:r>
            <a:r>
              <a:rPr kumimoji="1" lang="en-US" altLang="ko-KR" sz="1800" dirty="0">
                <a:sym typeface="Wingdings" pitchFamily="2" charset="2"/>
              </a:rPr>
              <a:t>, Qubit = </a:t>
            </a:r>
            <a:r>
              <a:rPr kumimoji="1" lang="en-US" altLang="ko-KR" sz="1800" b="1" dirty="0">
                <a:sym typeface="Wingdings" pitchFamily="2" charset="2"/>
              </a:rPr>
              <a:t>982</a:t>
            </a:r>
          </a:p>
          <a:p>
            <a:pPr lvl="1"/>
            <a:r>
              <a:rPr kumimoji="1" lang="en-US" altLang="ko-KR" sz="1800" dirty="0">
                <a:sym typeface="Wingdings" pitchFamily="2" charset="2"/>
              </a:rPr>
              <a:t>Ours  Td = 2406, Qubit = 621</a:t>
            </a:r>
          </a:p>
          <a:p>
            <a:pPr lvl="1"/>
            <a:endParaRPr kumimoji="1" lang="en-US" altLang="ko-KR" sz="1800" dirty="0">
              <a:sym typeface="Wingdings" pitchFamily="2" charset="2"/>
            </a:endParaRPr>
          </a:p>
          <a:p>
            <a:pPr lvl="1"/>
            <a:r>
              <a:rPr kumimoji="1" lang="en-US" altLang="ko-KR" sz="1800" b="1" dirty="0"/>
              <a:t>Td x Qubit</a:t>
            </a:r>
            <a:r>
              <a:rPr kumimoji="1" lang="ko-KR" altLang="en-US" sz="1800" b="1" dirty="0"/>
              <a:t>가 </a:t>
            </a:r>
            <a:r>
              <a:rPr kumimoji="1" lang="en-US" altLang="ko-KR" sz="1800" b="1" dirty="0"/>
              <a:t>18.8</a:t>
            </a:r>
            <a:r>
              <a:rPr kumimoji="1" lang="ko-KR" altLang="en-US" sz="1800" b="1" dirty="0"/>
              <a:t>퍼 감소</a:t>
            </a:r>
            <a:endParaRPr kumimoji="1" lang="en-US" altLang="ko-KR" sz="1800" b="1" dirty="0"/>
          </a:p>
          <a:p>
            <a:pPr lvl="2"/>
            <a:r>
              <a:rPr kumimoji="1" lang="en-US" altLang="ko-KR" sz="1600" dirty="0"/>
              <a:t>CHES’25 = 1840268</a:t>
            </a:r>
          </a:p>
          <a:p>
            <a:pPr lvl="2"/>
            <a:r>
              <a:rPr kumimoji="1" lang="en-US" altLang="ko-KR" sz="1600" dirty="0"/>
              <a:t>Ours = 1494126</a:t>
            </a:r>
          </a:p>
          <a:p>
            <a:endParaRPr kumimoji="1"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2348433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0DFB6-0220-BD27-5A03-5BD8130DD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FA3FFF4-68BF-B5D2-5FA7-F9415CC3E4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" y="1152525"/>
            <a:ext cx="12192000" cy="5057775"/>
          </a:xfrm>
        </p:spPr>
        <p:txBody>
          <a:bodyPr>
            <a:noAutofit/>
          </a:bodyPr>
          <a:lstStyle/>
          <a:p>
            <a:r>
              <a:rPr kumimoji="1" lang="ko-KR" altLang="en-US" sz="1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현재 제가 가진 구현은 </a:t>
            </a:r>
            <a:r>
              <a:rPr kumimoji="1" lang="en-US" altLang="ko-KR" sz="1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full dimension</a:t>
            </a:r>
            <a:r>
              <a:rPr kumimoji="1" lang="ko-KR" altLang="en-US" sz="1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과 </a:t>
            </a:r>
            <a:r>
              <a:rPr kumimoji="1" lang="en-US" altLang="ko-KR" sz="1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full search space</a:t>
            </a:r>
            <a:r>
              <a:rPr kumimoji="1" lang="ko-KR" altLang="en-US" sz="1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를 대상으로 했음</a:t>
            </a:r>
            <a:endParaRPr kumimoji="1" lang="en-US" altLang="ko-KR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1"/>
            <a:r>
              <a:rPr kumimoji="1" lang="en-US" altLang="ko-KR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CHES’25</a:t>
            </a:r>
            <a:r>
              <a:rPr kumimoji="1"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는 공격 가능한 제한된 범위에 대한 리소스 추정 </a:t>
            </a:r>
            <a:r>
              <a:rPr kumimoji="1" lang="en-US" altLang="ko-KR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(feasible</a:t>
            </a:r>
            <a:r>
              <a:rPr kumimoji="1"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kumimoji="1" lang="en-US" altLang="ko-KR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bound)</a:t>
            </a:r>
          </a:p>
          <a:p>
            <a:pPr lvl="1"/>
            <a:r>
              <a:rPr kumimoji="1"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따라서 제 구현이 비용이 높게 나올 수 밖에 없음 </a:t>
            </a:r>
            <a:r>
              <a:rPr kumimoji="1" lang="en-US" altLang="ko-KR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kumimoji="1"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동일 조건이 아니어서</a:t>
            </a:r>
            <a:r>
              <a:rPr kumimoji="1" lang="en-US" altLang="ko-KR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pPr lvl="1"/>
            <a:r>
              <a:rPr kumimoji="1" lang="ko-KR" altLang="en-US" sz="1800" dirty="0">
                <a:highlight>
                  <a:srgbClr val="FFFF00"/>
                </a:highlight>
                <a:latin typeface="Noto Sans KR" panose="020B0200000000000000" pitchFamily="50" charset="-127"/>
                <a:ea typeface="Noto Sans KR" panose="020B0200000000000000" pitchFamily="50" charset="-127"/>
              </a:rPr>
              <a:t>지금 시간 내에 작성할 수 있는 방향</a:t>
            </a:r>
            <a:endParaRPr kumimoji="1" lang="en-US" altLang="ko-KR" sz="1800" dirty="0">
              <a:highlight>
                <a:srgbClr val="FFFF00"/>
              </a:highlight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2"/>
            <a:r>
              <a:rPr kumimoji="1" lang="en-US" altLang="ko-KR" sz="1800" dirty="0">
                <a:highlight>
                  <a:srgbClr val="FFFF00"/>
                </a:highlight>
                <a:latin typeface="Noto Sans KR" panose="020B0200000000000000" pitchFamily="50" charset="-127"/>
                <a:ea typeface="Noto Sans KR" panose="020B0200000000000000" pitchFamily="50" charset="-127"/>
              </a:rPr>
              <a:t>1.</a:t>
            </a:r>
            <a:r>
              <a:rPr kumimoji="1" lang="ko-KR" altLang="en-US" sz="1800" dirty="0">
                <a:highlight>
                  <a:srgbClr val="FFFF00"/>
                </a:highlight>
                <a:latin typeface="Noto Sans KR" panose="020B0200000000000000" pitchFamily="50" charset="-127"/>
                <a:ea typeface="Noto Sans KR" panose="020B0200000000000000" pitchFamily="50" charset="-127"/>
              </a:rPr>
              <a:t> 실제 </a:t>
            </a:r>
            <a:r>
              <a:rPr kumimoji="1" lang="en-US" altLang="ko-KR" sz="1800" dirty="0">
                <a:highlight>
                  <a:srgbClr val="FFFF00"/>
                </a:highlight>
                <a:latin typeface="Noto Sans KR" panose="020B0200000000000000" pitchFamily="50" charset="-127"/>
                <a:ea typeface="Noto Sans KR" panose="020B0200000000000000" pitchFamily="50" charset="-127"/>
              </a:rPr>
              <a:t>ML-KEM/DSA</a:t>
            </a:r>
            <a:r>
              <a:rPr kumimoji="1" lang="ko-KR" altLang="en-US" sz="1800" dirty="0">
                <a:highlight>
                  <a:srgbClr val="FFFF00"/>
                </a:highlight>
                <a:latin typeface="Noto Sans KR" panose="020B0200000000000000" pitchFamily="50" charset="-127"/>
                <a:ea typeface="Noto Sans KR" panose="020B0200000000000000" pitchFamily="50" charset="-127"/>
              </a:rPr>
              <a:t>의 실제 파라미터에 대한 공격 비용이다 </a:t>
            </a:r>
            <a:endParaRPr kumimoji="1" lang="en-US" altLang="ko-KR" sz="1800" dirty="0">
              <a:highlight>
                <a:srgbClr val="FFFF00"/>
              </a:highlight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3">
              <a:buFont typeface="Wingdings" pitchFamily="2" charset="2"/>
              <a:buChar char="à"/>
            </a:pPr>
            <a:r>
              <a:rPr kumimoji="1" lang="ko-KR" altLang="en-US" dirty="0">
                <a:highlight>
                  <a:srgbClr val="FFFF00"/>
                </a:highlight>
                <a:latin typeface="Noto Sans KR" panose="020B0200000000000000" pitchFamily="50" charset="-127"/>
                <a:ea typeface="Noto Sans KR" panose="020B0200000000000000" pitchFamily="50" charset="-127"/>
                <a:sym typeface="Wingdings" pitchFamily="2" charset="2"/>
              </a:rPr>
              <a:t>개선은 조금 </a:t>
            </a:r>
            <a:r>
              <a:rPr kumimoji="1" lang="en-US" altLang="ko-KR" dirty="0">
                <a:highlight>
                  <a:srgbClr val="FFFF00"/>
                </a:highlight>
                <a:latin typeface="Noto Sans KR" panose="020B0200000000000000" pitchFamily="50" charset="-127"/>
                <a:ea typeface="Noto Sans KR" panose="020B0200000000000000" pitchFamily="50" charset="-127"/>
                <a:sym typeface="Wingdings" pitchFamily="2" charset="2"/>
              </a:rPr>
              <a:t>(</a:t>
            </a:r>
            <a:r>
              <a:rPr kumimoji="1" lang="ko-KR" altLang="en-US" dirty="0">
                <a:highlight>
                  <a:srgbClr val="FFFF00"/>
                </a:highlight>
                <a:latin typeface="Noto Sans KR" panose="020B0200000000000000" pitchFamily="50" charset="-127"/>
                <a:ea typeface="Noto Sans KR" panose="020B0200000000000000" pitchFamily="50" charset="-127"/>
                <a:sym typeface="Wingdings" pitchFamily="2" charset="2"/>
              </a:rPr>
              <a:t>약 </a:t>
            </a:r>
            <a:r>
              <a:rPr kumimoji="1" lang="en-US" altLang="ko-KR" dirty="0">
                <a:highlight>
                  <a:srgbClr val="FFFF00"/>
                </a:highlight>
                <a:latin typeface="Noto Sans KR" panose="020B0200000000000000" pitchFamily="50" charset="-127"/>
                <a:ea typeface="Noto Sans KR" panose="020B0200000000000000" pitchFamily="50" charset="-127"/>
                <a:sym typeface="Wingdings" pitchFamily="2" charset="2"/>
              </a:rPr>
              <a:t>18%)</a:t>
            </a:r>
            <a:r>
              <a:rPr kumimoji="1" lang="ko-KR" altLang="en-US" dirty="0">
                <a:highlight>
                  <a:srgbClr val="FFFF00"/>
                </a:highlight>
                <a:latin typeface="Noto Sans KR" panose="020B0200000000000000" pitchFamily="50" charset="-127"/>
                <a:ea typeface="Noto Sans KR" panose="020B0200000000000000" pitchFamily="50" charset="-127"/>
                <a:sym typeface="Wingdings" pitchFamily="2" charset="2"/>
              </a:rPr>
              <a:t> 되었으며</a:t>
            </a:r>
            <a:r>
              <a:rPr kumimoji="1" lang="en-US" altLang="ko-KR" dirty="0">
                <a:highlight>
                  <a:srgbClr val="FFFF00"/>
                </a:highlight>
                <a:latin typeface="Noto Sans KR" panose="020B0200000000000000" pitchFamily="50" charset="-127"/>
                <a:ea typeface="Noto Sans KR" panose="020B0200000000000000" pitchFamily="50" charset="-127"/>
                <a:sym typeface="Wingdings" pitchFamily="2" charset="2"/>
              </a:rPr>
              <a:t>,</a:t>
            </a:r>
            <a:r>
              <a:rPr kumimoji="1" lang="ko-KR" altLang="en-US" dirty="0">
                <a:highlight>
                  <a:srgbClr val="FFFF00"/>
                </a:highlight>
                <a:latin typeface="Noto Sans KR" panose="020B0200000000000000" pitchFamily="50" charset="-127"/>
                <a:ea typeface="Noto Sans KR" panose="020B0200000000000000" pitchFamily="50" charset="-127"/>
                <a:sym typeface="Wingdings" pitchFamily="2" charset="2"/>
              </a:rPr>
              <a:t> 전체 비용 추정으로 해서 다이렉트 비교는 최소화</a:t>
            </a:r>
            <a:endParaRPr kumimoji="1" lang="en-US" altLang="ko-KR" dirty="0">
              <a:highlight>
                <a:srgbClr val="FFFF00"/>
              </a:highlight>
              <a:latin typeface="Noto Sans KR" panose="020B0200000000000000" pitchFamily="50" charset="-127"/>
              <a:ea typeface="Noto Sans KR" panose="020B0200000000000000" pitchFamily="50" charset="-127"/>
              <a:sym typeface="Wingdings" pitchFamily="2" charset="2"/>
            </a:endParaRPr>
          </a:p>
          <a:p>
            <a:pPr lvl="2"/>
            <a:r>
              <a:rPr kumimoji="1" lang="en-US" altLang="ko-KR" sz="1800" dirty="0">
                <a:highlight>
                  <a:srgbClr val="FFFF00"/>
                </a:highlight>
                <a:latin typeface="Noto Sans KR" panose="020B0200000000000000" pitchFamily="50" charset="-127"/>
                <a:ea typeface="Noto Sans KR" panose="020B0200000000000000" pitchFamily="50" charset="-127"/>
              </a:rPr>
              <a:t>2.</a:t>
            </a:r>
            <a:r>
              <a:rPr kumimoji="1" lang="ko-KR" altLang="en-US" sz="1800" dirty="0">
                <a:highlight>
                  <a:srgbClr val="FFFF00"/>
                </a:highlight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kumimoji="1" lang="en-US" altLang="ko-KR" sz="1800" dirty="0" err="1">
                <a:highlight>
                  <a:srgbClr val="FFFF00"/>
                </a:highlight>
                <a:latin typeface="Noto Sans KR" panose="020B0200000000000000" pitchFamily="50" charset="-127"/>
                <a:ea typeface="Noto Sans KR" panose="020B0200000000000000" pitchFamily="50" charset="-127"/>
              </a:rPr>
              <a:t>KpqC</a:t>
            </a:r>
            <a:r>
              <a:rPr kumimoji="1" lang="ko-KR" altLang="en-US" sz="1800" dirty="0" err="1">
                <a:highlight>
                  <a:srgbClr val="FFFF00"/>
                </a:highlight>
                <a:latin typeface="Noto Sans KR" panose="020B0200000000000000" pitchFamily="50" charset="-127"/>
                <a:ea typeface="Noto Sans KR" panose="020B0200000000000000" pitchFamily="50" charset="-127"/>
              </a:rPr>
              <a:t>에</a:t>
            </a:r>
            <a:r>
              <a:rPr kumimoji="1" lang="ko-KR" altLang="en-US" sz="1800" dirty="0">
                <a:highlight>
                  <a:srgbClr val="FFFF00"/>
                </a:highlight>
                <a:latin typeface="Noto Sans KR" panose="020B0200000000000000" pitchFamily="50" charset="-127"/>
                <a:ea typeface="Noto Sans KR" panose="020B0200000000000000" pitchFamily="50" charset="-127"/>
              </a:rPr>
              <a:t> 대한 양자 </a:t>
            </a:r>
            <a:r>
              <a:rPr kumimoji="1" lang="ko-KR" altLang="en-US" sz="1800" dirty="0" err="1">
                <a:highlight>
                  <a:srgbClr val="FFFF00"/>
                </a:highlight>
                <a:latin typeface="Noto Sans KR" panose="020B0200000000000000" pitchFamily="50" charset="-127"/>
                <a:ea typeface="Noto Sans KR" panose="020B0200000000000000" pitchFamily="50" charset="-127"/>
              </a:rPr>
              <a:t>시브</a:t>
            </a:r>
            <a:r>
              <a:rPr kumimoji="1" lang="ko-KR" altLang="en-US" sz="1800" dirty="0">
                <a:highlight>
                  <a:srgbClr val="FFFF00"/>
                </a:highlight>
                <a:latin typeface="Noto Sans KR" panose="020B0200000000000000" pitchFamily="50" charset="-127"/>
                <a:ea typeface="Noto Sans KR" panose="020B0200000000000000" pitchFamily="50" charset="-127"/>
              </a:rPr>
              <a:t> 비용이다 </a:t>
            </a:r>
            <a:r>
              <a:rPr kumimoji="1" lang="en-US" altLang="ko-KR" sz="1800" dirty="0">
                <a:highlight>
                  <a:srgbClr val="FFFF00"/>
                </a:highlight>
                <a:latin typeface="Noto Sans KR" panose="020B0200000000000000" pitchFamily="50" charset="-127"/>
                <a:ea typeface="Noto Sans KR" panose="020B0200000000000000" pitchFamily="50" charset="-127"/>
                <a:sym typeface="Wingdings" pitchFamily="2" charset="2"/>
              </a:rPr>
              <a:t></a:t>
            </a:r>
            <a:r>
              <a:rPr kumimoji="1" lang="ko-KR" altLang="en-US" sz="1800" dirty="0">
                <a:highlight>
                  <a:srgbClr val="FFFF00"/>
                </a:highlight>
                <a:latin typeface="Noto Sans KR" panose="020B0200000000000000" pitchFamily="50" charset="-127"/>
                <a:ea typeface="Noto Sans KR" panose="020B0200000000000000" pitchFamily="50" charset="-127"/>
                <a:sym typeface="Wingdings" pitchFamily="2" charset="2"/>
              </a:rPr>
              <a:t> </a:t>
            </a:r>
            <a:r>
              <a:rPr kumimoji="1" lang="en-US" altLang="ko-KR" sz="1800" dirty="0" err="1">
                <a:highlight>
                  <a:srgbClr val="FFFF00"/>
                </a:highlight>
                <a:latin typeface="Noto Sans KR" panose="020B0200000000000000" pitchFamily="50" charset="-127"/>
                <a:ea typeface="Noto Sans KR" panose="020B0200000000000000" pitchFamily="50" charset="-127"/>
                <a:sym typeface="Wingdings" pitchFamily="2" charset="2"/>
              </a:rPr>
              <a:t>KpqC</a:t>
            </a:r>
            <a:r>
              <a:rPr kumimoji="1" lang="ko-KR" altLang="en-US" sz="1800" dirty="0">
                <a:highlight>
                  <a:srgbClr val="FFFF00"/>
                </a:highlight>
                <a:latin typeface="Noto Sans KR" panose="020B0200000000000000" pitchFamily="50" charset="-127"/>
                <a:ea typeface="Noto Sans KR" panose="020B0200000000000000" pitchFamily="50" charset="-127"/>
                <a:sym typeface="Wingdings" pitchFamily="2" charset="2"/>
              </a:rPr>
              <a:t>를 우리나라 말고 </a:t>
            </a:r>
            <a:r>
              <a:rPr kumimoji="1" lang="ko-KR" altLang="en-US" sz="1800" dirty="0" err="1">
                <a:highlight>
                  <a:srgbClr val="FFFF00"/>
                </a:highlight>
                <a:latin typeface="Noto Sans KR" panose="020B0200000000000000" pitchFamily="50" charset="-127"/>
                <a:ea typeface="Noto Sans KR" panose="020B0200000000000000" pitchFamily="50" charset="-127"/>
                <a:sym typeface="Wingdings" pitchFamily="2" charset="2"/>
              </a:rPr>
              <a:t>다른데서</a:t>
            </a:r>
            <a:r>
              <a:rPr kumimoji="1" lang="ko-KR" altLang="en-US" sz="1800" dirty="0">
                <a:highlight>
                  <a:srgbClr val="FFFF00"/>
                </a:highlight>
                <a:latin typeface="Noto Sans KR" panose="020B0200000000000000" pitchFamily="50" charset="-127"/>
                <a:ea typeface="Noto Sans KR" panose="020B0200000000000000" pitchFamily="50" charset="-127"/>
                <a:sym typeface="Wingdings" pitchFamily="2" charset="2"/>
              </a:rPr>
              <a:t> 관심을 가지는지가 걱정 </a:t>
            </a:r>
            <a:endParaRPr kumimoji="1" lang="en-US" altLang="ko-KR" sz="1800" dirty="0">
              <a:highlight>
                <a:srgbClr val="FFFF00"/>
              </a:highlight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1"/>
            <a:endParaRPr kumimoji="1" lang="en-US" altLang="ko-KR" sz="18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kumimoji="1" lang="ko-KR" altLang="en-US" sz="1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현재</a:t>
            </a:r>
            <a:r>
              <a:rPr kumimoji="1" lang="en-US" altLang="ko-KR" sz="1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,</a:t>
            </a:r>
            <a:r>
              <a:rPr kumimoji="1" lang="ko-KR" altLang="en-US" sz="1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kumimoji="1" lang="en-US" altLang="ko-KR" sz="18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Asiacrypt</a:t>
            </a:r>
            <a:r>
              <a:rPr kumimoji="1" lang="en-US" altLang="ko-KR" sz="1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kumimoji="1" lang="ko-KR" altLang="en-US" sz="1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냈을 때 제출한 구현에서 조금 변경</a:t>
            </a:r>
            <a:endParaRPr kumimoji="1" lang="en-US" altLang="ko-KR" sz="18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1"/>
            <a:r>
              <a:rPr kumimoji="1"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제곱에서 큐비트 재사용 최대화했음 </a:t>
            </a:r>
            <a:r>
              <a:rPr kumimoji="1" lang="en-US" altLang="ko-KR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kumimoji="1"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병렬 제거</a:t>
            </a:r>
            <a:r>
              <a:rPr kumimoji="1" lang="en-US" altLang="ko-KR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pPr lvl="1"/>
            <a:r>
              <a:rPr kumimoji="1"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비용은 새로 추정함</a:t>
            </a:r>
            <a:endParaRPr kumimoji="1" lang="en-US" altLang="ko-KR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kumimoji="1" lang="en-US" altLang="ko-KR" sz="18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kumimoji="1" lang="ko-KR" altLang="en-US" sz="1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구현 자체에 대한 설명은 거의 없어서 어떤 구조인지 파악하기 어려움</a:t>
            </a:r>
            <a:endParaRPr kumimoji="1" lang="en-US" altLang="ko-KR" sz="18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1"/>
            <a:r>
              <a:rPr kumimoji="1"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또한 몇 개의 비용 테이블에 대한 설명이 누락 </a:t>
            </a:r>
            <a:r>
              <a:rPr kumimoji="1" lang="en-US" altLang="ko-KR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kumimoji="1"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결과 누락되어 있어서 완전하게 이해하기 어려움</a:t>
            </a:r>
            <a:endParaRPr kumimoji="1" lang="en-US" altLang="ko-KR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1"/>
            <a:r>
              <a:rPr kumimoji="1"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동일한 가정에서의 개선이 아니니까 그들이 사용한 것으로 예상되는 파라미터로 비교</a:t>
            </a:r>
            <a:endParaRPr kumimoji="1" lang="en-US" altLang="ko-KR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2"/>
            <a:r>
              <a:rPr kumimoji="1"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제한된 그 세팅에서 우리 거가 조금 더 좋다고 하고</a:t>
            </a:r>
            <a:r>
              <a:rPr kumimoji="1"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</a:t>
            </a:r>
            <a:r>
              <a:rPr kumimoji="1"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그 이후로는 전체 </a:t>
            </a:r>
            <a:r>
              <a:rPr kumimoji="1" lang="ko-KR" altLang="en-US"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시브</a:t>
            </a:r>
            <a:r>
              <a:rPr kumimoji="1"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비용 제시 </a:t>
            </a:r>
            <a:r>
              <a:rPr kumimoji="1"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kumimoji="1"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이후로는 직접 비교 안 함</a:t>
            </a:r>
            <a:r>
              <a:rPr kumimoji="1"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r>
              <a:rPr kumimoji="1"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kumimoji="1" lang="en-US" altLang="ko-KR" sz="1400" dirty="0">
                <a:highlight>
                  <a:srgbClr val="FFFF00"/>
                </a:highlight>
                <a:latin typeface="Noto Sans KR" panose="020B0200000000000000" pitchFamily="50" charset="-127"/>
                <a:ea typeface="Noto Sans KR" panose="020B0200000000000000" pitchFamily="50" charset="-127"/>
                <a:sym typeface="Wingdings" pitchFamily="2" charset="2"/>
              </a:rPr>
              <a:t></a:t>
            </a:r>
            <a:r>
              <a:rPr kumimoji="1" lang="ko-KR" altLang="en-US" sz="1400" dirty="0">
                <a:highlight>
                  <a:srgbClr val="FFFF00"/>
                </a:highlight>
                <a:latin typeface="Noto Sans KR" panose="020B0200000000000000" pitchFamily="50" charset="-127"/>
                <a:ea typeface="Noto Sans KR" panose="020B0200000000000000" pitchFamily="50" charset="-127"/>
                <a:sym typeface="Wingdings" pitchFamily="2" charset="2"/>
              </a:rPr>
              <a:t> 이렇게 해도 될까요</a:t>
            </a:r>
            <a:r>
              <a:rPr kumimoji="1" lang="en-US" altLang="ko-KR" sz="1400" dirty="0">
                <a:highlight>
                  <a:srgbClr val="FFFF00"/>
                </a:highlight>
                <a:latin typeface="Noto Sans KR" panose="020B0200000000000000" pitchFamily="50" charset="-127"/>
                <a:ea typeface="Noto Sans KR" panose="020B0200000000000000" pitchFamily="50" charset="-127"/>
                <a:sym typeface="Wingdings" pitchFamily="2" charset="2"/>
              </a:rPr>
              <a:t>?</a:t>
            </a:r>
            <a:endParaRPr kumimoji="1" lang="en-US" altLang="ko-KR" sz="1400" dirty="0">
              <a:highlight>
                <a:srgbClr val="FFFF00"/>
              </a:highlight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1"/>
            <a:r>
              <a:rPr kumimoji="1" lang="ko-KR" altLang="en-US" sz="1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런타임 및 피지컬 리소스 추가 예정</a:t>
            </a:r>
            <a:endParaRPr kumimoji="1" lang="en-US" altLang="ko-KR" sz="18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457200" lvl="1" indent="0">
              <a:buNone/>
            </a:pPr>
            <a:endParaRPr kumimoji="1" lang="en-US" altLang="ko-KR" sz="18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1"/>
            <a:endParaRPr kumimoji="1" lang="en-US" altLang="ko-KR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17AE7CA-BD17-FBA9-8929-B1FEAC75A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논문 수정 방향</a:t>
            </a:r>
          </a:p>
        </p:txBody>
      </p:sp>
    </p:spTree>
    <p:extLst>
      <p:ext uri="{BB962C8B-B14F-4D97-AF65-F5344CB8AC3E}">
        <p14:creationId xmlns:p14="http://schemas.microsoft.com/office/powerpoint/2010/main" val="16362179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BC0FDD-D231-9CDD-73C5-80934FE73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변경한 구현 결과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EBFCD4F-AC76-46BE-69AD-8E21B1E293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54525" y="1152525"/>
            <a:ext cx="11755224" cy="5057775"/>
          </a:xfrm>
        </p:spPr>
        <p:txBody>
          <a:bodyPr>
            <a:normAutofit/>
          </a:bodyPr>
          <a:lstStyle/>
          <a:p>
            <a:r>
              <a:rPr kumimoji="1" lang="ko-KR" altLang="en-US" sz="2000" dirty="0"/>
              <a:t>전에는 </a:t>
            </a:r>
            <a:r>
              <a:rPr kumimoji="1" lang="ko-KR" altLang="en-US" sz="2000" dirty="0" err="1"/>
              <a:t>디멘션에</a:t>
            </a:r>
            <a:r>
              <a:rPr kumimoji="1" lang="ko-KR" altLang="en-US" sz="2000" dirty="0"/>
              <a:t> 대한 병렬 제곱을 해서 </a:t>
            </a:r>
            <a:r>
              <a:rPr kumimoji="1" lang="ko-KR" altLang="en-US" sz="2000" dirty="0" err="1"/>
              <a:t>안실라</a:t>
            </a:r>
            <a:r>
              <a:rPr kumimoji="1" lang="ko-KR" altLang="en-US" sz="2000" dirty="0"/>
              <a:t> 큐비트가 너무 과도하게 필요했음 </a:t>
            </a:r>
            <a:r>
              <a:rPr kumimoji="1" lang="en-US" altLang="ko-KR" sz="2000" dirty="0"/>
              <a:t>(</a:t>
            </a:r>
            <a:r>
              <a:rPr kumimoji="1" lang="ko-KR" altLang="en-US" sz="2000" dirty="0" err="1"/>
              <a:t>뎁스는</a:t>
            </a:r>
            <a:r>
              <a:rPr kumimoji="1" lang="ko-KR" altLang="en-US" sz="2000" dirty="0"/>
              <a:t> 최소화</a:t>
            </a:r>
            <a:r>
              <a:rPr kumimoji="1" lang="en-US" altLang="ko-KR" sz="2000" dirty="0"/>
              <a:t>)</a:t>
            </a:r>
          </a:p>
          <a:p>
            <a:pPr lvl="1"/>
            <a:r>
              <a:rPr kumimoji="1" lang="ko-KR" altLang="en-US" sz="1600" dirty="0"/>
              <a:t>수정한 구현에서는 </a:t>
            </a:r>
            <a:r>
              <a:rPr kumimoji="1" lang="ko-KR" altLang="en-US" sz="1600" dirty="0" err="1"/>
              <a:t>뎁스는</a:t>
            </a:r>
            <a:r>
              <a:rPr kumimoji="1" lang="ko-KR" altLang="en-US" sz="1600" dirty="0"/>
              <a:t> 증가했지만 </a:t>
            </a:r>
            <a:r>
              <a:rPr kumimoji="1" lang="ko-KR" altLang="en-US" sz="1600" dirty="0" err="1"/>
              <a:t>큐빗을</a:t>
            </a:r>
            <a:r>
              <a:rPr kumimoji="1" lang="ko-KR" altLang="en-US" sz="1600" dirty="0"/>
              <a:t> 많이 줄임</a:t>
            </a:r>
            <a:endParaRPr kumimoji="1" lang="en-US" altLang="ko-KR" sz="1600" dirty="0"/>
          </a:p>
          <a:p>
            <a:endParaRPr kumimoji="1" lang="en-US" altLang="ko-KR" sz="2000" dirty="0"/>
          </a:p>
          <a:p>
            <a:r>
              <a:rPr kumimoji="1" lang="en-US" altLang="ko-KR" sz="2000" dirty="0"/>
              <a:t>Qubit x Depth trade off</a:t>
            </a:r>
            <a:r>
              <a:rPr kumimoji="1" lang="ko-KR" altLang="en-US" sz="2000" dirty="0"/>
              <a:t>에서 전보다 개선된 결과 </a:t>
            </a:r>
            <a:r>
              <a:rPr kumimoji="1" lang="en-US" altLang="ko-KR" sz="2000" dirty="0"/>
              <a:t>(</a:t>
            </a:r>
            <a:r>
              <a:rPr kumimoji="1" lang="ko-KR" altLang="en-US" sz="2000" dirty="0" err="1"/>
              <a:t>딜리시움은</a:t>
            </a:r>
            <a:r>
              <a:rPr kumimoji="1" lang="ko-KR" altLang="en-US" sz="2000" dirty="0"/>
              <a:t> 진행 중</a:t>
            </a:r>
            <a:r>
              <a:rPr kumimoji="1" lang="en-US" altLang="ko-KR" sz="2000" dirty="0"/>
              <a:t>)</a:t>
            </a:r>
            <a:endParaRPr kumimoji="1" lang="en-US" altLang="ko-KR" sz="1600" dirty="0"/>
          </a:p>
          <a:p>
            <a:pPr lvl="1"/>
            <a:r>
              <a:rPr kumimoji="1" lang="ko-KR" altLang="en-US" sz="1600" dirty="0"/>
              <a:t>저의 기존 구현보다 </a:t>
            </a:r>
            <a:r>
              <a:rPr kumimoji="1" lang="en-US" altLang="ko-KR" sz="1600" dirty="0"/>
              <a:t>94</a:t>
            </a:r>
            <a:r>
              <a:rPr kumimoji="1" lang="ko-KR" altLang="en-US" sz="1600" dirty="0"/>
              <a:t>퍼 감소 </a:t>
            </a:r>
            <a:r>
              <a:rPr kumimoji="1" lang="en-US" altLang="ko-KR" sz="1600" dirty="0"/>
              <a:t>(FD-M and Td-M)</a:t>
            </a:r>
          </a:p>
          <a:p>
            <a:pPr lvl="1"/>
            <a:endParaRPr kumimoji="1" lang="en-US" altLang="ko-KR" sz="1600" dirty="0"/>
          </a:p>
          <a:p>
            <a:pPr lvl="1"/>
            <a:endParaRPr kumimoji="1" lang="ko-KR" altLang="en-US" sz="16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D33275F-ADDC-310D-F44C-327B6F7562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9236880"/>
              </p:ext>
            </p:extLst>
          </p:nvPr>
        </p:nvGraphicFramePr>
        <p:xfrm>
          <a:off x="1230722" y="3127342"/>
          <a:ext cx="8128000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74599114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9542660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8185574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863976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ML-KEM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512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768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1024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72620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Qubit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807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812</a:t>
                      </a:r>
                      <a:endParaRPr lang="en-US" altLang="ko-KR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812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216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Full depth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826814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1240136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1653430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459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75802</a:t>
                      </a:r>
                      <a:endParaRPr lang="ko-KR" altLang="en-US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113690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151578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1835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15230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C7F8B13-3D24-7EC2-8EC8-20289F72D407}"/>
              </a:ext>
            </a:extLst>
          </p:cNvPr>
          <p:cNvSpPr/>
          <p:nvPr/>
        </p:nvSpPr>
        <p:spPr>
          <a:xfrm>
            <a:off x="4327379" y="3042244"/>
            <a:ext cx="3220720" cy="7735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latin typeface="Noto Sans Armenian" panose="020B0502040504020204" pitchFamily="34" charset="0"/>
              <a:ea typeface="Malgun Gothic" panose="020B0503020000020004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BA4225C-81B9-8718-EC0B-C9B3DB700608}"/>
              </a:ext>
            </a:extLst>
          </p:cNvPr>
          <p:cNvSpPr txBox="1"/>
          <p:nvPr/>
        </p:nvSpPr>
        <p:spPr>
          <a:xfrm>
            <a:off x="4551155" y="2659989"/>
            <a:ext cx="2768387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4500" dirty="0">
                <a:latin typeface="Noto Sans Armenian" panose="020B0502040504020204" pitchFamily="34" charset="0"/>
                <a:ea typeface="Malgun Gothic" panose="020B0503020000020004" pitchFamily="34" charset="-127"/>
              </a:rPr>
              <a:t>Thank</a:t>
            </a:r>
            <a:r>
              <a:rPr kumimoji="1" lang="ko-KR" altLang="en-US" sz="4500" dirty="0">
                <a:latin typeface="Noto Sans Armenian" panose="020B0502040504020204" pitchFamily="34" charset="0"/>
                <a:ea typeface="Malgun Gothic" panose="020B0503020000020004" pitchFamily="34" charset="-127"/>
              </a:rPr>
              <a:t> </a:t>
            </a:r>
            <a:r>
              <a:rPr kumimoji="1" lang="en-US" altLang="ko-Kore-KR" sz="4500" dirty="0">
                <a:latin typeface="Noto Sans Armenian" panose="020B0502040504020204" pitchFamily="34" charset="0"/>
                <a:ea typeface="Malgun Gothic" panose="020B0503020000020004" pitchFamily="34" charset="-127"/>
              </a:rPr>
              <a:t>you</a:t>
            </a:r>
            <a:r>
              <a:rPr kumimoji="1" lang="en-US" altLang="ko-KR" sz="4500" dirty="0">
                <a:latin typeface="Noto Sans Armenian" panose="020B0502040504020204" pitchFamily="34" charset="0"/>
                <a:ea typeface="Malgun Gothic" panose="020B0503020000020004" pitchFamily="34" charset="-127"/>
              </a:rPr>
              <a:t>.</a:t>
            </a:r>
            <a:endParaRPr kumimoji="1" lang="ko-Kore-KR" altLang="en-US" sz="4500" dirty="0">
              <a:latin typeface="Noto Sans Armenian" panose="020B0502040504020204" pitchFamily="34" charset="0"/>
              <a:ea typeface="Malgun Gothic" panose="020B0503020000020004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2A5FAE-03AC-60B4-A2F3-60EE48393B65}"/>
              </a:ext>
            </a:extLst>
          </p:cNvPr>
          <p:cNvSpPr txBox="1"/>
          <p:nvPr/>
        </p:nvSpPr>
        <p:spPr>
          <a:xfrm>
            <a:off x="4551155" y="3668666"/>
            <a:ext cx="286168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4000" dirty="0">
                <a:latin typeface="Noto Sans Armenian" panose="020B0502040504020204" pitchFamily="34" charset="0"/>
                <a:ea typeface="Malgun Gothic" panose="020B0503020000020004" pitchFamily="34" charset="-127"/>
              </a:rPr>
              <a:t>감사합니다</a:t>
            </a:r>
            <a:r>
              <a:rPr kumimoji="1" lang="en-US" altLang="ko-KR" sz="4000" dirty="0">
                <a:latin typeface="Noto Sans Armenian" panose="020B0502040504020204" pitchFamily="34" charset="0"/>
                <a:ea typeface="Malgun Gothic" panose="020B0503020000020004" pitchFamily="34" charset="-127"/>
              </a:rPr>
              <a:t>.</a:t>
            </a:r>
            <a:endParaRPr kumimoji="1" lang="ko-Kore-KR" altLang="en-US" sz="4000" dirty="0">
              <a:latin typeface="Noto Sans Armenian" panose="020B0502040504020204" pitchFamily="34" charset="0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696350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31080</TotalTime>
  <Words>933</Words>
  <Application>Microsoft Macintosh PowerPoint</Application>
  <PresentationFormat>와이드스크린</PresentationFormat>
  <Paragraphs>115</Paragraphs>
  <Slides>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8" baseType="lpstr">
      <vt:lpstr>맑은 고딕</vt:lpstr>
      <vt:lpstr>G마켓 산스 TTF Light</vt:lpstr>
      <vt:lpstr>G마켓 산스 TTF Medium</vt:lpstr>
      <vt:lpstr>Noto Sans KR</vt:lpstr>
      <vt:lpstr>Arial</vt:lpstr>
      <vt:lpstr>Cambria Math</vt:lpstr>
      <vt:lpstr>Noto Sans Armenian</vt:lpstr>
      <vt:lpstr>Wingdings</vt:lpstr>
      <vt:lpstr>Office 테마</vt:lpstr>
      <vt:lpstr>Grover on Lattice </vt:lpstr>
      <vt:lpstr>CHES’25</vt:lpstr>
      <vt:lpstr>dimension 관련</vt:lpstr>
      <vt:lpstr>검색 공간 관련</vt:lpstr>
      <vt:lpstr>제곱</vt:lpstr>
      <vt:lpstr>Td 비교</vt:lpstr>
      <vt:lpstr>논문 수정 방향</vt:lpstr>
      <vt:lpstr>변경한 구현 결과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Shor on Elliptic Curves (non-binary)</dc:title>
  <dc:creator>장경배</dc:creator>
  <cp:lastModifiedBy>#KIM HYUNJI#</cp:lastModifiedBy>
  <cp:revision>2649</cp:revision>
  <dcterms:created xsi:type="dcterms:W3CDTF">2025-04-15T05:09:22Z</dcterms:created>
  <dcterms:modified xsi:type="dcterms:W3CDTF">2025-11-19T10:49:35Z</dcterms:modified>
</cp:coreProperties>
</file>