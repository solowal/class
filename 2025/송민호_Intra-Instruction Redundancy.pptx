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4" r:id="rId1"/>
  </p:sldMasterIdLst>
  <p:notesMasterIdLst>
    <p:notesMasterId r:id="rId11"/>
  </p:notesMasterIdLst>
  <p:handoutMasterIdLst>
    <p:handoutMasterId r:id="rId12"/>
  </p:handoutMasterIdLst>
  <p:sldIdLst>
    <p:sldId id="269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74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E75B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068" autoAdjust="0"/>
    <p:restoredTop sz="94660"/>
  </p:normalViewPr>
  <p:slideViewPr>
    <p:cSldViewPr snapToGrid="0">
      <p:cViewPr varScale="1">
        <p:scale>
          <a:sx n="73" d="100"/>
          <a:sy n="73" d="100"/>
        </p:scale>
        <p:origin x="1014" y="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3730" y="91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546E7E-6CE1-4F62-BC39-1BE7148D0D0D}" type="datetimeFigureOut">
              <a:rPr lang="ko-KR" altLang="en-US" smtClean="0"/>
              <a:t>2025-12-15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F56489-CFDC-4DF4-92D1-C366C0FB173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984057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8A1C54-2D0D-48EB-888A-9786B070F533}" type="datetimeFigureOut">
              <a:rPr lang="ko-KR" altLang="en-US" smtClean="0"/>
              <a:t>2025-12-15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02C913-610E-4BF0-B55F-9CE65BBA65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29765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0" y="1223120"/>
            <a:ext cx="12192000" cy="2387600"/>
          </a:xfrm>
        </p:spPr>
        <p:txBody>
          <a:bodyPr anchor="ctr"/>
          <a:lstStyle>
            <a:lvl1pPr algn="ctr">
              <a:defRPr sz="6000" b="0">
                <a:latin typeface="+mj-ea"/>
                <a:ea typeface="+mj-ea"/>
                <a:cs typeface="함초롬돋움" panose="020B0604000101010101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-2" y="3794871"/>
            <a:ext cx="12192001" cy="1655762"/>
          </a:xfrm>
        </p:spPr>
        <p:txBody>
          <a:bodyPr anchor="ctr"/>
          <a:lstStyle>
            <a:lvl1pPr marL="0" indent="0" algn="ctr">
              <a:buNone/>
              <a:defRPr sz="2400">
                <a:latin typeface="+mn-ea"/>
                <a:ea typeface="+mn-ea"/>
                <a:cs typeface="함초롬돋움" panose="020B0604000101010101" pitchFamily="50" charset="-12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클릭하여 마스터 부제목 스타일 편집</a:t>
            </a:r>
          </a:p>
        </p:txBody>
      </p:sp>
      <p:pic>
        <p:nvPicPr>
          <p:cNvPr id="8" name="그림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96" y="6195047"/>
            <a:ext cx="3026852" cy="642781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80202" y="6215220"/>
            <a:ext cx="1311798" cy="642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82633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직선 연결선 8"/>
          <p:cNvCxnSpPr>
            <a:cxnSpLocks/>
          </p:cNvCxnSpPr>
          <p:nvPr userDrawn="1"/>
        </p:nvCxnSpPr>
        <p:spPr>
          <a:xfrm>
            <a:off x="4863597" y="2208981"/>
            <a:ext cx="1994074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텍스트 개체 틀 4"/>
          <p:cNvSpPr>
            <a:spLocks noGrp="1"/>
          </p:cNvSpPr>
          <p:nvPr>
            <p:ph type="body" sz="quarter" idx="11" hasCustomPrompt="1"/>
          </p:nvPr>
        </p:nvSpPr>
        <p:spPr>
          <a:xfrm>
            <a:off x="1055592" y="1691017"/>
            <a:ext cx="10071852" cy="718952"/>
          </a:xfrm>
          <a:ln w="28575">
            <a:noFill/>
          </a:ln>
        </p:spPr>
        <p:txBody>
          <a:bodyPr anchor="ctr">
            <a:normAutofit/>
          </a:bodyPr>
          <a:lstStyle>
            <a:lvl1pPr marL="0" indent="0">
              <a:buNone/>
              <a:defRPr sz="2800" b="0" baseline="0">
                <a:ln>
                  <a:solidFill>
                    <a:schemeClr val="bg2">
                      <a:lumMod val="2500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ko-KR" altLang="en-US" dirty="0"/>
              <a:t>제목</a:t>
            </a:r>
          </a:p>
        </p:txBody>
      </p:sp>
      <p:sp>
        <p:nvSpPr>
          <p:cNvPr id="70" name="텍스트 개체 틀 4"/>
          <p:cNvSpPr>
            <a:spLocks noGrp="1"/>
          </p:cNvSpPr>
          <p:nvPr>
            <p:ph type="body" sz="quarter" idx="25" hasCustomPrompt="1"/>
          </p:nvPr>
        </p:nvSpPr>
        <p:spPr>
          <a:xfrm>
            <a:off x="1055592" y="2606858"/>
            <a:ext cx="10071850" cy="718952"/>
          </a:xfrm>
          <a:ln w="28575">
            <a:noFill/>
          </a:ln>
        </p:spPr>
        <p:txBody>
          <a:bodyPr anchor="ctr">
            <a:normAutofit/>
          </a:bodyPr>
          <a:lstStyle>
            <a:lvl1pPr marL="0" indent="0">
              <a:buNone/>
              <a:defRPr sz="2800" b="0" baseline="0">
                <a:ln>
                  <a:solidFill>
                    <a:schemeClr val="bg2">
                      <a:lumMod val="2500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ko-KR" altLang="en-US" dirty="0"/>
              <a:t>제목</a:t>
            </a:r>
          </a:p>
        </p:txBody>
      </p:sp>
      <p:sp>
        <p:nvSpPr>
          <p:cNvPr id="76" name="텍스트 개체 틀 4"/>
          <p:cNvSpPr>
            <a:spLocks noGrp="1"/>
          </p:cNvSpPr>
          <p:nvPr>
            <p:ph type="body" sz="quarter" idx="27" hasCustomPrompt="1"/>
          </p:nvPr>
        </p:nvSpPr>
        <p:spPr>
          <a:xfrm>
            <a:off x="1055592" y="3526039"/>
            <a:ext cx="10071850" cy="718952"/>
          </a:xfrm>
          <a:ln w="28575">
            <a:noFill/>
          </a:ln>
        </p:spPr>
        <p:txBody>
          <a:bodyPr anchor="ctr">
            <a:normAutofit/>
          </a:bodyPr>
          <a:lstStyle>
            <a:lvl1pPr marL="0" indent="0">
              <a:buNone/>
              <a:defRPr sz="2800" b="0" baseline="0">
                <a:ln>
                  <a:solidFill>
                    <a:schemeClr val="bg2">
                      <a:lumMod val="2500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ko-KR" altLang="en-US" dirty="0"/>
              <a:t>제목</a:t>
            </a:r>
          </a:p>
        </p:txBody>
      </p:sp>
      <p:sp>
        <p:nvSpPr>
          <p:cNvPr id="79" name="텍스트 개체 틀 4"/>
          <p:cNvSpPr>
            <a:spLocks noGrp="1"/>
          </p:cNvSpPr>
          <p:nvPr>
            <p:ph type="body" sz="quarter" idx="29" hasCustomPrompt="1"/>
          </p:nvPr>
        </p:nvSpPr>
        <p:spPr>
          <a:xfrm>
            <a:off x="1055593" y="4441880"/>
            <a:ext cx="10071849" cy="718952"/>
          </a:xfrm>
          <a:ln w="28575">
            <a:noFill/>
          </a:ln>
        </p:spPr>
        <p:txBody>
          <a:bodyPr anchor="ctr">
            <a:normAutofit/>
          </a:bodyPr>
          <a:lstStyle>
            <a:lvl1pPr marL="0" indent="0">
              <a:buNone/>
              <a:defRPr sz="2800" b="0" baseline="0">
                <a:ln>
                  <a:solidFill>
                    <a:schemeClr val="bg2">
                      <a:lumMod val="2500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ko-KR" altLang="en-US" dirty="0"/>
              <a:t>제목</a:t>
            </a:r>
          </a:p>
        </p:txBody>
      </p:sp>
      <p:sp>
        <p:nvSpPr>
          <p:cNvPr id="11" name="모서리가 둥근 직사각형 19">
            <a:extLst>
              <a:ext uri="{FF2B5EF4-FFF2-40B4-BE49-F238E27FC236}">
                <a16:creationId xmlns:a16="http://schemas.microsoft.com/office/drawing/2014/main" id="{9A1001AF-7C71-4701-94B0-3772F84D3418}"/>
              </a:ext>
            </a:extLst>
          </p:cNvPr>
          <p:cNvSpPr/>
          <p:nvPr userDrawn="1"/>
        </p:nvSpPr>
        <p:spPr>
          <a:xfrm>
            <a:off x="1064556" y="1691018"/>
            <a:ext cx="10062886" cy="715612"/>
          </a:xfrm>
          <a:prstGeom prst="roundRect">
            <a:avLst/>
          </a:prstGeom>
          <a:noFill/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모서리가 둥근 직사각형 19">
            <a:extLst>
              <a:ext uri="{FF2B5EF4-FFF2-40B4-BE49-F238E27FC236}">
                <a16:creationId xmlns:a16="http://schemas.microsoft.com/office/drawing/2014/main" id="{D9E18A4C-9D39-4312-9D41-EA0FA0703DAD}"/>
              </a:ext>
            </a:extLst>
          </p:cNvPr>
          <p:cNvSpPr/>
          <p:nvPr userDrawn="1"/>
        </p:nvSpPr>
        <p:spPr>
          <a:xfrm>
            <a:off x="1064556" y="2603620"/>
            <a:ext cx="10062886" cy="715612"/>
          </a:xfrm>
          <a:prstGeom prst="roundRect">
            <a:avLst/>
          </a:prstGeom>
          <a:noFill/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모서리가 둥근 직사각형 19">
            <a:extLst>
              <a:ext uri="{FF2B5EF4-FFF2-40B4-BE49-F238E27FC236}">
                <a16:creationId xmlns:a16="http://schemas.microsoft.com/office/drawing/2014/main" id="{DD43020D-DDFD-4ED7-A112-51545002358E}"/>
              </a:ext>
            </a:extLst>
          </p:cNvPr>
          <p:cNvSpPr/>
          <p:nvPr userDrawn="1"/>
        </p:nvSpPr>
        <p:spPr>
          <a:xfrm>
            <a:off x="1064556" y="3532617"/>
            <a:ext cx="10062886" cy="715612"/>
          </a:xfrm>
          <a:prstGeom prst="roundRect">
            <a:avLst/>
          </a:prstGeom>
          <a:noFill/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모서리가 둥근 직사각형 19">
            <a:extLst>
              <a:ext uri="{FF2B5EF4-FFF2-40B4-BE49-F238E27FC236}">
                <a16:creationId xmlns:a16="http://schemas.microsoft.com/office/drawing/2014/main" id="{7B5C337D-B310-4C62-8229-6DD25DC8C899}"/>
              </a:ext>
            </a:extLst>
          </p:cNvPr>
          <p:cNvSpPr/>
          <p:nvPr userDrawn="1"/>
        </p:nvSpPr>
        <p:spPr>
          <a:xfrm>
            <a:off x="1064556" y="4445220"/>
            <a:ext cx="10062886" cy="715612"/>
          </a:xfrm>
          <a:prstGeom prst="roundRect">
            <a:avLst/>
          </a:prstGeom>
          <a:noFill/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91475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종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 userDrawn="1"/>
        </p:nvSpPr>
        <p:spPr>
          <a:xfrm>
            <a:off x="0" y="2767280"/>
            <a:ext cx="12191999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sz="8000" dirty="0">
                <a:latin typeface="+mj-lt"/>
              </a:rPr>
              <a:t>Q &amp; A</a:t>
            </a:r>
            <a:endParaRPr lang="ko-KR" altLang="en-US" sz="80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3294381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941843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8DAAC8-442A-4C15-9819-F07FF5E73150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966651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9" r:id="rId3"/>
    <p:sldLayoutId id="2147483670" r:id="rId4"/>
  </p:sldLayoutIdLst>
  <p:hf sldNum="0"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Relationship Id="rId9" Type="http://schemas.openxmlformats.org/officeDocument/2006/relationships/image" Target="../media/image2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Lightweight Fault Attack Resistance in Software Using Intra-Instruction Redundancy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/>
              <a:t>송민호</a:t>
            </a:r>
            <a:endParaRPr lang="en-US" altLang="ko-KR" dirty="0"/>
          </a:p>
          <a:p>
            <a:r>
              <a:rPr lang="ko-KR" altLang="en-US" dirty="0"/>
              <a:t>주소</a:t>
            </a:r>
            <a:r>
              <a:rPr lang="en-US" altLang="ko-KR"/>
              <a:t>: https://youtu.be/t71iXTpazUg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063222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ko-Kore-KR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7844" b="7844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>
              <a:alpha val="92000"/>
            </a:srgbClr>
          </a:solidFill>
          <a:ln/>
        </p:spPr>
        <p:txBody>
          <a:bodyPr/>
          <a:lstStyle/>
          <a:p>
            <a:endParaRPr lang="ko-Kore-KR" altLang="en-US"/>
          </a:p>
        </p:txBody>
      </p:sp>
      <p:sp>
        <p:nvSpPr>
          <p:cNvPr id="5" name="Shape 2"/>
          <p:cNvSpPr/>
          <p:nvPr/>
        </p:nvSpPr>
        <p:spPr>
          <a:xfrm>
            <a:off x="761695" y="480060"/>
            <a:ext cx="2600554" cy="267005"/>
          </a:xfrm>
          <a:prstGeom prst="roundRect">
            <a:avLst>
              <a:gd name="adj" fmla="val 342465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ko-Kore-KR" altLang="en-US"/>
          </a:p>
        </p:txBody>
      </p:sp>
      <p:sp>
        <p:nvSpPr>
          <p:cNvPr id="6" name="Shape 3"/>
          <p:cNvSpPr/>
          <p:nvPr/>
        </p:nvSpPr>
        <p:spPr>
          <a:xfrm>
            <a:off x="761695" y="2708453"/>
            <a:ext cx="1143000" cy="57607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ko-Kore-KR" altLang="en-US"/>
          </a:p>
        </p:txBody>
      </p:sp>
      <p:sp>
        <p:nvSpPr>
          <p:cNvPr id="7" name="Shape 4"/>
          <p:cNvSpPr/>
          <p:nvPr/>
        </p:nvSpPr>
        <p:spPr>
          <a:xfrm>
            <a:off x="761695" y="4366260"/>
            <a:ext cx="8572500" cy="2018995"/>
          </a:xfrm>
          <a:prstGeom prst="rect">
            <a:avLst/>
          </a:prstGeom>
          <a:solidFill>
            <a:srgbClr val="3B82F6">
              <a:alpha val="10000"/>
            </a:srgbClr>
          </a:solidFill>
          <a:ln/>
        </p:spPr>
        <p:txBody>
          <a:bodyPr/>
          <a:lstStyle/>
          <a:p>
            <a:endParaRPr lang="ko-Kore-KR" altLang="en-US"/>
          </a:p>
        </p:txBody>
      </p:sp>
      <p:sp>
        <p:nvSpPr>
          <p:cNvPr id="8" name="Shape 5"/>
          <p:cNvSpPr/>
          <p:nvPr/>
        </p:nvSpPr>
        <p:spPr>
          <a:xfrm>
            <a:off x="761695" y="4366260"/>
            <a:ext cx="38405" cy="2018995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ko-Kore-KR" alt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rcRect l="-9102" r="-9102"/>
          <a:stretch/>
        </p:blipFill>
        <p:spPr>
          <a:xfrm>
            <a:off x="1028700" y="4977994"/>
            <a:ext cx="228600" cy="171907"/>
          </a:xfrm>
          <a:prstGeom prst="rect">
            <a:avLst/>
          </a:prstGeom>
        </p:spPr>
      </p:pic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rcRect l="-16489" r="-16489"/>
          <a:stretch/>
        </p:blipFill>
        <p:spPr>
          <a:xfrm>
            <a:off x="5296205" y="4977994"/>
            <a:ext cx="228600" cy="171907"/>
          </a:xfrm>
          <a:prstGeom prst="rect">
            <a:avLst/>
          </a:prstGeom>
        </p:spPr>
      </p:pic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rcRect l="-16489" r="-16489"/>
          <a:stretch/>
        </p:blipFill>
        <p:spPr>
          <a:xfrm>
            <a:off x="1028700" y="5419649"/>
            <a:ext cx="228600" cy="171907"/>
          </a:xfrm>
          <a:prstGeom prst="rect">
            <a:avLst/>
          </a:prstGeom>
        </p:spPr>
      </p:pic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7"/>
          <a:srcRect l="-25988" r="-25988"/>
          <a:stretch/>
        </p:blipFill>
        <p:spPr>
          <a:xfrm>
            <a:off x="5296205" y="5419649"/>
            <a:ext cx="228600" cy="171907"/>
          </a:xfrm>
          <a:prstGeom prst="rect">
            <a:avLst/>
          </a:prstGeom>
        </p:spPr>
      </p:pic>
      <p:pic>
        <p:nvPicPr>
          <p:cNvPr id="13" name="Image 5" descr="preencoded.png"/>
          <p:cNvPicPr>
            <a:picLocks noChangeAspect="1"/>
          </p:cNvPicPr>
          <p:nvPr/>
        </p:nvPicPr>
        <p:blipFill>
          <a:blip r:embed="rId8"/>
          <a:srcRect l="-16489" r="-16489"/>
          <a:stretch/>
        </p:blipFill>
        <p:spPr>
          <a:xfrm>
            <a:off x="1028700" y="5861304"/>
            <a:ext cx="228600" cy="171907"/>
          </a:xfrm>
          <a:prstGeom prst="rect">
            <a:avLst/>
          </a:prstGeom>
        </p:spPr>
      </p:pic>
      <p:sp>
        <p:nvSpPr>
          <p:cNvPr id="14" name="Text 6"/>
          <p:cNvSpPr txBox="1"/>
          <p:nvPr/>
        </p:nvSpPr>
        <p:spPr>
          <a:xfrm>
            <a:off x="875995" y="518465"/>
            <a:ext cx="24725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IEEE TRANSACTION PAPER REVIEW</a:t>
            </a:r>
            <a:endParaRPr lang="en-US" sz="1000" dirty="0"/>
          </a:p>
        </p:txBody>
      </p:sp>
      <p:sp>
        <p:nvSpPr>
          <p:cNvPr id="15" name="Text 7"/>
          <p:cNvSpPr txBox="1"/>
          <p:nvPr/>
        </p:nvSpPr>
        <p:spPr>
          <a:xfrm>
            <a:off x="3512210" y="499262"/>
            <a:ext cx="15051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Section 4 Analysis</a:t>
            </a:r>
            <a:endParaRPr lang="en-US" sz="1200" dirty="0"/>
          </a:p>
        </p:txBody>
      </p:sp>
      <p:sp>
        <p:nvSpPr>
          <p:cNvPr id="16" name="Text 8"/>
          <p:cNvSpPr txBox="1"/>
          <p:nvPr/>
        </p:nvSpPr>
        <p:spPr>
          <a:xfrm>
            <a:off x="761695" y="918058"/>
            <a:ext cx="6496812" cy="829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명령어 내 중복성을 이용한</a:t>
            </a:r>
            <a:endParaRPr lang="en-US" sz="4500" dirty="0"/>
          </a:p>
        </p:txBody>
      </p:sp>
      <p:sp>
        <p:nvSpPr>
          <p:cNvPr id="17" name="Text 9"/>
          <p:cNvSpPr txBox="1"/>
          <p:nvPr/>
        </p:nvSpPr>
        <p:spPr>
          <a:xfrm>
            <a:off x="761695" y="1632204"/>
            <a:ext cx="6134710" cy="829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경량 결함 공격 방어 기법</a:t>
            </a:r>
            <a:endParaRPr lang="en-US" sz="4500" dirty="0"/>
          </a:p>
        </p:txBody>
      </p:sp>
      <p:sp>
        <p:nvSpPr>
          <p:cNvPr id="18" name="Text 10"/>
          <p:cNvSpPr txBox="1"/>
          <p:nvPr/>
        </p:nvSpPr>
        <p:spPr>
          <a:xfrm>
            <a:off x="761695" y="3137306"/>
            <a:ext cx="8554212" cy="543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Lightweight Fault Attack Resistance in Software Using Intra-Instruction Redundancy Conor Patrick et al., Virginia Tech</a:t>
            </a:r>
            <a:endParaRPr lang="en-US" sz="1500" dirty="0"/>
          </a:p>
        </p:txBody>
      </p:sp>
      <p:sp>
        <p:nvSpPr>
          <p:cNvPr id="19" name="Text 11"/>
          <p:cNvSpPr txBox="1"/>
          <p:nvPr/>
        </p:nvSpPr>
        <p:spPr>
          <a:xfrm>
            <a:off x="1028700" y="4566514"/>
            <a:ext cx="2539289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PRESENTATION OVERVIEW</a:t>
            </a:r>
            <a:endParaRPr lang="en-US" sz="1300" dirty="0"/>
          </a:p>
        </p:txBody>
      </p:sp>
      <p:sp>
        <p:nvSpPr>
          <p:cNvPr id="20" name="Text 12"/>
          <p:cNvSpPr txBox="1"/>
          <p:nvPr/>
        </p:nvSpPr>
        <p:spPr>
          <a:xfrm>
            <a:off x="1257300" y="4937760"/>
            <a:ext cx="2269541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4.1 비트슬라이싱 (Bit-slicing)</a:t>
            </a:r>
            <a:endParaRPr lang="en-US" sz="1300" dirty="0"/>
          </a:p>
        </p:txBody>
      </p:sp>
      <p:sp>
        <p:nvSpPr>
          <p:cNvPr id="21" name="Text 13"/>
          <p:cNvSpPr txBox="1"/>
          <p:nvPr/>
        </p:nvSpPr>
        <p:spPr>
          <a:xfrm>
            <a:off x="5524805" y="4937760"/>
            <a:ext cx="2554834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4.4 셔플링 파이프라인 (Shuffling)</a:t>
            </a:r>
            <a:endParaRPr lang="en-US" sz="1300" dirty="0"/>
          </a:p>
        </p:txBody>
      </p:sp>
      <p:sp>
        <p:nvSpPr>
          <p:cNvPr id="22" name="Text 14"/>
          <p:cNvSpPr txBox="1"/>
          <p:nvPr/>
        </p:nvSpPr>
        <p:spPr>
          <a:xfrm>
            <a:off x="1257300" y="5379415"/>
            <a:ext cx="2421331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4.2 IIR 구조 (B / B' / KC Slices)</a:t>
            </a:r>
            <a:endParaRPr lang="en-US" sz="1300" dirty="0"/>
          </a:p>
        </p:txBody>
      </p:sp>
      <p:sp>
        <p:nvSpPr>
          <p:cNvPr id="23" name="Text 15"/>
          <p:cNvSpPr txBox="1"/>
          <p:nvPr/>
        </p:nvSpPr>
        <p:spPr>
          <a:xfrm>
            <a:off x="5524805" y="5379415"/>
            <a:ext cx="3097987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4.5 비교 없는 오류 처리 (Fault Handling)</a:t>
            </a:r>
            <a:endParaRPr lang="en-US" sz="1300" dirty="0"/>
          </a:p>
        </p:txBody>
      </p:sp>
      <p:sp>
        <p:nvSpPr>
          <p:cNvPr id="24" name="Text 16"/>
          <p:cNvSpPr txBox="1"/>
          <p:nvPr/>
        </p:nvSpPr>
        <p:spPr>
          <a:xfrm>
            <a:off x="1257300" y="5821985"/>
            <a:ext cx="2583180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4.3 파이프라인 IIR (Pipelined IIR)</a:t>
            </a:r>
            <a:endParaRPr lang="en-US" sz="1300" dirty="0"/>
          </a:p>
        </p:txBody>
      </p:sp>
      <p:sp>
        <p:nvSpPr>
          <p:cNvPr id="25" name="Shape 17"/>
          <p:cNvSpPr/>
          <p:nvPr/>
        </p:nvSpPr>
        <p:spPr>
          <a:xfrm>
            <a:off x="761695" y="5971946"/>
            <a:ext cx="10668305" cy="9144"/>
          </a:xfrm>
          <a:prstGeom prst="rect">
            <a:avLst/>
          </a:prstGeom>
          <a:solidFill>
            <a:srgbClr val="374151"/>
          </a:solidFill>
          <a:ln/>
        </p:spPr>
        <p:txBody>
          <a:bodyPr/>
          <a:lstStyle/>
          <a:p>
            <a:endParaRPr lang="ko-Kore-KR" altLang="en-US"/>
          </a:p>
        </p:txBody>
      </p:sp>
      <p:sp>
        <p:nvSpPr>
          <p:cNvPr id="26" name="Text 18"/>
          <p:cNvSpPr txBox="1"/>
          <p:nvPr/>
        </p:nvSpPr>
        <p:spPr>
          <a:xfrm>
            <a:off x="761695" y="6210605"/>
            <a:ext cx="22722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Design Brand: IEEE Academic Style</a:t>
            </a:r>
            <a:endParaRPr lang="en-US" sz="1000" dirty="0"/>
          </a:p>
        </p:txBody>
      </p:sp>
      <p:sp>
        <p:nvSpPr>
          <p:cNvPr id="27" name="Text 19"/>
          <p:cNvSpPr txBox="1"/>
          <p:nvPr/>
        </p:nvSpPr>
        <p:spPr>
          <a:xfrm>
            <a:off x="9546336" y="6210605"/>
            <a:ext cx="198607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Created by GenSpark AI Slides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ko-Kore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ore-KR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972007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ko-Kore-KR" altLang="en-US"/>
          </a:p>
        </p:txBody>
      </p:sp>
      <p:sp>
        <p:nvSpPr>
          <p:cNvPr id="5" name="Shape 3"/>
          <p:cNvSpPr/>
          <p:nvPr/>
        </p:nvSpPr>
        <p:spPr>
          <a:xfrm>
            <a:off x="0" y="933602"/>
            <a:ext cx="12191695" cy="38405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ko-Kore-KR" altLang="en-US"/>
          </a:p>
        </p:txBody>
      </p:sp>
      <p:sp>
        <p:nvSpPr>
          <p:cNvPr id="6" name="Shape 4"/>
          <p:cNvSpPr/>
          <p:nvPr/>
        </p:nvSpPr>
        <p:spPr>
          <a:xfrm>
            <a:off x="381305" y="286207"/>
            <a:ext cx="866851" cy="362102"/>
          </a:xfrm>
          <a:prstGeom prst="roundRect">
            <a:avLst>
              <a:gd name="adj" fmla="val 39872"/>
            </a:avLst>
          </a:prstGeom>
          <a:solidFill>
            <a:srgbClr val="3B82F6">
              <a:alpha val="20000"/>
            </a:srgbClr>
          </a:solidFill>
          <a:ln/>
        </p:spPr>
        <p:txBody>
          <a:bodyPr/>
          <a:lstStyle/>
          <a:p>
            <a:endParaRPr lang="ko-Kore-KR" altLang="en-US"/>
          </a:p>
        </p:txBody>
      </p:sp>
      <p:sp>
        <p:nvSpPr>
          <p:cNvPr id="7" name="Text 5"/>
          <p:cNvSpPr txBox="1"/>
          <p:nvPr/>
        </p:nvSpPr>
        <p:spPr>
          <a:xfrm>
            <a:off x="495605" y="286207"/>
            <a:ext cx="667512" cy="352958"/>
          </a:xfrm>
          <a:prstGeom prst="rect">
            <a:avLst/>
          </a:prstGeom>
          <a:solidFill>
            <a:srgbClr val="3B82F6">
              <a:alpha val="20000"/>
            </a:srgbClr>
          </a:solidFill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4.1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353312" y="228600"/>
            <a:ext cx="4638751" cy="476402"/>
          </a:xfrm>
          <a:prstGeom prst="rect">
            <a:avLst/>
          </a:prstGeom>
          <a:solidFill>
            <a:srgbClr val="3B82F6">
              <a:alpha val="20000"/>
            </a:srgbClr>
          </a:solidFill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비트슬라이싱 기본 개념 (Bit-slicing)</a:t>
            </a:r>
            <a:endParaRPr lang="en-US" sz="2100" dirty="0"/>
          </a:p>
        </p:txBody>
      </p:sp>
      <p:sp>
        <p:nvSpPr>
          <p:cNvPr id="9" name="Text 7"/>
          <p:cNvSpPr txBox="1"/>
          <p:nvPr/>
        </p:nvSpPr>
        <p:spPr>
          <a:xfrm>
            <a:off x="9841687" y="371246"/>
            <a:ext cx="20720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3C5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IEEE Transaction Paper Review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0" y="972007"/>
            <a:ext cx="12191695" cy="5886907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ko-Kore-KR" altLang="en-US"/>
          </a:p>
        </p:txBody>
      </p:sp>
      <p:sp>
        <p:nvSpPr>
          <p:cNvPr id="11" name="Shape 9"/>
          <p:cNvSpPr/>
          <p:nvPr/>
        </p:nvSpPr>
        <p:spPr>
          <a:xfrm>
            <a:off x="381305" y="1276502"/>
            <a:ext cx="5971946" cy="5277002"/>
          </a:xfrm>
          <a:prstGeom prst="roundRect">
            <a:avLst>
              <a:gd name="adj" fmla="val 375"/>
            </a:avLst>
          </a:prstGeom>
          <a:solidFill>
            <a:srgbClr val="FFFFFF"/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ore-KR" altLang="en-US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rcRect l="220" r="220"/>
          <a:stretch/>
        </p:blipFill>
        <p:spPr>
          <a:xfrm>
            <a:off x="679399" y="2447849"/>
            <a:ext cx="5372100" cy="2381098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623621" y="4981651"/>
            <a:ext cx="5586984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Figure 1. 32개 블록의 데이터를 비트 단위로 전치(Transpose)하여128개의 32비트 워드에 매핑하는 과정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730898" y="1543507"/>
            <a:ext cx="5086807" cy="1047902"/>
          </a:xfrm>
          <a:prstGeom prst="roundRect">
            <a:avLst>
              <a:gd name="adj" fmla="val 7933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ore-KR" altLang="en-US"/>
          </a:p>
        </p:txBody>
      </p:sp>
      <p:sp>
        <p:nvSpPr>
          <p:cNvPr id="15" name="Shape 12"/>
          <p:cNvSpPr/>
          <p:nvPr/>
        </p:nvSpPr>
        <p:spPr>
          <a:xfrm>
            <a:off x="6730898" y="1543507"/>
            <a:ext cx="47549" cy="1047902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ko-Kore-KR" altLang="en-US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969557" y="1805026"/>
            <a:ext cx="190195" cy="190195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7312457" y="1714500"/>
            <a:ext cx="1902866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전치 (Transpose)</a:t>
            </a:r>
            <a:endParaRPr lang="en-US" sz="1200" dirty="0"/>
          </a:p>
        </p:txBody>
      </p:sp>
      <p:sp>
        <p:nvSpPr>
          <p:cNvPr id="18" name="Text 14"/>
          <p:cNvSpPr txBox="1"/>
          <p:nvPr/>
        </p:nvSpPr>
        <p:spPr>
          <a:xfrm>
            <a:off x="7312457" y="2014423"/>
            <a:ext cx="4326941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입력 블록을 비트 단위로 전치하여 프로세서 워드의 각 비트가 서로 다른 블록의 동일 위치 비트를 담도록 구성합니다.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6730898" y="2776118"/>
            <a:ext cx="5086807" cy="1047902"/>
          </a:xfrm>
          <a:prstGeom prst="roundRect">
            <a:avLst>
              <a:gd name="adj" fmla="val 7933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ore-KR" altLang="en-US"/>
          </a:p>
        </p:txBody>
      </p:sp>
      <p:sp>
        <p:nvSpPr>
          <p:cNvPr id="20" name="Shape 16"/>
          <p:cNvSpPr/>
          <p:nvPr/>
        </p:nvSpPr>
        <p:spPr>
          <a:xfrm>
            <a:off x="6730898" y="2776118"/>
            <a:ext cx="47549" cy="1047902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ko-Kore-KR" altLang="en-US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973214" y="3038551"/>
            <a:ext cx="190195" cy="190195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7319772" y="2948026"/>
            <a:ext cx="1255471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병렬 처리 효율성</a:t>
            </a:r>
            <a:endParaRPr lang="en-US" sz="1200" dirty="0"/>
          </a:p>
        </p:txBody>
      </p:sp>
      <p:sp>
        <p:nvSpPr>
          <p:cNvPr id="23" name="Text 18"/>
          <p:cNvSpPr txBox="1"/>
          <p:nvPr/>
        </p:nvSpPr>
        <p:spPr>
          <a:xfrm>
            <a:off x="7319772" y="3247949"/>
            <a:ext cx="3994099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32비트 프로세서에서 32개의 블록을 동시에 연산 처리하여 처리량(Throughput)을 극대화합니다.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6730898" y="4009644"/>
            <a:ext cx="5086807" cy="1047902"/>
          </a:xfrm>
          <a:prstGeom prst="roundRect">
            <a:avLst>
              <a:gd name="adj" fmla="val 7933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ore-KR" altLang="en-US"/>
          </a:p>
        </p:txBody>
      </p:sp>
      <p:sp>
        <p:nvSpPr>
          <p:cNvPr id="25" name="Shape 20"/>
          <p:cNvSpPr/>
          <p:nvPr/>
        </p:nvSpPr>
        <p:spPr>
          <a:xfrm>
            <a:off x="6730898" y="4009644"/>
            <a:ext cx="47549" cy="1047902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ko-Kore-KR" altLang="en-US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969557" y="4272077"/>
            <a:ext cx="190195" cy="190195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7312457" y="4181551"/>
            <a:ext cx="1741018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LUT 제거 (S-box 분해)</a:t>
            </a:r>
            <a:endParaRPr lang="en-US" sz="1200" dirty="0"/>
          </a:p>
        </p:txBody>
      </p:sp>
      <p:sp>
        <p:nvSpPr>
          <p:cNvPr id="28" name="Text 22"/>
          <p:cNvSpPr txBox="1"/>
          <p:nvPr/>
        </p:nvSpPr>
        <p:spPr>
          <a:xfrm>
            <a:off x="7312457" y="4481474"/>
            <a:ext cx="440375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S-box와 같은 비선형 연산을 논리 게이트(AND, XOR)로 분해하여 구현함으로써, 메모리 룩업 테이블(LUT) 사용을 완전히 배제합니다.</a:t>
            </a:r>
            <a:endParaRPr lang="en-US" sz="1100" dirty="0"/>
          </a:p>
        </p:txBody>
      </p:sp>
      <p:sp>
        <p:nvSpPr>
          <p:cNvPr id="29" name="Shape 23"/>
          <p:cNvSpPr/>
          <p:nvPr/>
        </p:nvSpPr>
        <p:spPr>
          <a:xfrm>
            <a:off x="6730898" y="5243170"/>
            <a:ext cx="5086807" cy="1047902"/>
          </a:xfrm>
          <a:prstGeom prst="roundRect">
            <a:avLst>
              <a:gd name="adj" fmla="val 7933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ore-KR" altLang="en-US"/>
          </a:p>
        </p:txBody>
      </p:sp>
      <p:sp>
        <p:nvSpPr>
          <p:cNvPr id="30" name="Shape 24"/>
          <p:cNvSpPr/>
          <p:nvPr/>
        </p:nvSpPr>
        <p:spPr>
          <a:xfrm>
            <a:off x="6730898" y="5243170"/>
            <a:ext cx="47549" cy="1047902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ko-Kore-KR" altLang="en-US"/>
          </a:p>
        </p:txBody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969557" y="5505602"/>
            <a:ext cx="190195" cy="190195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7312457" y="5415077"/>
            <a:ext cx="2217420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보안상 이점 (타이밍 공격 방어)</a:t>
            </a:r>
            <a:endParaRPr lang="en-US" sz="1200" dirty="0"/>
          </a:p>
        </p:txBody>
      </p:sp>
      <p:sp>
        <p:nvSpPr>
          <p:cNvPr id="33" name="Text 26"/>
          <p:cNvSpPr txBox="1"/>
          <p:nvPr/>
        </p:nvSpPr>
        <p:spPr>
          <a:xfrm>
            <a:off x="7312457" y="5715000"/>
            <a:ext cx="4422038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의존적인 메모리 접근(LUT Lookups)이 제거되어, 캐시 타이밍 공격(Cache Timing Attack)에 대해 구조적인 내성을 가집니다.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ko-Kore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ore-KR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972007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ko-Kore-KR" altLang="en-US"/>
          </a:p>
        </p:txBody>
      </p:sp>
      <p:sp>
        <p:nvSpPr>
          <p:cNvPr id="5" name="Shape 3"/>
          <p:cNvSpPr/>
          <p:nvPr/>
        </p:nvSpPr>
        <p:spPr>
          <a:xfrm>
            <a:off x="0" y="933602"/>
            <a:ext cx="12191695" cy="38405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ko-Kore-KR" altLang="en-US"/>
          </a:p>
        </p:txBody>
      </p:sp>
      <p:sp>
        <p:nvSpPr>
          <p:cNvPr id="6" name="Shape 4"/>
          <p:cNvSpPr/>
          <p:nvPr/>
        </p:nvSpPr>
        <p:spPr>
          <a:xfrm>
            <a:off x="381305" y="286207"/>
            <a:ext cx="866851" cy="362102"/>
          </a:xfrm>
          <a:prstGeom prst="roundRect">
            <a:avLst>
              <a:gd name="adj" fmla="val 39872"/>
            </a:avLst>
          </a:prstGeom>
          <a:solidFill>
            <a:srgbClr val="3B82F6">
              <a:alpha val="20000"/>
            </a:srgbClr>
          </a:solidFill>
          <a:ln/>
        </p:spPr>
        <p:txBody>
          <a:bodyPr/>
          <a:lstStyle/>
          <a:p>
            <a:endParaRPr lang="ko-Kore-KR" altLang="en-US"/>
          </a:p>
        </p:txBody>
      </p:sp>
      <p:sp>
        <p:nvSpPr>
          <p:cNvPr id="7" name="Text 5"/>
          <p:cNvSpPr txBox="1"/>
          <p:nvPr/>
        </p:nvSpPr>
        <p:spPr>
          <a:xfrm>
            <a:off x="495605" y="286207"/>
            <a:ext cx="667512" cy="352958"/>
          </a:xfrm>
          <a:prstGeom prst="rect">
            <a:avLst/>
          </a:prstGeom>
          <a:solidFill>
            <a:srgbClr val="3B82F6">
              <a:alpha val="20000"/>
            </a:srgbClr>
          </a:solidFill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4.2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353312" y="228600"/>
            <a:ext cx="5534863" cy="476402"/>
          </a:xfrm>
          <a:prstGeom prst="rect">
            <a:avLst/>
          </a:prstGeom>
          <a:solidFill>
            <a:srgbClr val="3B82F6">
              <a:alpha val="20000"/>
            </a:srgbClr>
          </a:solidFill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Intra-Instruction Redundancy (IIR) 구조</a:t>
            </a:r>
            <a:endParaRPr lang="en-US" sz="2100" dirty="0"/>
          </a:p>
        </p:txBody>
      </p:sp>
      <p:sp>
        <p:nvSpPr>
          <p:cNvPr id="9" name="Text 7"/>
          <p:cNvSpPr txBox="1"/>
          <p:nvPr/>
        </p:nvSpPr>
        <p:spPr>
          <a:xfrm>
            <a:off x="9841687" y="371246"/>
            <a:ext cx="20720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3C5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IEEE Transaction Paper Review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0" y="972007"/>
            <a:ext cx="12191695" cy="5886907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ko-Kore-KR" altLang="en-US"/>
          </a:p>
        </p:txBody>
      </p:sp>
      <p:sp>
        <p:nvSpPr>
          <p:cNvPr id="11" name="Shape 9"/>
          <p:cNvSpPr/>
          <p:nvPr/>
        </p:nvSpPr>
        <p:spPr>
          <a:xfrm>
            <a:off x="381305" y="1778508"/>
            <a:ext cx="4858207" cy="1076249"/>
          </a:xfrm>
          <a:prstGeom prst="roundRect">
            <a:avLst>
              <a:gd name="adj" fmla="val 7519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ore-KR" altLang="en-US"/>
          </a:p>
        </p:txBody>
      </p:sp>
      <p:sp>
        <p:nvSpPr>
          <p:cNvPr id="12" name="Shape 10"/>
          <p:cNvSpPr/>
          <p:nvPr/>
        </p:nvSpPr>
        <p:spPr>
          <a:xfrm>
            <a:off x="381305" y="1778508"/>
            <a:ext cx="47549" cy="1076249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ko-Kore-KR" altLang="en-US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rcRect l="-1282" r="-1282"/>
          <a:stretch/>
        </p:blipFill>
        <p:spPr>
          <a:xfrm>
            <a:off x="623621" y="2040941"/>
            <a:ext cx="219456" cy="190195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1019556" y="1950415"/>
            <a:ext cx="3103474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3가지 슬라이스 유형 Data Redundant KC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1019556" y="2250338"/>
            <a:ext cx="403159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 (Data): 실제 데이터 처리 B' (Redundant): B의 복제본, 동일 연산 수행 KC (Known Ciphertext): 정답을 아는 검증용 데이터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381305" y="3078785"/>
            <a:ext cx="4858207" cy="1457554"/>
          </a:xfrm>
          <a:prstGeom prst="roundRect">
            <a:avLst>
              <a:gd name="adj" fmla="val 4100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ore-KR" altLang="en-US"/>
          </a:p>
        </p:txBody>
      </p:sp>
      <p:sp>
        <p:nvSpPr>
          <p:cNvPr id="17" name="Shape 14"/>
          <p:cNvSpPr/>
          <p:nvPr/>
        </p:nvSpPr>
        <p:spPr>
          <a:xfrm>
            <a:off x="381305" y="3078785"/>
            <a:ext cx="47549" cy="1457554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ko-Kore-KR" altLang="en-US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38251" y="3341218"/>
            <a:ext cx="190195" cy="190195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1019556" y="3250692"/>
            <a:ext cx="1408176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결함 탐지 메커니즘</a:t>
            </a:r>
            <a:endParaRPr lang="en-US" sz="1200" dirty="0"/>
          </a:p>
        </p:txBody>
      </p:sp>
      <p:sp>
        <p:nvSpPr>
          <p:cNvPr id="20" name="Text 16"/>
          <p:cNvSpPr txBox="1"/>
          <p:nvPr/>
        </p:nvSpPr>
        <p:spPr>
          <a:xfrm>
            <a:off x="1019556" y="3550615"/>
            <a:ext cx="315559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암호화 라운드 종료 시 결과를 비교하여 탐지합니다.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1019556" y="3764585"/>
            <a:ext cx="4048049" cy="599846"/>
          </a:xfrm>
          <a:prstGeom prst="roundRect">
            <a:avLst>
              <a:gd name="adj" fmla="val 9679"/>
            </a:avLst>
          </a:prstGeom>
          <a:solidFill>
            <a:srgbClr val="F9FAFB"/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22" name="Text 18"/>
          <p:cNvSpPr txBox="1"/>
          <p:nvPr/>
        </p:nvSpPr>
        <p:spPr>
          <a:xfrm>
            <a:off x="1104595" y="3850538"/>
            <a:ext cx="380299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B vs B': 연산 오류 / 데이터 변조 탐지 • KC Run-time vs KC Design-time: 명령어 스킵 탐지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381305" y="4764938"/>
            <a:ext cx="4858207" cy="1285646"/>
          </a:xfrm>
          <a:prstGeom prst="roundRect">
            <a:avLst>
              <a:gd name="adj" fmla="val 526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ore-KR" altLang="en-US"/>
          </a:p>
        </p:txBody>
      </p:sp>
      <p:sp>
        <p:nvSpPr>
          <p:cNvPr id="24" name="Shape 20"/>
          <p:cNvSpPr/>
          <p:nvPr/>
        </p:nvSpPr>
        <p:spPr>
          <a:xfrm>
            <a:off x="381305" y="4764938"/>
            <a:ext cx="47549" cy="1285646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ko-Kore-KR" altLang="en-US"/>
          </a:p>
        </p:txBody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38251" y="5026457"/>
            <a:ext cx="190195" cy="190195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1019556" y="4935931"/>
            <a:ext cx="2722169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Blind Spot 제거 (Randomized KC)</a:t>
            </a:r>
            <a:endParaRPr lang="en-US" sz="1200" dirty="0"/>
          </a:p>
        </p:txBody>
      </p:sp>
      <p:sp>
        <p:nvSpPr>
          <p:cNvPr id="27" name="Text 22"/>
          <p:cNvSpPr txBox="1"/>
          <p:nvPr/>
        </p:nvSpPr>
        <p:spPr>
          <a:xfrm>
            <a:off x="1019556" y="5236769"/>
            <a:ext cx="4117543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KC 검증에 사용할 Plaintext-Ciphertext Pair를 무작위로 선택합니다. 이를 통해 Instruction Fault가 KC 슬라이스에 영향을 주지 않는 사각지대(Blind Spot)를 제거합니다.</a:t>
            </a:r>
            <a:endParaRPr lang="en-US" sz="1100" dirty="0"/>
          </a:p>
        </p:txBody>
      </p:sp>
      <p:sp>
        <p:nvSpPr>
          <p:cNvPr id="28" name="Shape 23"/>
          <p:cNvSpPr/>
          <p:nvPr/>
        </p:nvSpPr>
        <p:spPr>
          <a:xfrm>
            <a:off x="5610758" y="1352398"/>
            <a:ext cx="6200546" cy="5124298"/>
          </a:xfrm>
          <a:prstGeom prst="roundRect">
            <a:avLst>
              <a:gd name="adj" fmla="val 398"/>
            </a:avLst>
          </a:prstGeom>
          <a:solidFill>
            <a:srgbClr val="FFFFFF"/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ore-KR" altLang="en-US"/>
          </a:p>
        </p:txBody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6"/>
          <a:srcRect l="434" r="434"/>
          <a:stretch/>
        </p:blipFill>
        <p:spPr>
          <a:xfrm>
            <a:off x="6039612" y="2776118"/>
            <a:ext cx="5343754" cy="1571854"/>
          </a:xfrm>
          <a:prstGeom prst="rect">
            <a:avLst/>
          </a:prstGeom>
        </p:spPr>
      </p:pic>
      <p:sp>
        <p:nvSpPr>
          <p:cNvPr id="30" name="Shape 24"/>
          <p:cNvSpPr/>
          <p:nvPr/>
        </p:nvSpPr>
        <p:spPr>
          <a:xfrm>
            <a:off x="6092647" y="4500677"/>
            <a:ext cx="5238598" cy="552298"/>
          </a:xfrm>
          <a:prstGeom prst="roundRect">
            <a:avLst>
              <a:gd name="adj" fmla="val 17127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 lang="ko-Kore-KR" altLang="en-US"/>
          </a:p>
        </p:txBody>
      </p:sp>
      <p:sp>
        <p:nvSpPr>
          <p:cNvPr id="31" name="Text 25"/>
          <p:cNvSpPr txBox="1"/>
          <p:nvPr/>
        </p:nvSpPr>
        <p:spPr>
          <a:xfrm>
            <a:off x="6260897" y="4576572"/>
            <a:ext cx="5005426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Figure 2. Intra-Instruction Redundancy를 적용한 비트슬라이싱 배치 15개의 데이터(B), 15개의 중복(B'), 2개의 Known Ciphertext(KC) 슬라이스가 혼재됨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ko-Kore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ore-KR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866851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ko-Kore-KR" altLang="en-US"/>
          </a:p>
        </p:txBody>
      </p:sp>
      <p:sp>
        <p:nvSpPr>
          <p:cNvPr id="5" name="Shape 3"/>
          <p:cNvSpPr/>
          <p:nvPr/>
        </p:nvSpPr>
        <p:spPr>
          <a:xfrm>
            <a:off x="0" y="828446"/>
            <a:ext cx="12191695" cy="38405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ko-Kore-KR" altLang="en-US"/>
          </a:p>
        </p:txBody>
      </p:sp>
      <p:sp>
        <p:nvSpPr>
          <p:cNvPr id="6" name="Shape 4"/>
          <p:cNvSpPr/>
          <p:nvPr/>
        </p:nvSpPr>
        <p:spPr>
          <a:xfrm>
            <a:off x="381305" y="247802"/>
            <a:ext cx="838505" cy="333756"/>
          </a:xfrm>
          <a:prstGeom prst="roundRect">
            <a:avLst>
              <a:gd name="adj" fmla="val 46967"/>
            </a:avLst>
          </a:prstGeom>
          <a:solidFill>
            <a:srgbClr val="3B82F6">
              <a:alpha val="20000"/>
            </a:srgbClr>
          </a:solidFill>
          <a:ln/>
        </p:spPr>
        <p:txBody>
          <a:bodyPr/>
          <a:lstStyle/>
          <a:p>
            <a:endParaRPr lang="ko-Kore-KR" altLang="en-US"/>
          </a:p>
        </p:txBody>
      </p:sp>
      <p:sp>
        <p:nvSpPr>
          <p:cNvPr id="7" name="Text 5"/>
          <p:cNvSpPr txBox="1"/>
          <p:nvPr/>
        </p:nvSpPr>
        <p:spPr>
          <a:xfrm>
            <a:off x="495605" y="247802"/>
            <a:ext cx="624535" cy="324612"/>
          </a:xfrm>
          <a:prstGeom prst="rect">
            <a:avLst/>
          </a:prstGeom>
          <a:solidFill>
            <a:srgbClr val="3B82F6">
              <a:alpha val="20000"/>
            </a:srgbClr>
          </a:solidFill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4.3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324966" y="190195"/>
            <a:ext cx="5596128" cy="448056"/>
          </a:xfrm>
          <a:prstGeom prst="rect">
            <a:avLst/>
          </a:prstGeom>
          <a:solidFill>
            <a:srgbClr val="3B82F6">
              <a:alpha val="20000"/>
            </a:srgbClr>
          </a:solidFill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파이프라인 IIR: 라운드의 공간화 (Pipelined IIR)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9841687" y="319126"/>
            <a:ext cx="20720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3C5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IEEE Transaction Paper Review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0" y="866851"/>
            <a:ext cx="12191695" cy="5991149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ko-Kore-KR" altLang="en-US"/>
          </a:p>
        </p:txBody>
      </p:sp>
      <p:sp>
        <p:nvSpPr>
          <p:cNvPr id="11" name="Shape 9"/>
          <p:cNvSpPr/>
          <p:nvPr/>
        </p:nvSpPr>
        <p:spPr>
          <a:xfrm>
            <a:off x="381305" y="1152144"/>
            <a:ext cx="11430000" cy="3105302"/>
          </a:xfrm>
          <a:prstGeom prst="roundRect">
            <a:avLst>
              <a:gd name="adj" fmla="val 1084"/>
            </a:avLst>
          </a:prstGeom>
          <a:solidFill>
            <a:srgbClr val="FFFFFF"/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ore-KR" altLang="en-US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rcRect l="291" r="291"/>
          <a:stretch/>
        </p:blipFill>
        <p:spPr>
          <a:xfrm>
            <a:off x="3396082" y="1542593"/>
            <a:ext cx="5400446" cy="2018995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2264054" y="3676802"/>
            <a:ext cx="776051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Figure 3. 파이프라인된 비트슬라이싱 레이아웃 각 3비트 세트(B, B', KC)가 서로 다른 라운드 키(RK0~9)와 매핑되어 서로 다른 라운드를 동시에 수행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381305" y="4480560"/>
            <a:ext cx="3657600" cy="2095805"/>
          </a:xfrm>
          <a:prstGeom prst="roundRect">
            <a:avLst>
              <a:gd name="adj" fmla="val 1983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ore-KR" altLang="en-US"/>
          </a:p>
        </p:txBody>
      </p:sp>
      <p:sp>
        <p:nvSpPr>
          <p:cNvPr id="15" name="Shape 12"/>
          <p:cNvSpPr/>
          <p:nvPr/>
        </p:nvSpPr>
        <p:spPr>
          <a:xfrm>
            <a:off x="381305" y="4480560"/>
            <a:ext cx="3657600" cy="38405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ko-Kore-KR" altLang="en-US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rcRect l="-33" r="-33"/>
          <a:stretch/>
        </p:blipFill>
        <p:spPr>
          <a:xfrm>
            <a:off x="571500" y="4747565"/>
            <a:ext cx="171907" cy="152705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743407" y="4709160"/>
            <a:ext cx="24387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라운드의 공간화 (Spatial Rounds)</a:t>
            </a:r>
            <a:endParaRPr lang="en-US" sz="1200" dirty="0"/>
          </a:p>
        </p:txBody>
      </p:sp>
      <p:sp>
        <p:nvSpPr>
          <p:cNvPr id="18" name="Text 14"/>
          <p:cNvSpPr txBox="1"/>
          <p:nvPr/>
        </p:nvSpPr>
        <p:spPr>
          <a:xfrm>
            <a:off x="571500" y="5062118"/>
            <a:ext cx="3357677" cy="8385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시간(Time)에 따라 진행되던 라운드를 공간(Space, 비트 위치)으로 분리합니다. 라운드 키를 비트 슬라이스에 정렬하여, 각 비트 위치가 서로 다른 암호화 라운드를 담당하게 됩니다.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4267505" y="4480560"/>
            <a:ext cx="3657600" cy="2095805"/>
          </a:xfrm>
          <a:prstGeom prst="roundRect">
            <a:avLst>
              <a:gd name="adj" fmla="val 1983"/>
            </a:avLst>
          </a:prstGeom>
          <a:solidFill>
            <a:srgbClr val="FFF1F2"/>
          </a:solidFill>
          <a:ln/>
          <a:effectLst>
            <a:outerShdw blurRad="38100" dist="254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ore-KR" altLang="en-US"/>
          </a:p>
        </p:txBody>
      </p:sp>
      <p:sp>
        <p:nvSpPr>
          <p:cNvPr id="20" name="Shape 16"/>
          <p:cNvSpPr/>
          <p:nvPr/>
        </p:nvSpPr>
        <p:spPr>
          <a:xfrm>
            <a:off x="4267505" y="4480560"/>
            <a:ext cx="3657600" cy="38405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ko-Kore-KR" altLang="en-US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457700" y="4747565"/>
            <a:ext cx="152705" cy="152705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4610405" y="4709160"/>
            <a:ext cx="16486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B9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정밀 공격 난이도 급상승</a:t>
            </a:r>
            <a:endParaRPr lang="en-US" sz="1200" dirty="0"/>
          </a:p>
        </p:txBody>
      </p:sp>
      <p:sp>
        <p:nvSpPr>
          <p:cNvPr id="23" name="Text 18"/>
          <p:cNvSpPr txBox="1"/>
          <p:nvPr/>
        </p:nvSpPr>
        <p:spPr>
          <a:xfrm>
            <a:off x="4457700" y="5062118"/>
            <a:ext cx="3348533" cy="8385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F1D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공격자가 특정 라운드를 공격하려면 해당 라운드가 매핑된 정확한 단일 비트를 Fault 해야 합니다. 단순 2비트 Fault로는 무력화가 불가능하며, 공격 복잡도가 기하급수적으로 증가합니다.</a:t>
            </a:r>
            <a:endParaRPr lang="en-US" sz="1000" dirty="0"/>
          </a:p>
        </p:txBody>
      </p:sp>
      <p:sp>
        <p:nvSpPr>
          <p:cNvPr id="24" name="Shape 19"/>
          <p:cNvSpPr/>
          <p:nvPr/>
        </p:nvSpPr>
        <p:spPr>
          <a:xfrm>
            <a:off x="8153705" y="4480560"/>
            <a:ext cx="3657600" cy="2095805"/>
          </a:xfrm>
          <a:prstGeom prst="roundRect">
            <a:avLst>
              <a:gd name="adj" fmla="val 1983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ore-KR" altLang="en-US"/>
          </a:p>
        </p:txBody>
      </p:sp>
      <p:sp>
        <p:nvSpPr>
          <p:cNvPr id="25" name="Shape 20"/>
          <p:cNvSpPr/>
          <p:nvPr/>
        </p:nvSpPr>
        <p:spPr>
          <a:xfrm>
            <a:off x="8153705" y="4480560"/>
            <a:ext cx="3657600" cy="38405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ko-Kore-KR" altLang="en-US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rcRect t="-180" b="-180"/>
          <a:stretch/>
        </p:blipFill>
        <p:spPr>
          <a:xfrm>
            <a:off x="8343900" y="4747565"/>
            <a:ext cx="190195" cy="152705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8534095" y="4709160"/>
            <a:ext cx="1810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라운드 차이 처리 (AES 등)</a:t>
            </a:r>
            <a:endParaRPr lang="en-US" sz="1200" dirty="0"/>
          </a:p>
        </p:txBody>
      </p:sp>
      <p:sp>
        <p:nvSpPr>
          <p:cNvPr id="28" name="Text 22"/>
          <p:cNvSpPr txBox="1"/>
          <p:nvPr/>
        </p:nvSpPr>
        <p:spPr>
          <a:xfrm>
            <a:off x="8343900" y="5062118"/>
            <a:ext cx="3262579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마지막 라운드 등 구성이 다른 단계 처리를 위한 마스킹 연산:</a:t>
            </a:r>
            <a:endParaRPr lang="en-US" sz="1000" dirty="0"/>
          </a:p>
        </p:txBody>
      </p:sp>
      <p:sp>
        <p:nvSpPr>
          <p:cNvPr id="29" name="Shape 23"/>
          <p:cNvSpPr/>
          <p:nvPr/>
        </p:nvSpPr>
        <p:spPr>
          <a:xfrm>
            <a:off x="8343900" y="5574182"/>
            <a:ext cx="3276295" cy="381305"/>
          </a:xfrm>
          <a:prstGeom prst="roundRect">
            <a:avLst>
              <a:gd name="adj" fmla="val 35971"/>
            </a:avLst>
          </a:prstGeom>
          <a:solidFill>
            <a:srgbClr val="1E293B"/>
          </a:solidFill>
          <a:ln/>
        </p:spPr>
        <p:txBody>
          <a:bodyPr/>
          <a:lstStyle/>
          <a:p>
            <a:endParaRPr lang="ko-Kore-KR" altLang="en-US"/>
          </a:p>
        </p:txBody>
      </p:sp>
      <p:sp>
        <p:nvSpPr>
          <p:cNvPr id="30" name="Text 24"/>
          <p:cNvSpPr txBox="1"/>
          <p:nvPr/>
        </p:nvSpPr>
        <p:spPr>
          <a:xfrm>
            <a:off x="8438998" y="5688482"/>
            <a:ext cx="1960474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 = (BS &amp; RM) | (B &amp; ~RM)</a:t>
            </a:r>
            <a:endParaRPr lang="en-US" sz="900" dirty="0"/>
          </a:p>
        </p:txBody>
      </p:sp>
      <p:sp>
        <p:nvSpPr>
          <p:cNvPr id="31" name="Text 25"/>
          <p:cNvSpPr txBox="1"/>
          <p:nvPr/>
        </p:nvSpPr>
        <p:spPr>
          <a:xfrm>
            <a:off x="8343900" y="5960059"/>
            <a:ext cx="24624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* RM: 해당 단계를 사용하는 라운드 마스크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ko-Kore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ore-KR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972007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ko-Kore-KR" altLang="en-US"/>
          </a:p>
        </p:txBody>
      </p:sp>
      <p:sp>
        <p:nvSpPr>
          <p:cNvPr id="5" name="Shape 3"/>
          <p:cNvSpPr/>
          <p:nvPr/>
        </p:nvSpPr>
        <p:spPr>
          <a:xfrm>
            <a:off x="0" y="933602"/>
            <a:ext cx="12191695" cy="38405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ko-Kore-KR" altLang="en-US"/>
          </a:p>
        </p:txBody>
      </p:sp>
      <p:sp>
        <p:nvSpPr>
          <p:cNvPr id="6" name="Shape 4"/>
          <p:cNvSpPr/>
          <p:nvPr/>
        </p:nvSpPr>
        <p:spPr>
          <a:xfrm>
            <a:off x="381305" y="286207"/>
            <a:ext cx="866851" cy="362102"/>
          </a:xfrm>
          <a:prstGeom prst="roundRect">
            <a:avLst>
              <a:gd name="adj" fmla="val 39872"/>
            </a:avLst>
          </a:prstGeom>
          <a:solidFill>
            <a:srgbClr val="3B82F6">
              <a:alpha val="20000"/>
            </a:srgbClr>
          </a:solidFill>
          <a:ln/>
        </p:spPr>
        <p:txBody>
          <a:bodyPr/>
          <a:lstStyle/>
          <a:p>
            <a:endParaRPr lang="ko-Kore-KR" altLang="en-US"/>
          </a:p>
        </p:txBody>
      </p:sp>
      <p:sp>
        <p:nvSpPr>
          <p:cNvPr id="7" name="Text 5"/>
          <p:cNvSpPr txBox="1"/>
          <p:nvPr/>
        </p:nvSpPr>
        <p:spPr>
          <a:xfrm>
            <a:off x="495605" y="286207"/>
            <a:ext cx="667512" cy="352958"/>
          </a:xfrm>
          <a:prstGeom prst="rect">
            <a:avLst/>
          </a:prstGeom>
          <a:solidFill>
            <a:srgbClr val="3B82F6">
              <a:alpha val="20000"/>
            </a:srgbClr>
          </a:solidFill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4.4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353312" y="228600"/>
            <a:ext cx="4372661" cy="476402"/>
          </a:xfrm>
          <a:prstGeom prst="rect">
            <a:avLst/>
          </a:prstGeom>
          <a:solidFill>
            <a:srgbClr val="3B82F6">
              <a:alpha val="20000"/>
            </a:srgbClr>
          </a:solidFill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셔플링 파이프라인 IIR (Shuffling)</a:t>
            </a:r>
            <a:endParaRPr lang="en-US" sz="2100" dirty="0"/>
          </a:p>
        </p:txBody>
      </p:sp>
      <p:sp>
        <p:nvSpPr>
          <p:cNvPr id="9" name="Text 7"/>
          <p:cNvSpPr txBox="1"/>
          <p:nvPr/>
        </p:nvSpPr>
        <p:spPr>
          <a:xfrm>
            <a:off x="9841687" y="371246"/>
            <a:ext cx="20720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3C5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IEEE Transaction Paper Review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0" y="972007"/>
            <a:ext cx="12191695" cy="5886907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ko-Kore-KR" altLang="en-US"/>
          </a:p>
        </p:txBody>
      </p:sp>
      <p:sp>
        <p:nvSpPr>
          <p:cNvPr id="11" name="Shape 9"/>
          <p:cNvSpPr/>
          <p:nvPr/>
        </p:nvSpPr>
        <p:spPr>
          <a:xfrm>
            <a:off x="571500" y="1352398"/>
            <a:ext cx="5238598" cy="5124298"/>
          </a:xfrm>
          <a:prstGeom prst="roundRect">
            <a:avLst>
              <a:gd name="adj" fmla="val 398"/>
            </a:avLst>
          </a:prstGeom>
          <a:solidFill>
            <a:srgbClr val="FFFFFF"/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ore-KR" altLang="en-US"/>
          </a:p>
        </p:txBody>
      </p:sp>
      <p:sp>
        <p:nvSpPr>
          <p:cNvPr id="12" name="Shape 10"/>
          <p:cNvSpPr/>
          <p:nvPr/>
        </p:nvSpPr>
        <p:spPr>
          <a:xfrm>
            <a:off x="571500" y="1352398"/>
            <a:ext cx="5238598" cy="38405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ko-Kore-KR" altLang="en-US"/>
          </a:p>
        </p:txBody>
      </p:sp>
      <p:sp>
        <p:nvSpPr>
          <p:cNvPr id="13" name="Shape 11"/>
          <p:cNvSpPr/>
          <p:nvPr/>
        </p:nvSpPr>
        <p:spPr>
          <a:xfrm>
            <a:off x="4552798" y="1390802"/>
            <a:ext cx="1257300" cy="247802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ko-Kore-KR" altLang="en-US"/>
          </a:p>
        </p:txBody>
      </p:sp>
      <p:sp>
        <p:nvSpPr>
          <p:cNvPr id="14" name="Text 12"/>
          <p:cNvSpPr txBox="1"/>
          <p:nvPr/>
        </p:nvSpPr>
        <p:spPr>
          <a:xfrm>
            <a:off x="4667098" y="1429207"/>
            <a:ext cx="11146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Advanced Defense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38505" y="2267712"/>
            <a:ext cx="4705502" cy="19202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ko-Kore-KR" altLang="en-US"/>
          </a:p>
        </p:txBody>
      </p:sp>
      <p:sp>
        <p:nvSpPr>
          <p:cNvPr id="16" name="Shape 14"/>
          <p:cNvSpPr/>
          <p:nvPr/>
        </p:nvSpPr>
        <p:spPr>
          <a:xfrm>
            <a:off x="838505" y="1657807"/>
            <a:ext cx="457200" cy="457200"/>
          </a:xfrm>
          <a:prstGeom prst="roundRect">
            <a:avLst>
              <a:gd name="adj" fmla="val 41667"/>
            </a:avLst>
          </a:prstGeom>
          <a:solidFill>
            <a:srgbClr val="EFF6FF"/>
          </a:solidFill>
          <a:ln/>
        </p:spPr>
        <p:txBody>
          <a:bodyPr/>
          <a:lstStyle/>
          <a:p>
            <a:endParaRPr lang="ko-Kore-KR" altLang="en-US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rcRect t="-45" b="-45"/>
          <a:stretch/>
        </p:blipFill>
        <p:spPr>
          <a:xfrm>
            <a:off x="938174" y="1772107"/>
            <a:ext cx="256946" cy="228600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1447495" y="1729130"/>
            <a:ext cx="2367382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파이프라인 IIR 강화 전략</a:t>
            </a:r>
            <a:endParaRPr lang="en-US" sz="1600" dirty="0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75995" y="2533802"/>
            <a:ext cx="152705" cy="152705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1181405" y="2476195"/>
            <a:ext cx="2045513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정적 파이프라인의 한계 극복</a:t>
            </a:r>
            <a:endParaRPr lang="en-US" sz="1200" dirty="0"/>
          </a:p>
        </p:txBody>
      </p:sp>
      <p:sp>
        <p:nvSpPr>
          <p:cNvPr id="21" name="Text 17"/>
          <p:cNvSpPr txBox="1"/>
          <p:nvPr/>
        </p:nvSpPr>
        <p:spPr>
          <a:xfrm>
            <a:off x="1181405" y="2757830"/>
            <a:ext cx="4365346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기존 파이프라인 IIR은 라운드와 비트 위치가 고정되어 있어, 고도화된 공격자가 구조를 파악하면 정밀 타격이 가능할 수 있습니다.</a:t>
            </a:r>
            <a:endParaRPr lang="en-US" sz="1100" dirty="0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75995" y="3433572"/>
            <a:ext cx="152705" cy="152705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1181405" y="3376879"/>
            <a:ext cx="1751076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매 평문마다 동적 재배치</a:t>
            </a:r>
            <a:endParaRPr lang="en-US" sz="1200" dirty="0"/>
          </a:p>
        </p:txBody>
      </p:sp>
      <p:sp>
        <p:nvSpPr>
          <p:cNvPr id="24" name="Text 19"/>
          <p:cNvSpPr txBox="1"/>
          <p:nvPr/>
        </p:nvSpPr>
        <p:spPr>
          <a:xfrm>
            <a:off x="1181405" y="3657600"/>
            <a:ext cx="4451299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암호화 수행 시마다 슬라이스와 라운드 키 위치를 무작위로 회전시켜, 정적인 '비트-라운드 매핑'을 동적으로 변화시킵니다.</a:t>
            </a:r>
            <a:endParaRPr lang="en-US" sz="1100" dirty="0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75995" y="4334256"/>
            <a:ext cx="152705" cy="152705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1181405" y="4276649"/>
            <a:ext cx="179862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다중 비트 결함 완벽 방어</a:t>
            </a:r>
            <a:endParaRPr lang="en-US" sz="1200" dirty="0"/>
          </a:p>
        </p:txBody>
      </p:sp>
      <p:sp>
        <p:nvSpPr>
          <p:cNvPr id="27" name="Text 21"/>
          <p:cNvSpPr txBox="1"/>
          <p:nvPr/>
        </p:nvSpPr>
        <p:spPr>
          <a:xfrm>
            <a:off x="1181405" y="4557370"/>
            <a:ext cx="4451299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숙련된 공격자가 '2-bit 결함'을 정확히 주입하더라도, 해당 시점에 타겟 비트가 어떤 라운드인지 알 수 없어 공격을 무력화합니다.</a:t>
            </a:r>
            <a:endParaRPr lang="en-US" sz="1100" dirty="0"/>
          </a:p>
        </p:txBody>
      </p:sp>
      <p:sp>
        <p:nvSpPr>
          <p:cNvPr id="28" name="Shape 22"/>
          <p:cNvSpPr/>
          <p:nvPr/>
        </p:nvSpPr>
        <p:spPr>
          <a:xfrm>
            <a:off x="838505" y="5352898"/>
            <a:ext cx="4705502" cy="857707"/>
          </a:xfrm>
          <a:prstGeom prst="roundRect">
            <a:avLst>
              <a:gd name="adj" fmla="val 9476"/>
            </a:avLst>
          </a:prstGeom>
          <a:solidFill>
            <a:srgbClr val="F1F5F9"/>
          </a:solidFill>
          <a:ln/>
        </p:spPr>
        <p:txBody>
          <a:bodyPr/>
          <a:lstStyle/>
          <a:p>
            <a:endParaRPr lang="ko-Kore-KR" altLang="en-US"/>
          </a:p>
        </p:txBody>
      </p:sp>
      <p:sp>
        <p:nvSpPr>
          <p:cNvPr id="29" name="Text 23"/>
          <p:cNvSpPr txBox="1"/>
          <p:nvPr/>
        </p:nvSpPr>
        <p:spPr>
          <a:xfrm>
            <a:off x="1028700" y="5619902"/>
            <a:ext cx="1047902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TARGET RANDOMIZATION</a:t>
            </a:r>
            <a:endParaRPr lang="en-US" sz="900" dirty="0"/>
          </a:p>
        </p:txBody>
      </p:sp>
      <p:sp>
        <p:nvSpPr>
          <p:cNvPr id="30" name="Shape 24"/>
          <p:cNvSpPr/>
          <p:nvPr/>
        </p:nvSpPr>
        <p:spPr>
          <a:xfrm>
            <a:off x="2229307" y="5544007"/>
            <a:ext cx="381305" cy="476402"/>
          </a:xfrm>
          <a:prstGeom prst="roundRect">
            <a:avLst>
              <a:gd name="adj" fmla="val 35971"/>
            </a:avLst>
          </a:prstGeom>
          <a:solidFill>
            <a:srgbClr val="FFFFFF"/>
          </a:solidFill>
          <a:ln w="254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31" name="Text 25"/>
          <p:cNvSpPr txBox="1"/>
          <p:nvPr/>
        </p:nvSpPr>
        <p:spPr>
          <a:xfrm>
            <a:off x="2322576" y="5667451"/>
            <a:ext cx="3145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R1</a:t>
            </a:r>
            <a:endParaRPr lang="en-US" sz="1200" dirty="0"/>
          </a:p>
        </p:txBody>
      </p:sp>
      <p:sp>
        <p:nvSpPr>
          <p:cNvPr id="32" name="Shape 26"/>
          <p:cNvSpPr/>
          <p:nvPr/>
        </p:nvSpPr>
        <p:spPr>
          <a:xfrm>
            <a:off x="2686507" y="5544007"/>
            <a:ext cx="381305" cy="476402"/>
          </a:xfrm>
          <a:prstGeom prst="roundRect">
            <a:avLst>
              <a:gd name="adj" fmla="val 35971"/>
            </a:avLst>
          </a:prstGeom>
          <a:solidFill>
            <a:srgbClr val="EFF6FF"/>
          </a:solidFill>
          <a:ln w="254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33" name="Text 27"/>
          <p:cNvSpPr txBox="1"/>
          <p:nvPr/>
        </p:nvSpPr>
        <p:spPr>
          <a:xfrm>
            <a:off x="2779776" y="5667451"/>
            <a:ext cx="3145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B82F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R5</a:t>
            </a:r>
            <a:endParaRPr lang="en-US" sz="1200" dirty="0"/>
          </a:p>
        </p:txBody>
      </p:sp>
      <p:sp>
        <p:nvSpPr>
          <p:cNvPr id="34" name="Shape 28"/>
          <p:cNvSpPr/>
          <p:nvPr/>
        </p:nvSpPr>
        <p:spPr>
          <a:xfrm>
            <a:off x="3143707" y="5544007"/>
            <a:ext cx="381305" cy="476402"/>
          </a:xfrm>
          <a:prstGeom prst="roundRect">
            <a:avLst>
              <a:gd name="adj" fmla="val 35971"/>
            </a:avLst>
          </a:prstGeom>
          <a:solidFill>
            <a:srgbClr val="FFFFFF"/>
          </a:solidFill>
          <a:ln w="254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35" name="Text 29"/>
          <p:cNvSpPr txBox="1"/>
          <p:nvPr/>
        </p:nvSpPr>
        <p:spPr>
          <a:xfrm>
            <a:off x="3236976" y="5667451"/>
            <a:ext cx="3145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R9</a:t>
            </a:r>
            <a:endParaRPr lang="en-US" sz="1200" dirty="0"/>
          </a:p>
        </p:txBody>
      </p:sp>
      <p:pic>
        <p:nvPicPr>
          <p:cNvPr id="36" name="Image 4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3622853" y="5613502"/>
            <a:ext cx="323698" cy="323698"/>
          </a:xfrm>
          <a:prstGeom prst="rect">
            <a:avLst/>
          </a:prstGeom>
        </p:spPr>
      </p:pic>
      <p:sp>
        <p:nvSpPr>
          <p:cNvPr id="37" name="Shape 30"/>
          <p:cNvSpPr/>
          <p:nvPr/>
        </p:nvSpPr>
        <p:spPr>
          <a:xfrm>
            <a:off x="4058107" y="5544007"/>
            <a:ext cx="381305" cy="476402"/>
          </a:xfrm>
          <a:prstGeom prst="roundRect">
            <a:avLst>
              <a:gd name="adj" fmla="val 35971"/>
            </a:avLst>
          </a:prstGeom>
          <a:solidFill>
            <a:srgbClr val="FFFFFF"/>
          </a:solidFill>
          <a:ln w="254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38" name="Text 31"/>
          <p:cNvSpPr txBox="1"/>
          <p:nvPr/>
        </p:nvSpPr>
        <p:spPr>
          <a:xfrm>
            <a:off x="4156862" y="5667451"/>
            <a:ext cx="3054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R?</a:t>
            </a:r>
            <a:endParaRPr lang="en-US" sz="1200" dirty="0"/>
          </a:p>
        </p:txBody>
      </p:sp>
      <p:sp>
        <p:nvSpPr>
          <p:cNvPr id="39" name="Shape 32"/>
          <p:cNvSpPr/>
          <p:nvPr/>
        </p:nvSpPr>
        <p:spPr>
          <a:xfrm>
            <a:off x="4515307" y="5544007"/>
            <a:ext cx="381305" cy="476402"/>
          </a:xfrm>
          <a:prstGeom prst="roundRect">
            <a:avLst>
              <a:gd name="adj" fmla="val 35971"/>
            </a:avLst>
          </a:prstGeom>
          <a:solidFill>
            <a:srgbClr val="FFFFFF"/>
          </a:solidFill>
          <a:ln w="254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40" name="Text 33"/>
          <p:cNvSpPr txBox="1"/>
          <p:nvPr/>
        </p:nvSpPr>
        <p:spPr>
          <a:xfrm>
            <a:off x="4614062" y="5667451"/>
            <a:ext cx="3054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R?</a:t>
            </a:r>
            <a:endParaRPr lang="en-US" sz="1200" dirty="0"/>
          </a:p>
        </p:txBody>
      </p:sp>
      <p:sp>
        <p:nvSpPr>
          <p:cNvPr id="41" name="Shape 34"/>
          <p:cNvSpPr/>
          <p:nvPr/>
        </p:nvSpPr>
        <p:spPr>
          <a:xfrm>
            <a:off x="4972507" y="5544007"/>
            <a:ext cx="381305" cy="476402"/>
          </a:xfrm>
          <a:prstGeom prst="roundRect">
            <a:avLst>
              <a:gd name="adj" fmla="val 35971"/>
            </a:avLst>
          </a:prstGeom>
          <a:solidFill>
            <a:srgbClr val="FFFFFF"/>
          </a:solidFill>
          <a:ln w="254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42" name="Text 35"/>
          <p:cNvSpPr txBox="1"/>
          <p:nvPr/>
        </p:nvSpPr>
        <p:spPr>
          <a:xfrm>
            <a:off x="5071262" y="5667451"/>
            <a:ext cx="3054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R?</a:t>
            </a:r>
            <a:endParaRPr lang="en-US" sz="1200" dirty="0"/>
          </a:p>
        </p:txBody>
      </p:sp>
      <p:sp>
        <p:nvSpPr>
          <p:cNvPr id="43" name="Shape 36"/>
          <p:cNvSpPr/>
          <p:nvPr/>
        </p:nvSpPr>
        <p:spPr>
          <a:xfrm>
            <a:off x="6381598" y="1352398"/>
            <a:ext cx="5238598" cy="5124298"/>
          </a:xfrm>
          <a:prstGeom prst="roundRect">
            <a:avLst>
              <a:gd name="adj" fmla="val 398"/>
            </a:avLst>
          </a:prstGeom>
          <a:solidFill>
            <a:srgbClr val="FFFFFF"/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ore-KR" altLang="en-US"/>
          </a:p>
        </p:txBody>
      </p:sp>
      <p:sp>
        <p:nvSpPr>
          <p:cNvPr id="44" name="Shape 37"/>
          <p:cNvSpPr/>
          <p:nvPr/>
        </p:nvSpPr>
        <p:spPr>
          <a:xfrm>
            <a:off x="6381598" y="1352398"/>
            <a:ext cx="5238598" cy="38405"/>
          </a:xfrm>
          <a:prstGeom prst="rect">
            <a:avLst/>
          </a:prstGeom>
          <a:solidFill>
            <a:srgbClr val="6366F1"/>
          </a:solidFill>
          <a:ln/>
        </p:spPr>
        <p:txBody>
          <a:bodyPr/>
          <a:lstStyle/>
          <a:p>
            <a:endParaRPr lang="ko-Kore-KR" altLang="en-US"/>
          </a:p>
        </p:txBody>
      </p:sp>
      <p:sp>
        <p:nvSpPr>
          <p:cNvPr id="45" name="Shape 38"/>
          <p:cNvSpPr/>
          <p:nvPr/>
        </p:nvSpPr>
        <p:spPr>
          <a:xfrm>
            <a:off x="6648602" y="2267712"/>
            <a:ext cx="4705502" cy="19202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ko-Kore-KR" altLang="en-US"/>
          </a:p>
        </p:txBody>
      </p:sp>
      <p:sp>
        <p:nvSpPr>
          <p:cNvPr id="46" name="Shape 39"/>
          <p:cNvSpPr/>
          <p:nvPr/>
        </p:nvSpPr>
        <p:spPr>
          <a:xfrm>
            <a:off x="6648602" y="1657807"/>
            <a:ext cx="457200" cy="457200"/>
          </a:xfrm>
          <a:prstGeom prst="roundRect">
            <a:avLst>
              <a:gd name="adj" fmla="val 41667"/>
            </a:avLst>
          </a:prstGeom>
          <a:solidFill>
            <a:srgbClr val="E0E7FF"/>
          </a:solidFill>
          <a:ln/>
        </p:spPr>
        <p:txBody>
          <a:bodyPr/>
          <a:lstStyle/>
          <a:p>
            <a:endParaRPr lang="ko-Kore-KR" altLang="en-US"/>
          </a:p>
        </p:txBody>
      </p:sp>
      <p:pic>
        <p:nvPicPr>
          <p:cNvPr id="47" name="Image 5" descr="preencoded.png"/>
          <p:cNvPicPr>
            <a:picLocks noChangeAspect="1"/>
          </p:cNvPicPr>
          <p:nvPr/>
        </p:nvPicPr>
        <p:blipFill>
          <a:blip r:embed="rId7"/>
          <a:srcRect l="-80" r="-80"/>
          <a:stretch/>
        </p:blipFill>
        <p:spPr>
          <a:xfrm>
            <a:off x="6734556" y="1772107"/>
            <a:ext cx="286207" cy="228600"/>
          </a:xfrm>
          <a:prstGeom prst="rect">
            <a:avLst/>
          </a:prstGeom>
        </p:spPr>
      </p:pic>
      <p:sp>
        <p:nvSpPr>
          <p:cNvPr id="48" name="Text 40"/>
          <p:cNvSpPr txBox="1"/>
          <p:nvPr/>
        </p:nvSpPr>
        <p:spPr>
          <a:xfrm>
            <a:off x="7258507" y="1729130"/>
            <a:ext cx="1377086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구현 요구사항</a:t>
            </a:r>
            <a:endParaRPr lang="en-US" sz="1600" dirty="0"/>
          </a:p>
        </p:txBody>
      </p:sp>
      <p:pic>
        <p:nvPicPr>
          <p:cNvPr id="49" name="Image 6" descr="preencoded.png"/>
          <p:cNvPicPr>
            <a:picLocks noChangeAspect="1"/>
          </p:cNvPicPr>
          <p:nvPr/>
        </p:nvPicPr>
        <p:blipFill>
          <a:blip r:embed="rId8"/>
          <a:srcRect t="-43" b="-43"/>
          <a:stretch/>
        </p:blipFill>
        <p:spPr>
          <a:xfrm>
            <a:off x="6696151" y="2533802"/>
            <a:ext cx="133502" cy="152705"/>
          </a:xfrm>
          <a:prstGeom prst="rect">
            <a:avLst/>
          </a:prstGeom>
        </p:spPr>
      </p:pic>
      <p:sp>
        <p:nvSpPr>
          <p:cNvPr id="50" name="Text 41"/>
          <p:cNvSpPr txBox="1"/>
          <p:nvPr/>
        </p:nvSpPr>
        <p:spPr>
          <a:xfrm>
            <a:off x="6991502" y="2476195"/>
            <a:ext cx="3122676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동적 슬라이스 할당 (Dynamic Allocation)</a:t>
            </a:r>
            <a:endParaRPr lang="en-US" sz="1200" dirty="0"/>
          </a:p>
        </p:txBody>
      </p:sp>
      <p:sp>
        <p:nvSpPr>
          <p:cNvPr id="51" name="Text 42"/>
          <p:cNvSpPr txBox="1"/>
          <p:nvPr/>
        </p:nvSpPr>
        <p:spPr>
          <a:xfrm>
            <a:off x="6991502" y="2757830"/>
            <a:ext cx="4451299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비트 위치가 정적으로 고정되지 않고, 실행 시점마다 동적으로 할당되는 구조를 지원해야 합니다.</a:t>
            </a:r>
            <a:endParaRPr lang="en-US" sz="1100" dirty="0"/>
          </a:p>
        </p:txBody>
      </p:sp>
      <p:pic>
        <p:nvPicPr>
          <p:cNvPr id="52" name="Image 7" descr="preencoded.png"/>
          <p:cNvPicPr>
            <a:picLocks noChangeAspect="1"/>
          </p:cNvPicPr>
          <p:nvPr/>
        </p:nvPicPr>
        <p:blipFill>
          <a:blip r:embed="rId8"/>
          <a:srcRect t="-43" b="-43"/>
          <a:stretch/>
        </p:blipFill>
        <p:spPr>
          <a:xfrm>
            <a:off x="6696151" y="3433572"/>
            <a:ext cx="133502" cy="152705"/>
          </a:xfrm>
          <a:prstGeom prst="rect">
            <a:avLst/>
          </a:prstGeom>
        </p:spPr>
      </p:pic>
      <p:sp>
        <p:nvSpPr>
          <p:cNvPr id="53" name="Text 43"/>
          <p:cNvSpPr txBox="1"/>
          <p:nvPr/>
        </p:nvSpPr>
        <p:spPr>
          <a:xfrm>
            <a:off x="6991502" y="3376879"/>
            <a:ext cx="2245766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유연한 전치 연산 (Transpose)</a:t>
            </a:r>
            <a:endParaRPr lang="en-US" sz="1200" dirty="0"/>
          </a:p>
        </p:txBody>
      </p:sp>
      <p:sp>
        <p:nvSpPr>
          <p:cNvPr id="54" name="Text 44"/>
          <p:cNvSpPr txBox="1"/>
          <p:nvPr/>
        </p:nvSpPr>
        <p:spPr>
          <a:xfrm>
            <a:off x="6991502" y="3657600"/>
            <a:ext cx="4356202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입/출력 단계에서 임의의 비트 위치(Target bit location)로 데이터를 이동시킬 수 있는 전치 기능이 필요합니다.</a:t>
            </a:r>
            <a:endParaRPr lang="en-US" sz="1100" dirty="0"/>
          </a:p>
        </p:txBody>
      </p:sp>
      <p:pic>
        <p:nvPicPr>
          <p:cNvPr id="55" name="Image 8" descr="preencoded.png"/>
          <p:cNvPicPr>
            <a:picLocks noChangeAspect="1"/>
          </p:cNvPicPr>
          <p:nvPr/>
        </p:nvPicPr>
        <p:blipFill>
          <a:blip r:embed="rId8"/>
          <a:srcRect t="-43" b="-43"/>
          <a:stretch/>
        </p:blipFill>
        <p:spPr>
          <a:xfrm>
            <a:off x="6696151" y="4334256"/>
            <a:ext cx="133502" cy="152705"/>
          </a:xfrm>
          <a:prstGeom prst="rect">
            <a:avLst/>
          </a:prstGeom>
        </p:spPr>
      </p:pic>
      <p:sp>
        <p:nvSpPr>
          <p:cNvPr id="56" name="Text 45"/>
          <p:cNvSpPr txBox="1"/>
          <p:nvPr/>
        </p:nvSpPr>
        <p:spPr>
          <a:xfrm>
            <a:off x="6991502" y="4276649"/>
            <a:ext cx="1751076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예측 불가능한 난수 생성</a:t>
            </a:r>
            <a:endParaRPr lang="en-US" sz="1200" dirty="0"/>
          </a:p>
        </p:txBody>
      </p:sp>
      <p:sp>
        <p:nvSpPr>
          <p:cNvPr id="57" name="Text 46"/>
          <p:cNvSpPr txBox="1"/>
          <p:nvPr/>
        </p:nvSpPr>
        <p:spPr>
          <a:xfrm>
            <a:off x="6991502" y="4557370"/>
            <a:ext cx="440375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초기 비밀 값(Secret Seed)과 암호문(Ciphertext)을 지속적으로 XOR 누적하여 공격자가 예측할 수 없는 회전 값을 생성합니다.</a:t>
            </a:r>
            <a:endParaRPr lang="en-US" sz="1100" dirty="0"/>
          </a:p>
        </p:txBody>
      </p:sp>
      <p:sp>
        <p:nvSpPr>
          <p:cNvPr id="58" name="Shape 47"/>
          <p:cNvSpPr/>
          <p:nvPr/>
        </p:nvSpPr>
        <p:spPr>
          <a:xfrm>
            <a:off x="6648602" y="5286146"/>
            <a:ext cx="4705502" cy="923544"/>
          </a:xfrm>
          <a:prstGeom prst="roundRect">
            <a:avLst>
              <a:gd name="adj" fmla="val 8166"/>
            </a:avLst>
          </a:prstGeom>
          <a:solidFill>
            <a:srgbClr val="EEF2FF"/>
          </a:solidFill>
          <a:ln w="12700">
            <a:solidFill>
              <a:srgbClr val="E0E7FF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pic>
        <p:nvPicPr>
          <p:cNvPr id="59" name="Image 9" descr="preencoded.png"/>
          <p:cNvPicPr>
            <a:picLocks noChangeAspect="1"/>
          </p:cNvPicPr>
          <p:nvPr/>
        </p:nvPicPr>
        <p:blipFill>
          <a:blip r:embed="rId9"/>
          <a:srcRect t="-100" b="-100"/>
          <a:stretch/>
        </p:blipFill>
        <p:spPr>
          <a:xfrm>
            <a:off x="6810451" y="5486400"/>
            <a:ext cx="114300" cy="152705"/>
          </a:xfrm>
          <a:prstGeom prst="rect">
            <a:avLst/>
          </a:prstGeom>
        </p:spPr>
      </p:pic>
      <p:sp>
        <p:nvSpPr>
          <p:cNvPr id="60" name="Text 48"/>
          <p:cNvSpPr txBox="1"/>
          <p:nvPr/>
        </p:nvSpPr>
        <p:spPr>
          <a:xfrm>
            <a:off x="7039051" y="5447995"/>
            <a:ext cx="146212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730A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Reinforcement Logic</a:t>
            </a:r>
            <a:endParaRPr lang="en-US" sz="1000" dirty="0"/>
          </a:p>
        </p:txBody>
      </p:sp>
      <p:sp>
        <p:nvSpPr>
          <p:cNvPr id="61" name="Text 49"/>
          <p:cNvSpPr txBox="1"/>
          <p:nvPr/>
        </p:nvSpPr>
        <p:spPr>
          <a:xfrm>
            <a:off x="7039051" y="5686654"/>
            <a:ext cx="4163263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F46E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파이프라인 IIR이 '공간적 분리'를 제공한다면, 셔플링은 이를 '시간적/동적'으로 확장하여 방어 수준을 한 단계 더 강화합니다.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ko-Kore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ore-KR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972007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ko-Kore-KR" altLang="en-US"/>
          </a:p>
        </p:txBody>
      </p:sp>
      <p:sp>
        <p:nvSpPr>
          <p:cNvPr id="5" name="Shape 3"/>
          <p:cNvSpPr/>
          <p:nvPr/>
        </p:nvSpPr>
        <p:spPr>
          <a:xfrm>
            <a:off x="0" y="933602"/>
            <a:ext cx="12191695" cy="38405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ko-Kore-KR" altLang="en-US"/>
          </a:p>
        </p:txBody>
      </p:sp>
      <p:sp>
        <p:nvSpPr>
          <p:cNvPr id="6" name="Shape 4"/>
          <p:cNvSpPr/>
          <p:nvPr/>
        </p:nvSpPr>
        <p:spPr>
          <a:xfrm>
            <a:off x="381305" y="286207"/>
            <a:ext cx="866851" cy="362102"/>
          </a:xfrm>
          <a:prstGeom prst="roundRect">
            <a:avLst>
              <a:gd name="adj" fmla="val 39872"/>
            </a:avLst>
          </a:prstGeom>
          <a:solidFill>
            <a:srgbClr val="3B82F6">
              <a:alpha val="20000"/>
            </a:srgbClr>
          </a:solidFill>
          <a:ln/>
        </p:spPr>
        <p:txBody>
          <a:bodyPr/>
          <a:lstStyle/>
          <a:p>
            <a:endParaRPr lang="ko-Kore-KR" altLang="en-US"/>
          </a:p>
        </p:txBody>
      </p:sp>
      <p:sp>
        <p:nvSpPr>
          <p:cNvPr id="7" name="Text 5"/>
          <p:cNvSpPr txBox="1"/>
          <p:nvPr/>
        </p:nvSpPr>
        <p:spPr>
          <a:xfrm>
            <a:off x="495605" y="286207"/>
            <a:ext cx="667512" cy="352958"/>
          </a:xfrm>
          <a:prstGeom prst="rect">
            <a:avLst/>
          </a:prstGeom>
          <a:solidFill>
            <a:srgbClr val="3B82F6">
              <a:alpha val="20000"/>
            </a:srgbClr>
          </a:solidFill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4.5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353312" y="228600"/>
            <a:ext cx="7172554" cy="476402"/>
          </a:xfrm>
          <a:prstGeom prst="rect">
            <a:avLst/>
          </a:prstGeom>
          <a:solidFill>
            <a:srgbClr val="3B82F6">
              <a:alpha val="20000"/>
            </a:srgbClr>
          </a:solidFill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비교 없는 오류 처리 (Comparison-Free Fault Handling)</a:t>
            </a:r>
            <a:endParaRPr lang="en-US" sz="2100" dirty="0"/>
          </a:p>
        </p:txBody>
      </p:sp>
      <p:sp>
        <p:nvSpPr>
          <p:cNvPr id="9" name="Text 7"/>
          <p:cNvSpPr txBox="1"/>
          <p:nvPr/>
        </p:nvSpPr>
        <p:spPr>
          <a:xfrm>
            <a:off x="9841687" y="371246"/>
            <a:ext cx="20720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3C5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IEEE Transaction Paper Review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0" y="972007"/>
            <a:ext cx="12191695" cy="6010351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ko-Kore-KR" altLang="en-US"/>
          </a:p>
        </p:txBody>
      </p:sp>
      <p:sp>
        <p:nvSpPr>
          <p:cNvPr id="11" name="Shape 9"/>
          <p:cNvSpPr/>
          <p:nvPr/>
        </p:nvSpPr>
        <p:spPr>
          <a:xfrm>
            <a:off x="571500" y="1257300"/>
            <a:ext cx="11048695" cy="1248156"/>
          </a:xfrm>
          <a:prstGeom prst="roundRect">
            <a:avLst>
              <a:gd name="adj" fmla="val 671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ore-KR" altLang="en-US"/>
          </a:p>
        </p:txBody>
      </p:sp>
      <p:sp>
        <p:nvSpPr>
          <p:cNvPr id="12" name="Shape 10"/>
          <p:cNvSpPr/>
          <p:nvPr/>
        </p:nvSpPr>
        <p:spPr>
          <a:xfrm>
            <a:off x="571500" y="1257300"/>
            <a:ext cx="57607" cy="1248156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ko-Kore-KR" altLang="en-US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57707" y="1490472"/>
            <a:ext cx="171907" cy="171907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1143000" y="1447495"/>
            <a:ext cx="305318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B9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Instruction Skip 공격의 위협과 해결책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857707" y="1790395"/>
            <a:ext cx="10463479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전통적인 비교 구문(if/else)은 공격자가 분기 명령어(Branch Instruction)를 건너뛰는(Skip) 방식으로 보안 검사를 우회할 수 있습니다. 본 기법은 분기문 없는 순수 연산(Branchless Logic)으로 검증 과정을 데이터 흐름에 통합하여, 건너뛰기가 불가능한 구조를 만듭니다.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571500" y="2734056"/>
            <a:ext cx="11048695" cy="2247595"/>
          </a:xfrm>
          <a:prstGeom prst="roundRect">
            <a:avLst>
              <a:gd name="adj" fmla="val 2758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241300" dist="1016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ore-KR" altLang="en-US"/>
          </a:p>
        </p:txBody>
      </p:sp>
      <p:sp>
        <p:nvSpPr>
          <p:cNvPr id="17" name="Shape 14"/>
          <p:cNvSpPr/>
          <p:nvPr/>
        </p:nvSpPr>
        <p:spPr>
          <a:xfrm>
            <a:off x="866851" y="2609698"/>
            <a:ext cx="2371954" cy="276149"/>
          </a:xfrm>
          <a:prstGeom prst="roundRect">
            <a:avLst>
              <a:gd name="adj" fmla="val 228362"/>
            </a:avLst>
          </a:prstGeom>
          <a:solidFill>
            <a:srgbClr val="3B82F6"/>
          </a:solidFill>
          <a:ln/>
          <a:effectLst>
            <a:outerShdw blurRad="63500" dist="38100" dir="5400000" algn="bl" rotWithShape="0">
              <a:srgbClr val="3B82F6">
                <a:alpha val="30000"/>
              </a:srgbClr>
            </a:outerShdw>
          </a:effectLst>
        </p:spPr>
        <p:txBody>
          <a:bodyPr/>
          <a:lstStyle/>
          <a:p>
            <a:endParaRPr lang="ko-Kore-KR" altLang="en-US"/>
          </a:p>
        </p:txBody>
      </p:sp>
      <p:sp>
        <p:nvSpPr>
          <p:cNvPr id="18" name="Text 15"/>
          <p:cNvSpPr txBox="1"/>
          <p:nvPr/>
        </p:nvSpPr>
        <p:spPr>
          <a:xfrm>
            <a:off x="1019556" y="2648102"/>
            <a:ext cx="216712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Branchless Secure Output Logic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961949" y="3057754"/>
            <a:ext cx="724205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60A5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MASK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1510589" y="3057754"/>
            <a:ext cx="590702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= (</a:t>
            </a:r>
            <a:endParaRPr lang="en-US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1922069" y="3057754"/>
            <a:ext cx="314554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472B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</a:t>
            </a:r>
            <a:endParaRPr lang="en-US" sz="1800" dirty="0"/>
          </a:p>
        </p:txBody>
      </p:sp>
      <p:sp>
        <p:nvSpPr>
          <p:cNvPr id="22" name="Text 19"/>
          <p:cNvSpPr txBox="1"/>
          <p:nvPr/>
        </p:nvSpPr>
        <p:spPr>
          <a:xfrm>
            <a:off x="2059229" y="3057754"/>
            <a:ext cx="314554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2196389" y="3057754"/>
            <a:ext cx="314554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60A5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</a:t>
            </a:r>
            <a:endParaRPr lang="en-US" sz="1800" dirty="0"/>
          </a:p>
        </p:txBody>
      </p:sp>
      <p:sp>
        <p:nvSpPr>
          <p:cNvPr id="24" name="Text 21"/>
          <p:cNvSpPr txBox="1"/>
          <p:nvPr/>
        </p:nvSpPr>
        <p:spPr>
          <a:xfrm>
            <a:off x="2333549" y="3057754"/>
            <a:ext cx="314554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472B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⊕</a:t>
            </a:r>
            <a:endParaRPr lang="en-US" sz="1800" dirty="0"/>
          </a:p>
        </p:txBody>
      </p:sp>
      <p:sp>
        <p:nvSpPr>
          <p:cNvPr id="25" name="Text 22"/>
          <p:cNvSpPr txBox="1"/>
          <p:nvPr/>
        </p:nvSpPr>
        <p:spPr>
          <a:xfrm>
            <a:off x="2471623" y="3057754"/>
            <a:ext cx="448056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60A5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B'</a:t>
            </a:r>
            <a:endParaRPr lang="en-US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2745943" y="3057754"/>
            <a:ext cx="314554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endParaRPr lang="en-US" sz="1800" dirty="0"/>
          </a:p>
        </p:txBody>
      </p:sp>
      <p:sp>
        <p:nvSpPr>
          <p:cNvPr id="27" name="Text 24"/>
          <p:cNvSpPr txBox="1"/>
          <p:nvPr/>
        </p:nvSpPr>
        <p:spPr>
          <a:xfrm>
            <a:off x="2883103" y="3057754"/>
            <a:ext cx="448056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472B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&gt;&gt;</a:t>
            </a:r>
            <a:endParaRPr lang="en-US" sz="1800" dirty="0"/>
          </a:p>
        </p:txBody>
      </p:sp>
      <p:sp>
        <p:nvSpPr>
          <p:cNvPr id="28" name="Text 25"/>
          <p:cNvSpPr txBox="1"/>
          <p:nvPr/>
        </p:nvSpPr>
        <p:spPr>
          <a:xfrm>
            <a:off x="3157423" y="3057754"/>
            <a:ext cx="724205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128)</a:t>
            </a:r>
            <a:endParaRPr lang="en-US" sz="1800" dirty="0"/>
          </a:p>
        </p:txBody>
      </p:sp>
      <p:sp>
        <p:nvSpPr>
          <p:cNvPr id="29" name="Text 26"/>
          <p:cNvSpPr txBox="1"/>
          <p:nvPr/>
        </p:nvSpPr>
        <p:spPr>
          <a:xfrm>
            <a:off x="3706063" y="3057754"/>
            <a:ext cx="314554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472B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|</a:t>
            </a:r>
            <a:endParaRPr lang="en-US" sz="1800" dirty="0"/>
          </a:p>
        </p:txBody>
      </p:sp>
      <p:sp>
        <p:nvSpPr>
          <p:cNvPr id="30" name="Text 27"/>
          <p:cNvSpPr txBox="1"/>
          <p:nvPr/>
        </p:nvSpPr>
        <p:spPr>
          <a:xfrm>
            <a:off x="3843223" y="3057754"/>
            <a:ext cx="314554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</a:t>
            </a:r>
            <a:endParaRPr lang="en-US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3981298" y="3057754"/>
            <a:ext cx="314554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472B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</a:t>
            </a:r>
            <a:endParaRPr lang="en-US" sz="1800" dirty="0"/>
          </a:p>
        </p:txBody>
      </p:sp>
      <p:sp>
        <p:nvSpPr>
          <p:cNvPr id="32" name="Text 29"/>
          <p:cNvSpPr txBox="1"/>
          <p:nvPr/>
        </p:nvSpPr>
        <p:spPr>
          <a:xfrm>
            <a:off x="4118458" y="3057754"/>
            <a:ext cx="314554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</a:t>
            </a:r>
            <a:endParaRPr lang="en-US" sz="1800" dirty="0"/>
          </a:p>
        </p:txBody>
      </p:sp>
      <p:sp>
        <p:nvSpPr>
          <p:cNvPr id="33" name="Text 30"/>
          <p:cNvSpPr txBox="1"/>
          <p:nvPr/>
        </p:nvSpPr>
        <p:spPr>
          <a:xfrm>
            <a:off x="4255618" y="3057754"/>
            <a:ext cx="448056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60A5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KC</a:t>
            </a:r>
            <a:endParaRPr lang="en-US" sz="1800" dirty="0"/>
          </a:p>
        </p:txBody>
      </p:sp>
      <p:sp>
        <p:nvSpPr>
          <p:cNvPr id="34" name="Text 31"/>
          <p:cNvSpPr txBox="1"/>
          <p:nvPr/>
        </p:nvSpPr>
        <p:spPr>
          <a:xfrm>
            <a:off x="4529938" y="3057754"/>
            <a:ext cx="314554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472B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⊕</a:t>
            </a:r>
            <a:endParaRPr lang="en-US" sz="1800" dirty="0"/>
          </a:p>
        </p:txBody>
      </p:sp>
      <p:sp>
        <p:nvSpPr>
          <p:cNvPr id="35" name="Text 32"/>
          <p:cNvSpPr txBox="1"/>
          <p:nvPr/>
        </p:nvSpPr>
        <p:spPr>
          <a:xfrm>
            <a:off x="4667098" y="3057754"/>
            <a:ext cx="590702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60A5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KC'</a:t>
            </a:r>
            <a:endParaRPr lang="en-US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5078578" y="3057754"/>
            <a:ext cx="314554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endParaRPr lang="en-US" sz="1800" dirty="0"/>
          </a:p>
        </p:txBody>
      </p:sp>
      <p:sp>
        <p:nvSpPr>
          <p:cNvPr id="37" name="Text 34"/>
          <p:cNvSpPr txBox="1"/>
          <p:nvPr/>
        </p:nvSpPr>
        <p:spPr>
          <a:xfrm>
            <a:off x="5215738" y="3057754"/>
            <a:ext cx="448056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472B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&gt;&gt;</a:t>
            </a:r>
            <a:endParaRPr lang="en-US" sz="1800" dirty="0"/>
          </a:p>
        </p:txBody>
      </p:sp>
      <p:sp>
        <p:nvSpPr>
          <p:cNvPr id="38" name="Text 35"/>
          <p:cNvSpPr txBox="1"/>
          <p:nvPr/>
        </p:nvSpPr>
        <p:spPr>
          <a:xfrm>
            <a:off x="5490972" y="3057754"/>
            <a:ext cx="857707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128);</a:t>
            </a:r>
            <a:endParaRPr lang="en-US" sz="1800" dirty="0"/>
          </a:p>
        </p:txBody>
      </p:sp>
      <p:sp>
        <p:nvSpPr>
          <p:cNvPr id="39" name="Text 36"/>
          <p:cNvSpPr txBox="1"/>
          <p:nvPr/>
        </p:nvSpPr>
        <p:spPr>
          <a:xfrm>
            <a:off x="1152144" y="3480206"/>
            <a:ext cx="424373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오류 존재 시 모든 비트가 1, 정상 시 0이 됨</a:t>
            </a:r>
            <a:endParaRPr lang="en-US" sz="1300" dirty="0"/>
          </a:p>
        </p:txBody>
      </p:sp>
      <p:sp>
        <p:nvSpPr>
          <p:cNvPr id="40" name="Text 37"/>
          <p:cNvSpPr txBox="1"/>
          <p:nvPr/>
        </p:nvSpPr>
        <p:spPr>
          <a:xfrm>
            <a:off x="961949" y="3979469"/>
            <a:ext cx="1000354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60A5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OUTPUT</a:t>
            </a:r>
            <a:endParaRPr lang="en-US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1784909" y="3979469"/>
            <a:ext cx="590702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= (</a:t>
            </a:r>
            <a:endParaRPr lang="en-US" sz="1800" dirty="0"/>
          </a:p>
        </p:txBody>
      </p:sp>
      <p:sp>
        <p:nvSpPr>
          <p:cNvPr id="42" name="Text 39"/>
          <p:cNvSpPr txBox="1"/>
          <p:nvPr/>
        </p:nvSpPr>
        <p:spPr>
          <a:xfrm>
            <a:off x="2196389" y="3979469"/>
            <a:ext cx="724205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60A5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MASK</a:t>
            </a:r>
            <a:endParaRPr lang="en-US" sz="1800" dirty="0"/>
          </a:p>
        </p:txBody>
      </p:sp>
      <p:sp>
        <p:nvSpPr>
          <p:cNvPr id="43" name="Text 40"/>
          <p:cNvSpPr txBox="1"/>
          <p:nvPr/>
        </p:nvSpPr>
        <p:spPr>
          <a:xfrm>
            <a:off x="2745029" y="3979469"/>
            <a:ext cx="314554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472B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&amp;</a:t>
            </a:r>
            <a:endParaRPr lang="en-US" sz="1800" dirty="0"/>
          </a:p>
        </p:txBody>
      </p:sp>
      <p:sp>
        <p:nvSpPr>
          <p:cNvPr id="44" name="Text 41"/>
          <p:cNvSpPr txBox="1"/>
          <p:nvPr/>
        </p:nvSpPr>
        <p:spPr>
          <a:xfrm>
            <a:off x="2882189" y="3979469"/>
            <a:ext cx="314554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60A5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</a:t>
            </a:r>
            <a:endParaRPr lang="en-US" sz="1800" dirty="0"/>
          </a:p>
        </p:txBody>
      </p:sp>
      <p:sp>
        <p:nvSpPr>
          <p:cNvPr id="45" name="Text 42"/>
          <p:cNvSpPr txBox="1"/>
          <p:nvPr/>
        </p:nvSpPr>
        <p:spPr>
          <a:xfrm>
            <a:off x="3019349" y="3979469"/>
            <a:ext cx="314554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endParaRPr lang="en-US" sz="1800" dirty="0"/>
          </a:p>
        </p:txBody>
      </p:sp>
      <p:sp>
        <p:nvSpPr>
          <p:cNvPr id="46" name="Text 43"/>
          <p:cNvSpPr txBox="1"/>
          <p:nvPr/>
        </p:nvSpPr>
        <p:spPr>
          <a:xfrm>
            <a:off x="3156509" y="3979469"/>
            <a:ext cx="314554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472B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|</a:t>
            </a:r>
            <a:endParaRPr lang="en-US" sz="1800" dirty="0"/>
          </a:p>
        </p:txBody>
      </p:sp>
      <p:sp>
        <p:nvSpPr>
          <p:cNvPr id="47" name="Text 44"/>
          <p:cNvSpPr txBox="1"/>
          <p:nvPr/>
        </p:nvSpPr>
        <p:spPr>
          <a:xfrm>
            <a:off x="3294583" y="3979469"/>
            <a:ext cx="314554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</a:t>
            </a:r>
            <a:endParaRPr lang="en-US" sz="1800" dirty="0"/>
          </a:p>
        </p:txBody>
      </p:sp>
      <p:sp>
        <p:nvSpPr>
          <p:cNvPr id="48" name="Text 45"/>
          <p:cNvSpPr txBox="1"/>
          <p:nvPr/>
        </p:nvSpPr>
        <p:spPr>
          <a:xfrm>
            <a:off x="3431743" y="3979469"/>
            <a:ext cx="314554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472B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~</a:t>
            </a:r>
            <a:endParaRPr lang="en-US" sz="1800" dirty="0"/>
          </a:p>
        </p:txBody>
      </p:sp>
      <p:sp>
        <p:nvSpPr>
          <p:cNvPr id="49" name="Text 46"/>
          <p:cNvSpPr txBox="1"/>
          <p:nvPr/>
        </p:nvSpPr>
        <p:spPr>
          <a:xfrm>
            <a:off x="3568903" y="3979469"/>
            <a:ext cx="724205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60A5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MASK</a:t>
            </a:r>
            <a:endParaRPr lang="en-US" sz="1800" dirty="0"/>
          </a:p>
        </p:txBody>
      </p:sp>
      <p:sp>
        <p:nvSpPr>
          <p:cNvPr id="50" name="Text 47"/>
          <p:cNvSpPr txBox="1"/>
          <p:nvPr/>
        </p:nvSpPr>
        <p:spPr>
          <a:xfrm>
            <a:off x="4117543" y="3979469"/>
            <a:ext cx="314554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472B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&amp;</a:t>
            </a:r>
            <a:endParaRPr lang="en-US" sz="1800" dirty="0"/>
          </a:p>
        </p:txBody>
      </p:sp>
      <p:sp>
        <p:nvSpPr>
          <p:cNvPr id="51" name="Text 48"/>
          <p:cNvSpPr txBox="1"/>
          <p:nvPr/>
        </p:nvSpPr>
        <p:spPr>
          <a:xfrm>
            <a:off x="4254703" y="3979469"/>
            <a:ext cx="314554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60A5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</a:t>
            </a:r>
            <a:endParaRPr lang="en-US" sz="1800" dirty="0"/>
          </a:p>
        </p:txBody>
      </p:sp>
      <p:sp>
        <p:nvSpPr>
          <p:cNvPr id="52" name="Text 49"/>
          <p:cNvSpPr txBox="1"/>
          <p:nvPr/>
        </p:nvSpPr>
        <p:spPr>
          <a:xfrm>
            <a:off x="4391863" y="3979469"/>
            <a:ext cx="448056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);</a:t>
            </a:r>
            <a:endParaRPr lang="en-US" sz="1800" dirty="0"/>
          </a:p>
        </p:txBody>
      </p:sp>
      <p:sp>
        <p:nvSpPr>
          <p:cNvPr id="53" name="Text 50"/>
          <p:cNvSpPr txBox="1"/>
          <p:nvPr/>
        </p:nvSpPr>
        <p:spPr>
          <a:xfrm>
            <a:off x="1152144" y="4402836"/>
            <a:ext cx="595823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if문 없음(Branchless): 명령어 스킵 대상 자체가 존재하지 않음</a:t>
            </a:r>
            <a:endParaRPr lang="en-US" sz="1300" dirty="0"/>
          </a:p>
        </p:txBody>
      </p:sp>
      <p:sp>
        <p:nvSpPr>
          <p:cNvPr id="54" name="Shape 51"/>
          <p:cNvSpPr/>
          <p:nvPr/>
        </p:nvSpPr>
        <p:spPr>
          <a:xfrm>
            <a:off x="571500" y="5206594"/>
            <a:ext cx="3562502" cy="1485900"/>
          </a:xfrm>
          <a:prstGeom prst="roundRect">
            <a:avLst>
              <a:gd name="adj" fmla="val 473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ore-KR" altLang="en-US"/>
          </a:p>
        </p:txBody>
      </p:sp>
      <p:sp>
        <p:nvSpPr>
          <p:cNvPr id="55" name="Shape 52"/>
          <p:cNvSpPr/>
          <p:nvPr/>
        </p:nvSpPr>
        <p:spPr>
          <a:xfrm>
            <a:off x="771754" y="5405933"/>
            <a:ext cx="418795" cy="418795"/>
          </a:xfrm>
          <a:prstGeom prst="roundRect">
            <a:avLst>
              <a:gd name="adj" fmla="val 49623"/>
            </a:avLst>
          </a:prstGeom>
          <a:solidFill>
            <a:srgbClr val="FEE2E2"/>
          </a:solidFill>
          <a:ln/>
        </p:spPr>
        <p:txBody>
          <a:bodyPr/>
          <a:lstStyle/>
          <a:p>
            <a:endParaRPr lang="ko-Kore-KR" altLang="en-US"/>
          </a:p>
        </p:txBody>
      </p:sp>
      <p:pic>
        <p:nvPicPr>
          <p:cNvPr id="56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75995" y="5511089"/>
            <a:ext cx="209398" cy="209398"/>
          </a:xfrm>
          <a:prstGeom prst="rect">
            <a:avLst/>
          </a:prstGeom>
        </p:spPr>
      </p:pic>
      <p:sp>
        <p:nvSpPr>
          <p:cNvPr id="57" name="Text 53"/>
          <p:cNvSpPr txBox="1"/>
          <p:nvPr/>
        </p:nvSpPr>
        <p:spPr>
          <a:xfrm>
            <a:off x="1343254" y="5405933"/>
            <a:ext cx="15051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분기문(Branch) 제거</a:t>
            </a:r>
            <a:endParaRPr lang="en-US" sz="1200" dirty="0"/>
          </a:p>
        </p:txBody>
      </p:sp>
      <p:sp>
        <p:nvSpPr>
          <p:cNvPr id="58" name="Text 54"/>
          <p:cNvSpPr txBox="1"/>
          <p:nvPr/>
        </p:nvSpPr>
        <p:spPr>
          <a:xfrm>
            <a:off x="1343254" y="5692140"/>
            <a:ext cx="2510028" cy="790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코드 내에 우회할 수 있는 '검사 지점(Check Point)'이 없습니다. 공격자가 명령어를 건너뛰어도 데이터 연산 과정만 망가질 뿐, 보안 로직을 비활성화할 수 없습니다.</a:t>
            </a:r>
            <a:endParaRPr lang="en-US" sz="1000" dirty="0"/>
          </a:p>
        </p:txBody>
      </p:sp>
      <p:sp>
        <p:nvSpPr>
          <p:cNvPr id="59" name="Shape 55"/>
          <p:cNvSpPr/>
          <p:nvPr/>
        </p:nvSpPr>
        <p:spPr>
          <a:xfrm>
            <a:off x="4317797" y="5206594"/>
            <a:ext cx="3562502" cy="1485900"/>
          </a:xfrm>
          <a:prstGeom prst="roundRect">
            <a:avLst>
              <a:gd name="adj" fmla="val 473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ore-KR" altLang="en-US"/>
          </a:p>
        </p:txBody>
      </p:sp>
      <p:sp>
        <p:nvSpPr>
          <p:cNvPr id="60" name="Shape 56"/>
          <p:cNvSpPr/>
          <p:nvPr/>
        </p:nvSpPr>
        <p:spPr>
          <a:xfrm>
            <a:off x="4518050" y="5405933"/>
            <a:ext cx="418795" cy="418795"/>
          </a:xfrm>
          <a:prstGeom prst="roundRect">
            <a:avLst>
              <a:gd name="adj" fmla="val 49623"/>
            </a:avLst>
          </a:prstGeom>
          <a:solidFill>
            <a:srgbClr val="DBEAFE"/>
          </a:solidFill>
          <a:ln/>
        </p:spPr>
        <p:txBody>
          <a:bodyPr/>
          <a:lstStyle/>
          <a:p>
            <a:endParaRPr lang="ko-Kore-KR" altLang="en-US"/>
          </a:p>
        </p:txBody>
      </p:sp>
      <p:pic>
        <p:nvPicPr>
          <p:cNvPr id="61" name="Image 2" descr="preencoded.png"/>
          <p:cNvPicPr>
            <a:picLocks noChangeAspect="1"/>
          </p:cNvPicPr>
          <p:nvPr/>
        </p:nvPicPr>
        <p:blipFill>
          <a:blip r:embed="rId5"/>
          <a:srcRect l="-1004" r="-1004"/>
          <a:stretch/>
        </p:blipFill>
        <p:spPr>
          <a:xfrm>
            <a:off x="4593946" y="5511089"/>
            <a:ext cx="267005" cy="209398"/>
          </a:xfrm>
          <a:prstGeom prst="rect">
            <a:avLst/>
          </a:prstGeom>
        </p:spPr>
      </p:pic>
      <p:sp>
        <p:nvSpPr>
          <p:cNvPr id="62" name="Text 57"/>
          <p:cNvSpPr txBox="1"/>
          <p:nvPr/>
        </p:nvSpPr>
        <p:spPr>
          <a:xfrm>
            <a:off x="5089550" y="5405933"/>
            <a:ext cx="20007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검증의 내재화 (Integration)</a:t>
            </a:r>
            <a:endParaRPr lang="en-US" sz="1200" dirty="0"/>
          </a:p>
        </p:txBody>
      </p:sp>
      <p:sp>
        <p:nvSpPr>
          <p:cNvPr id="63" name="Text 58"/>
          <p:cNvSpPr txBox="1"/>
          <p:nvPr/>
        </p:nvSpPr>
        <p:spPr>
          <a:xfrm>
            <a:off x="5089550" y="5692140"/>
            <a:ext cx="2539289" cy="790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오류 탐지와 출력 생성 과정이 하나의 수학적 연산으로 결합되어 있습니다. 정상적인 계산 수행 없이는 올바른 암호문(B)이 물리적으로 생성되지 않습니다.</a:t>
            </a:r>
            <a:endParaRPr lang="en-US" sz="1000" dirty="0"/>
          </a:p>
        </p:txBody>
      </p:sp>
      <p:sp>
        <p:nvSpPr>
          <p:cNvPr id="64" name="Shape 59"/>
          <p:cNvSpPr/>
          <p:nvPr/>
        </p:nvSpPr>
        <p:spPr>
          <a:xfrm>
            <a:off x="8064094" y="5206594"/>
            <a:ext cx="3562502" cy="1485900"/>
          </a:xfrm>
          <a:prstGeom prst="roundRect">
            <a:avLst>
              <a:gd name="adj" fmla="val 473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ore-KR" altLang="en-US"/>
          </a:p>
        </p:txBody>
      </p:sp>
      <p:sp>
        <p:nvSpPr>
          <p:cNvPr id="65" name="Shape 60"/>
          <p:cNvSpPr/>
          <p:nvPr/>
        </p:nvSpPr>
        <p:spPr>
          <a:xfrm>
            <a:off x="8264347" y="5405933"/>
            <a:ext cx="418795" cy="418795"/>
          </a:xfrm>
          <a:prstGeom prst="roundRect">
            <a:avLst>
              <a:gd name="adj" fmla="val 49623"/>
            </a:avLst>
          </a:prstGeom>
          <a:solidFill>
            <a:srgbClr val="EDE9FE"/>
          </a:solidFill>
          <a:ln/>
        </p:spPr>
        <p:txBody>
          <a:bodyPr/>
          <a:lstStyle/>
          <a:p>
            <a:endParaRPr lang="ko-Kore-KR" altLang="en-US"/>
          </a:p>
        </p:txBody>
      </p:sp>
      <p:pic>
        <p:nvPicPr>
          <p:cNvPr id="66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369503" y="5511089"/>
            <a:ext cx="209398" cy="209398"/>
          </a:xfrm>
          <a:prstGeom prst="rect">
            <a:avLst/>
          </a:prstGeom>
        </p:spPr>
      </p:pic>
      <p:sp>
        <p:nvSpPr>
          <p:cNvPr id="67" name="Text 61"/>
          <p:cNvSpPr txBox="1"/>
          <p:nvPr/>
        </p:nvSpPr>
        <p:spPr>
          <a:xfrm>
            <a:off x="8835847" y="5405933"/>
            <a:ext cx="19531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분석 무력화 (DFA Defense)</a:t>
            </a:r>
            <a:endParaRPr lang="en-US" sz="1200" dirty="0"/>
          </a:p>
        </p:txBody>
      </p:sp>
      <p:sp>
        <p:nvSpPr>
          <p:cNvPr id="68" name="Text 62"/>
          <p:cNvSpPr txBox="1"/>
          <p:nvPr/>
        </p:nvSpPr>
        <p:spPr>
          <a:xfrm>
            <a:off x="8835847" y="5692140"/>
            <a:ext cx="2539289" cy="790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오류 주입 시 MASK가 활성화되어 난수(R)가 출력됩니다. 공격자는 자신이 주입한 오류의 영향을 관측할 수 없어 DFA 공격이 불가능해집니다.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ko-Kore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ore-KR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972007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ko-Kore-KR" altLang="en-US"/>
          </a:p>
        </p:txBody>
      </p:sp>
      <p:sp>
        <p:nvSpPr>
          <p:cNvPr id="5" name="Shape 3"/>
          <p:cNvSpPr/>
          <p:nvPr/>
        </p:nvSpPr>
        <p:spPr>
          <a:xfrm>
            <a:off x="0" y="933602"/>
            <a:ext cx="12191695" cy="38405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ko-Kore-KR" altLang="en-US"/>
          </a:p>
        </p:txBody>
      </p:sp>
      <p:sp>
        <p:nvSpPr>
          <p:cNvPr id="6" name="Shape 4"/>
          <p:cNvSpPr/>
          <p:nvPr/>
        </p:nvSpPr>
        <p:spPr>
          <a:xfrm>
            <a:off x="381305" y="286207"/>
            <a:ext cx="1485900" cy="362102"/>
          </a:xfrm>
          <a:prstGeom prst="roundRect">
            <a:avLst>
              <a:gd name="adj" fmla="val 39872"/>
            </a:avLst>
          </a:prstGeom>
          <a:solidFill>
            <a:srgbClr val="3B82F6">
              <a:alpha val="20000"/>
            </a:srgbClr>
          </a:solidFill>
          <a:ln/>
        </p:spPr>
        <p:txBody>
          <a:bodyPr/>
          <a:lstStyle/>
          <a:p>
            <a:endParaRPr lang="ko-Kore-KR" altLang="en-US"/>
          </a:p>
        </p:txBody>
      </p:sp>
      <p:sp>
        <p:nvSpPr>
          <p:cNvPr id="7" name="Text 5"/>
          <p:cNvSpPr txBox="1"/>
          <p:nvPr/>
        </p:nvSpPr>
        <p:spPr>
          <a:xfrm>
            <a:off x="495605" y="286207"/>
            <a:ext cx="1286561" cy="352958"/>
          </a:xfrm>
          <a:prstGeom prst="rect">
            <a:avLst/>
          </a:prstGeom>
          <a:solidFill>
            <a:srgbClr val="3B82F6">
              <a:alpha val="20000"/>
            </a:srgbClr>
          </a:solidFill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Summary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981505" y="228600"/>
            <a:ext cx="4239158" cy="476402"/>
          </a:xfrm>
          <a:prstGeom prst="rect">
            <a:avLst/>
          </a:prstGeom>
          <a:solidFill>
            <a:srgbClr val="3B82F6">
              <a:alpha val="20000"/>
            </a:srgbClr>
          </a:solidFill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기여도 및 전체 방어 메커니즘</a:t>
            </a:r>
            <a:endParaRPr lang="en-US" sz="2100" dirty="0"/>
          </a:p>
        </p:txBody>
      </p:sp>
      <p:sp>
        <p:nvSpPr>
          <p:cNvPr id="9" name="Text 7"/>
          <p:cNvSpPr txBox="1"/>
          <p:nvPr/>
        </p:nvSpPr>
        <p:spPr>
          <a:xfrm>
            <a:off x="9841687" y="371246"/>
            <a:ext cx="20720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3C5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IEEE Transaction Paper Review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0" y="972007"/>
            <a:ext cx="12191695" cy="5886907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ko-Kore-KR" altLang="en-US"/>
          </a:p>
        </p:txBody>
      </p:sp>
      <p:sp>
        <p:nvSpPr>
          <p:cNvPr id="11" name="Shape 9"/>
          <p:cNvSpPr/>
          <p:nvPr/>
        </p:nvSpPr>
        <p:spPr>
          <a:xfrm>
            <a:off x="571500" y="1352398"/>
            <a:ext cx="11048695" cy="1676095"/>
          </a:xfrm>
          <a:prstGeom prst="roundRect">
            <a:avLst>
              <a:gd name="adj" fmla="val 4960"/>
            </a:avLst>
          </a:prstGeom>
          <a:solidFill>
            <a:srgbClr val="1E293B"/>
          </a:solidFill>
          <a:ln/>
          <a:effectLst>
            <a:outerShdw blurRad="241300" dist="1016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ore-KR" altLang="en-US"/>
          </a:p>
        </p:txBody>
      </p:sp>
      <p:sp>
        <p:nvSpPr>
          <p:cNvPr id="12" name="Shape 10"/>
          <p:cNvSpPr/>
          <p:nvPr/>
        </p:nvSpPr>
        <p:spPr>
          <a:xfrm>
            <a:off x="571500" y="1352398"/>
            <a:ext cx="75895" cy="1676095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ko-Kore-KR" altLang="en-US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28700" y="1988820"/>
            <a:ext cx="457200" cy="45720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1790395" y="1666951"/>
            <a:ext cx="647761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"Intra-Instruction Redundancy (명령어 내 중복)"</a:t>
            </a:r>
            <a:endParaRPr lang="en-US" sz="2100" dirty="0"/>
          </a:p>
        </p:txBody>
      </p:sp>
      <p:sp>
        <p:nvSpPr>
          <p:cNvPr id="15" name="Text 12"/>
          <p:cNvSpPr txBox="1"/>
          <p:nvPr/>
        </p:nvSpPr>
        <p:spPr>
          <a:xfrm>
            <a:off x="1790395" y="2180844"/>
            <a:ext cx="9453982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본 논문의 핵심 기여는 시간적 중복(Time Redundancy) 대신 공간적 중복(Spatial Redundancy)을 활용하여, 단일 명령어 수행 내에서 데이터 결함과 명령어 결함을 동시에 탐지 및 방어하는 경량화된 소프트웨어 기법을 제안한 것입니다.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571500" y="3311042"/>
            <a:ext cx="2590495" cy="3172054"/>
          </a:xfrm>
          <a:prstGeom prst="roundRect">
            <a:avLst>
              <a:gd name="adj" fmla="val 1557"/>
            </a:avLst>
          </a:prstGeom>
          <a:solidFill>
            <a:srgbClr val="FFFFFF"/>
          </a:solidFill>
          <a:ln/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ore-KR" altLang="en-US"/>
          </a:p>
        </p:txBody>
      </p:sp>
      <p:sp>
        <p:nvSpPr>
          <p:cNvPr id="17" name="Shape 14"/>
          <p:cNvSpPr/>
          <p:nvPr/>
        </p:nvSpPr>
        <p:spPr>
          <a:xfrm>
            <a:off x="571500" y="3311042"/>
            <a:ext cx="2590495" cy="38405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ko-Kore-KR" altLang="en-US"/>
          </a:p>
        </p:txBody>
      </p:sp>
      <p:sp>
        <p:nvSpPr>
          <p:cNvPr id="18" name="Shape 15"/>
          <p:cNvSpPr/>
          <p:nvPr/>
        </p:nvSpPr>
        <p:spPr>
          <a:xfrm>
            <a:off x="800100" y="3577133"/>
            <a:ext cx="457200" cy="457200"/>
          </a:xfrm>
          <a:prstGeom prst="roundRect">
            <a:avLst>
              <a:gd name="adj" fmla="val 41667"/>
            </a:avLst>
          </a:prstGeom>
          <a:solidFill>
            <a:srgbClr val="EFF6FF"/>
          </a:solidFill>
          <a:ln/>
        </p:spPr>
        <p:txBody>
          <a:bodyPr/>
          <a:lstStyle/>
          <a:p>
            <a:endParaRPr lang="ko-Kore-KR" altLang="en-US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933602" y="3710635"/>
            <a:ext cx="190195" cy="190195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800100" y="4187038"/>
            <a:ext cx="1090879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IIR 기본 구조</a:t>
            </a:r>
            <a:endParaRPr lang="en-US" sz="1300" dirty="0"/>
          </a:p>
        </p:txBody>
      </p:sp>
      <p:sp>
        <p:nvSpPr>
          <p:cNvPr id="21" name="Text 17"/>
          <p:cNvSpPr txBox="1"/>
          <p:nvPr/>
        </p:nvSpPr>
        <p:spPr>
          <a:xfrm>
            <a:off x="800100" y="4568342"/>
            <a:ext cx="2214677" cy="8385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비트슬라이싱 워드 내에 Data(B), Redundant(B'), KC 슬라이스를 혼합 배치하여 모든 연산의 무결성을 실시간 검증합니다.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800100" y="6014923"/>
            <a:ext cx="847649" cy="237744"/>
          </a:xfrm>
          <a:prstGeom prst="roundRect">
            <a:avLst>
              <a:gd name="adj" fmla="val 61538"/>
            </a:avLst>
          </a:prstGeom>
          <a:solidFill>
            <a:srgbClr val="DBEAFE"/>
          </a:solidFill>
          <a:ln/>
        </p:spPr>
        <p:txBody>
          <a:bodyPr/>
          <a:lstStyle/>
          <a:p>
            <a:endParaRPr lang="ko-Kore-KR" altLang="en-US"/>
          </a:p>
        </p:txBody>
      </p:sp>
      <p:sp>
        <p:nvSpPr>
          <p:cNvPr id="23" name="Text 19"/>
          <p:cNvSpPr txBox="1"/>
          <p:nvPr/>
        </p:nvSpPr>
        <p:spPr>
          <a:xfrm>
            <a:off x="875995" y="6053328"/>
            <a:ext cx="77449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FOUNDATION</a:t>
            </a:r>
            <a:endParaRPr lang="en-US" sz="800" dirty="0"/>
          </a:p>
        </p:txBody>
      </p:sp>
      <p:sp>
        <p:nvSpPr>
          <p:cNvPr id="24" name="Shape 20"/>
          <p:cNvSpPr/>
          <p:nvPr/>
        </p:nvSpPr>
        <p:spPr>
          <a:xfrm>
            <a:off x="3390595" y="3311042"/>
            <a:ext cx="2590495" cy="3172054"/>
          </a:xfrm>
          <a:prstGeom prst="roundRect">
            <a:avLst>
              <a:gd name="adj" fmla="val 1557"/>
            </a:avLst>
          </a:prstGeom>
          <a:solidFill>
            <a:srgbClr val="FFFFFF"/>
          </a:solidFill>
          <a:ln/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ore-KR" altLang="en-US"/>
          </a:p>
        </p:txBody>
      </p:sp>
      <p:sp>
        <p:nvSpPr>
          <p:cNvPr id="25" name="Shape 21"/>
          <p:cNvSpPr/>
          <p:nvPr/>
        </p:nvSpPr>
        <p:spPr>
          <a:xfrm>
            <a:off x="3390595" y="3311042"/>
            <a:ext cx="2590495" cy="38405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ko-Kore-KR" altLang="en-US"/>
          </a:p>
        </p:txBody>
      </p:sp>
      <p:sp>
        <p:nvSpPr>
          <p:cNvPr id="26" name="Shape 22"/>
          <p:cNvSpPr/>
          <p:nvPr/>
        </p:nvSpPr>
        <p:spPr>
          <a:xfrm>
            <a:off x="3619195" y="3577133"/>
            <a:ext cx="457200" cy="457200"/>
          </a:xfrm>
          <a:prstGeom prst="roundRect">
            <a:avLst>
              <a:gd name="adj" fmla="val 41667"/>
            </a:avLst>
          </a:prstGeom>
          <a:solidFill>
            <a:srgbClr val="F5F3FF"/>
          </a:solidFill>
          <a:ln/>
        </p:spPr>
        <p:txBody>
          <a:bodyPr/>
          <a:lstStyle/>
          <a:p>
            <a:endParaRPr lang="ko-Kore-KR" altLang="en-US"/>
          </a:p>
        </p:txBody>
      </p:sp>
      <p:pic>
        <p:nvPicPr>
          <p:cNvPr id="27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752698" y="3710635"/>
            <a:ext cx="190195" cy="190195"/>
          </a:xfrm>
          <a:prstGeom prst="rect">
            <a:avLst/>
          </a:prstGeom>
        </p:spPr>
      </p:pic>
      <p:sp>
        <p:nvSpPr>
          <p:cNvPr id="28" name="Text 23"/>
          <p:cNvSpPr txBox="1"/>
          <p:nvPr/>
        </p:nvSpPr>
        <p:spPr>
          <a:xfrm>
            <a:off x="3619195" y="4187038"/>
            <a:ext cx="108173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파이프라인화</a:t>
            </a:r>
            <a:endParaRPr lang="en-US" sz="1300" dirty="0"/>
          </a:p>
        </p:txBody>
      </p:sp>
      <p:sp>
        <p:nvSpPr>
          <p:cNvPr id="29" name="Text 24"/>
          <p:cNvSpPr txBox="1"/>
          <p:nvPr/>
        </p:nvSpPr>
        <p:spPr>
          <a:xfrm>
            <a:off x="3619195" y="4568342"/>
            <a:ext cx="2214677" cy="8385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라운드를 시간축에서 비트 공간축으로 변환하여, 다중 비트 결함 공격의 유효 범위를 극도로 제한하고 공격 난이도를 높입니다.</a:t>
            </a:r>
            <a:endParaRPr lang="en-US" sz="1000" dirty="0"/>
          </a:p>
        </p:txBody>
      </p:sp>
      <p:sp>
        <p:nvSpPr>
          <p:cNvPr id="30" name="Shape 25"/>
          <p:cNvSpPr/>
          <p:nvPr/>
        </p:nvSpPr>
        <p:spPr>
          <a:xfrm>
            <a:off x="3619195" y="6014923"/>
            <a:ext cx="1162202" cy="237744"/>
          </a:xfrm>
          <a:prstGeom prst="roundRect">
            <a:avLst>
              <a:gd name="adj" fmla="val 61538"/>
            </a:avLst>
          </a:prstGeom>
          <a:solidFill>
            <a:srgbClr val="EDE9FE"/>
          </a:solidFill>
          <a:ln/>
        </p:spPr>
        <p:txBody>
          <a:bodyPr/>
          <a:lstStyle/>
          <a:p>
            <a:endParaRPr lang="ko-Kore-KR" altLang="en-US"/>
          </a:p>
        </p:txBody>
      </p:sp>
      <p:sp>
        <p:nvSpPr>
          <p:cNvPr id="31" name="Text 26"/>
          <p:cNvSpPr txBox="1"/>
          <p:nvPr/>
        </p:nvSpPr>
        <p:spPr>
          <a:xfrm>
            <a:off x="3696005" y="6053328"/>
            <a:ext cx="108905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5B21B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SPATIAL ISOLATION</a:t>
            </a:r>
            <a:endParaRPr lang="en-US" sz="800" dirty="0"/>
          </a:p>
        </p:txBody>
      </p:sp>
      <p:sp>
        <p:nvSpPr>
          <p:cNvPr id="32" name="Shape 27"/>
          <p:cNvSpPr/>
          <p:nvPr/>
        </p:nvSpPr>
        <p:spPr>
          <a:xfrm>
            <a:off x="6210605" y="3311042"/>
            <a:ext cx="2590495" cy="3172054"/>
          </a:xfrm>
          <a:prstGeom prst="roundRect">
            <a:avLst>
              <a:gd name="adj" fmla="val 1557"/>
            </a:avLst>
          </a:prstGeom>
          <a:solidFill>
            <a:srgbClr val="FFFFFF"/>
          </a:solidFill>
          <a:ln/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ore-KR" altLang="en-US"/>
          </a:p>
        </p:txBody>
      </p:sp>
      <p:sp>
        <p:nvSpPr>
          <p:cNvPr id="33" name="Shape 28"/>
          <p:cNvSpPr/>
          <p:nvPr/>
        </p:nvSpPr>
        <p:spPr>
          <a:xfrm>
            <a:off x="6210605" y="3311042"/>
            <a:ext cx="2590495" cy="38405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ko-Kore-KR" altLang="en-US"/>
          </a:p>
        </p:txBody>
      </p:sp>
      <p:sp>
        <p:nvSpPr>
          <p:cNvPr id="34" name="Shape 29"/>
          <p:cNvSpPr/>
          <p:nvPr/>
        </p:nvSpPr>
        <p:spPr>
          <a:xfrm>
            <a:off x="6439205" y="3577133"/>
            <a:ext cx="457200" cy="457200"/>
          </a:xfrm>
          <a:prstGeom prst="roundRect">
            <a:avLst>
              <a:gd name="adj" fmla="val 41667"/>
            </a:avLst>
          </a:prstGeom>
          <a:solidFill>
            <a:srgbClr val="FDF2F8"/>
          </a:solidFill>
          <a:ln/>
        </p:spPr>
        <p:txBody>
          <a:bodyPr/>
          <a:lstStyle/>
          <a:p>
            <a:endParaRPr lang="ko-Kore-KR" altLang="en-US"/>
          </a:p>
        </p:txBody>
      </p:sp>
      <p:pic>
        <p:nvPicPr>
          <p:cNvPr id="35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548018" y="3710635"/>
            <a:ext cx="237744" cy="190195"/>
          </a:xfrm>
          <a:prstGeom prst="rect">
            <a:avLst/>
          </a:prstGeom>
        </p:spPr>
      </p:pic>
      <p:sp>
        <p:nvSpPr>
          <p:cNvPr id="36" name="Text 30"/>
          <p:cNvSpPr txBox="1"/>
          <p:nvPr/>
        </p:nvSpPr>
        <p:spPr>
          <a:xfrm>
            <a:off x="6439205" y="4187038"/>
            <a:ext cx="96743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랜덤 셔플링</a:t>
            </a:r>
            <a:endParaRPr lang="en-US" sz="1300" dirty="0"/>
          </a:p>
        </p:txBody>
      </p:sp>
      <p:sp>
        <p:nvSpPr>
          <p:cNvPr id="37" name="Text 31"/>
          <p:cNvSpPr txBox="1"/>
          <p:nvPr/>
        </p:nvSpPr>
        <p:spPr>
          <a:xfrm>
            <a:off x="6439205" y="4568342"/>
            <a:ext cx="2214677" cy="8385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매 실행마다 슬라이스 배치를 동적으로 회전시켜, 공격자가 타겟 라운드의 비트 위치를 예측할 수 없도록 무작위성을 부여합니다.</a:t>
            </a:r>
            <a:endParaRPr lang="en-US" sz="1000" dirty="0"/>
          </a:p>
        </p:txBody>
      </p:sp>
      <p:sp>
        <p:nvSpPr>
          <p:cNvPr id="38" name="Shape 32"/>
          <p:cNvSpPr/>
          <p:nvPr/>
        </p:nvSpPr>
        <p:spPr>
          <a:xfrm>
            <a:off x="6439205" y="6014923"/>
            <a:ext cx="1133856" cy="237744"/>
          </a:xfrm>
          <a:prstGeom prst="roundRect">
            <a:avLst>
              <a:gd name="adj" fmla="val 61538"/>
            </a:avLst>
          </a:prstGeom>
          <a:solidFill>
            <a:srgbClr val="FCE7F3"/>
          </a:solidFill>
          <a:ln/>
        </p:spPr>
        <p:txBody>
          <a:bodyPr/>
          <a:lstStyle/>
          <a:p>
            <a:endParaRPr lang="ko-Kore-KR" altLang="en-US"/>
          </a:p>
        </p:txBody>
      </p:sp>
      <p:sp>
        <p:nvSpPr>
          <p:cNvPr id="39" name="Text 33"/>
          <p:cNvSpPr txBox="1"/>
          <p:nvPr/>
        </p:nvSpPr>
        <p:spPr>
          <a:xfrm>
            <a:off x="6515100" y="6053328"/>
            <a:ext cx="105979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9D17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DYNAMIC DEFENSE</a:t>
            </a:r>
            <a:endParaRPr lang="en-US" sz="800" dirty="0"/>
          </a:p>
        </p:txBody>
      </p:sp>
      <p:sp>
        <p:nvSpPr>
          <p:cNvPr id="40" name="Shape 34"/>
          <p:cNvSpPr/>
          <p:nvPr/>
        </p:nvSpPr>
        <p:spPr>
          <a:xfrm>
            <a:off x="9029700" y="3311042"/>
            <a:ext cx="2590495" cy="3172054"/>
          </a:xfrm>
          <a:prstGeom prst="roundRect">
            <a:avLst>
              <a:gd name="adj" fmla="val 1557"/>
            </a:avLst>
          </a:prstGeom>
          <a:solidFill>
            <a:srgbClr val="FFFFFF"/>
          </a:solidFill>
          <a:ln/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ore-KR" altLang="en-US"/>
          </a:p>
        </p:txBody>
      </p:sp>
      <p:sp>
        <p:nvSpPr>
          <p:cNvPr id="41" name="Shape 35"/>
          <p:cNvSpPr/>
          <p:nvPr/>
        </p:nvSpPr>
        <p:spPr>
          <a:xfrm>
            <a:off x="9029700" y="3311042"/>
            <a:ext cx="2590495" cy="38405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ko-Kore-KR" altLang="en-US"/>
          </a:p>
        </p:txBody>
      </p:sp>
      <p:sp>
        <p:nvSpPr>
          <p:cNvPr id="42" name="Shape 36"/>
          <p:cNvSpPr/>
          <p:nvPr/>
        </p:nvSpPr>
        <p:spPr>
          <a:xfrm>
            <a:off x="9258300" y="3577133"/>
            <a:ext cx="457200" cy="457200"/>
          </a:xfrm>
          <a:prstGeom prst="roundRect">
            <a:avLst>
              <a:gd name="adj" fmla="val 41667"/>
            </a:avLst>
          </a:prstGeom>
          <a:solidFill>
            <a:srgbClr val="ECFDF5"/>
          </a:solidFill>
          <a:ln/>
        </p:spPr>
        <p:txBody>
          <a:bodyPr/>
          <a:lstStyle/>
          <a:p>
            <a:endParaRPr lang="ko-Kore-KR" altLang="en-US"/>
          </a:p>
        </p:txBody>
      </p:sp>
      <p:pic>
        <p:nvPicPr>
          <p:cNvPr id="43" name="Image 4" descr="preencoded.png"/>
          <p:cNvPicPr>
            <a:picLocks noChangeAspect="1"/>
          </p:cNvPicPr>
          <p:nvPr/>
        </p:nvPicPr>
        <p:blipFill>
          <a:blip r:embed="rId7"/>
          <a:srcRect l="-1648" r="-1648"/>
          <a:stretch/>
        </p:blipFill>
        <p:spPr>
          <a:xfrm>
            <a:off x="9400946" y="3710635"/>
            <a:ext cx="171907" cy="190195"/>
          </a:xfrm>
          <a:prstGeom prst="rect">
            <a:avLst/>
          </a:prstGeom>
        </p:spPr>
      </p:pic>
      <p:sp>
        <p:nvSpPr>
          <p:cNvPr id="44" name="Text 37"/>
          <p:cNvSpPr txBox="1"/>
          <p:nvPr/>
        </p:nvSpPr>
        <p:spPr>
          <a:xfrm>
            <a:off x="9258300" y="4187038"/>
            <a:ext cx="141457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Branchless 처리</a:t>
            </a:r>
            <a:endParaRPr lang="en-US" sz="1300" dirty="0"/>
          </a:p>
        </p:txBody>
      </p:sp>
      <p:sp>
        <p:nvSpPr>
          <p:cNvPr id="45" name="Text 38"/>
          <p:cNvSpPr txBox="1"/>
          <p:nvPr/>
        </p:nvSpPr>
        <p:spPr>
          <a:xfrm>
            <a:off x="9258300" y="4568342"/>
            <a:ext cx="2224735" cy="8385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비교문(if)을 제거하고 순수 연산으로 오류를 처리하여, Instruction Skip 공격을 원천적으로 차단하고 DFA 분석을 무력화합니다.</a:t>
            </a:r>
            <a:endParaRPr lang="en-US" sz="1000" dirty="0"/>
          </a:p>
        </p:txBody>
      </p:sp>
      <p:sp>
        <p:nvSpPr>
          <p:cNvPr id="46" name="Shape 39"/>
          <p:cNvSpPr/>
          <p:nvPr/>
        </p:nvSpPr>
        <p:spPr>
          <a:xfrm>
            <a:off x="9258300" y="6014923"/>
            <a:ext cx="800100" cy="237744"/>
          </a:xfrm>
          <a:prstGeom prst="roundRect">
            <a:avLst>
              <a:gd name="adj" fmla="val 61538"/>
            </a:avLst>
          </a:prstGeom>
          <a:solidFill>
            <a:srgbClr val="D1FAE5"/>
          </a:solidFill>
          <a:ln/>
        </p:spPr>
        <p:txBody>
          <a:bodyPr/>
          <a:lstStyle/>
          <a:p>
            <a:endParaRPr lang="ko-Kore-KR" altLang="en-US"/>
          </a:p>
        </p:txBody>
      </p:sp>
      <p:sp>
        <p:nvSpPr>
          <p:cNvPr id="47" name="Text 40"/>
          <p:cNvSpPr txBox="1"/>
          <p:nvPr/>
        </p:nvSpPr>
        <p:spPr>
          <a:xfrm>
            <a:off x="9334195" y="6053328"/>
            <a:ext cx="72694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65F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SKIP-PROOF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34499981"/>
      </p:ext>
    </p:extLst>
  </p:cSld>
  <p:clrMapOvr>
    <a:masterClrMapping/>
  </p:clrMapOvr>
</p:sld>
</file>

<file path=ppt/theme/theme1.xml><?xml version="1.0" encoding="utf-8"?>
<a:theme xmlns:a="http://schemas.openxmlformats.org/drawingml/2006/main" name="제목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2">
      <a:majorFont>
        <a:latin typeface="Arial"/>
        <a:ea typeface="맑은 고딕"/>
        <a:cs typeface=""/>
      </a:majorFont>
      <a:minorFont>
        <a:latin typeface="Arial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259</TotalTime>
  <Words>1138</Words>
  <Application>Microsoft Office PowerPoint</Application>
  <PresentationFormat>와이드스크린</PresentationFormat>
  <Paragraphs>149</Paragraphs>
  <Slides>9</Slides>
  <Notes>7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5" baseType="lpstr">
      <vt:lpstr>JetBrains Mono</vt:lpstr>
      <vt:lpstr>Noto Sans KR</vt:lpstr>
      <vt:lpstr>맑은 고딕</vt:lpstr>
      <vt:lpstr>Arial</vt:lpstr>
      <vt:lpstr>Consolas</vt:lpstr>
      <vt:lpstr>제목 테마</vt:lpstr>
      <vt:lpstr>Lightweight Fault Attack Resistance in Software Using Intra-Instruction Redundancy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HD</dc:creator>
  <cp:lastModifiedBy>송민호</cp:lastModifiedBy>
  <cp:revision>60</cp:revision>
  <dcterms:created xsi:type="dcterms:W3CDTF">2019-03-05T04:29:07Z</dcterms:created>
  <dcterms:modified xsi:type="dcterms:W3CDTF">2025-12-14T23:34:52Z</dcterms:modified>
</cp:coreProperties>
</file>